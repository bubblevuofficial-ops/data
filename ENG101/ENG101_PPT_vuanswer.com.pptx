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Default Extension="png" ContentType="image/png"/>
  <Override PartName="/ppt/slides/slide13.xml" ContentType="application/vnd.openxmlformats-officedocument.presentationml.slide+xml"/>
  <Default Extension="jpg" ContentType="image/jpg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</p:sldIdLst>
  <p:sldSz cx="7772400" cy="10058400"/>
  <p:notesSz cx="7772400" cy="10058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Relationship Id="rId228" Type="http://schemas.openxmlformats.org/officeDocument/2006/relationships/slide" Target="slides/slide223.xml"/><Relationship Id="rId229" Type="http://schemas.openxmlformats.org/officeDocument/2006/relationships/slide" Target="slides/slide224.xml"/><Relationship Id="rId230" Type="http://schemas.openxmlformats.org/officeDocument/2006/relationships/slide" Target="slides/slide225.xml"/><Relationship Id="rId231" Type="http://schemas.openxmlformats.org/officeDocument/2006/relationships/slide" Target="slides/slide226.xml"/><Relationship Id="rId232" Type="http://schemas.openxmlformats.org/officeDocument/2006/relationships/slide" Target="slides/slide227.xml"/><Relationship Id="rId233" Type="http://schemas.openxmlformats.org/officeDocument/2006/relationships/slide" Target="slides/slide228.xml"/><Relationship Id="rId234" Type="http://schemas.openxmlformats.org/officeDocument/2006/relationships/slide" Target="slides/slide229.xml"/><Relationship Id="rId235" Type="http://schemas.openxmlformats.org/officeDocument/2006/relationships/slide" Target="slides/slide230.xml"/><Relationship Id="rId236" Type="http://schemas.openxmlformats.org/officeDocument/2006/relationships/slide" Target="slides/slide231.xml"/><Relationship Id="rId237" Type="http://schemas.openxmlformats.org/officeDocument/2006/relationships/slide" Target="slides/slide232.xml"/><Relationship Id="rId238" Type="http://schemas.openxmlformats.org/officeDocument/2006/relationships/slide" Target="slides/slide233.xml"/><Relationship Id="rId239" Type="http://schemas.openxmlformats.org/officeDocument/2006/relationships/slide" Target="slides/slide234.xml"/><Relationship Id="rId240" Type="http://schemas.openxmlformats.org/officeDocument/2006/relationships/slide" Target="slides/slide235.xml"/><Relationship Id="rId241" Type="http://schemas.openxmlformats.org/officeDocument/2006/relationships/slide" Target="slides/slide236.xml"/><Relationship Id="rId242" Type="http://schemas.openxmlformats.org/officeDocument/2006/relationships/slide" Target="slides/slide237.xml"/><Relationship Id="rId243" Type="http://schemas.openxmlformats.org/officeDocument/2006/relationships/slide" Target="slides/slide238.xml"/><Relationship Id="rId244" Type="http://schemas.openxmlformats.org/officeDocument/2006/relationships/slide" Target="slides/slide239.xml"/><Relationship Id="rId245" Type="http://schemas.openxmlformats.org/officeDocument/2006/relationships/slide" Target="slides/slide240.xml"/><Relationship Id="rId246" Type="http://schemas.openxmlformats.org/officeDocument/2006/relationships/slide" Target="slides/slide241.xml"/><Relationship Id="rId247" Type="http://schemas.openxmlformats.org/officeDocument/2006/relationships/slide" Target="slides/slide242.xml"/><Relationship Id="rId248" Type="http://schemas.openxmlformats.org/officeDocument/2006/relationships/slide" Target="slides/slide243.xml"/><Relationship Id="rId249" Type="http://schemas.openxmlformats.org/officeDocument/2006/relationships/slide" Target="slides/slide244.xml"/><Relationship Id="rId250" Type="http://schemas.openxmlformats.org/officeDocument/2006/relationships/slide" Target="slides/slide245.xml"/><Relationship Id="rId251" Type="http://schemas.openxmlformats.org/officeDocument/2006/relationships/slide" Target="slides/slide246.xml"/><Relationship Id="rId252" Type="http://schemas.openxmlformats.org/officeDocument/2006/relationships/slide" Target="slides/slide247.xml"/><Relationship Id="rId253" Type="http://schemas.openxmlformats.org/officeDocument/2006/relationships/slide" Target="slides/slide248.xml"/><Relationship Id="rId254" Type="http://schemas.openxmlformats.org/officeDocument/2006/relationships/slide" Target="slides/slide249.xml"/><Relationship Id="rId255" Type="http://schemas.openxmlformats.org/officeDocument/2006/relationships/slide" Target="slides/slide250.xml"/><Relationship Id="rId256" Type="http://schemas.openxmlformats.org/officeDocument/2006/relationships/slide" Target="slides/slide251.xml"/><Relationship Id="rId257" Type="http://schemas.openxmlformats.org/officeDocument/2006/relationships/slide" Target="slides/slide252.xml"/><Relationship Id="rId258" Type="http://schemas.openxmlformats.org/officeDocument/2006/relationships/slide" Target="slides/slide253.xml"/><Relationship Id="rId259" Type="http://schemas.openxmlformats.org/officeDocument/2006/relationships/slide" Target="slides/slide254.xml"/><Relationship Id="rId260" Type="http://schemas.openxmlformats.org/officeDocument/2006/relationships/slide" Target="slides/slide255.xml"/><Relationship Id="rId261" Type="http://schemas.openxmlformats.org/officeDocument/2006/relationships/slide" Target="slides/slide256.xml"/><Relationship Id="rId262" Type="http://schemas.openxmlformats.org/officeDocument/2006/relationships/slide" Target="slides/slide257.xml"/><Relationship Id="rId263" Type="http://schemas.openxmlformats.org/officeDocument/2006/relationships/slide" Target="slides/slide258.xml"/><Relationship Id="rId264" Type="http://schemas.openxmlformats.org/officeDocument/2006/relationships/slide" Target="slides/slide259.xml"/><Relationship Id="rId265" Type="http://schemas.openxmlformats.org/officeDocument/2006/relationships/slide" Target="slides/slide260.xml"/><Relationship Id="rId266" Type="http://schemas.openxmlformats.org/officeDocument/2006/relationships/slide" Target="slides/slide261.xml"/><Relationship Id="rId267" Type="http://schemas.openxmlformats.org/officeDocument/2006/relationships/slide" Target="slides/slide262.xml"/><Relationship Id="rId268" Type="http://schemas.openxmlformats.org/officeDocument/2006/relationships/slide" Target="slides/slide263.xml"/><Relationship Id="rId269" Type="http://schemas.openxmlformats.org/officeDocument/2006/relationships/slide" Target="slides/slide264.xml"/><Relationship Id="rId270" Type="http://schemas.openxmlformats.org/officeDocument/2006/relationships/slide" Target="slides/slide265.xml"/><Relationship Id="rId271" Type="http://schemas.openxmlformats.org/officeDocument/2006/relationships/slide" Target="slides/slide266.xml"/><Relationship Id="rId272" Type="http://schemas.openxmlformats.org/officeDocument/2006/relationships/slide" Target="slides/slide267.xml"/><Relationship Id="rId273" Type="http://schemas.openxmlformats.org/officeDocument/2006/relationships/slide" Target="slides/slide268.xml"/><Relationship Id="rId274" Type="http://schemas.openxmlformats.org/officeDocument/2006/relationships/slide" Target="slides/slide269.xml"/><Relationship Id="rId275" Type="http://schemas.openxmlformats.org/officeDocument/2006/relationships/slide" Target="slides/slide270.xml"/><Relationship Id="rId276" Type="http://schemas.openxmlformats.org/officeDocument/2006/relationships/slide" Target="slides/slide271.xml"/><Relationship Id="rId277" Type="http://schemas.openxmlformats.org/officeDocument/2006/relationships/slide" Target="slides/slide272.xml"/><Relationship Id="rId278" Type="http://schemas.openxmlformats.org/officeDocument/2006/relationships/slide" Target="slides/slide273.xml"/><Relationship Id="rId279" Type="http://schemas.openxmlformats.org/officeDocument/2006/relationships/slide" Target="slides/slide274.xml"/><Relationship Id="rId280" Type="http://schemas.openxmlformats.org/officeDocument/2006/relationships/slide" Target="slides/slide275.xml"/><Relationship Id="rId281" Type="http://schemas.openxmlformats.org/officeDocument/2006/relationships/slide" Target="slides/slide276.xml"/><Relationship Id="rId282" Type="http://schemas.openxmlformats.org/officeDocument/2006/relationships/slide" Target="slides/slide277.xml"/><Relationship Id="rId283" Type="http://schemas.openxmlformats.org/officeDocument/2006/relationships/slide" Target="slides/slide278.xml"/><Relationship Id="rId284" Type="http://schemas.openxmlformats.org/officeDocument/2006/relationships/slide" Target="slides/slide279.xml"/><Relationship Id="rId285" Type="http://schemas.openxmlformats.org/officeDocument/2006/relationships/slide" Target="slides/slide280.xml"/><Relationship Id="rId286" Type="http://schemas.openxmlformats.org/officeDocument/2006/relationships/slide" Target="slides/slide281.xml"/><Relationship Id="rId287" Type="http://schemas.openxmlformats.org/officeDocument/2006/relationships/slide" Target="slides/slide282.xml"/><Relationship Id="rId288" Type="http://schemas.openxmlformats.org/officeDocument/2006/relationships/slide" Target="slides/slide283.xml"/><Relationship Id="rId289" Type="http://schemas.openxmlformats.org/officeDocument/2006/relationships/slide" Target="slides/slide284.xml"/><Relationship Id="rId290" Type="http://schemas.openxmlformats.org/officeDocument/2006/relationships/slide" Target="slides/slide285.xml"/><Relationship Id="rId291" Type="http://schemas.openxmlformats.org/officeDocument/2006/relationships/slide" Target="slides/slide286.xml"/><Relationship Id="rId292" Type="http://schemas.openxmlformats.org/officeDocument/2006/relationships/slide" Target="slides/slide287.xml"/><Relationship Id="rId293" Type="http://schemas.openxmlformats.org/officeDocument/2006/relationships/slide" Target="slides/slide288.xml"/><Relationship Id="rId294" Type="http://schemas.openxmlformats.org/officeDocument/2006/relationships/slide" Target="slides/slide289.xml"/><Relationship Id="rId295" Type="http://schemas.openxmlformats.org/officeDocument/2006/relationships/slide" Target="slides/slide290.xml"/><Relationship Id="rId296" Type="http://schemas.openxmlformats.org/officeDocument/2006/relationships/slide" Target="slides/slide291.xml"/><Relationship Id="rId297" Type="http://schemas.openxmlformats.org/officeDocument/2006/relationships/slide" Target="slides/slide292.xml"/><Relationship Id="rId298" Type="http://schemas.openxmlformats.org/officeDocument/2006/relationships/slide" Target="slides/slide293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82930" y="3118104"/>
            <a:ext cx="6606540" cy="21122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65860" y="5632704"/>
            <a:ext cx="5440680" cy="251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88620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002786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88620" y="402336"/>
            <a:ext cx="6995160" cy="16093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88620" y="2313432"/>
            <a:ext cx="6995160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43045" y="9256484"/>
            <a:ext cx="2341879" cy="18287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1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88620" y="9354312"/>
            <a:ext cx="1787652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6362700" y="9261432"/>
            <a:ext cx="304800" cy="1943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image" Target="../media/image4.jpg"/><Relationship Id="rId4" Type="http://schemas.openxmlformats.org/officeDocument/2006/relationships/image" Target="../media/image5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.png"/><Relationship Id="rId3" Type="http://schemas.openxmlformats.org/officeDocument/2006/relationships/image" Target="../media/image7.png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.png"/><Relationship Id="rId3" Type="http://schemas.openxmlformats.org/officeDocument/2006/relationships/image" Target="../media/image9.png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3530600" y="3893311"/>
            <a:ext cx="6045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101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844800" y="4946396"/>
            <a:ext cx="21551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Professor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Dr.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Surriya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Shaffi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Mir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8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Table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Contents: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1114044"/>
          <a:ext cx="5633085" cy="7990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0440"/>
                <a:gridCol w="4208780"/>
                <a:gridCol w="433070"/>
              </a:tblGrid>
              <a:tr h="3573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ts val="14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Topic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6096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Page 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No.01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Dictionary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No.02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Pronunciation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No.03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Idea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No.04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Topic,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Idea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No.05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References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No.06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Skills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No.07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Vocabulary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No.08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Word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Formation- Prefixes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No.09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Description,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Locating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Information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No.10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Word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No.11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Understanding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No.12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Making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Inferences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No.13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Assessing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Text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No.14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Assessing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Texts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No.15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Evaluating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Texts: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Interpreting Visual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Data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No.16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Evaluating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Texts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No.17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Cloze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Comprehension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109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No.18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Skimming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Scanning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No.19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Scanning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Language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123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No.20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Classifying,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Cause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Effect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Relationship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No.21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Presenting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Information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Graphically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138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No.22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Sentence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Types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147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No.23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Effective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Sentences: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Unity,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Coherence,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Emphasis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155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No.24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IDENTIFYING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SENTENCE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ERRORS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No.25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 REVISING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SENTENCE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ERRORS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165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No.26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Subject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Verb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Agreement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171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No.27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177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No.28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Word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Choice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184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No.29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Punctuation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192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No.30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Paragraphs: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Structural Parts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201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No.31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Paragraph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205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No.32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Paragraphs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No.33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Essay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No.34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Essay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223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No.35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Essay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Outlines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No.36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Selecting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Researching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Essay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Topic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No.37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Ways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Organizing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Texts: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Linear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241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No.38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Ways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Organizing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Texts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245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No.39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Ways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Organizing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Texts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249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45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No.40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Skills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253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No.41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Summary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Writing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258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No.42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Grammar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Usage: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Tenses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Passive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Sentences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262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1</a:t>
            </a:fld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938783"/>
          <a:ext cx="5633085" cy="5518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0440"/>
                <a:gridCol w="4208780"/>
                <a:gridCol w="433070"/>
              </a:tblGrid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No.43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Grammar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Usage: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Word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Order: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Adverbs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269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No.44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Grammar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Usage: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Articles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277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150"/>
                        </a:lnSpc>
                        <a:spcBef>
                          <a:spcPts val="180"/>
                        </a:spcBef>
                      </a:pPr>
                      <a:r>
                        <a:rPr dirty="0" sz="1000" spc="-5">
                          <a:latin typeface="Arial MT"/>
                          <a:cs typeface="Arial MT"/>
                        </a:rPr>
                        <a:t>Lecture</a:t>
                      </a:r>
                      <a:r>
                        <a:rPr dirty="0" sz="1000" spc="-4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000" spc="-5">
                          <a:latin typeface="Arial MT"/>
                          <a:cs typeface="Arial MT"/>
                        </a:rPr>
                        <a:t>No.45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Language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Functions: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Language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286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1</a:t>
            </a:fld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6459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Dictionary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parts.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first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02870" indent="-90805">
              <a:lnSpc>
                <a:spcPts val="1410"/>
              </a:lnSpc>
              <a:buChar char="•"/>
              <a:tabLst>
                <a:tab pos="103505" algn="l"/>
              </a:tabLst>
            </a:pP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endParaRPr sz="1200">
              <a:latin typeface="Times New Roman"/>
              <a:cs typeface="Times New Roman"/>
            </a:endParaRPr>
          </a:p>
          <a:p>
            <a:pPr marL="102870" indent="-90805">
              <a:lnSpc>
                <a:spcPts val="1410"/>
              </a:lnSpc>
              <a:buChar char="•"/>
              <a:tabLst>
                <a:tab pos="103505" algn="l"/>
              </a:tabLst>
            </a:pP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>
                <a:latin typeface="Times New Roman"/>
                <a:cs typeface="Times New Roman"/>
              </a:rPr>
              <a:t> part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lesson,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read an </a:t>
            </a:r>
            <a:r>
              <a:rPr dirty="0" sz="1200" spc="-5">
                <a:latin typeface="Times New Roman"/>
                <a:cs typeface="Times New Roman"/>
              </a:rPr>
              <a:t>interesting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Definition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Dictionary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tells you how speakers of the language spell, pronounce, define, explain and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language.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Reference Book - provides useful </a:t>
            </a:r>
            <a:r>
              <a:rPr dirty="0" sz="1200" spc="-5">
                <a:latin typeface="Times New Roman"/>
                <a:cs typeface="Times New Roman"/>
              </a:rPr>
              <a:t>information.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valuable only if you learn how to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efficiently.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List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Dictionary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(9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469265" indent="-457200">
              <a:lnSpc>
                <a:spcPts val="1410"/>
              </a:lnSpc>
              <a:spcBef>
                <a:spcPts val="5"/>
              </a:spcBef>
              <a:buAutoNum type="romanLcParenBoth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Spelling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380"/>
              </a:lnSpc>
              <a:buAutoNum type="romanLcParenBoth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Pronunciation</a:t>
            </a:r>
            <a:endParaRPr sz="1200">
              <a:latin typeface="Times New Roman"/>
              <a:cs typeface="Times New Roman"/>
            </a:endParaRPr>
          </a:p>
          <a:p>
            <a:pPr marL="469900" indent="-419734">
              <a:lnSpc>
                <a:spcPts val="1380"/>
              </a:lnSpc>
              <a:buAutoNum type="romanLcParenR" startAt="3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speech</a:t>
            </a:r>
            <a:endParaRPr sz="1200">
              <a:latin typeface="Times New Roman"/>
              <a:cs typeface="Times New Roman"/>
            </a:endParaRPr>
          </a:p>
          <a:p>
            <a:pPr marL="469265" indent="-457200">
              <a:lnSpc>
                <a:spcPts val="1380"/>
              </a:lnSpc>
              <a:buAutoNum type="romanLcParenR" startAt="3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Origin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380"/>
              </a:lnSpc>
              <a:buAutoNum type="romanLcParenBoth" startAt="5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Meaning/explanation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380"/>
              </a:lnSpc>
              <a:buAutoNum type="romanLcParenBoth" startAt="5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Usage/restrictive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lables</a:t>
            </a:r>
            <a:endParaRPr sz="1200">
              <a:latin typeface="Times New Roman"/>
              <a:cs typeface="Times New Roman"/>
            </a:endParaRPr>
          </a:p>
          <a:p>
            <a:pPr marL="470534" indent="-458470">
              <a:lnSpc>
                <a:spcPts val="1380"/>
              </a:lnSpc>
              <a:buAutoNum type="romanLcParenBoth" startAt="5"/>
              <a:tabLst>
                <a:tab pos="470534" algn="l"/>
                <a:tab pos="471170" algn="l"/>
              </a:tabLst>
            </a:pP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antonyms</a:t>
            </a:r>
            <a:endParaRPr sz="1200">
              <a:latin typeface="Times New Roman"/>
              <a:cs typeface="Times New Roman"/>
            </a:endParaRPr>
          </a:p>
          <a:p>
            <a:pPr marL="469265" indent="-457200">
              <a:lnSpc>
                <a:spcPts val="1380"/>
              </a:lnSpc>
              <a:buAutoNum type="romanLcParenBoth" startAt="5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ix)	General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224776"/>
            <a:ext cx="1193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Times New Roman"/>
                <a:cs typeface="Times New Roman"/>
              </a:rPr>
              <a:t>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062" y="7224776"/>
            <a:ext cx="5435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Times New Roman"/>
                <a:cs typeface="Times New Roman"/>
              </a:rPr>
              <a:t>Spelling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73200" y="7573771"/>
            <a:ext cx="5169535" cy="16103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Many students find English spelling very </a:t>
            </a:r>
            <a:r>
              <a:rPr dirty="0" sz="1200" spc="-5">
                <a:latin typeface="Times New Roman"/>
                <a:cs typeface="Times New Roman"/>
              </a:rPr>
              <a:t>confusing. So what do you do?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Consult </a:t>
            </a:r>
            <a:r>
              <a:rPr dirty="0" sz="1200">
                <a:latin typeface="Times New Roman"/>
                <a:cs typeface="Times New Roman"/>
              </a:rPr>
              <a:t> 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clarify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confusion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word.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Look at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 i="1">
                <a:latin typeface="Times New Roman"/>
                <a:cs typeface="Times New Roman"/>
              </a:rPr>
              <a:t>catalogue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theatre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You must have noticed that the dictionary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lists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BRE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AE/US </a:t>
            </a:r>
            <a:r>
              <a:rPr dirty="0" sz="1200">
                <a:latin typeface="Times New Roman"/>
                <a:cs typeface="Times New Roman"/>
              </a:rPr>
              <a:t>spelling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correct.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(i)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Spelling: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answer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549910" indent="-194945">
              <a:lnSpc>
                <a:spcPts val="1415"/>
              </a:lnSpc>
              <a:spcBef>
                <a:spcPts val="1070"/>
              </a:spcBef>
              <a:buAutoNum type="alphaLcParenR"/>
              <a:tabLst>
                <a:tab pos="55054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words?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80"/>
              </a:lnSpc>
              <a:tabLst>
                <a:tab pos="184086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Centre	</a:t>
            </a:r>
            <a:r>
              <a:rPr dirty="0" sz="1200" b="1">
                <a:latin typeface="Times New Roman"/>
                <a:cs typeface="Times New Roman"/>
              </a:rPr>
              <a:t>Color</a:t>
            </a:r>
            <a:endParaRPr sz="1200">
              <a:latin typeface="Times New Roman"/>
              <a:cs typeface="Times New Roman"/>
            </a:endParaRPr>
          </a:p>
          <a:p>
            <a:pPr marL="558165" indent="-203200">
              <a:lnSpc>
                <a:spcPts val="1405"/>
              </a:lnSpc>
              <a:buAutoNum type="alphaLcParenR" startAt="2"/>
              <a:tabLst>
                <a:tab pos="558800" algn="l"/>
              </a:tabLst>
            </a:pP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‘humor’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‘rumor’?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616456"/>
            <a:ext cx="21145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 i="1">
                <a:latin typeface="Times New Roman"/>
                <a:cs typeface="Times New Roman"/>
              </a:rPr>
              <a:t>(ii)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3200" y="1616456"/>
            <a:ext cx="516953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 i="1">
                <a:latin typeface="Times New Roman"/>
                <a:cs typeface="Times New Roman"/>
              </a:rPr>
              <a:t>Pronunciation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Students </a:t>
            </a:r>
            <a:r>
              <a:rPr dirty="0" sz="1200" spc="-5">
                <a:latin typeface="Times New Roman"/>
                <a:cs typeface="Times New Roman"/>
              </a:rPr>
              <a:t>have problems </a:t>
            </a:r>
            <a:r>
              <a:rPr dirty="0" sz="1200">
                <a:latin typeface="Times New Roman"/>
                <a:cs typeface="Times New Roman"/>
              </a:rPr>
              <a:t>in pronouncing </a:t>
            </a:r>
            <a:r>
              <a:rPr dirty="0" sz="1200" spc="-5">
                <a:latin typeface="Times New Roman"/>
                <a:cs typeface="Times New Roman"/>
              </a:rPr>
              <a:t>English words. A dictionary will help you </a:t>
            </a:r>
            <a:r>
              <a:rPr dirty="0" sz="1200">
                <a:latin typeface="Times New Roman"/>
                <a:cs typeface="Times New Roman"/>
              </a:rPr>
              <a:t> learn the </a:t>
            </a:r>
            <a:r>
              <a:rPr dirty="0" sz="1200" spc="-5">
                <a:latin typeface="Times New Roman"/>
                <a:cs typeface="Times New Roman"/>
              </a:rPr>
              <a:t>pronunciation of </a:t>
            </a:r>
            <a:r>
              <a:rPr dirty="0" sz="1200">
                <a:latin typeface="Times New Roman"/>
                <a:cs typeface="Times New Roman"/>
              </a:rPr>
              <a:t>any word but only if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-5">
                <a:latin typeface="Times New Roman"/>
                <a:cs typeface="Times New Roman"/>
              </a:rPr>
              <a:t>symbols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will discuss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lesson.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34597" y="2491231"/>
            <a:ext cx="46507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pronunciation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key/table.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843276"/>
            <a:ext cx="2552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(iii)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97761" y="2843276"/>
            <a:ext cx="5245100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 i="1">
                <a:latin typeface="Times New Roman"/>
                <a:cs typeface="Times New Roman"/>
              </a:rPr>
              <a:t>Part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of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speech</a:t>
            </a:r>
            <a:endParaRPr sz="1200">
              <a:latin typeface="Times New Roman"/>
              <a:cs typeface="Times New Roman"/>
            </a:endParaRPr>
          </a:p>
          <a:p>
            <a:pPr algn="just" marL="8763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dictionaries indicate the part of speech a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belongs to - whether the word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commonly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(transitive,</a:t>
            </a:r>
            <a:r>
              <a:rPr dirty="0" sz="1200">
                <a:latin typeface="Times New Roman"/>
                <a:cs typeface="Times New Roman"/>
              </a:rPr>
              <a:t> intransitive),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Adjective,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Adverb,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Conjunction, or</a:t>
            </a:r>
            <a:r>
              <a:rPr dirty="0" sz="1200">
                <a:latin typeface="Times New Roman"/>
                <a:cs typeface="Times New Roman"/>
              </a:rPr>
              <a:t> Preposition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719576"/>
            <a:ext cx="5628005" cy="5289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iv)  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Origin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of</a:t>
            </a:r>
            <a:r>
              <a:rPr dirty="0" sz="1200" spc="-5" b="1" i="1">
                <a:latin typeface="Times New Roman"/>
                <a:cs typeface="Times New Roman"/>
              </a:rPr>
              <a:t> Words</a:t>
            </a:r>
            <a:endParaRPr sz="1200">
              <a:latin typeface="Times New Roman"/>
              <a:cs typeface="Times New Roman"/>
            </a:endParaRPr>
          </a:p>
          <a:p>
            <a:pPr algn="just" marL="469900" marR="698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Some dictionaries indicate the </a:t>
            </a:r>
            <a:r>
              <a:rPr dirty="0" sz="1200">
                <a:latin typeface="Times New Roman"/>
                <a:cs typeface="Times New Roman"/>
              </a:rPr>
              <a:t>origin and derivation of a word before it </a:t>
            </a:r>
            <a:r>
              <a:rPr dirty="0" sz="1200" spc="-5">
                <a:latin typeface="Times New Roman"/>
                <a:cs typeface="Times New Roman"/>
              </a:rPr>
              <a:t>became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word.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342900" indent="-330835">
              <a:lnSpc>
                <a:spcPts val="1410"/>
              </a:lnSpc>
              <a:spcBef>
                <a:spcPts val="5"/>
              </a:spcBef>
              <a:buFont typeface="Times New Roman"/>
              <a:buAutoNum type="romanLcParenBoth" startAt="5"/>
              <a:tabLst>
                <a:tab pos="343535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Meaning/</a:t>
            </a:r>
            <a:r>
              <a:rPr dirty="0" sz="1200" b="1" i="1">
                <a:latin typeface="Times New Roman"/>
                <a:cs typeface="Times New Roman"/>
              </a:rPr>
              <a:t> Explanation /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Definition</a:t>
            </a:r>
            <a:r>
              <a:rPr dirty="0" sz="1200" b="1" i="1">
                <a:latin typeface="Times New Roman"/>
                <a:cs typeface="Times New Roman"/>
              </a:rPr>
              <a:t> of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words</a:t>
            </a:r>
            <a:endParaRPr sz="1200">
              <a:latin typeface="Times New Roman"/>
              <a:cs typeface="Times New Roman"/>
            </a:endParaRPr>
          </a:p>
          <a:p>
            <a:pPr algn="just" marL="469265" marR="635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many meanings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shades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r>
              <a:rPr dirty="0" sz="1200" spc="5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 read the first listed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of the word you are looking for. </a:t>
            </a:r>
            <a:r>
              <a:rPr dirty="0" sz="1200" spc="-5">
                <a:latin typeface="Times New Roman"/>
                <a:cs typeface="Times New Roman"/>
              </a:rPr>
              <a:t>Go </a:t>
            </a:r>
            <a:r>
              <a:rPr dirty="0" sz="1200">
                <a:latin typeface="Times New Roman"/>
                <a:cs typeface="Times New Roman"/>
              </a:rPr>
              <a:t>down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numbered </a:t>
            </a:r>
            <a:r>
              <a:rPr dirty="0" sz="1200">
                <a:latin typeface="Times New Roman"/>
                <a:cs typeface="Times New Roman"/>
              </a:rPr>
              <a:t>list.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 for the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best suits </a:t>
            </a:r>
            <a:r>
              <a:rPr dirty="0" sz="1200">
                <a:latin typeface="Times New Roman"/>
                <a:cs typeface="Times New Roman"/>
              </a:rPr>
              <a:t>the context in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 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469265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>
                <a:latin typeface="Times New Roman"/>
                <a:cs typeface="Times New Roman"/>
              </a:rPr>
              <a:t>look up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above and below the word that you are looking for.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 find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words </a:t>
            </a:r>
            <a:r>
              <a:rPr dirty="0" sz="1200">
                <a:latin typeface="Times New Roman"/>
                <a:cs typeface="Times New Roman"/>
              </a:rPr>
              <a:t>are often closely related. 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help to extend your recognition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in other </a:t>
            </a:r>
            <a:r>
              <a:rPr dirty="0" sz="1200" spc="-5">
                <a:latin typeface="Times New Roman"/>
                <a:cs typeface="Times New Roman"/>
              </a:rPr>
              <a:t>forms </a:t>
            </a:r>
            <a:r>
              <a:rPr dirty="0" sz="1200">
                <a:latin typeface="Times New Roman"/>
                <a:cs typeface="Times New Roman"/>
              </a:rPr>
              <a:t>and contexts.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469265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(v-a)</a:t>
            </a:r>
            <a:r>
              <a:rPr dirty="0" u="heavy" sz="1200" spc="26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Meaning:</a:t>
            </a:r>
            <a:endParaRPr sz="1200">
              <a:latin typeface="Times New Roman"/>
              <a:cs typeface="Times New Roman"/>
            </a:endParaRPr>
          </a:p>
          <a:p>
            <a:pPr algn="just" marL="469265" marR="635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‘fast’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‘set’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part of speech.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469265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(v-b):</a:t>
            </a:r>
            <a:r>
              <a:rPr dirty="0" u="heavy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Meaning/ </a:t>
            </a:r>
            <a:r>
              <a:rPr dirty="0" sz="1200" b="1">
                <a:latin typeface="Times New Roman"/>
                <a:cs typeface="Times New Roman"/>
              </a:rPr>
              <a:t>Explanation / </a:t>
            </a:r>
            <a:r>
              <a:rPr dirty="0" sz="1200" spc="-5" b="1">
                <a:latin typeface="Times New Roman"/>
                <a:cs typeface="Times New Roman"/>
              </a:rPr>
              <a:t>Definition</a:t>
            </a:r>
            <a:r>
              <a:rPr dirty="0" sz="1200" b="1">
                <a:latin typeface="Times New Roman"/>
                <a:cs typeface="Times New Roman"/>
              </a:rPr>
              <a:t> of</a:t>
            </a:r>
            <a:r>
              <a:rPr dirty="0" sz="1200" spc="-5" b="1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469900" marR="762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dictionary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specific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meanings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‘play’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each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29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following: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621665" indent="-152400">
              <a:lnSpc>
                <a:spcPts val="141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court.</a:t>
            </a:r>
            <a:endParaRPr sz="1200">
              <a:latin typeface="Times New Roman"/>
              <a:cs typeface="Times New Roman"/>
            </a:endParaRPr>
          </a:p>
          <a:p>
            <a:pPr lvl="1" marL="622300" indent="-153035">
              <a:lnSpc>
                <a:spcPts val="1380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Amna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concert.</a:t>
            </a:r>
            <a:endParaRPr sz="1200">
              <a:latin typeface="Times New Roman"/>
              <a:cs typeface="Times New Roman"/>
            </a:endParaRPr>
          </a:p>
          <a:p>
            <a:pPr lvl="1" marL="621665" indent="-152400">
              <a:lnSpc>
                <a:spcPts val="138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arts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success.</a:t>
            </a:r>
            <a:endParaRPr sz="1200">
              <a:latin typeface="Times New Roman"/>
              <a:cs typeface="Times New Roman"/>
            </a:endParaRPr>
          </a:p>
          <a:p>
            <a:pPr lvl="1" marL="622300" indent="-153035">
              <a:lnSpc>
                <a:spcPts val="1380"/>
              </a:lnSpc>
              <a:buAutoNum type="arabicPeriod"/>
              <a:tabLst>
                <a:tab pos="6229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football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game.</a:t>
            </a:r>
            <a:endParaRPr sz="1200">
              <a:latin typeface="Times New Roman"/>
              <a:cs typeface="Times New Roman"/>
            </a:endParaRPr>
          </a:p>
          <a:p>
            <a:pPr lvl="1" marL="622300" indent="-153035">
              <a:lnSpc>
                <a:spcPts val="1410"/>
              </a:lnSpc>
              <a:buAutoNum type="arabicPeriod"/>
              <a:tabLst>
                <a:tab pos="6229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gardener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71500" y="6196584"/>
            <a:ext cx="9525" cy="350520"/>
          </a:xfrm>
          <a:custGeom>
            <a:avLst/>
            <a:gdLst/>
            <a:ahLst/>
            <a:cxnLst/>
            <a:rect l="l" t="t" r="r" b="b"/>
            <a:pathLst>
              <a:path w="9525" h="350520">
                <a:moveTo>
                  <a:pt x="9143" y="0"/>
                </a:moveTo>
                <a:lnTo>
                  <a:pt x="0" y="0"/>
                </a:lnTo>
                <a:lnTo>
                  <a:pt x="0" y="350520"/>
                </a:lnTo>
                <a:lnTo>
                  <a:pt x="9143" y="350520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473200" y="8992444"/>
            <a:ext cx="4050665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>
                <a:latin typeface="Times New Roman"/>
                <a:cs typeface="Times New Roman"/>
              </a:rPr>
              <a:t>‘week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 water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make</a:t>
            </a:r>
            <a:r>
              <a:rPr dirty="0" sz="1200">
                <a:latin typeface="Times New Roman"/>
                <a:cs typeface="Times New Roman"/>
              </a:rPr>
              <a:t> 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weak’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marL="108204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5</a:t>
            </a:fld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1090676"/>
            <a:ext cx="5170170" cy="4239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(vi)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Usage/Restrictive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Labels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dictionary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different labels like </a:t>
            </a:r>
            <a:r>
              <a:rPr dirty="0" sz="1200" spc="-5" i="1">
                <a:latin typeface="Times New Roman"/>
                <a:cs typeface="Times New Roman"/>
              </a:rPr>
              <a:t>Br </a:t>
            </a:r>
            <a:r>
              <a:rPr dirty="0" sz="1200">
                <a:latin typeface="Times New Roman"/>
                <a:cs typeface="Times New Roman"/>
              </a:rPr>
              <a:t>(British), </a:t>
            </a:r>
            <a:r>
              <a:rPr dirty="0" sz="1200" spc="-5" i="1">
                <a:latin typeface="Times New Roman"/>
                <a:cs typeface="Times New Roman"/>
              </a:rPr>
              <a:t>Am </a:t>
            </a:r>
            <a:r>
              <a:rPr dirty="0" sz="1200" spc="-5">
                <a:latin typeface="Times New Roman"/>
                <a:cs typeface="Times New Roman"/>
              </a:rPr>
              <a:t>(American), fml (formal),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infml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(informal),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(colloquial),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(plural),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poetic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i="1">
                <a:latin typeface="Times New Roman"/>
                <a:cs typeface="Times New Roman"/>
              </a:rPr>
              <a:t>poetic</a:t>
            </a:r>
            <a:r>
              <a:rPr dirty="0" sz="1200" spc="-5">
                <a:latin typeface="Times New Roman"/>
                <a:cs typeface="Times New Roman"/>
              </a:rPr>
              <a:t>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(slang).This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dictionary </a:t>
            </a:r>
            <a:r>
              <a:rPr dirty="0" sz="1200" spc="-5">
                <a:latin typeface="Times New Roman"/>
                <a:cs typeface="Times New Roman"/>
              </a:rPr>
              <a:t>will tell you the usage of words and phrases, idioms </a:t>
            </a:r>
            <a:r>
              <a:rPr dirty="0" sz="1200">
                <a:latin typeface="Times New Roman"/>
                <a:cs typeface="Times New Roman"/>
              </a:rPr>
              <a:t>/ proverbs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language. </a:t>
            </a:r>
            <a:r>
              <a:rPr dirty="0" sz="1200" spc="-5">
                <a:latin typeface="Times New Roman"/>
                <a:cs typeface="Times New Roman"/>
              </a:rPr>
              <a:t>It will </a:t>
            </a:r>
            <a:r>
              <a:rPr dirty="0" sz="1200">
                <a:latin typeface="Times New Roman"/>
                <a:cs typeface="Times New Roman"/>
              </a:rPr>
              <a:t>also tell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-5">
                <a:latin typeface="Times New Roman"/>
                <a:cs typeface="Times New Roman"/>
              </a:rPr>
              <a:t>limitations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use of the word. Special </a:t>
            </a:r>
            <a:r>
              <a:rPr dirty="0" sz="1200">
                <a:latin typeface="Times New Roman"/>
                <a:cs typeface="Times New Roman"/>
              </a:rPr>
              <a:t> labels are used to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this. If a word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longer in current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labelled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archaic </a:t>
            </a:r>
            <a:r>
              <a:rPr dirty="0" sz="1200" spc="-5" i="1">
                <a:latin typeface="Times New Roman"/>
                <a:cs typeface="Times New Roman"/>
              </a:rPr>
              <a:t>(arch)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obsolete </a:t>
            </a:r>
            <a:r>
              <a:rPr dirty="0" sz="1200">
                <a:latin typeface="Times New Roman"/>
                <a:cs typeface="Times New Roman"/>
              </a:rPr>
              <a:t>(obs). Other labels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tell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level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usage: </a:t>
            </a:r>
            <a:r>
              <a:rPr dirty="0" sz="1200">
                <a:latin typeface="Times New Roman"/>
                <a:cs typeface="Times New Roman"/>
              </a:rPr>
              <a:t> whether the word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literary </a:t>
            </a:r>
            <a:r>
              <a:rPr dirty="0" sz="1200" spc="-5">
                <a:latin typeface="Times New Roman"/>
                <a:cs typeface="Times New Roman"/>
              </a:rPr>
              <a:t>flavour </a:t>
            </a:r>
            <a:r>
              <a:rPr dirty="0" sz="1200" i="1">
                <a:latin typeface="Times New Roman"/>
                <a:cs typeface="Times New Roman"/>
              </a:rPr>
              <a:t>(poetic)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slang </a:t>
            </a:r>
            <a:r>
              <a:rPr dirty="0" sz="1200" spc="-5" i="1">
                <a:latin typeface="Times New Roman"/>
                <a:cs typeface="Times New Roman"/>
              </a:rPr>
              <a:t>(sl</a:t>
            </a:r>
            <a:r>
              <a:rPr dirty="0" sz="1200" spc="-5">
                <a:latin typeface="Times New Roman"/>
                <a:cs typeface="Times New Roman"/>
              </a:rPr>
              <a:t>), formal </a:t>
            </a:r>
            <a:r>
              <a:rPr dirty="0" sz="1200" spc="-5" i="1">
                <a:latin typeface="Times New Roman"/>
                <a:cs typeface="Times New Roman"/>
              </a:rPr>
              <a:t>(fml</a:t>
            </a:r>
            <a:r>
              <a:rPr dirty="0" sz="1200" spc="-5">
                <a:latin typeface="Times New Roman"/>
                <a:cs typeface="Times New Roman"/>
              </a:rPr>
              <a:t>) informal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(infml).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Exercise(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vi-a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)Usage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Restrictive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Labels: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Idioms</a:t>
            </a:r>
            <a:r>
              <a:rPr dirty="0" sz="1200" b="1">
                <a:latin typeface="Times New Roman"/>
                <a:cs typeface="Times New Roman"/>
              </a:rPr>
              <a:t> /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Two-word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Verbs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Phrasal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Verbs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Noun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Phrase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985">
              <a:lnSpc>
                <a:spcPts val="1380"/>
              </a:lnSpc>
              <a:buAutoNum type="arabicPeriod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Prof.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Widdowson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held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</a:t>
            </a:r>
            <a:r>
              <a:rPr dirty="0" sz="1200" spc="-5">
                <a:latin typeface="Times New Roman"/>
                <a:cs typeface="Times New Roman"/>
              </a:rPr>
              <a:t> language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teaching.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315"/>
              </a:lnSpc>
              <a:buAutoNum type="arabicPeriod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answer.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410"/>
              </a:lnSpc>
              <a:buAutoNum type="arabicPeriod"/>
              <a:tabLst>
                <a:tab pos="469265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roommate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pretty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hard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(vi-b)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Restrictive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Usage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Labels: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3200" y="5470652"/>
            <a:ext cx="144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0400" y="5470652"/>
            <a:ext cx="4711700" cy="56070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primarily </a:t>
            </a:r>
            <a:r>
              <a:rPr dirty="0" sz="1200">
                <a:latin typeface="Times New Roman"/>
                <a:cs typeface="Times New Roman"/>
              </a:rPr>
              <a:t>slang,</a:t>
            </a:r>
            <a:r>
              <a:rPr dirty="0" sz="1200" spc="-5">
                <a:latin typeface="Times New Roman"/>
                <a:cs typeface="Times New Roman"/>
              </a:rPr>
              <a:t> informal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colloquial.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  <a:tabLst>
                <a:tab pos="9264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Guys	</a:t>
            </a:r>
            <a:r>
              <a:rPr dirty="0" sz="1200" b="1">
                <a:latin typeface="Times New Roman"/>
                <a:cs typeface="Times New Roman"/>
              </a:rPr>
              <a:t>Cool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881115" y="8106156"/>
            <a:ext cx="37465" cy="7620"/>
          </a:xfrm>
          <a:custGeom>
            <a:avLst/>
            <a:gdLst/>
            <a:ahLst/>
            <a:cxnLst/>
            <a:rect l="l" t="t" r="r" b="b"/>
            <a:pathLst>
              <a:path w="37464" h="7620">
                <a:moveTo>
                  <a:pt x="37337" y="0"/>
                </a:moveTo>
                <a:lnTo>
                  <a:pt x="0" y="0"/>
                </a:lnTo>
                <a:lnTo>
                  <a:pt x="0" y="7619"/>
                </a:lnTo>
                <a:lnTo>
                  <a:pt x="37337" y="7619"/>
                </a:lnTo>
                <a:lnTo>
                  <a:pt x="37337" y="0"/>
                </a:lnTo>
                <a:close/>
              </a:path>
            </a:pathLst>
          </a:custGeom>
          <a:solidFill>
            <a:srgbClr val="B5082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1016000" y="6173215"/>
            <a:ext cx="5626735" cy="2835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9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469265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O.K.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meet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eight?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80"/>
              </a:lnSpc>
              <a:tabLst>
                <a:tab pos="1116965" algn="l"/>
              </a:tabLst>
            </a:pPr>
            <a:r>
              <a:rPr dirty="0" sz="1200" b="1">
                <a:latin typeface="Times New Roman"/>
                <a:cs typeface="Times New Roman"/>
              </a:rPr>
              <a:t>Label:	</a:t>
            </a:r>
            <a:r>
              <a:rPr dirty="0" sz="1200" spc="-5">
                <a:latin typeface="Times New Roman"/>
                <a:cs typeface="Times New Roman"/>
              </a:rPr>
              <a:t>Colloquial</a:t>
            </a:r>
            <a:endParaRPr sz="1200">
              <a:latin typeface="Times New Roman"/>
              <a:cs typeface="Times New Roman"/>
            </a:endParaRPr>
          </a:p>
          <a:p>
            <a:pPr marL="4318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Meaning: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927100" indent="-457200">
              <a:lnSpc>
                <a:spcPts val="1405"/>
              </a:lnSpc>
              <a:buFont typeface="Times New Roman"/>
              <a:buAutoNum type="romanLcParenBoth" startAt="7"/>
              <a:tabLst>
                <a:tab pos="926465" algn="l"/>
                <a:tab pos="927100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Synonyms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and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spc="-10" b="1" i="1">
                <a:latin typeface="Times New Roman"/>
                <a:cs typeface="Times New Roman"/>
              </a:rPr>
              <a:t>Antonyms: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Similar and</a:t>
            </a:r>
            <a:r>
              <a:rPr dirty="0" sz="1200">
                <a:latin typeface="Times New Roman"/>
                <a:cs typeface="Times New Roman"/>
              </a:rPr>
              <a:t> opposite </a:t>
            </a:r>
            <a:r>
              <a:rPr dirty="0" sz="1200" spc="-5">
                <a:latin typeface="Times New Roman"/>
                <a:cs typeface="Times New Roman"/>
              </a:rPr>
              <a:t>meanings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927100" indent="-457200">
              <a:lnSpc>
                <a:spcPts val="1405"/>
              </a:lnSpc>
              <a:buFont typeface="Times New Roman"/>
              <a:buAutoNum type="romanLcParenBoth" startAt="8"/>
              <a:tabLst>
                <a:tab pos="926465" algn="l"/>
                <a:tab pos="927100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Foreign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words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and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Phrases:</a:t>
            </a:r>
            <a:endParaRPr sz="1200">
              <a:latin typeface="Times New Roman"/>
              <a:cs typeface="Times New Roman"/>
            </a:endParaRPr>
          </a:p>
          <a:p>
            <a:pPr marL="4699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Dictionaries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phrases</a:t>
            </a:r>
            <a:r>
              <a:rPr dirty="0" sz="1200" spc="-5">
                <a:solidFill>
                  <a:srgbClr val="B5082E"/>
                </a:solidFill>
                <a:latin typeface="Times New Roman"/>
                <a:cs typeface="Times New Roman"/>
              </a:rPr>
              <a:t>,</a:t>
            </a:r>
            <a:r>
              <a:rPr dirty="0" sz="1200" spc="60">
                <a:solidFill>
                  <a:srgbClr val="B5082E"/>
                </a:solid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>
                <a:latin typeface="Times New Roman"/>
                <a:cs typeface="Times New Roman"/>
              </a:rPr>
              <a:t> entries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in a </a:t>
            </a:r>
            <a:r>
              <a:rPr dirty="0" sz="1200" spc="-5">
                <a:latin typeface="Times New Roman"/>
                <a:cs typeface="Times New Roman"/>
              </a:rPr>
              <a:t>special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section</a:t>
            </a:r>
            <a:r>
              <a:rPr dirty="0" sz="1200">
                <a:latin typeface="Times New Roman"/>
                <a:cs typeface="Times New Roman"/>
              </a:rPr>
              <a:t> at the </a:t>
            </a:r>
            <a:r>
              <a:rPr dirty="0" sz="1200" spc="-5">
                <a:latin typeface="Times New Roman"/>
                <a:cs typeface="Times New Roman"/>
              </a:rPr>
              <a:t>back.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Exercise(viii)Foreign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&amp;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Phrases: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-5">
                <a:latin typeface="Times New Roman"/>
                <a:cs typeface="Times New Roman"/>
              </a:rPr>
              <a:t> words o</a:t>
            </a:r>
            <a:r>
              <a:rPr dirty="0" u="sng" sz="1200" spc="-5">
                <a:solidFill>
                  <a:srgbClr val="B5082E"/>
                </a:solidFill>
                <a:uFill>
                  <a:solidFill>
                    <a:srgbClr val="B5082E"/>
                  </a:solidFill>
                </a:uFill>
                <a:latin typeface="Times New Roman"/>
                <a:cs typeface="Times New Roman"/>
              </a:rPr>
              <a:t>r</a:t>
            </a:r>
            <a:r>
              <a:rPr dirty="0" sz="1200">
                <a:solidFill>
                  <a:srgbClr val="B5082E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 its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meaning.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71500" y="3567684"/>
            <a:ext cx="9525" cy="175260"/>
          </a:xfrm>
          <a:custGeom>
            <a:avLst/>
            <a:gdLst/>
            <a:ahLst/>
            <a:cxnLst/>
            <a:rect l="l" t="t" r="r" b="b"/>
            <a:pathLst>
              <a:path w="9525" h="175260">
                <a:moveTo>
                  <a:pt x="9143" y="0"/>
                </a:moveTo>
                <a:lnTo>
                  <a:pt x="0" y="0"/>
                </a:lnTo>
                <a:lnTo>
                  <a:pt x="0" y="175260"/>
                </a:lnTo>
                <a:lnTo>
                  <a:pt x="9143" y="175260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71500" y="7949183"/>
            <a:ext cx="9525" cy="175260"/>
          </a:xfrm>
          <a:custGeom>
            <a:avLst/>
            <a:gdLst/>
            <a:ahLst/>
            <a:cxnLst/>
            <a:rect l="l" t="t" r="r" b="b"/>
            <a:pathLst>
              <a:path w="9525" h="175259">
                <a:moveTo>
                  <a:pt x="9143" y="0"/>
                </a:moveTo>
                <a:lnTo>
                  <a:pt x="0" y="0"/>
                </a:lnTo>
                <a:lnTo>
                  <a:pt x="0" y="175260"/>
                </a:lnTo>
                <a:lnTo>
                  <a:pt x="9143" y="175260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571500" y="8474964"/>
            <a:ext cx="9525" cy="175260"/>
          </a:xfrm>
          <a:custGeom>
            <a:avLst/>
            <a:gdLst/>
            <a:ahLst/>
            <a:cxnLst/>
            <a:rect l="l" t="t" r="r" b="b"/>
            <a:pathLst>
              <a:path w="9525" h="175259">
                <a:moveTo>
                  <a:pt x="9143" y="0"/>
                </a:moveTo>
                <a:lnTo>
                  <a:pt x="0" y="0"/>
                </a:lnTo>
                <a:lnTo>
                  <a:pt x="0" y="175259"/>
                </a:lnTo>
                <a:lnTo>
                  <a:pt x="9143" y="175259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571500" y="8825483"/>
            <a:ext cx="9525" cy="175260"/>
          </a:xfrm>
          <a:custGeom>
            <a:avLst/>
            <a:gdLst/>
            <a:ahLst/>
            <a:cxnLst/>
            <a:rect l="l" t="t" r="r" b="b"/>
            <a:pathLst>
              <a:path w="9525" h="175259">
                <a:moveTo>
                  <a:pt x="9143" y="0"/>
                </a:moveTo>
                <a:lnTo>
                  <a:pt x="0" y="0"/>
                </a:lnTo>
                <a:lnTo>
                  <a:pt x="0" y="175260"/>
                </a:lnTo>
                <a:lnTo>
                  <a:pt x="9143" y="175260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1016000" y="8992444"/>
            <a:ext cx="3869054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etcetera,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prior,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d’état,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</a:t>
            </a:r>
            <a:r>
              <a:rPr dirty="0" sz="1200" spc="-10">
                <a:latin typeface="Times New Roman"/>
                <a:cs typeface="Times New Roman"/>
              </a:rPr>
              <a:t> se.</a:t>
            </a:r>
            <a:endParaRPr sz="1200">
              <a:latin typeface="Times New Roman"/>
              <a:cs typeface="Times New Roman"/>
            </a:endParaRPr>
          </a:p>
          <a:p>
            <a:pPr marL="153924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0500">
              <a:lnSpc>
                <a:spcPts val="1410"/>
              </a:lnSpc>
            </a:pPr>
            <a:fld id="{81D60167-4931-47E6-BA6A-407CBD079E47}" type="slidenum">
              <a:rPr dirty="0"/>
              <a:t>6</a:t>
            </a:fld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2768345" y="5170169"/>
            <a:ext cx="38100" cy="7620"/>
          </a:xfrm>
          <a:custGeom>
            <a:avLst/>
            <a:gdLst/>
            <a:ahLst/>
            <a:cxnLst/>
            <a:rect l="l" t="t" r="r" b="b"/>
            <a:pathLst>
              <a:path w="38100" h="7620">
                <a:moveTo>
                  <a:pt x="38100" y="0"/>
                </a:moveTo>
                <a:lnTo>
                  <a:pt x="0" y="0"/>
                </a:lnTo>
                <a:lnTo>
                  <a:pt x="0" y="7620"/>
                </a:lnTo>
                <a:lnTo>
                  <a:pt x="38100" y="7620"/>
                </a:lnTo>
                <a:lnTo>
                  <a:pt x="38100" y="0"/>
                </a:lnTo>
                <a:close/>
              </a:path>
            </a:pathLst>
          </a:custGeom>
          <a:solidFill>
            <a:srgbClr val="B5082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696711" y="5718810"/>
            <a:ext cx="38100" cy="7620"/>
          </a:xfrm>
          <a:custGeom>
            <a:avLst/>
            <a:gdLst/>
            <a:ahLst/>
            <a:cxnLst/>
            <a:rect l="l" t="t" r="r" b="b"/>
            <a:pathLst>
              <a:path w="38100" h="7620">
                <a:moveTo>
                  <a:pt x="38100" y="0"/>
                </a:moveTo>
                <a:lnTo>
                  <a:pt x="0" y="0"/>
                </a:lnTo>
                <a:lnTo>
                  <a:pt x="0" y="7619"/>
                </a:lnTo>
                <a:lnTo>
                  <a:pt x="38100" y="7619"/>
                </a:lnTo>
                <a:lnTo>
                  <a:pt x="38100" y="0"/>
                </a:lnTo>
                <a:close/>
              </a:path>
            </a:pathLst>
          </a:custGeom>
          <a:solidFill>
            <a:srgbClr val="B5082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16000" y="1265935"/>
            <a:ext cx="5628005" cy="7983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69900" indent="-457200">
              <a:lnSpc>
                <a:spcPts val="1405"/>
              </a:lnSpc>
              <a:spcBef>
                <a:spcPts val="100"/>
              </a:spcBef>
              <a:buFont typeface="Times New Roman"/>
              <a:buAutoNum type="romanLcParenR" startAt="9"/>
              <a:tabLst>
                <a:tab pos="469900" algn="l"/>
              </a:tabLst>
            </a:pP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General Information</a:t>
            </a:r>
            <a:endParaRPr sz="1200">
              <a:latin typeface="Times New Roman"/>
              <a:cs typeface="Times New Roman"/>
            </a:endParaRPr>
          </a:p>
          <a:p>
            <a:pPr algn="just" marL="469900" marR="571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section varies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</a:t>
            </a:r>
            <a:r>
              <a:rPr dirty="0" sz="1200">
                <a:latin typeface="Times New Roman"/>
                <a:cs typeface="Times New Roman"/>
              </a:rPr>
              <a:t> to dictionary.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persons,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places, </a:t>
            </a:r>
            <a:r>
              <a:rPr dirty="0" sz="1200" spc="-5">
                <a:latin typeface="Times New Roman"/>
                <a:cs typeface="Times New Roman"/>
              </a:rPr>
              <a:t>countries, nationalities, </a:t>
            </a:r>
            <a:r>
              <a:rPr dirty="0" sz="1200">
                <a:latin typeface="Times New Roman"/>
                <a:cs typeface="Times New Roman"/>
              </a:rPr>
              <a:t>are listed </a:t>
            </a:r>
            <a:r>
              <a:rPr dirty="0" sz="1200" spc="-5">
                <a:latin typeface="Times New Roman"/>
                <a:cs typeface="Times New Roman"/>
              </a:rPr>
              <a:t>either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alphabetical order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special sections at the back. </a:t>
            </a:r>
            <a:r>
              <a:rPr dirty="0" sz="1200" spc="-5">
                <a:latin typeface="Times New Roman"/>
                <a:cs typeface="Times New Roman"/>
              </a:rPr>
              <a:t>Some dictionaries may </a:t>
            </a:r>
            <a:r>
              <a:rPr dirty="0" sz="1200">
                <a:latin typeface="Times New Roman"/>
                <a:cs typeface="Times New Roman"/>
              </a:rPr>
              <a:t>include rules for spelling,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systems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weights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dictionary: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Learning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dictionary </a:t>
            </a:r>
            <a:r>
              <a:rPr dirty="0" sz="1200">
                <a:latin typeface="Times New Roman"/>
                <a:cs typeface="Times New Roman"/>
              </a:rPr>
              <a:t>contains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your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Step I: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alphabet.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lvl="1" marL="927100" indent="-228600">
              <a:lnSpc>
                <a:spcPct val="100000"/>
              </a:lnSpc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entries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alphabetical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  <a:p>
            <a:pPr lvl="1" marL="927100" indent="-228600">
              <a:lnSpc>
                <a:spcPct val="100000"/>
              </a:lnSpc>
              <a:spcBef>
                <a:spcPts val="30"/>
              </a:spcBef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arranged according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1st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letter.</a:t>
            </a:r>
            <a:endParaRPr sz="1200">
              <a:latin typeface="Times New Roman"/>
              <a:cs typeface="Times New Roman"/>
            </a:endParaRPr>
          </a:p>
          <a:p>
            <a:pPr lvl="1" marL="927100" marR="5080" indent="-228600">
              <a:lnSpc>
                <a:spcPts val="1370"/>
              </a:lnSpc>
              <a:spcBef>
                <a:spcPts val="130"/>
              </a:spcBef>
              <a:buFont typeface="Symbol"/>
              <a:buChar char=""/>
              <a:tabLst>
                <a:tab pos="964565" algn="l"/>
                <a:tab pos="965200" algn="l"/>
              </a:tabLst>
            </a:pPr>
            <a:r>
              <a:rPr dirty="0"/>
              <a:t>	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2nd letter.</a:t>
            </a:r>
            <a:endParaRPr sz="1200">
              <a:latin typeface="Times New Roman"/>
              <a:cs typeface="Times New Roman"/>
            </a:endParaRPr>
          </a:p>
          <a:p>
            <a:pPr lvl="1" marL="927100" marR="5080" indent="-228600">
              <a:lnSpc>
                <a:spcPts val="1370"/>
              </a:lnSpc>
              <a:spcBef>
                <a:spcPts val="100"/>
              </a:spcBef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arranged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on...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Quickly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211454" indent="-199390">
              <a:lnSpc>
                <a:spcPct val="100000"/>
              </a:lnSpc>
              <a:buFont typeface="Times New Roman"/>
              <a:buAutoNum type="alphaUcParenR"/>
              <a:tabLst>
                <a:tab pos="21209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-5">
                <a:solidFill>
                  <a:srgbClr val="B5082E"/>
                </a:solidFill>
                <a:latin typeface="Times New Roman"/>
                <a:cs typeface="Times New Roman"/>
              </a:rPr>
              <a:t>,</a:t>
            </a:r>
            <a:r>
              <a:rPr dirty="0" sz="1200" spc="-10">
                <a:solidFill>
                  <a:srgbClr val="B5082E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thumb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lphaUcParenR"/>
            </a:pPr>
            <a:endParaRPr sz="1200">
              <a:latin typeface="Times New Roman"/>
              <a:cs typeface="Times New Roman"/>
            </a:endParaRPr>
          </a:p>
          <a:p>
            <a:pPr lvl="1" marL="927100" indent="-228600">
              <a:lnSpc>
                <a:spcPct val="100000"/>
              </a:lnSpc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endParaRPr sz="1200">
              <a:latin typeface="Times New Roman"/>
              <a:cs typeface="Times New Roman"/>
            </a:endParaRPr>
          </a:p>
          <a:p>
            <a:pPr lvl="1" marL="927100" indent="-228600">
              <a:lnSpc>
                <a:spcPts val="1405"/>
              </a:lnSpc>
              <a:spcBef>
                <a:spcPts val="30"/>
              </a:spcBef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come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nearest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want</a:t>
            </a:r>
            <a:r>
              <a:rPr dirty="0" sz="1200" spc="-5">
                <a:solidFill>
                  <a:srgbClr val="B5082E"/>
                </a:solidFill>
                <a:latin typeface="Times New Roman"/>
                <a:cs typeface="Times New Roman"/>
              </a:rPr>
              <a:t>,</a:t>
            </a:r>
            <a:r>
              <a:rPr dirty="0" sz="1200" spc="-10">
                <a:solidFill>
                  <a:srgbClr val="B5082E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endParaRPr sz="1200">
              <a:latin typeface="Times New Roman"/>
              <a:cs typeface="Times New Roman"/>
            </a:endParaRPr>
          </a:p>
          <a:p>
            <a:pPr marL="127000">
              <a:lnSpc>
                <a:spcPts val="1405"/>
              </a:lnSpc>
              <a:tabLst>
                <a:tab pos="964565" algn="l"/>
              </a:tabLst>
            </a:pPr>
            <a:r>
              <a:rPr dirty="0" u="sng" sz="1200">
                <a:uFill>
                  <a:solidFill>
                    <a:srgbClr val="B5082E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Guide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203200" marR="292100" indent="-191135">
              <a:lnSpc>
                <a:spcPts val="1380"/>
              </a:lnSpc>
              <a:spcBef>
                <a:spcPts val="5"/>
              </a:spcBef>
              <a:buFont typeface="Times New Roman"/>
              <a:buAutoNum type="alphaUcParenR" startAt="2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Look at top of any page in the </a:t>
            </a:r>
            <a:r>
              <a:rPr dirty="0" sz="1200" spc="-5">
                <a:latin typeface="Times New Roman"/>
                <a:cs typeface="Times New Roman"/>
              </a:rPr>
              <a:t>dictionary.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in heavy </a:t>
            </a:r>
            <a:r>
              <a:rPr dirty="0" sz="1200" spc="-5">
                <a:latin typeface="Times New Roman"/>
                <a:cs typeface="Times New Roman"/>
              </a:rPr>
              <a:t>type/bold</a:t>
            </a:r>
            <a:r>
              <a:rPr dirty="0" sz="1200">
                <a:latin typeface="Times New Roman"/>
                <a:cs typeface="Times New Roman"/>
              </a:rPr>
              <a:t> face are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GUIDE WORDS.</a:t>
            </a:r>
            <a:r>
              <a:rPr dirty="0" sz="1200">
                <a:latin typeface="Times New Roman"/>
                <a:cs typeface="Times New Roman"/>
              </a:rPr>
              <a:t> They guide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spcBef>
                <a:spcPts val="5"/>
              </a:spcBef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on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top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left</a:t>
            </a:r>
            <a:r>
              <a:rPr dirty="0" sz="1200" spc="-5" i="1">
                <a:latin typeface="Times New Roman"/>
                <a:cs typeface="Times New Roman"/>
              </a:rPr>
              <a:t> are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same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bold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face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 on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page.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top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right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last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entry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page.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Times New Roman"/>
              <a:buChar char="-"/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RECAP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01600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Dictionary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tool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properly 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potential</a:t>
            </a:r>
            <a:endParaRPr sz="1200">
              <a:latin typeface="Times New Roman"/>
              <a:cs typeface="Times New Roman"/>
            </a:endParaRPr>
          </a:p>
          <a:p>
            <a:pPr marL="1270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independent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helpful 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friend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lesson1.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hope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enjoy.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71500" y="3041904"/>
            <a:ext cx="9525" cy="175260"/>
          </a:xfrm>
          <a:custGeom>
            <a:avLst/>
            <a:gdLst/>
            <a:ahLst/>
            <a:cxnLst/>
            <a:rect l="l" t="t" r="r" b="b"/>
            <a:pathLst>
              <a:path w="9525" h="175260">
                <a:moveTo>
                  <a:pt x="9143" y="0"/>
                </a:moveTo>
                <a:lnTo>
                  <a:pt x="0" y="0"/>
                </a:lnTo>
                <a:lnTo>
                  <a:pt x="0" y="175259"/>
                </a:lnTo>
                <a:lnTo>
                  <a:pt x="9143" y="175259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571500" y="4837938"/>
            <a:ext cx="9525" cy="350520"/>
          </a:xfrm>
          <a:custGeom>
            <a:avLst/>
            <a:gdLst/>
            <a:ahLst/>
            <a:cxnLst/>
            <a:rect l="l" t="t" r="r" b="b"/>
            <a:pathLst>
              <a:path w="9525" h="350520">
                <a:moveTo>
                  <a:pt x="9143" y="0"/>
                </a:moveTo>
                <a:lnTo>
                  <a:pt x="0" y="0"/>
                </a:lnTo>
                <a:lnTo>
                  <a:pt x="0" y="350520"/>
                </a:lnTo>
                <a:lnTo>
                  <a:pt x="9143" y="350520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571500" y="5550408"/>
            <a:ext cx="9525" cy="361315"/>
          </a:xfrm>
          <a:custGeom>
            <a:avLst/>
            <a:gdLst/>
            <a:ahLst/>
            <a:cxnLst/>
            <a:rect l="l" t="t" r="r" b="b"/>
            <a:pathLst>
              <a:path w="9525" h="361314">
                <a:moveTo>
                  <a:pt x="9143" y="0"/>
                </a:moveTo>
                <a:lnTo>
                  <a:pt x="0" y="0"/>
                </a:lnTo>
                <a:lnTo>
                  <a:pt x="0" y="361188"/>
                </a:lnTo>
                <a:lnTo>
                  <a:pt x="9143" y="361188"/>
                </a:lnTo>
                <a:lnTo>
                  <a:pt x="9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6540500" y="9261432"/>
            <a:ext cx="1016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67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3810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story.You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folk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America.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</a:t>
            </a:r>
            <a:r>
              <a:rPr dirty="0" sz="1200" spc="-5">
                <a:latin typeface="Times New Roman"/>
                <a:cs typeface="Times New Roman"/>
              </a:rPr>
              <a:t> is about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natural </a:t>
            </a:r>
            <a:r>
              <a:rPr dirty="0" sz="1200">
                <a:latin typeface="Times New Roman"/>
                <a:cs typeface="Times New Roman"/>
              </a:rPr>
              <a:t>event.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1966976"/>
            <a:ext cx="5628005" cy="72174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224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Raven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 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Daylight</a:t>
            </a:r>
            <a:endParaRPr sz="1200">
              <a:latin typeface="Times New Roman"/>
              <a:cs typeface="Times New Roman"/>
            </a:endParaRPr>
          </a:p>
          <a:p>
            <a:pPr marL="14605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(Gail</a:t>
            </a:r>
            <a:r>
              <a:rPr dirty="0" sz="1200" spc="-5">
                <a:latin typeface="Times New Roman"/>
                <a:cs typeface="Times New Roman"/>
              </a:rPr>
              <a:t> Robinson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Douglas</a:t>
            </a:r>
            <a:r>
              <a:rPr dirty="0" sz="1200">
                <a:latin typeface="Times New Roman"/>
                <a:cs typeface="Times New Roman"/>
              </a:rPr>
              <a:t> Hill)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5080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 the earth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very young,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dark and old like a winter’s night through all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year’s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seasons.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Custodian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Daylight,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kept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locked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tight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cedar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beneath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wing.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Custodian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lose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letting </a:t>
            </a:r>
            <a:r>
              <a:rPr dirty="0" sz="1200" spc="-5">
                <a:latin typeface="Times New Roman"/>
                <a:cs typeface="Times New Roman"/>
              </a:rPr>
              <a:t>Daylight 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box.</a:t>
            </a:r>
            <a:endParaRPr sz="1200">
              <a:latin typeface="Times New Roman"/>
              <a:cs typeface="Times New Roman"/>
            </a:endParaRPr>
          </a:p>
          <a:p>
            <a:pPr algn="just" marL="469900" marR="5080">
              <a:lnSpc>
                <a:spcPts val="2760"/>
              </a:lnSpc>
              <a:spcBef>
                <a:spcPts val="275"/>
              </a:spcBef>
            </a:pPr>
            <a:r>
              <a:rPr dirty="0" sz="1200" spc="-5">
                <a:latin typeface="Times New Roman"/>
                <a:cs typeface="Times New Roman"/>
              </a:rPr>
              <a:t>“He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vain!”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screeched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Owl,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Hill.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“We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travel,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darkness,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half-homes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south,”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cried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070"/>
              </a:lnSpc>
            </a:pPr>
            <a:r>
              <a:rPr dirty="0" sz="1200">
                <a:latin typeface="Times New Roman"/>
                <a:cs typeface="Times New Roman"/>
              </a:rPr>
              <a:t>Robin.</a:t>
            </a:r>
            <a:r>
              <a:rPr dirty="0" sz="1200" spc="-5">
                <a:latin typeface="Times New Roman"/>
                <a:cs typeface="Times New Roman"/>
              </a:rPr>
              <a:t> Her</a:t>
            </a:r>
            <a:r>
              <a:rPr dirty="0" sz="1200">
                <a:latin typeface="Times New Roman"/>
                <a:cs typeface="Times New Roman"/>
              </a:rPr>
              <a:t> breast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bleached </a:t>
            </a:r>
            <a:r>
              <a:rPr dirty="0" sz="1200">
                <a:latin typeface="Times New Roman"/>
                <a:cs typeface="Times New Roman"/>
              </a:rPr>
              <a:t>of colour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light.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Gull agreed to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meeting. But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clear, when he </a:t>
            </a:r>
            <a:r>
              <a:rPr dirty="0" sz="1200" spc="-5">
                <a:latin typeface="Times New Roman"/>
                <a:cs typeface="Times New Roman"/>
              </a:rPr>
              <a:t>came, </a:t>
            </a:r>
            <a:r>
              <a:rPr dirty="0" sz="1200">
                <a:latin typeface="Times New Roman"/>
                <a:cs typeface="Times New Roman"/>
              </a:rPr>
              <a:t>that he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not going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listen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 more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Raven</a:t>
            </a:r>
            <a:r>
              <a:rPr dirty="0" sz="1200">
                <a:latin typeface="Times New Roman"/>
                <a:cs typeface="Times New Roman"/>
              </a:rPr>
              <a:t> pleading with </a:t>
            </a:r>
            <a:r>
              <a:rPr dirty="0" sz="1200" spc="-5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715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“I </a:t>
            </a:r>
            <a:r>
              <a:rPr dirty="0" sz="1200" spc="-5">
                <a:latin typeface="Times New Roman"/>
                <a:cs typeface="Times New Roman"/>
              </a:rPr>
              <a:t>was made </a:t>
            </a:r>
            <a:r>
              <a:rPr dirty="0" sz="1200">
                <a:latin typeface="Times New Roman"/>
                <a:cs typeface="Times New Roman"/>
              </a:rPr>
              <a:t>Custodian of Daylight in the </a:t>
            </a:r>
            <a:r>
              <a:rPr dirty="0" sz="1200" spc="-5">
                <a:latin typeface="Times New Roman"/>
                <a:cs typeface="Times New Roman"/>
              </a:rPr>
              <a:t>beginning of </a:t>
            </a:r>
            <a:r>
              <a:rPr dirty="0" sz="1200">
                <a:latin typeface="Times New Roman"/>
                <a:cs typeface="Times New Roman"/>
              </a:rPr>
              <a:t>things,” </a:t>
            </a:r>
            <a:r>
              <a:rPr dirty="0" sz="1200" spc="-5">
                <a:latin typeface="Times New Roman"/>
                <a:cs typeface="Times New Roman"/>
              </a:rPr>
              <a:t>said Gull. “I am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keep Daylight safe. And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 i="1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keep it safe.”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curved his swing </a:t>
            </a:r>
            <a:r>
              <a:rPr dirty="0" sz="1200">
                <a:latin typeface="Times New Roman"/>
                <a:cs typeface="Times New Roman"/>
              </a:rPr>
              <a:t>tighter around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cedar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Raven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People’s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light.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angrily to </a:t>
            </a:r>
            <a:r>
              <a:rPr dirty="0" sz="1200" spc="-5">
                <a:latin typeface="Times New Roman"/>
                <a:cs typeface="Times New Roman"/>
              </a:rPr>
              <a:t>himself,</a:t>
            </a:r>
            <a:r>
              <a:rPr dirty="0" sz="1200">
                <a:latin typeface="Times New Roman"/>
                <a:cs typeface="Times New Roman"/>
              </a:rPr>
              <a:t> “I </a:t>
            </a:r>
            <a:r>
              <a:rPr dirty="0" sz="1200" spc="-5">
                <a:latin typeface="Times New Roman"/>
                <a:cs typeface="Times New Roman"/>
              </a:rPr>
              <a:t>wish this </a:t>
            </a:r>
            <a:r>
              <a:rPr dirty="0" sz="1200">
                <a:latin typeface="Times New Roman"/>
                <a:cs typeface="Times New Roman"/>
              </a:rPr>
              <a:t>Gull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thorn.”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4699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sooner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shaped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cried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out,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“Squee!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foot!”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“A </a:t>
            </a:r>
            <a:r>
              <a:rPr dirty="0" sz="1200">
                <a:latin typeface="Times New Roman"/>
                <a:cs typeface="Times New Roman"/>
              </a:rPr>
              <a:t>thorn,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Cousin?”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raven innocently.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“Let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see-I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469900" marR="1217295" indent="-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But of course it </a:t>
            </a:r>
            <a:r>
              <a:rPr dirty="0" sz="1200" spc="-5">
                <a:latin typeface="Times New Roman"/>
                <a:cs typeface="Times New Roman"/>
              </a:rPr>
              <a:t>was so </a:t>
            </a:r>
            <a:r>
              <a:rPr dirty="0" sz="1200">
                <a:latin typeface="Times New Roman"/>
                <a:cs typeface="Times New Roman"/>
              </a:rPr>
              <a:t>dark that he could not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the thorn to </a:t>
            </a:r>
            <a:r>
              <a:rPr dirty="0" sz="1200" spc="-5">
                <a:latin typeface="Times New Roman"/>
                <a:cs typeface="Times New Roman"/>
              </a:rPr>
              <a:t>remove </a:t>
            </a:r>
            <a:r>
              <a:rPr dirty="0" sz="1200">
                <a:latin typeface="Times New Roman"/>
                <a:cs typeface="Times New Roman"/>
              </a:rPr>
              <a:t>it.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thorn,”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Raven.</a:t>
            </a:r>
            <a:endParaRPr sz="1200">
              <a:latin typeface="Times New Roman"/>
              <a:cs typeface="Times New Roman"/>
            </a:endParaRPr>
          </a:p>
          <a:p>
            <a:pPr marL="469900" marR="3341370">
              <a:lnSpc>
                <a:spcPts val="2760"/>
              </a:lnSpc>
              <a:spcBef>
                <a:spcPts val="280"/>
              </a:spcBef>
            </a:pPr>
            <a:r>
              <a:rPr dirty="0" sz="1200">
                <a:latin typeface="Times New Roman"/>
                <a:cs typeface="Times New Roman"/>
              </a:rPr>
              <a:t>“Light? </a:t>
            </a:r>
            <a:r>
              <a:rPr dirty="0" sz="1200" spc="-5">
                <a:latin typeface="Times New Roman"/>
                <a:cs typeface="Times New Roman"/>
              </a:rPr>
              <a:t>Never!” said Gull. </a:t>
            </a:r>
            <a:r>
              <a:rPr dirty="0" sz="1200">
                <a:latin typeface="Times New Roman"/>
                <a:cs typeface="Times New Roman"/>
              </a:rPr>
              <a:t> “Then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thorn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remain.”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 indent="457200">
              <a:lnSpc>
                <a:spcPts val="1380"/>
              </a:lnSpc>
              <a:spcBef>
                <a:spcPts val="1100"/>
              </a:spcBef>
            </a:pPr>
            <a:r>
              <a:rPr dirty="0" sz="1200">
                <a:latin typeface="Times New Roman"/>
                <a:cs typeface="Times New Roman"/>
              </a:rPr>
              <a:t>Gull </a:t>
            </a:r>
            <a:r>
              <a:rPr dirty="0" sz="1200" spc="-5">
                <a:latin typeface="Times New Roman"/>
                <a:cs typeface="Times New Roman"/>
              </a:rPr>
              <a:t>complained and hopped on one </a:t>
            </a:r>
            <a:r>
              <a:rPr dirty="0" sz="1200">
                <a:latin typeface="Times New Roman"/>
                <a:cs typeface="Times New Roman"/>
              </a:rPr>
              <a:t>foot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wept, </a:t>
            </a:r>
            <a:r>
              <a:rPr dirty="0" sz="1200" spc="-5">
                <a:latin typeface="Times New Roman"/>
                <a:cs typeface="Times New Roman"/>
              </a:rPr>
              <a:t>and he </a:t>
            </a:r>
            <a:r>
              <a:rPr dirty="0" sz="1200">
                <a:latin typeface="Times New Roman"/>
                <a:cs typeface="Times New Roman"/>
              </a:rPr>
              <a:t>finally </a:t>
            </a:r>
            <a:r>
              <a:rPr dirty="0" sz="1200" spc="-5">
                <a:latin typeface="Times New Roman"/>
                <a:cs typeface="Times New Roman"/>
              </a:rPr>
              <a:t>opened </a:t>
            </a:r>
            <a:r>
              <a:rPr dirty="0" sz="1200">
                <a:latin typeface="Times New Roman"/>
                <a:cs typeface="Times New Roman"/>
              </a:rPr>
              <a:t>his cedar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box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crack,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crack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narrow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glanced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shaft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brighter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715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Raven put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hand to </a:t>
            </a:r>
            <a:r>
              <a:rPr dirty="0" sz="1200" spc="-5">
                <a:latin typeface="Times New Roman"/>
                <a:cs typeface="Times New Roman"/>
              </a:rPr>
              <a:t>Gull’s </a:t>
            </a:r>
            <a:r>
              <a:rPr dirty="0" sz="1200">
                <a:latin typeface="Times New Roman"/>
                <a:cs typeface="Times New Roman"/>
              </a:rPr>
              <a:t>foot, then </a:t>
            </a:r>
            <a:r>
              <a:rPr dirty="0" sz="1200" spc="-5">
                <a:latin typeface="Times New Roman"/>
                <a:cs typeface="Times New Roman"/>
              </a:rPr>
              <a:t>pretended not to see the </a:t>
            </a:r>
            <a:r>
              <a:rPr dirty="0" sz="1200">
                <a:latin typeface="Times New Roman"/>
                <a:cs typeface="Times New Roman"/>
              </a:rPr>
              <a:t>thorn. Instead, 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pushed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deeper.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8005" cy="388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699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“Squee!”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“My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foot!”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4699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“More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light!”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Raven.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 lid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box raised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further </a:t>
            </a:r>
            <a:r>
              <a:rPr dirty="0" sz="1200">
                <a:latin typeface="Times New Roman"/>
                <a:cs typeface="Times New Roman"/>
              </a:rPr>
              <a:t>crack, </a:t>
            </a:r>
            <a:r>
              <a:rPr dirty="0" sz="1200" spc="-5">
                <a:latin typeface="Times New Roman"/>
                <a:cs typeface="Times New Roman"/>
              </a:rPr>
              <a:t>so that light gleamed forth </a:t>
            </a:r>
            <a:r>
              <a:rPr dirty="0" sz="1200">
                <a:latin typeface="Times New Roman"/>
                <a:cs typeface="Times New Roman"/>
              </a:rPr>
              <a:t>like a winter moon.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Raven reached </a:t>
            </a:r>
            <a:r>
              <a:rPr dirty="0" sz="1200" spc="-5">
                <a:latin typeface="Times New Roman"/>
                <a:cs typeface="Times New Roman"/>
              </a:rPr>
              <a:t>again </a:t>
            </a:r>
            <a:r>
              <a:rPr dirty="0" sz="1200">
                <a:latin typeface="Times New Roman"/>
                <a:cs typeface="Times New Roman"/>
              </a:rPr>
              <a:t>for the thorn and pushed it even further into the soft flesh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Gull’s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4699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“More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light!”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Raven.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985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“Squee,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squee,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squee!”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screamed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flung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cedar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5715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molten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fish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slithered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warmth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blazed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world.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Nor was </a:t>
            </a:r>
            <a:r>
              <a:rPr dirty="0" sz="1200">
                <a:latin typeface="Times New Roman"/>
                <a:cs typeface="Times New Roman"/>
              </a:rPr>
              <a:t>it ever to be </a:t>
            </a:r>
            <a:r>
              <a:rPr dirty="0" sz="1200" spc="-5">
                <a:latin typeface="Times New Roman"/>
                <a:cs typeface="Times New Roman"/>
              </a:rPr>
              <a:t>recaptured, no matter how </a:t>
            </a:r>
            <a:r>
              <a:rPr dirty="0" sz="1200">
                <a:latin typeface="Times New Roman"/>
                <a:cs typeface="Times New Roman"/>
              </a:rPr>
              <a:t>loudly or how sadly Gull called to it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return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its </a:t>
            </a:r>
            <a:r>
              <a:rPr dirty="0" sz="1200">
                <a:latin typeface="Times New Roman"/>
                <a:cs typeface="Times New Roman"/>
              </a:rPr>
              <a:t>safe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5">
                <a:latin typeface="Times New Roman"/>
                <a:cs typeface="Times New Roman"/>
              </a:rPr>
              <a:t> beneath his </a:t>
            </a:r>
            <a:r>
              <a:rPr dirty="0" sz="1200">
                <a:latin typeface="Times New Roman"/>
                <a:cs typeface="Times New Roman"/>
              </a:rPr>
              <a:t>wing.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Now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after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reading</a:t>
            </a:r>
            <a:r>
              <a:rPr dirty="0" sz="1200" spc="-5" b="1">
                <a:latin typeface="Times New Roman"/>
                <a:cs typeface="Times New Roman"/>
              </a:rPr>
              <a:t> the</a:t>
            </a:r>
            <a:r>
              <a:rPr dirty="0" sz="1200" b="1">
                <a:latin typeface="Times New Roman"/>
                <a:cs typeface="Times New Roman"/>
              </a:rPr>
              <a:t> story</a:t>
            </a:r>
            <a:r>
              <a:rPr dirty="0" sz="1200" spc="-5" b="1">
                <a:latin typeface="Times New Roman"/>
                <a:cs typeface="Times New Roman"/>
              </a:rPr>
              <a:t> answer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questions.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Q1. </a:t>
            </a:r>
            <a:r>
              <a:rPr dirty="0" sz="1200">
                <a:latin typeface="Times New Roman"/>
                <a:cs typeface="Times New Roman"/>
              </a:rPr>
              <a:t>Read the four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given below. Select the one which best </a:t>
            </a:r>
            <a:r>
              <a:rPr dirty="0" sz="1200" spc="-5">
                <a:latin typeface="Times New Roman"/>
                <a:cs typeface="Times New Roman"/>
              </a:rPr>
              <a:t>expresses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 idea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5120132"/>
            <a:ext cx="1530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72925" y="5120132"/>
            <a:ext cx="327342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Raven’s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foot.</a:t>
            </a:r>
            <a:endParaRPr sz="1200">
              <a:latin typeface="Times New Roman"/>
              <a:cs typeface="Times New Roman"/>
            </a:endParaRPr>
          </a:p>
          <a:p>
            <a:pPr marL="13335" marR="5080" indent="-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meeting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birds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 </a:t>
            </a:r>
            <a:r>
              <a:rPr dirty="0" sz="1200">
                <a:latin typeface="Times New Roman"/>
                <a:cs typeface="Times New Roman"/>
              </a:rPr>
              <a:t>upon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Meeting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Hill.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release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daylight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capture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daylight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cedar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5996432"/>
            <a:ext cx="462153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b="1">
                <a:latin typeface="Times New Roman"/>
                <a:cs typeface="Times New Roman"/>
              </a:rPr>
              <a:t>C</a:t>
            </a:r>
            <a:r>
              <a:rPr dirty="0" sz="1200" spc="-5">
                <a:latin typeface="Times New Roman"/>
                <a:cs typeface="Times New Roman"/>
              </a:rPr>
              <a:t>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“The release of daylight over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earth”.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Q2.	</a:t>
            </a:r>
            <a:r>
              <a:rPr dirty="0" sz="1200">
                <a:latin typeface="Times New Roman"/>
                <a:cs typeface="Times New Roman"/>
              </a:rPr>
              <a:t>Read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 </a:t>
            </a:r>
            <a:r>
              <a:rPr dirty="0" sz="1200" b="1">
                <a:latin typeface="Times New Roman"/>
                <a:cs typeface="Times New Roman"/>
              </a:rPr>
              <a:t>T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6697471"/>
            <a:ext cx="153035" cy="1435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g)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h)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2925" y="6697471"/>
            <a:ext cx="3394075" cy="14351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1701164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Raven and Gull are birds.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related.</a:t>
            </a:r>
            <a:endParaRPr sz="1200">
              <a:latin typeface="Times New Roman"/>
              <a:cs typeface="Times New Roman"/>
            </a:endParaRPr>
          </a:p>
          <a:p>
            <a:pPr marL="12700" marR="33972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Raven felt important being </a:t>
            </a:r>
            <a:r>
              <a:rPr dirty="0" sz="1200" spc="-5">
                <a:latin typeface="Times New Roman"/>
                <a:cs typeface="Times New Roman"/>
              </a:rPr>
              <a:t>custodian of Daylight.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Daylight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kept under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wing.</a:t>
            </a:r>
            <a:endParaRPr sz="1200">
              <a:latin typeface="Times New Roman"/>
              <a:cs typeface="Times New Roman"/>
            </a:endParaRPr>
          </a:p>
          <a:p>
            <a:pPr marL="13335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Raven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pushed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thorn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Gull’s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Gull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once opened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box for Raven </a:t>
            </a:r>
            <a:r>
              <a:rPr dirty="0" sz="1200">
                <a:latin typeface="Times New Roman"/>
                <a:cs typeface="Times New Roman"/>
              </a:rPr>
              <a:t>to see the thorn.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sun</a:t>
            </a:r>
            <a:r>
              <a:rPr dirty="0" sz="1200">
                <a:latin typeface="Times New Roman"/>
                <a:cs typeface="Times New Roman"/>
              </a:rPr>
              <a:t> slipped 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box.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Gail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Robinson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author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8274811"/>
            <a:ext cx="2519045" cy="73596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33909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a, b and g are true.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Try to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answer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questions: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469900" indent="-228600">
              <a:lnSpc>
                <a:spcPct val="100000"/>
              </a:lnSpc>
              <a:spcBef>
                <a:spcPts val="1070"/>
              </a:spcBef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buAutoNum type="arabicPeriod"/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natural </a:t>
            </a:r>
            <a:r>
              <a:rPr dirty="0" sz="1200">
                <a:latin typeface="Times New Roman"/>
                <a:cs typeface="Times New Roman"/>
              </a:rPr>
              <a:t>event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trying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story?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myth?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ancient story </a:t>
            </a:r>
            <a:r>
              <a:rPr dirty="0" sz="1200" spc="-5">
                <a:latin typeface="Times New Roman"/>
                <a:cs typeface="Times New Roman"/>
              </a:rPr>
              <a:t>containing magical </a:t>
            </a:r>
            <a:r>
              <a:rPr dirty="0" sz="1200">
                <a:latin typeface="Times New Roman"/>
                <a:cs typeface="Times New Roman"/>
              </a:rPr>
              <a:t>and religious ideas. It </a:t>
            </a:r>
            <a:r>
              <a:rPr dirty="0" sz="1200" spc="-5">
                <a:latin typeface="Times New Roman"/>
                <a:cs typeface="Times New Roman"/>
              </a:rPr>
              <a:t>describes </a:t>
            </a:r>
            <a:r>
              <a:rPr dirty="0" sz="1200">
                <a:latin typeface="Times New Roman"/>
                <a:cs typeface="Times New Roman"/>
              </a:rPr>
              <a:t>an early attempt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mankind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surroundings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meaning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honest, plain sensible </a:t>
            </a:r>
            <a:r>
              <a:rPr dirty="0" sz="1200" i="1">
                <a:latin typeface="Times New Roman"/>
                <a:cs typeface="Times New Roman"/>
              </a:rPr>
              <a:t>Country Mouse </a:t>
            </a:r>
            <a:r>
              <a:rPr dirty="0" sz="1200" spc="-5">
                <a:latin typeface="Times New Roman"/>
                <a:cs typeface="Times New Roman"/>
              </a:rPr>
              <a:t>is said </a:t>
            </a:r>
            <a:r>
              <a:rPr dirty="0" sz="1200">
                <a:latin typeface="Times New Roman"/>
                <a:cs typeface="Times New Roman"/>
              </a:rPr>
              <a:t>to have </a:t>
            </a:r>
            <a:r>
              <a:rPr dirty="0" sz="1200" spc="-5">
                <a:latin typeface="Times New Roman"/>
                <a:cs typeface="Times New Roman"/>
              </a:rPr>
              <a:t>entertained in his hole, one day,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Mouse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Town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playfellows</a:t>
            </a:r>
            <a:r>
              <a:rPr dirty="0" sz="1200">
                <a:latin typeface="Times New Roman"/>
                <a:cs typeface="Times New Roman"/>
              </a:rPr>
              <a:t> together,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acquaintances,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served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apology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master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thought </a:t>
            </a:r>
            <a:r>
              <a:rPr dirty="0" sz="1200" spc="-5">
                <a:latin typeface="Times New Roman"/>
                <a:cs typeface="Times New Roman"/>
              </a:rPr>
              <a:t>himself </a:t>
            </a:r>
            <a:r>
              <a:rPr dirty="0" sz="1200">
                <a:latin typeface="Times New Roman"/>
                <a:cs typeface="Times New Roman"/>
              </a:rPr>
              <a:t>obliged to do the honours of it, in all respects, and to </a:t>
            </a:r>
            <a:r>
              <a:rPr dirty="0" sz="1200" spc="-5">
                <a:latin typeface="Times New Roman"/>
                <a:cs typeface="Times New Roman"/>
              </a:rPr>
              <a:t>make as </a:t>
            </a:r>
            <a:r>
              <a:rPr dirty="0" sz="1200">
                <a:latin typeface="Times New Roman"/>
                <a:cs typeface="Times New Roman"/>
              </a:rPr>
              <a:t>great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stranger of his guest as he possibly could. In order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this, </a:t>
            </a:r>
            <a:r>
              <a:rPr dirty="0" sz="1200" spc="-5">
                <a:latin typeface="Times New Roman"/>
                <a:cs typeface="Times New Roman"/>
              </a:rPr>
              <a:t>he set before him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reserve of </a:t>
            </a:r>
            <a:r>
              <a:rPr dirty="0" sz="1200">
                <a:latin typeface="Times New Roman"/>
                <a:cs typeface="Times New Roman"/>
              </a:rPr>
              <a:t> delicate grey peas and </a:t>
            </a:r>
            <a:r>
              <a:rPr dirty="0" sz="1200" spc="-5">
                <a:latin typeface="Times New Roman"/>
                <a:cs typeface="Times New Roman"/>
              </a:rPr>
              <a:t>meat, </a:t>
            </a:r>
            <a:r>
              <a:rPr dirty="0" sz="1200">
                <a:latin typeface="Times New Roman"/>
                <a:cs typeface="Times New Roman"/>
              </a:rPr>
              <a:t>a dish of fine </a:t>
            </a:r>
            <a:r>
              <a:rPr dirty="0" sz="1200" spc="-5">
                <a:latin typeface="Times New Roman"/>
                <a:cs typeface="Times New Roman"/>
              </a:rPr>
              <a:t>oatmeal, some </a:t>
            </a:r>
            <a:r>
              <a:rPr dirty="0" sz="1200">
                <a:latin typeface="Times New Roman"/>
                <a:cs typeface="Times New Roman"/>
              </a:rPr>
              <a:t>parings of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cheese, and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crown all, with a dessert, a </a:t>
            </a:r>
            <a:r>
              <a:rPr dirty="0" sz="1200" spc="-5">
                <a:latin typeface="Times New Roman"/>
                <a:cs typeface="Times New Roman"/>
              </a:rPr>
              <a:t>remnant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charming mellow </a:t>
            </a:r>
            <a:r>
              <a:rPr dirty="0" sz="1200">
                <a:latin typeface="Times New Roman"/>
                <a:cs typeface="Times New Roman"/>
              </a:rPr>
              <a:t>apple. In good </a:t>
            </a:r>
            <a:r>
              <a:rPr dirty="0" sz="1200" spc="-5">
                <a:latin typeface="Times New Roman"/>
                <a:cs typeface="Times New Roman"/>
              </a:rPr>
              <a:t>manners </a:t>
            </a:r>
            <a:r>
              <a:rPr dirty="0" sz="1200">
                <a:latin typeface="Times New Roman"/>
                <a:cs typeface="Times New Roman"/>
              </a:rPr>
              <a:t>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forbore to eat any </a:t>
            </a:r>
            <a:r>
              <a:rPr dirty="0" sz="1200" spc="-5">
                <a:latin typeface="Times New Roman"/>
                <a:cs typeface="Times New Roman"/>
              </a:rPr>
              <a:t>himself,</a:t>
            </a:r>
            <a:r>
              <a:rPr dirty="0" sz="1200">
                <a:latin typeface="Times New Roman"/>
                <a:cs typeface="Times New Roman"/>
              </a:rPr>
              <a:t> lest the </a:t>
            </a:r>
            <a:r>
              <a:rPr dirty="0" sz="1200" spc="-5">
                <a:latin typeface="Times New Roman"/>
                <a:cs typeface="Times New Roman"/>
              </a:rPr>
              <a:t>stranger</a:t>
            </a:r>
            <a:r>
              <a:rPr dirty="0" sz="1200">
                <a:latin typeface="Times New Roman"/>
                <a:cs typeface="Times New Roman"/>
              </a:rPr>
              <a:t> 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seem to bear the other </a:t>
            </a:r>
            <a:r>
              <a:rPr dirty="0" sz="1200" spc="-5">
                <a:latin typeface="Times New Roman"/>
                <a:cs typeface="Times New Roman"/>
              </a:rPr>
              <a:t>company, sat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nibbled </a:t>
            </a:r>
            <a:r>
              <a:rPr dirty="0" sz="1200">
                <a:latin typeface="Times New Roman"/>
                <a:cs typeface="Times New Roman"/>
              </a:rPr>
              <a:t>a piece of wheaten </a:t>
            </a:r>
            <a:r>
              <a:rPr dirty="0" sz="1200" spc="-5">
                <a:latin typeface="Times New Roman"/>
                <a:cs typeface="Times New Roman"/>
              </a:rPr>
              <a:t>straw </a:t>
            </a:r>
            <a:r>
              <a:rPr dirty="0" sz="1200">
                <a:latin typeface="Times New Roman"/>
                <a:cs typeface="Times New Roman"/>
              </a:rPr>
              <a:t>very busily.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last, said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spark of </a:t>
            </a:r>
            <a:r>
              <a:rPr dirty="0" sz="1200">
                <a:latin typeface="Times New Roman"/>
                <a:cs typeface="Times New Roman"/>
              </a:rPr>
              <a:t>the town, “Old </a:t>
            </a:r>
            <a:r>
              <a:rPr dirty="0" sz="1200" spc="-5">
                <a:latin typeface="Times New Roman"/>
                <a:cs typeface="Times New Roman"/>
              </a:rPr>
              <a:t>Crony, give me </a:t>
            </a:r>
            <a:r>
              <a:rPr dirty="0" sz="1200">
                <a:latin typeface="Times New Roman"/>
                <a:cs typeface="Times New Roman"/>
              </a:rPr>
              <a:t>leave to be a little free with you: how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you bear </a:t>
            </a:r>
            <a:r>
              <a:rPr dirty="0" sz="1200">
                <a:latin typeface="Times New Roman"/>
                <a:cs typeface="Times New Roman"/>
              </a:rPr>
              <a:t>to live in this </a:t>
            </a:r>
            <a:r>
              <a:rPr dirty="0" sz="1200" spc="-5">
                <a:latin typeface="Times New Roman"/>
                <a:cs typeface="Times New Roman"/>
              </a:rPr>
              <a:t>nasty, dirty, melancholy hole here, with nothing but woods,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meadows,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mountains,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rivulets about you?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you not prefer the conversation of the </a:t>
            </a:r>
            <a:r>
              <a:rPr dirty="0" sz="1200" spc="-5">
                <a:latin typeface="Times New Roman"/>
                <a:cs typeface="Times New Roman"/>
              </a:rPr>
              <a:t>world </a:t>
            </a:r>
            <a:r>
              <a:rPr dirty="0" sz="1200">
                <a:latin typeface="Times New Roman"/>
                <a:cs typeface="Times New Roman"/>
              </a:rPr>
              <a:t>to the chirping of birds; and the splendour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 court to the rude aspect of an </a:t>
            </a:r>
            <a:r>
              <a:rPr dirty="0" sz="1200" spc="-5">
                <a:latin typeface="Times New Roman"/>
                <a:cs typeface="Times New Roman"/>
              </a:rPr>
              <a:t>uncultivated desert? Come, </a:t>
            </a:r>
            <a:r>
              <a:rPr dirty="0" sz="1200">
                <a:latin typeface="Times New Roman"/>
                <a:cs typeface="Times New Roman"/>
              </a:rPr>
              <a:t>take </a:t>
            </a:r>
            <a:r>
              <a:rPr dirty="0" sz="1200" spc="-5">
                <a:latin typeface="Times New Roman"/>
                <a:cs typeface="Times New Roman"/>
              </a:rPr>
              <a:t>my word for </a:t>
            </a:r>
            <a:r>
              <a:rPr dirty="0" sz="1200">
                <a:latin typeface="Times New Roman"/>
                <a:cs typeface="Times New Roman"/>
              </a:rPr>
              <a:t>it,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it a change for the better. </a:t>
            </a:r>
            <a:r>
              <a:rPr dirty="0" sz="1200" spc="-5">
                <a:latin typeface="Times New Roman"/>
                <a:cs typeface="Times New Roman"/>
              </a:rPr>
              <a:t>Never stand considering, but </a:t>
            </a:r>
            <a:r>
              <a:rPr dirty="0" sz="1200">
                <a:latin typeface="Times New Roman"/>
                <a:cs typeface="Times New Roman"/>
              </a:rPr>
              <a:t>away this </a:t>
            </a:r>
            <a:r>
              <a:rPr dirty="0" sz="1200" spc="-5">
                <a:latin typeface="Times New Roman"/>
                <a:cs typeface="Times New Roman"/>
              </a:rPr>
              <a:t>moment. Remember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not immortal, and therefore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no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to lose. Make sure of to-day, and spend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as agreeably as </a:t>
            </a:r>
            <a:r>
              <a:rPr dirty="0" sz="1200">
                <a:latin typeface="Times New Roman"/>
                <a:cs typeface="Times New Roman"/>
              </a:rPr>
              <a:t>you can; you know not what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happen </a:t>
            </a:r>
            <a:r>
              <a:rPr dirty="0" sz="1200" spc="-5">
                <a:latin typeface="Times New Roman"/>
                <a:cs typeface="Times New Roman"/>
              </a:rPr>
              <a:t>tomorrow.” </a:t>
            </a:r>
            <a:r>
              <a:rPr dirty="0" sz="1200">
                <a:latin typeface="Times New Roman"/>
                <a:cs typeface="Times New Roman"/>
              </a:rPr>
              <a:t>In short, these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suchlike </a:t>
            </a:r>
            <a:r>
              <a:rPr dirty="0" sz="1200" spc="-5">
                <a:latin typeface="Times New Roman"/>
                <a:cs typeface="Times New Roman"/>
              </a:rPr>
              <a:t>arguments </a:t>
            </a:r>
            <a:r>
              <a:rPr dirty="0" sz="1200">
                <a:latin typeface="Times New Roman"/>
                <a:cs typeface="Times New Roman"/>
              </a:rPr>
              <a:t>prevailed, and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country </a:t>
            </a:r>
            <a:r>
              <a:rPr dirty="0" sz="1200" spc="-5">
                <a:latin typeface="Times New Roman"/>
                <a:cs typeface="Times New Roman"/>
              </a:rPr>
              <a:t>acquaintance was </a:t>
            </a:r>
            <a:r>
              <a:rPr dirty="0" sz="1200">
                <a:latin typeface="Times New Roman"/>
                <a:cs typeface="Times New Roman"/>
              </a:rPr>
              <a:t>resolved to go to town 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night. So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both set out upon </a:t>
            </a:r>
            <a:r>
              <a:rPr dirty="0" sz="1200">
                <a:latin typeface="Times New Roman"/>
                <a:cs typeface="Times New Roman"/>
              </a:rPr>
              <a:t>their journey </a:t>
            </a:r>
            <a:r>
              <a:rPr dirty="0" sz="1200" spc="-5">
                <a:latin typeface="Times New Roman"/>
                <a:cs typeface="Times New Roman"/>
              </a:rPr>
              <a:t>together, </a:t>
            </a:r>
            <a:r>
              <a:rPr dirty="0" sz="1200">
                <a:latin typeface="Times New Roman"/>
                <a:cs typeface="Times New Roman"/>
              </a:rPr>
              <a:t>proposing to </a:t>
            </a:r>
            <a:r>
              <a:rPr dirty="0" sz="1200" spc="-5">
                <a:latin typeface="Times New Roman"/>
                <a:cs typeface="Times New Roman"/>
              </a:rPr>
              <a:t>sneak </a:t>
            </a:r>
            <a:r>
              <a:rPr dirty="0" sz="1200">
                <a:latin typeface="Times New Roman"/>
                <a:cs typeface="Times New Roman"/>
              </a:rPr>
              <a:t>in after the close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evening. They did </a:t>
            </a:r>
            <a:r>
              <a:rPr dirty="0" sz="1200" spc="-5">
                <a:latin typeface="Times New Roman"/>
                <a:cs typeface="Times New Roman"/>
              </a:rPr>
              <a:t>so, </a:t>
            </a:r>
            <a:r>
              <a:rPr dirty="0" sz="1200">
                <a:latin typeface="Times New Roman"/>
                <a:cs typeface="Times New Roman"/>
              </a:rPr>
              <a:t>and about </a:t>
            </a:r>
            <a:r>
              <a:rPr dirty="0" sz="1200" spc="-5">
                <a:latin typeface="Times New Roman"/>
                <a:cs typeface="Times New Roman"/>
              </a:rPr>
              <a:t>midnight made </a:t>
            </a:r>
            <a:r>
              <a:rPr dirty="0" sz="1200">
                <a:latin typeface="Times New Roman"/>
                <a:cs typeface="Times New Roman"/>
              </a:rPr>
              <a:t>their entry into a certain great house,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 there had been an </a:t>
            </a:r>
            <a:r>
              <a:rPr dirty="0" sz="1200" spc="-5">
                <a:latin typeface="Times New Roman"/>
                <a:cs typeface="Times New Roman"/>
              </a:rPr>
              <a:t>extraordinary entertainment </a:t>
            </a:r>
            <a:r>
              <a:rPr dirty="0" sz="1200">
                <a:latin typeface="Times New Roman"/>
                <a:cs typeface="Times New Roman"/>
              </a:rPr>
              <a:t>the day before, and several titbits,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servants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purloined,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window.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country guest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immediately placed in the </a:t>
            </a:r>
            <a:r>
              <a:rPr dirty="0" sz="1200" spc="-5">
                <a:latin typeface="Times New Roman"/>
                <a:cs typeface="Times New Roman"/>
              </a:rPr>
              <a:t>midst </a:t>
            </a:r>
            <a:r>
              <a:rPr dirty="0" sz="1200">
                <a:latin typeface="Times New Roman"/>
                <a:cs typeface="Times New Roman"/>
              </a:rPr>
              <a:t>of a rich </a:t>
            </a:r>
            <a:r>
              <a:rPr dirty="0" sz="1200" spc="-5">
                <a:latin typeface="Times New Roman"/>
                <a:cs typeface="Times New Roman"/>
              </a:rPr>
              <a:t>Persian </a:t>
            </a:r>
            <a:r>
              <a:rPr dirty="0" sz="1200">
                <a:latin typeface="Times New Roman"/>
                <a:cs typeface="Times New Roman"/>
              </a:rPr>
              <a:t>carpet: and now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courtier’s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turn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entertain,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indeed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acquitted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himself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utmost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readiness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address,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changing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elegantly,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tasting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everything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judiciously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kitchen.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himself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delighted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epicure,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tickled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degree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new turn of his affairs; when,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sudden,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noise of somebody opening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door made </a:t>
            </a:r>
            <a:r>
              <a:rPr dirty="0" sz="1200">
                <a:latin typeface="Times New Roman"/>
                <a:cs typeface="Times New Roman"/>
              </a:rPr>
              <a:t> them start from their </a:t>
            </a:r>
            <a:r>
              <a:rPr dirty="0" sz="1200" spc="-5">
                <a:latin typeface="Times New Roman"/>
                <a:cs typeface="Times New Roman"/>
              </a:rPr>
              <a:t>seats, </a:t>
            </a:r>
            <a:r>
              <a:rPr dirty="0" sz="1200">
                <a:latin typeface="Times New Roman"/>
                <a:cs typeface="Times New Roman"/>
              </a:rPr>
              <a:t>and scuttle in confusion about the </a:t>
            </a:r>
            <a:r>
              <a:rPr dirty="0" sz="1200" spc="-5">
                <a:latin typeface="Times New Roman"/>
                <a:cs typeface="Times New Roman"/>
              </a:rPr>
              <a:t>dining-room. Our </a:t>
            </a:r>
            <a:r>
              <a:rPr dirty="0" sz="1200">
                <a:latin typeface="Times New Roman"/>
                <a:cs typeface="Times New Roman"/>
              </a:rPr>
              <a:t>country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friend,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particular,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fear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barking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huge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mastiff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opened their throats just about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and made the </a:t>
            </a:r>
            <a:r>
              <a:rPr dirty="0" sz="1200" spc="-5">
                <a:latin typeface="Times New Roman"/>
                <a:cs typeface="Times New Roman"/>
              </a:rPr>
              <a:t>whole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echo. </a:t>
            </a:r>
            <a:r>
              <a:rPr dirty="0" sz="1200" spc="-1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 last </a:t>
            </a:r>
            <a:r>
              <a:rPr dirty="0" sz="1200">
                <a:latin typeface="Times New Roman"/>
                <a:cs typeface="Times New Roman"/>
              </a:rPr>
              <a:t>recovering </a:t>
            </a:r>
            <a:r>
              <a:rPr dirty="0" sz="1200" spc="-5">
                <a:latin typeface="Times New Roman"/>
                <a:cs typeface="Times New Roman"/>
              </a:rPr>
              <a:t>himself. “Well,” </a:t>
            </a:r>
            <a:r>
              <a:rPr dirty="0" sz="1200">
                <a:latin typeface="Times New Roman"/>
                <a:cs typeface="Times New Roman"/>
              </a:rPr>
              <a:t>said he, “if this be your </a:t>
            </a:r>
            <a:r>
              <a:rPr dirty="0" sz="1200" spc="-5">
                <a:latin typeface="Times New Roman"/>
                <a:cs typeface="Times New Roman"/>
              </a:rPr>
              <a:t>town </a:t>
            </a:r>
            <a:r>
              <a:rPr dirty="0" sz="1200">
                <a:latin typeface="Times New Roman"/>
                <a:cs typeface="Times New Roman"/>
              </a:rPr>
              <a:t>life,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it do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poor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quiet hole again, with </a:t>
            </a:r>
            <a:r>
              <a:rPr dirty="0" sz="1200" spc="-5">
                <a:latin typeface="Times New Roman"/>
                <a:cs typeface="Times New Roman"/>
              </a:rPr>
              <a:t>my homely,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comfortable </a:t>
            </a:r>
            <a:r>
              <a:rPr dirty="0" sz="1200">
                <a:latin typeface="Times New Roman"/>
                <a:cs typeface="Times New Roman"/>
              </a:rPr>
              <a:t>grey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peas.”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environment.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10</a:t>
            </a:fld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6735" cy="37357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Security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Reading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exercises: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>
                <a:latin typeface="Times New Roman"/>
                <a:cs typeface="Times New Roman"/>
              </a:rPr>
              <a:t> read the </a:t>
            </a:r>
            <a:r>
              <a:rPr dirty="0" sz="1200" spc="-5">
                <a:latin typeface="Times New Roman"/>
                <a:cs typeface="Times New Roman"/>
              </a:rPr>
              <a:t>stories</a:t>
            </a:r>
            <a:r>
              <a:rPr dirty="0" sz="1200">
                <a:latin typeface="Times New Roman"/>
                <a:cs typeface="Times New Roman"/>
              </a:rPr>
              <a:t> —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not look 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meanings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lvl="1" marL="274955" indent="-262890">
              <a:lnSpc>
                <a:spcPct val="100000"/>
              </a:lnSpc>
              <a:buAutoNum type="arabicPeriod"/>
              <a:tabLst>
                <a:tab pos="275590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stories?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274955" indent="-262890">
              <a:lnSpc>
                <a:spcPct val="100000"/>
              </a:lnSpc>
              <a:buAutoNum type="arabicPeriod"/>
              <a:tabLst>
                <a:tab pos="275590" algn="l"/>
              </a:tabLst>
            </a:pP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 specific</a:t>
            </a:r>
            <a:r>
              <a:rPr dirty="0" sz="1200" spc="-5">
                <a:latin typeface="Times New Roman"/>
                <a:cs typeface="Times New Roman"/>
              </a:rPr>
              <a:t> lessons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authors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learn?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buFont typeface="Times New Roman"/>
              <a:buAutoNum type="arabicPeriod"/>
            </a:pPr>
            <a:endParaRPr sz="13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brings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Let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recapitulate/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what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learnt</a:t>
            </a:r>
            <a:r>
              <a:rPr dirty="0" sz="1200">
                <a:latin typeface="Times New Roman"/>
                <a:cs typeface="Times New Roman"/>
              </a:rPr>
              <a:t> today: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lvl="2" marL="469900" indent="-228600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lvl="2">
              <a:lnSpc>
                <a:spcPct val="100000"/>
              </a:lnSpc>
              <a:spcBef>
                <a:spcPts val="25"/>
              </a:spcBef>
              <a:buFont typeface="Symbol"/>
              <a:buChar char=""/>
            </a:pPr>
            <a:endParaRPr sz="1200">
              <a:latin typeface="Times New Roman"/>
              <a:cs typeface="Times New Roman"/>
            </a:endParaRPr>
          </a:p>
          <a:p>
            <a:pPr lvl="2" marL="469900" indent="-228600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we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simple</a:t>
            </a:r>
            <a:r>
              <a:rPr dirty="0" sz="1200">
                <a:latin typeface="Times New Roman"/>
                <a:cs typeface="Times New Roman"/>
              </a:rPr>
              <a:t> texts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5">
                <a:latin typeface="Times New Roman"/>
                <a:cs typeface="Times New Roman"/>
              </a:rPr>
              <a:t> meaning.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Consult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package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assignments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dictionary</a:t>
            </a:r>
            <a:r>
              <a:rPr dirty="0" sz="1200" spc="-5">
                <a:latin typeface="Times New Roman"/>
                <a:cs typeface="Times New Roman"/>
              </a:rPr>
              <a:t> for </a:t>
            </a:r>
            <a:r>
              <a:rPr dirty="0" sz="1200">
                <a:latin typeface="Times New Roman"/>
                <a:cs typeface="Times New Roman"/>
              </a:rPr>
              <a:t>learning</a:t>
            </a:r>
            <a:r>
              <a:rPr dirty="0" sz="1200" spc="-5">
                <a:latin typeface="Times New Roman"/>
                <a:cs typeface="Times New Roman"/>
              </a:rPr>
              <a:t> pronunciation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English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10</a:t>
            </a:fld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791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4940935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-02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Pronunciation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 lesson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about the usage of a dictionary to know the </a:t>
            </a:r>
            <a:r>
              <a:rPr dirty="0" sz="1200" spc="-5">
                <a:latin typeface="Times New Roman"/>
                <a:cs typeface="Times New Roman"/>
              </a:rPr>
              <a:t>pronunciation of </a:t>
            </a:r>
            <a:r>
              <a:rPr dirty="0" sz="1200">
                <a:latin typeface="Times New Roman"/>
                <a:cs typeface="Times New Roman"/>
              </a:rPr>
              <a:t>English </a:t>
            </a:r>
            <a:r>
              <a:rPr dirty="0" sz="1200" spc="-10">
                <a:latin typeface="Times New Roman"/>
                <a:cs typeface="Times New Roman"/>
              </a:rPr>
              <a:t>words.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worried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pronunciation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confusion.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students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difficulty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familiarized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symbols</a:t>
            </a:r>
            <a:r>
              <a:rPr dirty="0" sz="1200">
                <a:latin typeface="Times New Roman"/>
                <a:cs typeface="Times New Roman"/>
              </a:rPr>
              <a:t> 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phonemic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>
                <a:latin typeface="Times New Roman"/>
                <a:cs typeface="Times New Roman"/>
              </a:rPr>
              <a:t>to indicate each </a:t>
            </a:r>
            <a:r>
              <a:rPr dirty="0" sz="1200" spc="-5">
                <a:latin typeface="Times New Roman"/>
                <a:cs typeface="Times New Roman"/>
              </a:rPr>
              <a:t>speech sound.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lesson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few </a:t>
            </a:r>
            <a:r>
              <a:rPr dirty="0" sz="1200">
                <a:latin typeface="Times New Roman"/>
                <a:cs typeface="Times New Roman"/>
              </a:rPr>
              <a:t>exercises.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Look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the following words: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454150" y="3396826"/>
          <a:ext cx="2256790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4250"/>
                <a:gridCol w="791844"/>
                <a:gridCol w="480694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Ch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91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270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sound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Ch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ur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91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chey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27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sound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Ra</a:t>
                      </a: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9100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sound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6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Ma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ch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910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sound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016000" y="4243832"/>
            <a:ext cx="5627370" cy="16103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38100">
              <a:lnSpc>
                <a:spcPts val="1380"/>
              </a:lnSpc>
              <a:spcBef>
                <a:spcPts val="195"/>
              </a:spcBef>
              <a:tabLst>
                <a:tab pos="462597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chorus’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pronounced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'k'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word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church</a:t>
            </a:r>
            <a:r>
              <a:rPr dirty="0" sz="1200">
                <a:latin typeface="Times New Roman"/>
                <a:cs typeface="Times New Roman"/>
              </a:rPr>
              <a:t> the letters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pronounced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Urdu/Punjabi</a:t>
            </a:r>
            <a:r>
              <a:rPr dirty="0" sz="1200">
                <a:latin typeface="Times New Roman"/>
                <a:cs typeface="Times New Roman"/>
              </a:rPr>
              <a:t> letter	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‘ration’</a:t>
            </a:r>
            <a:r>
              <a:rPr dirty="0" sz="1200">
                <a:latin typeface="Times New Roman"/>
                <a:cs typeface="Times New Roman"/>
              </a:rPr>
              <a:t>,-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tion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pronounced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‘sh’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machine’</a:t>
            </a: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‘ch’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pronounced</a:t>
            </a:r>
            <a:r>
              <a:rPr dirty="0" sz="1200" spc="-5">
                <a:latin typeface="Times New Roman"/>
                <a:cs typeface="Times New Roman"/>
              </a:rPr>
              <a:t> as ‘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>
                <a:latin typeface="Times New Roman"/>
                <a:cs typeface="Times New Roman"/>
              </a:rPr>
              <a:t> that the </a:t>
            </a:r>
            <a:r>
              <a:rPr dirty="0" sz="1200" spc="-5">
                <a:latin typeface="Times New Roman"/>
                <a:cs typeface="Times New Roman"/>
              </a:rPr>
              <a:t>phonemic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symbols</a:t>
            </a:r>
            <a:r>
              <a:rPr dirty="0" sz="1200">
                <a:latin typeface="Times New Roman"/>
                <a:cs typeface="Times New Roman"/>
              </a:rPr>
              <a:t> are 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slash</a:t>
            </a:r>
            <a:r>
              <a:rPr dirty="0" sz="1200">
                <a:latin typeface="Times New Roman"/>
                <a:cs typeface="Times New Roman"/>
              </a:rPr>
              <a:t> brackets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louder.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attention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shape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mouth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lips.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2298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Short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Vowels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(7)	</a:t>
            </a:r>
            <a:r>
              <a:rPr dirty="0" sz="1200" spc="-5" b="1">
                <a:latin typeface="Times New Roman"/>
                <a:cs typeface="Times New Roman"/>
              </a:rPr>
              <a:t>Long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Vowels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(5)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925816"/>
            <a:ext cx="4982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Notice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symbols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long</a:t>
            </a:r>
            <a:r>
              <a:rPr dirty="0" sz="1200" spc="-5" b="1">
                <a:latin typeface="Times New Roman"/>
                <a:cs typeface="Times New Roman"/>
              </a:rPr>
              <a:t> vowels </a:t>
            </a:r>
            <a:r>
              <a:rPr dirty="0" sz="1200" b="1">
                <a:latin typeface="Times New Roman"/>
                <a:cs typeface="Times New Roman"/>
              </a:rPr>
              <a:t>have </a:t>
            </a:r>
            <a:r>
              <a:rPr dirty="0" sz="1200" spc="-5" b="1">
                <a:latin typeface="Times New Roman"/>
                <a:cs typeface="Times New Roman"/>
              </a:rPr>
              <a:t>two </a:t>
            </a:r>
            <a:r>
              <a:rPr dirty="0" sz="1200" b="1">
                <a:latin typeface="Times New Roman"/>
                <a:cs typeface="Times New Roman"/>
              </a:rPr>
              <a:t>small </a:t>
            </a:r>
            <a:r>
              <a:rPr dirty="0" sz="1200" spc="-5" b="1">
                <a:latin typeface="Times New Roman"/>
                <a:cs typeface="Times New Roman"/>
              </a:rPr>
              <a:t>dots 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front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8625332"/>
            <a:ext cx="562737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Next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diphthong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vowels.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sounds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vowel</a:t>
            </a:r>
            <a:r>
              <a:rPr dirty="0" sz="1200">
                <a:latin typeface="Times New Roman"/>
                <a:cs typeface="Times New Roman"/>
              </a:rPr>
              <a:t> sounds.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movement</a:t>
            </a:r>
            <a:r>
              <a:rPr dirty="0" sz="1200">
                <a:latin typeface="Times New Roman"/>
                <a:cs typeface="Times New Roman"/>
              </a:rPr>
              <a:t> or glide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vowel sound to another.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028700" y="5934455"/>
            <a:ext cx="2825115" cy="1590040"/>
            <a:chOff x="1028700" y="5934455"/>
            <a:chExt cx="2825115" cy="1590040"/>
          </a:xfrm>
        </p:grpSpPr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0671" y="6083158"/>
              <a:ext cx="1202871" cy="89326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28700" y="5934455"/>
              <a:ext cx="1878330" cy="1589532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10</a:t>
            </a:fld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3042919"/>
            <a:ext cx="562673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are 20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vowel</a:t>
            </a:r>
            <a:r>
              <a:rPr dirty="0" sz="1200" spc="-5">
                <a:latin typeface="Times New Roman"/>
                <a:cs typeface="Times New Roman"/>
              </a:rPr>
              <a:t> phonemes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English.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(7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 diphthongs).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consonant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sounds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phonemes.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English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24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consonant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sounds.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sounds </a:t>
            </a:r>
            <a:r>
              <a:rPr dirty="0" sz="1200">
                <a:latin typeface="Times New Roman"/>
                <a:cs typeface="Times New Roman"/>
              </a:rPr>
              <a:t>produced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stoppage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repeat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6372097"/>
            <a:ext cx="41948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pronunciation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STRESS.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8476742"/>
            <a:ext cx="5626100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Stress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Stress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extra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force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pronouncing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speaking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indicate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</a:t>
            </a:r>
            <a:r>
              <a:rPr dirty="0" sz="1200">
                <a:latin typeface="Times New Roman"/>
                <a:cs typeface="Times New Roman"/>
              </a:rPr>
              <a:t> by a tiny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>
                <a:latin typeface="Times New Roman"/>
                <a:cs typeface="Times New Roman"/>
              </a:rPr>
              <a:t> on the top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word like this: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`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9565" y="1072292"/>
            <a:ext cx="4226270" cy="1820259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28700" y="3987546"/>
            <a:ext cx="4096512" cy="13716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14400" y="5736335"/>
            <a:ext cx="4754880" cy="1827276"/>
          </a:xfrm>
          <a:prstGeom prst="rect">
            <a:avLst/>
          </a:prstGeom>
        </p:spPr>
      </p:pic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10</a:t>
            </a:fld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0891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falls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E.g.: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315"/>
              </a:lnSpc>
              <a:buFont typeface="Times New Roman"/>
              <a:buAutoNum type="alphaLcParenBoth"/>
              <a:tabLst>
                <a:tab pos="469265" algn="l"/>
                <a:tab pos="469900" algn="l"/>
                <a:tab pos="1209675" algn="l"/>
                <a:tab pos="2064385" algn="l"/>
              </a:tabLst>
            </a:pPr>
            <a:r>
              <a:rPr dirty="0" sz="1200" b="1">
                <a:latin typeface="Times New Roman"/>
                <a:cs typeface="Times New Roman"/>
              </a:rPr>
              <a:t>mother	table	after</a:t>
            </a:r>
            <a:endParaRPr sz="1200">
              <a:latin typeface="Times New Roman"/>
              <a:cs typeface="Times New Roman"/>
            </a:endParaRPr>
          </a:p>
          <a:p>
            <a:pPr marL="3556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these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the first part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word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469900" indent="-457200">
              <a:lnSpc>
                <a:spcPct val="100000"/>
              </a:lnSpc>
              <a:spcBef>
                <a:spcPts val="5"/>
              </a:spcBef>
              <a:buFont typeface="Times New Roman"/>
              <a:buAutoNum type="alphaLcParenBoth" startAt="2"/>
              <a:tabLst>
                <a:tab pos="469265" algn="l"/>
                <a:tab pos="469900" algn="l"/>
                <a:tab pos="1231265" algn="l"/>
                <a:tab pos="203136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hotel	bamboo	banana</a:t>
            </a:r>
            <a:r>
              <a:rPr dirty="0" sz="1200" spc="-5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 which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spelling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speech because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stressed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differently.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2666492"/>
            <a:ext cx="59626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`rebel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re`bel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(v)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096" y="2666492"/>
            <a:ext cx="229489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r`ebels </a:t>
            </a:r>
            <a:r>
              <a:rPr dirty="0" sz="1200">
                <a:latin typeface="Times New Roman"/>
                <a:cs typeface="Times New Roman"/>
              </a:rPr>
              <a:t>laid down their </a:t>
            </a:r>
            <a:r>
              <a:rPr dirty="0" sz="1200" spc="-5">
                <a:latin typeface="Times New Roman"/>
                <a:cs typeface="Times New Roman"/>
              </a:rPr>
              <a:t>arms. </a:t>
            </a:r>
            <a:r>
              <a:rPr dirty="0" sz="1200">
                <a:latin typeface="Times New Roman"/>
                <a:cs typeface="Times New Roman"/>
              </a:rPr>
              <a:t> Children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re`bel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against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3192271"/>
            <a:ext cx="842644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`present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`present (adj)  </a:t>
            </a:r>
            <a:r>
              <a:rPr dirty="0" sz="1200">
                <a:latin typeface="Times New Roman"/>
                <a:cs typeface="Times New Roman"/>
              </a:rPr>
              <a:t>Pre`sent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30066" y="3192271"/>
            <a:ext cx="194119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`present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lovely.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`present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party?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Please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pre`sent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4068571"/>
            <a:ext cx="5628640" cy="5117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passage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COMPUTERS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OUR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DAILY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LIVES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now an integral part of our </a:t>
            </a:r>
            <a:r>
              <a:rPr dirty="0" sz="1200" spc="-5">
                <a:latin typeface="Times New Roman"/>
                <a:cs typeface="Times New Roman"/>
              </a:rPr>
              <a:t>lives. </a:t>
            </a:r>
            <a:r>
              <a:rPr dirty="0" sz="1200">
                <a:latin typeface="Times New Roman"/>
                <a:cs typeface="Times New Roman"/>
              </a:rPr>
              <a:t>Many things, public or private, 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do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 the course of the day are affected by them. </a:t>
            </a:r>
            <a:r>
              <a:rPr dirty="0" sz="1200" spc="-5">
                <a:latin typeface="Times New Roman"/>
                <a:cs typeface="Times New Roman"/>
              </a:rPr>
              <a:t>Visit </a:t>
            </a:r>
            <a:r>
              <a:rPr dirty="0" sz="1200">
                <a:latin typeface="Times New Roman"/>
                <a:cs typeface="Times New Roman"/>
              </a:rPr>
              <a:t>any public </a:t>
            </a:r>
            <a:r>
              <a:rPr dirty="0" sz="1200" spc="-5">
                <a:latin typeface="Times New Roman"/>
                <a:cs typeface="Times New Roman"/>
              </a:rPr>
              <a:t>organization or office, </a:t>
            </a:r>
            <a:r>
              <a:rPr dirty="0" sz="1200">
                <a:latin typeface="Times New Roman"/>
                <a:cs typeface="Times New Roman"/>
              </a:rPr>
              <a:t> from hospitals to schools, from the </a:t>
            </a:r>
            <a:r>
              <a:rPr dirty="0" sz="1200" spc="-5">
                <a:latin typeface="Times New Roman"/>
                <a:cs typeface="Times New Roman"/>
              </a:rPr>
              <a:t>meteorological </a:t>
            </a:r>
            <a:r>
              <a:rPr dirty="0" sz="1200">
                <a:latin typeface="Times New Roman"/>
                <a:cs typeface="Times New Roman"/>
              </a:rPr>
              <a:t>bureau to the stock exchange, etc.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are sure to </a:t>
            </a:r>
            <a:r>
              <a:rPr dirty="0" sz="1200" spc="-5">
                <a:latin typeface="Times New Roman"/>
                <a:cs typeface="Times New Roman"/>
              </a:rPr>
              <a:t>come across </a:t>
            </a:r>
            <a:r>
              <a:rPr dirty="0" sz="1200">
                <a:latin typeface="Times New Roman"/>
                <a:cs typeface="Times New Roman"/>
              </a:rPr>
              <a:t>people working at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>
                <a:latin typeface="Times New Roman"/>
                <a:cs typeface="Times New Roman"/>
              </a:rPr>
              <a:t>Gone are the days when entries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5">
                <a:latin typeface="Times New Roman"/>
                <a:cs typeface="Times New Roman"/>
              </a:rPr>
              <a:t>made manually </a:t>
            </a:r>
            <a:r>
              <a:rPr dirty="0" sz="1200">
                <a:latin typeface="Times New Roman"/>
                <a:cs typeface="Times New Roman"/>
              </a:rPr>
              <a:t>in registers and ledgers at the bank.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-5">
                <a:latin typeface="Times New Roman"/>
                <a:cs typeface="Times New Roman"/>
              </a:rPr>
              <a:t>monetary </a:t>
            </a:r>
            <a:r>
              <a:rPr dirty="0" sz="1200">
                <a:latin typeface="Times New Roman"/>
                <a:cs typeface="Times New Roman"/>
              </a:rPr>
              <a:t>transactions 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conducted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the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Most films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TV advertisements use </a:t>
            </a:r>
            <a:r>
              <a:rPr dirty="0" sz="1200">
                <a:latin typeface="Times New Roman"/>
                <a:cs typeface="Times New Roman"/>
              </a:rPr>
              <a:t>graphics or pictures produced with the help of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r>
              <a:rPr dirty="0" sz="1200">
                <a:latin typeface="Times New Roman"/>
                <a:cs typeface="Times New Roman"/>
              </a:rPr>
              <a:t> There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hardly a sphere of life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does not involve the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Even when you go out on personal errands, to the travel agent to buy an airline ticket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 a seat on the inter city bus, to the </a:t>
            </a:r>
            <a:r>
              <a:rPr dirty="0" sz="1200" spc="-5">
                <a:latin typeface="Times New Roman"/>
                <a:cs typeface="Times New Roman"/>
              </a:rPr>
              <a:t>shopping </a:t>
            </a:r>
            <a:r>
              <a:rPr dirty="0" sz="1200">
                <a:latin typeface="Times New Roman"/>
                <a:cs typeface="Times New Roman"/>
              </a:rPr>
              <a:t>plaza or a grocery </a:t>
            </a:r>
            <a:r>
              <a:rPr dirty="0" sz="1200" spc="-5">
                <a:latin typeface="Times New Roman"/>
                <a:cs typeface="Times New Roman"/>
              </a:rPr>
              <a:t>store,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man </a:t>
            </a:r>
            <a:r>
              <a:rPr dirty="0" sz="1200">
                <a:latin typeface="Times New Roman"/>
                <a:cs typeface="Times New Roman"/>
              </a:rPr>
              <a:t>behind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counter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equipped with </a:t>
            </a:r>
            <a:r>
              <a:rPr dirty="0" sz="1200" spc="-5">
                <a:latin typeface="Times New Roman"/>
                <a:cs typeface="Times New Roman"/>
              </a:rPr>
              <a:t>laser </a:t>
            </a:r>
            <a:r>
              <a:rPr dirty="0" sz="1200">
                <a:latin typeface="Times New Roman"/>
                <a:cs typeface="Times New Roman"/>
              </a:rPr>
              <a:t>and bar code technology to scan the price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each item you put before him and then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it to add up the price to present you with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total, </a:t>
            </a:r>
            <a:r>
              <a:rPr dirty="0" sz="1200">
                <a:latin typeface="Times New Roman"/>
                <a:cs typeface="Times New Roman"/>
              </a:rPr>
              <a:t>all within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minutes.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code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pattern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thick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read by a scanner.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bar code identifies the item to which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affixed; the scanner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transfers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signal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matches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inventory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unit.</a:t>
            </a:r>
            <a:endParaRPr sz="12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no longer things only encountered outside the </a:t>
            </a:r>
            <a:r>
              <a:rPr dirty="0" sz="1200" spc="-5">
                <a:latin typeface="Times New Roman"/>
                <a:cs typeface="Times New Roman"/>
              </a:rPr>
              <a:t>home; </a:t>
            </a:r>
            <a:r>
              <a:rPr dirty="0" sz="1200">
                <a:latin typeface="Times New Roman"/>
                <a:cs typeface="Times New Roman"/>
              </a:rPr>
              <a:t>they are very much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 of the household </a:t>
            </a:r>
            <a:r>
              <a:rPr dirty="0" sz="1200" spc="-5">
                <a:latin typeface="Times New Roman"/>
                <a:cs typeface="Times New Roman"/>
              </a:rPr>
              <a:t>items. One</a:t>
            </a:r>
            <a:r>
              <a:rPr dirty="0" sz="1200">
                <a:latin typeface="Times New Roman"/>
                <a:cs typeface="Times New Roman"/>
              </a:rPr>
              <a:t> cannot</a:t>
            </a:r>
            <a:r>
              <a:rPr dirty="0" sz="1200" spc="-5">
                <a:latin typeface="Times New Roman"/>
                <a:cs typeface="Times New Roman"/>
              </a:rPr>
              <a:t> imagine</a:t>
            </a:r>
            <a:r>
              <a:rPr dirty="0" sz="1200">
                <a:latin typeface="Times New Roman"/>
                <a:cs typeface="Times New Roman"/>
              </a:rPr>
              <a:t> a world without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The passage will be </a:t>
            </a:r>
            <a:r>
              <a:rPr dirty="0" sz="1200" b="1">
                <a:latin typeface="Times New Roman"/>
                <a:cs typeface="Times New Roman"/>
              </a:rPr>
              <a:t>read </a:t>
            </a:r>
            <a:r>
              <a:rPr dirty="0" sz="1200" spc="-5" b="1">
                <a:latin typeface="Times New Roman"/>
                <a:cs typeface="Times New Roman"/>
              </a:rPr>
              <a:t>out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second </a:t>
            </a:r>
            <a:r>
              <a:rPr dirty="0" sz="1200" b="1">
                <a:latin typeface="Times New Roman"/>
                <a:cs typeface="Times New Roman"/>
              </a:rPr>
              <a:t>time. </a:t>
            </a:r>
            <a:r>
              <a:rPr dirty="0" sz="1200" spc="-5" b="1">
                <a:latin typeface="Times New Roman"/>
                <a:cs typeface="Times New Roman"/>
              </a:rPr>
              <a:t>As </a:t>
            </a:r>
            <a:r>
              <a:rPr dirty="0" sz="1200" b="1">
                <a:latin typeface="Times New Roman"/>
                <a:cs typeface="Times New Roman"/>
              </a:rPr>
              <a:t>you read </a:t>
            </a:r>
            <a:r>
              <a:rPr dirty="0" sz="1200" spc="-5" b="1">
                <a:latin typeface="Times New Roman"/>
                <a:cs typeface="Times New Roman"/>
              </a:rPr>
              <a:t>this passage </a:t>
            </a:r>
            <a:r>
              <a:rPr dirty="0" sz="1200" b="1">
                <a:latin typeface="Times New Roman"/>
                <a:cs typeface="Times New Roman"/>
              </a:rPr>
              <a:t>you </a:t>
            </a:r>
            <a:r>
              <a:rPr dirty="0" sz="1200" spc="-5" b="1">
                <a:latin typeface="Times New Roman"/>
                <a:cs typeface="Times New Roman"/>
              </a:rPr>
              <a:t>will see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list </a:t>
            </a:r>
            <a:r>
              <a:rPr dirty="0" sz="1200" b="1">
                <a:latin typeface="Times New Roman"/>
                <a:cs typeface="Times New Roman"/>
              </a:rPr>
              <a:t> of</a:t>
            </a:r>
            <a:r>
              <a:rPr dirty="0" sz="1200" spc="-5" b="1">
                <a:latin typeface="Times New Roman"/>
                <a:cs typeface="Times New Roman"/>
              </a:rPr>
              <a:t> 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b="1">
                <a:latin typeface="Times New Roman"/>
                <a:cs typeface="Times New Roman"/>
              </a:rPr>
              <a:t> your </a:t>
            </a:r>
            <a:r>
              <a:rPr dirty="0" sz="1200" spc="-5" b="1">
                <a:latin typeface="Times New Roman"/>
                <a:cs typeface="Times New Roman"/>
              </a:rPr>
              <a:t>TV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screen.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8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Tick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only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hear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read.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439671"/>
            <a:ext cx="77025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Integral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Games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Machines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Ledgers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Flight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387200" y="1439671"/>
            <a:ext cx="80454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3200" indent="-191135">
              <a:lnSpc>
                <a:spcPts val="1410"/>
              </a:lnSpc>
              <a:spcBef>
                <a:spcPts val="100"/>
              </a:spcBef>
              <a:buAutoNum type="arabicPeriod" startAt="6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Involve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 startAt="6"/>
              <a:tabLst>
                <a:tab pos="203835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Maintain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AutoNum type="arabicPeriod" startAt="6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Errands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 startAt="6"/>
              <a:tabLst>
                <a:tab pos="203835" algn="l"/>
              </a:tabLst>
            </a:pPr>
            <a:r>
              <a:rPr dirty="0" sz="1200" spc="-5">
                <a:latin typeface="Times New Roman"/>
                <a:cs typeface="Times New Roman"/>
              </a:rPr>
              <a:t>Grocery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410"/>
              </a:lnSpc>
              <a:buAutoNum type="arabicPeriod" startAt="6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Libraries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8923" y="1439671"/>
            <a:ext cx="10674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9235">
              <a:lnSpc>
                <a:spcPts val="1410"/>
              </a:lnSpc>
              <a:spcBef>
                <a:spcPts val="100"/>
              </a:spcBef>
              <a:buAutoNum type="arabicPeriod" startAt="11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Bookkeeping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380"/>
              </a:lnSpc>
              <a:buAutoNum type="arabicPeriod" startAt="11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Encountered</a:t>
            </a:r>
            <a:endParaRPr sz="1200">
              <a:latin typeface="Times New Roman"/>
              <a:cs typeface="Times New Roman"/>
            </a:endParaRPr>
          </a:p>
          <a:p>
            <a:pPr marL="241300" indent="-228600">
              <a:lnSpc>
                <a:spcPts val="1380"/>
              </a:lnSpc>
              <a:buAutoNum type="arabicPeriod" startAt="11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Scanner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410"/>
              </a:lnSpc>
              <a:buAutoNum type="arabicPeriod" startAt="11"/>
              <a:tabLst>
                <a:tab pos="241935" algn="l"/>
              </a:tabLst>
            </a:pPr>
            <a:r>
              <a:rPr dirty="0" sz="1200" spc="-10">
                <a:latin typeface="Times New Roman"/>
                <a:cs typeface="Times New Roman"/>
              </a:rPr>
              <a:t>Art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492756"/>
            <a:ext cx="562419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II: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You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may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face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difficulty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using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right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stress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words.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dictionary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5" b="1">
                <a:latin typeface="Times New Roman"/>
                <a:cs typeface="Times New Roman"/>
              </a:rPr>
              <a:t> find where the stress </a:t>
            </a:r>
            <a:r>
              <a:rPr dirty="0" sz="1200" b="1">
                <a:latin typeface="Times New Roman"/>
                <a:cs typeface="Times New Roman"/>
              </a:rPr>
              <a:t>falls</a:t>
            </a:r>
            <a:r>
              <a:rPr dirty="0" sz="1200" spc="-5" b="1">
                <a:latin typeface="Times New Roman"/>
                <a:cs typeface="Times New Roman"/>
              </a:rPr>
              <a:t> in the </a:t>
            </a:r>
            <a:r>
              <a:rPr dirty="0" sz="1200" b="1">
                <a:latin typeface="Times New Roman"/>
                <a:cs typeface="Times New Roman"/>
              </a:rPr>
              <a:t>each</a:t>
            </a:r>
            <a:r>
              <a:rPr dirty="0" sz="1200" spc="-5" b="1">
                <a:latin typeface="Times New Roman"/>
                <a:cs typeface="Times New Roman"/>
              </a:rPr>
              <a:t> word: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96950" y="3396826"/>
          <a:ext cx="3547110" cy="869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1110"/>
                <a:gridCol w="979169"/>
                <a:gridCol w="1306829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Advertisement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6.Computer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10.</a:t>
                      </a:r>
                      <a:r>
                        <a:rPr dirty="0" sz="1200" spc="22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Meteorological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Affected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762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7.Exchange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Technology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Affixed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509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8.Inventory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12.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Thick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Bureau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33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9.Manually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13.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Transactions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5.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Character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50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3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devoted to develop your reading skills.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most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skill that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need </a:t>
            </a:r>
            <a:r>
              <a:rPr dirty="0" sz="1200" spc="-5">
                <a:latin typeface="Times New Roman"/>
                <a:cs typeface="Times New Roman"/>
              </a:rPr>
              <a:t>for success </a:t>
            </a:r>
            <a:r>
              <a:rPr dirty="0" sz="1200">
                <a:latin typeface="Times New Roman"/>
                <a:cs typeface="Times New Roman"/>
              </a:rPr>
              <a:t>in your </a:t>
            </a:r>
            <a:r>
              <a:rPr dirty="0" sz="1200" spc="-5">
                <a:latin typeface="Times New Roman"/>
                <a:cs typeface="Times New Roman"/>
              </a:rPr>
              <a:t>studies. </a:t>
            </a:r>
            <a:r>
              <a:rPr dirty="0" sz="1200">
                <a:latin typeface="Times New Roman"/>
                <a:cs typeface="Times New Roman"/>
              </a:rPr>
              <a:t>If you read </a:t>
            </a:r>
            <a:r>
              <a:rPr dirty="0" sz="1200" spc="-5">
                <a:latin typeface="Times New Roman"/>
                <a:cs typeface="Times New Roman"/>
              </a:rPr>
              <a:t>inaccurately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miss some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or ideas that you </a:t>
            </a:r>
            <a:r>
              <a:rPr dirty="0" sz="1200" spc="-5">
                <a:latin typeface="Times New Roman"/>
                <a:cs typeface="Times New Roman"/>
              </a:rPr>
              <a:t>read. </a:t>
            </a:r>
            <a:r>
              <a:rPr dirty="0" sz="1200">
                <a:latin typeface="Times New Roman"/>
                <a:cs typeface="Times New Roman"/>
              </a:rPr>
              <a:t>If you read </a:t>
            </a:r>
            <a:r>
              <a:rPr dirty="0" sz="1200" spc="-5">
                <a:latin typeface="Times New Roman"/>
                <a:cs typeface="Times New Roman"/>
              </a:rPr>
              <a:t>slowly,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unnecessarily spend </a:t>
            </a:r>
            <a:r>
              <a:rPr dirty="0" sz="1200">
                <a:latin typeface="Times New Roman"/>
                <a:cs typeface="Times New Roman"/>
              </a:rPr>
              <a:t>a lot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reading,</a:t>
            </a:r>
            <a:r>
              <a:rPr dirty="0" sz="1200" spc="-5">
                <a:latin typeface="Times New Roman"/>
                <a:cs typeface="Times New Roman"/>
              </a:rPr>
              <a:t> so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suffer.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ability to read English </a:t>
            </a:r>
            <a:r>
              <a:rPr dirty="0" sz="1200" spc="-5">
                <a:latin typeface="Times New Roman"/>
                <a:cs typeface="Times New Roman"/>
              </a:rPr>
              <a:t>rapidly and accurately depends </a:t>
            </a:r>
            <a:r>
              <a:rPr dirty="0" sz="1200">
                <a:latin typeface="Times New Roman"/>
                <a:cs typeface="Times New Roman"/>
              </a:rPr>
              <a:t>upon </a:t>
            </a:r>
            <a:r>
              <a:rPr dirty="0" sz="1200" spc="-5">
                <a:latin typeface="Times New Roman"/>
                <a:cs typeface="Times New Roman"/>
              </a:rPr>
              <a:t>purposeful practice. This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introduce</a:t>
            </a:r>
            <a:r>
              <a:rPr dirty="0" sz="1200">
                <a:latin typeface="Times New Roman"/>
                <a:cs typeface="Times New Roman"/>
              </a:rPr>
              <a:t> you the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by which you can improve your reading </a:t>
            </a:r>
            <a:r>
              <a:rPr dirty="0" sz="1200" spc="-5">
                <a:latin typeface="Times New Roman"/>
                <a:cs typeface="Times New Roman"/>
              </a:rPr>
              <a:t>skills.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continue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practice on 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 </a:t>
            </a:r>
            <a:r>
              <a:rPr dirty="0" sz="1200">
                <a:latin typeface="Times New Roman"/>
                <a:cs typeface="Times New Roman"/>
              </a:rPr>
              <a:t>later.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This lesson is in three parts. In the first part you will </a:t>
            </a:r>
            <a:r>
              <a:rPr dirty="0" sz="1200">
                <a:latin typeface="Times New Roman"/>
                <a:cs typeface="Times New Roman"/>
              </a:rPr>
              <a:t>learn to identify the </a:t>
            </a:r>
            <a:r>
              <a:rPr dirty="0" sz="1200" spc="-5" b="1">
                <a:latin typeface="Times New Roman"/>
                <a:cs typeface="Times New Roman"/>
              </a:rPr>
              <a:t>topic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paragraph, in the second part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to pick the </a:t>
            </a:r>
            <a:r>
              <a:rPr dirty="0" sz="1200" b="1">
                <a:latin typeface="Times New Roman"/>
                <a:cs typeface="Times New Roman"/>
              </a:rPr>
              <a:t>main idea </a:t>
            </a:r>
            <a:r>
              <a:rPr dirty="0" sz="1200">
                <a:latin typeface="Times New Roman"/>
                <a:cs typeface="Times New Roman"/>
              </a:rPr>
              <a:t>of the paragraph and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will </a:t>
            </a:r>
            <a:r>
              <a:rPr dirty="0" sz="1200">
                <a:latin typeface="Times New Roman"/>
                <a:cs typeface="Times New Roman"/>
              </a:rPr>
              <a:t>learn to </a:t>
            </a:r>
            <a:r>
              <a:rPr dirty="0" sz="1200" spc="-5">
                <a:latin typeface="Times New Roman"/>
                <a:cs typeface="Times New Roman"/>
              </a:rPr>
              <a:t>recognize </a:t>
            </a:r>
            <a:r>
              <a:rPr dirty="0" sz="1200" spc="-5" b="1">
                <a:latin typeface="Times New Roman"/>
                <a:cs typeface="Times New Roman"/>
              </a:rPr>
              <a:t>details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support the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idea.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Topic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If you are able to identify the topic of a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it will go a long way in </a:t>
            </a:r>
            <a:r>
              <a:rPr dirty="0" sz="1200" spc="-5">
                <a:latin typeface="Times New Roman"/>
                <a:cs typeface="Times New Roman"/>
              </a:rPr>
              <a:t>developing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quickly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What is the topic of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paragraph? </a:t>
            </a: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whole paragraph </a:t>
            </a:r>
            <a:r>
              <a:rPr dirty="0" sz="1200">
                <a:latin typeface="Times New Roman"/>
                <a:cs typeface="Times New Roman"/>
              </a:rPr>
              <a:t>— i.e. what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whole paragraph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about. It </a:t>
            </a:r>
            <a:r>
              <a:rPr dirty="0" sz="1200" spc="-5">
                <a:latin typeface="Times New Roman"/>
                <a:cs typeface="Times New Roman"/>
              </a:rPr>
              <a:t>can usually be expressed 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word or two. When you read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yourself the question: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>
                <a:latin typeface="Times New Roman"/>
                <a:cs typeface="Times New Roman"/>
              </a:rPr>
              <a:t>the writer trying to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throughout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paragraph? And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answer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up (from your heart or </a:t>
            </a:r>
            <a:r>
              <a:rPr dirty="0" sz="1200" spc="-5">
                <a:latin typeface="Times New Roman"/>
                <a:cs typeface="Times New Roman"/>
              </a:rPr>
              <a:t>mind) will surely be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 </a:t>
            </a:r>
            <a:r>
              <a:rPr dirty="0" sz="1200">
                <a:latin typeface="Times New Roman"/>
                <a:cs typeface="Times New Roman"/>
              </a:rPr>
              <a:t>are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short </a:t>
            </a:r>
            <a:r>
              <a:rPr dirty="0" sz="1200" spc="-5">
                <a:latin typeface="Times New Roman"/>
                <a:cs typeface="Times New Roman"/>
              </a:rPr>
              <a:t>paragraphs </a:t>
            </a:r>
            <a:r>
              <a:rPr dirty="0" sz="1200">
                <a:latin typeface="Times New Roman"/>
                <a:cs typeface="Times New Roman"/>
              </a:rPr>
              <a:t>taken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different text books.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end of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three or four </a:t>
            </a:r>
            <a:r>
              <a:rPr dirty="0" sz="1200" spc="-5">
                <a:latin typeface="Times New Roman"/>
                <a:cs typeface="Times New Roman"/>
              </a:rPr>
              <a:t>possible answers </a:t>
            </a:r>
            <a:r>
              <a:rPr dirty="0" sz="1200">
                <a:latin typeface="Times New Roman"/>
                <a:cs typeface="Times New Roman"/>
              </a:rPr>
              <a:t>are given. Select one </a:t>
            </a:r>
            <a:r>
              <a:rPr dirty="0" sz="1200" spc="-5">
                <a:latin typeface="Times New Roman"/>
                <a:cs typeface="Times New Roman"/>
              </a:rPr>
              <a:t>which you consider is the </a:t>
            </a:r>
            <a:r>
              <a:rPr dirty="0" sz="1200">
                <a:latin typeface="Times New Roman"/>
                <a:cs typeface="Times New Roman"/>
              </a:rPr>
              <a:t> 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Text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  <a:tabLst>
                <a:tab pos="2146300" algn="l"/>
              </a:tabLst>
            </a:pPr>
            <a:r>
              <a:rPr dirty="0" sz="1200" spc="-5">
                <a:latin typeface="Times New Roman"/>
                <a:cs typeface="Times New Roman"/>
              </a:rPr>
              <a:t>New species </a:t>
            </a:r>
            <a:r>
              <a:rPr dirty="0" sz="1200">
                <a:latin typeface="Times New Roman"/>
                <a:cs typeface="Times New Roman"/>
              </a:rPr>
              <a:t>of plants are being discovered every year. It </a:t>
            </a:r>
            <a:r>
              <a:rPr dirty="0" sz="1200" spc="-5">
                <a:latin typeface="Times New Roman"/>
                <a:cs typeface="Times New Roman"/>
              </a:rPr>
              <a:t>is estimated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yearly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average, for the higher groups of plants alone </a:t>
            </a:r>
            <a:r>
              <a:rPr dirty="0" sz="1200" spc="-5">
                <a:latin typeface="Times New Roman"/>
                <a:cs typeface="Times New Roman"/>
              </a:rPr>
              <a:t>is approximately </a:t>
            </a:r>
            <a:r>
              <a:rPr dirty="0" sz="1200">
                <a:latin typeface="Times New Roman"/>
                <a:cs typeface="Times New Roman"/>
              </a:rPr>
              <a:t>4700 proposed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species.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 obviously necessary, from </a:t>
            </a:r>
            <a:r>
              <a:rPr dirty="0" sz="1200">
                <a:latin typeface="Times New Roman"/>
                <a:cs typeface="Times New Roman"/>
              </a:rPr>
              <a:t>practical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scientific standpoint </a:t>
            </a:r>
            <a:r>
              <a:rPr dirty="0" sz="1200">
                <a:latin typeface="Times New Roman"/>
                <a:cs typeface="Times New Roman"/>
              </a:rPr>
              <a:t>that attention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given to the </a:t>
            </a:r>
            <a:r>
              <a:rPr dirty="0" sz="1200" spc="-5">
                <a:latin typeface="Times New Roman"/>
                <a:cs typeface="Times New Roman"/>
              </a:rPr>
              <a:t>naming </a:t>
            </a:r>
            <a:r>
              <a:rPr dirty="0" sz="1200">
                <a:latin typeface="Times New Roman"/>
                <a:cs typeface="Times New Roman"/>
              </a:rPr>
              <a:t>and the proper </a:t>
            </a:r>
            <a:r>
              <a:rPr dirty="0" sz="1200" spc="-5">
                <a:latin typeface="Times New Roman"/>
                <a:cs typeface="Times New Roman"/>
              </a:rPr>
              <a:t>classification </a:t>
            </a:r>
            <a:r>
              <a:rPr dirty="0" sz="1200">
                <a:latin typeface="Times New Roman"/>
                <a:cs typeface="Times New Roman"/>
              </a:rPr>
              <a:t>of the vast </a:t>
            </a:r>
            <a:r>
              <a:rPr dirty="0" sz="1200" spc="-5">
                <a:latin typeface="Times New Roman"/>
                <a:cs typeface="Times New Roman"/>
              </a:rPr>
              <a:t>assemblage </a:t>
            </a:r>
            <a:r>
              <a:rPr dirty="0" sz="1200">
                <a:latin typeface="Times New Roman"/>
                <a:cs typeface="Times New Roman"/>
              </a:rPr>
              <a:t>of plants, both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native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cultivated.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things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systematic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botanists</a:t>
            </a:r>
            <a:r>
              <a:rPr dirty="0" sz="1200">
                <a:latin typeface="Times New Roman"/>
                <a:cs typeface="Times New Roman"/>
              </a:rPr>
              <a:t>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taxonomists. Most </a:t>
            </a:r>
            <a:r>
              <a:rPr dirty="0" sz="1200">
                <a:latin typeface="Times New Roman"/>
                <a:cs typeface="Times New Roman"/>
              </a:rPr>
              <a:t>certainly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essential for those </a:t>
            </a:r>
            <a:r>
              <a:rPr dirty="0" sz="1200" spc="-5">
                <a:latin typeface="Times New Roman"/>
                <a:cs typeface="Times New Roman"/>
              </a:rPr>
              <a:t>working 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various fields of plant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science-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agriculturists,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florists,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foresters,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physiologists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morphologists-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know which plants they are dealing; they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their </a:t>
            </a:r>
            <a:r>
              <a:rPr dirty="0" sz="1200">
                <a:latin typeface="Times New Roman"/>
                <a:cs typeface="Times New Roman"/>
              </a:rPr>
              <a:t>proper scientific </a:t>
            </a:r>
            <a:r>
              <a:rPr dirty="0" sz="1200" spc="-5">
                <a:latin typeface="Times New Roman"/>
                <a:cs typeface="Times New Roman"/>
              </a:rPr>
              <a:t>names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relationships.	(Robbins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 al.,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Botany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274320" indent="-262255">
              <a:lnSpc>
                <a:spcPts val="1410"/>
              </a:lnSpc>
              <a:buAutoNum type="alphaUcPeriod"/>
              <a:tabLst>
                <a:tab pos="27495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taxonomists.</a:t>
            </a:r>
            <a:endParaRPr sz="1200">
              <a:latin typeface="Times New Roman"/>
              <a:cs typeface="Times New Roman"/>
            </a:endParaRPr>
          </a:p>
          <a:p>
            <a:pPr marL="266700" indent="-254635">
              <a:lnSpc>
                <a:spcPts val="1380"/>
              </a:lnSpc>
              <a:buAutoNum type="alphaUcPeriod"/>
              <a:tabLst>
                <a:tab pos="267335" algn="l"/>
              </a:tabLst>
            </a:pP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species.</a:t>
            </a:r>
            <a:endParaRPr sz="1200">
              <a:latin typeface="Times New Roman"/>
              <a:cs typeface="Times New Roman"/>
            </a:endParaRPr>
          </a:p>
          <a:p>
            <a:pPr marL="266700" indent="-254635">
              <a:lnSpc>
                <a:spcPts val="1380"/>
              </a:lnSpc>
              <a:buAutoNum type="alphaUcPeriod"/>
              <a:tabLst>
                <a:tab pos="267335" algn="l"/>
              </a:tabLst>
            </a:pPr>
            <a:r>
              <a:rPr dirty="0" sz="1200" spc="-5">
                <a:latin typeface="Times New Roman"/>
                <a:cs typeface="Times New Roman"/>
              </a:rPr>
              <a:t>plant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science.</a:t>
            </a:r>
            <a:endParaRPr sz="1200">
              <a:latin typeface="Times New Roman"/>
              <a:cs typeface="Times New Roman"/>
            </a:endParaRPr>
          </a:p>
          <a:p>
            <a:pPr marL="274955" indent="-262890">
              <a:lnSpc>
                <a:spcPts val="1410"/>
              </a:lnSpc>
              <a:buAutoNum type="alphaUcPeriod"/>
              <a:tabLst>
                <a:tab pos="275590" algn="l"/>
              </a:tabLst>
            </a:pPr>
            <a:r>
              <a:rPr dirty="0" sz="1200" spc="-5">
                <a:latin typeface="Times New Roman"/>
                <a:cs typeface="Times New Roman"/>
              </a:rPr>
              <a:t>importance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classifying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Text2: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1028700" y="4076700"/>
            <a:ext cx="467359" cy="20955"/>
            <a:chOff x="1028700" y="4076700"/>
            <a:chExt cx="467359" cy="20955"/>
          </a:xfrm>
        </p:grpSpPr>
        <p:sp>
          <p:nvSpPr>
            <p:cNvPr id="5" name="object 5"/>
            <p:cNvSpPr/>
            <p:nvPr/>
          </p:nvSpPr>
          <p:spPr>
            <a:xfrm>
              <a:off x="1034795" y="4082795"/>
              <a:ext cx="461009" cy="14604"/>
            </a:xfrm>
            <a:custGeom>
              <a:avLst/>
              <a:gdLst/>
              <a:ahLst/>
              <a:cxnLst/>
              <a:rect l="l" t="t" r="r" b="b"/>
              <a:pathLst>
                <a:path w="461009" h="14604">
                  <a:moveTo>
                    <a:pt x="461009" y="0"/>
                  </a:moveTo>
                  <a:lnTo>
                    <a:pt x="0" y="0"/>
                  </a:lnTo>
                  <a:lnTo>
                    <a:pt x="0" y="14477"/>
                  </a:lnTo>
                  <a:lnTo>
                    <a:pt x="461009" y="14477"/>
                  </a:lnTo>
                  <a:lnTo>
                    <a:pt x="461009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028700" y="4076700"/>
              <a:ext cx="461009" cy="14604"/>
            </a:xfrm>
            <a:custGeom>
              <a:avLst/>
              <a:gdLst/>
              <a:ahLst/>
              <a:cxnLst/>
              <a:rect l="l" t="t" r="r" b="b"/>
              <a:pathLst>
                <a:path w="461009" h="14604">
                  <a:moveTo>
                    <a:pt x="461009" y="0"/>
                  </a:moveTo>
                  <a:lnTo>
                    <a:pt x="0" y="0"/>
                  </a:lnTo>
                  <a:lnTo>
                    <a:pt x="0" y="14477"/>
                  </a:lnTo>
                  <a:lnTo>
                    <a:pt x="461009" y="14477"/>
                  </a:lnTo>
                  <a:lnTo>
                    <a:pt x="4610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1016000" y="1089152"/>
            <a:ext cx="5628005" cy="56413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 term Groups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long been a pivotal concept of sociology.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group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any number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beings in reciprocal communications. It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well to </a:t>
            </a:r>
            <a:r>
              <a:rPr dirty="0" sz="1200" spc="-5">
                <a:latin typeface="Times New Roman"/>
                <a:cs typeface="Times New Roman"/>
              </a:rPr>
              <a:t>emphasize </a:t>
            </a:r>
            <a:r>
              <a:rPr dirty="0" sz="1200">
                <a:latin typeface="Times New Roman"/>
                <a:cs typeface="Times New Roman"/>
              </a:rPr>
              <a:t>certain </a:t>
            </a:r>
            <a:r>
              <a:rPr dirty="0" sz="1200" spc="-5">
                <a:latin typeface="Times New Roman"/>
                <a:cs typeface="Times New Roman"/>
              </a:rPr>
              <a:t>aspects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implications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well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 sociologists </a:t>
            </a:r>
            <a:r>
              <a:rPr dirty="0" sz="1200" spc="-5">
                <a:latin typeface="Times New Roman"/>
                <a:cs typeface="Times New Roman"/>
              </a:rPr>
              <a:t>themselves, </a:t>
            </a:r>
            <a:r>
              <a:rPr dirty="0" sz="1200">
                <a:latin typeface="Times New Roman"/>
                <a:cs typeface="Times New Roman"/>
              </a:rPr>
              <a:t>frequently overlook or </a:t>
            </a:r>
            <a:r>
              <a:rPr dirty="0" sz="1200" spc="-5">
                <a:latin typeface="Times New Roman"/>
                <a:cs typeface="Times New Roman"/>
              </a:rPr>
              <a:t>do not appreciate fully. First, </a:t>
            </a:r>
            <a:r>
              <a:rPr dirty="0" sz="1200">
                <a:latin typeface="Times New Roman"/>
                <a:cs typeface="Times New Roman"/>
              </a:rPr>
              <a:t>a group refers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 to </a:t>
            </a:r>
            <a:r>
              <a:rPr dirty="0" sz="1200" spc="-5">
                <a:latin typeface="Times New Roman"/>
                <a:cs typeface="Times New Roman"/>
              </a:rPr>
              <a:t>persons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communication. </a:t>
            </a:r>
            <a:r>
              <a:rPr dirty="0" sz="1200">
                <a:latin typeface="Times New Roman"/>
                <a:cs typeface="Times New Roman"/>
              </a:rPr>
              <a:t>Mere </a:t>
            </a:r>
            <a:r>
              <a:rPr dirty="0" sz="1200" spc="-5">
                <a:latin typeface="Times New Roman"/>
                <a:cs typeface="Times New Roman"/>
              </a:rPr>
              <a:t>physical closeness,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there is not communication, </a:t>
            </a:r>
            <a:r>
              <a:rPr dirty="0" sz="1200">
                <a:latin typeface="Times New Roman"/>
                <a:cs typeface="Times New Roman"/>
              </a:rPr>
              <a:t> does not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 group. The communication creates the group, not the </a:t>
            </a:r>
            <a:r>
              <a:rPr dirty="0" sz="1200" spc="-5">
                <a:latin typeface="Times New Roman"/>
                <a:cs typeface="Times New Roman"/>
              </a:rPr>
              <a:t>mere </a:t>
            </a:r>
            <a:r>
              <a:rPr dirty="0" sz="1200">
                <a:latin typeface="Times New Roman"/>
                <a:cs typeface="Times New Roman"/>
              </a:rPr>
              <a:t>fact of spatial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proximity or physical </a:t>
            </a:r>
            <a:r>
              <a:rPr dirty="0" sz="1200">
                <a:latin typeface="Times New Roman"/>
                <a:cs typeface="Times New Roman"/>
              </a:rPr>
              <a:t>contact. </a:t>
            </a:r>
            <a:r>
              <a:rPr dirty="0" sz="1200" spc="-5">
                <a:latin typeface="Times New Roman"/>
                <a:cs typeface="Times New Roman"/>
              </a:rPr>
              <a:t>Second,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group maybe of any size from two persons, to </a:t>
            </a:r>
            <a:r>
              <a:rPr dirty="0" sz="1200">
                <a:latin typeface="Times New Roman"/>
                <a:cs typeface="Times New Roman"/>
              </a:rPr>
              <a:t> theoretically and </a:t>
            </a:r>
            <a:r>
              <a:rPr dirty="0" sz="1200" spc="-5">
                <a:latin typeface="Times New Roman"/>
                <a:cs typeface="Times New Roman"/>
              </a:rPr>
              <a:t>potentially </a:t>
            </a:r>
            <a:r>
              <a:rPr dirty="0" sz="1200">
                <a:latin typeface="Times New Roman"/>
                <a:cs typeface="Times New Roman"/>
              </a:rPr>
              <a:t>the entire </a:t>
            </a:r>
            <a:r>
              <a:rPr dirty="0" sz="1200" spc="-5">
                <a:latin typeface="Times New Roman"/>
                <a:cs typeface="Times New Roman"/>
              </a:rPr>
              <a:t>population of the </a:t>
            </a:r>
            <a:r>
              <a:rPr dirty="0" sz="1200">
                <a:latin typeface="Times New Roman"/>
                <a:cs typeface="Times New Roman"/>
              </a:rPr>
              <a:t>world. Third, communication need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be face-to-face or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“word of mouth”; it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indirect </a:t>
            </a:r>
            <a:r>
              <a:rPr dirty="0" sz="1200" spc="-5">
                <a:latin typeface="Times New Roman"/>
                <a:cs typeface="Times New Roman"/>
              </a:rPr>
              <a:t>through </a:t>
            </a:r>
            <a:r>
              <a:rPr dirty="0" sz="1200">
                <a:latin typeface="Times New Roman"/>
                <a:cs typeface="Times New Roman"/>
              </a:rPr>
              <a:t>writing or at long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 such </a:t>
            </a:r>
            <a:r>
              <a:rPr dirty="0" sz="1200" spc="-5">
                <a:latin typeface="Times New Roman"/>
                <a:cs typeface="Times New Roman"/>
              </a:rPr>
              <a:t>instruments 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telegraph.</a:t>
            </a:r>
            <a:endParaRPr sz="1200">
              <a:latin typeface="Times New Roman"/>
              <a:cs typeface="Times New Roman"/>
            </a:endParaRPr>
          </a:p>
          <a:p>
            <a:pPr algn="just" marL="38608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(Cuber,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Sociology,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p.273.)</a:t>
            </a:r>
            <a:endParaRPr sz="1200">
              <a:latin typeface="Times New Roman"/>
              <a:cs typeface="Times New Roman"/>
            </a:endParaRPr>
          </a:p>
          <a:p>
            <a:pPr marL="350520" indent="-338455">
              <a:lnSpc>
                <a:spcPts val="1380"/>
              </a:lnSpc>
              <a:buAutoNum type="alphaUcPeriod"/>
              <a:tabLst>
                <a:tab pos="350520" algn="l"/>
                <a:tab pos="35115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communication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groups.</a:t>
            </a:r>
            <a:endParaRPr sz="1200">
              <a:latin typeface="Times New Roman"/>
              <a:cs typeface="Times New Roman"/>
            </a:endParaRPr>
          </a:p>
          <a:p>
            <a:pPr marL="342900" indent="-330835">
              <a:lnSpc>
                <a:spcPts val="1380"/>
              </a:lnSpc>
              <a:buAutoNum type="alphaUcPeriod"/>
              <a:tabLst>
                <a:tab pos="342265" algn="l"/>
                <a:tab pos="343535" algn="l"/>
              </a:tabLst>
            </a:pP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group.</a:t>
            </a:r>
            <a:endParaRPr sz="1200">
              <a:latin typeface="Times New Roman"/>
              <a:cs typeface="Times New Roman"/>
            </a:endParaRPr>
          </a:p>
          <a:p>
            <a:pPr marL="342265" indent="-330200">
              <a:lnSpc>
                <a:spcPts val="1380"/>
              </a:lnSpc>
              <a:buAutoNum type="alphaUcPeriod"/>
              <a:tabLst>
                <a:tab pos="342265" algn="l"/>
                <a:tab pos="342900" algn="l"/>
              </a:tabLst>
            </a:pPr>
            <a:r>
              <a:rPr dirty="0" sz="1200">
                <a:latin typeface="Times New Roman"/>
                <a:cs typeface="Times New Roman"/>
              </a:rPr>
              <a:t>social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limitations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group.</a:t>
            </a:r>
            <a:endParaRPr sz="1200">
              <a:latin typeface="Times New Roman"/>
              <a:cs typeface="Times New Roman"/>
            </a:endParaRPr>
          </a:p>
          <a:p>
            <a:pPr marL="351155" indent="-339090">
              <a:lnSpc>
                <a:spcPts val="1410"/>
              </a:lnSpc>
              <a:buAutoNum type="alphaUcPeriod"/>
              <a:tabLst>
                <a:tab pos="351155" algn="l"/>
                <a:tab pos="351790" algn="l"/>
              </a:tabLst>
            </a:pP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Text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Plants absorb </a:t>
            </a:r>
            <a:r>
              <a:rPr dirty="0" sz="1200">
                <a:latin typeface="Times New Roman"/>
                <a:cs typeface="Times New Roman"/>
              </a:rPr>
              <a:t>water and </a:t>
            </a:r>
            <a:r>
              <a:rPr dirty="0" sz="1200" spc="-5">
                <a:latin typeface="Times New Roman"/>
                <a:cs typeface="Times New Roman"/>
              </a:rPr>
              <a:t>mineral salts </a:t>
            </a:r>
            <a:r>
              <a:rPr dirty="0" sz="1200">
                <a:latin typeface="Times New Roman"/>
                <a:cs typeface="Times New Roman"/>
              </a:rPr>
              <a:t>from the soil; they </a:t>
            </a:r>
            <a:r>
              <a:rPr dirty="0" sz="1200" spc="-5">
                <a:latin typeface="Times New Roman"/>
                <a:cs typeface="Times New Roman"/>
              </a:rPr>
              <a:t>take </a:t>
            </a:r>
            <a:r>
              <a:rPr dirty="0" sz="1200">
                <a:latin typeface="Times New Roman"/>
                <a:cs typeface="Times New Roman"/>
              </a:rPr>
              <a:t>in oxygen and carbon dioxide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the atmosphere. </a:t>
            </a:r>
            <a:r>
              <a:rPr dirty="0" sz="1200" spc="-5">
                <a:latin typeface="Times New Roman"/>
                <a:cs typeface="Times New Roman"/>
              </a:rPr>
              <a:t>They manufacture sugars, starches, fats, proteins,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scores </a:t>
            </a:r>
            <a:r>
              <a:rPr dirty="0" sz="1200">
                <a:latin typeface="Times New Roman"/>
                <a:cs typeface="Times New Roman"/>
              </a:rPr>
              <a:t>of 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substances; </a:t>
            </a:r>
            <a:r>
              <a:rPr dirty="0" sz="1200">
                <a:latin typeface="Times New Roman"/>
                <a:cs typeface="Times New Roman"/>
              </a:rPr>
              <a:t>they conduct </a:t>
            </a:r>
            <a:r>
              <a:rPr dirty="0" sz="1200" spc="-5">
                <a:latin typeface="Times New Roman"/>
                <a:cs typeface="Times New Roman"/>
              </a:rPr>
              <a:t>materials </a:t>
            </a:r>
            <a:r>
              <a:rPr dirty="0" sz="1200">
                <a:latin typeface="Times New Roman"/>
                <a:cs typeface="Times New Roman"/>
              </a:rPr>
              <a:t>from one part of the plant to another; </a:t>
            </a:r>
            <a:r>
              <a:rPr dirty="0" sz="1200" spc="-5">
                <a:latin typeface="Times New Roman"/>
                <a:cs typeface="Times New Roman"/>
              </a:rPr>
              <a:t>they respire, they </a:t>
            </a:r>
            <a:r>
              <a:rPr dirty="0" sz="1200">
                <a:latin typeface="Times New Roman"/>
                <a:cs typeface="Times New Roman"/>
              </a:rPr>
              <a:t> grow; they </a:t>
            </a:r>
            <a:r>
              <a:rPr dirty="0" sz="1200" spc="-5">
                <a:latin typeface="Times New Roman"/>
                <a:cs typeface="Times New Roman"/>
              </a:rPr>
              <a:t>react</a:t>
            </a:r>
            <a:r>
              <a:rPr dirty="0" sz="1200">
                <a:latin typeface="Times New Roman"/>
                <a:cs typeface="Times New Roman"/>
              </a:rPr>
              <a:t> to the </a:t>
            </a:r>
            <a:r>
              <a:rPr dirty="0" sz="1200" spc="-5">
                <a:latin typeface="Times New Roman"/>
                <a:cs typeface="Times New Roman"/>
              </a:rPr>
              <a:t>environment</a:t>
            </a:r>
            <a:r>
              <a:rPr dirty="0" sz="1200">
                <a:latin typeface="Times New Roman"/>
                <a:cs typeface="Times New Roman"/>
              </a:rPr>
              <a:t> in which 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live;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reproduce.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short, plants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carry on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activities; they do </a:t>
            </a:r>
            <a:r>
              <a:rPr dirty="0" sz="1200" spc="-5">
                <a:latin typeface="Times New Roman"/>
                <a:cs typeface="Times New Roman"/>
              </a:rPr>
              <a:t>work; </a:t>
            </a:r>
            <a:r>
              <a:rPr dirty="0" sz="1200">
                <a:latin typeface="Times New Roman"/>
                <a:cs typeface="Times New Roman"/>
              </a:rPr>
              <a:t>they have functions. Plant physiology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botany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concerned with the</a:t>
            </a:r>
            <a:r>
              <a:rPr dirty="0" sz="1200" spc="-5">
                <a:latin typeface="Times New Roman"/>
                <a:cs typeface="Times New Roman"/>
              </a:rPr>
              <a:t> study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activities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functions.</a:t>
            </a:r>
            <a:endParaRPr sz="1200">
              <a:latin typeface="Times New Roman"/>
              <a:cs typeface="Times New Roman"/>
            </a:endParaRPr>
          </a:p>
          <a:p>
            <a:pPr algn="just" marL="38608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(Robinsetal.,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Botany,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  <a:tabLst>
                <a:tab pos="4258310" algn="l"/>
              </a:tabLst>
            </a:pPr>
            <a:r>
              <a:rPr dirty="0" sz="1200" spc="-5">
                <a:latin typeface="Times New Roman"/>
                <a:cs typeface="Times New Roman"/>
              </a:rPr>
              <a:t>Topic: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Now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here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b="1">
                <a:latin typeface="Times New Roman"/>
                <a:cs typeface="Times New Roman"/>
              </a:rPr>
              <a:t> a </a:t>
            </a:r>
            <a:r>
              <a:rPr dirty="0" sz="1200" spc="-5" b="1">
                <a:latin typeface="Times New Roman"/>
                <a:cs typeface="Times New Roman"/>
              </a:rPr>
              <a:t>short</a:t>
            </a:r>
            <a:r>
              <a:rPr dirty="0" sz="1200" b="1">
                <a:latin typeface="Times New Roman"/>
                <a:cs typeface="Times New Roman"/>
              </a:rPr>
              <a:t> exercise to</a:t>
            </a:r>
            <a:r>
              <a:rPr dirty="0" sz="1200" spc="-5" b="1">
                <a:latin typeface="Times New Roman"/>
                <a:cs typeface="Times New Roman"/>
              </a:rPr>
              <a:t> test what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have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learnt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Topic sentences are given, followed by three </a:t>
            </a:r>
            <a:r>
              <a:rPr dirty="0" sz="1200" spc="-5">
                <a:latin typeface="Times New Roman"/>
                <a:cs typeface="Times New Roman"/>
              </a:rPr>
              <a:t>statements. </a:t>
            </a:r>
            <a:r>
              <a:rPr dirty="0" sz="1200">
                <a:latin typeface="Times New Roman"/>
                <a:cs typeface="Times New Roman"/>
              </a:rPr>
              <a:t>Choose the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that best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one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done for you.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  <p:sp>
        <p:nvSpPr>
          <p:cNvPr id="8" name="object 8"/>
          <p:cNvSpPr txBox="1"/>
          <p:nvPr/>
        </p:nvSpPr>
        <p:spPr>
          <a:xfrm>
            <a:off x="1244600" y="7400035"/>
            <a:ext cx="369951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Nile,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Egypt,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unique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7924292"/>
            <a:ext cx="17399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504" y="7924292"/>
            <a:ext cx="256159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89915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describes </a:t>
            </a:r>
            <a:r>
              <a:rPr dirty="0" sz="1200" spc="-5">
                <a:latin typeface="Times New Roman"/>
                <a:cs typeface="Times New Roman"/>
              </a:rPr>
              <a:t>where Egypt </a:t>
            </a:r>
            <a:r>
              <a:rPr dirty="0" sz="1200">
                <a:latin typeface="Times New Roman"/>
                <a:cs typeface="Times New Roman"/>
              </a:rPr>
              <a:t>is.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unique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compares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rivers.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450071"/>
            <a:ext cx="36899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—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explains</a:t>
            </a:r>
            <a:r>
              <a:rPr dirty="0" sz="1200" spc="-5">
                <a:latin typeface="Times New Roman"/>
                <a:cs typeface="Times New Roman"/>
              </a:rPr>
              <a:t> why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river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unique.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62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2413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little-known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M.A.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Jinnah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manner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thinking.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614931"/>
            <a:ext cx="17399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626" y="1614931"/>
            <a:ext cx="324993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Describes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passing </a:t>
            </a:r>
            <a:r>
              <a:rPr dirty="0" sz="1200">
                <a:latin typeface="Times New Roman"/>
                <a:cs typeface="Times New Roman"/>
              </a:rPr>
              <a:t>of the Lahore Resolution.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Summarizes</a:t>
            </a:r>
            <a:r>
              <a:rPr dirty="0" sz="1200">
                <a:latin typeface="Times New Roman"/>
                <a:cs typeface="Times New Roman"/>
              </a:rPr>
              <a:t> Jinnah’s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speech</a:t>
            </a:r>
            <a:r>
              <a:rPr dirty="0" sz="1200">
                <a:latin typeface="Times New Roman"/>
                <a:cs typeface="Times New Roman"/>
              </a:rPr>
              <a:t> at </a:t>
            </a:r>
            <a:r>
              <a:rPr dirty="0" sz="1200" spc="-5">
                <a:latin typeface="Times New Roman"/>
                <a:cs typeface="Times New Roman"/>
              </a:rPr>
              <a:t>Lahore,</a:t>
            </a:r>
            <a:r>
              <a:rPr dirty="0" sz="1200">
                <a:latin typeface="Times New Roman"/>
                <a:cs typeface="Times New Roman"/>
              </a:rPr>
              <a:t> March </a:t>
            </a:r>
            <a:r>
              <a:rPr dirty="0" sz="1200" spc="-5">
                <a:latin typeface="Times New Roman"/>
                <a:cs typeface="Times New Roman"/>
              </a:rPr>
              <a:t>1940.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“Little Known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Story”.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44600" y="2317495"/>
            <a:ext cx="539813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241300" marR="5080" indent="3810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spend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holidays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truly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unique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northern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areas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3192271"/>
            <a:ext cx="17399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445" y="3192271"/>
            <a:ext cx="371602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Identifies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uniqueness.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Explains the </a:t>
            </a:r>
            <a:r>
              <a:rPr dirty="0" sz="1200" spc="-5">
                <a:latin typeface="Times New Roman"/>
                <a:cs typeface="Times New Roman"/>
              </a:rPr>
              <a:t>physical and emotional importance </a:t>
            </a:r>
            <a:r>
              <a:rPr dirty="0" sz="1200">
                <a:latin typeface="Times New Roman"/>
                <a:cs typeface="Times New Roman"/>
              </a:rPr>
              <a:t>of holidays.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Pushtoons.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894835"/>
            <a:ext cx="5627370" cy="1434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Text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indent="3810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infants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patterns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Details</a:t>
            </a:r>
            <a:r>
              <a:rPr dirty="0" sz="1200" spc="-5" i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5295391"/>
            <a:ext cx="173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3718" y="5295391"/>
            <a:ext cx="51689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infant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six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twelve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5470652"/>
            <a:ext cx="5631180" cy="3538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sounds.</a:t>
            </a:r>
            <a:endParaRPr sz="1200">
              <a:latin typeface="Times New Roman"/>
              <a:cs typeface="Times New Roman"/>
            </a:endParaRPr>
          </a:p>
          <a:p>
            <a:pPr marL="12700" marR="9525">
              <a:lnSpc>
                <a:spcPts val="1380"/>
              </a:lnSpc>
              <a:spcBef>
                <a:spcPts val="65"/>
              </a:spcBef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B.	Before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months,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infants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recognizable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syllables.</a:t>
            </a:r>
            <a:endParaRPr sz="1200">
              <a:latin typeface="Times New Roman"/>
              <a:cs typeface="Times New Roman"/>
            </a:endParaRPr>
          </a:p>
          <a:p>
            <a:pPr marL="12700" marR="9525">
              <a:lnSpc>
                <a:spcPts val="1380"/>
              </a:lnSpc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C	During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first year, the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vowel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sounds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number of consonant </a:t>
            </a:r>
            <a:r>
              <a:rPr dirty="0" sz="1200" spc="-5">
                <a:latin typeface="Times New Roman"/>
                <a:cs typeface="Times New Roman"/>
              </a:rPr>
              <a:t>sounds </a:t>
            </a:r>
            <a:r>
              <a:rPr dirty="0" sz="1200">
                <a:latin typeface="Times New Roman"/>
                <a:cs typeface="Times New Roman"/>
              </a:rPr>
              <a:t>he can make.</a:t>
            </a:r>
            <a:endParaRPr sz="1200">
              <a:latin typeface="Times New Roman"/>
              <a:cs typeface="Times New Roman"/>
            </a:endParaRPr>
          </a:p>
          <a:p>
            <a:pPr marL="12700" marR="8890">
              <a:lnSpc>
                <a:spcPts val="1380"/>
              </a:lnSpc>
              <a:buAutoNum type="alphaUcPeriod" startAt="4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 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consonant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sounds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increases.</a:t>
            </a:r>
            <a:endParaRPr sz="1200">
              <a:latin typeface="Times New Roman"/>
              <a:cs typeface="Times New Roman"/>
            </a:endParaRPr>
          </a:p>
          <a:p>
            <a:pPr marL="12700" marR="9525">
              <a:lnSpc>
                <a:spcPts val="1380"/>
              </a:lnSpc>
              <a:buAutoNum type="alphaUcPeriod" startAt="4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Parents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reward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recognizable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smiling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Text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constant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exists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variety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causes.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Detail</a:t>
            </a:r>
            <a:r>
              <a:rPr dirty="0" sz="1200" spc="-5" b="1" i="1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  <a:p>
            <a:pPr marL="508000" indent="-495934">
              <a:lnSpc>
                <a:spcPts val="1375"/>
              </a:lnSpc>
              <a:buAutoNum type="alphaUcPeriod"/>
              <a:tabLst>
                <a:tab pos="508000" algn="l"/>
                <a:tab pos="508634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Africa,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dying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hunger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thousands.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410"/>
              </a:lnSpc>
              <a:buAutoNum type="alphaUcPeriod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Famine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population.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165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68688" y="913892"/>
            <a:ext cx="5174615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7145" marR="571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Advances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medicine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expectancies,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keeping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longer periods of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7145" marR="201930" indent="-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Agricultural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substantial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food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supply.</a:t>
            </a:r>
            <a:endParaRPr sz="1200">
              <a:latin typeface="Times New Roman"/>
              <a:cs typeface="Times New Roman"/>
            </a:endParaRPr>
          </a:p>
          <a:p>
            <a:pPr marL="17145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Due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growth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cities,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denser,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agricultural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population centers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available.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264411"/>
            <a:ext cx="173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1614931"/>
            <a:ext cx="156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2142235"/>
            <a:ext cx="5626735" cy="1435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Text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individual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anxiety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variety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responses.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Details: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718052"/>
            <a:ext cx="173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200" y="3718052"/>
            <a:ext cx="5170170" cy="16103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Anxiety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manifest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itself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physical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symptoms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labored breathing.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Fear,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anxiety,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response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threatened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danger.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Psychologically,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anxiety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produces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feeling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powerlessness,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4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lack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 control over the </a:t>
            </a:r>
            <a:r>
              <a:rPr dirty="0" sz="1200" spc="-5">
                <a:latin typeface="Times New Roman"/>
                <a:cs typeface="Times New Roman"/>
              </a:rPr>
              <a:t>immediate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environment.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Temporary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blindness,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deafness,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loss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sensation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touch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extreme</a:t>
            </a:r>
            <a:r>
              <a:rPr dirty="0" sz="1200">
                <a:latin typeface="Times New Roman"/>
                <a:cs typeface="Times New Roman"/>
              </a:rPr>
              <a:t> physical </a:t>
            </a:r>
            <a:r>
              <a:rPr dirty="0" sz="1200" spc="-5">
                <a:latin typeface="Times New Roman"/>
                <a:cs typeface="Times New Roman"/>
              </a:rPr>
              <a:t>responses </a:t>
            </a:r>
            <a:r>
              <a:rPr dirty="0" sz="1200">
                <a:latin typeface="Times New Roman"/>
                <a:cs typeface="Times New Roman"/>
              </a:rPr>
              <a:t>to anxiety.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cope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anxiety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neurotic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behavior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anxiety.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4068571"/>
            <a:ext cx="1657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4594352"/>
            <a:ext cx="173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4944871"/>
            <a:ext cx="156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5470652"/>
            <a:ext cx="5624830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today’s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important skills related with reading.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-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identify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Second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b="1">
                <a:latin typeface="Times New Roman"/>
                <a:cs typeface="Times New Roman"/>
              </a:rPr>
              <a:t>Third,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697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Reading: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Topic,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In 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practice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learnt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previous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98755" indent="-186690">
              <a:lnSpc>
                <a:spcPts val="1410"/>
              </a:lnSpc>
              <a:buAutoNum type="alphaUcPeriod"/>
              <a:tabLst>
                <a:tab pos="199390" algn="l"/>
              </a:tabLst>
            </a:pPr>
            <a:r>
              <a:rPr dirty="0" sz="1200">
                <a:latin typeface="Times New Roman"/>
                <a:cs typeface="Times New Roman"/>
              </a:rPr>
              <a:t>Identifying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marL="190500" indent="-178435">
              <a:lnSpc>
                <a:spcPts val="1380"/>
              </a:lnSpc>
              <a:buAutoNum type="alphaUcPeriod"/>
              <a:tabLst>
                <a:tab pos="191135" algn="l"/>
              </a:tabLst>
            </a:pPr>
            <a:r>
              <a:rPr dirty="0" sz="1200" spc="-5">
                <a:latin typeface="Times New Roman"/>
                <a:cs typeface="Times New Roman"/>
              </a:rPr>
              <a:t>Identifying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endParaRPr sz="1200">
              <a:latin typeface="Times New Roman"/>
              <a:cs typeface="Times New Roman"/>
            </a:endParaRPr>
          </a:p>
          <a:p>
            <a:pPr marL="189865" indent="-177800">
              <a:lnSpc>
                <a:spcPts val="1410"/>
              </a:lnSpc>
              <a:buAutoNum type="alphaUcPeriod"/>
              <a:tabLst>
                <a:tab pos="190500" algn="l"/>
              </a:tabLst>
            </a:pPr>
            <a:r>
              <a:rPr dirty="0" sz="1200" spc="-5">
                <a:latin typeface="Times New Roman"/>
                <a:cs typeface="Times New Roman"/>
              </a:rPr>
              <a:t>Identifying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given text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consists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six </a:t>
            </a:r>
            <a:r>
              <a:rPr dirty="0" sz="1200">
                <a:latin typeface="Times New Roman"/>
                <a:cs typeface="Times New Roman"/>
              </a:rPr>
              <a:t>paragraphs. Read the text once through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without stopping. As you read the text you will come across many words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not familiar with. Do not be </a:t>
            </a:r>
            <a:r>
              <a:rPr dirty="0" sz="1200">
                <a:latin typeface="Times New Roman"/>
                <a:cs typeface="Times New Roman"/>
              </a:rPr>
              <a:t>upset. Keep on reading. In </a:t>
            </a: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second reading,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pause after every paragraph and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yourself - what the paragraph </a:t>
            </a:r>
            <a:r>
              <a:rPr dirty="0" sz="1200" spc="-5">
                <a:latin typeface="Times New Roman"/>
                <a:cs typeface="Times New Roman"/>
              </a:rPr>
              <a:t>is about?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each paragraph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topic,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or a </a:t>
            </a:r>
            <a:r>
              <a:rPr dirty="0" sz="1200" spc="-5">
                <a:latin typeface="Times New Roman"/>
                <a:cs typeface="Times New Roman"/>
              </a:rPr>
              <a:t>primary </a:t>
            </a:r>
            <a:r>
              <a:rPr dirty="0" sz="1200">
                <a:latin typeface="Times New Roman"/>
                <a:cs typeface="Times New Roman"/>
              </a:rPr>
              <a:t>idea and /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secondary </a:t>
            </a:r>
            <a:r>
              <a:rPr dirty="0" sz="1200" spc="-5">
                <a:latin typeface="Times New Roman"/>
                <a:cs typeface="Times New Roman"/>
              </a:rPr>
              <a:t>ideas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What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computer?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1- </a:t>
            </a:r>
            <a:r>
              <a:rPr dirty="0" sz="1200" spc="-5">
                <a:latin typeface="Times New Roman"/>
                <a:cs typeface="Times New Roman"/>
              </a:rPr>
              <a:t>A computer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with an intricate </a:t>
            </a:r>
            <a:r>
              <a:rPr dirty="0" sz="1200" spc="-5">
                <a:latin typeface="Times New Roman"/>
                <a:cs typeface="Times New Roman"/>
              </a:rPr>
              <a:t>network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electronic </a:t>
            </a:r>
            <a:r>
              <a:rPr dirty="0" sz="1200">
                <a:latin typeface="Times New Roman"/>
                <a:cs typeface="Times New Roman"/>
              </a:rPr>
              <a:t>circuits that operate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switches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magnetize </a:t>
            </a:r>
            <a:r>
              <a:rPr dirty="0" sz="1200">
                <a:latin typeface="Times New Roman"/>
                <a:cs typeface="Times New Roman"/>
              </a:rPr>
              <a:t>tiny </a:t>
            </a:r>
            <a:r>
              <a:rPr dirty="0" sz="1200" spc="-5">
                <a:latin typeface="Times New Roman"/>
                <a:cs typeface="Times New Roman"/>
              </a:rPr>
              <a:t>metal cores.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switches, </a:t>
            </a:r>
            <a:r>
              <a:rPr dirty="0" sz="1200">
                <a:latin typeface="Times New Roman"/>
                <a:cs typeface="Times New Roman"/>
              </a:rPr>
              <a:t>like </a:t>
            </a:r>
            <a:r>
              <a:rPr dirty="0" sz="1200" spc="-5">
                <a:latin typeface="Times New Roman"/>
                <a:cs typeface="Times New Roman"/>
              </a:rPr>
              <a:t>the cores, </a:t>
            </a:r>
            <a:r>
              <a:rPr dirty="0" sz="1200">
                <a:latin typeface="Times New Roman"/>
                <a:cs typeface="Times New Roman"/>
              </a:rPr>
              <a:t>are capable of </a:t>
            </a:r>
            <a:r>
              <a:rPr dirty="0" sz="1200" spc="-5">
                <a:latin typeface="Times New Roman"/>
                <a:cs typeface="Times New Roman"/>
              </a:rPr>
              <a:t>being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of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possible </a:t>
            </a:r>
            <a:r>
              <a:rPr dirty="0" sz="1200" spc="-5">
                <a:latin typeface="Times New Roman"/>
                <a:cs typeface="Times New Roman"/>
              </a:rPr>
              <a:t>states,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on or </a:t>
            </a:r>
            <a:r>
              <a:rPr dirty="0" sz="1200" spc="-5">
                <a:latin typeface="Times New Roman"/>
                <a:cs typeface="Times New Roman"/>
              </a:rPr>
              <a:t>off: magnetized or demagnetized.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machine is </a:t>
            </a:r>
            <a:r>
              <a:rPr dirty="0" sz="1200">
                <a:latin typeface="Times New Roman"/>
                <a:cs typeface="Times New Roman"/>
              </a:rPr>
              <a:t> capable of storing and </a:t>
            </a:r>
            <a:r>
              <a:rPr dirty="0" sz="1200" spc="-5">
                <a:latin typeface="Times New Roman"/>
                <a:cs typeface="Times New Roman"/>
              </a:rPr>
              <a:t>manipulating numbers, </a:t>
            </a:r>
            <a:r>
              <a:rPr dirty="0" sz="1200">
                <a:latin typeface="Times New Roman"/>
                <a:cs typeface="Times New Roman"/>
              </a:rPr>
              <a:t>letters, and </a:t>
            </a:r>
            <a:r>
              <a:rPr dirty="0" sz="1200" spc="-5">
                <a:latin typeface="Times New Roman"/>
                <a:cs typeface="Times New Roman"/>
              </a:rPr>
              <a:t>characters. </a:t>
            </a:r>
            <a:r>
              <a:rPr dirty="0" sz="1200">
                <a:latin typeface="Times New Roman"/>
                <a:cs typeface="Times New Roman"/>
              </a:rPr>
              <a:t>The basic </a:t>
            </a:r>
            <a:r>
              <a:rPr dirty="0" sz="1200" spc="-5">
                <a:latin typeface="Times New Roman"/>
                <a:cs typeface="Times New Roman"/>
              </a:rPr>
              <a:t>idea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is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machine do </a:t>
            </a:r>
            <a:r>
              <a:rPr dirty="0" sz="1200" spc="-5">
                <a:latin typeface="Times New Roman"/>
                <a:cs typeface="Times New Roman"/>
              </a:rPr>
              <a:t>what we want by inputting signals that turn </a:t>
            </a:r>
            <a:r>
              <a:rPr dirty="0" sz="1200">
                <a:latin typeface="Times New Roman"/>
                <a:cs typeface="Times New Roman"/>
              </a:rPr>
              <a:t> certain</a:t>
            </a:r>
            <a:r>
              <a:rPr dirty="0" sz="1200" spc="-5">
                <a:latin typeface="Times New Roman"/>
                <a:cs typeface="Times New Roman"/>
              </a:rPr>
              <a:t> switches on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 </a:t>
            </a:r>
            <a:r>
              <a:rPr dirty="0" sz="1200" spc="-5">
                <a:latin typeface="Times New Roman"/>
                <a:cs typeface="Times New Roman"/>
              </a:rPr>
              <a:t>others, off,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magnetizes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de-</a:t>
            </a:r>
            <a:r>
              <a:rPr dirty="0" sz="1200" spc="-5">
                <a:latin typeface="Times New Roman"/>
                <a:cs typeface="Times New Roman"/>
              </a:rPr>
              <a:t> magnetizes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arabicPeriod" startAt="2"/>
              <a:tabLst>
                <a:tab pos="171450" algn="l"/>
              </a:tabLst>
            </a:pPr>
            <a:r>
              <a:rPr dirty="0" sz="1200">
                <a:latin typeface="Times New Roman"/>
                <a:cs typeface="Times New Roman"/>
              </a:rPr>
              <a:t>The basic job of computers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processing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information. For </a:t>
            </a:r>
            <a:r>
              <a:rPr dirty="0" sz="1200">
                <a:latin typeface="Times New Roman"/>
                <a:cs typeface="Times New Roman"/>
              </a:rPr>
              <a:t>this reason,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 can be </a:t>
            </a:r>
            <a:r>
              <a:rPr dirty="0" sz="1200" spc="-5">
                <a:latin typeface="Times New Roman"/>
                <a:cs typeface="Times New Roman"/>
              </a:rPr>
              <a:t>defined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device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accepts information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form of instructions called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program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characters called </a:t>
            </a:r>
            <a:r>
              <a:rPr dirty="0" sz="1200" spc="-5" b="1">
                <a:latin typeface="Times New Roman"/>
                <a:cs typeface="Times New Roman"/>
              </a:rPr>
              <a:t>data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perform </a:t>
            </a:r>
            <a:r>
              <a:rPr dirty="0" sz="1200" spc="-5">
                <a:latin typeface="Times New Roman"/>
                <a:cs typeface="Times New Roman"/>
              </a:rPr>
              <a:t>mathematical </a:t>
            </a:r>
            <a:r>
              <a:rPr dirty="0" sz="1200">
                <a:latin typeface="Times New Roman"/>
                <a:cs typeface="Times New Roman"/>
              </a:rPr>
              <a:t>and / or logical operations 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>
                <a:latin typeface="Times New Roman"/>
                <a:cs typeface="Times New Roman"/>
              </a:rPr>
              <a:t>and then supply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operations. The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or part of it,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tells the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what to do and also provides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needed to solve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problem, is</a:t>
            </a:r>
            <a:r>
              <a:rPr dirty="0" sz="1200">
                <a:latin typeface="Times New Roman"/>
                <a:cs typeface="Times New Roman"/>
              </a:rPr>
              <a:t> kept inside the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in a place called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memory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2"/>
            </a:pP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  <a:buAutoNum type="arabicPeriod" startAt="2"/>
              <a:tabLst>
                <a:tab pos="21526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remarkable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powers.</a:t>
            </a:r>
            <a:r>
              <a:rPr dirty="0" sz="1200">
                <a:latin typeface="Times New Roman"/>
                <a:cs typeface="Times New Roman"/>
              </a:rPr>
              <a:t> However,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>
                <a:latin typeface="Times New Roman"/>
                <a:cs typeface="Times New Roman"/>
              </a:rPr>
              <a:t> whether large or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>
                <a:latin typeface="Times New Roman"/>
                <a:cs typeface="Times New Roman"/>
              </a:rPr>
              <a:t> have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basic capabilities.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operations,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as:</a:t>
            </a:r>
            <a:r>
              <a:rPr dirty="0" sz="1200">
                <a:latin typeface="Times New Roman"/>
                <a:cs typeface="Times New Roman"/>
              </a:rPr>
              <a:t> addition,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subtraction,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division,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multiplication</a:t>
            </a:r>
            <a:r>
              <a:rPr dirty="0" sz="1200">
                <a:latin typeface="Times New Roman"/>
                <a:cs typeface="Times New Roman"/>
              </a:rPr>
              <a:t> and exponentiation. Second,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-5">
                <a:latin typeface="Times New Roman"/>
                <a:cs typeface="Times New Roman"/>
              </a:rPr>
              <a:t>user. After </a:t>
            </a:r>
            <a:r>
              <a:rPr dirty="0" sz="1200">
                <a:latin typeface="Times New Roman"/>
                <a:cs typeface="Times New Roman"/>
              </a:rPr>
              <a:t>all, if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couldn’t </a:t>
            </a:r>
            <a:r>
              <a:rPr dirty="0" sz="1200" spc="-5">
                <a:latin typeface="Times New Roman"/>
                <a:cs typeface="Times New Roman"/>
              </a:rPr>
              <a:t>feed information </a:t>
            </a:r>
            <a:r>
              <a:rPr dirty="0" sz="1200">
                <a:latin typeface="Times New Roman"/>
                <a:cs typeface="Times New Roman"/>
              </a:rPr>
              <a:t>in and get </a:t>
            </a:r>
            <a:r>
              <a:rPr dirty="0" sz="1200" spc="-5">
                <a:latin typeface="Times New Roman"/>
                <a:cs typeface="Times New Roman"/>
              </a:rPr>
              <a:t>results back,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>
                <a:latin typeface="Times New Roman"/>
                <a:cs typeface="Times New Roman"/>
              </a:rPr>
              <a:t> wouldn’t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use.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(commonly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microcomputers) </a:t>
            </a:r>
            <a:r>
              <a:rPr dirty="0" sz="1200">
                <a:latin typeface="Times New Roman"/>
                <a:cs typeface="Times New Roman"/>
              </a:rPr>
              <a:t>are used to control directly things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robots,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aircraft's</a:t>
            </a:r>
            <a:r>
              <a:rPr dirty="0" sz="1200">
                <a:latin typeface="Times New Roman"/>
                <a:cs typeface="Times New Roman"/>
              </a:rPr>
              <a:t> navigation </a:t>
            </a:r>
            <a:r>
              <a:rPr dirty="0" sz="1200" spc="-5">
                <a:latin typeface="Times New Roman"/>
                <a:cs typeface="Times New Roman"/>
              </a:rPr>
              <a:t>systems,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instruments,</a:t>
            </a:r>
            <a:r>
              <a:rPr dirty="0" sz="1200">
                <a:latin typeface="Times New Roman"/>
                <a:cs typeface="Times New Roman"/>
              </a:rPr>
              <a:t> etc.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800592"/>
            <a:ext cx="562610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methods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inputting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</a:t>
            </a:r>
            <a:r>
              <a:rPr dirty="0" sz="1200" spc="229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punched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cards,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magnetic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tape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disks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terminals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computer’s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input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device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(which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reader,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tape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medium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putting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information)</a:t>
            </a:r>
            <a:r>
              <a:rPr dirty="0" sz="1200">
                <a:latin typeface="Times New Roman"/>
                <a:cs typeface="Times New Roman"/>
              </a:rPr>
              <a:t> reads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outputting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 devices used are a printer which prints the </a:t>
            </a:r>
            <a:r>
              <a:rPr dirty="0" sz="1200" spc="-5">
                <a:latin typeface="Times New Roman"/>
                <a:cs typeface="Times New Roman"/>
              </a:rPr>
              <a:t>new information </a:t>
            </a:r>
            <a:r>
              <a:rPr dirty="0" sz="1200">
                <a:latin typeface="Times New Roman"/>
                <a:cs typeface="Times New Roman"/>
              </a:rPr>
              <a:t>on paper, or a </a:t>
            </a:r>
            <a:r>
              <a:rPr dirty="0" sz="1200" spc="-10" b="1">
                <a:latin typeface="Times New Roman"/>
                <a:cs typeface="Times New Roman"/>
              </a:rPr>
              <a:t>CRT </a:t>
            </a:r>
            <a:r>
              <a:rPr dirty="0" sz="1200" spc="-5" b="1">
                <a:latin typeface="Times New Roman"/>
                <a:cs typeface="Times New Roman"/>
              </a:rPr>
              <a:t> display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screen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TV-like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screen.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 startAt="5"/>
              <a:tabLst>
                <a:tab pos="208279" algn="l"/>
              </a:tabLst>
            </a:pPr>
            <a:r>
              <a:rPr dirty="0" sz="1200">
                <a:latin typeface="Times New Roman"/>
                <a:cs typeface="Times New Roman"/>
              </a:rPr>
              <a:t>Third, computers have circuits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 spc="-5" b="1">
                <a:latin typeface="Times New Roman"/>
                <a:cs typeface="Times New Roman"/>
              </a:rPr>
              <a:t>decisions. </a:t>
            </a:r>
            <a:r>
              <a:rPr dirty="0" sz="1200">
                <a:latin typeface="Times New Roman"/>
                <a:cs typeface="Times New Roman"/>
              </a:rPr>
              <a:t>The kinds of decisions which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circuits can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are not of the type: </a:t>
            </a:r>
            <a:r>
              <a:rPr dirty="0" sz="1200" spc="-10">
                <a:latin typeface="Times New Roman"/>
                <a:cs typeface="Times New Roman"/>
              </a:rPr>
              <a:t>‘Who </a:t>
            </a:r>
            <a:r>
              <a:rPr dirty="0" sz="1200" spc="-5">
                <a:latin typeface="Times New Roman"/>
                <a:cs typeface="Times New Roman"/>
              </a:rPr>
              <a:t>would win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war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countries?’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‘Who is </a:t>
            </a:r>
            <a:r>
              <a:rPr dirty="0" sz="1200">
                <a:latin typeface="Times New Roman"/>
                <a:cs typeface="Times New Roman"/>
              </a:rPr>
              <a:t>the richest person in </a:t>
            </a:r>
            <a:r>
              <a:rPr dirty="0" sz="1200" spc="-5">
                <a:latin typeface="Times New Roman"/>
                <a:cs typeface="Times New Roman"/>
              </a:rPr>
              <a:t>the world?’ Unfortunately, the computer can </a:t>
            </a:r>
            <a:r>
              <a:rPr dirty="0" sz="1200">
                <a:latin typeface="Times New Roman"/>
                <a:cs typeface="Times New Roman"/>
              </a:rPr>
              <a:t> only decide three things, </a:t>
            </a:r>
            <a:r>
              <a:rPr dirty="0" sz="1200" spc="-5">
                <a:latin typeface="Times New Roman"/>
                <a:cs typeface="Times New Roman"/>
              </a:rPr>
              <a:t>namely: Is </a:t>
            </a:r>
            <a:r>
              <a:rPr dirty="0" sz="1200">
                <a:latin typeface="Times New Roman"/>
                <a:cs typeface="Times New Roman"/>
              </a:rPr>
              <a:t>one number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than another? </a:t>
            </a:r>
            <a:r>
              <a:rPr dirty="0" sz="1200" spc="-5">
                <a:latin typeface="Times New Roman"/>
                <a:cs typeface="Times New Roman"/>
              </a:rPr>
              <a:t>Are tow numbers </a:t>
            </a:r>
            <a:r>
              <a:rPr dirty="0" sz="1200">
                <a:latin typeface="Times New Roman"/>
                <a:cs typeface="Times New Roman"/>
              </a:rPr>
              <a:t>equal?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number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5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 startAt="5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 solve 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hundreds, even thousands,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 decisions without </a:t>
            </a:r>
            <a:r>
              <a:rPr dirty="0" sz="1200" spc="-5">
                <a:latin typeface="Times New Roman"/>
                <a:cs typeface="Times New Roman"/>
              </a:rPr>
              <a:t>becoming </a:t>
            </a:r>
            <a:r>
              <a:rPr dirty="0" sz="1200">
                <a:latin typeface="Times New Roman"/>
                <a:cs typeface="Times New Roman"/>
              </a:rPr>
              <a:t>tired or </a:t>
            </a:r>
            <a:r>
              <a:rPr dirty="0" sz="1200" spc="-5">
                <a:latin typeface="Times New Roman"/>
                <a:cs typeface="Times New Roman"/>
              </a:rPr>
              <a:t>bored. </a:t>
            </a:r>
            <a:r>
              <a:rPr dirty="0" sz="1200">
                <a:latin typeface="Times New Roman"/>
                <a:cs typeface="Times New Roman"/>
              </a:rPr>
              <a:t>It can find the solution of a problem in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dull,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routine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tasks,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no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originality;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works according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 b="1">
                <a:latin typeface="Times New Roman"/>
                <a:cs typeface="Times New Roman"/>
              </a:rPr>
              <a:t>instructions </a:t>
            </a:r>
            <a:r>
              <a:rPr dirty="0" sz="1200">
                <a:latin typeface="Times New Roman"/>
                <a:cs typeface="Times New Roman"/>
              </a:rPr>
              <a:t>given to it and cannot exercise any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valuable </a:t>
            </a:r>
            <a:r>
              <a:rPr dirty="0" sz="1200" spc="-5">
                <a:latin typeface="Times New Roman"/>
                <a:cs typeface="Times New Roman"/>
              </a:rPr>
              <a:t>judgments.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>
                <a:latin typeface="Times New Roman"/>
                <a:cs typeface="Times New Roman"/>
              </a:rPr>
              <a:t>when a computer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to operate like a </a:t>
            </a:r>
            <a:r>
              <a:rPr dirty="0" sz="1200" spc="-5">
                <a:latin typeface="Times New Roman"/>
                <a:cs typeface="Times New Roman"/>
              </a:rPr>
              <a:t>mechanical </a:t>
            </a:r>
            <a:r>
              <a:rPr dirty="0" sz="1200">
                <a:latin typeface="Times New Roman"/>
                <a:cs typeface="Times New Roman"/>
              </a:rPr>
              <a:t> ‘brain’, but </a:t>
            </a:r>
            <a:r>
              <a:rPr dirty="0" sz="1200" spc="-5">
                <a:latin typeface="Times New Roman"/>
                <a:cs typeface="Times New Roman"/>
              </a:rPr>
              <a:t>its achievements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limited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minds of human beings. </a:t>
            </a: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unless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appropriate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information;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electric </a:t>
            </a:r>
            <a:r>
              <a:rPr dirty="0" sz="1200" spc="-5">
                <a:latin typeface="Times New Roman"/>
                <a:cs typeface="Times New Roman"/>
              </a:rPr>
              <a:t>pulses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move </a:t>
            </a:r>
            <a:r>
              <a:rPr dirty="0" sz="1200">
                <a:latin typeface="Times New Roman"/>
                <a:cs typeface="Times New Roman"/>
              </a:rPr>
              <a:t>at the </a:t>
            </a:r>
            <a:r>
              <a:rPr dirty="0" sz="1200" spc="-5">
                <a:latin typeface="Times New Roman"/>
                <a:cs typeface="Times New Roman"/>
              </a:rPr>
              <a:t>speed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light,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 carry out vast numbers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>
                <a:latin typeface="Times New Roman"/>
                <a:cs typeface="Times New Roman"/>
              </a:rPr>
              <a:t> operations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instantaneously.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everything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 do, but in </a:t>
            </a:r>
            <a:r>
              <a:rPr dirty="0" sz="1200" spc="-5">
                <a:latin typeface="Times New Roman"/>
                <a:cs typeface="Times New Roman"/>
              </a:rPr>
              <a:t>many cases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person would be dead long before the job </a:t>
            </a:r>
            <a:r>
              <a:rPr dirty="0" sz="1200" spc="-10">
                <a:latin typeface="Times New Roman"/>
                <a:cs typeface="Times New Roman"/>
              </a:rPr>
              <a:t>was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finished.</a:t>
            </a:r>
            <a:endParaRPr sz="1200">
              <a:latin typeface="Times New Roman"/>
              <a:cs typeface="Times New Roman"/>
            </a:endParaRPr>
          </a:p>
          <a:p>
            <a:pPr algn="just" marL="1193165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Mullen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P.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Brown: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English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Computer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Science;</a:t>
            </a:r>
            <a:r>
              <a:rPr dirty="0" sz="1200" spc="-5" i="1">
                <a:latin typeface="Times New Roman"/>
                <a:cs typeface="Times New Roman"/>
              </a:rPr>
              <a:t> OUP </a:t>
            </a:r>
            <a:r>
              <a:rPr dirty="0" sz="1200" i="1">
                <a:latin typeface="Times New Roman"/>
                <a:cs typeface="Times New Roman"/>
              </a:rPr>
              <a:t>16-18)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>
                <a:latin typeface="Times New Roman"/>
                <a:cs typeface="Times New Roman"/>
              </a:rPr>
              <a:t> with an intricate network of electronic circuits that operate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switches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magnetize </a:t>
            </a:r>
            <a:r>
              <a:rPr dirty="0" sz="1200">
                <a:latin typeface="Times New Roman"/>
                <a:cs typeface="Times New Roman"/>
              </a:rPr>
              <a:t>tiny </a:t>
            </a:r>
            <a:r>
              <a:rPr dirty="0" sz="1200" spc="-5">
                <a:latin typeface="Times New Roman"/>
                <a:cs typeface="Times New Roman"/>
              </a:rPr>
              <a:t>metal cores.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switches, </a:t>
            </a:r>
            <a:r>
              <a:rPr dirty="0" sz="1200">
                <a:latin typeface="Times New Roman"/>
                <a:cs typeface="Times New Roman"/>
              </a:rPr>
              <a:t>like </a:t>
            </a:r>
            <a:r>
              <a:rPr dirty="0" sz="1200" spc="-5">
                <a:latin typeface="Times New Roman"/>
                <a:cs typeface="Times New Roman"/>
              </a:rPr>
              <a:t>the cores, </a:t>
            </a:r>
            <a:r>
              <a:rPr dirty="0" sz="1200">
                <a:latin typeface="Times New Roman"/>
                <a:cs typeface="Times New Roman"/>
              </a:rPr>
              <a:t>are capable of </a:t>
            </a:r>
            <a:r>
              <a:rPr dirty="0" sz="1200" spc="-5">
                <a:latin typeface="Times New Roman"/>
                <a:cs typeface="Times New Roman"/>
              </a:rPr>
              <a:t>being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of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possible </a:t>
            </a:r>
            <a:r>
              <a:rPr dirty="0" sz="1200" spc="-5">
                <a:latin typeface="Times New Roman"/>
                <a:cs typeface="Times New Roman"/>
              </a:rPr>
              <a:t>states,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on or </a:t>
            </a:r>
            <a:r>
              <a:rPr dirty="0" sz="1200" spc="-5">
                <a:latin typeface="Times New Roman"/>
                <a:cs typeface="Times New Roman"/>
              </a:rPr>
              <a:t>off: magnetized or demagnetized.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machine is </a:t>
            </a:r>
            <a:r>
              <a:rPr dirty="0" sz="1200">
                <a:latin typeface="Times New Roman"/>
                <a:cs typeface="Times New Roman"/>
              </a:rPr>
              <a:t> capable of storing and </a:t>
            </a:r>
            <a:r>
              <a:rPr dirty="0" sz="1200" spc="-5">
                <a:latin typeface="Times New Roman"/>
                <a:cs typeface="Times New Roman"/>
              </a:rPr>
              <a:t>manipulating numbers, </a:t>
            </a:r>
            <a:r>
              <a:rPr dirty="0" sz="1200">
                <a:latin typeface="Times New Roman"/>
                <a:cs typeface="Times New Roman"/>
              </a:rPr>
              <a:t>letters, and </a:t>
            </a:r>
            <a:r>
              <a:rPr dirty="0" sz="1200" spc="-5">
                <a:latin typeface="Times New Roman"/>
                <a:cs typeface="Times New Roman"/>
              </a:rPr>
              <a:t>characters. </a:t>
            </a:r>
            <a:r>
              <a:rPr dirty="0" sz="1200">
                <a:latin typeface="Times New Roman"/>
                <a:cs typeface="Times New Roman"/>
              </a:rPr>
              <a:t>The basic </a:t>
            </a:r>
            <a:r>
              <a:rPr dirty="0" sz="1200" spc="-5">
                <a:latin typeface="Times New Roman"/>
                <a:cs typeface="Times New Roman"/>
              </a:rPr>
              <a:t>idea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is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machine do </a:t>
            </a:r>
            <a:r>
              <a:rPr dirty="0" sz="1200" spc="-5">
                <a:latin typeface="Times New Roman"/>
                <a:cs typeface="Times New Roman"/>
              </a:rPr>
              <a:t>what we want by inputting signals that turn </a:t>
            </a:r>
            <a:r>
              <a:rPr dirty="0" sz="1200">
                <a:latin typeface="Times New Roman"/>
                <a:cs typeface="Times New Roman"/>
              </a:rPr>
              <a:t> certain </a:t>
            </a:r>
            <a:r>
              <a:rPr dirty="0" sz="1200" spc="-5">
                <a:latin typeface="Times New Roman"/>
                <a:cs typeface="Times New Roman"/>
              </a:rPr>
              <a:t>switches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and turn </a:t>
            </a:r>
            <a:r>
              <a:rPr dirty="0" sz="1200" spc="-5">
                <a:latin typeface="Times New Roman"/>
                <a:cs typeface="Times New Roman"/>
              </a:rPr>
              <a:t>others, off, 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magnetizes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de-magnetizes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cores.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Topic: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5" b="1">
                <a:latin typeface="Times New Roman"/>
                <a:cs typeface="Times New Roman"/>
              </a:rPr>
              <a:t> Idea</a:t>
            </a:r>
            <a:r>
              <a:rPr dirty="0" sz="1200" spc="-5">
                <a:latin typeface="Times New Roman"/>
                <a:cs typeface="Times New Roman"/>
              </a:rPr>
              <a:t>: We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machine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do.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Supporting</a:t>
            </a:r>
            <a:r>
              <a:rPr dirty="0" sz="1200" spc="2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capable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storing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manipulating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basic job of </a:t>
            </a:r>
            <a:r>
              <a:rPr dirty="0" sz="1200" spc="-5">
                <a:latin typeface="Times New Roman"/>
                <a:cs typeface="Times New Roman"/>
              </a:rPr>
              <a:t>computers is </a:t>
            </a:r>
            <a:r>
              <a:rPr dirty="0" sz="1200">
                <a:latin typeface="Times New Roman"/>
                <a:cs typeface="Times New Roman"/>
              </a:rPr>
              <a:t>the processing </a:t>
            </a:r>
            <a:r>
              <a:rPr dirty="0" sz="1200" spc="-5">
                <a:latin typeface="Times New Roman"/>
                <a:cs typeface="Times New Roman"/>
              </a:rPr>
              <a:t>of information. For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reason, computers can </a:t>
            </a:r>
            <a:r>
              <a:rPr dirty="0" sz="1200">
                <a:latin typeface="Times New Roman"/>
                <a:cs typeface="Times New Roman"/>
              </a:rPr>
              <a:t> be defined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device which accepts information in the form of instructions called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 and characters called data, perform </a:t>
            </a:r>
            <a:r>
              <a:rPr dirty="0" sz="1200" spc="-5">
                <a:latin typeface="Times New Roman"/>
                <a:cs typeface="Times New Roman"/>
              </a:rPr>
              <a:t>mathematical </a:t>
            </a:r>
            <a:r>
              <a:rPr dirty="0" sz="1200">
                <a:latin typeface="Times New Roman"/>
                <a:cs typeface="Times New Roman"/>
              </a:rPr>
              <a:t>and / </a:t>
            </a:r>
            <a:r>
              <a:rPr dirty="0" sz="1200" spc="-5">
                <a:latin typeface="Times New Roman"/>
                <a:cs typeface="Times New Roman"/>
              </a:rPr>
              <a:t>or logical </a:t>
            </a:r>
            <a:r>
              <a:rPr dirty="0" sz="1200">
                <a:latin typeface="Times New Roman"/>
                <a:cs typeface="Times New Roman"/>
              </a:rPr>
              <a:t>operations </a:t>
            </a:r>
            <a:r>
              <a:rPr dirty="0" sz="1200" spc="-5">
                <a:latin typeface="Times New Roman"/>
                <a:cs typeface="Times New Roman"/>
              </a:rPr>
              <a:t>on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>
                <a:latin typeface="Times New Roman"/>
                <a:cs typeface="Times New Roman"/>
              </a:rPr>
              <a:t>and then supply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of these operations. The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or part of it,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tells the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what to do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provides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needed to solve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problem, is</a:t>
            </a:r>
            <a:r>
              <a:rPr dirty="0" sz="1200">
                <a:latin typeface="Times New Roman"/>
                <a:cs typeface="Times New Roman"/>
              </a:rPr>
              <a:t> kept inside the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in a place called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Topic: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Idea: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called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thought to have </a:t>
            </a:r>
            <a:r>
              <a:rPr dirty="0" sz="1200" spc="-5">
                <a:latin typeface="Times New Roman"/>
                <a:cs typeface="Times New Roman"/>
              </a:rPr>
              <a:t>many remarkable powers. </a:t>
            </a:r>
            <a:r>
              <a:rPr dirty="0" sz="1200">
                <a:latin typeface="Times New Roman"/>
                <a:cs typeface="Times New Roman"/>
              </a:rPr>
              <a:t>However, the most of computers,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 large or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>
                <a:latin typeface="Times New Roman"/>
                <a:cs typeface="Times New Roman"/>
              </a:rPr>
              <a:t>have three basic </a:t>
            </a:r>
            <a:r>
              <a:rPr dirty="0" sz="1200" spc="-5">
                <a:latin typeface="Times New Roman"/>
                <a:cs typeface="Times New Roman"/>
              </a:rPr>
              <a:t>capabilities.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 </a:t>
            </a:r>
            <a:r>
              <a:rPr dirty="0" sz="1200" spc="-5">
                <a:latin typeface="Times New Roman"/>
                <a:cs typeface="Times New Roman"/>
              </a:rPr>
              <a:t>circuits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operations,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as: addition,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subtraction,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division,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multiplication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exponentiation.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Second,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user.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>
                <a:latin typeface="Times New Roman"/>
                <a:cs typeface="Times New Roman"/>
              </a:rPr>
              <a:t>all, if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couldn’t </a:t>
            </a:r>
            <a:r>
              <a:rPr dirty="0" sz="1200" spc="-5">
                <a:latin typeface="Times New Roman"/>
                <a:cs typeface="Times New Roman"/>
              </a:rPr>
              <a:t>feed information </a:t>
            </a:r>
            <a:r>
              <a:rPr dirty="0" sz="1200">
                <a:latin typeface="Times New Roman"/>
                <a:cs typeface="Times New Roman"/>
              </a:rPr>
              <a:t>in and get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back, these </a:t>
            </a:r>
            <a:r>
              <a:rPr dirty="0" sz="1200" spc="-5">
                <a:latin typeface="Times New Roman"/>
                <a:cs typeface="Times New Roman"/>
              </a:rPr>
              <a:t>machines </a:t>
            </a:r>
            <a:r>
              <a:rPr dirty="0" sz="1200">
                <a:latin typeface="Times New Roman"/>
                <a:cs typeface="Times New Roman"/>
              </a:rPr>
              <a:t>wouldn’t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use.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However,</a:t>
            </a:r>
            <a:r>
              <a:rPr dirty="0" sz="1200">
                <a:latin typeface="Times New Roman"/>
                <a:cs typeface="Times New Roman"/>
              </a:rPr>
              <a:t> certain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(commonly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microcomputers) </a:t>
            </a:r>
            <a:r>
              <a:rPr dirty="0" sz="1200">
                <a:latin typeface="Times New Roman"/>
                <a:cs typeface="Times New Roman"/>
              </a:rPr>
              <a:t>are used to </a:t>
            </a:r>
            <a:r>
              <a:rPr dirty="0" sz="1200" spc="-5">
                <a:latin typeface="Times New Roman"/>
                <a:cs typeface="Times New Roman"/>
              </a:rPr>
              <a:t>control </a:t>
            </a:r>
            <a:r>
              <a:rPr dirty="0" sz="1200">
                <a:latin typeface="Times New Roman"/>
                <a:cs typeface="Times New Roman"/>
              </a:rPr>
              <a:t>directly things such </a:t>
            </a:r>
            <a:r>
              <a:rPr dirty="0" sz="1200" spc="-5">
                <a:latin typeface="Times New Roman"/>
                <a:cs typeface="Times New Roman"/>
              </a:rPr>
              <a:t>as robots, aircraft's navigation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medical instruments,</a:t>
            </a:r>
            <a:r>
              <a:rPr dirty="0" sz="1200">
                <a:latin typeface="Times New Roman"/>
                <a:cs typeface="Times New Roman"/>
              </a:rPr>
              <a:t> etc.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: Powers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computers.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5" b="1">
                <a:latin typeface="Times New Roman"/>
                <a:cs typeface="Times New Roman"/>
              </a:rPr>
              <a:t> Idea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 </a:t>
            </a:r>
            <a:r>
              <a:rPr dirty="0" sz="1200">
                <a:latin typeface="Times New Roman"/>
                <a:cs typeface="Times New Roman"/>
              </a:rPr>
              <a:t>capabilities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Supporting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robots,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aircraft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navigation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medical instruments,</a:t>
            </a:r>
            <a:r>
              <a:rPr dirty="0" sz="1200">
                <a:latin typeface="Times New Roman"/>
                <a:cs typeface="Times New Roman"/>
              </a:rPr>
              <a:t> etc.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common </a:t>
            </a:r>
            <a:r>
              <a:rPr dirty="0" sz="1200" spc="-5">
                <a:latin typeface="Times New Roman"/>
                <a:cs typeface="Times New Roman"/>
              </a:rPr>
              <a:t>methods </a:t>
            </a:r>
            <a:r>
              <a:rPr dirty="0" sz="1200">
                <a:latin typeface="Times New Roman"/>
                <a:cs typeface="Times New Roman"/>
              </a:rPr>
              <a:t>of inputting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are to </a:t>
            </a:r>
            <a:r>
              <a:rPr dirty="0" sz="1200" spc="-5">
                <a:latin typeface="Times New Roman"/>
                <a:cs typeface="Times New Roman"/>
              </a:rPr>
              <a:t>sue </a:t>
            </a:r>
            <a:r>
              <a:rPr dirty="0" sz="1200">
                <a:latin typeface="Times New Roman"/>
                <a:cs typeface="Times New Roman"/>
              </a:rPr>
              <a:t>punched cards,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magnetic </a:t>
            </a:r>
            <a:r>
              <a:rPr dirty="0" sz="1200">
                <a:latin typeface="Times New Roman"/>
                <a:cs typeface="Times New Roman"/>
              </a:rPr>
              <a:t>tape, </a:t>
            </a:r>
            <a:r>
              <a:rPr dirty="0" sz="1200" spc="-5">
                <a:latin typeface="Times New Roman"/>
                <a:cs typeface="Times New Roman"/>
              </a:rPr>
              <a:t>disks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terminals.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computer’s </a:t>
            </a:r>
            <a:r>
              <a:rPr dirty="0" sz="1200">
                <a:latin typeface="Times New Roman"/>
                <a:cs typeface="Times New Roman"/>
              </a:rPr>
              <a:t>input device (which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be a card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tape drive or disk drive, depending </a:t>
            </a:r>
            <a:r>
              <a:rPr dirty="0" sz="1200">
                <a:latin typeface="Times New Roman"/>
                <a:cs typeface="Times New Roman"/>
              </a:rPr>
              <a:t>on the </a:t>
            </a:r>
            <a:r>
              <a:rPr dirty="0" sz="1200" spc="-5">
                <a:latin typeface="Times New Roman"/>
                <a:cs typeface="Times New Roman"/>
              </a:rPr>
              <a:t>medium </a:t>
            </a:r>
            <a:r>
              <a:rPr dirty="0" sz="1200">
                <a:latin typeface="Times New Roman"/>
                <a:cs typeface="Times New Roman"/>
              </a:rPr>
              <a:t>used in putting </a:t>
            </a:r>
            <a:r>
              <a:rPr dirty="0" sz="1200" spc="-5">
                <a:latin typeface="Times New Roman"/>
                <a:cs typeface="Times New Roman"/>
              </a:rPr>
              <a:t>information) </a:t>
            </a:r>
            <a:r>
              <a:rPr dirty="0" sz="1200">
                <a:latin typeface="Times New Roman"/>
                <a:cs typeface="Times New Roman"/>
              </a:rPr>
              <a:t> reads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into the </a:t>
            </a:r>
            <a:r>
              <a:rPr dirty="0" sz="1200" spc="-5">
                <a:latin typeface="Times New Roman"/>
                <a:cs typeface="Times New Roman"/>
              </a:rPr>
              <a:t>computer. For </a:t>
            </a:r>
            <a:r>
              <a:rPr dirty="0" sz="1200">
                <a:latin typeface="Times New Roman"/>
                <a:cs typeface="Times New Roman"/>
              </a:rPr>
              <a:t>outputting </a:t>
            </a:r>
            <a:r>
              <a:rPr dirty="0" sz="1200" spc="-5">
                <a:latin typeface="Times New Roman"/>
                <a:cs typeface="Times New Roman"/>
              </a:rPr>
              <a:t>information, two common </a:t>
            </a:r>
            <a:r>
              <a:rPr dirty="0" sz="1200">
                <a:latin typeface="Times New Roman"/>
                <a:cs typeface="Times New Roman"/>
              </a:rPr>
              <a:t>devices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 are a printer which </a:t>
            </a:r>
            <a:r>
              <a:rPr dirty="0" sz="1200" spc="-5">
                <a:latin typeface="Times New Roman"/>
                <a:cs typeface="Times New Roman"/>
              </a:rPr>
              <a:t>prints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paper,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CRT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display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screen 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results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TV-like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screen.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Topic: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Method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marL="12700" marR="3420745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Main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>
                <a:latin typeface="Times New Roman"/>
                <a:cs typeface="Times New Roman"/>
              </a:rPr>
              <a:t>Input and </a:t>
            </a:r>
            <a:r>
              <a:rPr dirty="0" sz="1200" spc="-5">
                <a:latin typeface="Times New Roman"/>
                <a:cs typeface="Times New Roman"/>
              </a:rPr>
              <a:t>Output </a:t>
            </a:r>
            <a:r>
              <a:rPr dirty="0" sz="1200">
                <a:latin typeface="Times New Roman"/>
                <a:cs typeface="Times New Roman"/>
              </a:rPr>
              <a:t>devices.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Supporting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Idea: </a:t>
            </a:r>
            <a:r>
              <a:rPr dirty="0" sz="1200">
                <a:latin typeface="Times New Roman"/>
                <a:cs typeface="Times New Roman"/>
              </a:rPr>
              <a:t>Examples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 indent="3810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decisions.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kinds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decisions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circuits can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are not of the type: </a:t>
            </a:r>
            <a:r>
              <a:rPr dirty="0" sz="1200" spc="-10">
                <a:latin typeface="Times New Roman"/>
                <a:cs typeface="Times New Roman"/>
              </a:rPr>
              <a:t>‘Who </a:t>
            </a:r>
            <a:r>
              <a:rPr dirty="0" sz="1200" spc="-5">
                <a:latin typeface="Times New Roman"/>
                <a:cs typeface="Times New Roman"/>
              </a:rPr>
              <a:t>would win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war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countries?’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‘Who is </a:t>
            </a:r>
            <a:r>
              <a:rPr dirty="0" sz="1200">
                <a:latin typeface="Times New Roman"/>
                <a:cs typeface="Times New Roman"/>
              </a:rPr>
              <a:t>the richest person in </a:t>
            </a:r>
            <a:r>
              <a:rPr dirty="0" sz="1200" spc="-5">
                <a:latin typeface="Times New Roman"/>
                <a:cs typeface="Times New Roman"/>
              </a:rPr>
              <a:t>the world?’ Unfortunately, the computer can </a:t>
            </a:r>
            <a:r>
              <a:rPr dirty="0" sz="1200">
                <a:latin typeface="Times New Roman"/>
                <a:cs typeface="Times New Roman"/>
              </a:rPr>
              <a:t> only decide three things, </a:t>
            </a:r>
            <a:r>
              <a:rPr dirty="0" sz="1200" spc="-5">
                <a:latin typeface="Times New Roman"/>
                <a:cs typeface="Times New Roman"/>
              </a:rPr>
              <a:t>namely: Is </a:t>
            </a:r>
            <a:r>
              <a:rPr dirty="0" sz="1200">
                <a:latin typeface="Times New Roman"/>
                <a:cs typeface="Times New Roman"/>
              </a:rPr>
              <a:t>one number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than another? </a:t>
            </a:r>
            <a:r>
              <a:rPr dirty="0" sz="1200" spc="-5">
                <a:latin typeface="Times New Roman"/>
                <a:cs typeface="Times New Roman"/>
              </a:rPr>
              <a:t>Are tow numbers </a:t>
            </a:r>
            <a:r>
              <a:rPr dirty="0" sz="1200">
                <a:latin typeface="Times New Roman"/>
                <a:cs typeface="Times New Roman"/>
              </a:rPr>
              <a:t>equal?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greater than another?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Topic: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: 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6: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 solve 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hundreds, even thousands, of logical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decisions </a:t>
            </a: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 or bored. It can find the solution of a problem in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dull,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routine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tasks,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no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originality; it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>
                <a:latin typeface="Times New Roman"/>
                <a:cs typeface="Times New Roman"/>
              </a:rPr>
              <a:t> to the instructions given to it and cannot exercise any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valuable </a:t>
            </a:r>
            <a:r>
              <a:rPr dirty="0" sz="1200" spc="-5">
                <a:latin typeface="Times New Roman"/>
                <a:cs typeface="Times New Roman"/>
              </a:rPr>
              <a:t>judgments.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>
                <a:latin typeface="Times New Roman"/>
                <a:cs typeface="Times New Roman"/>
              </a:rPr>
              <a:t>when a computer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to operate like a </a:t>
            </a:r>
            <a:r>
              <a:rPr dirty="0" sz="1200" spc="-5">
                <a:latin typeface="Times New Roman"/>
                <a:cs typeface="Times New Roman"/>
              </a:rPr>
              <a:t>mechanical </a:t>
            </a:r>
            <a:r>
              <a:rPr dirty="0" sz="1200">
                <a:latin typeface="Times New Roman"/>
                <a:cs typeface="Times New Roman"/>
              </a:rPr>
              <a:t> ‘brain’, but </a:t>
            </a:r>
            <a:r>
              <a:rPr dirty="0" sz="1200" spc="-5">
                <a:latin typeface="Times New Roman"/>
                <a:cs typeface="Times New Roman"/>
              </a:rPr>
              <a:t>its achievements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limited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minds of human beings. </a:t>
            </a: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 anything </a:t>
            </a:r>
            <a:r>
              <a:rPr dirty="0" sz="1200" spc="-5">
                <a:latin typeface="Times New Roman"/>
                <a:cs typeface="Times New Roman"/>
              </a:rPr>
              <a:t>unless </a:t>
            </a:r>
            <a:r>
              <a:rPr dirty="0" sz="1200">
                <a:latin typeface="Times New Roman"/>
                <a:cs typeface="Times New Roman"/>
              </a:rPr>
              <a:t>a person tells it to do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and give it the appropriate </a:t>
            </a:r>
            <a:r>
              <a:rPr dirty="0" sz="1200" spc="-5">
                <a:latin typeface="Times New Roman"/>
                <a:cs typeface="Times New Roman"/>
              </a:rPr>
              <a:t>information; 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pulses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14</a:t>
            </a:fld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</a:t>
            </a:r>
            <a:r>
              <a:rPr dirty="0" sz="1200">
                <a:latin typeface="Times New Roman"/>
                <a:cs typeface="Times New Roman"/>
              </a:rPr>
              <a:t> almost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instantaneously.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everything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 do, but in </a:t>
            </a:r>
            <a:r>
              <a:rPr dirty="0" sz="1200" spc="-5">
                <a:latin typeface="Times New Roman"/>
                <a:cs typeface="Times New Roman"/>
              </a:rPr>
              <a:t>many cases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person would be dead long before the job </a:t>
            </a:r>
            <a:r>
              <a:rPr dirty="0" sz="1200" spc="-10">
                <a:latin typeface="Times New Roman"/>
                <a:cs typeface="Times New Roman"/>
              </a:rPr>
              <a:t>was </a:t>
            </a:r>
            <a:r>
              <a:rPr dirty="0" sz="1200" spc="-5">
                <a:latin typeface="Times New Roman"/>
                <a:cs typeface="Times New Roman"/>
              </a:rPr>
              <a:t> finished.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Topic: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Main Idea: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works </a:t>
            </a:r>
            <a:r>
              <a:rPr dirty="0" sz="1200">
                <a:latin typeface="Times New Roman"/>
                <a:cs typeface="Times New Roman"/>
              </a:rPr>
              <a:t>according to </a:t>
            </a:r>
            <a:r>
              <a:rPr dirty="0" sz="1200" spc="-5">
                <a:latin typeface="Times New Roman"/>
                <a:cs typeface="Times New Roman"/>
              </a:rPr>
              <a:t>instructions.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Supporting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detail,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5">
                <a:latin typeface="Times New Roman"/>
                <a:cs typeface="Times New Roman"/>
              </a:rPr>
              <a:t> 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four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best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expresses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main </a:t>
            </a:r>
            <a:r>
              <a:rPr dirty="0" sz="1200" b="1">
                <a:latin typeface="Times New Roman"/>
                <a:cs typeface="Times New Roman"/>
              </a:rPr>
              <a:t>idea.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0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kinds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Instructions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 </a:t>
            </a:r>
            <a:r>
              <a:rPr dirty="0" sz="1200">
                <a:latin typeface="Times New Roman"/>
                <a:cs typeface="Times New Roman"/>
              </a:rPr>
              <a:t>capable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outputting.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>
                <a:latin typeface="Times New Roman"/>
                <a:cs typeface="Times New Roman"/>
              </a:rPr>
              <a:t> many </a:t>
            </a:r>
            <a:r>
              <a:rPr dirty="0" sz="1200" spc="-5">
                <a:latin typeface="Times New Roman"/>
                <a:cs typeface="Times New Roman"/>
              </a:rPr>
              <a:t>tasks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much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12700" marR="1460500">
              <a:lnSpc>
                <a:spcPts val="138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Which </a:t>
            </a:r>
            <a:r>
              <a:rPr dirty="0" sz="1200" b="1">
                <a:latin typeface="Times New Roman"/>
                <a:cs typeface="Times New Roman"/>
              </a:rPr>
              <a:t>statement </a:t>
            </a:r>
            <a:r>
              <a:rPr dirty="0" sz="1200" spc="-5" b="1">
                <a:latin typeface="Times New Roman"/>
                <a:cs typeface="Times New Roman"/>
              </a:rPr>
              <a:t>did you </a:t>
            </a:r>
            <a:r>
              <a:rPr dirty="0" sz="1200" b="1">
                <a:latin typeface="Times New Roman"/>
                <a:cs typeface="Times New Roman"/>
              </a:rPr>
              <a:t>choose?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 correct </a:t>
            </a:r>
            <a:r>
              <a:rPr dirty="0" sz="1200" spc="-5" b="1">
                <a:latin typeface="Times New Roman"/>
                <a:cs typeface="Times New Roman"/>
              </a:rPr>
              <a:t>answer is </a:t>
            </a:r>
            <a:r>
              <a:rPr dirty="0" sz="1200" b="1">
                <a:latin typeface="Times New Roman"/>
                <a:cs typeface="Times New Roman"/>
              </a:rPr>
              <a:t>choice no.2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Why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didn’t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select</a:t>
            </a:r>
            <a:r>
              <a:rPr dirty="0" sz="1200" spc="-5" b="1">
                <a:latin typeface="Times New Roman"/>
                <a:cs typeface="Times New Roman"/>
              </a:rPr>
              <a:t> the </a:t>
            </a:r>
            <a:r>
              <a:rPr dirty="0" sz="1200" b="1">
                <a:latin typeface="Times New Roman"/>
                <a:cs typeface="Times New Roman"/>
              </a:rPr>
              <a:t>other</a:t>
            </a:r>
            <a:r>
              <a:rPr dirty="0" sz="1200" spc="-5" b="1">
                <a:latin typeface="Times New Roman"/>
                <a:cs typeface="Times New Roman"/>
              </a:rPr>
              <a:t> choices?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distinctive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Passage:</a:t>
            </a:r>
            <a:endParaRPr sz="1200">
              <a:latin typeface="Times New Roman"/>
              <a:cs typeface="Times New Roman"/>
            </a:endParaRPr>
          </a:p>
          <a:p>
            <a:pPr marL="127000" marR="1565910" indent="-114300">
              <a:lnSpc>
                <a:spcPts val="1380"/>
              </a:lnSpc>
              <a:spcBef>
                <a:spcPts val="70"/>
              </a:spcBef>
              <a:tabLst>
                <a:tab pos="5842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Decide </a:t>
            </a:r>
            <a:r>
              <a:rPr dirty="0" sz="1200" b="1">
                <a:latin typeface="Times New Roman"/>
                <a:cs typeface="Times New Roman"/>
              </a:rPr>
              <a:t>if </a:t>
            </a:r>
            <a:r>
              <a:rPr dirty="0" sz="1200" spc="-5" b="1">
                <a:latin typeface="Times New Roman"/>
                <a:cs typeface="Times New Roman"/>
              </a:rPr>
              <a:t>these statements </a:t>
            </a:r>
            <a:r>
              <a:rPr dirty="0" sz="1200" b="1">
                <a:latin typeface="Times New Roman"/>
                <a:cs typeface="Times New Roman"/>
              </a:rPr>
              <a:t>are true or false </a:t>
            </a:r>
            <a:r>
              <a:rPr dirty="0" sz="1200" spc="-5" b="1">
                <a:latin typeface="Times New Roman"/>
                <a:cs typeface="Times New Roman"/>
              </a:rPr>
              <a:t>by </a:t>
            </a:r>
            <a:r>
              <a:rPr dirty="0" sz="1200" b="1">
                <a:latin typeface="Times New Roman"/>
                <a:cs typeface="Times New Roman"/>
              </a:rPr>
              <a:t>referring to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text.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	F</a:t>
            </a:r>
            <a:endParaRPr sz="1200">
              <a:latin typeface="Times New Roman"/>
              <a:cs typeface="Times New Roman"/>
            </a:endParaRPr>
          </a:p>
          <a:p>
            <a:pPr lvl="1" marL="1119505" indent="-193040">
              <a:lnSpc>
                <a:spcPts val="1300"/>
              </a:lnSpc>
              <a:buFont typeface="Times New Roman"/>
              <a:buAutoNum type="arabicPeriod"/>
              <a:tabLst>
                <a:tab pos="112014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handle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hasn’t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received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so.</a:t>
            </a:r>
            <a:endParaRPr sz="1200">
              <a:latin typeface="Times New Roman"/>
              <a:cs typeface="Times New Roman"/>
            </a:endParaRPr>
          </a:p>
          <a:p>
            <a:pPr lvl="1" marL="927100" marR="271145">
              <a:lnSpc>
                <a:spcPts val="1380"/>
              </a:lnSpc>
              <a:spcBef>
                <a:spcPts val="65"/>
              </a:spcBef>
              <a:buFont typeface="Times New Roman"/>
              <a:buAutoNum type="arabicPeriod" startAt="2"/>
              <a:tabLst>
                <a:tab pos="1088390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accept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characters.</a:t>
            </a:r>
            <a:endParaRPr sz="1200">
              <a:latin typeface="Times New Roman"/>
              <a:cs typeface="Times New Roman"/>
            </a:endParaRPr>
          </a:p>
          <a:p>
            <a:pPr lvl="1" marL="927100" marR="271145">
              <a:lnSpc>
                <a:spcPts val="1380"/>
              </a:lnSpc>
              <a:buFont typeface="Times New Roman"/>
              <a:buAutoNum type="arabicPeriod" startAt="2"/>
              <a:tabLst>
                <a:tab pos="10928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lvl="1" marL="1002665" marR="593725" indent="-76200">
              <a:lnSpc>
                <a:spcPts val="1380"/>
              </a:lnSpc>
              <a:buFont typeface="Times New Roman"/>
              <a:buAutoNum type="arabicPeriod" startAt="2"/>
              <a:tabLst>
                <a:tab pos="1079500" algn="l"/>
              </a:tabLst>
            </a:pP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can perform </a:t>
            </a:r>
            <a:r>
              <a:rPr dirty="0" sz="1200" spc="-5">
                <a:latin typeface="Times New Roman"/>
                <a:cs typeface="Times New Roman"/>
              </a:rPr>
              <a:t>arithmetic </a:t>
            </a:r>
            <a:r>
              <a:rPr dirty="0" sz="1200">
                <a:latin typeface="Times New Roman"/>
                <a:cs typeface="Times New Roman"/>
              </a:rPr>
              <a:t>operations,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decisions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communicate in </a:t>
            </a:r>
            <a:r>
              <a:rPr dirty="0" sz="1200" spc="-5">
                <a:latin typeface="Times New Roman"/>
                <a:cs typeface="Times New Roman"/>
              </a:rPr>
              <a:t>some way</a:t>
            </a:r>
            <a:r>
              <a:rPr dirty="0" sz="1200">
                <a:latin typeface="Times New Roman"/>
                <a:cs typeface="Times New Roman"/>
              </a:rPr>
              <a:t> with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user.</a:t>
            </a:r>
            <a:endParaRPr sz="1200">
              <a:latin typeface="Times New Roman"/>
              <a:cs typeface="Times New Roman"/>
            </a:endParaRPr>
          </a:p>
          <a:p>
            <a:pPr lvl="1" marL="927100" marR="271145">
              <a:lnSpc>
                <a:spcPts val="1380"/>
              </a:lnSpc>
              <a:buFont typeface="Times New Roman"/>
              <a:buAutoNum type="arabicPeriod" startAt="2"/>
              <a:tabLst>
                <a:tab pos="10966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useful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can’t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communicate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user.</a:t>
            </a:r>
            <a:endParaRPr sz="1200">
              <a:latin typeface="Times New Roman"/>
              <a:cs typeface="Times New Roman"/>
            </a:endParaRPr>
          </a:p>
          <a:p>
            <a:pPr lvl="1" marL="927100" marR="271780">
              <a:lnSpc>
                <a:spcPts val="1380"/>
              </a:lnSpc>
              <a:buFont typeface="Times New Roman"/>
              <a:buAutoNum type="arabicPeriod" startAt="2"/>
              <a:tabLst>
                <a:tab pos="111188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feeding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lvl="1" marL="927100" marR="271145">
              <a:lnSpc>
                <a:spcPts val="1380"/>
              </a:lnSpc>
              <a:buFont typeface="Times New Roman"/>
              <a:buAutoNum type="arabicPeriod" startAt="2"/>
              <a:tabLst>
                <a:tab pos="108712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aren’t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giving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accepting</a:t>
            </a:r>
            <a:r>
              <a:rPr dirty="0" sz="1200" spc="-5">
                <a:latin typeface="Times New Roman"/>
                <a:cs typeface="Times New Roman"/>
              </a:rPr>
              <a:t> information.</a:t>
            </a:r>
            <a:endParaRPr sz="1200">
              <a:latin typeface="Times New Roman"/>
              <a:cs typeface="Times New Roman"/>
            </a:endParaRPr>
          </a:p>
          <a:p>
            <a:pPr lvl="1" marL="1079500" indent="-152400">
              <a:lnSpc>
                <a:spcPts val="1315"/>
              </a:lnSpc>
              <a:buFont typeface="Times New Roman"/>
              <a:buAutoNum type="arabicPeriod" startAt="2"/>
              <a:tabLst>
                <a:tab pos="10795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make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lvl="1" marL="927100" marR="271780">
              <a:lnSpc>
                <a:spcPts val="1380"/>
              </a:lnSpc>
              <a:spcBef>
                <a:spcPts val="65"/>
              </a:spcBef>
              <a:buFont typeface="Times New Roman"/>
              <a:buAutoNum type="arabicPeriod" startAt="2"/>
              <a:tabLst>
                <a:tab pos="108585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endlessly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unless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breakdown.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-5">
                <a:latin typeface="Times New Roman"/>
                <a:cs typeface="Times New Roman"/>
              </a:rPr>
              <a:t> changes.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028700" y="5519928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485900" y="5519928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028700" y="5866638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485900" y="5866638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028700" y="6238494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485900" y="6238494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028700" y="6611111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485900" y="6611111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028700" y="6957821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485900" y="6957821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028700" y="7253478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485900" y="7253478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028700" y="7684769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485900" y="7684769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79"/>
                </a:lnTo>
                <a:lnTo>
                  <a:pt x="228600" y="182879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028700" y="7942326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485900" y="7942326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028700" y="8211311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485900" y="8211311"/>
            <a:ext cx="228600" cy="182880"/>
          </a:xfrm>
          <a:custGeom>
            <a:avLst/>
            <a:gdLst/>
            <a:ahLst/>
            <a:cxnLst/>
            <a:rect l="l" t="t" r="r" b="b"/>
            <a:pathLst>
              <a:path w="228600" h="182879">
                <a:moveTo>
                  <a:pt x="228600" y="0"/>
                </a:moveTo>
                <a:lnTo>
                  <a:pt x="0" y="0"/>
                </a:lnTo>
                <a:lnTo>
                  <a:pt x="0" y="182880"/>
                </a:lnTo>
                <a:lnTo>
                  <a:pt x="228600" y="182880"/>
                </a:lnTo>
                <a:lnTo>
                  <a:pt x="228600" y="0"/>
                </a:lnTo>
                <a:close/>
              </a:path>
            </a:pathLst>
          </a:custGeom>
          <a:ln w="9525">
            <a:solidFill>
              <a:srgbClr val="39393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614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operations,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output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8.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another?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equal?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Content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are all </a:t>
            </a:r>
            <a:r>
              <a:rPr dirty="0" sz="1200" spc="-5">
                <a:latin typeface="Times New Roman"/>
                <a:cs typeface="Times New Roman"/>
              </a:rPr>
              <a:t>taken </a:t>
            </a:r>
            <a:r>
              <a:rPr dirty="0" sz="1200">
                <a:latin typeface="Times New Roman"/>
                <a:cs typeface="Times New Roman"/>
              </a:rPr>
              <a:t>from the </a:t>
            </a:r>
            <a:r>
              <a:rPr dirty="0" sz="1200" spc="-5">
                <a:latin typeface="Times New Roman"/>
                <a:cs typeface="Times New Roman"/>
              </a:rPr>
              <a:t>text you have just read. </a:t>
            </a:r>
            <a:r>
              <a:rPr dirty="0" sz="1200">
                <a:latin typeface="Times New Roman"/>
                <a:cs typeface="Times New Roman"/>
              </a:rPr>
              <a:t>Certain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 </a:t>
            </a:r>
            <a:r>
              <a:rPr dirty="0" sz="1200">
                <a:latin typeface="Times New Roman"/>
                <a:cs typeface="Times New Roman"/>
              </a:rPr>
              <a:t>in these </a:t>
            </a:r>
            <a:r>
              <a:rPr dirty="0" sz="1200" spc="-5">
                <a:latin typeface="Times New Roman"/>
                <a:cs typeface="Times New Roman"/>
              </a:rPr>
              <a:t>statements. Complete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-5">
                <a:latin typeface="Times New Roman"/>
                <a:cs typeface="Times New Roman"/>
              </a:rPr>
              <a:t>appropriate words from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bank given below. Make sure that you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 correct form i.e. singular or plural.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words</a:t>
            </a:r>
            <a:r>
              <a:rPr dirty="0" sz="1200">
                <a:latin typeface="Times New Roman"/>
                <a:cs typeface="Times New Roman"/>
              </a:rPr>
              <a:t> can be 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than </a:t>
            </a:r>
            <a:r>
              <a:rPr dirty="0" sz="1200" spc="-5">
                <a:latin typeface="Times New Roman"/>
                <a:cs typeface="Times New Roman"/>
              </a:rPr>
              <a:t>once.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3018535"/>
            <a:ext cx="14008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80440" algn="l"/>
              </a:tabLst>
            </a:pPr>
            <a:r>
              <a:rPr dirty="0" sz="1200" b="1">
                <a:latin typeface="Times New Roman"/>
                <a:cs typeface="Times New Roman"/>
              </a:rPr>
              <a:t>core	device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3193795"/>
            <a:ext cx="1489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34719" algn="l"/>
              </a:tabLst>
            </a:pPr>
            <a:r>
              <a:rPr dirty="0" sz="1200" b="1">
                <a:latin typeface="Times New Roman"/>
                <a:cs typeface="Times New Roman"/>
              </a:rPr>
              <a:t>programme	memory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99243" y="3018535"/>
            <a:ext cx="55816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233679">
              <a:lnSpc>
                <a:spcPts val="1380"/>
              </a:lnSpc>
              <a:spcBef>
                <a:spcPts val="195"/>
              </a:spcBef>
            </a:pPr>
            <a:r>
              <a:rPr dirty="0" sz="1200" spc="-10" b="1">
                <a:latin typeface="Times New Roman"/>
                <a:cs typeface="Times New Roman"/>
              </a:rPr>
              <a:t>d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b="1">
                <a:latin typeface="Times New Roman"/>
                <a:cs typeface="Times New Roman"/>
              </a:rPr>
              <a:t>ta  </a:t>
            </a:r>
            <a:r>
              <a:rPr dirty="0" sz="1200" spc="-5" b="1">
                <a:latin typeface="Times New Roman"/>
                <a:cs typeface="Times New Roman"/>
              </a:rPr>
              <a:t>medi</a:t>
            </a:r>
            <a:r>
              <a:rPr dirty="0" sz="1200" spc="-15" b="1">
                <a:latin typeface="Times New Roman"/>
                <a:cs typeface="Times New Roman"/>
              </a:rPr>
              <a:t>u</a:t>
            </a:r>
            <a:r>
              <a:rPr dirty="0" sz="1200" b="1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50947" y="3018535"/>
            <a:ext cx="279146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257175">
              <a:lnSpc>
                <a:spcPts val="1380"/>
              </a:lnSpc>
              <a:spcBef>
                <a:spcPts val="195"/>
              </a:spcBef>
              <a:tabLst>
                <a:tab pos="1170305" algn="l"/>
                <a:tab pos="2364105" algn="l"/>
              </a:tabLst>
            </a:pPr>
            <a:r>
              <a:rPr dirty="0" sz="1200" b="1">
                <a:latin typeface="Times New Roman"/>
                <a:cs typeface="Times New Roman"/>
              </a:rPr>
              <a:t>ci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c</a:t>
            </a:r>
            <a:r>
              <a:rPr dirty="0" sz="1200" spc="-10" b="1">
                <a:latin typeface="Times New Roman"/>
                <a:cs typeface="Times New Roman"/>
              </a:rPr>
              <a:t>u</a:t>
            </a:r>
            <a:r>
              <a:rPr dirty="0" sz="1200" b="1">
                <a:latin typeface="Times New Roman"/>
                <a:cs typeface="Times New Roman"/>
              </a:rPr>
              <a:t>it	</a:t>
            </a:r>
            <a:r>
              <a:rPr dirty="0" sz="1200" spc="-5" b="1">
                <a:latin typeface="Times New Roman"/>
                <a:cs typeface="Times New Roman"/>
              </a:rPr>
              <a:t>t</a:t>
            </a:r>
            <a:r>
              <a:rPr dirty="0" sz="1200" b="1">
                <a:latin typeface="Times New Roman"/>
                <a:cs typeface="Times New Roman"/>
              </a:rPr>
              <a:t>er</a:t>
            </a:r>
            <a:r>
              <a:rPr dirty="0" sz="1200" spc="-5" b="1">
                <a:latin typeface="Times New Roman"/>
                <a:cs typeface="Times New Roman"/>
              </a:rPr>
              <a:t>m</a:t>
            </a:r>
            <a:r>
              <a:rPr dirty="0" sz="1200" b="1">
                <a:latin typeface="Times New Roman"/>
                <a:cs typeface="Times New Roman"/>
              </a:rPr>
              <a:t>i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b="1">
                <a:latin typeface="Times New Roman"/>
                <a:cs typeface="Times New Roman"/>
              </a:rPr>
              <a:t>al	</a:t>
            </a:r>
            <a:r>
              <a:rPr dirty="0" sz="1200" spc="-10" b="1">
                <a:latin typeface="Times New Roman"/>
                <a:cs typeface="Times New Roman"/>
              </a:rPr>
              <a:t>s</a:t>
            </a:r>
            <a:r>
              <a:rPr dirty="0" sz="1200" spc="-15" b="1">
                <a:latin typeface="Times New Roman"/>
                <a:cs typeface="Times New Roman"/>
              </a:rPr>
              <a:t>w</a:t>
            </a:r>
            <a:r>
              <a:rPr dirty="0" sz="1200" spc="-5" b="1">
                <a:latin typeface="Times New Roman"/>
                <a:cs typeface="Times New Roman"/>
              </a:rPr>
              <a:t>itch  </a:t>
            </a:r>
            <a:r>
              <a:rPr dirty="0" sz="1200" spc="-5" b="1">
                <a:latin typeface="Times New Roman"/>
                <a:cs typeface="Times New Roman"/>
              </a:rPr>
              <a:t>CRT display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3542791"/>
            <a:ext cx="5627370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5904" indent="-24384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/>
              <a:tabLst>
                <a:tab pos="255904" algn="l"/>
                <a:tab pos="256540" algn="l"/>
                <a:tab pos="749935" algn="l"/>
                <a:tab pos="1454150" algn="l"/>
                <a:tab pos="1786889" algn="l"/>
                <a:tab pos="2365375" algn="l"/>
                <a:tab pos="2672715" algn="l"/>
                <a:tab pos="3486785" algn="l"/>
                <a:tab pos="4234180" algn="l"/>
                <a:tab pos="5037455" algn="l"/>
              </a:tabLst>
            </a:pPr>
            <a:r>
              <a:rPr dirty="0" sz="1200">
                <a:latin typeface="Times New Roman"/>
                <a:cs typeface="Times New Roman"/>
              </a:rPr>
              <a:t>Every	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puter	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	circuits	for	per</a:t>
            </a:r>
            <a:r>
              <a:rPr dirty="0" sz="1200" spc="-10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ing	arith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etic	operations,	operating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850900" algn="l"/>
                <a:tab pos="225171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magnetized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2"/>
              <a:tabLst>
                <a:tab pos="165100" algn="l"/>
                <a:tab pos="922655" algn="l"/>
                <a:tab pos="393446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with a screen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normally </a:t>
            </a:r>
            <a:r>
              <a:rPr dirty="0" sz="1200" spc="-5">
                <a:latin typeface="Times New Roman"/>
                <a:cs typeface="Times New Roman"/>
              </a:rPr>
              <a:t>referred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unit.</a:t>
            </a:r>
            <a:endParaRPr sz="1200">
              <a:latin typeface="Times New Roman"/>
              <a:cs typeface="Times New Roman"/>
            </a:endParaRPr>
          </a:p>
          <a:p>
            <a:pPr marL="199390" indent="-186690">
              <a:lnSpc>
                <a:spcPts val="1380"/>
              </a:lnSpc>
              <a:buFont typeface="Times New Roman"/>
              <a:buAutoNum type="arabicPeriod" startAt="2"/>
              <a:tabLst>
                <a:tab pos="199390" algn="l"/>
                <a:tab pos="1951989" algn="l"/>
                <a:tab pos="532066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5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ute</a:t>
            </a:r>
            <a:r>
              <a:rPr dirty="0" sz="1200">
                <a:latin typeface="Times New Roman"/>
                <a:cs typeface="Times New Roman"/>
              </a:rPr>
              <a:t>r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</a:t>
            </a:r>
            <a:r>
              <a:rPr dirty="0" sz="1200">
                <a:latin typeface="Times New Roman"/>
                <a:cs typeface="Times New Roman"/>
              </a:rPr>
              <a:t>t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processe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</a:t>
            </a:r>
            <a:r>
              <a:rPr dirty="0" sz="1200" spc="5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atio</a:t>
            </a:r>
            <a:r>
              <a:rPr dirty="0" sz="1200">
                <a:latin typeface="Times New Roman"/>
                <a:cs typeface="Times New Roman"/>
              </a:rPr>
              <a:t>n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n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</a:t>
            </a:r>
            <a:r>
              <a:rPr dirty="0" sz="1200">
                <a:latin typeface="Times New Roman"/>
                <a:cs typeface="Times New Roman"/>
              </a:rPr>
              <a:t>e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m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f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546100" algn="l"/>
                <a:tab pos="31623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 startAt="4"/>
              <a:tabLst>
                <a:tab pos="165100" algn="l"/>
                <a:tab pos="3868420" algn="l"/>
              </a:tabLst>
            </a:pPr>
            <a:r>
              <a:rPr dirty="0" sz="1200">
                <a:latin typeface="Times New Roman"/>
                <a:cs typeface="Times New Roman"/>
              </a:rPr>
              <a:t>Card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tape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drives are different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4000500" y="4951476"/>
            <a:ext cx="38100" cy="7620"/>
          </a:xfrm>
          <a:custGeom>
            <a:avLst/>
            <a:gdLst/>
            <a:ahLst/>
            <a:cxnLst/>
            <a:rect l="l" t="t" r="r" b="b"/>
            <a:pathLst>
              <a:path w="38100" h="7620">
                <a:moveTo>
                  <a:pt x="38100" y="0"/>
                </a:moveTo>
                <a:lnTo>
                  <a:pt x="0" y="0"/>
                </a:lnTo>
                <a:lnTo>
                  <a:pt x="0" y="7620"/>
                </a:lnTo>
                <a:lnTo>
                  <a:pt x="38100" y="7620"/>
                </a:lnTo>
                <a:lnTo>
                  <a:pt x="381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35356"/>
            <a:ext cx="5892800" cy="7872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Connectives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Link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Words:</a:t>
            </a:r>
            <a:r>
              <a:rPr dirty="0" u="heavy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 the last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were introduced to </a:t>
            </a:r>
            <a:r>
              <a:rPr dirty="0" sz="1200" spc="-5">
                <a:latin typeface="Times New Roman"/>
                <a:cs typeface="Times New Roman"/>
              </a:rPr>
              <a:t>two new terms: </a:t>
            </a:r>
            <a:r>
              <a:rPr dirty="0" sz="1200">
                <a:latin typeface="Times New Roman"/>
                <a:cs typeface="Times New Roman"/>
              </a:rPr>
              <a:t>References and Connectives.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and paragraphs are not words, just </a:t>
            </a:r>
            <a:r>
              <a:rPr dirty="0" sz="1200">
                <a:latin typeface="Times New Roman"/>
                <a:cs typeface="Times New Roman"/>
              </a:rPr>
              <a:t>put </a:t>
            </a:r>
            <a:r>
              <a:rPr dirty="0" sz="1200" spc="-5">
                <a:latin typeface="Times New Roman"/>
                <a:cs typeface="Times New Roman"/>
              </a:rPr>
              <a:t>together;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express ideas which are </a:t>
            </a:r>
            <a:r>
              <a:rPr dirty="0" sz="1200">
                <a:latin typeface="Times New Roman"/>
                <a:cs typeface="Times New Roman"/>
              </a:rPr>
              <a:t> connected to each </a:t>
            </a:r>
            <a:r>
              <a:rPr dirty="0" sz="1200" spc="-5">
                <a:latin typeface="Times New Roman"/>
                <a:cs typeface="Times New Roman"/>
              </a:rPr>
              <a:t>other. </a:t>
            </a: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lesson,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practice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recognize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phrases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references</a:t>
            </a:r>
            <a:r>
              <a:rPr dirty="0" sz="1200" spc="-5">
                <a:latin typeface="Times New Roman"/>
                <a:cs typeface="Times New Roman"/>
              </a:rPr>
              <a:t> and connectives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link </a:t>
            </a:r>
            <a:r>
              <a:rPr dirty="0" sz="1200" spc="-5">
                <a:latin typeface="Times New Roman"/>
                <a:cs typeface="Times New Roman"/>
              </a:rPr>
              <a:t>ideas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These words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text </a:t>
            </a:r>
            <a:r>
              <a:rPr dirty="0" sz="1200" spc="-5">
                <a:latin typeface="Times New Roman"/>
                <a:cs typeface="Times New Roman"/>
              </a:rPr>
              <a:t>smoother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read. </a:t>
            </a:r>
            <a:r>
              <a:rPr dirty="0" sz="1200">
                <a:latin typeface="Times New Roman"/>
                <a:cs typeface="Times New Roman"/>
              </a:rPr>
              <a:t>Your reading speed and </a:t>
            </a:r>
            <a:r>
              <a:rPr dirty="0" sz="1200" spc="-5">
                <a:latin typeface="Times New Roman"/>
                <a:cs typeface="Times New Roman"/>
              </a:rPr>
              <a:t>comprehension </a:t>
            </a:r>
            <a:r>
              <a:rPr dirty="0" sz="1200">
                <a:latin typeface="Times New Roman"/>
                <a:cs typeface="Times New Roman"/>
              </a:rPr>
              <a:t>will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considerably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links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sentences.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relative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demonstrative </a:t>
            </a:r>
            <a:r>
              <a:rPr dirty="0" sz="1200">
                <a:latin typeface="Times New Roman"/>
                <a:cs typeface="Times New Roman"/>
              </a:rPr>
              <a:t> pronouns, or adverbs. </a:t>
            </a: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>
                <a:latin typeface="Times New Roman"/>
                <a:cs typeface="Times New Roman"/>
              </a:rPr>
              <a:t>they are </a:t>
            </a:r>
            <a:r>
              <a:rPr dirty="0" sz="1200" spc="-5">
                <a:latin typeface="Times New Roman"/>
                <a:cs typeface="Times New Roman"/>
              </a:rPr>
              <a:t>substitutes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have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earlier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come</a:t>
            </a:r>
            <a:r>
              <a:rPr dirty="0" sz="1200">
                <a:latin typeface="Times New Roman"/>
                <a:cs typeface="Times New Roman"/>
              </a:rPr>
              <a:t> later.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first look at </a:t>
            </a:r>
            <a:r>
              <a:rPr dirty="0" sz="1200" spc="-5">
                <a:latin typeface="Times New Roman"/>
                <a:cs typeface="Times New Roman"/>
              </a:rPr>
              <a:t>references </a:t>
            </a:r>
            <a:r>
              <a:rPr dirty="0" sz="1200">
                <a:latin typeface="Times New Roman"/>
                <a:cs typeface="Times New Roman"/>
              </a:rPr>
              <a:t>within a </a:t>
            </a:r>
            <a:r>
              <a:rPr dirty="0" sz="1200" spc="-5">
                <a:latin typeface="Times New Roman"/>
                <a:cs typeface="Times New Roman"/>
              </a:rPr>
              <a:t>text. </a:t>
            </a:r>
            <a:r>
              <a:rPr dirty="0" sz="1200">
                <a:latin typeface="Times New Roman"/>
                <a:cs typeface="Times New Roman"/>
              </a:rPr>
              <a:t>Read the following </a:t>
            </a:r>
            <a:r>
              <a:rPr dirty="0" sz="1200" spc="-5">
                <a:latin typeface="Times New Roman"/>
                <a:cs typeface="Times New Roman"/>
              </a:rPr>
              <a:t>seven </a:t>
            </a:r>
            <a:r>
              <a:rPr dirty="0" sz="1200">
                <a:latin typeface="Times New Roman"/>
                <a:cs typeface="Times New Roman"/>
              </a:rPr>
              <a:t>sentences given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italicized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connectives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underlined.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Text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Mr. </a:t>
            </a:r>
            <a:r>
              <a:rPr dirty="0" sz="1200" b="1" i="1">
                <a:latin typeface="Times New Roman"/>
                <a:cs typeface="Times New Roman"/>
              </a:rPr>
              <a:t>Salman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bought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5">
                <a:latin typeface="Times New Roman"/>
                <a:cs typeface="Times New Roman"/>
              </a:rPr>
              <a:t> haven’t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yet.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Our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neighbor’s </a:t>
            </a:r>
            <a:r>
              <a:rPr dirty="0" sz="1200">
                <a:latin typeface="Times New Roman"/>
                <a:cs typeface="Times New Roman"/>
              </a:rPr>
              <a:t>old </a:t>
            </a:r>
            <a:r>
              <a:rPr dirty="0" sz="1200" spc="-5" i="1">
                <a:latin typeface="Times New Roman"/>
                <a:cs typeface="Times New Roman"/>
              </a:rPr>
              <a:t>car </a:t>
            </a:r>
            <a:r>
              <a:rPr dirty="0" sz="1200">
                <a:latin typeface="Times New Roman"/>
                <a:cs typeface="Times New Roman"/>
              </a:rPr>
              <a:t>didn’t work,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fine.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82245" algn="l"/>
              </a:tabLst>
            </a:pPr>
            <a:r>
              <a:rPr dirty="0" sz="1200">
                <a:latin typeface="Times New Roman"/>
                <a:cs typeface="Times New Roman"/>
              </a:rPr>
              <a:t>Everyone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chairman</a:t>
            </a:r>
            <a:r>
              <a:rPr dirty="0" sz="1200" spc="13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guilty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probably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resign.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should apologize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buFont typeface="Times New Roman"/>
              <a:buAutoNum type="arabicPeriod"/>
              <a:tabLst>
                <a:tab pos="201295" algn="l"/>
              </a:tabLst>
            </a:pPr>
            <a:r>
              <a:rPr dirty="0" sz="1200" spc="-5">
                <a:latin typeface="Times New Roman"/>
                <a:cs typeface="Times New Roman"/>
              </a:rPr>
              <a:t>Mrs.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Mahmood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the</a:t>
            </a:r>
            <a:r>
              <a:rPr dirty="0" sz="1200" spc="28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new</a:t>
            </a:r>
            <a:r>
              <a:rPr dirty="0" sz="1200" spc="28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curtains 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waste</a:t>
            </a:r>
            <a:r>
              <a:rPr dirty="0" sz="1200" spc="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money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Saima,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daughter-in-law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same.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Although the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Hostel</a:t>
            </a:r>
            <a:r>
              <a:rPr dirty="0" sz="1200">
                <a:latin typeface="Times New Roman"/>
                <a:cs typeface="Times New Roman"/>
              </a:rPr>
              <a:t> warden doesn’t seem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trust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the guard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everyone else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did.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Shama </a:t>
            </a:r>
            <a:r>
              <a:rPr dirty="0" sz="1200">
                <a:latin typeface="Times New Roman"/>
                <a:cs typeface="Times New Roman"/>
              </a:rPr>
              <a:t>liked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brown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sofa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husband,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Salman. </a:t>
            </a:r>
            <a:r>
              <a:rPr dirty="0" sz="1200">
                <a:latin typeface="Times New Roman"/>
                <a:cs typeface="Times New Roman"/>
              </a:rPr>
              <a:t>preferred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red.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 i="1">
                <a:latin typeface="Times New Roman"/>
                <a:cs typeface="Times New Roman"/>
              </a:rPr>
              <a:t>The</a:t>
            </a:r>
            <a:r>
              <a:rPr dirty="0" sz="1200" spc="-5" b="1" i="1">
                <a:latin typeface="Times New Roman"/>
                <a:cs typeface="Times New Roman"/>
              </a:rPr>
              <a:t> chair </a:t>
            </a:r>
            <a:r>
              <a:rPr dirty="0" sz="1200" spc="-5">
                <a:latin typeface="Times New Roman"/>
                <a:cs typeface="Times New Roman"/>
              </a:rPr>
              <a:t>was so</a:t>
            </a:r>
            <a:r>
              <a:rPr dirty="0" sz="1200">
                <a:latin typeface="Times New Roman"/>
                <a:cs typeface="Times New Roman"/>
              </a:rPr>
              <a:t> well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Ms.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Gull decided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two.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10" b="1">
                <a:latin typeface="Times New Roman"/>
                <a:cs typeface="Times New Roman"/>
              </a:rPr>
              <a:t>Connectives: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kind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link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conjunctions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kind of </a:t>
            </a:r>
            <a:r>
              <a:rPr dirty="0" sz="1200" spc="-5">
                <a:latin typeface="Times New Roman"/>
                <a:cs typeface="Times New Roman"/>
              </a:rPr>
              <a:t>relationship within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text. These words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phrases </a:t>
            </a:r>
            <a:r>
              <a:rPr dirty="0" sz="1200">
                <a:latin typeface="Times New Roman"/>
                <a:cs typeface="Times New Roman"/>
              </a:rPr>
              <a:t>are also known as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transitional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markers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 ideas together.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indicate: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Result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Contrast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Comparison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Illustration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Addition.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977376"/>
            <a:ext cx="27717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Link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words:</a:t>
            </a:r>
            <a:r>
              <a:rPr dirty="0" sz="1200" spc="3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References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Connectives: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1119970"/>
          <a:ext cx="4093845" cy="13944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5350"/>
                <a:gridCol w="1306195"/>
                <a:gridCol w="1036955"/>
                <a:gridCol w="855979"/>
              </a:tblGrid>
              <a:tr h="173736">
                <a:tc gridSpan="4">
                  <a:txBody>
                    <a:bodyPr/>
                    <a:lstStyle/>
                    <a:p>
                      <a:pPr marL="31750">
                        <a:lnSpc>
                          <a:spcPts val="127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Words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signal RESULT</a:t>
                      </a:r>
                      <a:r>
                        <a:rPr dirty="0" u="heavy" sz="1200" spc="-5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4889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therefore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7340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consequence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4889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800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accordingly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7277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consequently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52043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6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Words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signal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CONTRAST: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6980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but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contrast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conversely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908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however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instead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nevertheless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yet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still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although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despite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3" name="object 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4521709" y="2491231"/>
            <a:ext cx="635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spite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491231"/>
            <a:ext cx="3196590" cy="560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60600" algn="l"/>
              </a:tabLst>
            </a:pPr>
            <a:r>
              <a:rPr dirty="0" sz="1200">
                <a:latin typeface="Times New Roman"/>
                <a:cs typeface="Times New Roman"/>
              </a:rPr>
              <a:t>on the other hand	on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3.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COMPARISON: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96950" y="3046306"/>
          <a:ext cx="4017645" cy="871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0900"/>
                <a:gridCol w="1272539"/>
                <a:gridCol w="1388744"/>
                <a:gridCol w="506729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likewise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494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well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just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just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similarly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manner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7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equally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524059">
                <a:tc>
                  <a:txBody>
                    <a:bodyPr/>
                    <a:lstStyle/>
                    <a:p>
                      <a:pPr marL="3175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69850">
                        <a:lnSpc>
                          <a:spcPts val="1360"/>
                        </a:lnSpc>
                        <a:spcBef>
                          <a:spcPts val="5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Examples: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same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050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similar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fashion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016000" y="4068571"/>
            <a:ext cx="5626100" cy="108648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AutoNum type="arabicPlain"/>
              <a:tabLst>
                <a:tab pos="185420" algn="l"/>
              </a:tabLst>
            </a:pP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motor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skill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through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Similarly,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cooking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hands-on experience.</a:t>
            </a:r>
            <a:endParaRPr sz="1200">
              <a:latin typeface="Times New Roman"/>
              <a:cs typeface="Times New Roman"/>
            </a:endParaRPr>
          </a:p>
          <a:p>
            <a:pPr marL="12700" marR="408940">
              <a:lnSpc>
                <a:spcPts val="1380"/>
              </a:lnSpc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communicate,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 </a:t>
            </a:r>
            <a:r>
              <a:rPr dirty="0" sz="1200">
                <a:latin typeface="Times New Roman"/>
                <a:cs typeface="Times New Roman"/>
              </a:rPr>
              <a:t>fashion,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problems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ILLUSTRATION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996950" y="5149426"/>
          <a:ext cx="3610610" cy="1220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/>
                <a:gridCol w="560704"/>
                <a:gridCol w="1187450"/>
                <a:gridCol w="108458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example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2420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illustrate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instance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4508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such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including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352044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6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5.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Words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show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CAUSE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EFFECT: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6980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because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14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because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701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consequently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since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result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therefore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accordingly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result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ts val="125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14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if…then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1016000" y="6698995"/>
            <a:ext cx="25920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6.</a:t>
            </a:r>
            <a:r>
              <a:rPr dirty="0" sz="1200" spc="-5" b="1">
                <a:latin typeface="Times New Roman"/>
                <a:cs typeface="Times New Roman"/>
              </a:rPr>
              <a:t> Words</a:t>
            </a:r>
            <a:r>
              <a:rPr dirty="0" sz="1200" b="1">
                <a:latin typeface="Times New Roman"/>
                <a:cs typeface="Times New Roman"/>
              </a:rPr>
              <a:t> that</a:t>
            </a:r>
            <a:r>
              <a:rPr dirty="0" sz="1200" spc="-5" b="1">
                <a:latin typeface="Times New Roman"/>
                <a:cs typeface="Times New Roman"/>
              </a:rPr>
              <a:t> show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 SERIES</a:t>
            </a:r>
            <a:r>
              <a:rPr dirty="0" sz="1200" b="1">
                <a:latin typeface="Times New Roman"/>
                <a:cs typeface="Times New Roman"/>
              </a:rPr>
              <a:t> /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TIME: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996950" y="6902025"/>
          <a:ext cx="3568065" cy="1395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1405"/>
                <a:gridCol w="1299845"/>
                <a:gridCol w="1186179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one,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first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next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306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two,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second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three,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third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after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30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until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previously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lastly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afterward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37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finally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often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306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immediately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while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during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306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frequently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1016000" y="8802116"/>
            <a:ext cx="7124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389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  <a:buFont typeface="Times New Roman"/>
              <a:buAutoNum type="arabicPeriod"/>
              <a:tabLst>
                <a:tab pos="173355" algn="l"/>
              </a:tabLst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newspaper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films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circle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>
                <a:latin typeface="Times New Roman"/>
                <a:cs typeface="Times New Roman"/>
              </a:rPr>
              <a:t>VCR.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4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Previously,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countries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along.</a:t>
            </a:r>
            <a:r>
              <a:rPr dirty="0" sz="1200" spc="-5">
                <a:latin typeface="Times New Roman"/>
                <a:cs typeface="Times New Roman"/>
              </a:rPr>
              <a:t> Now,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resumed diplomatic </a:t>
            </a:r>
            <a:r>
              <a:rPr dirty="0" sz="1200">
                <a:latin typeface="Times New Roman"/>
                <a:cs typeface="Times New Roman"/>
              </a:rPr>
              <a:t>relations.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7.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that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show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ADDITION: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1994746"/>
          <a:ext cx="4271645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4055"/>
                <a:gridCol w="977264"/>
                <a:gridCol w="930275"/>
                <a:gridCol w="167005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90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also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and…too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ts val="125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besides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furthermore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addition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first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89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also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second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secondly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third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90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thirdly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another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1255"/>
                        </a:lnSpc>
                        <a:tabLst>
                          <a:tab pos="124015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next	finally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2841752"/>
            <a:ext cx="5628005" cy="283908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71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You will now </a:t>
            </a:r>
            <a:r>
              <a:rPr dirty="0" sz="1200">
                <a:latin typeface="Times New Roman"/>
                <a:cs typeface="Times New Roman"/>
              </a:rPr>
              <a:t>look at </a:t>
            </a:r>
            <a:r>
              <a:rPr dirty="0" sz="1200" spc="-5">
                <a:latin typeface="Times New Roman"/>
                <a:cs typeface="Times New Roman"/>
              </a:rPr>
              <a:t>two sample paragraphs.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first paragraph </a:t>
            </a:r>
            <a:r>
              <a:rPr dirty="0" sz="1200">
                <a:latin typeface="Times New Roman"/>
                <a:cs typeface="Times New Roman"/>
              </a:rPr>
              <a:t>the references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highlighted and the connectives are underlined. The </a:t>
            </a:r>
            <a:r>
              <a:rPr dirty="0" sz="1200" spc="-5">
                <a:latin typeface="Times New Roman"/>
                <a:cs typeface="Times New Roman"/>
              </a:rPr>
              <a:t>arrows </a:t>
            </a:r>
            <a:r>
              <a:rPr dirty="0" sz="1200">
                <a:latin typeface="Times New Roman"/>
                <a:cs typeface="Times New Roman"/>
              </a:rPr>
              <a:t>connect the references 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relate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people,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 course</a:t>
            </a:r>
            <a:r>
              <a:rPr dirty="0" sz="1200">
                <a:latin typeface="Times New Roman"/>
                <a:cs typeface="Times New Roman"/>
              </a:rPr>
              <a:t>, still </a:t>
            </a:r>
            <a:r>
              <a:rPr dirty="0" sz="1200" spc="-5">
                <a:latin typeface="Times New Roman"/>
                <a:cs typeface="Times New Roman"/>
              </a:rPr>
              <a:t>believe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Shakespeare </a:t>
            </a:r>
            <a:r>
              <a:rPr dirty="0" sz="1200">
                <a:latin typeface="Times New Roman"/>
                <a:cs typeface="Times New Roman"/>
              </a:rPr>
              <a:t>could not have written the plays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attributed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u="sng" sz="1200" spc="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they</a:t>
            </a:r>
            <a:r>
              <a:rPr dirty="0" sz="1200" spc="7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difficulty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explaining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contemporaries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b="1">
                <a:latin typeface="Times New Roman"/>
                <a:cs typeface="Times New Roman"/>
              </a:rPr>
              <a:t>Shakespeare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who knew and worked with </a:t>
            </a:r>
            <a:r>
              <a:rPr dirty="0" sz="1200" b="1">
                <a:latin typeface="Times New Roman"/>
                <a:cs typeface="Times New Roman"/>
              </a:rPr>
              <a:t>him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considered </a:t>
            </a:r>
            <a:r>
              <a:rPr dirty="0" sz="1200" spc="-5" b="1">
                <a:latin typeface="Times New Roman"/>
                <a:cs typeface="Times New Roman"/>
              </a:rPr>
              <a:t>him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as the actual </a:t>
            </a:r>
            <a:r>
              <a:rPr dirty="0" sz="1200">
                <a:latin typeface="Times New Roman"/>
                <a:cs typeface="Times New Roman"/>
              </a:rPr>
              <a:t> author, and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second</a:t>
            </a:r>
            <a:r>
              <a:rPr dirty="0" sz="1200">
                <a:latin typeface="Times New Roman"/>
                <a:cs typeface="Times New Roman"/>
              </a:rPr>
              <a:t>, a very fine </a:t>
            </a:r>
            <a:r>
              <a:rPr dirty="0" sz="1200" spc="-5">
                <a:latin typeface="Times New Roman"/>
                <a:cs typeface="Times New Roman"/>
              </a:rPr>
              <a:t>author indeed. Ben Johnso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n, for example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never doubted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authenticity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William</a:t>
            </a:r>
            <a:r>
              <a:rPr dirty="0" sz="1200">
                <a:latin typeface="Times New Roman"/>
                <a:cs typeface="Times New Roman"/>
              </a:rPr>
              <a:t> Green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referred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Shakespeare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fine </a:t>
            </a:r>
            <a:r>
              <a:rPr dirty="0" sz="1200">
                <a:latin typeface="Times New Roman"/>
                <a:cs typeface="Times New Roman"/>
              </a:rPr>
              <a:t> playwright. </a:t>
            </a:r>
            <a:r>
              <a:rPr dirty="0" sz="1200" spc="-5" b="1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are only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many contemporary references </a:t>
            </a:r>
            <a:r>
              <a:rPr dirty="0" sz="1200">
                <a:latin typeface="Times New Roman"/>
                <a:cs typeface="Times New Roman"/>
              </a:rPr>
              <a:t>that leave little </a:t>
            </a:r>
            <a:r>
              <a:rPr dirty="0" sz="1200" spc="-5">
                <a:latin typeface="Times New Roman"/>
                <a:cs typeface="Times New Roman"/>
              </a:rPr>
              <a:t>doubt 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Shakespeare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wrote</a:t>
            </a:r>
            <a:r>
              <a:rPr dirty="0" sz="1200">
                <a:latin typeface="Times New Roman"/>
                <a:cs typeface="Times New Roman"/>
              </a:rPr>
              <a:t> the plays of</a:t>
            </a:r>
            <a:r>
              <a:rPr dirty="0" sz="1200" spc="-5">
                <a:latin typeface="Times New Roman"/>
                <a:cs typeface="Times New Roman"/>
              </a:rPr>
              <a:t> William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Shakespeare.</a:t>
            </a:r>
            <a:endParaRPr sz="1200">
              <a:latin typeface="Times New Roman"/>
              <a:cs typeface="Times New Roman"/>
            </a:endParaRPr>
          </a:p>
          <a:p>
            <a:pPr algn="just" marL="44704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(Yorkey: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133)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5"/>
              </a:lnSpc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–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References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821171"/>
            <a:ext cx="50482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7800" indent="-165735">
              <a:lnSpc>
                <a:spcPts val="1410"/>
              </a:lnSpc>
              <a:spcBef>
                <a:spcPts val="100"/>
              </a:spcBef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him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who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him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him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60727" y="5821171"/>
            <a:ext cx="1833245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7465" marR="795655" indent="-2540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Shakespeare (1) </a:t>
            </a:r>
            <a:r>
              <a:rPr dirty="0" sz="1200">
                <a:latin typeface="Times New Roman"/>
                <a:cs typeface="Times New Roman"/>
              </a:rPr>
              <a:t> few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contemporaries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Shakespeare (2)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Shakespeare (2)</a:t>
            </a:r>
            <a:endParaRPr sz="1200">
              <a:latin typeface="Times New Roman"/>
              <a:cs typeface="Times New Roman"/>
            </a:endParaRPr>
          </a:p>
          <a:p>
            <a:pPr marL="51435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Johnson,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William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7049516"/>
            <a:ext cx="883919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Connectives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course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but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Font typeface="Times New Roman"/>
              <a:buAutoNum type="arabicPlain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second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70"/>
              </a:spcBef>
              <a:buFont typeface="Times New Roman"/>
              <a:buAutoNum type="arabicPlain"/>
              <a:tabLst>
                <a:tab pos="140335" algn="l"/>
              </a:tabLst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563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like any other </a:t>
            </a:r>
            <a:r>
              <a:rPr dirty="0" sz="1200" spc="-5">
                <a:latin typeface="Times New Roman"/>
                <a:cs typeface="Times New Roman"/>
              </a:rPr>
              <a:t>machine is </a:t>
            </a:r>
            <a:r>
              <a:rPr dirty="0" sz="1200">
                <a:latin typeface="Times New Roman"/>
                <a:cs typeface="Times New Roman"/>
              </a:rPr>
              <a:t>used because it does certain </a:t>
            </a:r>
            <a:r>
              <a:rPr dirty="0" sz="1200" spc="-5">
                <a:latin typeface="Times New Roman"/>
                <a:cs typeface="Times New Roman"/>
              </a:rPr>
              <a:t>jobs </a:t>
            </a:r>
            <a:r>
              <a:rPr dirty="0" sz="1200">
                <a:latin typeface="Times New Roman"/>
                <a:cs typeface="Times New Roman"/>
              </a:rPr>
              <a:t>better and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efficiently than </a:t>
            </a:r>
            <a:r>
              <a:rPr dirty="0" sz="1200" spc="-5">
                <a:latin typeface="Times New Roman"/>
                <a:cs typeface="Times New Roman"/>
              </a:rPr>
              <a:t>humans. </a:t>
            </a:r>
            <a:r>
              <a:rPr dirty="0" sz="1200">
                <a:latin typeface="Times New Roman"/>
                <a:cs typeface="Times New Roman"/>
              </a:rPr>
              <a:t>It can receive </a:t>
            </a:r>
            <a:r>
              <a:rPr dirty="0" sz="1200" spc="-5">
                <a:latin typeface="Times New Roman"/>
                <a:cs typeface="Times New Roman"/>
              </a:rPr>
              <a:t>more information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it faster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any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human. </a:t>
            </a:r>
            <a:r>
              <a:rPr dirty="0" sz="1200">
                <a:latin typeface="Times New Roman"/>
                <a:cs typeface="Times New Roman"/>
              </a:rPr>
              <a:t>The speed at which a </a:t>
            </a:r>
            <a:r>
              <a:rPr dirty="0" sz="1200" spc="-5">
                <a:latin typeface="Times New Roman"/>
                <a:cs typeface="Times New Roman"/>
              </a:rPr>
              <a:t>computer works can </a:t>
            </a:r>
            <a:r>
              <a:rPr dirty="0" sz="1200">
                <a:latin typeface="Times New Roman"/>
                <a:cs typeface="Times New Roman"/>
              </a:rPr>
              <a:t>replace </a:t>
            </a:r>
            <a:r>
              <a:rPr dirty="0" sz="1200" spc="-5">
                <a:latin typeface="Times New Roman"/>
                <a:cs typeface="Times New Roman"/>
              </a:rPr>
              <a:t>weeks </a:t>
            </a:r>
            <a:r>
              <a:rPr dirty="0" sz="1200">
                <a:latin typeface="Times New Roman"/>
                <a:cs typeface="Times New Roman"/>
              </a:rPr>
              <a:t>or even months of pencil 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- paper work. Therefore,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>
                <a:latin typeface="Times New Roman"/>
                <a:cs typeface="Times New Roman"/>
              </a:rPr>
              <a:t>when the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saved </a:t>
            </a:r>
            <a:r>
              <a:rPr dirty="0" sz="1200" spc="-5">
                <a:latin typeface="Times New Roman"/>
                <a:cs typeface="Times New Roman"/>
              </a:rPr>
              <a:t>offsets </a:t>
            </a:r>
            <a:r>
              <a:rPr dirty="0" sz="1200">
                <a:latin typeface="Times New Roman"/>
                <a:cs typeface="Times New Roman"/>
              </a:rPr>
              <a:t>their cost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reasons </a:t>
            </a:r>
            <a:r>
              <a:rPr dirty="0" sz="1200">
                <a:latin typeface="Times New Roman"/>
                <a:cs typeface="Times New Roman"/>
              </a:rPr>
              <a:t>they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much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business, </a:t>
            </a:r>
            <a:r>
              <a:rPr dirty="0" sz="1200">
                <a:latin typeface="Times New Roman"/>
                <a:cs typeface="Times New Roman"/>
              </a:rPr>
              <a:t>industry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research.</a:t>
            </a:r>
            <a:endParaRPr sz="1200">
              <a:latin typeface="Times New Roman"/>
              <a:cs typeface="Times New Roman"/>
            </a:endParaRPr>
          </a:p>
          <a:p>
            <a:pPr algn="just" marL="1459865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Mullen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P. </a:t>
            </a:r>
            <a:r>
              <a:rPr dirty="0" sz="1200">
                <a:latin typeface="Times New Roman"/>
                <a:cs typeface="Times New Roman"/>
              </a:rPr>
              <a:t>Brown: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-22)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2140711"/>
            <a:ext cx="833119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their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which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89439" y="2315971"/>
            <a:ext cx="2442210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  <a:p>
            <a:pPr marL="50165" marR="5080" indent="-304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like any other </a:t>
            </a:r>
            <a:r>
              <a:rPr dirty="0" sz="1200" spc="-5">
                <a:latin typeface="Times New Roman"/>
                <a:cs typeface="Times New Roman"/>
              </a:rPr>
              <a:t>machine, is </a:t>
            </a:r>
            <a:r>
              <a:rPr dirty="0" sz="1200">
                <a:latin typeface="Times New Roman"/>
                <a:cs typeface="Times New Roman"/>
              </a:rPr>
              <a:t>used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marL="5461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 marL="75565" marR="436880" indent="-44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saved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offsets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7900" y="3544315"/>
            <a:ext cx="5666105" cy="3887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08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508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 the following paragraphs </a:t>
            </a:r>
            <a:r>
              <a:rPr dirty="0" sz="1200" spc="-5">
                <a:latin typeface="Times New Roman"/>
                <a:cs typeface="Times New Roman"/>
              </a:rPr>
              <a:t>some words are highlighted. Draw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box </a:t>
            </a:r>
            <a:r>
              <a:rPr dirty="0" sz="1200">
                <a:latin typeface="Times New Roman"/>
                <a:cs typeface="Times New Roman"/>
              </a:rPr>
              <a:t>around the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bold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refer to. Then join the circle and the box with </a:t>
            </a:r>
            <a:r>
              <a:rPr dirty="0" sz="1200" spc="-5">
                <a:latin typeface="Times New Roman"/>
                <a:cs typeface="Times New Roman"/>
              </a:rPr>
              <a:t>arrows. Also, </a:t>
            </a:r>
            <a:r>
              <a:rPr dirty="0" sz="1200">
                <a:latin typeface="Times New Roman"/>
                <a:cs typeface="Times New Roman"/>
              </a:rPr>
              <a:t>underline any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transitional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algn="just" marL="508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electronic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information.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capable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communicating with the user, of </a:t>
            </a:r>
            <a:r>
              <a:rPr dirty="0" sz="1200" spc="-5">
                <a:latin typeface="Times New Roman"/>
                <a:cs typeface="Times New Roman"/>
              </a:rPr>
              <a:t>doing different kinds of arithmetic </a:t>
            </a:r>
            <a:r>
              <a:rPr dirty="0" sz="1200">
                <a:latin typeface="Times New Roman"/>
                <a:cs typeface="Times New Roman"/>
              </a:rPr>
              <a:t>operations and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three kinds of decisions. However, </a:t>
            </a:r>
            <a:r>
              <a:rPr dirty="0" sz="1200" b="1">
                <a:latin typeface="Times New Roman"/>
                <a:cs typeface="Times New Roman"/>
              </a:rPr>
              <a:t>they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incapable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thinking.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accept </a:t>
            </a:r>
            <a:r>
              <a:rPr dirty="0" sz="1200">
                <a:latin typeface="Times New Roman"/>
                <a:cs typeface="Times New Roman"/>
              </a:rPr>
              <a:t>data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input, and 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5" b="1">
                <a:latin typeface="Times New Roman"/>
                <a:cs typeface="Times New Roman"/>
              </a:rPr>
              <a:t> they </a:t>
            </a:r>
            <a:r>
              <a:rPr dirty="0" sz="1200">
                <a:latin typeface="Times New Roman"/>
                <a:cs typeface="Times New Roman"/>
              </a:rPr>
              <a:t>output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 indent="387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talking about computers, both hardware and software need to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considered.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former </a:t>
            </a:r>
            <a:r>
              <a:rPr dirty="0" sz="1200">
                <a:latin typeface="Times New Roman"/>
                <a:cs typeface="Times New Roman"/>
              </a:rPr>
              <a:t>refers to the </a:t>
            </a:r>
            <a:r>
              <a:rPr dirty="0" sz="1200" spc="-5">
                <a:latin typeface="Times New Roman"/>
                <a:cs typeface="Times New Roman"/>
              </a:rPr>
              <a:t>actual machinery, </a:t>
            </a:r>
            <a:r>
              <a:rPr dirty="0" sz="1200">
                <a:latin typeface="Times New Roman"/>
                <a:cs typeface="Times New Roman"/>
              </a:rPr>
              <a:t>whereas </a:t>
            </a:r>
            <a:r>
              <a:rPr dirty="0" sz="1200" spc="-5">
                <a:latin typeface="Times New Roman"/>
                <a:cs typeface="Times New Roman"/>
              </a:rPr>
              <a:t>the later refers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programs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control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coordinate the activities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ware while processing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data.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1930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technology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evolved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 deal. There are </a:t>
            </a:r>
            <a:r>
              <a:rPr dirty="0" sz="1200" spc="-5">
                <a:latin typeface="Times New Roman"/>
                <a:cs typeface="Times New Roman"/>
              </a:rPr>
              <a:t>three different kinds of computers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use today: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mainframe,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microcomputer. </a:t>
            </a:r>
            <a:r>
              <a:rPr dirty="0" sz="1200" spc="-5" b="1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all have one thing in common: they </a:t>
            </a:r>
            <a:r>
              <a:rPr dirty="0" sz="1200" spc="-5">
                <a:latin typeface="Times New Roman"/>
                <a:cs typeface="Times New Roman"/>
              </a:rPr>
              <a:t>operate </a:t>
            </a:r>
            <a:r>
              <a:rPr dirty="0" sz="1200">
                <a:latin typeface="Times New Roman"/>
                <a:cs typeface="Times New Roman"/>
              </a:rPr>
              <a:t> quickly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accurately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solving </a:t>
            </a:r>
            <a:r>
              <a:rPr dirty="0" sz="1200" spc="-5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 algn="just" marL="17653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(N. </a:t>
            </a:r>
            <a:r>
              <a:rPr dirty="0" sz="1200">
                <a:latin typeface="Times New Roman"/>
                <a:cs typeface="Times New Roman"/>
              </a:rPr>
              <a:t>Mullen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P. </a:t>
            </a:r>
            <a:r>
              <a:rPr dirty="0" sz="1200">
                <a:latin typeface="Times New Roman"/>
                <a:cs typeface="Times New Roman"/>
              </a:rPr>
              <a:t>Brown: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7575295"/>
            <a:ext cx="887730" cy="160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1-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75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former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which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Font typeface="Times New Roman"/>
              <a:buAutoNum type="arabicPlain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13524" y="7749032"/>
            <a:ext cx="3614420" cy="14351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3020" marR="2934970" indent="889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machines </a:t>
            </a:r>
            <a:r>
              <a:rPr dirty="0" sz="1200">
                <a:latin typeface="Times New Roman"/>
                <a:cs typeface="Times New Roman"/>
              </a:rPr>
              <a:t> 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puters  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puters  input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puters  hardware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mainframes,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697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  <a:tabLst>
                <a:tab pos="934719" algn="l"/>
              </a:tabLst>
            </a:pPr>
            <a:r>
              <a:rPr dirty="0" sz="1200" b="1">
                <a:latin typeface="Times New Roman"/>
                <a:cs typeface="Times New Roman"/>
              </a:rPr>
              <a:t>9- </a:t>
            </a:r>
            <a:r>
              <a:rPr dirty="0" sz="1200">
                <a:latin typeface="Times New Roman"/>
                <a:cs typeface="Times New Roman"/>
              </a:rPr>
              <a:t>they	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Fill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gaps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connectives</a:t>
            </a:r>
            <a:r>
              <a:rPr dirty="0" sz="1200" b="1">
                <a:latin typeface="Times New Roman"/>
                <a:cs typeface="Times New Roman"/>
              </a:rPr>
              <a:t> from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bank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50165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,however,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241300" marR="269240">
              <a:lnSpc>
                <a:spcPts val="1380"/>
              </a:lnSpc>
              <a:tabLst>
                <a:tab pos="1398270" algn="l"/>
                <a:tab pos="1689735" algn="l"/>
                <a:tab pos="2004060" algn="l"/>
                <a:tab pos="2204720" algn="l"/>
                <a:tab pos="2462530" algn="l"/>
                <a:tab pos="2554605" algn="l"/>
                <a:tab pos="2830830" algn="l"/>
                <a:tab pos="4050029" algn="l"/>
                <a:tab pos="4248150" algn="l"/>
                <a:tab pos="4709160" algn="l"/>
              </a:tabLst>
            </a:pPr>
            <a:r>
              <a:rPr dirty="0" sz="1200" spc="-5">
                <a:latin typeface="Times New Roman"/>
                <a:cs typeface="Times New Roman"/>
              </a:rPr>
              <a:t>Floppies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cheap,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	</a:t>
            </a:r>
            <a:r>
              <a:rPr dirty="0" sz="1200">
                <a:latin typeface="Times New Roman"/>
                <a:cs typeface="Times New Roman"/>
              </a:rPr>
              <a:t>;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slow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large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amounts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transfer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removable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disks,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expensive.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CD-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ROM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amounts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cannot </a:t>
            </a:r>
            <a:r>
              <a:rPr dirty="0" sz="1200" spc="-5">
                <a:latin typeface="Times New Roman"/>
                <a:cs typeface="Times New Roman"/>
              </a:rPr>
              <a:t>change </a:t>
            </a:r>
            <a:r>
              <a:rPr dirty="0" sz="1200">
                <a:latin typeface="Times New Roman"/>
                <a:cs typeface="Times New Roman"/>
              </a:rPr>
              <a:t>the information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them. Magneto-optical disks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CD-ROMs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 data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them.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removable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capacities,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	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expensive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conform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they are not very </a:t>
            </a:r>
            <a:r>
              <a:rPr dirty="0" sz="1200" spc="-5">
                <a:latin typeface="Times New Roman"/>
                <a:cs typeface="Times New Roman"/>
              </a:rPr>
              <a:t>common. Magnetic </a:t>
            </a:r>
            <a:r>
              <a:rPr dirty="0" sz="1200">
                <a:latin typeface="Times New Roman"/>
                <a:cs typeface="Times New Roman"/>
              </a:rPr>
              <a:t>tape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cheap and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 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allow 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 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drives 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slow.</a:t>
            </a:r>
            <a:endParaRPr sz="1200">
              <a:latin typeface="Times New Roman"/>
              <a:cs typeface="Times New Roman"/>
            </a:endParaRPr>
          </a:p>
          <a:p>
            <a:pPr algn="just" marL="241300">
              <a:lnSpc>
                <a:spcPts val="1345"/>
              </a:lnSpc>
              <a:tabLst>
                <a:tab pos="10788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backups.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0033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(Glendenning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McEwan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36)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What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communicating with the user, of </a:t>
            </a:r>
            <a:r>
              <a:rPr dirty="0" sz="1200" spc="-5">
                <a:latin typeface="Times New Roman"/>
                <a:cs typeface="Times New Roman"/>
              </a:rPr>
              <a:t>doing different kinds of arithmetic </a:t>
            </a:r>
            <a:r>
              <a:rPr dirty="0" sz="1200">
                <a:latin typeface="Times New Roman"/>
                <a:cs typeface="Times New Roman"/>
              </a:rPr>
              <a:t>operations and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three kinds of decisions. However, they are </a:t>
            </a:r>
            <a:r>
              <a:rPr dirty="0" sz="1200" spc="-5">
                <a:latin typeface="Times New Roman"/>
                <a:cs typeface="Times New Roman"/>
              </a:rPr>
              <a:t>incapable </a:t>
            </a:r>
            <a:r>
              <a:rPr dirty="0" sz="1200">
                <a:latin typeface="Times New Roman"/>
                <a:cs typeface="Times New Roman"/>
              </a:rPr>
              <a:t>of thinking. They accept data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input,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output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 talking about computers, both hardware and software need to be considered.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former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actual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machinery,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whereas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latter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coordinate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activities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hardware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1930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evolved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 </a:t>
            </a:r>
            <a:r>
              <a:rPr dirty="0" sz="1200" spc="-5">
                <a:latin typeface="Times New Roman"/>
                <a:cs typeface="Times New Roman"/>
              </a:rPr>
              <a:t>deal.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three </a:t>
            </a:r>
            <a:r>
              <a:rPr dirty="0" sz="1200">
                <a:latin typeface="Times New Roman"/>
                <a:cs typeface="Times New Roman"/>
              </a:rPr>
              <a:t>different kinds of computers in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today: the </a:t>
            </a:r>
            <a:r>
              <a:rPr dirty="0" sz="1200" spc="-5">
                <a:latin typeface="Times New Roman"/>
                <a:cs typeface="Times New Roman"/>
              </a:rPr>
              <a:t>mainframe,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microcomputer.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all have one thing in common: they operate </a:t>
            </a:r>
            <a:r>
              <a:rPr dirty="0" sz="1200">
                <a:latin typeface="Times New Roman"/>
                <a:cs typeface="Times New Roman"/>
              </a:rPr>
              <a:t> quickly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accurately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</a:t>
            </a:r>
            <a:r>
              <a:rPr dirty="0" sz="1200" spc="-5">
                <a:latin typeface="Times New Roman"/>
                <a:cs typeface="Times New Roman"/>
              </a:rPr>
              <a:t> problems.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Recap: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Recognizing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connectives/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improves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398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4935220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-06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Skills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follow </a:t>
            </a:r>
            <a:r>
              <a:rPr dirty="0" sz="1200">
                <a:latin typeface="Times New Roman"/>
                <a:cs typeface="Times New Roman"/>
              </a:rPr>
              <a:t>the pattern </a:t>
            </a:r>
            <a:r>
              <a:rPr dirty="0" sz="1200" spc="-5">
                <a:latin typeface="Times New Roman"/>
                <a:cs typeface="Times New Roman"/>
              </a:rPr>
              <a:t>established by us </a:t>
            </a:r>
            <a:r>
              <a:rPr dirty="0" sz="1200">
                <a:latin typeface="Times New Roman"/>
                <a:cs typeface="Times New Roman"/>
              </a:rPr>
              <a:t>in the earlier </a:t>
            </a:r>
            <a:r>
              <a:rPr dirty="0" sz="1200" spc="-5">
                <a:latin typeface="Times New Roman"/>
                <a:cs typeface="Times New Roman"/>
              </a:rPr>
              <a:t>lessons.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read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-5">
                <a:latin typeface="Times New Roman"/>
                <a:cs typeface="Times New Roman"/>
              </a:rPr>
              <a:t> us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comprehension, and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we will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 you read the following text, you </a:t>
            </a:r>
            <a:r>
              <a:rPr dirty="0" sz="1200" spc="-5">
                <a:latin typeface="Times New Roman"/>
                <a:cs typeface="Times New Roman"/>
              </a:rPr>
              <a:t>will probably meet words </a:t>
            </a:r>
            <a:r>
              <a:rPr dirty="0" sz="1200">
                <a:latin typeface="Times New Roman"/>
                <a:cs typeface="Times New Roman"/>
              </a:rPr>
              <a:t>and expression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context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few times. When </a:t>
            </a:r>
            <a:r>
              <a:rPr dirty="0" sz="1200">
                <a:latin typeface="Times New Roman"/>
                <a:cs typeface="Times New Roman"/>
              </a:rPr>
              <a:t>you have read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whole text, check </a:t>
            </a:r>
            <a:r>
              <a:rPr dirty="0" sz="1200" spc="-5">
                <a:latin typeface="Times New Roman"/>
                <a:cs typeface="Times New Roman"/>
              </a:rPr>
              <a:t>new words </a:t>
            </a:r>
            <a:r>
              <a:rPr dirty="0" sz="1200">
                <a:latin typeface="Times New Roman"/>
                <a:cs typeface="Times New Roman"/>
              </a:rPr>
              <a:t>in a dictionary. Those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bold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typeface are explained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Glossary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History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Font typeface="Times New Roman"/>
              <a:buAutoNum type="arabicPeriod"/>
              <a:tabLst>
                <a:tab pos="171450" algn="l"/>
              </a:tabLst>
            </a:pPr>
            <a:r>
              <a:rPr dirty="0" sz="1200">
                <a:latin typeface="Times New Roman"/>
                <a:cs typeface="Times New Roman"/>
              </a:rPr>
              <a:t>Let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take a look at the history of the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>
                <a:latin typeface="Times New Roman"/>
                <a:cs typeface="Times New Roman"/>
              </a:rPr>
              <a:t>The very first calculating device used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the ten fingers of a </a:t>
            </a:r>
            <a:r>
              <a:rPr dirty="0" sz="1200" spc="-5">
                <a:latin typeface="Times New Roman"/>
                <a:cs typeface="Times New Roman"/>
              </a:rPr>
              <a:t>man’s </a:t>
            </a:r>
            <a:r>
              <a:rPr dirty="0" sz="1200">
                <a:latin typeface="Times New Roman"/>
                <a:cs typeface="Times New Roman"/>
              </a:rPr>
              <a:t>hands. This, in </a:t>
            </a:r>
            <a:r>
              <a:rPr dirty="0" sz="1200" spc="-5">
                <a:latin typeface="Times New Roman"/>
                <a:cs typeface="Times New Roman"/>
              </a:rPr>
              <a:t>fact, is </a:t>
            </a:r>
            <a:r>
              <a:rPr dirty="0" sz="1200">
                <a:latin typeface="Times New Roman"/>
                <a:cs typeface="Times New Roman"/>
              </a:rPr>
              <a:t>why today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still count in the tens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multiples </a:t>
            </a:r>
            <a:r>
              <a:rPr dirty="0" sz="1200">
                <a:latin typeface="Times New Roman"/>
                <a:cs typeface="Times New Roman"/>
              </a:rPr>
              <a:t>of tens. Then the </a:t>
            </a:r>
            <a:r>
              <a:rPr dirty="0" sz="1200" spc="-5">
                <a:latin typeface="Times New Roman"/>
                <a:cs typeface="Times New Roman"/>
              </a:rPr>
              <a:t>abacus was invented,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bead frame </a:t>
            </a:r>
            <a:r>
              <a:rPr dirty="0" sz="1200">
                <a:latin typeface="Times New Roman"/>
                <a:cs typeface="Times New Roman"/>
              </a:rPr>
              <a:t>in which the </a:t>
            </a:r>
            <a:r>
              <a:rPr dirty="0" sz="1200" spc="-5">
                <a:latin typeface="Times New Roman"/>
                <a:cs typeface="Times New Roman"/>
              </a:rPr>
              <a:t>beads are </a:t>
            </a:r>
            <a:r>
              <a:rPr dirty="0" sz="1200">
                <a:latin typeface="Times New Roman"/>
                <a:cs typeface="Times New Roman"/>
              </a:rPr>
              <a:t> moved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abacus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16th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century,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it is still used in some parts of the world because it can be understood without knowing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read.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During the 17th and 18th centuries,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people tried to find easy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calculating. </a:t>
            </a:r>
            <a:r>
              <a:rPr dirty="0" sz="1200" spc="-5">
                <a:latin typeface="Times New Roman"/>
                <a:cs typeface="Times New Roman"/>
              </a:rPr>
              <a:t>J.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Napier, a </a:t>
            </a:r>
            <a:r>
              <a:rPr dirty="0" sz="1200" spc="-5">
                <a:latin typeface="Times New Roman"/>
                <a:cs typeface="Times New Roman"/>
              </a:rPr>
              <a:t>Scotsman, </a:t>
            </a:r>
            <a:r>
              <a:rPr dirty="0" sz="1200">
                <a:latin typeface="Times New Roman"/>
                <a:cs typeface="Times New Roman"/>
              </a:rPr>
              <a:t>devised a </a:t>
            </a:r>
            <a:r>
              <a:rPr dirty="0" sz="1200" spc="-5">
                <a:latin typeface="Times New Roman"/>
                <a:cs typeface="Times New Roman"/>
              </a:rPr>
              <a:t>mechanical </a:t>
            </a:r>
            <a:r>
              <a:rPr dirty="0" sz="1200">
                <a:latin typeface="Times New Roman"/>
                <a:cs typeface="Times New Roman"/>
              </a:rPr>
              <a:t>way of </a:t>
            </a:r>
            <a:r>
              <a:rPr dirty="0" sz="1200" spc="-5">
                <a:latin typeface="Times New Roman"/>
                <a:cs typeface="Times New Roman"/>
              </a:rPr>
              <a:t>multiplying </a:t>
            </a:r>
            <a:r>
              <a:rPr dirty="0" sz="1200">
                <a:latin typeface="Times New Roman"/>
                <a:cs typeface="Times New Roman"/>
              </a:rPr>
              <a:t>and dividing, 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modern </a:t>
            </a:r>
            <a:r>
              <a:rPr dirty="0" sz="1200">
                <a:latin typeface="Times New Roman"/>
                <a:cs typeface="Times New Roman"/>
              </a:rPr>
              <a:t>slide rule </a:t>
            </a:r>
            <a:r>
              <a:rPr dirty="0" sz="1200" spc="-5">
                <a:latin typeface="Times New Roman"/>
                <a:cs typeface="Times New Roman"/>
              </a:rPr>
              <a:t>works. </a:t>
            </a:r>
            <a:r>
              <a:rPr dirty="0" sz="1200">
                <a:latin typeface="Times New Roman"/>
                <a:cs typeface="Times New Roman"/>
              </a:rPr>
              <a:t>Henry Briggs used </a:t>
            </a:r>
            <a:r>
              <a:rPr dirty="0" sz="1200" spc="-5">
                <a:latin typeface="Times New Roman"/>
                <a:cs typeface="Times New Roman"/>
              </a:rPr>
              <a:t>Napier’s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produced </a:t>
            </a:r>
            <a:r>
              <a:rPr dirty="0" sz="1200">
                <a:latin typeface="Times New Roman"/>
                <a:cs typeface="Times New Roman"/>
              </a:rPr>
              <a:t>logarithm tables,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mathematicians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Calculus,</a:t>
            </a:r>
            <a:r>
              <a:rPr dirty="0" sz="1200">
                <a:latin typeface="Times New Roman"/>
                <a:cs typeface="Times New Roman"/>
              </a:rPr>
              <a:t> another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branch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mathematics,</a:t>
            </a:r>
            <a:r>
              <a:rPr dirty="0" sz="1200">
                <a:latin typeface="Times New Roman"/>
                <a:cs typeface="Times New Roman"/>
              </a:rPr>
              <a:t> was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independently invented by </a:t>
            </a:r>
            <a:r>
              <a:rPr dirty="0" sz="1200" spc="-5">
                <a:latin typeface="Times New Roman"/>
                <a:cs typeface="Times New Roman"/>
              </a:rPr>
              <a:t>Sir</a:t>
            </a:r>
            <a:r>
              <a:rPr dirty="0" sz="1200">
                <a:latin typeface="Times New Roman"/>
                <a:cs typeface="Times New Roman"/>
              </a:rPr>
              <a:t> Isaac Newton, an </a:t>
            </a:r>
            <a:r>
              <a:rPr dirty="0" sz="1200" spc="-5">
                <a:latin typeface="Times New Roman"/>
                <a:cs typeface="Times New Roman"/>
              </a:rPr>
              <a:t>Englishman,</a:t>
            </a:r>
            <a:r>
              <a:rPr dirty="0" sz="1200">
                <a:latin typeface="Times New Roman"/>
                <a:cs typeface="Times New Roman"/>
              </a:rPr>
              <a:t> and Leibnitz, a </a:t>
            </a:r>
            <a:r>
              <a:rPr dirty="0" sz="1200" spc="-5">
                <a:latin typeface="Times New Roman"/>
                <a:cs typeface="Times New Roman"/>
              </a:rPr>
              <a:t>German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mathematician.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Font typeface="Times New Roman"/>
              <a:buAutoNum type="arabicPeriod"/>
              <a:tabLst>
                <a:tab pos="19113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real calculating machine appeared in 1820 as the result of several people’s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experiments. </a:t>
            </a:r>
            <a:r>
              <a:rPr dirty="0" sz="1200">
                <a:latin typeface="Times New Roman"/>
                <a:cs typeface="Times New Roman"/>
              </a:rPr>
              <a:t>This type of </a:t>
            </a:r>
            <a:r>
              <a:rPr dirty="0" sz="1200" spc="-5">
                <a:latin typeface="Times New Roman"/>
                <a:cs typeface="Times New Roman"/>
              </a:rPr>
              <a:t>machine,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saves </a:t>
            </a:r>
            <a:r>
              <a:rPr dirty="0" sz="1200">
                <a:latin typeface="Times New Roman"/>
                <a:cs typeface="Times New Roman"/>
              </a:rPr>
              <a:t>a great deal of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and reduces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possibility of making mistakes, depends on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ten toothed gear </a:t>
            </a:r>
            <a:r>
              <a:rPr dirty="0" sz="1200" spc="-5">
                <a:latin typeface="Times New Roman"/>
                <a:cs typeface="Times New Roman"/>
              </a:rPr>
              <a:t>wheels. </a:t>
            </a:r>
            <a:r>
              <a:rPr dirty="0" sz="1200">
                <a:latin typeface="Times New Roman"/>
                <a:cs typeface="Times New Roman"/>
              </a:rPr>
              <a:t>In 1830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Charles Babbage,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Englishman, designed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machine that was </a:t>
            </a:r>
            <a:r>
              <a:rPr dirty="0" sz="1200">
                <a:latin typeface="Times New Roman"/>
                <a:cs typeface="Times New Roman"/>
              </a:rPr>
              <a:t>called ‘The Analytical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Engine’. This </a:t>
            </a:r>
            <a:r>
              <a:rPr dirty="0" sz="1200" spc="-5">
                <a:latin typeface="Times New Roman"/>
                <a:cs typeface="Times New Roman"/>
              </a:rPr>
              <a:t>machine, </a:t>
            </a:r>
            <a:r>
              <a:rPr dirty="0" sz="1200">
                <a:latin typeface="Times New Roman"/>
                <a:cs typeface="Times New Roman"/>
              </a:rPr>
              <a:t>which Babbage </a:t>
            </a:r>
            <a:r>
              <a:rPr dirty="0" sz="1200" spc="-5">
                <a:latin typeface="Times New Roman"/>
                <a:cs typeface="Times New Roman"/>
              </a:rPr>
              <a:t>showed </a:t>
            </a:r>
            <a:r>
              <a:rPr dirty="0" sz="1200">
                <a:latin typeface="Times New Roman"/>
                <a:cs typeface="Times New Roman"/>
              </a:rPr>
              <a:t>at the </a:t>
            </a:r>
            <a:r>
              <a:rPr dirty="0" sz="1200" spc="-5">
                <a:latin typeface="Times New Roman"/>
                <a:cs typeface="Times New Roman"/>
              </a:rPr>
              <a:t>Paris </a:t>
            </a:r>
            <a:r>
              <a:rPr dirty="0" sz="1200">
                <a:latin typeface="Times New Roman"/>
                <a:cs typeface="Times New Roman"/>
              </a:rPr>
              <a:t>Exhibition in 1855,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attempt </a:t>
            </a:r>
            <a:r>
              <a:rPr dirty="0" sz="1200">
                <a:latin typeface="Times New Roman"/>
                <a:cs typeface="Times New Roman"/>
              </a:rPr>
              <a:t>to cut out the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being </a:t>
            </a:r>
            <a:r>
              <a:rPr dirty="0" sz="1200" spc="-5">
                <a:latin typeface="Times New Roman"/>
                <a:cs typeface="Times New Roman"/>
              </a:rPr>
              <a:t>altogether, </a:t>
            </a:r>
            <a:r>
              <a:rPr dirty="0" sz="1200">
                <a:latin typeface="Times New Roman"/>
                <a:cs typeface="Times New Roman"/>
              </a:rPr>
              <a:t>except for providing the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solved.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never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ideas were the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building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 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Font typeface="Times New Roman"/>
              <a:buAutoNum type="arabicPeriod"/>
              <a:tabLst>
                <a:tab pos="187325" algn="l"/>
              </a:tabLst>
            </a:pPr>
            <a:r>
              <a:rPr dirty="0" sz="1200">
                <a:latin typeface="Times New Roman"/>
                <a:cs typeface="Times New Roman"/>
              </a:rPr>
              <a:t>In 1930, the first analog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built</a:t>
            </a:r>
            <a:r>
              <a:rPr dirty="0" sz="1200">
                <a:latin typeface="Times New Roman"/>
                <a:cs typeface="Times New Roman"/>
              </a:rPr>
              <a:t> by an </a:t>
            </a:r>
            <a:r>
              <a:rPr dirty="0" sz="1200" spc="-5">
                <a:latin typeface="Times New Roman"/>
                <a:cs typeface="Times New Roman"/>
              </a:rPr>
              <a:t>American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Vannevar Bush.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device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used in </a:t>
            </a:r>
            <a:r>
              <a:rPr dirty="0" sz="1200" spc="-5">
                <a:latin typeface="Times New Roman"/>
                <a:cs typeface="Times New Roman"/>
              </a:rPr>
              <a:t>World War </a:t>
            </a:r>
            <a:r>
              <a:rPr dirty="0" sz="1200">
                <a:latin typeface="Times New Roman"/>
                <a:cs typeface="Times New Roman"/>
              </a:rPr>
              <a:t>II to help the aim guns. MarkI, the </a:t>
            </a:r>
            <a:r>
              <a:rPr dirty="0" sz="1200" spc="-5">
                <a:latin typeface="Times New Roman"/>
                <a:cs typeface="Times New Roman"/>
              </a:rPr>
              <a:t>name </a:t>
            </a:r>
            <a:r>
              <a:rPr dirty="0" sz="1200">
                <a:latin typeface="Times New Roman"/>
                <a:cs typeface="Times New Roman"/>
              </a:rPr>
              <a:t>given 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 digital </a:t>
            </a:r>
            <a:r>
              <a:rPr dirty="0" sz="1200" spc="-5">
                <a:latin typeface="Times New Roman"/>
                <a:cs typeface="Times New Roman"/>
              </a:rPr>
              <a:t>computer, was completed </a:t>
            </a:r>
            <a:r>
              <a:rPr dirty="0" sz="1200">
                <a:latin typeface="Times New Roman"/>
                <a:cs typeface="Times New Roman"/>
              </a:rPr>
              <a:t>in 1944. </a:t>
            </a:r>
            <a:r>
              <a:rPr dirty="0" sz="1200" spc="-5">
                <a:latin typeface="Times New Roman"/>
                <a:cs typeface="Times New Roman"/>
              </a:rPr>
              <a:t>The men </a:t>
            </a:r>
            <a:r>
              <a:rPr dirty="0" sz="1200">
                <a:latin typeface="Times New Roman"/>
                <a:cs typeface="Times New Roman"/>
              </a:rPr>
              <a:t>responsible for this invention were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Professor Howard </a:t>
            </a:r>
            <a:r>
              <a:rPr dirty="0" sz="1200">
                <a:latin typeface="Times New Roman"/>
                <a:cs typeface="Times New Roman"/>
              </a:rPr>
              <a:t>Aiken and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people from IBM. This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the first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that could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 out long </a:t>
            </a:r>
            <a:r>
              <a:rPr dirty="0" sz="1200" spc="-5">
                <a:latin typeface="Times New Roman"/>
                <a:cs typeface="Times New Roman"/>
              </a:rPr>
              <a:t>lists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mathematical problems, </a:t>
            </a:r>
            <a:r>
              <a:rPr dirty="0" sz="1200">
                <a:latin typeface="Times New Roman"/>
                <a:cs typeface="Times New Roman"/>
              </a:rPr>
              <a:t>all at a very </a:t>
            </a:r>
            <a:r>
              <a:rPr dirty="0" sz="1200" spc="-5">
                <a:latin typeface="Times New Roman"/>
                <a:cs typeface="Times New Roman"/>
              </a:rPr>
              <a:t>fast rate. In 1946 two engineers </a:t>
            </a:r>
            <a:r>
              <a:rPr dirty="0" sz="1200">
                <a:latin typeface="Times New Roman"/>
                <a:cs typeface="Times New Roman"/>
              </a:rPr>
              <a:t> at </a:t>
            </a:r>
            <a:r>
              <a:rPr dirty="0" sz="1200" spc="-5">
                <a:latin typeface="Times New Roman"/>
                <a:cs typeface="Times New Roman"/>
              </a:rPr>
              <a:t>the University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Pennsylvania, J. </a:t>
            </a:r>
            <a:r>
              <a:rPr dirty="0" sz="1200">
                <a:latin typeface="Times New Roman"/>
                <a:cs typeface="Times New Roman"/>
              </a:rPr>
              <a:t>Ecker </a:t>
            </a:r>
            <a:r>
              <a:rPr dirty="0" sz="1200" spc="-5">
                <a:latin typeface="Times New Roman"/>
                <a:cs typeface="Times New Roman"/>
              </a:rPr>
              <a:t>and J. Mauchly, built the first digital computer </a:t>
            </a:r>
            <a:r>
              <a:rPr dirty="0" sz="1200">
                <a:latin typeface="Times New Roman"/>
                <a:cs typeface="Times New Roman"/>
              </a:rPr>
              <a:t> 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vacuum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invention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ENIAC.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advancement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computers came </a:t>
            </a:r>
            <a:r>
              <a:rPr dirty="0" sz="1200">
                <a:latin typeface="Times New Roman"/>
                <a:cs typeface="Times New Roman"/>
              </a:rPr>
              <a:t>in 1947, when John von </a:t>
            </a:r>
            <a:r>
              <a:rPr dirty="0" sz="1200" spc="-5">
                <a:latin typeface="Times New Roman"/>
                <a:cs typeface="Times New Roman"/>
              </a:rPr>
              <a:t>Newmann </a:t>
            </a:r>
            <a:r>
              <a:rPr dirty="0" sz="1200">
                <a:latin typeface="Times New Roman"/>
                <a:cs typeface="Times New Roman"/>
              </a:rPr>
              <a:t>developed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485900" y="8479366"/>
            <a:ext cx="114300" cy="1689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85900" y="9005146"/>
            <a:ext cx="114300" cy="1689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  <a:buFont typeface="Times New Roman"/>
              <a:buAutoNum type="arabicPeriod" startAt="5"/>
              <a:tabLst>
                <a:tab pos="170815" algn="l"/>
              </a:tabLst>
            </a:pPr>
            <a:r>
              <a:rPr dirty="0" sz="1200">
                <a:latin typeface="Times New Roman"/>
                <a:cs typeface="Times New Roman"/>
              </a:rPr>
              <a:t>The first general of </a:t>
            </a:r>
            <a:r>
              <a:rPr dirty="0" sz="1200" spc="-5">
                <a:latin typeface="Times New Roman"/>
                <a:cs typeface="Times New Roman"/>
              </a:rPr>
              <a:t>computers, which </a:t>
            </a:r>
            <a:r>
              <a:rPr dirty="0" sz="1200">
                <a:latin typeface="Times New Roman"/>
                <a:cs typeface="Times New Roman"/>
              </a:rPr>
              <a:t>used vacuum tubes, </a:t>
            </a:r>
            <a:r>
              <a:rPr dirty="0" sz="1200" spc="-5">
                <a:latin typeface="Times New Roman"/>
                <a:cs typeface="Times New Roman"/>
              </a:rPr>
              <a:t>came </a:t>
            </a:r>
            <a:r>
              <a:rPr dirty="0" sz="1200">
                <a:latin typeface="Times New Roman"/>
                <a:cs typeface="Times New Roman"/>
              </a:rPr>
              <a:t>out in 1950. Univac I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an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 these computers which could perform thousands of calculations per second.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1960, the second generation of </a:t>
            </a:r>
            <a:r>
              <a:rPr dirty="0" sz="1200" spc="-5">
                <a:latin typeface="Times New Roman"/>
                <a:cs typeface="Times New Roman"/>
              </a:rPr>
              <a:t>computers was developed and these could work ten times </a:t>
            </a:r>
            <a:r>
              <a:rPr dirty="0" sz="1200">
                <a:latin typeface="Times New Roman"/>
                <a:cs typeface="Times New Roman"/>
              </a:rPr>
              <a:t> faster than their </a:t>
            </a:r>
            <a:r>
              <a:rPr dirty="0" sz="1200" spc="-5">
                <a:latin typeface="Times New Roman"/>
                <a:cs typeface="Times New Roman"/>
              </a:rPr>
              <a:t>predecessors. </a:t>
            </a:r>
            <a:r>
              <a:rPr dirty="0" sz="1200">
                <a:latin typeface="Times New Roman"/>
                <a:cs typeface="Times New Roman"/>
              </a:rPr>
              <a:t>The reason for </a:t>
            </a:r>
            <a:r>
              <a:rPr dirty="0" sz="1200" spc="-5">
                <a:latin typeface="Times New Roman"/>
                <a:cs typeface="Times New Roman"/>
              </a:rPr>
              <a:t>this extra speed was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transistors </a:t>
            </a:r>
            <a:r>
              <a:rPr dirty="0" sz="1200">
                <a:latin typeface="Times New Roman"/>
                <a:cs typeface="Times New Roman"/>
              </a:rPr>
              <a:t> instead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vacuum tubes.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generation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smaller,</a:t>
            </a:r>
            <a:r>
              <a:rPr dirty="0" sz="1200">
                <a:latin typeface="Times New Roman"/>
                <a:cs typeface="Times New Roman"/>
              </a:rPr>
              <a:t> faster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dependable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first-generation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generation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appeared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market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1965.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1000 </a:t>
            </a:r>
            <a:r>
              <a:rPr dirty="0" sz="1200" spc="-5">
                <a:latin typeface="Times New Roman"/>
                <a:cs typeface="Times New Roman"/>
              </a:rPr>
              <a:t>times as many as </a:t>
            </a:r>
            <a:r>
              <a:rPr dirty="0" sz="1200">
                <a:latin typeface="Times New Roman"/>
                <a:cs typeface="Times New Roman"/>
              </a:rPr>
              <a:t>first-generation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>
                <a:latin typeface="Times New Roman"/>
                <a:cs typeface="Times New Roman"/>
              </a:rPr>
              <a:t>Unlike second-generation </a:t>
            </a:r>
            <a:r>
              <a:rPr dirty="0" sz="1200" spc="-5">
                <a:latin typeface="Times New Roman"/>
                <a:cs typeface="Times New Roman"/>
              </a:rPr>
              <a:t>computers, </a:t>
            </a:r>
            <a:r>
              <a:rPr dirty="0" sz="1200">
                <a:latin typeface="Times New Roman"/>
                <a:cs typeface="Times New Roman"/>
              </a:rPr>
              <a:t> these are controlled by tiny </a:t>
            </a:r>
            <a:r>
              <a:rPr dirty="0" sz="1200" spc="-5">
                <a:latin typeface="Times New Roman"/>
                <a:cs typeface="Times New Roman"/>
              </a:rPr>
              <a:t>integrated circuits </a:t>
            </a:r>
            <a:r>
              <a:rPr dirty="0" sz="1200">
                <a:latin typeface="Times New Roman"/>
                <a:cs typeface="Times New Roman"/>
              </a:rPr>
              <a:t>and are consequently </a:t>
            </a:r>
            <a:r>
              <a:rPr dirty="0" sz="1200" spc="-5">
                <a:latin typeface="Times New Roman"/>
                <a:cs typeface="Times New Roman"/>
              </a:rPr>
              <a:t>smaller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dependable.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5"/>
            </a:pPr>
            <a:endParaRPr sz="115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Fourth-generation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have now arrived, and the </a:t>
            </a:r>
            <a:r>
              <a:rPr dirty="0" sz="1200" spc="-5">
                <a:latin typeface="Times New Roman"/>
                <a:cs typeface="Times New Roman"/>
              </a:rPr>
              <a:t>integrated circuits </a:t>
            </a:r>
            <a:r>
              <a:rPr dirty="0" sz="1200">
                <a:latin typeface="Times New Roman"/>
                <a:cs typeface="Times New Roman"/>
              </a:rPr>
              <a:t>that are being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developed have been greatly reduced in size. This is due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microminiaturization,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that the circuits now fit onto a single </a:t>
            </a:r>
            <a:r>
              <a:rPr dirty="0" sz="1200" spc="-5">
                <a:latin typeface="Times New Roman"/>
                <a:cs typeface="Times New Roman"/>
              </a:rPr>
              <a:t>chip. A </a:t>
            </a:r>
            <a:r>
              <a:rPr dirty="0" sz="1200">
                <a:latin typeface="Times New Roman"/>
                <a:cs typeface="Times New Roman"/>
              </a:rPr>
              <a:t>chip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square or rectangular piece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silicon, usually from 1/10 to 1/4 inch, upon which several layers of an integrated </a:t>
            </a:r>
            <a:r>
              <a:rPr dirty="0" sz="1200" spc="-5">
                <a:latin typeface="Times New Roman"/>
                <a:cs typeface="Times New Roman"/>
              </a:rPr>
              <a:t>circuit 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etched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imprinted, </a:t>
            </a: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circuit </a:t>
            </a:r>
            <a:r>
              <a:rPr dirty="0" sz="1200" spc="-5">
                <a:latin typeface="Times New Roman"/>
                <a:cs typeface="Times New Roman"/>
              </a:rPr>
              <a:t>is encapsulated </a:t>
            </a:r>
            <a:r>
              <a:rPr dirty="0" sz="1200">
                <a:latin typeface="Times New Roman"/>
                <a:cs typeface="Times New Roman"/>
              </a:rPr>
              <a:t>in plastic, </a:t>
            </a:r>
            <a:r>
              <a:rPr dirty="0" sz="1200" spc="-5">
                <a:latin typeface="Times New Roman"/>
                <a:cs typeface="Times New Roman"/>
              </a:rPr>
              <a:t>ceramic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metal. </a:t>
            </a:r>
            <a:r>
              <a:rPr dirty="0" sz="1200">
                <a:latin typeface="Times New Roman"/>
                <a:cs typeface="Times New Roman"/>
              </a:rPr>
              <a:t> Fourth generation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50 </a:t>
            </a:r>
            <a:r>
              <a:rPr dirty="0" sz="1200" spc="-5">
                <a:latin typeface="Times New Roman"/>
                <a:cs typeface="Times New Roman"/>
              </a:rPr>
              <a:t>times faster </a:t>
            </a:r>
            <a:r>
              <a:rPr dirty="0" sz="1200">
                <a:latin typeface="Times New Roman"/>
                <a:cs typeface="Times New Roman"/>
              </a:rPr>
              <a:t>than third-generation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and can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approximately </a:t>
            </a:r>
            <a:r>
              <a:rPr dirty="0" sz="1200">
                <a:latin typeface="Times New Roman"/>
                <a:cs typeface="Times New Roman"/>
              </a:rPr>
              <a:t>1,000,000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Font typeface="Times New Roman"/>
              <a:buAutoNum type="arabicPeriod" startAt="6"/>
              <a:tabLst>
                <a:tab pos="168910" algn="l"/>
              </a:tabLst>
            </a:pPr>
            <a:r>
              <a:rPr dirty="0" sz="1200">
                <a:latin typeface="Times New Roman"/>
                <a:cs typeface="Times New Roman"/>
              </a:rPr>
              <a:t>The rate at which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technology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growing; today’s </a:t>
            </a:r>
            <a:r>
              <a:rPr dirty="0" sz="1200" spc="-5">
                <a:latin typeface="Times New Roman"/>
                <a:cs typeface="Times New Roman"/>
              </a:rPr>
              <a:t>computers might </a:t>
            </a:r>
            <a:r>
              <a:rPr dirty="0" sz="1200">
                <a:latin typeface="Times New Roman"/>
                <a:cs typeface="Times New Roman"/>
              </a:rPr>
              <a:t>be obsolete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1985 and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certainly by 1990. 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said that if transport technology had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 </a:t>
            </a:r>
            <a:r>
              <a:rPr dirty="0" sz="1200" spc="-5">
                <a:latin typeface="Times New Roman"/>
                <a:cs typeface="Times New Roman"/>
              </a:rPr>
              <a:t>as rapidly as computer </a:t>
            </a:r>
            <a:r>
              <a:rPr dirty="0" sz="1200">
                <a:latin typeface="Times New Roman"/>
                <a:cs typeface="Times New Roman"/>
              </a:rPr>
              <a:t>technology, a trip </a:t>
            </a:r>
            <a:r>
              <a:rPr dirty="0" sz="1200" spc="-5">
                <a:latin typeface="Times New Roman"/>
                <a:cs typeface="Times New Roman"/>
              </a:rPr>
              <a:t>across the Atlantic </a:t>
            </a:r>
            <a:r>
              <a:rPr dirty="0" sz="1200">
                <a:latin typeface="Times New Roman"/>
                <a:cs typeface="Times New Roman"/>
              </a:rPr>
              <a:t>Ocean today would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few seconds.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ts val="1405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Main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text?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 lvl="1" marL="622300" indent="-152400">
              <a:lnSpc>
                <a:spcPts val="1315"/>
              </a:lnSpc>
              <a:buFont typeface="Times New Roman"/>
              <a:buAutoNum type="arabicPeriod"/>
              <a:tabLst>
                <a:tab pos="6223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Computers,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know 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today,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gone through</a:t>
            </a:r>
            <a:r>
              <a:rPr dirty="0" sz="1200" spc="-5">
                <a:latin typeface="Times New Roman"/>
                <a:cs typeface="Times New Roman"/>
              </a:rPr>
              <a:t> many</a:t>
            </a:r>
            <a:r>
              <a:rPr dirty="0" sz="1200">
                <a:latin typeface="Times New Roman"/>
                <a:cs typeface="Times New Roman"/>
              </a:rPr>
              <a:t> changes.</a:t>
            </a:r>
            <a:endParaRPr sz="1200">
              <a:latin typeface="Times New Roman"/>
              <a:cs typeface="Times New Roman"/>
            </a:endParaRPr>
          </a:p>
          <a:p>
            <a:pPr lvl="1" marL="622300" indent="-152400">
              <a:lnSpc>
                <a:spcPts val="1380"/>
              </a:lnSpc>
              <a:buFont typeface="Times New Roman"/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long.</a:t>
            </a:r>
            <a:endParaRPr sz="1200">
              <a:latin typeface="Times New Roman"/>
              <a:cs typeface="Times New Roman"/>
            </a:endParaRPr>
          </a:p>
          <a:p>
            <a:pPr lvl="1" marL="622300" indent="-152400">
              <a:lnSpc>
                <a:spcPts val="1410"/>
              </a:lnSpc>
              <a:buFont typeface="Times New Roman"/>
              <a:buAutoNum type="arabicPeriod"/>
              <a:tabLst>
                <a:tab pos="6223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history.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0"/>
              </a:spcBef>
              <a:buFont typeface="Times New Roman"/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prediction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fact.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history of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405"/>
              </a:lnSpc>
              <a:buAutoNum type="arabicPeriod" startAt="2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Passage: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</a:t>
            </a:r>
            <a:r>
              <a:rPr dirty="0" sz="1200">
                <a:latin typeface="Times New Roman"/>
                <a:cs typeface="Times New Roman"/>
              </a:rPr>
              <a:t> (T/F)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referring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given in the text. Then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necessary changes so </a:t>
            </a:r>
            <a:r>
              <a:rPr dirty="0" sz="1200">
                <a:latin typeface="Times New Roman"/>
                <a:cs typeface="Times New Roman"/>
              </a:rPr>
              <a:t>that the false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tabLst>
                <a:tab pos="295910" algn="l"/>
              </a:tabLst>
            </a:pPr>
            <a:r>
              <a:rPr dirty="0" sz="1200">
                <a:latin typeface="Times New Roman"/>
                <a:cs typeface="Times New Roman"/>
              </a:rPr>
              <a:t>T	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698500" marR="813435" indent="228600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080135" algn="l"/>
              </a:tabLst>
            </a:pPr>
            <a:r>
              <a:rPr dirty="0" sz="1200">
                <a:latin typeface="Times New Roman"/>
                <a:cs typeface="Times New Roman"/>
              </a:rPr>
              <a:t>The abacus and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fingers are </a:t>
            </a:r>
            <a:r>
              <a:rPr dirty="0" sz="1200" spc="-5">
                <a:latin typeface="Times New Roman"/>
                <a:cs typeface="Times New Roman"/>
              </a:rPr>
              <a:t>two calculating </a:t>
            </a:r>
            <a:r>
              <a:rPr dirty="0" sz="1200">
                <a:latin typeface="Times New Roman"/>
                <a:cs typeface="Times New Roman"/>
              </a:rPr>
              <a:t>devices still in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Font typeface="Times New Roman"/>
              <a:buAutoNum type="arabicPeriod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hundreds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ago.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972883" y="8489251"/>
            <a:ext cx="620395" cy="123825"/>
            <a:chOff x="972883" y="8489251"/>
            <a:chExt cx="620395" cy="123825"/>
          </a:xfrm>
        </p:grpSpPr>
        <p:sp>
          <p:nvSpPr>
            <p:cNvPr id="7" name="object 7"/>
            <p:cNvSpPr/>
            <p:nvPr/>
          </p:nvSpPr>
          <p:spPr>
            <a:xfrm>
              <a:off x="977646" y="8494014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257300" y="8494776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257300" y="8494014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972883" y="9037129"/>
            <a:ext cx="620395" cy="123825"/>
            <a:chOff x="972883" y="9037129"/>
            <a:chExt cx="620395" cy="123825"/>
          </a:xfrm>
        </p:grpSpPr>
        <p:sp>
          <p:nvSpPr>
            <p:cNvPr id="11" name="object 11"/>
            <p:cNvSpPr/>
            <p:nvPr/>
          </p:nvSpPr>
          <p:spPr>
            <a:xfrm>
              <a:off x="977646" y="9041892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299"/>
                  </a:lnTo>
                  <a:lnTo>
                    <a:pt x="330708" y="114299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257300" y="9041892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299"/>
                  </a:lnTo>
                  <a:lnTo>
                    <a:pt x="330707" y="114299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257300" y="9041892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299"/>
                  </a:lnTo>
                  <a:lnTo>
                    <a:pt x="330708" y="114299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85900" y="1118446"/>
            <a:ext cx="114300" cy="1689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85900" y="1644226"/>
            <a:ext cx="114300" cy="1689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85900" y="2520526"/>
            <a:ext cx="114300" cy="1689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1089152"/>
            <a:ext cx="5626735" cy="669480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469900" marR="5715" indent="539115">
              <a:lnSpc>
                <a:spcPts val="1380"/>
              </a:lnSpc>
              <a:spcBef>
                <a:spcPts val="195"/>
              </a:spcBef>
              <a:buSzPct val="91666"/>
              <a:buFont typeface="Times New Roman"/>
              <a:buAutoNum type="arabicPeriod" startAt="3"/>
              <a:tabLst>
                <a:tab pos="1124585" algn="l"/>
              </a:tabLst>
            </a:pP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1880s,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mechanical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3"/>
            </a:pPr>
            <a:endParaRPr sz="1100">
              <a:latin typeface="Times New Roman"/>
              <a:cs typeface="Times New Roman"/>
            </a:endParaRPr>
          </a:p>
          <a:p>
            <a:pPr marL="1095375" indent="-114935">
              <a:lnSpc>
                <a:spcPts val="1410"/>
              </a:lnSpc>
              <a:buSzPct val="91666"/>
              <a:buFont typeface="Times New Roman"/>
              <a:buAutoNum type="arabicPeriod" startAt="3"/>
              <a:tabLst>
                <a:tab pos="1095375" algn="l"/>
              </a:tabLst>
            </a:pPr>
            <a:r>
              <a:rPr dirty="0" sz="1200">
                <a:latin typeface="Times New Roman"/>
                <a:cs typeface="Times New Roman"/>
              </a:rPr>
              <a:t>Charles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Babbage,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Englishman,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father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116965" indent="-152400">
              <a:lnSpc>
                <a:spcPct val="100000"/>
              </a:lnSpc>
              <a:buSzPct val="91666"/>
              <a:buFont typeface="Times New Roman"/>
              <a:buAutoNum type="arabicPeriod" startAt="5"/>
              <a:tabLst>
                <a:tab pos="1117600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invented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built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5"/>
            </a:pPr>
            <a:endParaRPr sz="1200">
              <a:latin typeface="Times New Roman"/>
              <a:cs typeface="Times New Roman"/>
            </a:endParaRPr>
          </a:p>
          <a:p>
            <a:pPr marL="469900" marR="5715" indent="546100">
              <a:lnSpc>
                <a:spcPts val="1380"/>
              </a:lnSpc>
              <a:buSzPct val="91666"/>
              <a:buFont typeface="Times New Roman"/>
              <a:buAutoNum type="arabicPeriod" startAt="5"/>
              <a:tabLst>
                <a:tab pos="1131570" algn="l"/>
              </a:tabLst>
            </a:pPr>
            <a:r>
              <a:rPr dirty="0" sz="1200">
                <a:latin typeface="Times New Roman"/>
                <a:cs typeface="Times New Roman"/>
              </a:rPr>
              <a:t>Instructions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kept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computer’s memory.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5"/>
            </a:pPr>
            <a:endParaRPr sz="1200">
              <a:latin typeface="Times New Roman"/>
              <a:cs typeface="Times New Roman"/>
            </a:endParaRPr>
          </a:p>
          <a:p>
            <a:pPr marL="469900" marR="5080" indent="533400">
              <a:lnSpc>
                <a:spcPts val="1380"/>
              </a:lnSpc>
              <a:buSzPct val="91666"/>
              <a:buFont typeface="Times New Roman"/>
              <a:buAutoNum type="arabicPeriod" startAt="5"/>
              <a:tabLst>
                <a:tab pos="1179195" algn="l"/>
              </a:tabLst>
            </a:pP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instead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vacuum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nothing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which </a:t>
            </a:r>
            <a:r>
              <a:rPr dirty="0" sz="1200" spc="-5">
                <a:latin typeface="Times New Roman"/>
                <a:cs typeface="Times New Roman"/>
              </a:rPr>
              <a:t>calculations</a:t>
            </a:r>
            <a:r>
              <a:rPr dirty="0" sz="1200">
                <a:latin typeface="Times New Roman"/>
                <a:cs typeface="Times New Roman"/>
              </a:rPr>
              <a:t> were </a:t>
            </a:r>
            <a:r>
              <a:rPr dirty="0" sz="1200" spc="-5">
                <a:latin typeface="Times New Roman"/>
                <a:cs typeface="Times New Roman"/>
              </a:rPr>
              <a:t>done.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5"/>
            </a:pPr>
            <a:endParaRPr sz="1100">
              <a:latin typeface="Times New Roman"/>
              <a:cs typeface="Times New Roman"/>
            </a:endParaRPr>
          </a:p>
          <a:p>
            <a:pPr marL="1160145" indent="-157480">
              <a:lnSpc>
                <a:spcPts val="1410"/>
              </a:lnSpc>
              <a:buSzPct val="91666"/>
              <a:buFont typeface="Times New Roman"/>
              <a:buAutoNum type="arabicPeriod" startAt="5"/>
              <a:tabLst>
                <a:tab pos="1160780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evolved,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dependability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increased.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155065" indent="-152400">
              <a:lnSpc>
                <a:spcPct val="100000"/>
              </a:lnSpc>
              <a:buSzPct val="91666"/>
              <a:buFont typeface="Times New Roman"/>
              <a:buAutoNum type="arabicPeriod" startAt="9"/>
              <a:tabLst>
                <a:tab pos="1155700" algn="l"/>
              </a:tabLst>
            </a:pP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previous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9"/>
            </a:pPr>
            <a:endParaRPr sz="1200">
              <a:latin typeface="Times New Roman"/>
              <a:cs typeface="Times New Roman"/>
            </a:endParaRPr>
          </a:p>
          <a:p>
            <a:pPr marL="1193165" marR="543560" indent="-228600">
              <a:lnSpc>
                <a:spcPts val="1380"/>
              </a:lnSpc>
              <a:buSzPct val="91666"/>
              <a:buFont typeface="Times New Roman"/>
              <a:buAutoNum type="arabicPeriod" startAt="9"/>
              <a:tabLst>
                <a:tab pos="11944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developed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developments </a:t>
            </a:r>
            <a:r>
              <a:rPr dirty="0" sz="1200">
                <a:latin typeface="Times New Roman"/>
                <a:cs typeface="Times New Roman"/>
              </a:rPr>
              <a:t>in the field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take a long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come.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621665" indent="-152400">
              <a:lnSpc>
                <a:spcPts val="1375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622300" indent="-153035">
              <a:lnSpc>
                <a:spcPts val="1380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 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invention</a:t>
            </a:r>
            <a:endParaRPr sz="1200">
              <a:latin typeface="Times New Roman"/>
              <a:cs typeface="Times New Roman"/>
            </a:endParaRPr>
          </a:p>
          <a:p>
            <a:pPr marL="621665" indent="-152400">
              <a:lnSpc>
                <a:spcPts val="138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621665" indent="-152400">
              <a:lnSpc>
                <a:spcPts val="138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621665" indent="-152400">
              <a:lnSpc>
                <a:spcPts val="138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622300" marR="464184" indent="-15303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622300" algn="l"/>
              </a:tabLst>
            </a:pPr>
            <a:r>
              <a:rPr dirty="0" sz="1200" spc="-5">
                <a:latin typeface="Times New Roman"/>
                <a:cs typeface="Times New Roman"/>
              </a:rPr>
              <a:t>F-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executed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kept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622300" indent="-153035">
              <a:lnSpc>
                <a:spcPts val="1315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F-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>
                <a:latin typeface="Times New Roman"/>
                <a:cs typeface="Times New Roman"/>
              </a:rPr>
              <a:t> increased </a:t>
            </a:r>
            <a:r>
              <a:rPr dirty="0" sz="1200" spc="-5">
                <a:latin typeface="Times New Roman"/>
                <a:cs typeface="Times New Roman"/>
              </a:rPr>
              <a:t>the speed at which calculations 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done.</a:t>
            </a:r>
            <a:endParaRPr sz="1200">
              <a:latin typeface="Times New Roman"/>
              <a:cs typeface="Times New Roman"/>
            </a:endParaRPr>
          </a:p>
          <a:p>
            <a:pPr marL="621665" indent="-152400">
              <a:lnSpc>
                <a:spcPts val="138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621665" indent="-152400">
              <a:lnSpc>
                <a:spcPts val="1380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698500" indent="-229235">
              <a:lnSpc>
                <a:spcPts val="1410"/>
              </a:lnSpc>
              <a:buAutoNum type="arabicPeriod"/>
              <a:tabLst>
                <a:tab pos="699135" algn="l"/>
              </a:tabLst>
            </a:pPr>
            <a:r>
              <a:rPr dirty="0" sz="1200" spc="-5">
                <a:latin typeface="Times New Roman"/>
                <a:cs typeface="Times New Roman"/>
              </a:rPr>
              <a:t>F-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constantly </a:t>
            </a:r>
            <a:r>
              <a:rPr dirty="0" sz="1200" spc="-5">
                <a:latin typeface="Times New Roman"/>
                <a:cs typeface="Times New Roman"/>
              </a:rPr>
              <a:t>developing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Locating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Information: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passages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where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ideas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expressed.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Give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line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references.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7749032"/>
            <a:ext cx="5213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……..1.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20900" y="7749032"/>
            <a:ext cx="4522470" cy="14351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9685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history,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logarithm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calculus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developed.</a:t>
            </a:r>
            <a:endParaRPr sz="1200">
              <a:latin typeface="Times New Roman"/>
              <a:cs typeface="Times New Roman"/>
            </a:endParaRPr>
          </a:p>
          <a:p>
            <a:pPr marL="12700" marR="139065" indent="762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wasn’t </a:t>
            </a:r>
            <a:r>
              <a:rPr dirty="0" sz="1200">
                <a:latin typeface="Times New Roman"/>
                <a:cs typeface="Times New Roman"/>
              </a:rPr>
              <a:t>until the 19th century that a calculating </a:t>
            </a:r>
            <a:r>
              <a:rPr dirty="0" sz="1200" spc="-5">
                <a:latin typeface="Times New Roman"/>
                <a:cs typeface="Times New Roman"/>
              </a:rPr>
              <a:t>machine was </a:t>
            </a:r>
            <a:r>
              <a:rPr dirty="0" sz="1200">
                <a:latin typeface="Times New Roman"/>
                <a:cs typeface="Times New Roman"/>
              </a:rPr>
              <a:t>invented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tried to reduce </a:t>
            </a:r>
            <a:r>
              <a:rPr dirty="0" sz="1200" spc="-5">
                <a:latin typeface="Times New Roman"/>
                <a:cs typeface="Times New Roman"/>
              </a:rPr>
              <a:t>manpower.</a:t>
            </a:r>
            <a:endParaRPr sz="1200">
              <a:latin typeface="Times New Roman"/>
              <a:cs typeface="Times New Roman"/>
            </a:endParaRPr>
          </a:p>
          <a:p>
            <a:pPr marL="19685" marR="11461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Integrated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further.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fingers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count.</a:t>
            </a:r>
            <a:endParaRPr sz="1200">
              <a:latin typeface="Times New Roman"/>
              <a:cs typeface="Times New Roman"/>
            </a:endParaRPr>
          </a:p>
          <a:p>
            <a:pPr marL="50800" marR="320040" indent="-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8099552"/>
            <a:ext cx="5213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……..2.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450071"/>
            <a:ext cx="52070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……..3.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……..4.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……..5.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72883" y="1134427"/>
            <a:ext cx="620395" cy="123825"/>
            <a:chOff x="972883" y="1134427"/>
            <a:chExt cx="620395" cy="123825"/>
          </a:xfrm>
        </p:grpSpPr>
        <p:sp>
          <p:nvSpPr>
            <p:cNvPr id="13" name="object 13"/>
            <p:cNvSpPr/>
            <p:nvPr/>
          </p:nvSpPr>
          <p:spPr>
            <a:xfrm>
              <a:off x="977646" y="1139189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257300" y="1139189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257300" y="1139189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972883" y="1673161"/>
            <a:ext cx="620395" cy="123825"/>
            <a:chOff x="972883" y="1673161"/>
            <a:chExt cx="620395" cy="123825"/>
          </a:xfrm>
        </p:grpSpPr>
        <p:sp>
          <p:nvSpPr>
            <p:cNvPr id="17" name="object 17"/>
            <p:cNvSpPr/>
            <p:nvPr/>
          </p:nvSpPr>
          <p:spPr>
            <a:xfrm>
              <a:off x="977646" y="1677923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257300" y="1678685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257300" y="1677923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972883" y="2163127"/>
            <a:ext cx="620395" cy="123825"/>
            <a:chOff x="972883" y="2163127"/>
            <a:chExt cx="620395" cy="123825"/>
          </a:xfrm>
        </p:grpSpPr>
        <p:sp>
          <p:nvSpPr>
            <p:cNvPr id="21" name="object 21"/>
            <p:cNvSpPr/>
            <p:nvPr/>
          </p:nvSpPr>
          <p:spPr>
            <a:xfrm>
              <a:off x="977646" y="2167889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257300" y="2167889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257300" y="2167889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972883" y="2534983"/>
            <a:ext cx="620395" cy="123825"/>
            <a:chOff x="972883" y="2534983"/>
            <a:chExt cx="620395" cy="123825"/>
          </a:xfrm>
        </p:grpSpPr>
        <p:sp>
          <p:nvSpPr>
            <p:cNvPr id="25" name="object 25"/>
            <p:cNvSpPr/>
            <p:nvPr/>
          </p:nvSpPr>
          <p:spPr>
            <a:xfrm>
              <a:off x="977646" y="2539745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257300" y="2539745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257300" y="2539745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/>
          <p:cNvGrpSpPr/>
          <p:nvPr/>
        </p:nvGrpSpPr>
        <p:grpSpPr>
          <a:xfrm>
            <a:off x="972883" y="3036379"/>
            <a:ext cx="620395" cy="123825"/>
            <a:chOff x="972883" y="3036379"/>
            <a:chExt cx="620395" cy="123825"/>
          </a:xfrm>
        </p:grpSpPr>
        <p:sp>
          <p:nvSpPr>
            <p:cNvPr id="29" name="object 29"/>
            <p:cNvSpPr/>
            <p:nvPr/>
          </p:nvSpPr>
          <p:spPr>
            <a:xfrm>
              <a:off x="977646" y="3041142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257300" y="3041142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257300" y="3041142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/>
          <p:cNvGrpSpPr/>
          <p:nvPr/>
        </p:nvGrpSpPr>
        <p:grpSpPr>
          <a:xfrm>
            <a:off x="972883" y="3575113"/>
            <a:ext cx="620395" cy="123825"/>
            <a:chOff x="972883" y="3575113"/>
            <a:chExt cx="620395" cy="123825"/>
          </a:xfrm>
        </p:grpSpPr>
        <p:sp>
          <p:nvSpPr>
            <p:cNvPr id="33" name="object 33"/>
            <p:cNvSpPr/>
            <p:nvPr/>
          </p:nvSpPr>
          <p:spPr>
            <a:xfrm>
              <a:off x="977646" y="3579876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257300" y="3579876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257300" y="3579876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/>
          <p:cNvGrpSpPr/>
          <p:nvPr/>
        </p:nvGrpSpPr>
        <p:grpSpPr>
          <a:xfrm>
            <a:off x="972883" y="4097083"/>
            <a:ext cx="658495" cy="130810"/>
            <a:chOff x="972883" y="4097083"/>
            <a:chExt cx="658495" cy="130810"/>
          </a:xfrm>
        </p:grpSpPr>
        <p:sp>
          <p:nvSpPr>
            <p:cNvPr id="37" name="object 37"/>
            <p:cNvSpPr/>
            <p:nvPr/>
          </p:nvSpPr>
          <p:spPr>
            <a:xfrm>
              <a:off x="977646" y="4101846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295400" y="4108704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5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295400" y="4108704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5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/>
          <p:cNvGrpSpPr/>
          <p:nvPr/>
        </p:nvGrpSpPr>
        <p:grpSpPr>
          <a:xfrm>
            <a:off x="946975" y="4429315"/>
            <a:ext cx="658495" cy="127000"/>
            <a:chOff x="946975" y="4429315"/>
            <a:chExt cx="658495" cy="127000"/>
          </a:xfrm>
        </p:grpSpPr>
        <p:sp>
          <p:nvSpPr>
            <p:cNvPr id="41" name="object 41"/>
            <p:cNvSpPr/>
            <p:nvPr/>
          </p:nvSpPr>
          <p:spPr>
            <a:xfrm>
              <a:off x="951738" y="4437126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269492" y="4434078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8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8" y="114300"/>
                  </a:lnTo>
                  <a:lnTo>
                    <a:pt x="3307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269492" y="4434078"/>
              <a:ext cx="330835" cy="114300"/>
            </a:xfrm>
            <a:custGeom>
              <a:avLst/>
              <a:gdLst/>
              <a:ahLst/>
              <a:cxnLst/>
              <a:rect l="l" t="t" r="r" b="b"/>
              <a:pathLst>
                <a:path w="330834" h="114300">
                  <a:moveTo>
                    <a:pt x="330707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330707" y="114300"/>
                  </a:lnTo>
                  <a:lnTo>
                    <a:pt x="330707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45" name="object 4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521334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……..6.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……..7.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082891" y="913892"/>
            <a:ext cx="4062729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instrument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mechanical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multiplying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dividing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devised.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614931"/>
            <a:ext cx="5213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……..8.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044882" y="1614931"/>
            <a:ext cx="2175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vacuum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1966976"/>
            <a:ext cx="5627370" cy="2485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75"/>
              </a:lnSpc>
              <a:buFont typeface="Times New Roman"/>
              <a:buAutoNum type="arabi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Paragraph 2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Font typeface="Times New Roman"/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Paragraph 3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Font typeface="Times New Roman"/>
              <a:buAutoNum type="arabi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Paragraph 5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Font typeface="Times New Roman"/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Paragraph 1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Font typeface="Times New Roman"/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Paragraph 6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Font typeface="Times New Roman"/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Paragraph 5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Font typeface="Times New Roman"/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Paragraph 1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-5" b="1">
                <a:latin typeface="Times New Roman"/>
                <a:cs typeface="Times New Roman"/>
              </a:rPr>
              <a:t> Understanding Words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synonyms</a:t>
            </a:r>
            <a:r>
              <a:rPr dirty="0" u="sng" sz="1200" spc="2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meaning)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4419091"/>
            <a:ext cx="13970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5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108" y="4419091"/>
            <a:ext cx="56832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designed  a lot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44355" y="4419091"/>
            <a:ext cx="181673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2)</a:t>
            </a:r>
            <a:r>
              <a:rPr dirty="0" sz="1200" spc="5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9)</a:t>
            </a:r>
            <a:r>
              <a:rPr dirty="0" sz="1200" spc="5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16)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17)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30)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5472176"/>
            <a:ext cx="5627370" cy="1959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synonyms</a:t>
            </a:r>
            <a:r>
              <a:rPr dirty="0" u="sng" sz="1200" spc="2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meaning)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(paragraph1)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designed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devised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u="sng" sz="1200" spc="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antonyms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opposite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7398511"/>
            <a:ext cx="142176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900" indent="-4572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6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old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380"/>
              </a:lnSpc>
              <a:buFont typeface="Times New Roman"/>
              <a:buAutoNum type="arabicPeriod" startAt="6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380"/>
              </a:lnSpc>
              <a:buFont typeface="Times New Roman"/>
              <a:buAutoNum type="arabicPeriod" startAt="6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380"/>
              </a:lnSpc>
              <a:buFont typeface="Times New Roman"/>
              <a:buAutoNum type="arabicPeriod" startAt="6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contemporaries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410"/>
              </a:lnSpc>
              <a:buFont typeface="Times New Roman"/>
              <a:buAutoNum type="arabicPeriod" startAt="6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44303" y="7398511"/>
            <a:ext cx="1512570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(p 2)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p-3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p-3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…………………..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5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p-5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…………………..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p-6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………………….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8451594"/>
            <a:ext cx="5626100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antonyms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opposite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4123690" cy="1437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6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old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modern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16)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several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6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contemporaries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41)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predecessors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410"/>
              </a:lnSpc>
              <a:buFont typeface="Times New Roman"/>
              <a:buAutoNum type="arabicPeriod" startAt="6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obsolete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5a.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Match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words in </a:t>
            </a:r>
            <a:r>
              <a:rPr dirty="0" sz="1200" b="1">
                <a:latin typeface="Times New Roman"/>
                <a:cs typeface="Times New Roman"/>
              </a:rPr>
              <a:t>column </a:t>
            </a:r>
            <a:r>
              <a:rPr dirty="0" sz="1200" spc="-5" b="1">
                <a:latin typeface="Times New Roman"/>
                <a:cs typeface="Times New Roman"/>
              </a:rPr>
              <a:t>A with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column 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28520" y="2668016"/>
            <a:ext cx="123634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558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7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Abacus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calculus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9367" y="2668016"/>
            <a:ext cx="1820545" cy="1784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16129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  <a:p>
            <a:pPr marL="164465" marR="5080" indent="-15240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instrument </a:t>
            </a:r>
            <a:r>
              <a:rPr dirty="0" sz="1200">
                <a:latin typeface="Times New Roman"/>
                <a:cs typeface="Times New Roman"/>
              </a:rPr>
              <a:t>used for doing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multiplication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division</a:t>
            </a:r>
            <a:endParaRPr sz="1200">
              <a:latin typeface="Times New Roman"/>
              <a:cs typeface="Times New Roman"/>
            </a:endParaRPr>
          </a:p>
          <a:p>
            <a:pPr marL="165735" marR="275590" indent="-1657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 marL="278765" marR="211454" indent="-227965">
              <a:lnSpc>
                <a:spcPts val="1380"/>
              </a:lnSpc>
              <a:buAutoNum type="alphaLcPeriod"/>
              <a:tabLst>
                <a:tab pos="234315" algn="l"/>
              </a:tabLst>
            </a:pP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instrument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counting</a:t>
            </a:r>
            <a:endParaRPr sz="1200">
              <a:latin typeface="Times New Roman"/>
              <a:cs typeface="Times New Roman"/>
            </a:endParaRPr>
          </a:p>
          <a:p>
            <a:pPr marL="240029" indent="-190500">
              <a:lnSpc>
                <a:spcPts val="1315"/>
              </a:lnSpc>
              <a:buAutoNum type="alphaLcPeriod"/>
              <a:tabLst>
                <a:tab pos="240665" algn="l"/>
              </a:tabLst>
            </a:pP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</a:t>
            </a:r>
            <a:endParaRPr sz="1200">
              <a:latin typeface="Times New Roman"/>
              <a:cs typeface="Times New Roman"/>
            </a:endParaRPr>
          </a:p>
          <a:p>
            <a:pPr marL="240665" marR="255904" indent="-19113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233045" algn="l"/>
              </a:tabLst>
            </a:pPr>
            <a:r>
              <a:rPr dirty="0" sz="1200">
                <a:latin typeface="Times New Roman"/>
                <a:cs typeface="Times New Roman"/>
              </a:rPr>
              <a:t>circuitry of fourth-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generation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28520" y="3542791"/>
            <a:ext cx="1181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28520" y="3893311"/>
            <a:ext cx="1020444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5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vacuum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ubes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 startAt="5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transistors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28520" y="4419091"/>
            <a:ext cx="440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7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797572" y="4419091"/>
            <a:ext cx="180593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f.</a:t>
            </a:r>
            <a:r>
              <a:rPr dirty="0" sz="1200" spc="5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Americans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88080" y="4594352"/>
            <a:ext cx="1824989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209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1944</a:t>
            </a:r>
            <a:endParaRPr sz="1200">
              <a:latin typeface="Times New Roman"/>
              <a:cs typeface="Times New Roman"/>
            </a:endParaRPr>
          </a:p>
          <a:p>
            <a:pPr marL="287655" marR="445134" indent="-275590">
              <a:lnSpc>
                <a:spcPts val="1380"/>
              </a:lnSpc>
              <a:spcBef>
                <a:spcPts val="65"/>
              </a:spcBef>
              <a:buAutoNum type="alphaLcPeriod" startAt="7"/>
              <a:tabLst>
                <a:tab pos="279400" algn="l"/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made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endParaRPr sz="1200">
              <a:latin typeface="Times New Roman"/>
              <a:cs typeface="Times New Roman"/>
            </a:endParaRPr>
          </a:p>
          <a:p>
            <a:pPr marL="249554" indent="-228600">
              <a:lnSpc>
                <a:spcPts val="1315"/>
              </a:lnSpc>
              <a:buAutoNum type="alphaLcPeriod" startAt="7"/>
              <a:tabLst>
                <a:tab pos="250190" algn="l"/>
              </a:tabLst>
            </a:pP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guns</a:t>
            </a:r>
            <a:endParaRPr sz="1200">
              <a:latin typeface="Times New Roman"/>
              <a:cs typeface="Times New Roman"/>
            </a:endParaRPr>
          </a:p>
          <a:p>
            <a:pPr marL="288290" marR="5080" indent="-266700">
              <a:lnSpc>
                <a:spcPts val="1380"/>
              </a:lnSpc>
              <a:spcBef>
                <a:spcPts val="65"/>
              </a:spcBef>
              <a:buAutoNum type="alphaLcPeriod" startAt="7"/>
              <a:tabLst>
                <a:tab pos="292735" algn="l"/>
                <a:tab pos="29337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120900" y="4769611"/>
            <a:ext cx="14643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8.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microminiaturization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82800" y="5120132"/>
            <a:ext cx="124015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9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slide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endParaRPr sz="1200">
              <a:latin typeface="Times New Roman"/>
              <a:cs typeface="Times New Roman"/>
            </a:endParaRPr>
          </a:p>
          <a:p>
            <a:pPr marL="241300" indent="-228600">
              <a:lnSpc>
                <a:spcPts val="1410"/>
              </a:lnSpc>
              <a:buFont typeface="Times New Roman"/>
              <a:buAutoNum type="arabicPeriod" startAt="9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logarithm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21100" y="5645911"/>
            <a:ext cx="1676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j.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branch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5822696"/>
            <a:ext cx="635635" cy="1959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7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j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h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g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241300" indent="-228600">
              <a:lnSpc>
                <a:spcPts val="1410"/>
              </a:lnSpc>
              <a:buFont typeface="Times New Roman"/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8451595"/>
            <a:ext cx="56267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5b.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Content Review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information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on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‘History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Computers’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complete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table.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45"/>
              </a:lnSpc>
              <a:tabLst>
                <a:tab pos="191706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TIME	</a:t>
            </a:r>
            <a:r>
              <a:rPr dirty="0" sz="1200" b="1">
                <a:latin typeface="Times New Roman"/>
                <a:cs typeface="Times New Roman"/>
              </a:rPr>
              <a:t>EVENT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943100" y="2888742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943100" y="3068573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943100" y="3247644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943100" y="3569970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943100" y="3941826"/>
            <a:ext cx="114300" cy="269240"/>
          </a:xfrm>
          <a:custGeom>
            <a:avLst/>
            <a:gdLst/>
            <a:ahLst/>
            <a:cxnLst/>
            <a:rect l="l" t="t" r="r" b="b"/>
            <a:pathLst>
              <a:path w="114300" h="269239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  <a:path w="114300" h="269239">
                <a:moveTo>
                  <a:pt x="114300" y="154686"/>
                </a:moveTo>
                <a:lnTo>
                  <a:pt x="0" y="154686"/>
                </a:lnTo>
                <a:lnTo>
                  <a:pt x="0" y="268986"/>
                </a:lnTo>
                <a:lnTo>
                  <a:pt x="114300" y="268986"/>
                </a:lnTo>
                <a:lnTo>
                  <a:pt x="114300" y="15468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943100" y="4442459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943100" y="4814315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1943100" y="5148834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1943100" y="5340858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913892"/>
            <a:ext cx="59372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Pri</a:t>
            </a:r>
            <a:r>
              <a:rPr dirty="0" sz="1200" spc="-1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itive 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844627" y="1089152"/>
            <a:ext cx="104584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Abacus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92200" y="1439671"/>
            <a:ext cx="14528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17th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61952" y="1439671"/>
            <a:ext cx="25304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Henry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Briggs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Logarithm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35100" y="1790192"/>
            <a:ext cx="330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1930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44800" y="1790190"/>
            <a:ext cx="1642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Charles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Babbage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200" y="2140711"/>
            <a:ext cx="330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1947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82900" y="2140711"/>
            <a:ext cx="8693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2491231"/>
            <a:ext cx="5627370" cy="529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9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New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410"/>
              </a:lnSpc>
              <a:tabLst>
                <a:tab pos="1781810" algn="l"/>
              </a:tabLst>
            </a:pPr>
            <a:r>
              <a:rPr dirty="0" sz="1200" spc="-5">
                <a:latin typeface="Times New Roman"/>
                <a:cs typeface="Times New Roman"/>
              </a:rPr>
              <a:t>Future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Second-generation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6.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Focus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‘History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Computers’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bold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typeface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mathematicians use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saves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analytical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Engine’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invention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these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endParaRPr sz="1200">
              <a:latin typeface="Times New Roman"/>
              <a:cs typeface="Times New Roman"/>
            </a:endParaRPr>
          </a:p>
          <a:p>
            <a:pPr marL="203835" indent="-191770">
              <a:lnSpc>
                <a:spcPts val="1410"/>
              </a:lnSpc>
              <a:buAutoNum type="arabicPeriod"/>
              <a:tabLst>
                <a:tab pos="20447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text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‘History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Computers’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italics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1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(history)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still </a:t>
            </a:r>
            <a:r>
              <a:rPr dirty="0" sz="1200" spc="-5">
                <a:latin typeface="Times New Roman"/>
                <a:cs typeface="Times New Roman"/>
              </a:rPr>
              <a:t>being 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(abacus)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mathematicians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(logarithm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tables)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saves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 deal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time (machine)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analytical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(machine)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5">
                <a:latin typeface="Times New Roman"/>
                <a:cs typeface="Times New Roman"/>
              </a:rPr>
              <a:t> lists (machine)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named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engineers)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(computers)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(computers)</a:t>
            </a:r>
            <a:endParaRPr sz="1200">
              <a:latin typeface="Times New Roman"/>
              <a:cs typeface="Times New Roman"/>
            </a:endParaRPr>
          </a:p>
          <a:p>
            <a:pPr marL="203835" indent="-191135">
              <a:lnSpc>
                <a:spcPts val="1410"/>
              </a:lnSpc>
              <a:buFont typeface="Times New Roman"/>
              <a:buAutoNum type="arabi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(circuits)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6067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-07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Formation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When you are </a:t>
            </a:r>
            <a:r>
              <a:rPr dirty="0" sz="1200" spc="-5">
                <a:latin typeface="Times New Roman"/>
                <a:cs typeface="Times New Roman"/>
              </a:rPr>
              <a:t>reading, you will </a:t>
            </a:r>
            <a:r>
              <a:rPr dirty="0" sz="1200">
                <a:latin typeface="Times New Roman"/>
                <a:cs typeface="Times New Roman"/>
              </a:rPr>
              <a:t>come </a:t>
            </a:r>
            <a:r>
              <a:rPr dirty="0" sz="1200" spc="-5">
                <a:latin typeface="Times New Roman"/>
                <a:cs typeface="Times New Roman"/>
              </a:rPr>
              <a:t>across unfamiliar words.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often possible to </a:t>
            </a:r>
            <a:r>
              <a:rPr dirty="0" sz="1200" spc="-5">
                <a:latin typeface="Times New Roman"/>
                <a:cs typeface="Times New Roman"/>
              </a:rPr>
              <a:t>guess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meanings </a:t>
            </a:r>
            <a:r>
              <a:rPr dirty="0" sz="1200">
                <a:latin typeface="Times New Roman"/>
                <a:cs typeface="Times New Roman"/>
              </a:rPr>
              <a:t>of these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you understand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way words are generally formed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English. Learning the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English can be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easier, and even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enjoyable, if you understand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English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parts: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spcBef>
                <a:spcPts val="3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Prefix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spcBef>
                <a:spcPts val="3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Stem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Suffix.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Prefix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Pre-means </a:t>
            </a:r>
            <a:r>
              <a:rPr dirty="0" sz="1200">
                <a:latin typeface="Times New Roman"/>
                <a:cs typeface="Times New Roman"/>
              </a:rPr>
              <a:t>‘before’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comes</a:t>
            </a:r>
            <a:r>
              <a:rPr dirty="0" sz="1200">
                <a:latin typeface="Times New Roman"/>
                <a:cs typeface="Times New Roman"/>
              </a:rPr>
              <a:t> 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stem.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de-(meaning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‘reduce’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‘reverse’)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demagnetize </a:t>
            </a:r>
            <a:r>
              <a:rPr dirty="0" sz="1200">
                <a:latin typeface="Times New Roman"/>
                <a:cs typeface="Times New Roman"/>
              </a:rPr>
              <a:t>(‘to deprive of </a:t>
            </a:r>
            <a:r>
              <a:rPr dirty="0" sz="1200" spc="-5">
                <a:latin typeface="Times New Roman"/>
                <a:cs typeface="Times New Roman"/>
              </a:rPr>
              <a:t>magnetism’).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Suffix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suffix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what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attached </a:t>
            </a:r>
            <a:r>
              <a:rPr dirty="0" sz="1200">
                <a:latin typeface="Times New Roman"/>
                <a:cs typeface="Times New Roman"/>
              </a:rPr>
              <a:t>to the end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stem.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suffix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(meaning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(‘someone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who’)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(‘the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programs’).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suffixes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affixes.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Stem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stem </a:t>
            </a:r>
            <a:r>
              <a:rPr dirty="0" sz="1200">
                <a:latin typeface="Times New Roman"/>
                <a:cs typeface="Times New Roman"/>
              </a:rPr>
              <a:t>of a word </a:t>
            </a:r>
            <a:r>
              <a:rPr dirty="0" sz="1200" spc="-5">
                <a:latin typeface="Times New Roman"/>
                <a:cs typeface="Times New Roman"/>
              </a:rPr>
              <a:t>is its </a:t>
            </a:r>
            <a:r>
              <a:rPr dirty="0" sz="1200">
                <a:latin typeface="Times New Roman"/>
                <a:cs typeface="Times New Roman"/>
              </a:rPr>
              <a:t>basic </a:t>
            </a:r>
            <a:r>
              <a:rPr dirty="0" sz="1200" spc="-5">
                <a:latin typeface="Times New Roman"/>
                <a:cs typeface="Times New Roman"/>
              </a:rPr>
              <a:t>form,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fundamental element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common to all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forms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word. A </a:t>
            </a:r>
            <a:r>
              <a:rPr dirty="0" sz="1200" b="1">
                <a:latin typeface="Times New Roman"/>
                <a:cs typeface="Times New Roman"/>
              </a:rPr>
              <a:t>prefix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form which is fixed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beginning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stem;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suffix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form which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fixed</a:t>
            </a:r>
            <a:r>
              <a:rPr dirty="0" sz="1200">
                <a:latin typeface="Times New Roman"/>
                <a:cs typeface="Times New Roman"/>
              </a:rPr>
              <a:t> to the end of a stem.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5205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Stem = </a:t>
            </a:r>
            <a:r>
              <a:rPr dirty="0" sz="1200" spc="-5">
                <a:latin typeface="Times New Roman"/>
                <a:cs typeface="Times New Roman"/>
              </a:rPr>
              <a:t>measure </a:t>
            </a:r>
            <a:r>
              <a:rPr dirty="0" sz="1200">
                <a:latin typeface="Times New Roman"/>
                <a:cs typeface="Times New Roman"/>
              </a:rPr>
              <a:t> Suffix= </a:t>
            </a:r>
            <a:r>
              <a:rPr dirty="0" sz="1200" spc="-5">
                <a:latin typeface="Times New Roman"/>
                <a:cs typeface="Times New Roman"/>
              </a:rPr>
              <a:t>measurable </a:t>
            </a:r>
            <a:r>
              <a:rPr dirty="0" sz="1200">
                <a:latin typeface="Times New Roman"/>
                <a:cs typeface="Times New Roman"/>
              </a:rPr>
              <a:t> Prefix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=immeasurable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prefix usually changes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meaning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while a suffix usually changes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part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speech. </a:t>
            </a:r>
            <a:r>
              <a:rPr dirty="0" sz="1200" spc="-5" b="1">
                <a:latin typeface="Times New Roman"/>
                <a:cs typeface="Times New Roman"/>
              </a:rPr>
              <a:t>E.g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the suffix -able </a:t>
            </a:r>
            <a:r>
              <a:rPr dirty="0" sz="1200" spc="-5">
                <a:latin typeface="Times New Roman"/>
                <a:cs typeface="Times New Roman"/>
              </a:rPr>
              <a:t>changes</a:t>
            </a:r>
            <a:r>
              <a:rPr dirty="0" sz="1200">
                <a:latin typeface="Times New Roman"/>
                <a:cs typeface="Times New Roman"/>
              </a:rPr>
              <a:t> verbs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adjectives </a:t>
            </a:r>
            <a:r>
              <a:rPr dirty="0" sz="1200" spc="-5">
                <a:latin typeface="Times New Roman"/>
                <a:cs typeface="Times New Roman"/>
              </a:rPr>
              <a:t>(breakable, </a:t>
            </a:r>
            <a:r>
              <a:rPr dirty="0" sz="1200">
                <a:latin typeface="Times New Roman"/>
                <a:cs typeface="Times New Roman"/>
              </a:rPr>
              <a:t>enjoyable).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im-</a:t>
            </a:r>
            <a:r>
              <a:rPr dirty="0" sz="1200">
                <a:latin typeface="Times New Roman"/>
                <a:cs typeface="Times New Roman"/>
              </a:rPr>
              <a:t> changes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opposite: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capable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measured; </a:t>
            </a:r>
            <a:r>
              <a:rPr dirty="0" sz="1200">
                <a:latin typeface="Times New Roman"/>
                <a:cs typeface="Times New Roman"/>
              </a:rPr>
              <a:t>immeasurable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“not capable of being </a:t>
            </a:r>
            <a:r>
              <a:rPr dirty="0" sz="1200" spc="-5">
                <a:latin typeface="Times New Roman"/>
                <a:cs typeface="Times New Roman"/>
              </a:rPr>
              <a:t>measured.”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388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prefixes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suffixes,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recognise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guess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of hundreds of English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formation.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Notice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numerous 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>
                <a:latin typeface="Times New Roman"/>
                <a:cs typeface="Times New Roman"/>
              </a:rPr>
              <a:t> on the stem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1994746"/>
          <a:ext cx="3712210" cy="2272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9180"/>
                <a:gridCol w="1248409"/>
                <a:gridCol w="1404619"/>
              </a:tblGrid>
              <a:tr h="259645">
                <a:tc>
                  <a:txBody>
                    <a:bodyPr/>
                    <a:lstStyle/>
                    <a:p>
                      <a:pPr marL="31750">
                        <a:lnSpc>
                          <a:spcPts val="131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Prefix+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1635">
                        <a:lnSpc>
                          <a:spcPts val="131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act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suffix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ts val="131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prefix+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act</a:t>
                      </a:r>
                      <a:r>
                        <a:rPr dirty="0" sz="1200" spc="-3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+suffix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2889">
                <a:tc>
                  <a:txBody>
                    <a:bodyPr/>
                    <a:lstStyle/>
                    <a:p>
                      <a:pPr marL="31750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re+act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act+ion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re+act+ion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enact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enactment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reenact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actively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reenactment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interact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actionless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reactor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transact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activity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reactivate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activate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reactivation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activation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interaction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actor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transaction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actress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inaction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3454400" y="4419091"/>
            <a:ext cx="643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AFFIXES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130914" y="4769611"/>
            <a:ext cx="7289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SUFFIXES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4769611"/>
            <a:ext cx="319087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60400">
              <a:lnSpc>
                <a:spcPct val="100000"/>
              </a:lnSpc>
              <a:spcBef>
                <a:spcPts val="100"/>
              </a:spcBef>
              <a:tabLst>
                <a:tab pos="2489200" algn="l"/>
              </a:tabLst>
            </a:pPr>
            <a:r>
              <a:rPr dirty="0" sz="1200" spc="-5">
                <a:latin typeface="Times New Roman"/>
                <a:cs typeface="Times New Roman"/>
              </a:rPr>
              <a:t>PREFIXES	</a:t>
            </a:r>
            <a:r>
              <a:rPr dirty="0" sz="1200">
                <a:latin typeface="Times New Roman"/>
                <a:cs typeface="Times New Roman"/>
              </a:rPr>
              <a:t>(STEM)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prefixes and</a:t>
            </a:r>
            <a:r>
              <a:rPr dirty="0" sz="1200" spc="-5">
                <a:latin typeface="Times New Roman"/>
                <a:cs typeface="Times New Roman"/>
              </a:rPr>
              <a:t> suffixes</a:t>
            </a:r>
            <a:r>
              <a:rPr dirty="0" sz="1200">
                <a:latin typeface="Times New Roman"/>
                <a:cs typeface="Times New Roman"/>
              </a:rPr>
              <a:t> are referred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Affixes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5472176"/>
            <a:ext cx="373443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Suffixes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</a:t>
            </a:r>
            <a:r>
              <a:rPr dirty="0" sz="1200" spc="-15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d</a:t>
            </a:r>
            <a:r>
              <a:rPr dirty="0" sz="1200" b="1">
                <a:latin typeface="Times New Roman"/>
                <a:cs typeface="Times New Roman"/>
              </a:rPr>
              <a:t> their me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ings</a:t>
            </a:r>
            <a:r>
              <a:rPr dirty="0" sz="1200" spc="-1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suffixes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 </a:t>
            </a:r>
            <a:r>
              <a:rPr dirty="0" sz="1200" spc="-5">
                <a:latin typeface="Times New Roman"/>
                <a:cs typeface="Times New Roman"/>
              </a:rPr>
              <a:t>meanings.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Suffixes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996950" y="6903550"/>
          <a:ext cx="4669155" cy="1219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6595"/>
                <a:gridCol w="1169035"/>
                <a:gridCol w="1725295"/>
                <a:gridCol w="1079500"/>
              </a:tblGrid>
              <a:tr h="171253">
                <a:tc>
                  <a:txBody>
                    <a:bodyPr/>
                    <a:lstStyle/>
                    <a:p>
                      <a:pPr marL="3175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Nouns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Verbs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0855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Adjectives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626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Adverb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4498">
                <a:tc>
                  <a:txBody>
                    <a:bodyPr/>
                    <a:lstStyle/>
                    <a:p>
                      <a:pPr marL="3175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-ize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689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212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-fy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-ify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-ish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1016000" y="8276335"/>
            <a:ext cx="56267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 b="1">
                <a:latin typeface="Times New Roman"/>
                <a:cs typeface="Times New Roman"/>
              </a:rPr>
              <a:t>Study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these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tables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try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additional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examples.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your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dictionary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if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necessary.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166937" y="4578858"/>
            <a:ext cx="3552825" cy="228600"/>
            <a:chOff x="2166937" y="4578858"/>
            <a:chExt cx="3552825" cy="228600"/>
          </a:xfrm>
        </p:grpSpPr>
        <p:sp>
          <p:nvSpPr>
            <p:cNvPr id="12" name="object 12"/>
            <p:cNvSpPr/>
            <p:nvPr/>
          </p:nvSpPr>
          <p:spPr>
            <a:xfrm>
              <a:off x="2171700" y="4693158"/>
              <a:ext cx="3543300" cy="114300"/>
            </a:xfrm>
            <a:custGeom>
              <a:avLst/>
              <a:gdLst/>
              <a:ahLst/>
              <a:cxnLst/>
              <a:rect l="l" t="t" r="r" b="b"/>
              <a:pathLst>
                <a:path w="3543300" h="114300">
                  <a:moveTo>
                    <a:pt x="0" y="0"/>
                  </a:moveTo>
                  <a:lnTo>
                    <a:pt x="3543300" y="0"/>
                  </a:lnTo>
                </a:path>
                <a:path w="3543300"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15000" y="4693158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707130" y="4578858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1023937" y="6554533"/>
            <a:ext cx="4467225" cy="290830"/>
            <a:chOff x="1023937" y="6554533"/>
            <a:chExt cx="4467225" cy="290830"/>
          </a:xfrm>
        </p:grpSpPr>
        <p:sp>
          <p:nvSpPr>
            <p:cNvPr id="16" name="object 16"/>
            <p:cNvSpPr/>
            <p:nvPr/>
          </p:nvSpPr>
          <p:spPr>
            <a:xfrm>
              <a:off x="1028700" y="6559295"/>
              <a:ext cx="4457700" cy="0"/>
            </a:xfrm>
            <a:custGeom>
              <a:avLst/>
              <a:gdLst/>
              <a:ahLst/>
              <a:cxnLst/>
              <a:rect l="l" t="t" r="r" b="b"/>
              <a:pathLst>
                <a:path w="4457700" h="0">
                  <a:moveTo>
                    <a:pt x="0" y="0"/>
                  </a:moveTo>
                  <a:lnTo>
                    <a:pt x="445770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171700" y="6559295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028700" y="6559295"/>
              <a:ext cx="0" cy="190500"/>
            </a:xfrm>
            <a:custGeom>
              <a:avLst/>
              <a:gdLst/>
              <a:ahLst/>
              <a:cxnLst/>
              <a:rect l="l" t="t" r="r" b="b"/>
              <a:pathLst>
                <a:path w="0" h="190500">
                  <a:moveTo>
                    <a:pt x="0" y="0"/>
                  </a:moveTo>
                  <a:lnTo>
                    <a:pt x="0" y="1905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486400" y="6559295"/>
              <a:ext cx="0" cy="190500"/>
            </a:xfrm>
            <a:custGeom>
              <a:avLst/>
              <a:gdLst/>
              <a:ahLst/>
              <a:cxnLst/>
              <a:rect l="l" t="t" r="r" b="b"/>
              <a:pathLst>
                <a:path w="0" h="190500">
                  <a:moveTo>
                    <a:pt x="0" y="0"/>
                  </a:moveTo>
                  <a:lnTo>
                    <a:pt x="0" y="1905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771900" y="6559295"/>
              <a:ext cx="0" cy="190500"/>
            </a:xfrm>
            <a:custGeom>
              <a:avLst/>
              <a:gdLst/>
              <a:ahLst/>
              <a:cxnLst/>
              <a:rect l="l" t="t" r="r" b="b"/>
              <a:pathLst>
                <a:path w="0" h="190500">
                  <a:moveTo>
                    <a:pt x="0" y="0"/>
                  </a:moveTo>
                  <a:lnTo>
                    <a:pt x="0" y="1905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8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Noun-forming suffixes: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1295230"/>
          <a:ext cx="4287520" cy="3322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9955"/>
                <a:gridCol w="1716405"/>
                <a:gridCol w="1660525"/>
              </a:tblGrid>
              <a:tr h="171253">
                <a:tc>
                  <a:txBody>
                    <a:bodyPr/>
                    <a:lstStyle/>
                    <a:p>
                      <a:pPr marL="3175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Suffix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4659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Examples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4497">
                <a:tc>
                  <a:txBody>
                    <a:bodyPr/>
                    <a:lstStyle/>
                    <a:p>
                      <a:pPr marL="3175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performance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quality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independence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-er,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person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programmer,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operator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which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compiler,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accumulator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execution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person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who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analyst,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typist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-yst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condition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32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cleanliness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action/state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conversion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activity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32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multiplexing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state,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measurement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state,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quality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electricity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pertaining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electrician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-ism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condition/state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magnetism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-dom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domain/condition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32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freedom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-ship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condition/state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relationship,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partnership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binary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016000" y="4771135"/>
            <a:ext cx="1511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Verb-forming suffixes: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14400" y="5150950"/>
          <a:ext cx="4000500" cy="1043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8345"/>
                <a:gridCol w="1007744"/>
                <a:gridCol w="2265044"/>
              </a:tblGrid>
              <a:tr h="168771">
                <a:tc>
                  <a:txBody>
                    <a:bodyPr/>
                    <a:lstStyle/>
                    <a:p>
                      <a:pPr marL="114300">
                        <a:lnSpc>
                          <a:spcPts val="122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Suffix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ts val="122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ts val="122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Examples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747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14300" marR="37719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-ize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143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-fy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1430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24790">
                        <a:lnSpc>
                          <a:spcPct val="100000"/>
                        </a:lnSpc>
                        <a:spcBef>
                          <a:spcPts val="10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07010">
                        <a:lnSpc>
                          <a:spcPts val="141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computerize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07645" marR="323215" indent="-635">
                        <a:lnSpc>
                          <a:spcPts val="1380"/>
                        </a:lnSpc>
                        <a:spcBef>
                          <a:spcPts val="6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automate,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activate,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calculate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simplify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07645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harden,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widen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016000" y="6523735"/>
            <a:ext cx="1671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Adverb-forming suffixes: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09637" y="6799135"/>
          <a:ext cx="4033519" cy="1152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5800"/>
                <a:gridCol w="1504315"/>
                <a:gridCol w="1828800"/>
              </a:tblGrid>
              <a:tr h="243077">
                <a:tc>
                  <a:txBody>
                    <a:bodyPr/>
                    <a:lstStyle/>
                    <a:p>
                      <a:pPr marL="114300">
                        <a:lnSpc>
                          <a:spcPts val="1160"/>
                        </a:lnSpc>
                        <a:spcBef>
                          <a:spcPts val="650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Suffix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6065" marR="12065">
                        <a:lnSpc>
                          <a:spcPts val="1160"/>
                        </a:lnSpc>
                        <a:spcBef>
                          <a:spcPts val="650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7965">
                        <a:lnSpc>
                          <a:spcPts val="1160"/>
                        </a:lnSpc>
                        <a:spcBef>
                          <a:spcPts val="650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Examples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9992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15240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 the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manner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comparably,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helpfully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electronically,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logically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19588" y="2210054"/>
            <a:ext cx="130065" cy="2540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19588" y="2581910"/>
            <a:ext cx="130065" cy="254000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914400" y="6344411"/>
            <a:ext cx="4000500" cy="0"/>
          </a:xfrm>
          <a:custGeom>
            <a:avLst/>
            <a:gdLst/>
            <a:ahLst/>
            <a:cxnLst/>
            <a:rect l="l" t="t" r="r" b="b"/>
            <a:pathLst>
              <a:path w="4000500" h="0">
                <a:moveTo>
                  <a:pt x="0" y="0"/>
                </a:moveTo>
                <a:lnTo>
                  <a:pt x="40005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335024" y="5433059"/>
            <a:ext cx="106045" cy="685800"/>
          </a:xfrm>
          <a:custGeom>
            <a:avLst/>
            <a:gdLst/>
            <a:ahLst/>
            <a:cxnLst/>
            <a:rect l="l" t="t" r="r" b="b"/>
            <a:pathLst>
              <a:path w="106044" h="685800">
                <a:moveTo>
                  <a:pt x="0" y="0"/>
                </a:moveTo>
                <a:lnTo>
                  <a:pt x="20871" y="4536"/>
                </a:lnTo>
                <a:lnTo>
                  <a:pt x="37814" y="16859"/>
                </a:lnTo>
                <a:lnTo>
                  <a:pt x="49184" y="35040"/>
                </a:lnTo>
                <a:lnTo>
                  <a:pt x="53340" y="57150"/>
                </a:lnTo>
                <a:lnTo>
                  <a:pt x="53340" y="285750"/>
                </a:lnTo>
                <a:lnTo>
                  <a:pt x="57483" y="307859"/>
                </a:lnTo>
                <a:lnTo>
                  <a:pt x="68770" y="326040"/>
                </a:lnTo>
                <a:lnTo>
                  <a:pt x="85486" y="338363"/>
                </a:lnTo>
                <a:lnTo>
                  <a:pt x="105918" y="342900"/>
                </a:lnTo>
                <a:lnTo>
                  <a:pt x="85486" y="347436"/>
                </a:lnTo>
                <a:lnTo>
                  <a:pt x="68770" y="359759"/>
                </a:lnTo>
                <a:lnTo>
                  <a:pt x="57483" y="377940"/>
                </a:lnTo>
                <a:lnTo>
                  <a:pt x="53340" y="400050"/>
                </a:lnTo>
                <a:lnTo>
                  <a:pt x="53340" y="628650"/>
                </a:lnTo>
                <a:lnTo>
                  <a:pt x="49184" y="650759"/>
                </a:lnTo>
                <a:lnTo>
                  <a:pt x="37814" y="668940"/>
                </a:lnTo>
                <a:lnTo>
                  <a:pt x="20871" y="681263"/>
                </a:lnTo>
                <a:lnTo>
                  <a:pt x="0" y="685800"/>
                </a:lnTo>
              </a:path>
            </a:pathLst>
          </a:custGeom>
          <a:ln w="285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914400" y="7976616"/>
            <a:ext cx="4000500" cy="0"/>
          </a:xfrm>
          <a:custGeom>
            <a:avLst/>
            <a:gdLst/>
            <a:ahLst/>
            <a:cxnLst/>
            <a:rect l="l" t="t" r="r" b="b"/>
            <a:pathLst>
              <a:path w="4000500" h="0">
                <a:moveTo>
                  <a:pt x="0" y="0"/>
                </a:moveTo>
                <a:lnTo>
                  <a:pt x="40005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8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Adjective-forming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suffixes: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1295230"/>
          <a:ext cx="4771390" cy="3148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1140"/>
                <a:gridCol w="1471930"/>
                <a:gridCol w="1798954"/>
              </a:tblGrid>
              <a:tr h="171253">
                <a:tc>
                  <a:txBody>
                    <a:bodyPr/>
                    <a:lstStyle/>
                    <a:p>
                      <a:pPr marL="3175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Suffix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Examples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4497">
                <a:tc>
                  <a:txBody>
                    <a:bodyPr/>
                    <a:lstStyle/>
                    <a:p>
                      <a:pPr marL="3175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computational,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logical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have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quality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circular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magnetic,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automatic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electrical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capable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comparable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-ible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divisible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like,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full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dangerous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religious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characterized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helpful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without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careless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yellowish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having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03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computed,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punched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quality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interactive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make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programming,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coding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5240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6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Locating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Base</a:t>
                      </a:r>
                      <a:r>
                        <a:rPr dirty="0" sz="1200" spc="-3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Words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processing,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multiplexing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1028700" y="4776215"/>
            <a:ext cx="38100" cy="14604"/>
          </a:xfrm>
          <a:custGeom>
            <a:avLst/>
            <a:gdLst/>
            <a:ahLst/>
            <a:cxnLst/>
            <a:rect l="l" t="t" r="r" b="b"/>
            <a:pathLst>
              <a:path w="38100" h="14604">
                <a:moveTo>
                  <a:pt x="38100" y="0"/>
                </a:moveTo>
                <a:lnTo>
                  <a:pt x="0" y="0"/>
                </a:lnTo>
                <a:lnTo>
                  <a:pt x="0" y="14477"/>
                </a:lnTo>
                <a:lnTo>
                  <a:pt x="38100" y="14477"/>
                </a:lnTo>
                <a:lnTo>
                  <a:pt x="381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16000" y="4594352"/>
            <a:ext cx="5485765" cy="45897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90170" indent="381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difficult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locate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</a:t>
            </a:r>
            <a:r>
              <a:rPr dirty="0" sz="1200">
                <a:latin typeface="Times New Roman"/>
                <a:cs typeface="Times New Roman"/>
              </a:rPr>
              <a:t> word,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spellings frequently change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suffixes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them.</a:t>
            </a:r>
            <a:endParaRPr sz="1200">
              <a:latin typeface="Times New Roman"/>
              <a:cs typeface="Times New Roman"/>
            </a:endParaRPr>
          </a:p>
          <a:p>
            <a:pPr marL="469900" marR="44450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dropped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suffix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added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Mature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+it </a:t>
            </a:r>
            <a:r>
              <a:rPr dirty="0" sz="1200" spc="-5">
                <a:latin typeface="Times New Roman"/>
                <a:cs typeface="Times New Roman"/>
              </a:rPr>
              <a:t>y=maturity</a:t>
            </a:r>
            <a:endParaRPr sz="1200">
              <a:latin typeface="Times New Roman"/>
              <a:cs typeface="Times New Roman"/>
            </a:endParaRPr>
          </a:p>
          <a:p>
            <a:pPr marL="50800" marR="139700" indent="1905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y,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,when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suffix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added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it: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harmony +ous=harmonious</a:t>
            </a:r>
            <a:endParaRPr sz="1200">
              <a:latin typeface="Times New Roman"/>
              <a:cs typeface="Times New Roman"/>
            </a:endParaRPr>
          </a:p>
          <a:p>
            <a:pPr marL="50800" marR="5080" indent="1905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Base </a:t>
            </a:r>
            <a:r>
              <a:rPr dirty="0" sz="1200" spc="-5">
                <a:latin typeface="Times New Roman"/>
                <a:cs typeface="Times New Roman"/>
              </a:rPr>
              <a:t>words may </a:t>
            </a:r>
            <a:r>
              <a:rPr dirty="0" sz="1200">
                <a:latin typeface="Times New Roman"/>
                <a:cs typeface="Times New Roman"/>
              </a:rPr>
              <a:t>undergo other spelling changes when </a:t>
            </a:r>
            <a:r>
              <a:rPr dirty="0" sz="1200" spc="-5">
                <a:latin typeface="Times New Roman"/>
                <a:cs typeface="Times New Roman"/>
              </a:rPr>
              <a:t>suffixes </a:t>
            </a:r>
            <a:r>
              <a:rPr dirty="0" sz="1200">
                <a:latin typeface="Times New Roman"/>
                <a:cs typeface="Times New Roman"/>
              </a:rPr>
              <a:t>are added to </a:t>
            </a:r>
            <a:r>
              <a:rPr dirty="0" sz="1200" spc="-5">
                <a:latin typeface="Times New Roman"/>
                <a:cs typeface="Times New Roman"/>
              </a:rPr>
              <a:t>them: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reclaim+ation=reclamation</a:t>
            </a:r>
            <a:r>
              <a:rPr dirty="0" sz="1200">
                <a:latin typeface="Times New Roman"/>
                <a:cs typeface="Times New Roman"/>
              </a:rPr>
              <a:t> (the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reclaim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dropped)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Exercise1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Locate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boldface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given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lines.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65735" marR="2070100" indent="-1657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established the </a:t>
            </a:r>
            <a:r>
              <a:rPr dirty="0" sz="1200" spc="-5" b="1">
                <a:latin typeface="Times New Roman"/>
                <a:cs typeface="Times New Roman"/>
              </a:rPr>
              <a:t>authenticity </a:t>
            </a:r>
            <a:r>
              <a:rPr dirty="0" sz="1200" spc="-5">
                <a:latin typeface="Times New Roman"/>
                <a:cs typeface="Times New Roman"/>
              </a:rPr>
              <a:t>of our </a:t>
            </a:r>
            <a:r>
              <a:rPr dirty="0" sz="1200">
                <a:latin typeface="Times New Roman"/>
                <a:cs typeface="Times New Roman"/>
              </a:rPr>
              <a:t>antique chair.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------------ </a:t>
            </a:r>
            <a:r>
              <a:rPr dirty="0" sz="1200" spc="-5">
                <a:latin typeface="Times New Roman"/>
                <a:cs typeface="Times New Roman"/>
              </a:rPr>
              <a:t>antique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chair.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enjoy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collegiate </a:t>
            </a:r>
            <a:r>
              <a:rPr dirty="0" sz="1200">
                <a:latin typeface="Times New Roman"/>
                <a:cs typeface="Times New Roman"/>
              </a:rPr>
              <a:t>athletic</a:t>
            </a:r>
            <a:r>
              <a:rPr dirty="0" sz="1200" spc="-5">
                <a:latin typeface="Times New Roman"/>
                <a:cs typeface="Times New Roman"/>
              </a:rPr>
              <a:t> games.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380"/>
              </a:lnSpc>
            </a:pP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enjoy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athletic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--------------.</a:t>
            </a:r>
            <a:endParaRPr sz="1200">
              <a:latin typeface="Times New Roman"/>
              <a:cs typeface="Times New Roman"/>
            </a:endParaRPr>
          </a:p>
          <a:p>
            <a:pPr marL="165735" marR="2968625" indent="-165735">
              <a:lnSpc>
                <a:spcPts val="1380"/>
              </a:lnSpc>
              <a:spcBef>
                <a:spcPts val="65"/>
              </a:spcBef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automobile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comatose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--------------.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3"/>
              <a:tabLst>
                <a:tab pos="16573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comparative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luck</a:t>
            </a:r>
            <a:endParaRPr sz="1200">
              <a:latin typeface="Times New Roman"/>
              <a:cs typeface="Times New Roman"/>
            </a:endParaRPr>
          </a:p>
          <a:p>
            <a:pPr marL="203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</a:t>
            </a:r>
            <a:r>
              <a:rPr dirty="0" sz="1200" spc="-5">
                <a:latin typeface="Times New Roman"/>
                <a:cs typeface="Times New Roman"/>
              </a:rPr>
              <a:t> 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luck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luck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good.</a:t>
            </a:r>
            <a:endParaRPr sz="1200">
              <a:latin typeface="Times New Roman"/>
              <a:cs typeface="Times New Roman"/>
            </a:endParaRPr>
          </a:p>
          <a:p>
            <a:pPr marL="165100" marR="3002280" indent="-152400">
              <a:lnSpc>
                <a:spcPts val="1380"/>
              </a:lnSpc>
              <a:spcBef>
                <a:spcPts val="65"/>
              </a:spcBef>
              <a:buAutoNum type="arabicPeriod" startAt="5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Can you </a:t>
            </a:r>
            <a:r>
              <a:rPr dirty="0" sz="1200" spc="-5" b="1">
                <a:latin typeface="Times New Roman"/>
                <a:cs typeface="Times New Roman"/>
              </a:rPr>
              <a:t>differentiate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them?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-------------?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5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China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experiential.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China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actual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------------------------?</a:t>
            </a:r>
            <a:endParaRPr sz="1200">
              <a:latin typeface="Times New Roman"/>
              <a:cs typeface="Times New Roman"/>
            </a:endParaRPr>
          </a:p>
          <a:p>
            <a:pPr marL="164465" marR="3216910" indent="-152400">
              <a:lnSpc>
                <a:spcPts val="1380"/>
              </a:lnSpc>
              <a:spcBef>
                <a:spcPts val="70"/>
              </a:spcBef>
              <a:buAutoNum type="arabicPeriod" startAt="7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She has </a:t>
            </a:r>
            <a:r>
              <a:rPr dirty="0" sz="1200" b="1">
                <a:latin typeface="Times New Roman"/>
                <a:cs typeface="Times New Roman"/>
              </a:rPr>
              <a:t>expertise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mathematics.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is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mathematics.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23</a:t>
            </a:fld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1922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65100" marR="3578225" indent="-153035">
              <a:lnSpc>
                <a:spcPts val="1380"/>
              </a:lnSpc>
              <a:spcBef>
                <a:spcPts val="5"/>
              </a:spcBef>
              <a:buAutoNum type="arabicPeriod" startAt="8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gave her </a:t>
            </a:r>
            <a:r>
              <a:rPr dirty="0" sz="1200" spc="-5">
                <a:latin typeface="Times New Roman"/>
                <a:cs typeface="Times New Roman"/>
              </a:rPr>
              <a:t>answer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 b="1">
                <a:latin typeface="Times New Roman"/>
                <a:cs typeface="Times New Roman"/>
              </a:rPr>
              <a:t>finality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knew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8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servile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attitudes.</a:t>
            </a:r>
            <a:endParaRPr sz="1200">
              <a:latin typeface="Times New Roman"/>
              <a:cs typeface="Times New Roman"/>
            </a:endParaRPr>
          </a:p>
          <a:p>
            <a:pPr marL="1270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attitudes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-------.</a:t>
            </a:r>
            <a:endParaRPr sz="1200">
              <a:latin typeface="Times New Roman"/>
              <a:cs typeface="Times New Roman"/>
            </a:endParaRPr>
          </a:p>
          <a:p>
            <a:pPr marL="241300" marR="3519804" indent="-228600">
              <a:lnSpc>
                <a:spcPts val="1380"/>
              </a:lnSpc>
              <a:spcBef>
                <a:spcPts val="65"/>
              </a:spcBef>
              <a:buAutoNum type="arabicPeriod" startAt="10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The numbers are in </a:t>
            </a:r>
            <a:r>
              <a:rPr dirty="0" sz="1200" spc="-5" b="1">
                <a:latin typeface="Times New Roman"/>
                <a:cs typeface="Times New Roman"/>
              </a:rPr>
              <a:t>tabular </a:t>
            </a:r>
            <a:r>
              <a:rPr dirty="0" sz="1200" spc="-5">
                <a:latin typeface="Times New Roman"/>
                <a:cs typeface="Times New Roman"/>
              </a:rPr>
              <a:t>form.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---------------.</a:t>
            </a:r>
            <a:endParaRPr sz="1200">
              <a:latin typeface="Times New Roman"/>
              <a:cs typeface="Times New Roman"/>
            </a:endParaRPr>
          </a:p>
          <a:p>
            <a:pPr marL="241300" marR="3007360" indent="-229235">
              <a:lnSpc>
                <a:spcPts val="1380"/>
              </a:lnSpc>
              <a:buAutoNum type="arabicPeriod" startAt="10"/>
              <a:tabLst>
                <a:tab pos="24193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enjoyed her </a:t>
            </a:r>
            <a:r>
              <a:rPr dirty="0" sz="1200" spc="-5" b="1">
                <a:latin typeface="Times New Roman"/>
                <a:cs typeface="Times New Roman"/>
              </a:rPr>
              <a:t>commentary </a:t>
            </a:r>
            <a:r>
              <a:rPr dirty="0" sz="1200" spc="-5">
                <a:latin typeface="Times New Roman"/>
                <a:cs typeface="Times New Roman"/>
              </a:rPr>
              <a:t>on the </a:t>
            </a:r>
            <a:r>
              <a:rPr dirty="0" sz="1200" spc="-10">
                <a:latin typeface="Times New Roman"/>
                <a:cs typeface="Times New Roman"/>
              </a:rPr>
              <a:t>news.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enjoyed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news.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15"/>
              </a:lnSpc>
              <a:buAutoNum type="arabicPeriod" startAt="10"/>
              <a:tabLst>
                <a:tab pos="2419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disputants?</a:t>
            </a:r>
            <a:endParaRPr sz="1200">
              <a:latin typeface="Times New Roman"/>
              <a:cs typeface="Times New Roman"/>
            </a:endParaRPr>
          </a:p>
          <a:p>
            <a:pPr marL="28003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engaged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-----------?</a:t>
            </a:r>
            <a:endParaRPr sz="1200">
              <a:latin typeface="Times New Roman"/>
              <a:cs typeface="Times New Roman"/>
            </a:endParaRPr>
          </a:p>
          <a:p>
            <a:pPr marL="241935" marR="3142615" indent="-241935">
              <a:lnSpc>
                <a:spcPts val="1380"/>
              </a:lnSpc>
              <a:spcBef>
                <a:spcPts val="65"/>
              </a:spcBef>
              <a:buAutoNum type="arabicPeriod" startAt="13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machine has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multiplicity </a:t>
            </a:r>
            <a:r>
              <a:rPr dirty="0" sz="1200" spc="-5">
                <a:latin typeface="Times New Roman"/>
                <a:cs typeface="Times New Roman"/>
              </a:rPr>
              <a:t>of parts.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-------</a:t>
            </a:r>
            <a:r>
              <a:rPr dirty="0" sz="1200" spc="-5">
                <a:latin typeface="Times New Roman"/>
                <a:cs typeface="Times New Roman"/>
              </a:rPr>
              <a:t> parts.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all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u="heavy" sz="1200" spc="6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suffixes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try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out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what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parts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speech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b="1">
                <a:latin typeface="Times New Roman"/>
                <a:cs typeface="Times New Roman"/>
              </a:rPr>
              <a:t> are.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yst</a:t>
            </a:r>
            <a:r>
              <a:rPr dirty="0" u="sng" sz="1200" spc="1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provides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ing</a:t>
            </a:r>
            <a:r>
              <a:rPr dirty="0" sz="1200" spc="-5">
                <a:latin typeface="Times New Roman"/>
                <a:cs typeface="Times New Roman"/>
              </a:rPr>
              <a:t> problems.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CRT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interact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devices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quiet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ness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594352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4944871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73200" y="4594352"/>
            <a:ext cx="517080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41300" marR="5080" indent="-2286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purchased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Fortran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compil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Basic only.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intricate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network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ic </a:t>
            </a:r>
            <a:r>
              <a:rPr dirty="0" sz="1200" spc="-5">
                <a:latin typeface="Times New Roman"/>
                <a:cs typeface="Times New Roman"/>
              </a:rPr>
              <a:t>circuits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5120132"/>
            <a:ext cx="562546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switches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tiny </a:t>
            </a:r>
            <a:r>
              <a:rPr dirty="0" sz="1200" spc="-5">
                <a:latin typeface="Times New Roman"/>
                <a:cs typeface="Times New Roman"/>
              </a:rPr>
              <a:t>metal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cores.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tabLst>
                <a:tab pos="469265" algn="l"/>
              </a:tabLst>
            </a:pPr>
            <a:r>
              <a:rPr dirty="0" sz="1200">
                <a:latin typeface="Times New Roman"/>
                <a:cs typeface="Times New Roman"/>
              </a:rPr>
              <a:t>5.	In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install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ations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</a:t>
            </a:r>
            <a:r>
              <a:rPr dirty="0" u="sng" sz="12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front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screen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shows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up-to-date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jobs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they are being process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291" y="5645911"/>
            <a:ext cx="51689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tion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als</a:t>
            </a:r>
            <a:r>
              <a:rPr dirty="0" u="sng" sz="1200" spc="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screens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partly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replaced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punch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5645911"/>
            <a:ext cx="56267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cards.</a:t>
            </a:r>
            <a:endParaRPr sz="1200">
              <a:latin typeface="Times New Roman"/>
              <a:cs typeface="Times New Roman"/>
            </a:endParaRPr>
          </a:p>
          <a:p>
            <a:pPr marL="393065" indent="-381000">
              <a:lnSpc>
                <a:spcPts val="1380"/>
              </a:lnSpc>
              <a:buAutoNum type="arabicPeriod" startAt="7"/>
              <a:tabLst>
                <a:tab pos="393065" algn="l"/>
                <a:tab pos="393700" algn="l"/>
              </a:tabLst>
            </a:pPr>
            <a:r>
              <a:rPr dirty="0" sz="1200">
                <a:latin typeface="Times New Roman"/>
                <a:cs typeface="Times New Roman"/>
              </a:rPr>
              <a:t>Bin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 is</a:t>
            </a:r>
            <a:r>
              <a:rPr dirty="0" sz="1200">
                <a:latin typeface="Times New Roman"/>
                <a:cs typeface="Times New Roman"/>
              </a:rPr>
              <a:t> based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two </a:t>
            </a:r>
            <a:r>
              <a:rPr dirty="0" sz="1200">
                <a:latin typeface="Times New Roman"/>
                <a:cs typeface="Times New Roman"/>
              </a:rPr>
              <a:t>digits: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0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i="1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445770" indent="-433705">
              <a:lnSpc>
                <a:spcPts val="1410"/>
              </a:lnSpc>
              <a:buAutoNum type="arabicPeriod" startAt="7"/>
              <a:tabLst>
                <a:tab pos="445770" algn="l"/>
                <a:tab pos="446405" algn="l"/>
              </a:tabLst>
            </a:pPr>
            <a:r>
              <a:rPr dirty="0" sz="1200">
                <a:latin typeface="Times New Roman"/>
                <a:cs typeface="Times New Roman"/>
              </a:rPr>
              <a:t>Multiplex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electric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carried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6346950"/>
            <a:ext cx="5627370" cy="2837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optic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link.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 startAt="9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designed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ically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pieces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345"/>
              </a:lnSpc>
              <a:buAutoNum type="arabicPeriod" startAt="9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 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Fill</a:t>
            </a:r>
            <a:r>
              <a:rPr dirty="0" sz="1200" spc="-5" b="1">
                <a:latin typeface="Times New Roman"/>
                <a:cs typeface="Times New Roman"/>
              </a:rPr>
              <a:t> in</a:t>
            </a:r>
            <a:r>
              <a:rPr dirty="0" sz="1200" b="1">
                <a:latin typeface="Times New Roman"/>
                <a:cs typeface="Times New Roman"/>
              </a:rPr>
              <a:t> each</a:t>
            </a:r>
            <a:r>
              <a:rPr dirty="0" sz="1200" spc="-5" b="1">
                <a:latin typeface="Times New Roman"/>
                <a:cs typeface="Times New Roman"/>
              </a:rPr>
              <a:t> blank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appropriate</a:t>
            </a:r>
            <a:r>
              <a:rPr dirty="0" sz="1200" b="1">
                <a:latin typeface="Times New Roman"/>
                <a:cs typeface="Times New Roman"/>
              </a:rPr>
              <a:t> form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469265" algn="l"/>
              </a:tabLst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i="1">
                <a:latin typeface="Times New Roman"/>
                <a:cs typeface="Times New Roman"/>
              </a:rPr>
              <a:t>.	</a:t>
            </a:r>
            <a:r>
              <a:rPr dirty="0" sz="1200" b="1" i="1">
                <a:latin typeface="Times New Roman"/>
                <a:cs typeface="Times New Roman"/>
              </a:rPr>
              <a:t>operation,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operate,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operator,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operational,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operationally,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operating</a:t>
            </a:r>
            <a:endParaRPr sz="1200">
              <a:latin typeface="Times New Roman"/>
              <a:cs typeface="Times New Roman"/>
            </a:endParaRPr>
          </a:p>
          <a:p>
            <a:pPr marL="233045" indent="-220979">
              <a:lnSpc>
                <a:spcPts val="1380"/>
              </a:lnSpc>
              <a:buAutoNum type="alphaLcPeriod"/>
              <a:tabLst>
                <a:tab pos="233679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perform mathematical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operations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quickly.</a:t>
            </a:r>
            <a:endParaRPr sz="1200">
              <a:latin typeface="Times New Roman"/>
              <a:cs typeface="Times New Roman"/>
            </a:endParaRPr>
          </a:p>
          <a:p>
            <a:pPr marL="189230" indent="-177165">
              <a:lnSpc>
                <a:spcPts val="1385"/>
              </a:lnSpc>
              <a:buAutoNum type="alphaLcPeriod"/>
              <a:tabLst>
                <a:tab pos="189865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malfunctioning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operator.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lphaLcPeriod" startAt="3"/>
              <a:tabLst>
                <a:tab pos="19431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operate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various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installation.</a:t>
            </a:r>
            <a:endParaRPr sz="1200">
              <a:latin typeface="Times New Roman"/>
              <a:cs typeface="Times New Roman"/>
            </a:endParaRPr>
          </a:p>
          <a:p>
            <a:pPr marL="469900" indent="-457834">
              <a:lnSpc>
                <a:spcPts val="1345"/>
              </a:lnSpc>
              <a:buAutoNum type="alphaLcPeriod" startAt="3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installation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not yet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operating/operational.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139700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200" y="1090676"/>
            <a:ext cx="5124450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 i="1">
                <a:latin typeface="Times New Roman"/>
                <a:cs typeface="Times New Roman"/>
              </a:rPr>
              <a:t>acceptance,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accept,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accepted, </a:t>
            </a:r>
            <a:r>
              <a:rPr dirty="0" sz="1200" spc="-5" b="1" i="1">
                <a:latin typeface="Times New Roman"/>
                <a:cs typeface="Times New Roman"/>
              </a:rPr>
              <a:t>acceptable, acceptably</a:t>
            </a:r>
            <a:endParaRPr sz="1200">
              <a:latin typeface="Times New Roman"/>
              <a:cs typeface="Times New Roman"/>
            </a:endParaRPr>
          </a:p>
          <a:p>
            <a:pPr marL="12700" marR="36766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device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accepts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processes</a:t>
            </a:r>
            <a:r>
              <a:rPr dirty="0" sz="1200">
                <a:latin typeface="Times New Roman"/>
                <a:cs typeface="Times New Roman"/>
              </a:rPr>
              <a:t> and gives out </a:t>
            </a:r>
            <a:r>
              <a:rPr dirty="0" sz="1200" spc="-5">
                <a:latin typeface="Times New Roman"/>
                <a:cs typeface="Times New Roman"/>
              </a:rPr>
              <a:t>information.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acceptance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acceptable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template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flowcharts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kept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790192"/>
            <a:ext cx="1320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142235"/>
            <a:ext cx="14033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101" y="2142235"/>
            <a:ext cx="499935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 i="1">
                <a:latin typeface="Times New Roman"/>
                <a:cs typeface="Times New Roman"/>
              </a:rPr>
              <a:t>solution,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solve,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solvable, solver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solution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programming.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computer</a:t>
            </a:r>
            <a:r>
              <a:rPr dirty="0" sz="1200">
                <a:latin typeface="Times New Roman"/>
                <a:cs typeface="Times New Roman"/>
              </a:rPr>
              <a:t> can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solve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human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A 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often been referred to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 problem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solver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018535"/>
            <a:ext cx="5628005" cy="3361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900" indent="-457200">
              <a:lnSpc>
                <a:spcPts val="1405"/>
              </a:lnSpc>
              <a:spcBef>
                <a:spcPts val="100"/>
              </a:spcBef>
              <a:buFont typeface="Times New Roman"/>
              <a:buAutoNum type="arabicPeriod" startAt="4"/>
              <a:tabLst>
                <a:tab pos="469265" algn="l"/>
                <a:tab pos="469900" algn="l"/>
              </a:tabLst>
            </a:pPr>
            <a:r>
              <a:rPr dirty="0" sz="1200" b="1" i="1">
                <a:latin typeface="Times New Roman"/>
                <a:cs typeface="Times New Roman"/>
              </a:rPr>
              <a:t>remark,</a:t>
            </a:r>
            <a:r>
              <a:rPr dirty="0" sz="1200" spc="-2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remarkable,</a:t>
            </a:r>
            <a:r>
              <a:rPr dirty="0" sz="1200" spc="-2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remarkably,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remarked</a:t>
            </a:r>
            <a:endParaRPr sz="1200">
              <a:latin typeface="Times New Roman"/>
              <a:cs typeface="Times New Roman"/>
            </a:endParaRPr>
          </a:p>
          <a:p>
            <a:pPr lvl="1" marL="469900" indent="-457834">
              <a:lnSpc>
                <a:spcPts val="1375"/>
              </a:lnSpc>
              <a:buAutoNum type="alphaLcPeriod"/>
              <a:tabLst>
                <a:tab pos="469265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5">
                <a:latin typeface="Times New Roman"/>
                <a:cs typeface="Times New Roman"/>
              </a:rPr>
              <a:t> computers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remarkably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r>
              <a:rPr dirty="0" sz="1200" spc="-5">
                <a:latin typeface="Times New Roman"/>
                <a:cs typeface="Times New Roman"/>
              </a:rPr>
              <a:t> than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predecessors.</a:t>
            </a:r>
            <a:endParaRPr sz="1200">
              <a:latin typeface="Times New Roman"/>
              <a:cs typeface="Times New Roman"/>
            </a:endParaRPr>
          </a:p>
          <a:p>
            <a:pPr lvl="1" marL="12700" marR="571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377825" algn="l"/>
                <a:tab pos="378460" algn="l"/>
              </a:tabLst>
            </a:pP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analysts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</a:t>
            </a:r>
            <a:r>
              <a:rPr dirty="0" u="sng" sz="1200" spc="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remarks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existing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operations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efficient.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buAutoNum type="alphaLcPeriod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remarkable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5">
                <a:latin typeface="Times New Roman"/>
                <a:cs typeface="Times New Roman"/>
              </a:rPr>
              <a:t> decade.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tabLst>
                <a:tab pos="469265" algn="l"/>
                <a:tab pos="4584700" algn="l"/>
              </a:tabLst>
            </a:pPr>
            <a:r>
              <a:rPr dirty="0" sz="1200" b="1">
                <a:latin typeface="Times New Roman"/>
                <a:cs typeface="Times New Roman"/>
              </a:rPr>
              <a:t>5.	</a:t>
            </a:r>
            <a:r>
              <a:rPr dirty="0" sz="1200" spc="-5" b="1" i="1">
                <a:latin typeface="Times New Roman"/>
                <a:cs typeface="Times New Roman"/>
              </a:rPr>
              <a:t>communication,</a:t>
            </a:r>
            <a:r>
              <a:rPr dirty="0" sz="1200" spc="4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communicate,</a:t>
            </a:r>
            <a:r>
              <a:rPr dirty="0" sz="1200" spc="4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communicable,</a:t>
            </a:r>
            <a:r>
              <a:rPr dirty="0" sz="1200" spc="3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communicative,	communicably</a:t>
            </a:r>
            <a:endParaRPr sz="1200">
              <a:latin typeface="Times New Roman"/>
              <a:cs typeface="Times New Roman"/>
            </a:endParaRPr>
          </a:p>
          <a:p>
            <a:pPr marL="346710" indent="-334645">
              <a:lnSpc>
                <a:spcPts val="1375"/>
              </a:lnSpc>
              <a:buAutoNum type="alphaLcPeriod"/>
              <a:tabLst>
                <a:tab pos="346710" algn="l"/>
                <a:tab pos="347345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5">
                <a:latin typeface="Times New Roman"/>
                <a:cs typeface="Times New Roman"/>
              </a:rPr>
              <a:t> must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communicate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user.</a:t>
            </a:r>
            <a:endParaRPr sz="1200">
              <a:latin typeface="Times New Roman"/>
              <a:cs typeface="Times New Roman"/>
            </a:endParaRPr>
          </a:p>
          <a:p>
            <a:pPr marL="354965" indent="-342900">
              <a:lnSpc>
                <a:spcPts val="1380"/>
              </a:lnSpc>
              <a:buAutoNum type="alphaLcPeriod"/>
              <a:tabLst>
                <a:tab pos="354965" algn="l"/>
                <a:tab pos="355600" algn="l"/>
              </a:tabLst>
            </a:pPr>
            <a:r>
              <a:rPr dirty="0" sz="1200">
                <a:latin typeface="Times New Roman"/>
                <a:cs typeface="Times New Roman"/>
              </a:rPr>
              <a:t>Fiber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optics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communication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419734" algn="l"/>
                <a:tab pos="421005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installations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aren’t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shy.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  <a:tabLst>
                <a:tab pos="507365" algn="l"/>
              </a:tabLst>
            </a:pPr>
            <a:r>
              <a:rPr dirty="0" sz="1200" b="1">
                <a:latin typeface="Times New Roman"/>
                <a:cs typeface="Times New Roman"/>
              </a:rPr>
              <a:t>6.	</a:t>
            </a:r>
            <a:r>
              <a:rPr dirty="0" sz="1200" spc="-5" b="1" i="1">
                <a:latin typeface="Times New Roman"/>
                <a:cs typeface="Times New Roman"/>
              </a:rPr>
              <a:t>calculation,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calculate,</a:t>
            </a:r>
            <a:r>
              <a:rPr dirty="0" sz="1200" spc="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calculating,</a:t>
            </a:r>
            <a:r>
              <a:rPr dirty="0" sz="1200" spc="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calculated,</a:t>
            </a:r>
            <a:r>
              <a:rPr dirty="0" sz="1200" spc="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calculator,</a:t>
            </a:r>
            <a:r>
              <a:rPr dirty="0" sz="1200" spc="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calculable,</a:t>
            </a:r>
            <a:r>
              <a:rPr dirty="0" sz="1200" spc="10" b="1" i="1">
                <a:latin typeface="Times New Roman"/>
                <a:cs typeface="Times New Roman"/>
              </a:rPr>
              <a:t> </a:t>
            </a:r>
            <a:r>
              <a:rPr dirty="0" sz="1200" spc="-10" b="1" i="1">
                <a:latin typeface="Times New Roman"/>
                <a:cs typeface="Times New Roman"/>
              </a:rPr>
              <a:t>calculus</a:t>
            </a:r>
            <a:endParaRPr sz="1200">
              <a:latin typeface="Times New Roman"/>
              <a:cs typeface="Times New Roman"/>
            </a:endParaRPr>
          </a:p>
          <a:p>
            <a:pPr marL="422909" indent="-372745">
              <a:lnSpc>
                <a:spcPts val="1375"/>
              </a:lnSpc>
              <a:buAutoNum type="alphaLcPeriod"/>
              <a:tabLst>
                <a:tab pos="422909" algn="l"/>
                <a:tab pos="4235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 can </a:t>
            </a:r>
            <a:r>
              <a:rPr dirty="0" sz="1200" spc="-5">
                <a:latin typeface="Times New Roman"/>
                <a:cs typeface="Times New Roman"/>
              </a:rPr>
              <a:t>do many kinds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calculations</a:t>
            </a:r>
            <a:r>
              <a:rPr dirty="0" u="sng" sz="1200" spc="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quickly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accurately.</a:t>
            </a:r>
            <a:endParaRPr sz="1200">
              <a:latin typeface="Times New Roman"/>
              <a:cs typeface="Times New Roman"/>
            </a:endParaRPr>
          </a:p>
          <a:p>
            <a:pPr marL="355600" indent="-304800">
              <a:lnSpc>
                <a:spcPts val="1380"/>
              </a:lnSpc>
              <a:buFont typeface="Times New Roman"/>
              <a:buAutoNum type="alphaLcPeriod"/>
              <a:tabLst>
                <a:tab pos="354965" algn="l"/>
                <a:tab pos="355600" algn="l"/>
              </a:tabLst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Calculus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branch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mathematics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calculations </a:t>
            </a: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of</a:t>
            </a:r>
            <a:r>
              <a:rPr dirty="0" sz="1200">
                <a:latin typeface="Times New Roman"/>
                <a:cs typeface="Times New Roman"/>
              </a:rPr>
              <a:t> 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354965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calculating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-5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4810" indent="-334645">
              <a:lnSpc>
                <a:spcPts val="1380"/>
              </a:lnSpc>
              <a:buAutoNum type="alphaLcPeriod" startAt="3"/>
              <a:tabLst>
                <a:tab pos="384810" algn="l"/>
                <a:tab pos="3854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computer 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calculate </a:t>
            </a:r>
            <a:r>
              <a:rPr dirty="0" sz="1200" spc="-5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faster</a:t>
            </a:r>
            <a:r>
              <a:rPr dirty="0" sz="1200" spc="-5">
                <a:latin typeface="Times New Roman"/>
                <a:cs typeface="Times New Roman"/>
              </a:rPr>
              <a:t> than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manual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calculator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94335" indent="-344170">
              <a:lnSpc>
                <a:spcPts val="1410"/>
              </a:lnSpc>
              <a:buAutoNum type="alphaLcPeriod" startAt="3"/>
              <a:tabLst>
                <a:tab pos="394335" algn="l"/>
                <a:tab pos="394970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 problems </a:t>
            </a:r>
            <a:r>
              <a:rPr dirty="0" sz="1200">
                <a:latin typeface="Times New Roman"/>
                <a:cs typeface="Times New Roman"/>
              </a:rPr>
              <a:t>aren’t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calculable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logarithm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652373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7.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3200" y="6523735"/>
            <a:ext cx="5169535" cy="125857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b="1" i="1">
                <a:latin typeface="Times New Roman"/>
                <a:cs typeface="Times New Roman"/>
              </a:rPr>
              <a:t>mechanic,</a:t>
            </a:r>
            <a:r>
              <a:rPr dirty="0" sz="1200" spc="4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mechanism,</a:t>
            </a:r>
            <a:r>
              <a:rPr dirty="0" sz="1200" spc="4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mechanize,</a:t>
            </a:r>
            <a:r>
              <a:rPr dirty="0" sz="1200" spc="5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mechanical,</a:t>
            </a:r>
            <a:r>
              <a:rPr dirty="0" sz="1200" spc="5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mechanically,</a:t>
            </a:r>
            <a:r>
              <a:rPr dirty="0" sz="1200" spc="5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mechanistic, </a:t>
            </a:r>
            <a:r>
              <a:rPr dirty="0" sz="1200" spc="-28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mechanics,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mechanization, </a:t>
            </a:r>
            <a:r>
              <a:rPr dirty="0" sz="1200" b="1" i="1">
                <a:latin typeface="Times New Roman"/>
                <a:cs typeface="Times New Roman"/>
              </a:rPr>
              <a:t>mechanized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less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mechanized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they </a:t>
            </a:r>
            <a:r>
              <a:rPr dirty="0" sz="1200" spc="-5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 marL="12700" marR="53086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mechanical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 in a </a:t>
            </a:r>
            <a:r>
              <a:rPr dirty="0" sz="1200" spc="-5">
                <a:latin typeface="Times New Roman"/>
                <a:cs typeface="Times New Roman"/>
              </a:rPr>
              <a:t>computer system </a:t>
            </a:r>
            <a:r>
              <a:rPr dirty="0" sz="1200">
                <a:latin typeface="Times New Roman"/>
                <a:cs typeface="Times New Roman"/>
              </a:rPr>
              <a:t>operate </a:t>
            </a:r>
            <a:r>
              <a:rPr dirty="0" sz="1200" spc="-5">
                <a:latin typeface="Times New Roman"/>
                <a:cs typeface="Times New Roman"/>
              </a:rPr>
              <a:t>more slowly </a:t>
            </a:r>
            <a:r>
              <a:rPr dirty="0" sz="1200">
                <a:latin typeface="Times New Roman"/>
                <a:cs typeface="Times New Roman"/>
              </a:rPr>
              <a:t>than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electromagnetic </a:t>
            </a:r>
            <a:r>
              <a:rPr dirty="0" sz="1200">
                <a:latin typeface="Times New Roman"/>
                <a:cs typeface="Times New Roman"/>
              </a:rPr>
              <a:t>devices.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mechanism</a:t>
            </a:r>
            <a:r>
              <a:rPr dirty="0" sz="1200" spc="2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brain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complicated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unlike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isn’t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mechanical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6872730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7398511"/>
            <a:ext cx="1314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7925816"/>
            <a:ext cx="13970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8.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8450071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73200" y="7925816"/>
            <a:ext cx="5169535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-5" b="1" i="1">
                <a:latin typeface="Times New Roman"/>
                <a:cs typeface="Times New Roman"/>
              </a:rPr>
              <a:t>ecessity, necessitate,</a:t>
            </a:r>
            <a:r>
              <a:rPr dirty="0" sz="1200" b="1" i="1">
                <a:latin typeface="Times New Roman"/>
                <a:cs typeface="Times New Roman"/>
              </a:rPr>
              <a:t> necessary, necessarily, necessities,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need, needed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department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necessary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budge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necessities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the installations.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isn’t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necessarily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analyst.</a:t>
            </a:r>
            <a:endParaRPr sz="1200">
              <a:latin typeface="Times New Roman"/>
              <a:cs typeface="Times New Roman"/>
            </a:endParaRPr>
          </a:p>
          <a:p>
            <a:pPr marL="5334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Students’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lack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understanding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concepts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6000" y="8800590"/>
            <a:ext cx="30861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necessitate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instructor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restructure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5416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9.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915416"/>
            <a:ext cx="5626735" cy="108331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93700" marR="5080" indent="76200">
              <a:lnSpc>
                <a:spcPts val="1380"/>
              </a:lnSpc>
              <a:spcBef>
                <a:spcPts val="195"/>
              </a:spcBef>
            </a:pPr>
            <a:r>
              <a:rPr dirty="0" sz="1200" spc="-5" b="1">
                <a:latin typeface="Times New Roman"/>
                <a:cs typeface="Times New Roman"/>
              </a:rPr>
              <a:t>d</a:t>
            </a:r>
            <a:r>
              <a:rPr dirty="0" sz="1200" spc="-5" b="1" i="1">
                <a:latin typeface="Times New Roman"/>
                <a:cs typeface="Times New Roman"/>
              </a:rPr>
              <a:t>ependence,</a:t>
            </a:r>
            <a:r>
              <a:rPr dirty="0" sz="1200" spc="10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depend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on,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dependable,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dependably,</a:t>
            </a:r>
            <a:r>
              <a:rPr dirty="0" sz="1200" spc="10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dependent,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dependency, </a:t>
            </a:r>
            <a:r>
              <a:rPr dirty="0" sz="1200" spc="-28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depending</a:t>
            </a:r>
            <a:endParaRPr sz="1200">
              <a:latin typeface="Times New Roman"/>
              <a:cs typeface="Times New Roman"/>
            </a:endParaRPr>
          </a:p>
          <a:p>
            <a:pPr marL="393700" indent="-381635">
              <a:lnSpc>
                <a:spcPts val="1300"/>
              </a:lnSpc>
              <a:buAutoNum type="alphaLcPeriod"/>
              <a:tabLst>
                <a:tab pos="393700" algn="l"/>
                <a:tab pos="3943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length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depending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  <a:p>
            <a:pPr marL="393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complexity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ability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experience.</a:t>
            </a:r>
            <a:endParaRPr sz="1200">
              <a:latin typeface="Times New Roman"/>
              <a:cs typeface="Times New Roman"/>
            </a:endParaRPr>
          </a:p>
          <a:p>
            <a:pPr marL="393700" marR="5080" indent="-381000">
              <a:lnSpc>
                <a:spcPts val="1380"/>
              </a:lnSpc>
              <a:spcBef>
                <a:spcPts val="65"/>
              </a:spcBef>
              <a:buAutoNum type="alphaLcPeriod" startAt="2"/>
              <a:tabLst>
                <a:tab pos="393065" algn="l"/>
                <a:tab pos="393700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depend</a:t>
            </a:r>
            <a:r>
              <a:rPr dirty="0" u="sng" sz="1200" spc="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obtain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accurate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it’s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dependable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>
                <a:latin typeface="Times New Roman"/>
                <a:cs typeface="Times New Roman"/>
              </a:rPr>
              <a:t> in the </a:t>
            </a:r>
            <a:r>
              <a:rPr dirty="0" sz="1200" spc="-5">
                <a:latin typeface="Times New Roman"/>
                <a:cs typeface="Times New Roman"/>
              </a:rPr>
              <a:t>world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142235"/>
            <a:ext cx="5626735" cy="1784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900" indent="-457834">
              <a:lnSpc>
                <a:spcPts val="1405"/>
              </a:lnSpc>
              <a:spcBef>
                <a:spcPts val="100"/>
              </a:spcBef>
              <a:buAutoNum type="arabicPeriod" startAt="10"/>
              <a:tabLst>
                <a:tab pos="469900" algn="l"/>
                <a:tab pos="470534" algn="l"/>
              </a:tabLst>
            </a:pPr>
            <a:r>
              <a:rPr dirty="0" sz="1200" b="1" i="1">
                <a:latin typeface="Times New Roman"/>
                <a:cs typeface="Times New Roman"/>
              </a:rPr>
              <a:t>technology,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technological,</a:t>
            </a:r>
            <a:r>
              <a:rPr dirty="0" sz="1200" spc="-5" b="1" i="1">
                <a:latin typeface="Times New Roman"/>
                <a:cs typeface="Times New Roman"/>
              </a:rPr>
              <a:t> technologically, </a:t>
            </a:r>
            <a:r>
              <a:rPr dirty="0" sz="1200" b="1" i="1">
                <a:latin typeface="Times New Roman"/>
                <a:cs typeface="Times New Roman"/>
              </a:rPr>
              <a:t>technologist</a:t>
            </a:r>
            <a:endParaRPr sz="1200">
              <a:latin typeface="Times New Roman"/>
              <a:cs typeface="Times New Roman"/>
            </a:endParaRPr>
          </a:p>
          <a:p>
            <a:pPr lvl="1" marL="469900" indent="-457834">
              <a:lnSpc>
                <a:spcPts val="1375"/>
              </a:lnSpc>
              <a:buAutoNum type="alphaLcPeriod"/>
              <a:tabLst>
                <a:tab pos="469900" algn="l"/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technology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discipline.</a:t>
            </a:r>
            <a:endParaRPr sz="1200">
              <a:latin typeface="Times New Roman"/>
              <a:cs typeface="Times New Roman"/>
            </a:endParaRPr>
          </a:p>
          <a:p>
            <a:pPr lvl="1" marL="469900" indent="-457834">
              <a:lnSpc>
                <a:spcPts val="1410"/>
              </a:lnSpc>
              <a:buAutoNum type="alphaLcPeriod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technological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improvements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reducing</a:t>
            </a:r>
            <a:r>
              <a:rPr dirty="0" sz="1200" spc="-5">
                <a:latin typeface="Times New Roman"/>
                <a:cs typeface="Times New Roman"/>
              </a:rPr>
              <a:t> man’s </a:t>
            </a:r>
            <a:r>
              <a:rPr dirty="0" sz="1200">
                <a:latin typeface="Times New Roman"/>
                <a:cs typeface="Times New Roman"/>
              </a:rPr>
              <a:t>workload.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Let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recap: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parts: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stem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suffix.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Prefix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stem.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suffix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attached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stem.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root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suffixes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referred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Affixes.n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40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1016000" y="435356"/>
            <a:ext cx="5892800" cy="401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-08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Formation-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already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suffixes.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will look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5">
                <a:latin typeface="Times New Roman"/>
                <a:cs typeface="Times New Roman"/>
              </a:rPr>
              <a:t>ways, </a:t>
            </a:r>
            <a:r>
              <a:rPr dirty="0" sz="1200">
                <a:latin typeface="Times New Roman"/>
                <a:cs typeface="Times New Roman"/>
              </a:rPr>
              <a:t>beginning with </a:t>
            </a:r>
            <a:r>
              <a:rPr dirty="0" sz="1200" spc="-5">
                <a:latin typeface="Times New Roman"/>
                <a:cs typeface="Times New Roman"/>
              </a:rPr>
              <a:t>prefixes </a:t>
            </a:r>
            <a:r>
              <a:rPr dirty="0" sz="1200">
                <a:latin typeface="Times New Roman"/>
                <a:cs typeface="Times New Roman"/>
              </a:rPr>
              <a:t>and stem </a:t>
            </a:r>
            <a:r>
              <a:rPr dirty="0" sz="1200" spc="-5">
                <a:latin typeface="Times New Roman"/>
                <a:cs typeface="Times New Roman"/>
              </a:rPr>
              <a:t>words, followed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and antonyms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enhancing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vocabulary.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prefix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beginning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stem/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ct val="9630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untrue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un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stem/base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true.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unfamiliar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instance: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We </a:t>
            </a:r>
            <a:r>
              <a:rPr dirty="0" sz="1200" spc="-5" b="1">
                <a:latin typeface="Times New Roman"/>
                <a:cs typeface="Times New Roman"/>
              </a:rPr>
              <a:t>were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shocked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learn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illimitability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dictator’s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power.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Illimitability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word that does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often appear in print. It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unfamiliar </a:t>
            </a:r>
            <a:r>
              <a:rPr dirty="0" sz="1200">
                <a:latin typeface="Times New Roman"/>
                <a:cs typeface="Times New Roman"/>
              </a:rPr>
              <a:t>to you.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 you can locate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stem word, </a:t>
            </a:r>
            <a:r>
              <a:rPr dirty="0" sz="1200" i="1">
                <a:latin typeface="Times New Roman"/>
                <a:cs typeface="Times New Roman"/>
              </a:rPr>
              <a:t>limit, </a:t>
            </a:r>
            <a:r>
              <a:rPr dirty="0" sz="1200" spc="-5" i="1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‘to restrict’. </a:t>
            </a:r>
            <a:r>
              <a:rPr dirty="0" sz="1200" spc="-5">
                <a:latin typeface="Times New Roman"/>
                <a:cs typeface="Times New Roman"/>
              </a:rPr>
              <a:t>If you also know 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il-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illegal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‘not’,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determine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illimitability </a:t>
            </a:r>
            <a:r>
              <a:rPr dirty="0" sz="1200">
                <a:latin typeface="Times New Roman"/>
                <a:cs typeface="Times New Roman"/>
              </a:rPr>
              <a:t>refers to </a:t>
            </a:r>
            <a:r>
              <a:rPr dirty="0" sz="1200" spc="-5">
                <a:latin typeface="Times New Roman"/>
                <a:cs typeface="Times New Roman"/>
              </a:rPr>
              <a:t>which has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5">
                <a:latin typeface="Times New Roman"/>
                <a:cs typeface="Times New Roman"/>
              </a:rPr>
              <a:t>limits </a:t>
            </a:r>
            <a:r>
              <a:rPr dirty="0" sz="1200">
                <a:latin typeface="Times New Roman"/>
                <a:cs typeface="Times New Roman"/>
              </a:rPr>
              <a:t>or restriction.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means ‘we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shocked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no</a:t>
            </a:r>
            <a:r>
              <a:rPr dirty="0" sz="1200" spc="-5">
                <a:latin typeface="Times New Roman"/>
                <a:cs typeface="Times New Roman"/>
              </a:rPr>
              <a:t> limit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dictator's</a:t>
            </a:r>
            <a:r>
              <a:rPr dirty="0" sz="1200">
                <a:latin typeface="Times New Roman"/>
                <a:cs typeface="Times New Roman"/>
              </a:rPr>
              <a:t> power.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you will look at a list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adapt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stem/ </a:t>
            </a:r>
            <a:r>
              <a:rPr dirty="0" sz="1200">
                <a:latin typeface="Times New Roman"/>
                <a:cs typeface="Times New Roman"/>
              </a:rPr>
              <a:t>base word. If this word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preceded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make</a:t>
            </a:r>
            <a:r>
              <a:rPr dirty="0" sz="1200">
                <a:latin typeface="Times New Roman"/>
                <a:cs typeface="Times New Roman"/>
              </a:rPr>
              <a:t> twenty -four</a:t>
            </a:r>
            <a:r>
              <a:rPr dirty="0" sz="1200" spc="-5">
                <a:latin typeface="Times New Roman"/>
                <a:cs typeface="Times New Roman"/>
              </a:rPr>
              <a:t> additional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28700" y="4623646"/>
          <a:ext cx="5867400" cy="46488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0905"/>
                <a:gridCol w="1574800"/>
                <a:gridCol w="3402329"/>
              </a:tblGrid>
              <a:tr h="172015">
                <a:tc>
                  <a:txBody>
                    <a:bodyPr/>
                    <a:lstStyle/>
                    <a:p>
                      <a:pPr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nonadaptational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558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readaptation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51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nonadaptive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readaptive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95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nonadapter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readaptiveness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33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preadapt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unadaptable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ptability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preadaptable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unadaptableness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877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preadaptation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unadaptive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ptation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readaptable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unadaptiveness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2889">
                <a:tc>
                  <a:txBody>
                    <a:bodyPr/>
                    <a:lstStyle/>
                    <a:p>
                      <a:pPr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591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readaptability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unadaptively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438912">
                <a:tc>
                  <a:txBody>
                    <a:bodyPr/>
                    <a:lstStyle/>
                    <a:p>
                      <a:pPr>
                        <a:lnSpc>
                          <a:spcPts val="1415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135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Prefix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 marL="420370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 marL="412115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Example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/>
                </a:tc>
              </a:tr>
              <a:tr h="174498">
                <a:tc>
                  <a:txBody>
                    <a:bodyPr/>
                    <a:lstStyle/>
                    <a:p>
                      <a:pPr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unhappy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happy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65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nonliving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living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419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distrust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trust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028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indirect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direct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Im-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30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imperfect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perfect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irrational means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not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rational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525780">
                <a:tc>
                  <a:txBody>
                    <a:bodyPr/>
                    <a:lstStyle/>
                    <a:p>
                      <a:pPr marL="152400" indent="-153035">
                        <a:lnSpc>
                          <a:spcPts val="1305"/>
                        </a:lnSpc>
                        <a:buAutoNum type="arabicPeriod" startAt="7"/>
                        <a:tabLst>
                          <a:tab pos="15303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Il-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52400" indent="-153035">
                        <a:lnSpc>
                          <a:spcPts val="1410"/>
                        </a:lnSpc>
                        <a:buAutoNum type="arabicPeriod" startAt="7"/>
                        <a:tabLst>
                          <a:tab pos="15303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370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 no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442595" marR="657860" indent="317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not;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without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illegal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legal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24485">
                        <a:lnSpc>
                          <a:spcPts val="13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atypical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typical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prewar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10.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post-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419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after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postwar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after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11.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anti-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46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oppos(ing)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028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antiwar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opposing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12.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286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favour(ing)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prowar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favoring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13.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435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between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interstate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between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states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0970">
                <a:tc>
                  <a:txBody>
                    <a:bodyPr/>
                    <a:lstStyle/>
                    <a:p>
                      <a:pPr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14.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hyper-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467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excessive(ly)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275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hyperactive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excessively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943186"/>
          <a:ext cx="5003165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4105"/>
                <a:gridCol w="1452245"/>
                <a:gridCol w="2456179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15.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mal-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877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bad(ly)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malnutrition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bad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nutrition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16.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mis-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incorrect(ly)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misspell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spell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incorrectly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17.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pseudo-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21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false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pseudoscience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false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science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18.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partly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semipublic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1966976"/>
            <a:ext cx="5628640" cy="7218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Defining 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Make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sentences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by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base/stem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meanings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prefixes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boldface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lines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provided.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Hermits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asocial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035810" algn="l"/>
              </a:tabLst>
            </a:pPr>
            <a:r>
              <a:rPr dirty="0" sz="1200">
                <a:latin typeface="Times New Roman"/>
                <a:cs typeface="Times New Roman"/>
              </a:rPr>
              <a:t>They are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people.</a:t>
            </a:r>
            <a:endParaRPr sz="1200">
              <a:latin typeface="Times New Roman"/>
              <a:cs typeface="Times New Roman"/>
            </a:endParaRPr>
          </a:p>
          <a:p>
            <a:pPr marL="12700" marR="3098800">
              <a:lnSpc>
                <a:spcPts val="1380"/>
              </a:lnSpc>
              <a:spcBef>
                <a:spcPts val="70"/>
              </a:spcBef>
              <a:buAutoNum type="arabicPeriod" startAt="2"/>
              <a:tabLst>
                <a:tab pos="165735" algn="l"/>
                <a:tab pos="2520950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child’s </a:t>
            </a:r>
            <a:r>
              <a:rPr dirty="0" sz="1200" b="1">
                <a:latin typeface="Times New Roman"/>
                <a:cs typeface="Times New Roman"/>
              </a:rPr>
              <a:t>hyperactivity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alarming.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Outer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illimitable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1841500" algn="l"/>
              </a:tabLst>
            </a:pP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  <a:p>
            <a:pPr marL="12700" marR="2210435">
              <a:lnSpc>
                <a:spcPts val="1380"/>
              </a:lnSpc>
              <a:spcBef>
                <a:spcPts val="65"/>
              </a:spcBef>
              <a:buAutoNum type="arabicPeriod" startAt="4"/>
              <a:tabLst>
                <a:tab pos="165100" algn="l"/>
                <a:tab pos="280098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castle was </a:t>
            </a:r>
            <a:r>
              <a:rPr dirty="0" sz="1200" spc="-5" b="1">
                <a:latin typeface="Times New Roman"/>
                <a:cs typeface="Times New Roman"/>
              </a:rPr>
              <a:t>Impenetrable </a:t>
            </a:r>
            <a:r>
              <a:rPr dirty="0" sz="1200">
                <a:latin typeface="Times New Roman"/>
                <a:cs typeface="Times New Roman"/>
              </a:rPr>
              <a:t>to ancient </a:t>
            </a:r>
            <a:r>
              <a:rPr dirty="0" sz="1200" spc="-5">
                <a:latin typeface="Times New Roman"/>
                <a:cs typeface="Times New Roman"/>
              </a:rPr>
              <a:t>armies.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Ancien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armies could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th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castle.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4"/>
              <a:tabLst>
                <a:tab pos="16573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intercontinental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flight.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645410" algn="l"/>
              </a:tabLst>
            </a:pPr>
            <a:r>
              <a:rPr dirty="0" sz="1200">
                <a:latin typeface="Times New Roman"/>
                <a:cs typeface="Times New Roman"/>
              </a:rPr>
              <a:t>We took a flight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6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irreparable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damage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72224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damage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7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>
                <a:latin typeface="Times New Roman"/>
                <a:cs typeface="Times New Roman"/>
              </a:rPr>
              <a:t> he make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maladjustment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marriage?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138680" algn="l"/>
              </a:tabLst>
            </a:pP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>
                <a:latin typeface="Times New Roman"/>
                <a:cs typeface="Times New Roman"/>
              </a:rPr>
              <a:t> 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marriage?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8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pseudo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biographical.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67462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9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patient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semiconscious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633345" algn="l"/>
              </a:tabLst>
            </a:pPr>
            <a:r>
              <a:rPr dirty="0" sz="1200">
                <a:latin typeface="Times New Roman"/>
                <a:cs typeface="Times New Roman"/>
              </a:rPr>
              <a:t>The patient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80"/>
              </a:lnSpc>
              <a:buAutoNum type="arabicPeriod" startAt="10"/>
              <a:tabLst>
                <a:tab pos="241935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unutterable.</a:t>
            </a:r>
            <a:endParaRPr sz="1200">
              <a:latin typeface="Times New Roman"/>
              <a:cs typeface="Times New Roman"/>
            </a:endParaRPr>
          </a:p>
          <a:p>
            <a:pPr marL="12700" marR="2742565">
              <a:lnSpc>
                <a:spcPts val="1380"/>
              </a:lnSpc>
              <a:spcBef>
                <a:spcPts val="65"/>
              </a:spcBef>
              <a:tabLst>
                <a:tab pos="2839720" algn="l"/>
              </a:tabLst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 thoughts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.  </a:t>
            </a:r>
            <a:r>
              <a:rPr dirty="0" sz="1200">
                <a:latin typeface="Times New Roman"/>
                <a:cs typeface="Times New Roman"/>
              </a:rPr>
              <a:t>15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If you know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i="1">
                <a:latin typeface="Times New Roman"/>
                <a:cs typeface="Times New Roman"/>
              </a:rPr>
              <a:t>adapt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‘to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suitable’ and you also </a:t>
            </a:r>
            <a:r>
              <a:rPr dirty="0" sz="1200" spc="-5">
                <a:latin typeface="Times New Roman"/>
                <a:cs typeface="Times New Roman"/>
              </a:rPr>
              <a:t>know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meanings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prefixes </a:t>
            </a:r>
            <a:r>
              <a:rPr dirty="0" sz="1200" spc="-5" i="1">
                <a:latin typeface="Times New Roman"/>
                <a:cs typeface="Times New Roman"/>
              </a:rPr>
              <a:t>mal-, non-, pre-, re-,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un- </a:t>
            </a:r>
            <a:r>
              <a:rPr dirty="0" sz="1200">
                <a:latin typeface="Times New Roman"/>
                <a:cs typeface="Times New Roman"/>
              </a:rPr>
              <a:t>you know the essential </a:t>
            </a:r>
            <a:r>
              <a:rPr dirty="0" sz="1200" spc="-5">
                <a:latin typeface="Times New Roman"/>
                <a:cs typeface="Times New Roman"/>
              </a:rPr>
              <a:t>meanings </a:t>
            </a:r>
            <a:r>
              <a:rPr dirty="0" sz="1200">
                <a:latin typeface="Times New Roman"/>
                <a:cs typeface="Times New Roman"/>
              </a:rPr>
              <a:t>of these twenty four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words, </a:t>
            </a:r>
            <a:r>
              <a:rPr dirty="0" sz="1200">
                <a:latin typeface="Times New Roman"/>
                <a:cs typeface="Times New Roman"/>
              </a:rPr>
              <a:t>even if you have not seen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print before.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now look at nineteen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prefixes and by understanding the most useful meanings of these </a:t>
            </a:r>
            <a:r>
              <a:rPr dirty="0" sz="1200" spc="-5">
                <a:latin typeface="Times New Roman"/>
                <a:cs typeface="Times New Roman"/>
              </a:rPr>
              <a:t>common </a:t>
            </a:r>
            <a:r>
              <a:rPr dirty="0" sz="1200">
                <a:latin typeface="Times New Roman"/>
                <a:cs typeface="Times New Roman"/>
              </a:rPr>
              <a:t>English prefixes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increase your </a:t>
            </a:r>
            <a:r>
              <a:rPr dirty="0" sz="1200" spc="-5">
                <a:latin typeface="Times New Roman"/>
                <a:cs typeface="Times New Roman"/>
              </a:rPr>
              <a:t>vocabulary by </a:t>
            </a:r>
            <a:r>
              <a:rPr dirty="0" sz="1200">
                <a:latin typeface="Times New Roman"/>
                <a:cs typeface="Times New Roman"/>
              </a:rPr>
              <a:t>hundreds or </a:t>
            </a:r>
            <a:r>
              <a:rPr dirty="0" sz="1200" spc="-5">
                <a:latin typeface="Times New Roman"/>
                <a:cs typeface="Times New Roman"/>
              </a:rPr>
              <a:t>even thousands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a very short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Word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Formation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-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Let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now consider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prefixes,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usual meanings,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how </a:t>
            </a:r>
            <a:r>
              <a:rPr dirty="0" sz="1200">
                <a:latin typeface="Times New Roman"/>
                <a:cs typeface="Times New Roman"/>
              </a:rPr>
              <a:t>they change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prefixes 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321183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NEGATIVE/</a:t>
            </a:r>
            <a:r>
              <a:rPr dirty="0" sz="1200" spc="1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SIZE</a:t>
            </a:r>
            <a:r>
              <a:rPr dirty="0" sz="1200" spc="5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LOCATION</a:t>
            </a:r>
            <a:r>
              <a:rPr dirty="0" sz="1200" spc="3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TIME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	NUMBER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944710"/>
          <a:ext cx="3928110" cy="1219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5340"/>
                <a:gridCol w="562610"/>
                <a:gridCol w="714375"/>
                <a:gridCol w="1073785"/>
                <a:gridCol w="764539"/>
              </a:tblGrid>
              <a:tr h="171253">
                <a:tc>
                  <a:txBody>
                    <a:bodyPr/>
                    <a:lstStyle/>
                    <a:p>
                      <a:pPr marL="31750">
                        <a:lnSpc>
                          <a:spcPts val="125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POSITIVE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ts val="125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ORDER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4498">
                <a:tc>
                  <a:txBody>
                    <a:bodyPr/>
                    <a:lstStyle/>
                    <a:p>
                      <a:pPr marL="3175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inter-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mono-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mini-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super-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03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ante-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trans-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01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fore-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17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hex-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dis-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317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post-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21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oct-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extra-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69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multi-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mid-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7" name="object 1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2315971"/>
            <a:ext cx="53784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tables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 to 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additional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your</a:t>
            </a:r>
            <a:r>
              <a:rPr dirty="0" sz="1200">
                <a:latin typeface="Times New Roman"/>
                <a:cs typeface="Times New Roman"/>
              </a:rPr>
              <a:t> dictionary 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668016"/>
            <a:ext cx="1967864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Negative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positive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9264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PREFIX	</a:t>
            </a:r>
            <a:r>
              <a:rPr dirty="0" sz="1200" spc="-10" b="1">
                <a:latin typeface="Times New Roman"/>
                <a:cs typeface="Times New Roman"/>
              </a:rPr>
              <a:t>MEANING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01548" y="3018535"/>
            <a:ext cx="872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96950" y="3396826"/>
          <a:ext cx="4288790" cy="1746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9605"/>
                <a:gridCol w="1522095"/>
                <a:gridCol w="2116454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unmagnetized,</a:t>
                      </a:r>
                      <a:r>
                        <a:rPr dirty="0" sz="120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unpunched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im-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good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impossible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il-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illegal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connected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non-programmable,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non-impact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mis-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bad,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wrong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mispronounce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dis-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opposite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feeling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disagree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opposite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disconnect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anti-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against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antisocial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reduce,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reverse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demagnetize,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decode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under-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6854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too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little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underestimate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1016000" y="5296915"/>
            <a:ext cx="10883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Positive</a:t>
            </a:r>
            <a:r>
              <a:rPr dirty="0" sz="1200" spc="-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035050" y="5675206"/>
          <a:ext cx="3068320" cy="344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1505"/>
                <a:gridCol w="1325245"/>
                <a:gridCol w="113157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781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again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reorganize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over-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too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much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720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overheat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1016000" y="6173215"/>
            <a:ext cx="10147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Prefixes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Size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96950" y="6553030"/>
          <a:ext cx="2962910" cy="1569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1210"/>
                <a:gridCol w="988060"/>
                <a:gridCol w="1183640"/>
              </a:tblGrid>
              <a:tr h="258883">
                <a:tc>
                  <a:txBody>
                    <a:bodyPr/>
                    <a:lstStyle/>
                    <a:p>
                      <a:pPr marL="69850">
                        <a:lnSpc>
                          <a:spcPts val="131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PREFIX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ts val="131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131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EXAMPLES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2128">
                <a:tc>
                  <a:txBody>
                    <a:bodyPr/>
                    <a:lstStyle/>
                    <a:p>
                      <a:pPr marL="69850">
                        <a:lnSpc>
                          <a:spcPts val="1385"/>
                        </a:lnSpc>
                        <a:spcBef>
                          <a:spcPts val="57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ts val="1385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half,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ts val="1385"/>
                        </a:lnSpc>
                        <a:spcBef>
                          <a:spcPts val="57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semiconductor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</a:tr>
              <a:tr h="175260">
                <a:tc>
                  <a:txBody>
                    <a:bodyPr/>
                    <a:lstStyle/>
                    <a:p>
                      <a:pPr marL="692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equi-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equal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equidistant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698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maxi-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big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maxicomputer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698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small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mini-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little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minicomputer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698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macro-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large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macroeconomics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698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mega-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367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megabyte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1016000" y="8451595"/>
            <a:ext cx="1329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Prefixes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Location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8802116"/>
            <a:ext cx="5918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PREFIX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87086" y="8802116"/>
            <a:ext cx="7778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MEANING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58748" y="8802116"/>
            <a:ext cx="872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28700" y="7604590"/>
          <a:ext cx="5867400" cy="1668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9305"/>
                <a:gridCol w="957580"/>
                <a:gridCol w="4119879"/>
              </a:tblGrid>
              <a:tr h="258883">
                <a:tc>
                  <a:txBody>
                    <a:bodyPr/>
                    <a:lstStyle/>
                    <a:p>
                      <a:pPr>
                        <a:lnSpc>
                          <a:spcPts val="131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PREFIX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ts val="131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MEANING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131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EXAMPLES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2128">
                <a:tc>
                  <a:txBody>
                    <a:bodyPr/>
                    <a:lstStyle/>
                    <a:p>
                      <a:pPr>
                        <a:lnSpc>
                          <a:spcPts val="1385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1385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ts val="1385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program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auto-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470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self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automatic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together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coordinate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new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neoclassical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3651">
                <a:tc>
                  <a:txBody>
                    <a:bodyPr/>
                    <a:lstStyle/>
                    <a:p>
                      <a:pPr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pan-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8953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pan-Islamic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3478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Exercise</a:t>
                      </a:r>
                      <a:r>
                        <a:rPr dirty="0" sz="1200" spc="-4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93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943186"/>
          <a:ext cx="4097020" cy="1395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7415"/>
                <a:gridCol w="1682750"/>
                <a:gridCol w="1506219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inter-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between/among,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22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interface,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interactive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super-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over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supersonic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trans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across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transmit,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transfer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out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exclude,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extrinsic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extra-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beyond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7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extraordinary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sub-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under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78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subschema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infra-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below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infra-red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around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peripheral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016000" y="2492756"/>
            <a:ext cx="182054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Prefixes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Time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Order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9264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PREFIX	</a:t>
            </a:r>
            <a:r>
              <a:rPr dirty="0" sz="1200" spc="-10" b="1">
                <a:latin typeface="Times New Roman"/>
                <a:cs typeface="Times New Roman"/>
              </a:rPr>
              <a:t>MEANING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44348" y="2843276"/>
            <a:ext cx="872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96950" y="3221566"/>
          <a:ext cx="2970530" cy="869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6265"/>
                <a:gridCol w="969644"/>
                <a:gridCol w="1403985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ante-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49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antecedent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prefix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prime-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first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primary,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primitive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post-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49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after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postdated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retro-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backward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retroactive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016000" y="4245355"/>
            <a:ext cx="169227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Prefixes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Numbers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9264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PREFIX	</a:t>
            </a:r>
            <a:r>
              <a:rPr dirty="0" sz="1200" spc="-10" b="1">
                <a:latin typeface="Times New Roman"/>
                <a:cs typeface="Times New Roman"/>
              </a:rPr>
              <a:t>MEANING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58831" y="4595876"/>
            <a:ext cx="872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</a:t>
            </a:r>
            <a:r>
              <a:rPr dirty="0" sz="1200" b="1">
                <a:latin typeface="Times New Roman"/>
                <a:cs typeface="Times New Roman"/>
              </a:rPr>
              <a:t>P</a:t>
            </a:r>
            <a:r>
              <a:rPr dirty="0" sz="1200" spc="-5" b="1">
                <a:latin typeface="Times New Roman"/>
                <a:cs typeface="Times New Roman"/>
              </a:rPr>
              <a:t>L</a:t>
            </a:r>
            <a:r>
              <a:rPr dirty="0" sz="1200" spc="-10" b="1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996950" y="4974166"/>
          <a:ext cx="4174490" cy="1921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8665"/>
                <a:gridCol w="999490"/>
                <a:gridCol w="242697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49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half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semicircle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mono-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272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monochromatic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two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binary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three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973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triangle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quad-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four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quadruple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penta-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pentagon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hex-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783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hexadecimal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septem-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seven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59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september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oct-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eight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52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octal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dec-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593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decimal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multi-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many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593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multiprogramming,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multiplexor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1016000" y="7224776"/>
            <a:ext cx="9785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Other</a:t>
            </a:r>
            <a:r>
              <a:rPr dirty="0" sz="1200" spc="-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Prefixes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5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all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prefixes.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try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out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what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prefixes </a:t>
            </a:r>
            <a:r>
              <a:rPr dirty="0" sz="1200" b="1">
                <a:latin typeface="Times New Roman"/>
                <a:cs typeface="Times New Roman"/>
              </a:rPr>
              <a:t>mean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b="1">
                <a:latin typeface="Times New Roman"/>
                <a:cs typeface="Times New Roman"/>
              </a:rPr>
              <a:t> referring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back</a:t>
            </a:r>
            <a:r>
              <a:rPr dirty="0" sz="1200" b="1">
                <a:latin typeface="Times New Roman"/>
                <a:cs typeface="Times New Roman"/>
              </a:rPr>
              <a:t> to</a:t>
            </a:r>
            <a:r>
              <a:rPr dirty="0" sz="1200" spc="-5" b="1">
                <a:latin typeface="Times New Roman"/>
                <a:cs typeface="Times New Roman"/>
              </a:rPr>
              <a:t> 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tables </a:t>
            </a:r>
            <a:r>
              <a:rPr dirty="0" sz="1200" b="1">
                <a:latin typeface="Times New Roman"/>
                <a:cs typeface="Times New Roman"/>
              </a:rPr>
              <a:t>you have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just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completed.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Non-impact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printers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inexpensive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silent.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Tape-marks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unmagnetized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reflective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strips</a:t>
            </a:r>
            <a:r>
              <a:rPr dirty="0" sz="1200">
                <a:latin typeface="Times New Roman"/>
                <a:cs typeface="Times New Roman"/>
              </a:rPr>
              <a:t> stuck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onto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tape.</a:t>
            </a:r>
            <a:endParaRPr sz="1200">
              <a:latin typeface="Times New Roman"/>
              <a:cs typeface="Times New Roman"/>
            </a:endParaRPr>
          </a:p>
          <a:p>
            <a:pPr marL="165100" marR="1000125" indent="-15240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octal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hexadecimal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>
                <a:latin typeface="Times New Roman"/>
                <a:cs typeface="Times New Roman"/>
              </a:rPr>
              <a:t> 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shorthand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reading groups of four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binary digits.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are called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r>
              <a:rPr dirty="0" sz="1200">
                <a:latin typeface="Times New Roman"/>
                <a:cs typeface="Times New Roman"/>
              </a:rPr>
              <a:t> 28</a:t>
            </a:r>
            <a:endParaRPr sz="1200">
              <a:latin typeface="Times New Roman"/>
              <a:cs typeface="Times New Roman"/>
            </a:endParaRPr>
          </a:p>
          <a:p>
            <a:pPr marL="164465" marR="481330" indent="-15240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Multiprogramming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program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present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memory</a:t>
            </a:r>
            <a:r>
              <a:rPr dirty="0" sz="1200">
                <a:latin typeface="Times New Roman"/>
                <a:cs typeface="Times New Roman"/>
              </a:rPr>
              <a:t> at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65100" marR="48514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Peripheral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 (such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card</a:t>
            </a:r>
            <a:r>
              <a:rPr dirty="0" sz="1200" spc="-5">
                <a:latin typeface="Times New Roman"/>
                <a:cs typeface="Times New Roman"/>
              </a:rPr>
              <a:t> readers)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(such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printers).</a:t>
            </a:r>
            <a:endParaRPr sz="1200">
              <a:latin typeface="Times New Roman"/>
              <a:cs typeface="Times New Roman"/>
            </a:endParaRPr>
          </a:p>
          <a:p>
            <a:pPr marL="165100" marR="422275" indent="-1651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 decoder (a </a:t>
            </a:r>
            <a:r>
              <a:rPr dirty="0" sz="1200" spc="-5">
                <a:latin typeface="Times New Roman"/>
                <a:cs typeface="Times New Roman"/>
              </a:rPr>
              <a:t>component </a:t>
            </a:r>
            <a:r>
              <a:rPr dirty="0" sz="1200">
                <a:latin typeface="Times New Roman"/>
                <a:cs typeface="Times New Roman"/>
              </a:rPr>
              <a:t>of the control unit) </a:t>
            </a:r>
            <a:r>
              <a:rPr dirty="0" sz="1200" spc="-5">
                <a:latin typeface="Times New Roman"/>
                <a:cs typeface="Times New Roman"/>
              </a:rPr>
              <a:t>takes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coded instruction </a:t>
            </a:r>
            <a:r>
              <a:rPr dirty="0" sz="1200">
                <a:latin typeface="Times New Roman"/>
                <a:cs typeface="Times New Roman"/>
              </a:rPr>
              <a:t>and breaks 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the individual</a:t>
            </a:r>
            <a:r>
              <a:rPr dirty="0" sz="1200" spc="-5">
                <a:latin typeface="Times New Roman"/>
                <a:cs typeface="Times New Roman"/>
              </a:rPr>
              <a:t> commands</a:t>
            </a:r>
            <a:r>
              <a:rPr dirty="0" sz="1200">
                <a:latin typeface="Times New Roman"/>
                <a:cs typeface="Times New Roman"/>
              </a:rPr>
              <a:t> necessary to carry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out.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Microcomputers are </a:t>
            </a:r>
            <a:r>
              <a:rPr dirty="0" sz="1200" spc="-5">
                <a:latin typeface="Times New Roman"/>
                <a:cs typeface="Times New Roman"/>
              </a:rPr>
              <a:t>becoming</a:t>
            </a:r>
            <a:r>
              <a:rPr dirty="0" sz="1200">
                <a:latin typeface="Times New Roman"/>
                <a:cs typeface="Times New Roman"/>
              </a:rPr>
              <a:t> very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applications.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tape drive</a:t>
            </a:r>
            <a:r>
              <a:rPr dirty="0" sz="1200" spc="-5">
                <a:latin typeface="Times New Roman"/>
                <a:cs typeface="Times New Roman"/>
              </a:rPr>
              <a:t> transmits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electromagnetic </a:t>
            </a:r>
            <a:r>
              <a:rPr dirty="0" sz="1200" spc="-5">
                <a:latin typeface="Times New Roman"/>
                <a:cs typeface="Times New Roman"/>
              </a:rPr>
              <a:t>impulses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memory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marL="12700" marR="183896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Semiconductor materials </a:t>
            </a:r>
            <a:r>
              <a:rPr dirty="0" sz="1200">
                <a:latin typeface="Times New Roman"/>
                <a:cs typeface="Times New Roman"/>
              </a:rPr>
              <a:t>are 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of transistors.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33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Fill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blanks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</a:t>
            </a:r>
            <a:r>
              <a:rPr dirty="0" sz="1200" b="1">
                <a:latin typeface="Times New Roman"/>
                <a:cs typeface="Times New Roman"/>
              </a:rPr>
              <a:t> prefix from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list.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glossary at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 the reading package.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3050">
              <a:lnSpc>
                <a:spcPts val="1370"/>
              </a:lnSpc>
              <a:tabLst>
                <a:tab pos="678180" algn="l"/>
                <a:tab pos="1191895" algn="l"/>
                <a:tab pos="1749425" algn="l"/>
                <a:tab pos="2261870" algn="l"/>
                <a:tab pos="2926715" algn="l"/>
                <a:tab pos="3580129" algn="l"/>
                <a:tab pos="4137660" algn="l"/>
                <a:tab pos="4703445" algn="l"/>
                <a:tab pos="5408295" algn="l"/>
              </a:tabLst>
            </a:pPr>
            <a:r>
              <a:rPr dirty="0" sz="1200" b="1">
                <a:latin typeface="Times New Roman"/>
                <a:cs typeface="Times New Roman"/>
              </a:rPr>
              <a:t>m</a:t>
            </a:r>
            <a:r>
              <a:rPr dirty="0" sz="1200" spc="-10" b="1">
                <a:latin typeface="Times New Roman"/>
                <a:cs typeface="Times New Roman"/>
              </a:rPr>
              <a:t>u</a:t>
            </a:r>
            <a:r>
              <a:rPr dirty="0" sz="1200" b="1">
                <a:latin typeface="Times New Roman"/>
                <a:cs typeface="Times New Roman"/>
              </a:rPr>
              <a:t>lti	</a:t>
            </a:r>
            <a:r>
              <a:rPr dirty="0" sz="1200" spc="-5" b="1">
                <a:latin typeface="Times New Roman"/>
                <a:cs typeface="Times New Roman"/>
              </a:rPr>
              <a:t>d</a:t>
            </a:r>
            <a:r>
              <a:rPr dirty="0" sz="1200" b="1">
                <a:latin typeface="Times New Roman"/>
                <a:cs typeface="Times New Roman"/>
              </a:rPr>
              <a:t>eci-	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-10" b="1">
                <a:latin typeface="Times New Roman"/>
                <a:cs typeface="Times New Roman"/>
              </a:rPr>
              <a:t>ub</a:t>
            </a:r>
            <a:r>
              <a:rPr dirty="0" sz="1200" b="1">
                <a:latin typeface="Times New Roman"/>
                <a:cs typeface="Times New Roman"/>
              </a:rPr>
              <a:t>-	i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b="1">
                <a:latin typeface="Times New Roman"/>
                <a:cs typeface="Times New Roman"/>
              </a:rPr>
              <a:t>ter	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b="1">
                <a:latin typeface="Times New Roman"/>
                <a:cs typeface="Times New Roman"/>
              </a:rPr>
              <a:t>em</a:t>
            </a: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b="1">
                <a:latin typeface="Times New Roman"/>
                <a:cs typeface="Times New Roman"/>
              </a:rPr>
              <a:t>-	mo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b="1">
                <a:latin typeface="Times New Roman"/>
                <a:cs typeface="Times New Roman"/>
              </a:rPr>
              <a:t>o-	mega-	a</a:t>
            </a:r>
            <a:r>
              <a:rPr dirty="0" sz="1200" spc="-10" b="1">
                <a:latin typeface="Times New Roman"/>
                <a:cs typeface="Times New Roman"/>
              </a:rPr>
              <a:t>u</a:t>
            </a:r>
            <a:r>
              <a:rPr dirty="0" sz="1200" b="1">
                <a:latin typeface="Times New Roman"/>
                <a:cs typeface="Times New Roman"/>
              </a:rPr>
              <a:t>to	mi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b="1">
                <a:latin typeface="Times New Roman"/>
                <a:cs typeface="Times New Roman"/>
              </a:rPr>
              <a:t>i-	</a:t>
            </a:r>
            <a:r>
              <a:rPr dirty="0" sz="1200" spc="-10" b="1">
                <a:latin typeface="Times New Roman"/>
                <a:cs typeface="Times New Roman"/>
              </a:rPr>
              <a:t>d</a:t>
            </a:r>
            <a:r>
              <a:rPr dirty="0" sz="1200" b="1">
                <a:latin typeface="Times New Roman"/>
                <a:cs typeface="Times New Roman"/>
              </a:rPr>
              <a:t>e-  </a:t>
            </a:r>
            <a:r>
              <a:rPr dirty="0" sz="1200" b="1">
                <a:latin typeface="Times New Roman"/>
                <a:cs typeface="Times New Roman"/>
              </a:rPr>
              <a:t>inter-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prim </a:t>
            </a:r>
            <a:r>
              <a:rPr dirty="0" sz="1200">
                <a:latin typeface="Times New Roman"/>
                <a:cs typeface="Times New Roman"/>
              </a:rPr>
              <a:t>–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…Mega…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byte</a:t>
            </a:r>
            <a:r>
              <a:rPr dirty="0" sz="1200" spc="-5">
                <a:latin typeface="Times New Roman"/>
                <a:cs typeface="Times New Roman"/>
              </a:rPr>
              <a:t> means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million </a:t>
            </a:r>
            <a:r>
              <a:rPr dirty="0" sz="1200">
                <a:latin typeface="Times New Roman"/>
                <a:cs typeface="Times New Roman"/>
              </a:rPr>
              <a:t>bytes.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7640" algn="l"/>
              </a:tabLst>
            </a:pPr>
            <a:r>
              <a:rPr dirty="0" sz="1200" spc="-5">
                <a:latin typeface="Times New Roman"/>
                <a:cs typeface="Times New Roman"/>
              </a:rPr>
              <a:t>…Multi…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plexing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electrical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carried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optical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link.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Blocks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separated</a:t>
            </a:r>
            <a:r>
              <a:rPr dirty="0" sz="1200" spc="-5">
                <a:latin typeface="Times New Roman"/>
                <a:cs typeface="Times New Roman"/>
              </a:rPr>
              <a:t>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by</a:t>
            </a:r>
            <a:r>
              <a:rPr dirty="0" sz="1200" spc="-5">
                <a:latin typeface="Times New Roman"/>
                <a:cs typeface="Times New Roman"/>
              </a:rPr>
              <a:t> marks</a:t>
            </a:r>
            <a:r>
              <a:rPr dirty="0" sz="1200">
                <a:latin typeface="Times New Roman"/>
                <a:cs typeface="Times New Roman"/>
              </a:rPr>
              <a:t> called</a:t>
            </a:r>
            <a:r>
              <a:rPr dirty="0" sz="1200" spc="-5">
                <a:latin typeface="Times New Roman"/>
                <a:cs typeface="Times New Roman"/>
              </a:rPr>
              <a:t> …inter….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block </a:t>
            </a:r>
            <a:r>
              <a:rPr dirty="0" sz="1200">
                <a:latin typeface="Times New Roman"/>
                <a:cs typeface="Times New Roman"/>
              </a:rPr>
              <a:t>gaps.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700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everyday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deci….mal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CRT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terminals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useful…inter..active</a:t>
            </a:r>
            <a:r>
              <a:rPr dirty="0" sz="1200">
                <a:latin typeface="Times New Roman"/>
                <a:cs typeface="Times New Roman"/>
              </a:rPr>
              <a:t> devices for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in airline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reservations.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05104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screens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…mono...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chromatic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whereas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multicolor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pictorial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graphics.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18478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structure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schema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…sub……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schema.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>
                <a:latin typeface="Times New Roman"/>
                <a:cs typeface="Times New Roman"/>
              </a:rPr>
              <a:t> storage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…prim….</a:t>
            </a:r>
            <a:r>
              <a:rPr dirty="0" sz="1200">
                <a:latin typeface="Times New Roman"/>
                <a:cs typeface="Times New Roman"/>
              </a:rPr>
              <a:t> 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9812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ferrite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rings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cores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states: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magnetized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or…de….magnetized.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24447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…semi…..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conductor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memories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 of the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Exercise4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5"/>
              </a:lnSpc>
            </a:pPr>
            <a:r>
              <a:rPr dirty="0" sz="1200" b="1">
                <a:latin typeface="Times New Roman"/>
                <a:cs typeface="Times New Roman"/>
              </a:rPr>
              <a:t>Exercise 4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prefixes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complete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table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follows </a:t>
            </a:r>
            <a:r>
              <a:rPr dirty="0" sz="1200" b="1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6459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Computers may </a:t>
            </a:r>
            <a:r>
              <a:rPr dirty="0" sz="1200">
                <a:latin typeface="Times New Roman"/>
                <a:cs typeface="Times New Roman"/>
              </a:rPr>
              <a:t>have a short history but prior to their </a:t>
            </a:r>
            <a:r>
              <a:rPr dirty="0" sz="1200" spc="-5">
                <a:latin typeface="Times New Roman"/>
                <a:cs typeface="Times New Roman"/>
              </a:rPr>
              <a:t>development, </a:t>
            </a:r>
            <a:r>
              <a:rPr dirty="0" sz="1200">
                <a:latin typeface="Times New Roman"/>
                <a:cs typeface="Times New Roman"/>
              </a:rPr>
              <a:t>there were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doing calculations.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calculations were done using devices that are still used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today; the slide rule being a perfect </a:t>
            </a:r>
            <a:r>
              <a:rPr dirty="0" sz="1200" spc="-5">
                <a:latin typeface="Times New Roman"/>
                <a:cs typeface="Times New Roman"/>
              </a:rPr>
              <a:t>example, </a:t>
            </a:r>
            <a:r>
              <a:rPr dirty="0" sz="1200">
                <a:latin typeface="Times New Roman"/>
                <a:cs typeface="Times New Roman"/>
              </a:rPr>
              <a:t>not to </a:t>
            </a:r>
            <a:r>
              <a:rPr dirty="0" sz="1200" spc="-5">
                <a:latin typeface="Times New Roman"/>
                <a:cs typeface="Times New Roman"/>
              </a:rPr>
              <a:t>mention </a:t>
            </a:r>
            <a:r>
              <a:rPr dirty="0" sz="1200">
                <a:latin typeface="Times New Roman"/>
                <a:cs typeface="Times New Roman"/>
              </a:rPr>
              <a:t>the ten fingers of the hands.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>
                <a:latin typeface="Times New Roman"/>
                <a:cs typeface="Times New Roman"/>
              </a:rPr>
              <a:t>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electronic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 </a:t>
            </a:r>
            <a:r>
              <a:rPr dirty="0" sz="1200">
                <a:latin typeface="Times New Roman"/>
                <a:cs typeface="Times New Roman"/>
              </a:rPr>
              <a:t> calculating devices. It </a:t>
            </a:r>
            <a:r>
              <a:rPr dirty="0" sz="1200" spc="-5">
                <a:latin typeface="Times New Roman"/>
                <a:cs typeface="Times New Roman"/>
              </a:rPr>
              <a:t>wasn’t until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mid-1940s that the first </a:t>
            </a:r>
            <a:r>
              <a:rPr dirty="0" sz="1200">
                <a:latin typeface="Times New Roman"/>
                <a:cs typeface="Times New Roman"/>
              </a:rPr>
              <a:t>digital </a:t>
            </a:r>
            <a:r>
              <a:rPr dirty="0" sz="1200" spc="-5">
                <a:latin typeface="Times New Roman"/>
                <a:cs typeface="Times New Roman"/>
              </a:rPr>
              <a:t>computer was </a:t>
            </a:r>
            <a:r>
              <a:rPr dirty="0" sz="1200">
                <a:latin typeface="Times New Roman"/>
                <a:cs typeface="Times New Roman"/>
              </a:rPr>
              <a:t>built.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post-war industrial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take shape.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1960s,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their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predecessors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semiconductors</a:t>
            </a:r>
            <a:r>
              <a:rPr dirty="0" sz="1200">
                <a:latin typeface="Times New Roman"/>
                <a:cs typeface="Times New Roman"/>
              </a:rPr>
              <a:t> had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replaced vacuum tubes by tiny integrated </a:t>
            </a:r>
            <a:r>
              <a:rPr dirty="0" sz="1200" spc="-5">
                <a:latin typeface="Times New Roman"/>
                <a:cs typeface="Times New Roman"/>
              </a:rPr>
              <a:t>circuit </a:t>
            </a:r>
            <a:r>
              <a:rPr dirty="0" sz="1200">
                <a:latin typeface="Times New Roman"/>
                <a:cs typeface="Times New Roman"/>
              </a:rPr>
              <a:t>boards. </a:t>
            </a:r>
            <a:r>
              <a:rPr dirty="0" sz="1200" spc="-5">
                <a:latin typeface="Times New Roman"/>
                <a:cs typeface="Times New Roman"/>
              </a:rPr>
              <a:t>Due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microminiaturization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1970s,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circuits</a:t>
            </a:r>
            <a:r>
              <a:rPr dirty="0" sz="1200">
                <a:latin typeface="Times New Roman"/>
                <a:cs typeface="Times New Roman"/>
              </a:rPr>
              <a:t>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etched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wafer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rectangular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silicon.</a:t>
            </a:r>
            <a:r>
              <a:rPr dirty="0" sz="1200">
                <a:latin typeface="Times New Roman"/>
                <a:cs typeface="Times New Roman"/>
              </a:rPr>
              <a:t> 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integrated circuitry is known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chip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in </a:t>
            </a:r>
            <a:r>
              <a:rPr dirty="0" sz="1200" spc="-5">
                <a:latin typeface="Times New Roman"/>
                <a:cs typeface="Times New Roman"/>
              </a:rPr>
              <a:t>microcomputers </a:t>
            </a:r>
            <a:r>
              <a:rPr dirty="0" sz="1200">
                <a:latin typeface="Times New Roman"/>
                <a:cs typeface="Times New Roman"/>
              </a:rPr>
              <a:t>of all kinds. 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 been </a:t>
            </a:r>
            <a:r>
              <a:rPr dirty="0" sz="1200" spc="-5">
                <a:latin typeface="Times New Roman"/>
                <a:cs typeface="Times New Roman"/>
              </a:rPr>
              <a:t>forecasted, </a:t>
            </a:r>
            <a:r>
              <a:rPr dirty="0" sz="1200">
                <a:latin typeface="Times New Roman"/>
                <a:cs typeface="Times New Roman"/>
              </a:rPr>
              <a:t>by the end of this decade, </a:t>
            </a:r>
            <a:r>
              <a:rPr dirty="0" sz="1200" spc="-5">
                <a:latin typeface="Times New Roman"/>
                <a:cs typeface="Times New Roman"/>
              </a:rPr>
              <a:t>exceptionally faster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smaller computers will </a:t>
            </a:r>
            <a:r>
              <a:rPr dirty="0" sz="1200">
                <a:latin typeface="Times New Roman"/>
                <a:cs typeface="Times New Roman"/>
              </a:rPr>
              <a:t> replace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  <a:p>
            <a:pPr algn="just" marL="50165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5: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Review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Suffixes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suffixes.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 solve 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hundreds, even thousands, of logical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decisions </a:t>
            </a: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 or bored. It can find the solution of a problem in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fraction of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than it takes a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being to do the job. </a:t>
            </a: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 replace </a:t>
            </a:r>
            <a:r>
              <a:rPr dirty="0" sz="1200" spc="-5">
                <a:latin typeface="Times New Roman"/>
                <a:cs typeface="Times New Roman"/>
              </a:rPr>
              <a:t>people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dull, </a:t>
            </a:r>
            <a:r>
              <a:rPr dirty="0" sz="1200" spc="-5">
                <a:latin typeface="Times New Roman"/>
                <a:cs typeface="Times New Roman"/>
              </a:rPr>
              <a:t>routine tasks, </a:t>
            </a:r>
            <a:r>
              <a:rPr dirty="0" sz="1200">
                <a:latin typeface="Times New Roman"/>
                <a:cs typeface="Times New Roman"/>
              </a:rPr>
              <a:t>but 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5">
                <a:latin typeface="Times New Roman"/>
                <a:cs typeface="Times New Roman"/>
              </a:rPr>
              <a:t>originality;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works according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instructions given </a:t>
            </a:r>
            <a:r>
              <a:rPr dirty="0" sz="1200">
                <a:latin typeface="Times New Roman"/>
                <a:cs typeface="Times New Roman"/>
              </a:rPr>
              <a:t>to 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cannot exercise any </a:t>
            </a:r>
            <a:r>
              <a:rPr dirty="0" sz="1200" spc="-5">
                <a:latin typeface="Times New Roman"/>
                <a:cs typeface="Times New Roman"/>
              </a:rPr>
              <a:t>valuable judgment.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>
                <a:latin typeface="Times New Roman"/>
                <a:cs typeface="Times New Roman"/>
              </a:rPr>
              <a:t>when a </a:t>
            </a:r>
            <a:r>
              <a:rPr dirty="0" sz="1200" spc="-5">
                <a:latin typeface="Times New Roman"/>
                <a:cs typeface="Times New Roman"/>
              </a:rPr>
              <a:t>computer seems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 like a </a:t>
            </a:r>
            <a:r>
              <a:rPr dirty="0" sz="1200" spc="-5">
                <a:latin typeface="Times New Roman"/>
                <a:cs typeface="Times New Roman"/>
              </a:rPr>
              <a:t>mechanical </a:t>
            </a:r>
            <a:r>
              <a:rPr dirty="0" sz="1200">
                <a:latin typeface="Times New Roman"/>
                <a:cs typeface="Times New Roman"/>
              </a:rPr>
              <a:t>‘brain’, </a:t>
            </a:r>
            <a:r>
              <a:rPr dirty="0" sz="1200" spc="-5">
                <a:latin typeface="Times New Roman"/>
                <a:cs typeface="Times New Roman"/>
              </a:rPr>
              <a:t>but its achievements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limited </a:t>
            </a:r>
            <a:r>
              <a:rPr dirty="0" sz="1200">
                <a:latin typeface="Times New Roman"/>
                <a:cs typeface="Times New Roman"/>
              </a:rPr>
              <a:t>by the </a:t>
            </a:r>
            <a:r>
              <a:rPr dirty="0" sz="1200" spc="-5">
                <a:latin typeface="Times New Roman"/>
                <a:cs typeface="Times New Roman"/>
              </a:rPr>
              <a:t>minds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 beings. </a:t>
            </a: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cannot do anything </a:t>
            </a:r>
            <a:r>
              <a:rPr dirty="0" sz="1200" spc="-5">
                <a:latin typeface="Times New Roman"/>
                <a:cs typeface="Times New Roman"/>
              </a:rPr>
              <a:t>unless </a:t>
            </a:r>
            <a:r>
              <a:rPr dirty="0" sz="1200">
                <a:latin typeface="Times New Roman"/>
                <a:cs typeface="Times New Roman"/>
              </a:rPr>
              <a:t>a person </a:t>
            </a:r>
            <a:r>
              <a:rPr dirty="0" sz="1200" spc="-5">
                <a:latin typeface="Times New Roman"/>
                <a:cs typeface="Times New Roman"/>
              </a:rPr>
              <a:t>tells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to do and </a:t>
            </a:r>
            <a:r>
              <a:rPr dirty="0" sz="1200" spc="-5">
                <a:latin typeface="Times New Roman"/>
                <a:cs typeface="Times New Roman"/>
              </a:rPr>
              <a:t>gives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appropriate </a:t>
            </a:r>
            <a:r>
              <a:rPr dirty="0" sz="1200" spc="-5">
                <a:latin typeface="Times New Roman"/>
                <a:cs typeface="Times New Roman"/>
              </a:rPr>
              <a:t>information;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electric </a:t>
            </a:r>
            <a:r>
              <a:rPr dirty="0" sz="1200" spc="-5">
                <a:latin typeface="Times New Roman"/>
                <a:cs typeface="Times New Roman"/>
              </a:rPr>
              <a:t>pulses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move </a:t>
            </a:r>
            <a:r>
              <a:rPr dirty="0" sz="1200">
                <a:latin typeface="Times New Roman"/>
                <a:cs typeface="Times New Roman"/>
              </a:rPr>
              <a:t>at the speed of light, 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>
                <a:latin typeface="Times New Roman"/>
                <a:cs typeface="Times New Roman"/>
              </a:rPr>
              <a:t> operations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instantaneously.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 can do everything 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 do, but in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cases that person would be dead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 the job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finished.beings.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cannot do anything </a:t>
            </a:r>
            <a:r>
              <a:rPr dirty="0" sz="1200" spc="-5">
                <a:latin typeface="Times New Roman"/>
                <a:cs typeface="Times New Roman"/>
              </a:rPr>
              <a:t>unless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Having dealt with the roots of </a:t>
            </a:r>
            <a:r>
              <a:rPr dirty="0" sz="1200" spc="-5">
                <a:latin typeface="Times New Roman"/>
                <a:cs typeface="Times New Roman"/>
              </a:rPr>
              <a:t>words and how suffixes and prefixes work, </a:t>
            </a:r>
            <a:r>
              <a:rPr dirty="0" sz="1200">
                <a:latin typeface="Times New Roman"/>
                <a:cs typeface="Times New Roman"/>
              </a:rPr>
              <a:t>let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look 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5">
                <a:latin typeface="Times New Roman"/>
                <a:cs typeface="Times New Roman"/>
              </a:rPr>
              <a:t> way of enhancing your vocabulary: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have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or nearly the </a:t>
            </a:r>
            <a:r>
              <a:rPr dirty="0" sz="1200" spc="-5">
                <a:latin typeface="Times New Roman"/>
                <a:cs typeface="Times New Roman"/>
              </a:rPr>
              <a:t>same meaning. For example, </a:t>
            </a:r>
            <a:r>
              <a:rPr dirty="0" sz="1200">
                <a:latin typeface="Times New Roman"/>
                <a:cs typeface="Times New Roman"/>
              </a:rPr>
              <a:t>big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enormous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monumental,</a:t>
            </a:r>
            <a:r>
              <a:rPr dirty="0" sz="1200">
                <a:latin typeface="Times New Roman"/>
                <a:cs typeface="Times New Roman"/>
              </a:rPr>
              <a:t> gigantic,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immense,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colossal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characteristics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them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750556"/>
            <a:ext cx="5626735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Characteristic</a:t>
            </a:r>
            <a:r>
              <a:rPr dirty="0" sz="1200" spc="-5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senses.e.g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appropriate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when they are used to indicate that </a:t>
            </a:r>
            <a:r>
              <a:rPr dirty="0" sz="1200" spc="-5">
                <a:latin typeface="Times New Roman"/>
                <a:cs typeface="Times New Roman"/>
              </a:rPr>
              <a:t>something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‘fit’</a:t>
            </a:r>
            <a:r>
              <a:rPr dirty="0" sz="1200">
                <a:latin typeface="Times New Roman"/>
                <a:cs typeface="Times New Roman"/>
              </a:rPr>
              <a:t> for a specific purpose.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made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appropriate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295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i="1">
                <a:latin typeface="Times New Roman"/>
                <a:cs typeface="Times New Roman"/>
              </a:rPr>
              <a:t>Appropriate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interchangeably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“fit”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meanings </a:t>
            </a:r>
            <a:r>
              <a:rPr dirty="0" sz="1200">
                <a:latin typeface="Times New Roman"/>
                <a:cs typeface="Times New Roman"/>
              </a:rPr>
              <a:t>that they do not share.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instance </a:t>
            </a:r>
            <a:r>
              <a:rPr dirty="0" sz="1200" spc="-5" i="1">
                <a:latin typeface="Times New Roman"/>
                <a:cs typeface="Times New Roman"/>
              </a:rPr>
              <a:t>apt </a:t>
            </a:r>
            <a:r>
              <a:rPr dirty="0" sz="1200" spc="-5">
                <a:latin typeface="Times New Roman"/>
                <a:cs typeface="Times New Roman"/>
              </a:rPr>
              <a:t>may mean </a:t>
            </a:r>
            <a:r>
              <a:rPr dirty="0" sz="1200">
                <a:latin typeface="Times New Roman"/>
                <a:cs typeface="Times New Roman"/>
              </a:rPr>
              <a:t>“likely”, but </a:t>
            </a:r>
            <a:r>
              <a:rPr dirty="0" sz="1200" i="1">
                <a:latin typeface="Times New Roman"/>
                <a:cs typeface="Times New Roman"/>
              </a:rPr>
              <a:t>appropriate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>
                <a:latin typeface="Times New Roman"/>
                <a:cs typeface="Times New Roman"/>
              </a:rPr>
              <a:t> 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this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nervous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apt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laugh.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appropriate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interchangeably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apt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Second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Characteristic: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>
                <a:latin typeface="Times New Roman"/>
                <a:cs typeface="Times New Roman"/>
              </a:rPr>
              <a:t> often have </a:t>
            </a:r>
            <a:r>
              <a:rPr dirty="0" sz="1200" spc="-5">
                <a:latin typeface="Times New Roman"/>
                <a:cs typeface="Times New Roman"/>
              </a:rPr>
              <a:t>shades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addition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-5">
                <a:latin typeface="Times New Roman"/>
                <a:cs typeface="Times New Roman"/>
              </a:rPr>
              <a:t> share.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 indent="3810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instance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blame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denounce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unfavourable </a:t>
            </a:r>
            <a:r>
              <a:rPr dirty="0" sz="1200" spc="-5">
                <a:latin typeface="Times New Roman"/>
                <a:cs typeface="Times New Roman"/>
              </a:rPr>
              <a:t>judgement. </a:t>
            </a:r>
            <a:r>
              <a:rPr dirty="0" sz="1200">
                <a:latin typeface="Times New Roman"/>
                <a:cs typeface="Times New Roman"/>
              </a:rPr>
              <a:t>However, to </a:t>
            </a:r>
            <a:r>
              <a:rPr dirty="0" sz="1200" spc="-5">
                <a:latin typeface="Times New Roman"/>
                <a:cs typeface="Times New Roman"/>
              </a:rPr>
              <a:t>blame is </a:t>
            </a:r>
            <a:r>
              <a:rPr dirty="0" sz="1200">
                <a:latin typeface="Times New Roman"/>
                <a:cs typeface="Times New Roman"/>
              </a:rPr>
              <a:t>to fix the responsibility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an error </a:t>
            </a:r>
            <a:r>
              <a:rPr dirty="0" sz="1200" spc="-5">
                <a:latin typeface="Times New Roman"/>
                <a:cs typeface="Times New Roman"/>
              </a:rPr>
              <a:t>whereas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denounce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state </a:t>
            </a:r>
            <a:r>
              <a:rPr dirty="0" sz="1200">
                <a:latin typeface="Times New Roman"/>
                <a:cs typeface="Times New Roman"/>
              </a:rPr>
              <a:t>intense </a:t>
            </a:r>
            <a:r>
              <a:rPr dirty="0" sz="1200" spc="-5">
                <a:latin typeface="Times New Roman"/>
                <a:cs typeface="Times New Roman"/>
              </a:rPr>
              <a:t>disapproval in public. If you receive </a:t>
            </a:r>
            <a:r>
              <a:rPr dirty="0" sz="1200">
                <a:latin typeface="Times New Roman"/>
                <a:cs typeface="Times New Roman"/>
              </a:rPr>
              <a:t>a letter in </a:t>
            </a:r>
            <a:r>
              <a:rPr dirty="0" sz="1200" spc="-5">
                <a:latin typeface="Times New Roman"/>
                <a:cs typeface="Times New Roman"/>
              </a:rPr>
              <a:t>your letterbox </a:t>
            </a:r>
            <a:r>
              <a:rPr dirty="0" sz="1200">
                <a:latin typeface="Times New Roman"/>
                <a:cs typeface="Times New Roman"/>
              </a:rPr>
              <a:t> that should have been delivered to a neighbour, you </a:t>
            </a:r>
            <a:r>
              <a:rPr dirty="0" sz="1200" spc="-5">
                <a:latin typeface="Times New Roman"/>
                <a:cs typeface="Times New Roman"/>
              </a:rPr>
              <a:t>may blame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postman, </a:t>
            </a:r>
            <a:r>
              <a:rPr dirty="0" sz="1200">
                <a:latin typeface="Times New Roman"/>
                <a:cs typeface="Times New Roman"/>
              </a:rPr>
              <a:t>but you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publicly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denounce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postal employee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trivial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officials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found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guilty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stealing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taxpayers’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money,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denounced; they are severely criticised in </a:t>
            </a:r>
            <a:r>
              <a:rPr dirty="0" sz="1200" spc="-5">
                <a:latin typeface="Times New Roman"/>
                <a:cs typeface="Times New Roman"/>
              </a:rPr>
              <a:t>public, </a:t>
            </a:r>
            <a:r>
              <a:rPr dirty="0" sz="1200">
                <a:latin typeface="Times New Roman"/>
                <a:cs typeface="Times New Roman"/>
              </a:rPr>
              <a:t>and in </a:t>
            </a:r>
            <a:r>
              <a:rPr dirty="0" sz="1200" spc="-5">
                <a:latin typeface="Times New Roman"/>
                <a:cs typeface="Times New Roman"/>
              </a:rPr>
              <a:t>some cases </a:t>
            </a:r>
            <a:r>
              <a:rPr dirty="0" sz="1200">
                <a:latin typeface="Times New Roman"/>
                <a:cs typeface="Times New Roman"/>
              </a:rPr>
              <a:t>thrown out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office.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Blame </a:t>
            </a:r>
            <a:r>
              <a:rPr dirty="0" sz="1200">
                <a:latin typeface="Times New Roman"/>
                <a:cs typeface="Times New Roman"/>
              </a:rPr>
              <a:t>does not convey the kind of unfavourable </a:t>
            </a:r>
            <a:r>
              <a:rPr dirty="0" sz="1200" spc="-5">
                <a:latin typeface="Times New Roman"/>
                <a:cs typeface="Times New Roman"/>
              </a:rPr>
              <a:t>judgement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elected officials receive </a:t>
            </a:r>
            <a:r>
              <a:rPr dirty="0" sz="1200">
                <a:latin typeface="Times New Roman"/>
                <a:cs typeface="Times New Roman"/>
              </a:rPr>
              <a:t> 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betray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trust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 who elected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Final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Mastery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Selecting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Meanings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groups,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encircle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nearly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same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meaning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boldface type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 phrase.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1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Admonish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888365" algn="l"/>
                <a:tab pos="1742439" algn="l"/>
                <a:tab pos="2744470" algn="l"/>
              </a:tabLst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dress	</a:t>
            </a: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	c.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praise	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warn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2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Efface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901065" algn="l"/>
                <a:tab pos="1811020" algn="l"/>
                <a:tab pos="2674620" algn="l"/>
              </a:tabLst>
            </a:pPr>
            <a:r>
              <a:rPr dirty="0" sz="1200">
                <a:latin typeface="Times New Roman"/>
                <a:cs typeface="Times New Roman"/>
              </a:rPr>
              <a:t>a. discover	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	c. hide	d.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apologize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3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perennial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favorite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1146810" algn="l"/>
                <a:tab pos="1861820" algn="l"/>
                <a:tab pos="2783840" algn="l"/>
              </a:tabLst>
            </a:pPr>
            <a:r>
              <a:rPr dirty="0" sz="1200">
                <a:latin typeface="Times New Roman"/>
                <a:cs typeface="Times New Roman"/>
              </a:rPr>
              <a:t>a. old-fashioned	b. recent	c.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temporary	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enduring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6872732"/>
            <a:ext cx="168465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4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Subjugate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enemy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1096010" algn="l"/>
              </a:tabLst>
            </a:pPr>
            <a:r>
              <a:rPr dirty="0" sz="1200">
                <a:latin typeface="Times New Roman"/>
                <a:cs typeface="Times New Roman"/>
              </a:rPr>
              <a:t>a. torture	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release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903239" y="7047992"/>
            <a:ext cx="372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kill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83387" y="7047992"/>
            <a:ext cx="741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defeat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56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96950" y="7252546"/>
          <a:ext cx="4049395" cy="1921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010"/>
                <a:gridCol w="814069"/>
                <a:gridCol w="1024255"/>
                <a:gridCol w="860424"/>
              </a:tblGrid>
              <a:tr h="175260">
                <a:tc>
                  <a:txBody>
                    <a:bodyPr/>
                    <a:lstStyle/>
                    <a:p>
                      <a:pPr marL="311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Dissolute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behavior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29781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unsuccessful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stylish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immoral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modest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Jeer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our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efforts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examine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reject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criticize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ridicule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7.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firm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adherent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enemy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outside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435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supporter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student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 gridSpan="4"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semblance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order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8504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appearance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lack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result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opposite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9.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irate</a:t>
                      </a:r>
                      <a:r>
                        <a:rPr dirty="0" sz="1200" spc="-3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guest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sociable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welcome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8351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talkative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angry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 gridSpan="4"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brief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altercation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21367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96365" algn="l"/>
              </a:tabLst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shower	</a:t>
            </a: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55369" y="913892"/>
            <a:ext cx="491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relief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15933" y="913892"/>
            <a:ext cx="762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1089152"/>
            <a:ext cx="1489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11.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intrepid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camper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91301" y="1264411"/>
            <a:ext cx="5594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strong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1264411"/>
            <a:ext cx="128714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tireless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12.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Revile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adore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82162" y="1264411"/>
            <a:ext cx="5969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c.fearless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333556" y="1264411"/>
            <a:ext cx="584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412564" y="1614931"/>
            <a:ext cx="4578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377645" y="1614931"/>
            <a:ext cx="389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350993" y="1614931"/>
            <a:ext cx="525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abuse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1790192"/>
            <a:ext cx="1494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13.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Made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trite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1965452"/>
            <a:ext cx="1905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425575" algn="l"/>
              </a:tabLst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stale	</a:t>
            </a: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390315" y="1965452"/>
            <a:ext cx="643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original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50095" y="1965452"/>
            <a:ext cx="8718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taste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16000" y="2140711"/>
            <a:ext cx="1608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14.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Rectify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impression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16000" y="2315971"/>
            <a:ext cx="18999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405255" algn="l"/>
              </a:tabLst>
            </a:pPr>
            <a:r>
              <a:rPr dirty="0" sz="1200">
                <a:latin typeface="Times New Roman"/>
                <a:cs typeface="Times New Roman"/>
              </a:rPr>
              <a:t>a. explain	b.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423584" y="2315971"/>
            <a:ext cx="592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371130" y="2315971"/>
            <a:ext cx="660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confirm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16000" y="2491231"/>
            <a:ext cx="16903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15.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Daunted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treats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996950" y="2695786"/>
          <a:ext cx="4387215" cy="2273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42720"/>
                <a:gridCol w="974725"/>
                <a:gridCol w="939799"/>
                <a:gridCol w="1029335"/>
              </a:tblGrid>
              <a:tr h="172015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encouraged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ridiculed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destroyed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intimidated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16.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child’s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prattle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clothing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outlook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play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talk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17.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brazen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conduct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shameless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87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modest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deadly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acceptable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18.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major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exodus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entrance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discussion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departure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battle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 gridSpan="4"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19.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impoverished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neighbor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8504">
                <a:tc>
                  <a:txBody>
                    <a:bodyPr/>
                    <a:lstStyle/>
                    <a:p>
                      <a:pPr marL="31750" marR="120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learned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poor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509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beloved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95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unfriendly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20.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lucid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explanation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3651">
                <a:tc>
                  <a:txBody>
                    <a:bodyPr/>
                    <a:lstStyle/>
                    <a:p>
                      <a:pPr marL="31750" marR="1206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clear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inadequate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192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learned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272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foolish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0407">
                <a:tc>
                  <a:txBody>
                    <a:bodyPr/>
                    <a:lstStyle/>
                    <a:p>
                      <a:pPr marL="31750" marR="12065">
                        <a:lnSpc>
                          <a:spcPts val="1360"/>
                        </a:lnSpc>
                        <a:spcBef>
                          <a:spcPts val="590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Recap: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93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5" name="object 25"/>
          <p:cNvSpPr txBox="1"/>
          <p:nvPr/>
        </p:nvSpPr>
        <p:spPr>
          <a:xfrm>
            <a:off x="1016000" y="5120132"/>
            <a:ext cx="56267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Vocabulary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focussing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Affixes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Suffixes.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-09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Dear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SteReading: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Description, Locating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read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exercises</a:t>
            </a:r>
            <a:r>
              <a:rPr dirty="0" sz="1200">
                <a:latin typeface="Times New Roman"/>
                <a:cs typeface="Times New Roman"/>
              </a:rPr>
              <a:t> based on that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text.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again</a:t>
            </a:r>
            <a:r>
              <a:rPr dirty="0" sz="1200" spc="-5">
                <a:latin typeface="Times New Roman"/>
                <a:cs typeface="Times New Roman"/>
              </a:rPr>
              <a:t> emphasize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improve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 reading comprehension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abilities.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Characteristics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ct val="9570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When you read the following text, remember to try and understand the meaning of new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words </a:t>
            </a:r>
            <a:r>
              <a:rPr dirty="0" sz="1200" i="1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expressions from </a:t>
            </a:r>
            <a:r>
              <a:rPr dirty="0" sz="1200" i="1">
                <a:latin typeface="Times New Roman"/>
                <a:cs typeface="Times New Roman"/>
              </a:rPr>
              <a:t>the context. Don’t check new </a:t>
            </a:r>
            <a:r>
              <a:rPr dirty="0" sz="1200" spc="-5" i="1">
                <a:latin typeface="Times New Roman"/>
                <a:cs typeface="Times New Roman"/>
              </a:rPr>
              <a:t>words </a:t>
            </a:r>
            <a:r>
              <a:rPr dirty="0" sz="1200" i="1">
                <a:latin typeface="Times New Roman"/>
                <a:cs typeface="Times New Roman"/>
              </a:rPr>
              <a:t>in the </a:t>
            </a:r>
            <a:r>
              <a:rPr dirty="0" sz="1200" spc="-5" i="1">
                <a:latin typeface="Times New Roman"/>
                <a:cs typeface="Times New Roman"/>
              </a:rPr>
              <a:t>dictionary until </a:t>
            </a:r>
            <a:r>
              <a:rPr dirty="0" sz="1200" i="1">
                <a:latin typeface="Times New Roman"/>
                <a:cs typeface="Times New Roman"/>
              </a:rPr>
              <a:t>you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 read the whole text. </a:t>
            </a:r>
            <a:r>
              <a:rPr dirty="0" sz="1200" spc="-5" i="1">
                <a:latin typeface="Times New Roman"/>
                <a:cs typeface="Times New Roman"/>
              </a:rPr>
              <a:t>Those words </a:t>
            </a:r>
            <a:r>
              <a:rPr dirty="0" sz="1200" i="1">
                <a:latin typeface="Times New Roman"/>
                <a:cs typeface="Times New Roman"/>
              </a:rPr>
              <a:t>in bold </a:t>
            </a:r>
            <a:r>
              <a:rPr dirty="0" sz="1200" spc="-5" i="1">
                <a:latin typeface="Times New Roman"/>
                <a:cs typeface="Times New Roman"/>
              </a:rPr>
              <a:t>typeface are explained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the Glossary at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 the </a:t>
            </a:r>
            <a:r>
              <a:rPr dirty="0" sz="1200" spc="-5" i="1">
                <a:latin typeface="Times New Roman"/>
                <a:cs typeface="Times New Roman"/>
              </a:rPr>
              <a:t>book.</a:t>
            </a:r>
            <a:r>
              <a:rPr dirty="0" sz="1200" spc="-5">
                <a:latin typeface="Times New Roman"/>
                <a:cs typeface="Times New Roman"/>
              </a:rPr>
              <a:t>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context. Don’t check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/>
              <a:tabLst>
                <a:tab pos="26924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designed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electronically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specially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pieces of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which are </a:t>
            </a:r>
            <a:r>
              <a:rPr dirty="0" sz="1200" spc="-5">
                <a:latin typeface="Times New Roman"/>
                <a:cs typeface="Times New Roman"/>
              </a:rPr>
              <a:t>termed as </a:t>
            </a:r>
            <a:r>
              <a:rPr dirty="0" sz="1200">
                <a:latin typeface="Times New Roman"/>
                <a:cs typeface="Times New Roman"/>
              </a:rPr>
              <a:t>data. Handling or </a:t>
            </a:r>
            <a:r>
              <a:rPr dirty="0" sz="1200" spc="-5">
                <a:latin typeface="Times New Roman"/>
                <a:cs typeface="Times New Roman"/>
              </a:rPr>
              <a:t>manipulating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given to the </a:t>
            </a:r>
            <a:r>
              <a:rPr dirty="0" sz="1200" spc="-5">
                <a:latin typeface="Times New Roman"/>
                <a:cs typeface="Times New Roman"/>
              </a:rPr>
              <a:t>computer, </a:t>
            </a:r>
            <a:r>
              <a:rPr dirty="0" sz="1200">
                <a:latin typeface="Times New Roman"/>
                <a:cs typeface="Times New Roman"/>
              </a:rPr>
              <a:t>in such </a:t>
            </a:r>
            <a:r>
              <a:rPr dirty="0" sz="1200" spc="-5">
                <a:latin typeface="Times New Roman"/>
                <a:cs typeface="Times New Roman"/>
              </a:rPr>
              <a:t>ways as </a:t>
            </a:r>
            <a:r>
              <a:rPr dirty="0" sz="1200">
                <a:latin typeface="Times New Roman"/>
                <a:cs typeface="Times New Roman"/>
              </a:rPr>
              <a:t>doing calculations, adding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processing.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 devices capable of sorting data or moving them, at enormous speed, through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 </a:t>
            </a:r>
            <a:r>
              <a:rPr dirty="0" sz="1200">
                <a:latin typeface="Times New Roman"/>
                <a:cs typeface="Times New Roman"/>
              </a:rPr>
              <a:t>circuits with different functions.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/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arabicPlain"/>
              <a:tabLst>
                <a:tab pos="30416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several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regardless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>
                <a:latin typeface="Times New Roman"/>
                <a:cs typeface="Times New Roman"/>
              </a:rPr>
              <a:t>in the form of instructions and </a:t>
            </a:r>
            <a:r>
              <a:rPr dirty="0" sz="1200" spc="-5">
                <a:latin typeface="Times New Roman"/>
                <a:cs typeface="Times New Roman"/>
              </a:rPr>
              <a:t>data, is </a:t>
            </a:r>
            <a:r>
              <a:rPr dirty="0" sz="1200">
                <a:latin typeface="Times New Roman"/>
                <a:cs typeface="Times New Roman"/>
              </a:rPr>
              <a:t>given to the </a:t>
            </a:r>
            <a:r>
              <a:rPr dirty="0" sz="1200" spc="-5">
                <a:latin typeface="Times New Roman"/>
                <a:cs typeface="Times New Roman"/>
              </a:rPr>
              <a:t>machine, </a:t>
            </a:r>
            <a:r>
              <a:rPr dirty="0" sz="1200">
                <a:latin typeface="Times New Roman"/>
                <a:cs typeface="Times New Roman"/>
              </a:rPr>
              <a:t>after which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shown.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input; </a:t>
            </a:r>
            <a:r>
              <a:rPr dirty="0" sz="1200">
                <a:latin typeface="Times New Roman"/>
                <a:cs typeface="Times New Roman"/>
              </a:rPr>
              <a:t>the internal </a:t>
            </a:r>
            <a:r>
              <a:rPr dirty="0" sz="1200" spc="-5">
                <a:latin typeface="Times New Roman"/>
                <a:cs typeface="Times New Roman"/>
              </a:rPr>
              <a:t>manipulative </a:t>
            </a:r>
            <a:r>
              <a:rPr dirty="0" sz="1200">
                <a:latin typeface="Times New Roman"/>
                <a:cs typeface="Times New Roman"/>
              </a:rPr>
              <a:t>operations, the </a:t>
            </a:r>
            <a:r>
              <a:rPr dirty="0" sz="1200" spc="-5" b="1">
                <a:latin typeface="Times New Roman"/>
                <a:cs typeface="Times New Roman"/>
              </a:rPr>
              <a:t>processing;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result,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These three basic concepts of input, processing, and output occur in </a:t>
            </a: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>
                <a:latin typeface="Times New Roman"/>
                <a:cs typeface="Times New Roman"/>
              </a:rPr>
              <a:t>every aspect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life whether at</a:t>
            </a:r>
            <a:r>
              <a:rPr dirty="0" sz="1200" spc="-5">
                <a:latin typeface="Times New Roman"/>
                <a:cs typeface="Times New Roman"/>
              </a:rPr>
              <a:t> work or 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clothing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manufacturing,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input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pieces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cloth,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sewing</a:t>
            </a:r>
            <a:r>
              <a:rPr dirty="0" sz="1200">
                <a:latin typeface="Times New Roman"/>
                <a:cs typeface="Times New Roman"/>
              </a:rPr>
              <a:t> together of these </a:t>
            </a:r>
            <a:r>
              <a:rPr dirty="0" sz="1200" spc="-5">
                <a:latin typeface="Times New Roman"/>
                <a:cs typeface="Times New Roman"/>
              </a:rPr>
              <a:t>pieces,</a:t>
            </a:r>
            <a:r>
              <a:rPr dirty="0" sz="1200">
                <a:latin typeface="Times New Roman"/>
                <a:cs typeface="Times New Roman"/>
              </a:rPr>
              <a:t> and the output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garment.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828800" y="6149340"/>
            <a:ext cx="731520" cy="22860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36195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285"/>
              </a:spcBef>
            </a:pPr>
            <a:r>
              <a:rPr dirty="0" sz="1200" spc="-10" b="1">
                <a:latin typeface="Times New Roman"/>
                <a:cs typeface="Times New Roman"/>
              </a:rPr>
              <a:t>INPUT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43300" y="6172200"/>
            <a:ext cx="914400" cy="22860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00" spc="-5" b="1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372100" y="6119621"/>
            <a:ext cx="914400" cy="22860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66040" rIns="0" bIns="0" rtlCol="0" vert="horz">
            <a:spAutoFit/>
          </a:bodyPr>
          <a:lstStyle/>
          <a:p>
            <a:pPr marL="190500">
              <a:lnSpc>
                <a:spcPts val="1280"/>
              </a:lnSpc>
              <a:spcBef>
                <a:spcPts val="520"/>
              </a:spcBef>
            </a:pPr>
            <a:r>
              <a:rPr dirty="0" sz="1200" spc="-10" b="1">
                <a:latin typeface="Times New Roman"/>
                <a:cs typeface="Times New Roman"/>
              </a:rPr>
              <a:t>OUTPUT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6874256"/>
            <a:ext cx="5627370" cy="1784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24485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STORAGE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[3] Figure 3.1 </a:t>
            </a:r>
            <a:r>
              <a:rPr dirty="0" sz="1200" spc="-5">
                <a:latin typeface="Times New Roman"/>
                <a:cs typeface="Times New Roman"/>
              </a:rPr>
              <a:t>shows schematically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fundamental </a:t>
            </a:r>
            <a:r>
              <a:rPr dirty="0" sz="1200">
                <a:latin typeface="Times New Roman"/>
                <a:cs typeface="Times New Roman"/>
              </a:rPr>
              <a:t>hardware </a:t>
            </a:r>
            <a:r>
              <a:rPr dirty="0" sz="1200" spc="-5">
                <a:latin typeface="Times New Roman"/>
                <a:cs typeface="Times New Roman"/>
              </a:rPr>
              <a:t>components </a:t>
            </a:r>
            <a:r>
              <a:rPr dirty="0" sz="1200">
                <a:latin typeface="Times New Roman"/>
                <a:cs typeface="Times New Roman"/>
              </a:rPr>
              <a:t>in a computer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system. </a:t>
            </a:r>
            <a:r>
              <a:rPr dirty="0" sz="1200">
                <a:latin typeface="Times New Roman"/>
                <a:cs typeface="Times New Roman"/>
              </a:rPr>
              <a:t>The centerpiece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called </a:t>
            </a:r>
            <a:r>
              <a:rPr dirty="0" sz="1200" spc="-5">
                <a:latin typeface="Times New Roman"/>
                <a:cs typeface="Times New Roman"/>
              </a:rPr>
              <a:t>either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computer, </a:t>
            </a:r>
            <a:r>
              <a:rPr dirty="0" sz="1200">
                <a:latin typeface="Times New Roman"/>
                <a:cs typeface="Times New Roman"/>
              </a:rPr>
              <a:t>the processor, or, usually, the </a:t>
            </a:r>
            <a:r>
              <a:rPr dirty="0" sz="1200" spc="-5" b="1">
                <a:latin typeface="Times New Roman"/>
                <a:cs typeface="Times New Roman"/>
              </a:rPr>
              <a:t>central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processing unit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b="1">
                <a:latin typeface="Times New Roman"/>
                <a:cs typeface="Times New Roman"/>
              </a:rPr>
              <a:t>CPU</a:t>
            </a:r>
            <a:r>
              <a:rPr dirty="0" sz="1200" spc="-5">
                <a:latin typeface="Times New Roman"/>
                <a:cs typeface="Times New Roman"/>
              </a:rPr>
              <a:t>).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term ‘computer’ </a:t>
            </a:r>
            <a:r>
              <a:rPr dirty="0" sz="1200">
                <a:latin typeface="Times New Roman"/>
                <a:cs typeface="Times New Roman"/>
              </a:rPr>
              <a:t>includes those parts of </a:t>
            </a:r>
            <a:r>
              <a:rPr dirty="0" sz="1200" spc="-5" b="1">
                <a:latin typeface="Times New Roman"/>
                <a:cs typeface="Times New Roman"/>
              </a:rPr>
              <a:t>hardware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manipulations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performed,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high-speed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in which data and calculations are stored during actual execution of </a:t>
            </a:r>
            <a:r>
              <a:rPr dirty="0" sz="1200" spc="-5">
                <a:latin typeface="Times New Roman"/>
                <a:cs typeface="Times New Roman"/>
              </a:rPr>
              <a:t>programs. </a:t>
            </a:r>
            <a:r>
              <a:rPr dirty="0" sz="1200">
                <a:latin typeface="Times New Roman"/>
                <a:cs typeface="Times New Roman"/>
              </a:rPr>
              <a:t> Attached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various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peripheral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devices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card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keyboards </a:t>
            </a:r>
            <a:r>
              <a:rPr dirty="0" sz="1200">
                <a:latin typeface="Times New Roman"/>
                <a:cs typeface="Times New Roman"/>
              </a:rPr>
              <a:t>(two common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of input devices). </a:t>
            </a:r>
            <a:r>
              <a:rPr dirty="0" sz="1200" spc="-5">
                <a:latin typeface="Times New Roman"/>
                <a:cs typeface="Times New Roman"/>
              </a:rPr>
              <a:t>When data or programs need to be </a:t>
            </a:r>
            <a:r>
              <a:rPr dirty="0" sz="1200">
                <a:latin typeface="Times New Roman"/>
                <a:cs typeface="Times New Roman"/>
              </a:rPr>
              <a:t> saved for long period of </a:t>
            </a:r>
            <a:r>
              <a:rPr dirty="0" sz="1200" spc="-5">
                <a:latin typeface="Times New Roman"/>
                <a:cs typeface="Times New Roman"/>
              </a:rPr>
              <a:t>time, </a:t>
            </a:r>
            <a:r>
              <a:rPr dirty="0" sz="1200">
                <a:latin typeface="Times New Roman"/>
                <a:cs typeface="Times New Roman"/>
              </a:rPr>
              <a:t>they are stored on various </a:t>
            </a:r>
            <a:r>
              <a:rPr dirty="0" sz="1200" spc="-5" b="1">
                <a:latin typeface="Times New Roman"/>
                <a:cs typeface="Times New Roman"/>
              </a:rPr>
              <a:t>secondary </a:t>
            </a:r>
            <a:r>
              <a:rPr dirty="0" sz="1200" b="1">
                <a:latin typeface="Times New Roman"/>
                <a:cs typeface="Times New Roman"/>
              </a:rPr>
              <a:t>memory </a:t>
            </a:r>
            <a:r>
              <a:rPr dirty="0" sz="1200" spc="-5">
                <a:latin typeface="Times New Roman"/>
                <a:cs typeface="Times New Roman"/>
              </a:rPr>
              <a:t>devices 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storage </a:t>
            </a:r>
            <a:r>
              <a:rPr dirty="0" sz="1200" spc="-5" b="1">
                <a:latin typeface="Times New Roman"/>
                <a:cs typeface="Times New Roman"/>
              </a:rPr>
              <a:t>devices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5">
                <a:latin typeface="Times New Roman"/>
                <a:cs typeface="Times New Roman"/>
              </a:rPr>
              <a:t> as magnetic </a:t>
            </a:r>
            <a:r>
              <a:rPr dirty="0" sz="1200">
                <a:latin typeface="Times New Roman"/>
                <a:cs typeface="Times New Roman"/>
              </a:rPr>
              <a:t>tapes or </a:t>
            </a:r>
            <a:r>
              <a:rPr dirty="0" sz="1200" spc="-5">
                <a:latin typeface="Times New Roman"/>
                <a:cs typeface="Times New Roman"/>
              </a:rPr>
              <a:t>magnetic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disks.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743200" y="6310121"/>
            <a:ext cx="571500" cy="76200"/>
          </a:xfrm>
          <a:custGeom>
            <a:avLst/>
            <a:gdLst/>
            <a:ahLst/>
            <a:cxnLst/>
            <a:rect l="l" t="t" r="r" b="b"/>
            <a:pathLst>
              <a:path w="571500" h="76200">
                <a:moveTo>
                  <a:pt x="495300" y="0"/>
                </a:moveTo>
                <a:lnTo>
                  <a:pt x="495300" y="76200"/>
                </a:lnTo>
                <a:lnTo>
                  <a:pt x="562355" y="42672"/>
                </a:lnTo>
                <a:lnTo>
                  <a:pt x="508253" y="42672"/>
                </a:lnTo>
                <a:lnTo>
                  <a:pt x="508253" y="33527"/>
                </a:lnTo>
                <a:lnTo>
                  <a:pt x="562355" y="33527"/>
                </a:lnTo>
                <a:lnTo>
                  <a:pt x="495300" y="0"/>
                </a:lnTo>
                <a:close/>
              </a:path>
              <a:path w="571500" h="76200">
                <a:moveTo>
                  <a:pt x="495300" y="33527"/>
                </a:moveTo>
                <a:lnTo>
                  <a:pt x="0" y="33527"/>
                </a:lnTo>
                <a:lnTo>
                  <a:pt x="0" y="42672"/>
                </a:lnTo>
                <a:lnTo>
                  <a:pt x="495300" y="42672"/>
                </a:lnTo>
                <a:lnTo>
                  <a:pt x="495300" y="33527"/>
                </a:lnTo>
                <a:close/>
              </a:path>
              <a:path w="571500" h="76200">
                <a:moveTo>
                  <a:pt x="562355" y="33527"/>
                </a:moveTo>
                <a:lnTo>
                  <a:pt x="508253" y="33527"/>
                </a:lnTo>
                <a:lnTo>
                  <a:pt x="508253" y="42672"/>
                </a:lnTo>
                <a:lnTo>
                  <a:pt x="562355" y="42672"/>
                </a:lnTo>
                <a:lnTo>
                  <a:pt x="571500" y="38100"/>
                </a:lnTo>
                <a:lnTo>
                  <a:pt x="562355" y="33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3962400" y="6348221"/>
            <a:ext cx="76200" cy="342900"/>
          </a:xfrm>
          <a:custGeom>
            <a:avLst/>
            <a:gdLst/>
            <a:ahLst/>
            <a:cxnLst/>
            <a:rect l="l" t="t" r="r" b="b"/>
            <a:pathLst>
              <a:path w="76200" h="342900">
                <a:moveTo>
                  <a:pt x="33527" y="266700"/>
                </a:moveTo>
                <a:lnTo>
                  <a:pt x="0" y="266700"/>
                </a:lnTo>
                <a:lnTo>
                  <a:pt x="38100" y="342900"/>
                </a:lnTo>
                <a:lnTo>
                  <a:pt x="70103" y="278891"/>
                </a:lnTo>
                <a:lnTo>
                  <a:pt x="33527" y="278891"/>
                </a:lnTo>
                <a:lnTo>
                  <a:pt x="33527" y="266700"/>
                </a:lnTo>
                <a:close/>
              </a:path>
              <a:path w="76200" h="342900">
                <a:moveTo>
                  <a:pt x="42672" y="63245"/>
                </a:moveTo>
                <a:lnTo>
                  <a:pt x="33527" y="63245"/>
                </a:lnTo>
                <a:lnTo>
                  <a:pt x="33527" y="278891"/>
                </a:lnTo>
                <a:lnTo>
                  <a:pt x="42672" y="278891"/>
                </a:lnTo>
                <a:lnTo>
                  <a:pt x="42672" y="63245"/>
                </a:lnTo>
                <a:close/>
              </a:path>
              <a:path w="76200" h="342900">
                <a:moveTo>
                  <a:pt x="76200" y="266700"/>
                </a:moveTo>
                <a:lnTo>
                  <a:pt x="42672" y="266700"/>
                </a:lnTo>
                <a:lnTo>
                  <a:pt x="42672" y="278891"/>
                </a:lnTo>
                <a:lnTo>
                  <a:pt x="70103" y="278891"/>
                </a:lnTo>
                <a:lnTo>
                  <a:pt x="76200" y="266700"/>
                </a:lnTo>
                <a:close/>
              </a:path>
              <a:path w="76200" h="342900">
                <a:moveTo>
                  <a:pt x="38100" y="0"/>
                </a:moveTo>
                <a:lnTo>
                  <a:pt x="0" y="76200"/>
                </a:lnTo>
                <a:lnTo>
                  <a:pt x="33527" y="76200"/>
                </a:lnTo>
                <a:lnTo>
                  <a:pt x="33527" y="63245"/>
                </a:lnTo>
                <a:lnTo>
                  <a:pt x="69723" y="63245"/>
                </a:lnTo>
                <a:lnTo>
                  <a:pt x="38100" y="0"/>
                </a:lnTo>
                <a:close/>
              </a:path>
              <a:path w="76200" h="342900">
                <a:moveTo>
                  <a:pt x="69723" y="63245"/>
                </a:moveTo>
                <a:lnTo>
                  <a:pt x="42672" y="63245"/>
                </a:lnTo>
                <a:lnTo>
                  <a:pt x="42672" y="76200"/>
                </a:lnTo>
                <a:lnTo>
                  <a:pt x="76200" y="76200"/>
                </a:lnTo>
                <a:lnTo>
                  <a:pt x="69723" y="63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4686300" y="6310121"/>
            <a:ext cx="571500" cy="76200"/>
          </a:xfrm>
          <a:custGeom>
            <a:avLst/>
            <a:gdLst/>
            <a:ahLst/>
            <a:cxnLst/>
            <a:rect l="l" t="t" r="r" b="b"/>
            <a:pathLst>
              <a:path w="571500" h="76200">
                <a:moveTo>
                  <a:pt x="495300" y="0"/>
                </a:moveTo>
                <a:lnTo>
                  <a:pt x="495300" y="76200"/>
                </a:lnTo>
                <a:lnTo>
                  <a:pt x="562355" y="42672"/>
                </a:lnTo>
                <a:lnTo>
                  <a:pt x="508253" y="42672"/>
                </a:lnTo>
                <a:lnTo>
                  <a:pt x="508253" y="33527"/>
                </a:lnTo>
                <a:lnTo>
                  <a:pt x="562355" y="33527"/>
                </a:lnTo>
                <a:lnTo>
                  <a:pt x="495300" y="0"/>
                </a:lnTo>
                <a:close/>
              </a:path>
              <a:path w="571500" h="76200">
                <a:moveTo>
                  <a:pt x="495300" y="33527"/>
                </a:moveTo>
                <a:lnTo>
                  <a:pt x="0" y="33527"/>
                </a:lnTo>
                <a:lnTo>
                  <a:pt x="0" y="42672"/>
                </a:lnTo>
                <a:lnTo>
                  <a:pt x="495300" y="42672"/>
                </a:lnTo>
                <a:lnTo>
                  <a:pt x="495300" y="33527"/>
                </a:lnTo>
                <a:close/>
              </a:path>
              <a:path w="571500" h="76200">
                <a:moveTo>
                  <a:pt x="562355" y="33527"/>
                </a:moveTo>
                <a:lnTo>
                  <a:pt x="508253" y="33527"/>
                </a:lnTo>
                <a:lnTo>
                  <a:pt x="508253" y="42672"/>
                </a:lnTo>
                <a:lnTo>
                  <a:pt x="562355" y="42672"/>
                </a:lnTo>
                <a:lnTo>
                  <a:pt x="571500" y="38100"/>
                </a:lnTo>
                <a:lnTo>
                  <a:pt x="562355" y="33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872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  <a:buAutoNum type="arabicPlain" startAt="4"/>
              <a:tabLst>
                <a:tab pos="23177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have often been </a:t>
            </a:r>
            <a:r>
              <a:rPr dirty="0" sz="1200">
                <a:latin typeface="Times New Roman"/>
                <a:cs typeface="Times New Roman"/>
              </a:rPr>
              <a:t>thought of </a:t>
            </a:r>
            <a:r>
              <a:rPr dirty="0" sz="1200" spc="-5">
                <a:latin typeface="Times New Roman"/>
                <a:cs typeface="Times New Roman"/>
              </a:rPr>
              <a:t>as extremely </a:t>
            </a:r>
            <a:r>
              <a:rPr dirty="0" sz="1200">
                <a:latin typeface="Times New Roman"/>
                <a:cs typeface="Times New Roman"/>
              </a:rPr>
              <a:t>large adding </a:t>
            </a:r>
            <a:r>
              <a:rPr dirty="0" sz="1200" spc="-5">
                <a:latin typeface="Times New Roman"/>
                <a:cs typeface="Times New Roman"/>
              </a:rPr>
              <a:t>machines, </a:t>
            </a:r>
            <a:r>
              <a:rPr dirty="0" sz="1200">
                <a:latin typeface="Times New Roman"/>
                <a:cs typeface="Times New Roman"/>
              </a:rPr>
              <a:t>but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narrow view of their function. </a:t>
            </a:r>
            <a:r>
              <a:rPr dirty="0" sz="1200" spc="-5">
                <a:latin typeface="Times New Roman"/>
                <a:cs typeface="Times New Roman"/>
              </a:rPr>
              <a:t>Although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can only respond to a certain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instructions,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a </a:t>
            </a:r>
            <a:r>
              <a:rPr dirty="0" sz="1200" spc="-5" b="1">
                <a:latin typeface="Times New Roman"/>
                <a:cs typeface="Times New Roman"/>
              </a:rPr>
              <a:t>single-purpose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since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instructions 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 </a:t>
            </a:r>
            <a:r>
              <a:rPr dirty="0" sz="1200">
                <a:latin typeface="Times New Roman"/>
                <a:cs typeface="Times New Roman"/>
              </a:rPr>
              <a:t>in an infinite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sequences. </a:t>
            </a:r>
            <a:r>
              <a:rPr dirty="0" sz="1200">
                <a:latin typeface="Times New Roman"/>
                <a:cs typeface="Times New Roman"/>
              </a:rPr>
              <a:t>Therefore, a </a:t>
            </a:r>
            <a:r>
              <a:rPr dirty="0" sz="1200" spc="-5">
                <a:latin typeface="Times New Roman"/>
                <a:cs typeface="Times New Roman"/>
              </a:rPr>
              <a:t>computer has </a:t>
            </a:r>
            <a:r>
              <a:rPr dirty="0" sz="1200">
                <a:latin typeface="Times New Roman"/>
                <a:cs typeface="Times New Roman"/>
              </a:rPr>
              <a:t>no known </a:t>
            </a:r>
            <a:r>
              <a:rPr dirty="0" sz="1200" spc="-5">
                <a:latin typeface="Times New Roman"/>
                <a:cs typeface="Times New Roman"/>
              </a:rPr>
              <a:t>limit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kinds of things it can do;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versatility </a:t>
            </a:r>
            <a:r>
              <a:rPr dirty="0" sz="1200" spc="-5">
                <a:latin typeface="Times New Roman"/>
                <a:cs typeface="Times New Roman"/>
              </a:rPr>
              <a:t>is limited </a:t>
            </a:r>
            <a:r>
              <a:rPr dirty="0" sz="1200">
                <a:latin typeface="Times New Roman"/>
                <a:cs typeface="Times New Roman"/>
              </a:rPr>
              <a:t>only to the </a:t>
            </a:r>
            <a:r>
              <a:rPr dirty="0" sz="1200" spc="-5">
                <a:latin typeface="Times New Roman"/>
                <a:cs typeface="Times New Roman"/>
              </a:rPr>
              <a:t>imagination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those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lain" startAt="4"/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 startAt="4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In the late 1950s and early 1960s when </a:t>
            </a:r>
            <a:r>
              <a:rPr dirty="0" sz="1200" spc="-5">
                <a:latin typeface="Times New Roman"/>
                <a:cs typeface="Times New Roman"/>
              </a:rPr>
              <a:t>electronic computers,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today, were being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developed, they were very expensive to own and run. Moreover, their size and reliability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such that a large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support personnel were </a:t>
            </a:r>
            <a:r>
              <a:rPr dirty="0" sz="1200" spc="-5">
                <a:latin typeface="Times New Roman"/>
                <a:cs typeface="Times New Roman"/>
              </a:rPr>
              <a:t>needed </a:t>
            </a:r>
            <a:r>
              <a:rPr dirty="0" sz="1200">
                <a:latin typeface="Times New Roman"/>
                <a:cs typeface="Times New Roman"/>
              </a:rPr>
              <a:t>to keep the </a:t>
            </a:r>
            <a:r>
              <a:rPr dirty="0" sz="1200" spc="-5">
                <a:latin typeface="Times New Roman"/>
                <a:cs typeface="Times New Roman"/>
              </a:rPr>
              <a:t>equipment </a:t>
            </a:r>
            <a:r>
              <a:rPr dirty="0" sz="1200">
                <a:latin typeface="Times New Roman"/>
                <a:cs typeface="Times New Roman"/>
              </a:rPr>
              <a:t> operating. </a:t>
            </a:r>
            <a:r>
              <a:rPr dirty="0" sz="1200" spc="-5">
                <a:latin typeface="Times New Roman"/>
                <a:cs typeface="Times New Roman"/>
              </a:rPr>
              <a:t>This has </a:t>
            </a:r>
            <a:r>
              <a:rPr dirty="0" sz="1200">
                <a:latin typeface="Times New Roman"/>
                <a:cs typeface="Times New Roman"/>
              </a:rPr>
              <a:t>all changed now that computing </a:t>
            </a:r>
            <a:r>
              <a:rPr dirty="0" sz="1200" spc="-5">
                <a:latin typeface="Times New Roman"/>
                <a:cs typeface="Times New Roman"/>
              </a:rPr>
              <a:t>power has become </a:t>
            </a:r>
            <a:r>
              <a:rPr dirty="0" sz="1200">
                <a:latin typeface="Times New Roman"/>
                <a:cs typeface="Times New Roman"/>
              </a:rPr>
              <a:t>portable,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compact,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 startAt="4"/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lain" startAt="4"/>
              <a:tabLst>
                <a:tab pos="239395" algn="l"/>
              </a:tabLst>
            </a:pPr>
            <a:r>
              <a:rPr dirty="0" sz="1200">
                <a:latin typeface="Times New Roman"/>
                <a:cs typeface="Times New Roman"/>
              </a:rPr>
              <a:t>In only a very short period of </a:t>
            </a:r>
            <a:r>
              <a:rPr dirty="0" sz="1200" spc="-5">
                <a:latin typeface="Times New Roman"/>
                <a:cs typeface="Times New Roman"/>
              </a:rPr>
              <a:t>time, computers </a:t>
            </a:r>
            <a:r>
              <a:rPr dirty="0" sz="1200">
                <a:latin typeface="Times New Roman"/>
                <a:cs typeface="Times New Roman"/>
              </a:rPr>
              <a:t>have greatly changed the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kinds of work are </a:t>
            </a:r>
            <a:r>
              <a:rPr dirty="0" sz="1200" spc="-5">
                <a:latin typeface="Times New Roman"/>
                <a:cs typeface="Times New Roman"/>
              </a:rPr>
              <a:t>performed. Computer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remove many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routine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boring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tasks </a:t>
            </a:r>
            <a:r>
              <a:rPr dirty="0" sz="1200">
                <a:latin typeface="Times New Roman"/>
                <a:cs typeface="Times New Roman"/>
              </a:rPr>
              <a:t>from our lives, thereby giving </a:t>
            </a:r>
            <a:r>
              <a:rPr dirty="0" sz="1200" spc="-5">
                <a:latin typeface="Times New Roman"/>
                <a:cs typeface="Times New Roman"/>
              </a:rPr>
              <a:t>us more time </a:t>
            </a:r>
            <a:r>
              <a:rPr dirty="0" sz="1200">
                <a:latin typeface="Times New Roman"/>
                <a:cs typeface="Times New Roman"/>
              </a:rPr>
              <a:t>for interesting, creative work. It goes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without saying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computers have created whole new areas of work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did not exist </a:t>
            </a:r>
            <a:r>
              <a:rPr dirty="0" sz="1200">
                <a:latin typeface="Times New Roman"/>
                <a:cs typeface="Times New Roman"/>
              </a:rPr>
              <a:t> before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development.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rabicPlain" startAt="4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Exercises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1: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9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text?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Why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did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eliminate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other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622300" indent="-153035">
              <a:lnSpc>
                <a:spcPct val="100000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live.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622300" indent="-153035">
              <a:lnSpc>
                <a:spcPct val="100000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 computers</a:t>
            </a:r>
            <a:r>
              <a:rPr dirty="0" sz="1200">
                <a:latin typeface="Times New Roman"/>
                <a:cs typeface="Times New Roman"/>
              </a:rPr>
              <a:t> have an input, a </a:t>
            </a:r>
            <a:r>
              <a:rPr dirty="0" sz="1200" spc="-5">
                <a:latin typeface="Times New Roman"/>
                <a:cs typeface="Times New Roman"/>
              </a:rPr>
              <a:t>processor,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622300" indent="-153035">
              <a:lnSpc>
                <a:spcPct val="100000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workload.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622300" indent="-153035">
              <a:lnSpc>
                <a:spcPct val="100000"/>
              </a:lnSpc>
              <a:buAutoNum type="arabicPeriod"/>
              <a:tabLst>
                <a:tab pos="62293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 hardware </a:t>
            </a:r>
            <a:r>
              <a:rPr dirty="0" sz="1200" spc="-5">
                <a:latin typeface="Times New Roman"/>
                <a:cs typeface="Times New Roman"/>
              </a:rPr>
              <a:t>components.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2: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Passage: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</a:t>
            </a:r>
            <a:r>
              <a:rPr dirty="0" sz="1200">
                <a:latin typeface="Times New Roman"/>
                <a:cs typeface="Times New Roman"/>
              </a:rPr>
              <a:t> (T/F)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referring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given in the text. Then,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necessary changes so </a:t>
            </a:r>
            <a:r>
              <a:rPr dirty="0" sz="1200">
                <a:latin typeface="Times New Roman"/>
                <a:cs typeface="Times New Roman"/>
              </a:rPr>
              <a:t>that the false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T       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927100" marR="271145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090930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understand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257300" y="5362194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257300" y="5708903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257300" y="6046470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257300" y="6393179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003553" y="7992618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299"/>
                </a:lnTo>
                <a:lnTo>
                  <a:pt x="113537" y="114299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434846" y="7992618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299"/>
                </a:lnTo>
                <a:lnTo>
                  <a:pt x="113537" y="114299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6459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927100" marR="271145">
              <a:lnSpc>
                <a:spcPts val="1380"/>
              </a:lnSpc>
              <a:spcBef>
                <a:spcPts val="5"/>
              </a:spcBef>
              <a:buAutoNum type="arabicPeriod" startAt="2"/>
              <a:tabLst>
                <a:tab pos="1082040" algn="l"/>
              </a:tabLst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circuitry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stored or </a:t>
            </a:r>
            <a:r>
              <a:rPr dirty="0" sz="1200">
                <a:latin typeface="Times New Roman"/>
                <a:cs typeface="Times New Roman"/>
              </a:rPr>
              <a:t>moved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 at high </a:t>
            </a:r>
            <a:r>
              <a:rPr dirty="0" sz="1200" spc="-5">
                <a:latin typeface="Times New Roman"/>
                <a:cs typeface="Times New Roman"/>
              </a:rPr>
              <a:t>speeds.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079500" indent="-152400">
              <a:lnSpc>
                <a:spcPct val="100000"/>
              </a:lnSpc>
              <a:buAutoNum type="arabicPeriod" startAt="2"/>
              <a:tabLst>
                <a:tab pos="1079500" algn="l"/>
              </a:tabLst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2"/>
            </a:pPr>
            <a:endParaRPr sz="115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 startAt="2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concepts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data</a:t>
            </a:r>
            <a:r>
              <a:rPr dirty="0" sz="1200" spc="-5">
                <a:latin typeface="Times New Roman"/>
                <a:cs typeface="Times New Roman"/>
              </a:rPr>
              <a:t> processing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restricted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-5">
                <a:latin typeface="Times New Roman"/>
                <a:cs typeface="Times New Roman"/>
              </a:rPr>
              <a:t> alone.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 startAt="2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central</a:t>
            </a:r>
            <a:r>
              <a:rPr dirty="0" sz="1200" spc="-5">
                <a:latin typeface="Times New Roman"/>
                <a:cs typeface="Times New Roman"/>
              </a:rPr>
              <a:t> component</a:t>
            </a:r>
            <a:r>
              <a:rPr dirty="0" sz="1200">
                <a:latin typeface="Times New Roman"/>
                <a:cs typeface="Times New Roman"/>
              </a:rPr>
              <a:t> of 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 startAt="2"/>
              <a:tabLst>
                <a:tab pos="1079500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attached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CPU.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079500" indent="-153035">
              <a:lnSpc>
                <a:spcPct val="100000"/>
              </a:lnSpc>
              <a:buAutoNum type="arabicPeriod" startAt="2"/>
              <a:tabLst>
                <a:tab pos="1080135" algn="l"/>
              </a:tabLst>
            </a:pP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storing</a:t>
            </a:r>
            <a:r>
              <a:rPr dirty="0" sz="1200" spc="-5">
                <a:latin typeface="Times New Roman"/>
                <a:cs typeface="Times New Roman"/>
              </a:rPr>
              <a:t> information.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079500" indent="-153035">
              <a:lnSpc>
                <a:spcPct val="100000"/>
              </a:lnSpc>
              <a:buAutoNum type="arabicPeriod" startAt="2"/>
              <a:tabLst>
                <a:tab pos="10801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very much </a:t>
            </a:r>
            <a:r>
              <a:rPr dirty="0" sz="1200" spc="-5">
                <a:latin typeface="Times New Roman"/>
                <a:cs typeface="Times New Roman"/>
              </a:rPr>
              <a:t>restricted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can 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2"/>
            </a:pPr>
            <a:endParaRPr sz="1200">
              <a:latin typeface="Times New Roman"/>
              <a:cs typeface="Times New Roman"/>
            </a:endParaRPr>
          </a:p>
          <a:p>
            <a:pPr marL="927100" marR="1453515">
              <a:lnSpc>
                <a:spcPts val="1380"/>
              </a:lnSpc>
              <a:buAutoNum type="arabicPeriod" startAt="2"/>
              <a:tabLst>
                <a:tab pos="10801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today cost </a:t>
            </a:r>
            <a:r>
              <a:rPr dirty="0" sz="1200" spc="-5">
                <a:latin typeface="Times New Roman"/>
                <a:cs typeface="Times New Roman"/>
              </a:rPr>
              <a:t>less,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smaller, </a:t>
            </a:r>
            <a:r>
              <a:rPr dirty="0" sz="1200">
                <a:latin typeface="Times New Roman"/>
                <a:cs typeface="Times New Roman"/>
              </a:rPr>
              <a:t>and need fewer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operate</a:t>
            </a:r>
            <a:r>
              <a:rPr dirty="0" sz="1200">
                <a:latin typeface="Times New Roman"/>
                <a:cs typeface="Times New Roman"/>
              </a:rPr>
              <a:t> 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in the</a:t>
            </a:r>
            <a:r>
              <a:rPr dirty="0" sz="1200" spc="-5">
                <a:latin typeface="Times New Roman"/>
                <a:cs typeface="Times New Roman"/>
              </a:rPr>
              <a:t> past.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155700" indent="-229235">
              <a:lnSpc>
                <a:spcPct val="100000"/>
              </a:lnSpc>
              <a:buAutoNum type="arabicPeriod" startAt="2"/>
              <a:tabLst>
                <a:tab pos="11563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3: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Locating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Information: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 All 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 2.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decision-making</a:t>
            </a:r>
            <a:r>
              <a:rPr dirty="0" sz="1200">
                <a:latin typeface="Times New Roman"/>
                <a:cs typeface="Times New Roman"/>
              </a:rPr>
              <a:t> operations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 3.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limited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man’s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anything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 4.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equipment</a:t>
            </a:r>
            <a:r>
              <a:rPr dirty="0" sz="1200">
                <a:latin typeface="Times New Roman"/>
                <a:cs typeface="Times New Roman"/>
              </a:rPr>
              <a:t> used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 is</a:t>
            </a:r>
            <a:r>
              <a:rPr dirty="0" sz="1200">
                <a:latin typeface="Times New Roman"/>
                <a:cs typeface="Times New Roman"/>
              </a:rPr>
              <a:t> hardware.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5.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electronic</a:t>
            </a:r>
            <a:r>
              <a:rPr dirty="0" sz="1200" spc="-5">
                <a:latin typeface="Times New Roman"/>
                <a:cs typeface="Times New Roman"/>
              </a:rPr>
              <a:t> machines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processing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data.</a:t>
            </a:r>
            <a:endParaRPr sz="1200">
              <a:latin typeface="Times New Roman"/>
              <a:cs typeface="Times New Roman"/>
            </a:endParaRPr>
          </a:p>
          <a:p>
            <a:pPr marL="927100" marR="271145" indent="-91440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……….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kept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tapes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disks.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……….8.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Finally,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is</a:t>
            </a:r>
            <a:r>
              <a:rPr dirty="0" sz="1200">
                <a:latin typeface="Times New Roman"/>
                <a:cs typeface="Times New Roman"/>
              </a:rPr>
              <a:t> presented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4: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Contextual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Reference: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bold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typeface</a:t>
            </a:r>
            <a:r>
              <a:rPr dirty="0" sz="1200">
                <a:latin typeface="Times New Roman"/>
                <a:cs typeface="Times New Roman"/>
              </a:rPr>
              <a:t> refer to.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223252"/>
            <a:ext cx="2333625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them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They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single-purpose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Moreover,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their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reliability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10.</a:t>
            </a:r>
            <a:r>
              <a:rPr dirty="0" sz="1200" spc="-5" b="1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exist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58869" y="7223252"/>
            <a:ext cx="961390" cy="178562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(para.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</a:t>
            </a: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</a:t>
            </a: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</a:t>
            </a:r>
            <a:r>
              <a:rPr dirty="0" sz="1200" spc="-5">
                <a:latin typeface="Times New Roman"/>
                <a:cs typeface="Times New Roman"/>
              </a:rPr>
              <a:t>(para.4)………  </a:t>
            </a:r>
            <a:r>
              <a:rPr dirty="0" sz="1200">
                <a:latin typeface="Times New Roman"/>
                <a:cs typeface="Times New Roman"/>
              </a:rPr>
              <a:t>(para.5)………  (para.</a:t>
            </a: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(para.6)………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03553" y="957833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434846" y="957833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003553" y="1497330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298"/>
                </a:lnTo>
                <a:lnTo>
                  <a:pt x="113537" y="114298"/>
                </a:lnTo>
                <a:lnTo>
                  <a:pt x="113537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434846" y="1497330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298"/>
                </a:lnTo>
                <a:lnTo>
                  <a:pt x="113537" y="114298"/>
                </a:lnTo>
                <a:lnTo>
                  <a:pt x="113537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003553" y="1844801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1"/>
                </a:lnTo>
                <a:lnTo>
                  <a:pt x="113537" y="114301"/>
                </a:lnTo>
                <a:lnTo>
                  <a:pt x="113537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434846" y="1844801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1"/>
                </a:lnTo>
                <a:lnTo>
                  <a:pt x="113537" y="114301"/>
                </a:lnTo>
                <a:lnTo>
                  <a:pt x="113537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003553" y="2178557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434846" y="2178557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003553" y="2530601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434846" y="2530601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003553" y="2902457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434846" y="2902457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003553" y="3240023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434846" y="3240023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003553" y="3612641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434846" y="3612641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003553" y="4124705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434846" y="4124705"/>
            <a:ext cx="113664" cy="114300"/>
          </a:xfrm>
          <a:custGeom>
            <a:avLst/>
            <a:gdLst/>
            <a:ahLst/>
            <a:cxnLst/>
            <a:rect l="l" t="t" r="r" b="b"/>
            <a:pathLst>
              <a:path w="113665" h="114300">
                <a:moveTo>
                  <a:pt x="113537" y="0"/>
                </a:moveTo>
                <a:lnTo>
                  <a:pt x="0" y="0"/>
                </a:lnTo>
                <a:lnTo>
                  <a:pt x="0" y="114300"/>
                </a:lnTo>
                <a:lnTo>
                  <a:pt x="113537" y="114300"/>
                </a:lnTo>
                <a:lnTo>
                  <a:pt x="113537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5" name="object 2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214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5: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Words: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Refer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back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text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synonyms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(i.e.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similar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meaning)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614931"/>
            <a:ext cx="14033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169" y="1614931"/>
            <a:ext cx="73596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called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endous  ideas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react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8759" y="1614931"/>
            <a:ext cx="961390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(para.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(para.1)………  (para.</a:t>
            </a: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(para.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…</a:t>
            </a:r>
            <a:r>
              <a:rPr dirty="0" sz="1200">
                <a:latin typeface="Times New Roman"/>
                <a:cs typeface="Times New Roman"/>
              </a:rPr>
              <a:t>……  </a:t>
            </a:r>
            <a:r>
              <a:rPr dirty="0" sz="1200" spc="-5">
                <a:latin typeface="Times New Roman"/>
                <a:cs typeface="Times New Roman"/>
              </a:rPr>
              <a:t>(para.6)………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491231"/>
            <a:ext cx="56261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antonyms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opposite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169" y="2841752"/>
            <a:ext cx="71564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taken away  </a:t>
            </a:r>
            <a:r>
              <a:rPr dirty="0" sz="1200">
                <a:latin typeface="Times New Roman"/>
                <a:cs typeface="Times New Roman"/>
              </a:rPr>
              <a:t>wide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limited </a:t>
            </a:r>
            <a:r>
              <a:rPr dirty="0" sz="1200">
                <a:latin typeface="Times New Roman"/>
                <a:cs typeface="Times New Roman"/>
              </a:rPr>
              <a:t> immovable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2841752"/>
            <a:ext cx="76200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7.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8.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9.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469265" algn="l"/>
              </a:tabLst>
            </a:pPr>
            <a:r>
              <a:rPr dirty="0" sz="1200" spc="-5">
                <a:latin typeface="Times New Roman"/>
                <a:cs typeface="Times New Roman"/>
              </a:rPr>
              <a:t>10</a:t>
            </a:r>
            <a:r>
              <a:rPr dirty="0" sz="1200">
                <a:latin typeface="Times New Roman"/>
                <a:cs typeface="Times New Roman"/>
              </a:rPr>
              <a:t>.	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758336" y="2841752"/>
            <a:ext cx="100012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(para.2)………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(para.4)………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(para.4)………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(para.5)……….</a:t>
            </a:r>
            <a:endParaRPr sz="1200">
              <a:latin typeface="Times New Roman"/>
              <a:cs typeface="Times New Roman"/>
            </a:endParaRPr>
          </a:p>
          <a:p>
            <a:pPr marL="13335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(para.6)……….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3894835"/>
            <a:ext cx="5628005" cy="5114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6: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Word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7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First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appropriate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form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complete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 check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difference of</a:t>
            </a:r>
            <a:r>
              <a:rPr dirty="0" sz="1200" spc="-5" b="1">
                <a:latin typeface="Times New Roman"/>
                <a:cs typeface="Times New Roman"/>
              </a:rPr>
              <a:t> meaning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your dictionary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Imagination,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imagine,</a:t>
            </a:r>
            <a:r>
              <a:rPr dirty="0" sz="1200" spc="-5" b="1">
                <a:latin typeface="Times New Roman"/>
                <a:cs typeface="Times New Roman"/>
              </a:rPr>
              <a:t> imaginable,</a:t>
            </a:r>
            <a:r>
              <a:rPr dirty="0" sz="1200" b="1">
                <a:latin typeface="Times New Roman"/>
                <a:cs typeface="Times New Roman"/>
              </a:rPr>
              <a:t> imaginative,</a:t>
            </a:r>
            <a:r>
              <a:rPr dirty="0" sz="1200" spc="-5" b="1">
                <a:latin typeface="Times New Roman"/>
                <a:cs typeface="Times New Roman"/>
              </a:rPr>
              <a:t> imaginary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 computer is limited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ability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…………….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man.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  <a:tab pos="2755900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people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 at </a:t>
            </a:r>
            <a:r>
              <a:rPr dirty="0" sz="1200" spc="-5">
                <a:latin typeface="Times New Roman"/>
                <a:cs typeface="Times New Roman"/>
              </a:rPr>
              <a:t>inventing	…...……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stories.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8478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practically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impossible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05"/>
              </a:lnSpc>
              <a:buAutoNum type="arabicPeriod" startAt="2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Addition,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add,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added,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additional,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additional,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additive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terminals</a:t>
            </a:r>
            <a:r>
              <a:rPr dirty="0" sz="1200">
                <a:latin typeface="Times New Roman"/>
                <a:cs typeface="Times New Roman"/>
              </a:rPr>
              <a:t> can be …………… to a basic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the need </a:t>
            </a:r>
            <a:r>
              <a:rPr dirty="0" sz="1200" spc="-5">
                <a:latin typeface="Times New Roman"/>
                <a:cs typeface="Times New Roman"/>
              </a:rPr>
              <a:t>arises.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……………..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subtraction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mathematical </a:t>
            </a:r>
            <a:r>
              <a:rPr dirty="0" sz="1200">
                <a:latin typeface="Times New Roman"/>
                <a:cs typeface="Times New Roman"/>
              </a:rPr>
              <a:t>operations.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system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is often </a:t>
            </a:r>
            <a:r>
              <a:rPr dirty="0" sz="1200">
                <a:latin typeface="Times New Roman"/>
                <a:cs typeface="Times New Roman"/>
              </a:rPr>
              <a:t>no …………… charge for the </a:t>
            </a:r>
            <a:r>
              <a:rPr dirty="0" sz="1200" spc="-5">
                <a:latin typeface="Times New Roman"/>
                <a:cs typeface="Times New Roman"/>
              </a:rPr>
              <a:t>programs.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 startAt="3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Complication,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complicate,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complicated,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complicating,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complicatedly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be</a:t>
            </a:r>
            <a:r>
              <a:rPr dirty="0" sz="1200" spc="-5">
                <a:latin typeface="Times New Roman"/>
                <a:cs typeface="Times New Roman"/>
              </a:rPr>
              <a:t> many……………</a:t>
            </a:r>
            <a:r>
              <a:rPr dirty="0" sz="1200">
                <a:latin typeface="Times New Roman"/>
                <a:cs typeface="Times New Roman"/>
              </a:rPr>
              <a:t> involved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setting </a:t>
            </a:r>
            <a:r>
              <a:rPr dirty="0" sz="1200">
                <a:latin typeface="Times New Roman"/>
                <a:cs typeface="Times New Roman"/>
              </a:rPr>
              <a:t>up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building.</a:t>
            </a:r>
            <a:endParaRPr sz="1200">
              <a:latin typeface="Times New Roman"/>
              <a:cs typeface="Times New Roman"/>
            </a:endParaRPr>
          </a:p>
          <a:p>
            <a:pPr lvl="1" marL="12700" marR="571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installation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security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reasons.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sometimes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……………..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concepts.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 startAt="4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Difference,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differ,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different,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differently,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differential,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differentiate</a:t>
            </a:r>
            <a:endParaRPr sz="1200">
              <a:latin typeface="Times New Roman"/>
              <a:cs typeface="Times New Roman"/>
            </a:endParaRPr>
          </a:p>
          <a:p>
            <a:pPr lvl="1" marL="12700" marR="635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8732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isn’t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big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….………….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flowcharting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written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Cobol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Fortran.</a:t>
            </a:r>
            <a:endParaRPr sz="1200">
              <a:latin typeface="Times New Roman"/>
              <a:cs typeface="Times New Roman"/>
            </a:endParaRPr>
          </a:p>
          <a:p>
            <a:pPr lvl="1" marL="12700" marR="6985">
              <a:lnSpc>
                <a:spcPts val="1380"/>
              </a:lnSpc>
              <a:buAutoNum type="alphaLcPeriod"/>
              <a:tabLst>
                <a:tab pos="17272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manufactures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buyer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……………..between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advantages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disadvantages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buAutoNum type="alphaLcPeriod"/>
              <a:tabLst>
                <a:tab pos="18034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often………..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greatly.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544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64465" indent="-152400">
              <a:lnSpc>
                <a:spcPts val="1405"/>
              </a:lnSpc>
              <a:buAutoNum type="arabicPeriod" startAt="5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Reliably,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reliable,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reliability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machines.</a:t>
            </a:r>
            <a:endParaRPr sz="1200">
              <a:latin typeface="Times New Roman"/>
              <a:cs typeface="Times New Roman"/>
            </a:endParaRPr>
          </a:p>
          <a:p>
            <a:pPr lvl="1" marL="12700" marR="27051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7145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always…………………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all-purpose dictionary for the </a:t>
            </a:r>
            <a:r>
              <a:rPr dirty="0" sz="1200" spc="-5">
                <a:latin typeface="Times New Roman"/>
                <a:cs typeface="Times New Roman"/>
              </a:rPr>
              <a:t>answer.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 </a:t>
            </a:r>
            <a:r>
              <a:rPr dirty="0" sz="1200" spc="-5">
                <a:latin typeface="Times New Roman"/>
                <a:cs typeface="Times New Roman"/>
              </a:rPr>
              <a:t>mathematical </a:t>
            </a:r>
            <a:r>
              <a:rPr dirty="0" sz="1200">
                <a:latin typeface="Times New Roman"/>
                <a:cs typeface="Times New Roman"/>
              </a:rPr>
              <a:t>operations quickly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and…………………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0"/>
              </a:spcBef>
              <a:buFont typeface="Times New Roman"/>
              <a:buAutoNum type="alphaLcPeriod"/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7a: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Content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Try to think of a definition for each of these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>
                <a:latin typeface="Times New Roman"/>
                <a:cs typeface="Times New Roman"/>
              </a:rPr>
              <a:t>before checking them in the </a:t>
            </a:r>
            <a:r>
              <a:rPr dirty="0" sz="1200" spc="-5">
                <a:latin typeface="Times New Roman"/>
                <a:cs typeface="Times New Roman"/>
              </a:rPr>
              <a:t>Glossary. </a:t>
            </a:r>
            <a:r>
              <a:rPr dirty="0" sz="1200">
                <a:latin typeface="Times New Roman"/>
                <a:cs typeface="Times New Roman"/>
              </a:rPr>
              <a:t> Then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following statements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the appropriate words. (some words </a:t>
            </a:r>
            <a:r>
              <a:rPr dirty="0" sz="1200">
                <a:latin typeface="Times New Roman"/>
                <a:cs typeface="Times New Roman"/>
              </a:rPr>
              <a:t>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more</a:t>
            </a:r>
            <a:r>
              <a:rPr dirty="0" sz="1200">
                <a:latin typeface="Times New Roman"/>
                <a:cs typeface="Times New Roman"/>
              </a:rPr>
              <a:t> than once.)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 sure you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correct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form,</a:t>
            </a:r>
            <a:r>
              <a:rPr dirty="0" sz="1200">
                <a:latin typeface="Times New Roman"/>
                <a:cs typeface="Times New Roman"/>
              </a:rPr>
              <a:t> 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processing,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hardware,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magnetic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tape,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input,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processor,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magnetic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disk,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output,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secondary</a:t>
            </a:r>
            <a:r>
              <a:rPr dirty="0" sz="1200" b="1">
                <a:latin typeface="Times New Roman"/>
                <a:cs typeface="Times New Roman"/>
              </a:rPr>
              <a:t> memory, </a:t>
            </a:r>
            <a:r>
              <a:rPr dirty="0" sz="1200" spc="-5" b="1">
                <a:latin typeface="Times New Roman"/>
                <a:cs typeface="Times New Roman"/>
              </a:rPr>
              <a:t>personnel,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single-purpose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>
                <a:latin typeface="Times New Roman"/>
                <a:cs typeface="Times New Roman"/>
              </a:rPr>
              <a:t>41</a:t>
            </a:r>
            <a:endParaRPr sz="1200">
              <a:latin typeface="Times New Roman"/>
              <a:cs typeface="Times New Roman"/>
            </a:endParaRPr>
          </a:p>
          <a:p>
            <a:pPr lvl="2"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………. takes place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processor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the input device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device.</a:t>
            </a:r>
            <a:endParaRPr sz="1200">
              <a:latin typeface="Times New Roman"/>
              <a:cs typeface="Times New Roman"/>
            </a:endParaRPr>
          </a:p>
          <a:p>
            <a:pPr lvl="2" marL="12700" marR="55689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 ……. refers to all the </a:t>
            </a:r>
            <a:r>
              <a:rPr dirty="0" sz="1200" spc="-5">
                <a:latin typeface="Times New Roman"/>
                <a:cs typeface="Times New Roman"/>
              </a:rPr>
              <a:t>electromechanical </a:t>
            </a:r>
            <a:r>
              <a:rPr dirty="0" sz="1200">
                <a:latin typeface="Times New Roman"/>
                <a:cs typeface="Times New Roman"/>
              </a:rPr>
              <a:t>devices used in 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installation.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3...……..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units are used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………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 devices.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isn’t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specialized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……..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its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-5">
                <a:latin typeface="Times New Roman"/>
                <a:cs typeface="Times New Roman"/>
              </a:rPr>
              <a:t> equipment.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42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7b: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Content Review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Summarize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‘characteristics’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completing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tabLst>
                <a:tab pos="1363345" algn="l"/>
                <a:tab pos="33318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SYSTEM	</a:t>
            </a:r>
            <a:r>
              <a:rPr dirty="0" sz="1200" b="1">
                <a:latin typeface="Times New Roman"/>
                <a:cs typeface="Times New Roman"/>
              </a:rPr>
              <a:t>COMPONENTS	</a:t>
            </a:r>
            <a:r>
              <a:rPr dirty="0" sz="1200" spc="-5" b="1">
                <a:latin typeface="Times New Roman"/>
                <a:cs typeface="Times New Roman"/>
              </a:rPr>
              <a:t>PARTS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5120132"/>
            <a:ext cx="6261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Hardware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44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4283691" y="5120132"/>
            <a:ext cx="96202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2159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37465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87600" y="5645911"/>
            <a:ext cx="114681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Peripheral devices  </a:t>
            </a:r>
            <a:r>
              <a:rPr dirty="0" sz="1200" spc="-1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292600" y="5996432"/>
            <a:ext cx="52514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9209" marR="5080" indent="-1714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Disks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87600" y="6171691"/>
            <a:ext cx="5759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6874256"/>
            <a:ext cx="5628005" cy="2310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Organizing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 paragraph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group of related sentences that develop an idea. In nearly every paragraph, </a:t>
            </a:r>
            <a:r>
              <a:rPr dirty="0" sz="1200">
                <a:latin typeface="Times New Roman"/>
                <a:cs typeface="Times New Roman"/>
              </a:rPr>
              <a:t>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 idea that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important than others.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idea is </a:t>
            </a:r>
            <a:r>
              <a:rPr dirty="0" sz="1200">
                <a:latin typeface="Times New Roman"/>
                <a:cs typeface="Times New Roman"/>
              </a:rPr>
              <a:t>called </a:t>
            </a:r>
            <a:r>
              <a:rPr dirty="0" sz="1200" spc="-5">
                <a:latin typeface="Times New Roman"/>
                <a:cs typeface="Times New Roman"/>
              </a:rPr>
              <a:t>the main </a:t>
            </a:r>
            <a:r>
              <a:rPr dirty="0" sz="1200">
                <a:latin typeface="Times New Roman"/>
                <a:cs typeface="Times New Roman"/>
              </a:rPr>
              <a:t>idea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 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beginning 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All computers, </a:t>
            </a:r>
            <a:r>
              <a:rPr dirty="0" sz="1200">
                <a:latin typeface="Times New Roman"/>
                <a:cs typeface="Times New Roman"/>
              </a:rPr>
              <a:t>whether large </a:t>
            </a:r>
            <a:r>
              <a:rPr dirty="0" sz="1200" spc="-5">
                <a:latin typeface="Times New Roman"/>
                <a:cs typeface="Times New Roman"/>
              </a:rPr>
              <a:t>or small,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the same basic </a:t>
            </a:r>
            <a:r>
              <a:rPr dirty="0" sz="1200">
                <a:latin typeface="Times New Roman"/>
                <a:cs typeface="Times New Roman"/>
              </a:rPr>
              <a:t>capabilities. They have circuits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performing </a:t>
            </a:r>
            <a:r>
              <a:rPr dirty="0" sz="1200" spc="-5">
                <a:latin typeface="Times New Roman"/>
                <a:cs typeface="Times New Roman"/>
              </a:rPr>
              <a:t>arithmetic </a:t>
            </a:r>
            <a:r>
              <a:rPr dirty="0" sz="1200">
                <a:latin typeface="Times New Roman"/>
                <a:cs typeface="Times New Roman"/>
              </a:rPr>
              <a:t>operations. They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have a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communicating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person(s)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decisions. 44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this sample paragraph 1, the first sentence, </a:t>
            </a:r>
            <a:r>
              <a:rPr dirty="0" sz="1200" spc="-5" b="1">
                <a:latin typeface="Times New Roman"/>
                <a:cs typeface="Times New Roman"/>
              </a:rPr>
              <a:t>‘All computers, whether </a:t>
            </a:r>
            <a:r>
              <a:rPr dirty="0" sz="1200" b="1">
                <a:latin typeface="Times New Roman"/>
                <a:cs typeface="Times New Roman"/>
              </a:rPr>
              <a:t>large </a:t>
            </a:r>
            <a:r>
              <a:rPr dirty="0" sz="1200" spc="-5" b="1">
                <a:latin typeface="Times New Roman"/>
                <a:cs typeface="Times New Roman"/>
              </a:rPr>
              <a:t>or small, </a:t>
            </a:r>
            <a:r>
              <a:rPr dirty="0" sz="1200" b="1">
                <a:latin typeface="Times New Roman"/>
                <a:cs typeface="Times New Roman"/>
              </a:rPr>
              <a:t> have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same</a:t>
            </a:r>
            <a:r>
              <a:rPr dirty="0" sz="1200" spc="-5" b="1">
                <a:latin typeface="Times New Roman"/>
                <a:cs typeface="Times New Roman"/>
              </a:rPr>
              <a:t> basic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capabilities’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All main</a:t>
            </a:r>
            <a:r>
              <a:rPr dirty="0" sz="1200">
                <a:latin typeface="Times New Roman"/>
                <a:cs typeface="Times New Roman"/>
              </a:rPr>
              <a:t> idea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about the topic.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264411"/>
            <a:ext cx="5627370" cy="791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All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computers,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[topic]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whether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large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small, have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same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basic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capabilities.</a:t>
            </a:r>
            <a:endParaRPr sz="1200">
              <a:latin typeface="Times New Roman"/>
              <a:cs typeface="Times New Roman"/>
            </a:endParaRPr>
          </a:p>
          <a:p>
            <a:pPr marL="12700" marR="459867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[about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topic]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45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your reading, finding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serve your needs but in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of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studying you need to grasp details. It </a:t>
            </a:r>
            <a:r>
              <a:rPr dirty="0" sz="1200" spc="-5">
                <a:latin typeface="Times New Roman"/>
                <a:cs typeface="Times New Roman"/>
              </a:rPr>
              <a:t>is sometimes more </a:t>
            </a:r>
            <a:r>
              <a:rPr dirty="0" sz="1200">
                <a:latin typeface="Times New Roman"/>
                <a:cs typeface="Times New Roman"/>
              </a:rPr>
              <a:t>difficult to grasp and understand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 than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ideas. You </a:t>
            </a:r>
            <a:r>
              <a:rPr dirty="0" sz="1200" spc="-5">
                <a:latin typeface="Times New Roman"/>
                <a:cs typeface="Times New Roman"/>
              </a:rPr>
              <a:t>will find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helpful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you think of details as growing out of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idea. In </a:t>
            </a:r>
            <a:r>
              <a:rPr dirty="0" sz="1200" spc="-5">
                <a:latin typeface="Times New Roman"/>
                <a:cs typeface="Times New Roman"/>
              </a:rPr>
              <a:t>sample</a:t>
            </a:r>
            <a:r>
              <a:rPr dirty="0" sz="1200">
                <a:latin typeface="Times New Roman"/>
                <a:cs typeface="Times New Roman"/>
              </a:rPr>
              <a:t> paragraph 1, there are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growing</a:t>
            </a:r>
            <a:r>
              <a:rPr dirty="0" sz="1200">
                <a:latin typeface="Times New Roman"/>
                <a:cs typeface="Times New Roman"/>
              </a:rPr>
              <a:t> out of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 idea.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are</a:t>
            </a:r>
            <a:r>
              <a:rPr dirty="0" sz="1200" spc="-5">
                <a:latin typeface="Times New Roman"/>
                <a:cs typeface="Times New Roman"/>
              </a:rPr>
              <a:t> the major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performing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arithmetic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operations.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communicating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person(s)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making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decisions.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 </a:t>
            </a:r>
            <a:r>
              <a:rPr dirty="0" sz="1200">
                <a:latin typeface="Times New Roman"/>
                <a:cs typeface="Times New Roman"/>
              </a:rPr>
              <a:t>details growing out of it.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tell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about a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>
                <a:latin typeface="Times New Roman"/>
                <a:cs typeface="Times New Roman"/>
              </a:rPr>
              <a:t> detail, just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>
                <a:latin typeface="Times New Roman"/>
                <a:cs typeface="Times New Roman"/>
              </a:rPr>
              <a:t> details tell more about a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 In studying,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 find a paragraph that </a:t>
            </a:r>
            <a:r>
              <a:rPr dirty="0" sz="1200" spc="-5">
                <a:latin typeface="Times New Roman"/>
                <a:cs typeface="Times New Roman"/>
              </a:rPr>
              <a:t>has many small details </a:t>
            </a:r>
            <a:r>
              <a:rPr dirty="0" sz="1200">
                <a:latin typeface="Times New Roman"/>
                <a:cs typeface="Times New Roman"/>
              </a:rPr>
              <a:t>that 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grasp and </a:t>
            </a:r>
            <a:r>
              <a:rPr dirty="0" sz="1200" spc="-5">
                <a:latin typeface="Times New Roman"/>
                <a:cs typeface="Times New Roman"/>
              </a:rPr>
              <a:t>remember. </a:t>
            </a:r>
            <a:r>
              <a:rPr dirty="0" sz="1200">
                <a:latin typeface="Times New Roman"/>
                <a:cs typeface="Times New Roman"/>
              </a:rPr>
              <a:t> Breaking up a paragraph of this kind into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three </a:t>
            </a:r>
            <a:r>
              <a:rPr dirty="0" sz="1200" spc="-5">
                <a:latin typeface="Times New Roman"/>
                <a:cs typeface="Times New Roman"/>
              </a:rPr>
              <a:t>components;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idea, </a:t>
            </a:r>
            <a:r>
              <a:rPr dirty="0" sz="1200" spc="-5">
                <a:latin typeface="Times New Roman"/>
                <a:cs typeface="Times New Roman"/>
              </a:rPr>
              <a:t>major </a:t>
            </a:r>
            <a:r>
              <a:rPr dirty="0" sz="1200">
                <a:latin typeface="Times New Roman"/>
                <a:cs typeface="Times New Roman"/>
              </a:rPr>
              <a:t>details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minor</a:t>
            </a:r>
            <a:r>
              <a:rPr dirty="0" sz="1200">
                <a:latin typeface="Times New Roman"/>
                <a:cs typeface="Times New Roman"/>
              </a:rPr>
              <a:t> details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help you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remember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incredible speed of computers along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capacity that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them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useful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valuable. Computers can </a:t>
            </a:r>
            <a:r>
              <a:rPr dirty="0" sz="1200">
                <a:latin typeface="Times New Roman"/>
                <a:cs typeface="Times New Roman"/>
              </a:rPr>
              <a:t>solve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fraction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time. For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reason, 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accounts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airlines,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lines use them </a:t>
            </a:r>
            <a:r>
              <a:rPr dirty="0" sz="1200">
                <a:latin typeface="Times New Roman"/>
                <a:cs typeface="Times New Roman"/>
              </a:rPr>
              <a:t>to keep track of </a:t>
            </a:r>
            <a:r>
              <a:rPr dirty="0" sz="1200" spc="-5">
                <a:latin typeface="Times New Roman"/>
                <a:cs typeface="Times New Roman"/>
              </a:rPr>
              <a:t>ticket sales. As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memory, modern </a:t>
            </a:r>
            <a:r>
              <a:rPr dirty="0" sz="1200">
                <a:latin typeface="Times New Roman"/>
                <a:cs typeface="Times New Roman"/>
              </a:rPr>
              <a:t>computers can store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with high accuracy and reliability. </a:t>
            </a:r>
            <a:r>
              <a:rPr dirty="0" sz="1200" spc="-5">
                <a:latin typeface="Times New Roman"/>
                <a:cs typeface="Times New Roman"/>
              </a:rPr>
              <a:t>A computer </a:t>
            </a:r>
            <a:r>
              <a:rPr dirty="0" sz="1200">
                <a:latin typeface="Times New Roman"/>
                <a:cs typeface="Times New Roman"/>
              </a:rPr>
              <a:t>can put data into </a:t>
            </a:r>
            <a:r>
              <a:rPr dirty="0" sz="1200" spc="-5">
                <a:latin typeface="Times New Roman"/>
                <a:cs typeface="Times New Roman"/>
              </a:rPr>
              <a:t>its ‘memory’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retrieve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millionths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million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L="12700" marR="2470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 you were to organize this paragraph into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three </a:t>
            </a:r>
            <a:r>
              <a:rPr dirty="0" sz="1200" spc="-5">
                <a:latin typeface="Times New Roman"/>
                <a:cs typeface="Times New Roman"/>
              </a:rPr>
              <a:t>components,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would </a:t>
            </a:r>
            <a:r>
              <a:rPr dirty="0" sz="1200">
                <a:latin typeface="Times New Roman"/>
                <a:cs typeface="Times New Roman"/>
              </a:rPr>
              <a:t>look like this: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48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idea: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incredible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capacity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 useful and valuable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Major </a:t>
            </a:r>
            <a:r>
              <a:rPr dirty="0" sz="1200" spc="-5" b="1">
                <a:latin typeface="Times New Roman"/>
                <a:cs typeface="Times New Roman"/>
              </a:rPr>
              <a:t>details: </a:t>
            </a:r>
            <a:r>
              <a:rPr dirty="0" sz="1200">
                <a:latin typeface="Times New Roman"/>
                <a:cs typeface="Times New Roman"/>
              </a:rPr>
              <a:t>a.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can solve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 fraction of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modern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accuracy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reliability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Minor</a:t>
            </a:r>
            <a:r>
              <a:rPr dirty="0" sz="1200" spc="-5" b="1">
                <a:latin typeface="Times New Roman"/>
                <a:cs typeface="Times New Roman"/>
              </a:rPr>
              <a:t> Details:  </a:t>
            </a: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business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keep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accounts.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Airlines train lines</a:t>
            </a:r>
            <a:r>
              <a:rPr dirty="0" sz="1200" spc="-5">
                <a:latin typeface="Times New Roman"/>
                <a:cs typeface="Times New Roman"/>
              </a:rPr>
              <a:t> bus</a:t>
            </a:r>
            <a:r>
              <a:rPr dirty="0" sz="1200">
                <a:latin typeface="Times New Roman"/>
                <a:cs typeface="Times New Roman"/>
              </a:rPr>
              <a:t> lines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keep track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ticket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sales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c.A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retrieve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millionths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second.</a:t>
            </a:r>
            <a:endParaRPr sz="1200">
              <a:latin typeface="Times New Roman"/>
              <a:cs typeface="Times New Roman"/>
            </a:endParaRPr>
          </a:p>
          <a:p>
            <a:pPr marL="50800" marR="1801495" indent="-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capacity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872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N.B.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importance.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about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details, they are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important. 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making </a:t>
            </a:r>
            <a:r>
              <a:rPr dirty="0" sz="1200">
                <a:latin typeface="Times New Roman"/>
                <a:cs typeface="Times New Roman"/>
              </a:rPr>
              <a:t>a block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diagram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don’t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>
                <a:latin typeface="Times New Roman"/>
                <a:cs typeface="Times New Roman"/>
              </a:rPr>
              <a:t> 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find</a:t>
            </a:r>
            <a:r>
              <a:rPr dirty="0" sz="1200" spc="-5">
                <a:latin typeface="Times New Roman"/>
                <a:cs typeface="Times New Roman"/>
              </a:rPr>
              <a:t> the main</a:t>
            </a:r>
            <a:r>
              <a:rPr dirty="0" sz="1200">
                <a:latin typeface="Times New Roman"/>
                <a:cs typeface="Times New Roman"/>
              </a:rPr>
              <a:t> idea,</a:t>
            </a:r>
            <a:r>
              <a:rPr dirty="0" sz="1200" spc="-5">
                <a:latin typeface="Times New Roman"/>
                <a:cs typeface="Times New Roman"/>
              </a:rPr>
              <a:t> major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minor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 has </a:t>
            </a:r>
            <a:r>
              <a:rPr dirty="0" sz="1200">
                <a:latin typeface="Times New Roman"/>
                <a:cs typeface="Times New Roman"/>
              </a:rPr>
              <a:t>changed the production of copy in the newspaper industry. There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>
                <a:latin typeface="Times New Roman"/>
                <a:cs typeface="Times New Roman"/>
              </a:rPr>
              <a:t> involved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output.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numbers </a:t>
            </a:r>
            <a:r>
              <a:rPr dirty="0" sz="1200">
                <a:latin typeface="Times New Roman"/>
                <a:cs typeface="Times New Roman"/>
              </a:rPr>
              <a:t>each story, </a:t>
            </a:r>
            <a:r>
              <a:rPr dirty="0" sz="1200" spc="-5">
                <a:latin typeface="Times New Roman"/>
                <a:cs typeface="Times New Roman"/>
              </a:rPr>
              <a:t>counts words </a:t>
            </a:r>
            <a:r>
              <a:rPr dirty="0" sz="1200">
                <a:latin typeface="Times New Roman"/>
                <a:cs typeface="Times New Roman"/>
              </a:rPr>
              <a:t>and gives a listing of the length of each story. Then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page </a:t>
            </a:r>
            <a:r>
              <a:rPr dirty="0" sz="1200" spc="-5">
                <a:latin typeface="Times New Roman"/>
                <a:cs typeface="Times New Roman"/>
              </a:rPr>
              <a:t>is made </a:t>
            </a:r>
            <a:r>
              <a:rPr dirty="0" sz="1200">
                <a:latin typeface="Times New Roman"/>
                <a:cs typeface="Times New Roman"/>
              </a:rPr>
              <a:t>up, </a:t>
            </a:r>
            <a:r>
              <a:rPr dirty="0" sz="1200" spc="-5">
                <a:latin typeface="Times New Roman"/>
                <a:cs typeface="Times New Roman"/>
              </a:rPr>
              <a:t>advertisements </a:t>
            </a:r>
            <a:r>
              <a:rPr dirty="0" sz="1200">
                <a:latin typeface="Times New Roman"/>
                <a:cs typeface="Times New Roman"/>
              </a:rPr>
              <a:t>are placed in,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copy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shifted or deleted and </a:t>
            </a:r>
            <a:r>
              <a:rPr dirty="0" sz="1200" spc="-5">
                <a:latin typeface="Times New Roman"/>
                <a:cs typeface="Times New Roman"/>
              </a:rPr>
              <a:t>corrections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made. Finally, the computer hyphenates words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result of </a:t>
            </a:r>
            <a:r>
              <a:rPr dirty="0" sz="1200">
                <a:latin typeface="Times New Roman"/>
                <a:cs typeface="Times New Roman"/>
              </a:rPr>
              <a:t>all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newspaper </a:t>
            </a:r>
            <a:r>
              <a:rPr dirty="0" sz="1200">
                <a:latin typeface="Times New Roman"/>
                <a:cs typeface="Times New Roman"/>
              </a:rPr>
              <a:t> page.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429259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Main </a:t>
            </a:r>
            <a:r>
              <a:rPr dirty="0" sz="1200" spc="-5" b="1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has changed the </a:t>
            </a:r>
            <a:r>
              <a:rPr dirty="0" sz="1200" spc="-5">
                <a:latin typeface="Times New Roman"/>
                <a:cs typeface="Times New Roman"/>
              </a:rPr>
              <a:t>production of </a:t>
            </a:r>
            <a:r>
              <a:rPr dirty="0" sz="1200">
                <a:latin typeface="Times New Roman"/>
                <a:cs typeface="Times New Roman"/>
              </a:rPr>
              <a:t>copy in the </a:t>
            </a:r>
            <a:r>
              <a:rPr dirty="0" sz="1200" spc="-5">
                <a:latin typeface="Times New Roman"/>
                <a:cs typeface="Times New Roman"/>
              </a:rPr>
              <a:t>newspaper </a:t>
            </a:r>
            <a:r>
              <a:rPr dirty="0" sz="1200">
                <a:latin typeface="Times New Roman"/>
                <a:cs typeface="Times New Roman"/>
              </a:rPr>
              <a:t>industry.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Major</a:t>
            </a:r>
            <a:r>
              <a:rPr dirty="0" sz="1200" spc="-5">
                <a:latin typeface="Times New Roman"/>
                <a:cs typeface="Times New Roman"/>
              </a:rPr>
              <a:t> details: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Mino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details: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52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After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reading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paragraph,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idea,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major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details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minor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Railways </a:t>
            </a:r>
            <a:r>
              <a:rPr dirty="0" sz="1200">
                <a:latin typeface="Times New Roman"/>
                <a:cs typeface="Times New Roman"/>
              </a:rPr>
              <a:t>use large </a:t>
            </a:r>
            <a:r>
              <a:rPr dirty="0" sz="1200" spc="-5">
                <a:latin typeface="Times New Roman"/>
                <a:cs typeface="Times New Roman"/>
              </a:rPr>
              <a:t>computer systems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control </a:t>
            </a:r>
            <a:r>
              <a:rPr dirty="0" sz="1200">
                <a:latin typeface="Times New Roman"/>
                <a:cs typeface="Times New Roman"/>
              </a:rPr>
              <a:t>ticket reservations and to give </a:t>
            </a:r>
            <a:r>
              <a:rPr dirty="0" sz="1200" spc="-5">
                <a:latin typeface="Times New Roman"/>
                <a:cs typeface="Times New Roman"/>
              </a:rPr>
              <a:t>immediate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status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trains.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connected,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private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telephone lines, to </a:t>
            </a:r>
            <a:r>
              <a:rPr dirty="0" sz="1200" spc="-5">
                <a:latin typeface="Times New Roman"/>
                <a:cs typeface="Times New Roman"/>
              </a:rPr>
              <a:t>terminals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major </a:t>
            </a:r>
            <a:r>
              <a:rPr dirty="0" sz="1200">
                <a:latin typeface="Times New Roman"/>
                <a:cs typeface="Times New Roman"/>
              </a:rPr>
              <a:t>train stations and </a:t>
            </a:r>
            <a:r>
              <a:rPr dirty="0" sz="1200" spc="-5">
                <a:latin typeface="Times New Roman"/>
                <a:cs typeface="Times New Roman"/>
              </a:rPr>
              <a:t>ticket reservations for customers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passenger’s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accommodation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put into the </a:t>
            </a:r>
            <a:r>
              <a:rPr dirty="0" sz="1200" spc="-5">
                <a:latin typeface="Times New Roman"/>
                <a:cs typeface="Times New Roman"/>
              </a:rPr>
              <a:t>computer’s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53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a typical day, a railway’s </a:t>
            </a:r>
            <a:r>
              <a:rPr dirty="0" sz="1200" spc="-5">
                <a:latin typeface="Times New Roman"/>
                <a:cs typeface="Times New Roman"/>
              </a:rPr>
              <a:t>computer system gets thousands of telephone calls about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reservations,</a:t>
            </a:r>
            <a:r>
              <a:rPr dirty="0" sz="1200">
                <a:latin typeface="Times New Roman"/>
                <a:cs typeface="Times New Roman"/>
              </a:rPr>
              <a:t> space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railways,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requests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arrivals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departures.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big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advantage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railway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ticket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reservation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rapidity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cancelled booking can be sold anywhere in the </a:t>
            </a:r>
            <a:r>
              <a:rPr dirty="0" sz="1200" spc="-5">
                <a:latin typeface="Times New Roman"/>
                <a:cs typeface="Times New Roman"/>
              </a:rPr>
              <a:t>system </a:t>
            </a:r>
            <a:r>
              <a:rPr dirty="0" sz="1200">
                <a:latin typeface="Times New Roman"/>
                <a:cs typeface="Times New Roman"/>
              </a:rPr>
              <a:t>just a </a:t>
            </a:r>
            <a:r>
              <a:rPr dirty="0" sz="1200" spc="-5">
                <a:latin typeface="Times New Roman"/>
                <a:cs typeface="Times New Roman"/>
              </a:rPr>
              <a:t>few seconds </a:t>
            </a:r>
            <a:r>
              <a:rPr dirty="0" sz="1200">
                <a:latin typeface="Times New Roman"/>
                <a:cs typeface="Times New Roman"/>
              </a:rPr>
              <a:t>later. Railway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systems </a:t>
            </a:r>
            <a:r>
              <a:rPr dirty="0" sz="1200">
                <a:latin typeface="Times New Roman"/>
                <a:cs typeface="Times New Roman"/>
              </a:rPr>
              <a:t>are not used for reservations alone. They are used for a variety of 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schedules,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planning,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cargo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loading,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meal</a:t>
            </a:r>
            <a:r>
              <a:rPr dirty="0" sz="1200">
                <a:latin typeface="Times New Roman"/>
                <a:cs typeface="Times New Roman"/>
              </a:rPr>
              <a:t> planning,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personnel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availability,</a:t>
            </a:r>
            <a:r>
              <a:rPr dirty="0" sz="1200" spc="-5">
                <a:latin typeface="Times New Roman"/>
                <a:cs typeface="Times New Roman"/>
              </a:rPr>
              <a:t> accounting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stock </a:t>
            </a:r>
            <a:r>
              <a:rPr dirty="0" sz="1200">
                <a:latin typeface="Times New Roman"/>
                <a:cs typeface="Times New Roman"/>
              </a:rPr>
              <a:t>control.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54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212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idea: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Major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Terminals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ticket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reservations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Minor </a:t>
            </a:r>
            <a:r>
              <a:rPr dirty="0" sz="1200" spc="-5" b="1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Thousands</a:t>
            </a:r>
            <a:r>
              <a:rPr dirty="0" sz="1200">
                <a:latin typeface="Times New Roman"/>
                <a:cs typeface="Times New Roman"/>
              </a:rPr>
              <a:t> of calls for </a:t>
            </a:r>
            <a:r>
              <a:rPr dirty="0" sz="1200" spc="-5">
                <a:latin typeface="Times New Roman"/>
                <a:cs typeface="Times New Roman"/>
              </a:rPr>
              <a:t>reservations </a:t>
            </a:r>
            <a:r>
              <a:rPr dirty="0" sz="1200">
                <a:latin typeface="Times New Roman"/>
                <a:cs typeface="Times New Roman"/>
              </a:rPr>
              <a:t>space,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arrivals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departures.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478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-10</a:t>
            </a:r>
            <a:endParaRPr sz="1200">
              <a:latin typeface="Times New Roman"/>
              <a:cs typeface="Times New Roman"/>
            </a:endParaRPr>
          </a:p>
          <a:p>
            <a:pPr marL="12700" marR="4399915">
              <a:lnSpc>
                <a:spcPct val="1917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Forms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Mainframes: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20"/>
              </a:spcBef>
            </a:pPr>
            <a:r>
              <a:rPr dirty="0" sz="1200">
                <a:latin typeface="Times New Roman"/>
                <a:cs typeface="Times New Roman"/>
              </a:rPr>
              <a:t>Large </a:t>
            </a:r>
            <a:r>
              <a:rPr dirty="0" sz="1200" spc="-5">
                <a:latin typeface="Times New Roman"/>
                <a:cs typeface="Times New Roman"/>
              </a:rPr>
              <a:t>computer systems,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 b="1">
                <a:latin typeface="Times New Roman"/>
                <a:cs typeface="Times New Roman"/>
              </a:rPr>
              <a:t>mainframes, </a:t>
            </a:r>
            <a:r>
              <a:rPr dirty="0" sz="1200" spc="-5">
                <a:latin typeface="Times New Roman"/>
                <a:cs typeface="Times New Roman"/>
              </a:rPr>
              <a:t>as they are referred </a:t>
            </a:r>
            <a:r>
              <a:rPr dirty="0" sz="1200">
                <a:latin typeface="Times New Roman"/>
                <a:cs typeface="Times New Roman"/>
              </a:rPr>
              <a:t>to in the field of computer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science, are those </a:t>
            </a:r>
            <a:r>
              <a:rPr dirty="0" sz="1200" spc="-5">
                <a:latin typeface="Times New Roman"/>
                <a:cs typeface="Times New Roman"/>
              </a:rPr>
              <a:t>computer systems </a:t>
            </a:r>
            <a:r>
              <a:rPr dirty="0" sz="1200">
                <a:latin typeface="Times New Roman"/>
                <a:cs typeface="Times New Roman"/>
              </a:rPr>
              <a:t>found in </a:t>
            </a:r>
            <a:r>
              <a:rPr dirty="0" sz="1200" b="1">
                <a:latin typeface="Times New Roman"/>
                <a:cs typeface="Times New Roman"/>
              </a:rPr>
              <a:t>computer </a:t>
            </a:r>
            <a:r>
              <a:rPr dirty="0" sz="1200" spc="-5" b="1">
                <a:latin typeface="Times New Roman"/>
                <a:cs typeface="Times New Roman"/>
              </a:rPr>
              <a:t>installations </a:t>
            </a:r>
            <a:r>
              <a:rPr dirty="0" sz="1200">
                <a:latin typeface="Times New Roman"/>
                <a:cs typeface="Times New Roman"/>
              </a:rPr>
              <a:t>processing </a:t>
            </a:r>
            <a:r>
              <a:rPr dirty="0" sz="1200" spc="-5">
                <a:latin typeface="Times New Roman"/>
                <a:cs typeface="Times New Roman"/>
              </a:rPr>
              <a:t>immense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amounts </a:t>
            </a:r>
            <a:r>
              <a:rPr dirty="0" sz="1200">
                <a:latin typeface="Times New Roman"/>
                <a:cs typeface="Times New Roman"/>
              </a:rPr>
              <a:t>of data. These powerful computers </a:t>
            </a:r>
            <a:r>
              <a:rPr dirty="0" sz="1200" spc="-5">
                <a:latin typeface="Times New Roman"/>
                <a:cs typeface="Times New Roman"/>
              </a:rPr>
              <a:t>make use </a:t>
            </a:r>
            <a:r>
              <a:rPr dirty="0" sz="1200">
                <a:latin typeface="Times New Roman"/>
                <a:cs typeface="Times New Roman"/>
              </a:rPr>
              <a:t>of very high-speed </a:t>
            </a:r>
            <a:r>
              <a:rPr dirty="0" sz="1200" spc="-5">
                <a:latin typeface="Times New Roman"/>
                <a:cs typeface="Times New Roman"/>
              </a:rPr>
              <a:t>main memories </a:t>
            </a:r>
            <a:r>
              <a:rPr dirty="0" sz="1200">
                <a:latin typeface="Times New Roman"/>
                <a:cs typeface="Times New Roman"/>
              </a:rPr>
              <a:t> into which data and </a:t>
            </a:r>
            <a:r>
              <a:rPr dirty="0" sz="1200" spc="-5">
                <a:latin typeface="Times New Roman"/>
                <a:cs typeface="Times New Roman"/>
              </a:rPr>
              <a:t>programs </a:t>
            </a:r>
            <a:r>
              <a:rPr dirty="0" sz="1200">
                <a:latin typeface="Times New Roman"/>
                <a:cs typeface="Times New Roman"/>
              </a:rPr>
              <a:t>to be dealt with are </a:t>
            </a:r>
            <a:r>
              <a:rPr dirty="0" sz="1200" spc="-5">
                <a:latin typeface="Times New Roman"/>
                <a:cs typeface="Times New Roman"/>
              </a:rPr>
              <a:t>transferred </a:t>
            </a:r>
            <a:r>
              <a:rPr dirty="0" sz="1200">
                <a:latin typeface="Times New Roman"/>
                <a:cs typeface="Times New Roman"/>
              </a:rPr>
              <a:t>for rapid </a:t>
            </a:r>
            <a:r>
              <a:rPr dirty="0" sz="1200" spc="-5">
                <a:latin typeface="Times New Roman"/>
                <a:cs typeface="Times New Roman"/>
              </a:rPr>
              <a:t>access.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powerful machines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larger repertoire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more complex </a:t>
            </a:r>
            <a:r>
              <a:rPr dirty="0" sz="1200">
                <a:latin typeface="Times New Roman"/>
                <a:cs typeface="Times New Roman"/>
              </a:rPr>
              <a:t>instructions which 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executed </a:t>
            </a:r>
            <a:r>
              <a:rPr dirty="0" sz="1200" spc="-5">
                <a:latin typeface="Times New Roman"/>
                <a:cs typeface="Times New Roman"/>
              </a:rPr>
              <a:t>more quickly. Whereas smaller computers may </a:t>
            </a:r>
            <a:r>
              <a:rPr dirty="0" sz="1200">
                <a:latin typeface="Times New Roman"/>
                <a:cs typeface="Times New Roman"/>
              </a:rPr>
              <a:t>take several </a:t>
            </a:r>
            <a:r>
              <a:rPr dirty="0" sz="1200" spc="-5">
                <a:latin typeface="Times New Roman"/>
                <a:cs typeface="Times New Roman"/>
              </a:rPr>
              <a:t>steps </a:t>
            </a:r>
            <a:r>
              <a:rPr dirty="0" sz="1200">
                <a:latin typeface="Times New Roman"/>
                <a:cs typeface="Times New Roman"/>
              </a:rPr>
              <a:t>to perform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accomplish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can be of two types: </a:t>
            </a:r>
            <a:r>
              <a:rPr dirty="0" sz="1200" b="1">
                <a:latin typeface="Times New Roman"/>
                <a:cs typeface="Times New Roman"/>
              </a:rPr>
              <a:t>digital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b="1">
                <a:latin typeface="Times New Roman"/>
                <a:cs typeface="Times New Roman"/>
              </a:rPr>
              <a:t>analog</a:t>
            </a:r>
            <a:r>
              <a:rPr dirty="0" sz="1200">
                <a:latin typeface="Times New Roman"/>
                <a:cs typeface="Times New Roman"/>
              </a:rPr>
              <a:t>. The digital computer or general-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 computer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often </a:t>
            </a:r>
            <a:r>
              <a:rPr dirty="0" sz="1200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up about 90 percent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large computers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 in use. It gets </a:t>
            </a:r>
            <a:r>
              <a:rPr dirty="0" sz="1200" spc="-5">
                <a:latin typeface="Times New Roman"/>
                <a:cs typeface="Times New Roman"/>
              </a:rPr>
              <a:t>its name </a:t>
            </a:r>
            <a:r>
              <a:rPr dirty="0" sz="1200">
                <a:latin typeface="Times New Roman"/>
                <a:cs typeface="Times New Roman"/>
              </a:rPr>
              <a:t>because the data that are presented to it are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up of a code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consisting of </a:t>
            </a:r>
            <a:r>
              <a:rPr dirty="0" sz="1200" b="1">
                <a:latin typeface="Times New Roman"/>
                <a:cs typeface="Times New Roman"/>
              </a:rPr>
              <a:t>digits</a:t>
            </a:r>
            <a:r>
              <a:rPr dirty="0" sz="1200">
                <a:latin typeface="Times New Roman"/>
                <a:cs typeface="Times New Roman"/>
              </a:rPr>
              <a:t>–single-character </a:t>
            </a:r>
            <a:r>
              <a:rPr dirty="0" sz="1200" spc="-5">
                <a:latin typeface="Times New Roman"/>
                <a:cs typeface="Times New Roman"/>
              </a:rPr>
              <a:t>numbers. </a:t>
            </a:r>
            <a:r>
              <a:rPr dirty="0" sz="1200">
                <a:latin typeface="Times New Roman"/>
                <a:cs typeface="Times New Roman"/>
              </a:rPr>
              <a:t>The digital </a:t>
            </a:r>
            <a:r>
              <a:rPr dirty="0" sz="1200" spc="-5">
                <a:latin typeface="Times New Roman"/>
                <a:cs typeface="Times New Roman"/>
              </a:rPr>
              <a:t>computer is </a:t>
            </a:r>
            <a:r>
              <a:rPr dirty="0" sz="1200">
                <a:latin typeface="Times New Roman"/>
                <a:cs typeface="Times New Roman"/>
              </a:rPr>
              <a:t>like a </a:t>
            </a:r>
            <a:r>
              <a:rPr dirty="0" sz="1200" spc="-5">
                <a:latin typeface="Times New Roman"/>
                <a:cs typeface="Times New Roman"/>
              </a:rPr>
              <a:t>gigantic </a:t>
            </a:r>
            <a:r>
              <a:rPr dirty="0" sz="1200">
                <a:latin typeface="Times New Roman"/>
                <a:cs typeface="Times New Roman"/>
              </a:rPr>
              <a:t>cash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register in that it can do calculations in </a:t>
            </a:r>
            <a:r>
              <a:rPr dirty="0" sz="1200" spc="-5">
                <a:latin typeface="Times New Roman"/>
                <a:cs typeface="Times New Roman"/>
              </a:rPr>
              <a:t>steps, </a:t>
            </a:r>
            <a:r>
              <a:rPr dirty="0" sz="1200">
                <a:latin typeface="Times New Roman"/>
                <a:cs typeface="Times New Roman"/>
              </a:rPr>
              <a:t>one after another at </a:t>
            </a:r>
            <a:r>
              <a:rPr dirty="0" sz="1200" spc="-5">
                <a:latin typeface="Times New Roman"/>
                <a:cs typeface="Times New Roman"/>
              </a:rPr>
              <a:t>tremendous </a:t>
            </a:r>
            <a:r>
              <a:rPr dirty="0" sz="1200">
                <a:latin typeface="Times New Roman"/>
                <a:cs typeface="Times New Roman"/>
              </a:rPr>
              <a:t>speed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 accuracy.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Digital </a:t>
            </a:r>
            <a:r>
              <a:rPr dirty="0" sz="1200">
                <a:latin typeface="Times New Roman"/>
                <a:cs typeface="Times New Roman"/>
              </a:rPr>
              <a:t>computer </a:t>
            </a:r>
            <a:r>
              <a:rPr dirty="0" sz="1200" b="1">
                <a:latin typeface="Times New Roman"/>
                <a:cs typeface="Times New Roman"/>
              </a:rPr>
              <a:t>programming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by far the most commonly used in electronic </a:t>
            </a:r>
            <a:r>
              <a:rPr dirty="0" sz="1200" spc="-5" b="1">
                <a:latin typeface="Times New Roman"/>
                <a:cs typeface="Times New Roman"/>
              </a:rPr>
              <a:t>data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processing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statistical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purposes.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car </a:t>
            </a:r>
            <a:r>
              <a:rPr dirty="0" sz="1200" spc="-5">
                <a:latin typeface="Times New Roman"/>
                <a:cs typeface="Times New Roman"/>
              </a:rPr>
              <a:t>speedometer,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continuously works out </a:t>
            </a:r>
            <a:r>
              <a:rPr dirty="0" sz="1200">
                <a:latin typeface="Times New Roman"/>
                <a:cs typeface="Times New Roman"/>
              </a:rPr>
              <a:t>calculations. </a:t>
            </a:r>
            <a:r>
              <a:rPr dirty="0" sz="1200" spc="-5">
                <a:latin typeface="Times New Roman"/>
                <a:cs typeface="Times New Roman"/>
              </a:rPr>
              <a:t>It is used essentially for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involving </a:t>
            </a:r>
            <a:r>
              <a:rPr dirty="0" sz="1200" spc="-5">
                <a:latin typeface="Times New Roman"/>
                <a:cs typeface="Times New Roman"/>
              </a:rPr>
              <a:t>measurements. </a:t>
            </a:r>
            <a:r>
              <a:rPr dirty="0" sz="1200">
                <a:latin typeface="Times New Roman"/>
                <a:cs typeface="Times New Roman"/>
              </a:rPr>
              <a:t>It can </a:t>
            </a:r>
            <a:r>
              <a:rPr dirty="0" sz="1200" spc="-5">
                <a:latin typeface="Times New Roman"/>
                <a:cs typeface="Times New Roman"/>
              </a:rPr>
              <a:t>simulate,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imitate </a:t>
            </a:r>
            <a:r>
              <a:rPr dirty="0" sz="1200">
                <a:latin typeface="Times New Roman"/>
                <a:cs typeface="Times New Roman"/>
              </a:rPr>
              <a:t>different </a:t>
            </a:r>
            <a:r>
              <a:rPr dirty="0" sz="1200" spc="-5">
                <a:latin typeface="Times New Roman"/>
                <a:cs typeface="Times New Roman"/>
              </a:rPr>
              <a:t>measurements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means.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made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electronic </a:t>
            </a:r>
            <a:r>
              <a:rPr dirty="0" sz="1200" spc="-5">
                <a:latin typeface="Times New Roman"/>
                <a:cs typeface="Times New Roman"/>
              </a:rPr>
              <a:t>components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require a large room to accommodate </a:t>
            </a:r>
            <a:r>
              <a:rPr dirty="0" sz="1200" spc="-5">
                <a:latin typeface="Times New Roman"/>
                <a:cs typeface="Times New Roman"/>
              </a:rPr>
              <a:t>them. At </a:t>
            </a:r>
            <a:r>
              <a:rPr dirty="0" sz="1200">
                <a:latin typeface="Times New Roman"/>
                <a:cs typeface="Times New Roman"/>
              </a:rPr>
              <a:t>present,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digital </a:t>
            </a:r>
            <a:r>
              <a:rPr dirty="0" sz="1200" spc="-5">
                <a:latin typeface="Times New Roman"/>
                <a:cs typeface="Times New Roman"/>
              </a:rPr>
              <a:t>computer is capable </a:t>
            </a:r>
            <a:r>
              <a:rPr dirty="0" sz="1200">
                <a:latin typeface="Times New Roman"/>
                <a:cs typeface="Times New Roman"/>
              </a:rPr>
              <a:t>of doing anything the analog once did. Moreover,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easier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program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cheaper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operate. A new type of scientific computer system </a:t>
            </a:r>
            <a:r>
              <a:rPr dirty="0" sz="1200">
                <a:latin typeface="Times New Roman"/>
                <a:cs typeface="Times New Roman"/>
              </a:rPr>
              <a:t>called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hybrid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now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 produced 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two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Really </a:t>
            </a:r>
            <a:r>
              <a:rPr dirty="0" sz="1200" spc="-5">
                <a:latin typeface="Times New Roman"/>
                <a:cs typeface="Times New Roman"/>
              </a:rPr>
              <a:t>powerful computers continue </a:t>
            </a:r>
            <a:r>
              <a:rPr dirty="0" sz="1200">
                <a:latin typeface="Times New Roman"/>
                <a:cs typeface="Times New Roman"/>
              </a:rPr>
              <a:t>to be </a:t>
            </a:r>
            <a:r>
              <a:rPr dirty="0" sz="1200" spc="-5">
                <a:latin typeface="Times New Roman"/>
                <a:cs typeface="Times New Roman"/>
              </a:rPr>
              <a:t>bulky and require special provision for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housing, refrigeration </a:t>
            </a:r>
            <a:r>
              <a:rPr dirty="0" sz="1200" spc="-5">
                <a:latin typeface="Times New Roman"/>
                <a:cs typeface="Times New Roman"/>
              </a:rPr>
              <a:t>systems, </a:t>
            </a:r>
            <a:r>
              <a:rPr dirty="0" sz="1200">
                <a:latin typeface="Times New Roman"/>
                <a:cs typeface="Times New Roman"/>
              </a:rPr>
              <a:t>air filtration and power supplies.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because </a:t>
            </a:r>
            <a:r>
              <a:rPr dirty="0" sz="1200" spc="-5">
                <a:latin typeface="Times New Roman"/>
                <a:cs typeface="Times New Roman"/>
              </a:rPr>
              <a:t>much more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 </a:t>
            </a:r>
            <a:r>
              <a:rPr dirty="0" sz="1200" spc="-5">
                <a:latin typeface="Times New Roman"/>
                <a:cs typeface="Times New Roman"/>
              </a:rPr>
              <a:t>is taken </a:t>
            </a:r>
            <a:r>
              <a:rPr dirty="0" sz="1200">
                <a:latin typeface="Times New Roman"/>
                <a:cs typeface="Times New Roman"/>
              </a:rPr>
              <a:t>up by the </a:t>
            </a:r>
            <a:r>
              <a:rPr dirty="0" sz="1200" spc="-5">
                <a:latin typeface="Times New Roman"/>
                <a:cs typeface="Times New Roman"/>
              </a:rPr>
              <a:t>input/output </a:t>
            </a:r>
            <a:r>
              <a:rPr dirty="0" sz="1200">
                <a:latin typeface="Times New Roman"/>
                <a:cs typeface="Times New Roman"/>
              </a:rPr>
              <a:t>devices – the </a:t>
            </a:r>
            <a:r>
              <a:rPr dirty="0" sz="1200" spc="-5">
                <a:latin typeface="Times New Roman"/>
                <a:cs typeface="Times New Roman"/>
              </a:rPr>
              <a:t>magnetic </a:t>
            </a:r>
            <a:r>
              <a:rPr dirty="0" sz="1200">
                <a:latin typeface="Times New Roman"/>
                <a:cs typeface="Times New Roman"/>
              </a:rPr>
              <a:t>tape and disk units and 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peripheral </a:t>
            </a:r>
            <a:r>
              <a:rPr dirty="0" sz="1200" spc="-5">
                <a:latin typeface="Times New Roman"/>
                <a:cs typeface="Times New Roman"/>
              </a:rPr>
              <a:t>equipment </a:t>
            </a:r>
            <a:r>
              <a:rPr dirty="0" sz="1200">
                <a:latin typeface="Times New Roman"/>
                <a:cs typeface="Times New Roman"/>
              </a:rPr>
              <a:t>– than by the </a:t>
            </a:r>
            <a:r>
              <a:rPr dirty="0" sz="1200" spc="-5">
                <a:latin typeface="Times New Roman"/>
                <a:cs typeface="Times New Roman"/>
              </a:rPr>
              <a:t>electronic components </a:t>
            </a:r>
            <a:r>
              <a:rPr dirty="0" sz="1200">
                <a:latin typeface="Times New Roman"/>
                <a:cs typeface="Times New Roman"/>
              </a:rPr>
              <a:t>that do no make up the bulk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powerful installation.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power consumption of these machines is also </a:t>
            </a:r>
            <a:r>
              <a:rPr dirty="0" sz="1200">
                <a:latin typeface="Times New Roman"/>
                <a:cs typeface="Times New Roman"/>
              </a:rPr>
              <a:t> quite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high, not to </a:t>
            </a:r>
            <a:r>
              <a:rPr dirty="0" sz="1200" spc="-5">
                <a:latin typeface="Times New Roman"/>
                <a:cs typeface="Times New Roman"/>
              </a:rPr>
              <a:t>mention </a:t>
            </a:r>
            <a:r>
              <a:rPr dirty="0" sz="1200">
                <a:latin typeface="Times New Roman"/>
                <a:cs typeface="Times New Roman"/>
              </a:rPr>
              <a:t>the price </a:t>
            </a:r>
            <a:r>
              <a:rPr dirty="0" sz="1200" spc="-5">
                <a:latin typeface="Times New Roman"/>
                <a:cs typeface="Times New Roman"/>
              </a:rPr>
              <a:t>that runs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</a:t>
            </a:r>
            <a:r>
              <a:rPr dirty="0" sz="1200" spc="-5">
                <a:latin typeface="Times New Roman"/>
                <a:cs typeface="Times New Roman"/>
              </a:rPr>
              <a:t> of dollars.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ct val="95700"/>
              </a:lnSpc>
            </a:pPr>
            <a:r>
              <a:rPr dirty="0" sz="1100" spc="-5">
                <a:latin typeface="Times New Roman"/>
                <a:cs typeface="Times New Roman"/>
              </a:rPr>
              <a:t>The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future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will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bring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great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developments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in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the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mechanical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devices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associated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with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computer </a:t>
            </a:r>
            <a:r>
              <a:rPr dirty="0" sz="1100" spc="-26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systems.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For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a</a:t>
            </a:r>
            <a:r>
              <a:rPr dirty="0" sz="1100" spc="10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long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time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these</a:t>
            </a:r>
            <a:r>
              <a:rPr dirty="0" sz="1100" spc="10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have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been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the</a:t>
            </a:r>
            <a:r>
              <a:rPr dirty="0" sz="1100" spc="10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weak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link</a:t>
            </a:r>
            <a:r>
              <a:rPr dirty="0" sz="1100" spc="10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from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the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point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view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 spc="10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both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efficiency </a:t>
            </a:r>
            <a:r>
              <a:rPr dirty="0" sz="1100" spc="-26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and reliability.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223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Exercises</a:t>
            </a:r>
            <a:r>
              <a:rPr dirty="0" u="heavy" sz="1200" spc="-5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05"/>
              </a:lnSpc>
              <a:buAutoNum type="arabicPeriod"/>
              <a:tabLst>
                <a:tab pos="165100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text?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 lvl="1" marL="1221740" marR="271145">
              <a:lnSpc>
                <a:spcPts val="1380"/>
              </a:lnSpc>
              <a:buAutoNum type="arabicPeriod"/>
              <a:tabLst>
                <a:tab pos="1453515" algn="l"/>
              </a:tabLst>
            </a:pPr>
            <a:r>
              <a:rPr dirty="0" sz="1200">
                <a:latin typeface="Times New Roman"/>
                <a:cs typeface="Times New Roman"/>
              </a:rPr>
              <a:t>Hybrid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combination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1374140" indent="-1530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1374775" algn="l"/>
              </a:tabLst>
            </a:pP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more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1374140" indent="-1530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137477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mainframes.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lvl="1" marL="1221740" marR="271780">
              <a:lnSpc>
                <a:spcPts val="1380"/>
              </a:lnSpc>
              <a:buAutoNum type="arabicPeriod"/>
              <a:tabLst>
                <a:tab pos="1395730" algn="l"/>
              </a:tabLst>
            </a:pP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varied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digital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hybrid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1.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text?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Hybrid</a:t>
            </a:r>
            <a:r>
              <a:rPr dirty="0" sz="1200" spc="-5">
                <a:latin typeface="Times New Roman"/>
                <a:cs typeface="Times New Roman"/>
              </a:rPr>
              <a:t> 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combination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-5">
                <a:latin typeface="Times New Roman"/>
                <a:cs typeface="Times New Roman"/>
              </a:rPr>
              <a:t> computers.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more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three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types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mainframes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-5">
                <a:latin typeface="Times New Roman"/>
                <a:cs typeface="Times New Roman"/>
              </a:rPr>
              <a:t> computers </a:t>
            </a:r>
            <a:r>
              <a:rPr dirty="0" sz="1200">
                <a:latin typeface="Times New Roman"/>
                <a:cs typeface="Times New Roman"/>
              </a:rPr>
              <a:t>can do</a:t>
            </a:r>
            <a:r>
              <a:rPr dirty="0" sz="1200" spc="-5">
                <a:latin typeface="Times New Roman"/>
                <a:cs typeface="Times New Roman"/>
              </a:rPr>
              <a:t> more</a:t>
            </a:r>
            <a:r>
              <a:rPr dirty="0" sz="1200">
                <a:latin typeface="Times New Roman"/>
                <a:cs typeface="Times New Roman"/>
              </a:rPr>
              <a:t> varied</a:t>
            </a:r>
            <a:r>
              <a:rPr dirty="0" sz="1200" spc="-5">
                <a:latin typeface="Times New Roman"/>
                <a:cs typeface="Times New Roman"/>
              </a:rPr>
              <a:t> 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hybrid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ct val="100000"/>
              </a:lnSpc>
              <a:buAutoNum type="arabicPeriod" startAt="2"/>
              <a:tabLst>
                <a:tab pos="165100" algn="l"/>
              </a:tabLst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Understanding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passage: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2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Decided whether </a:t>
            </a:r>
            <a:r>
              <a:rPr dirty="0" sz="1200" b="1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following </a:t>
            </a:r>
            <a:r>
              <a:rPr dirty="0" sz="1200" b="1">
                <a:latin typeface="Times New Roman"/>
                <a:cs typeface="Times New Roman"/>
              </a:rPr>
              <a:t>statements are true or </a:t>
            </a:r>
            <a:r>
              <a:rPr dirty="0" sz="1200" spc="-5" b="1">
                <a:latin typeface="Times New Roman"/>
                <a:cs typeface="Times New Roman"/>
              </a:rPr>
              <a:t>false </a:t>
            </a:r>
            <a:r>
              <a:rPr dirty="0" sz="1200" b="1">
                <a:latin typeface="Times New Roman"/>
                <a:cs typeface="Times New Roman"/>
              </a:rPr>
              <a:t>(T/F) by referring to the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 in the </a:t>
            </a:r>
            <a:r>
              <a:rPr dirty="0" sz="1200" b="1">
                <a:latin typeface="Times New Roman"/>
                <a:cs typeface="Times New Roman"/>
              </a:rPr>
              <a:t>text. </a:t>
            </a:r>
            <a:r>
              <a:rPr dirty="0" sz="1200" spc="-5" b="1">
                <a:latin typeface="Times New Roman"/>
                <a:cs typeface="Times New Roman"/>
              </a:rPr>
              <a:t>Then </a:t>
            </a:r>
            <a:r>
              <a:rPr dirty="0" sz="1200" b="1">
                <a:latin typeface="Times New Roman"/>
                <a:cs typeface="Times New Roman"/>
              </a:rPr>
              <a:t>make </a:t>
            </a:r>
            <a:r>
              <a:rPr dirty="0" sz="1200" spc="-5" b="1">
                <a:latin typeface="Times New Roman"/>
                <a:cs typeface="Times New Roman"/>
              </a:rPr>
              <a:t>the necessary changes so </a:t>
            </a:r>
            <a:r>
              <a:rPr dirty="0" sz="1200" b="1">
                <a:latin typeface="Times New Roman"/>
                <a:cs typeface="Times New Roman"/>
              </a:rPr>
              <a:t>that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false </a:t>
            </a:r>
            <a:r>
              <a:rPr dirty="0" sz="1200" spc="-5" b="1">
                <a:latin typeface="Times New Roman"/>
                <a:cs typeface="Times New Roman"/>
              </a:rPr>
              <a:t>statements </a:t>
            </a:r>
            <a:r>
              <a:rPr dirty="0" sz="1200" b="1">
                <a:latin typeface="Times New Roman"/>
                <a:cs typeface="Times New Roman"/>
              </a:rPr>
              <a:t> become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330"/>
              </a:lnSpc>
              <a:tabLst>
                <a:tab pos="524510" algn="l"/>
              </a:tabLst>
            </a:pPr>
            <a:r>
              <a:rPr dirty="0" sz="1200">
                <a:latin typeface="Times New Roman"/>
                <a:cs typeface="Times New Roman"/>
              </a:rPr>
              <a:t>T	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1079500" indent="-153035">
              <a:lnSpc>
                <a:spcPct val="100000"/>
              </a:lnSpc>
              <a:buAutoNum type="arabicPeriod"/>
              <a:tabLst>
                <a:tab pos="1080135" algn="l"/>
              </a:tabLst>
            </a:pPr>
            <a:r>
              <a:rPr dirty="0" sz="1200" spc="-5">
                <a:latin typeface="Times New Roman"/>
                <a:cs typeface="Times New Roman"/>
              </a:rPr>
              <a:t>A mainframe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type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sit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top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desk.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lvl="1" marL="927100" marR="271145">
              <a:lnSpc>
                <a:spcPts val="1380"/>
              </a:lnSpc>
              <a:buAutoNum type="arabicPeriod"/>
              <a:tabLst>
                <a:tab pos="1110615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Mainframes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powerful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execute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rapidly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easily.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1078865" indent="-152400">
              <a:lnSpc>
                <a:spcPct val="100000"/>
              </a:lnSpc>
              <a:buAutoNum type="arabicPeriod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lvl="1" marL="927100" marR="270510">
              <a:lnSpc>
                <a:spcPts val="1380"/>
              </a:lnSpc>
              <a:buAutoNum type="arabicPeriod"/>
              <a:tabLst>
                <a:tab pos="108204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occupies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lvl="1" marL="927100" marR="271145">
              <a:lnSpc>
                <a:spcPts val="1380"/>
              </a:lnSpc>
              <a:buAutoNum type="arabicPeriod"/>
              <a:tabLst>
                <a:tab pos="109156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hybrid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combination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1" marL="1079500" indent="-153035">
              <a:lnSpc>
                <a:spcPct val="100000"/>
              </a:lnSpc>
              <a:buAutoNum type="arabicPeriod"/>
              <a:tabLst>
                <a:tab pos="10801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-5">
                <a:latin typeface="Times New Roman"/>
                <a:cs typeface="Times New Roman"/>
              </a:rPr>
              <a:t> computer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5">
                <a:latin typeface="Times New Roman"/>
                <a:cs typeface="Times New Roman"/>
              </a:rPr>
              <a:t> 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714500" y="1815083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5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714500" y="2312670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714500" y="2661666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5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714500" y="304876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485900" y="6158484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5">
                <a:moveTo>
                  <a:pt x="182880" y="0"/>
                </a:moveTo>
                <a:lnTo>
                  <a:pt x="0" y="0"/>
                </a:lnTo>
                <a:lnTo>
                  <a:pt x="0" y="178308"/>
                </a:lnTo>
                <a:lnTo>
                  <a:pt x="182880" y="178308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143000" y="6158484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5">
                <a:moveTo>
                  <a:pt x="182880" y="0"/>
                </a:moveTo>
                <a:lnTo>
                  <a:pt x="0" y="0"/>
                </a:lnTo>
                <a:lnTo>
                  <a:pt x="0" y="178308"/>
                </a:lnTo>
                <a:lnTo>
                  <a:pt x="182880" y="178308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485900" y="6550914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143000" y="6550914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485900" y="704926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143000" y="704926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485900" y="7469885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4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143000" y="7469885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4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485900" y="797128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143000" y="797128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485900" y="8471916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4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143000" y="8471916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4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7370" cy="6167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79500" indent="-153035">
              <a:lnSpc>
                <a:spcPct val="100000"/>
              </a:lnSpc>
              <a:spcBef>
                <a:spcPts val="100"/>
              </a:spcBef>
              <a:buAutoNum type="arabicPeriod" startAt="7"/>
              <a:tabLst>
                <a:tab pos="10801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computer continuously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7"/>
            </a:pPr>
            <a:endParaRPr sz="1200">
              <a:latin typeface="Times New Roman"/>
              <a:cs typeface="Times New Roman"/>
            </a:endParaRPr>
          </a:p>
          <a:p>
            <a:pPr marL="927100" marR="7620">
              <a:lnSpc>
                <a:spcPts val="1380"/>
              </a:lnSpc>
              <a:buAutoNum type="arabicPeriod" startAt="7"/>
              <a:tabLst>
                <a:tab pos="1106805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Mainframes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powerful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peripheral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equipments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7"/>
            </a:pPr>
            <a:endParaRPr sz="110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 startAt="7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Mainframes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7"/>
            </a:pPr>
            <a:endParaRPr sz="1200">
              <a:latin typeface="Times New Roman"/>
              <a:cs typeface="Times New Roman"/>
            </a:endParaRPr>
          </a:p>
          <a:p>
            <a:pPr marL="927100" marR="5715">
              <a:lnSpc>
                <a:spcPts val="1380"/>
              </a:lnSpc>
              <a:buAutoNum type="arabicPeriod" startAt="7"/>
              <a:tabLst>
                <a:tab pos="1193800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Mainframe</a:t>
            </a:r>
            <a:r>
              <a:rPr dirty="0" sz="1200">
                <a:latin typeface="Times New Roman"/>
                <a:cs typeface="Times New Roman"/>
              </a:rPr>
              <a:t> technology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reached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road.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further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needed.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Decided whether the following sentences </a:t>
            </a:r>
            <a:r>
              <a:rPr dirty="0" sz="1200" b="1">
                <a:latin typeface="Times New Roman"/>
                <a:cs typeface="Times New Roman"/>
              </a:rPr>
              <a:t>are true or false (T/F) </a:t>
            </a:r>
            <a:r>
              <a:rPr dirty="0" sz="1200" spc="-5" b="1">
                <a:latin typeface="Times New Roman"/>
                <a:cs typeface="Times New Roman"/>
              </a:rPr>
              <a:t>by referring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 in the </a:t>
            </a:r>
            <a:r>
              <a:rPr dirty="0" sz="1200" b="1">
                <a:latin typeface="Times New Roman"/>
                <a:cs typeface="Times New Roman"/>
              </a:rPr>
              <a:t>text. </a:t>
            </a:r>
            <a:r>
              <a:rPr dirty="0" sz="1200" spc="-5" b="1">
                <a:latin typeface="Times New Roman"/>
                <a:cs typeface="Times New Roman"/>
              </a:rPr>
              <a:t>Then </a:t>
            </a:r>
            <a:r>
              <a:rPr dirty="0" sz="1200" b="1">
                <a:latin typeface="Times New Roman"/>
                <a:cs typeface="Times New Roman"/>
              </a:rPr>
              <a:t>make </a:t>
            </a:r>
            <a:r>
              <a:rPr dirty="0" sz="1200" spc="-5" b="1">
                <a:latin typeface="Times New Roman"/>
                <a:cs typeface="Times New Roman"/>
              </a:rPr>
              <a:t>the necessary changes so </a:t>
            </a:r>
            <a:r>
              <a:rPr dirty="0" sz="1200" b="1">
                <a:latin typeface="Times New Roman"/>
                <a:cs typeface="Times New Roman"/>
              </a:rPr>
              <a:t>that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false </a:t>
            </a:r>
            <a:r>
              <a:rPr dirty="0" sz="1200" spc="-5" b="1">
                <a:latin typeface="Times New Roman"/>
                <a:cs typeface="Times New Roman"/>
              </a:rPr>
              <a:t>statements </a:t>
            </a:r>
            <a:r>
              <a:rPr dirty="0" sz="1200" b="1">
                <a:latin typeface="Times New Roman"/>
                <a:cs typeface="Times New Roman"/>
              </a:rPr>
              <a:t> become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 mainframe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type of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sit on </a:t>
            </a:r>
            <a:r>
              <a:rPr dirty="0" sz="1200">
                <a:latin typeface="Times New Roman"/>
                <a:cs typeface="Times New Roman"/>
              </a:rPr>
              <a:t>top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desk.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Mainframes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very powerful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execute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 </a:t>
            </a:r>
            <a:r>
              <a:rPr dirty="0" sz="1200">
                <a:latin typeface="Times New Roman"/>
                <a:cs typeface="Times New Roman"/>
              </a:rPr>
              <a:t>rapidly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easily. T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653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analog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digital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therefore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occupies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hybrid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combination</a:t>
            </a:r>
            <a:r>
              <a:rPr dirty="0" sz="1200">
                <a:latin typeface="Times New Roman"/>
                <a:cs typeface="Times New Roman"/>
              </a:rPr>
              <a:t> of 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digital and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r>
              <a:rPr dirty="0" sz="1200">
                <a:latin typeface="Times New Roman"/>
                <a:cs typeface="Times New Roman"/>
              </a:rPr>
              <a:t> 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analog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does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 step</a:t>
            </a:r>
            <a:r>
              <a:rPr dirty="0" sz="1200">
                <a:latin typeface="Times New Roman"/>
                <a:cs typeface="Times New Roman"/>
              </a:rPr>
              <a:t> at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time.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digital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continuously works</a:t>
            </a:r>
            <a:r>
              <a:rPr dirty="0" sz="1200">
                <a:latin typeface="Times New Roman"/>
                <a:cs typeface="Times New Roman"/>
              </a:rPr>
              <a:t> 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calculations.</a:t>
            </a:r>
            <a:r>
              <a:rPr dirty="0" sz="1200" spc="-5">
                <a:latin typeface="Times New Roman"/>
                <a:cs typeface="Times New Roman"/>
              </a:rPr>
              <a:t> F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9070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Mainframes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powerful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peripheral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equipments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Mainframes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2700" marR="37020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41935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Mainframe</a:t>
            </a:r>
            <a:r>
              <a:rPr dirty="0" sz="1200">
                <a:latin typeface="Times New Roman"/>
                <a:cs typeface="Times New Roman"/>
              </a:rPr>
              <a:t> technology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reached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 of the road.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further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needed.</a:t>
            </a:r>
            <a:r>
              <a:rPr dirty="0" sz="1200" spc="-5">
                <a:latin typeface="Times New Roman"/>
                <a:cs typeface="Times New Roman"/>
              </a:rPr>
              <a:t> 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be great </a:t>
            </a:r>
            <a:r>
              <a:rPr dirty="0" sz="1200" spc="-5">
                <a:latin typeface="Times New Roman"/>
                <a:cs typeface="Times New Roman"/>
              </a:rPr>
              <a:t>developments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technology in the future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Locating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70"/>
              </a:lnSpc>
            </a:pP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passages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where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ideas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expressed.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Give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line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references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7223250"/>
            <a:ext cx="6737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………. 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………..2.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0400" y="7223250"/>
            <a:ext cx="4674235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Smaller computers may</a:t>
            </a:r>
            <a:r>
              <a:rPr dirty="0" sz="1200">
                <a:latin typeface="Times New Roman"/>
                <a:cs typeface="Times New Roman"/>
              </a:rPr>
              <a:t> take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perform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operation.</a:t>
            </a:r>
            <a:endParaRPr sz="1200">
              <a:latin typeface="Times New Roman"/>
              <a:cs typeface="Times New Roman"/>
            </a:endParaRPr>
          </a:p>
          <a:p>
            <a:pPr marL="12700" marR="26035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technological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mechanical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associated</a:t>
            </a:r>
            <a:r>
              <a:rPr dirty="0" sz="1200" spc="-5">
                <a:latin typeface="Times New Roman"/>
                <a:cs typeface="Times New Roman"/>
              </a:rPr>
              <a:t> 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Mainframes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execute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instruments. </a:t>
            </a:r>
            <a:r>
              <a:rPr dirty="0" sz="1200">
                <a:latin typeface="Times New Roman"/>
                <a:cs typeface="Times New Roman"/>
              </a:rPr>
              <a:t> The hybrid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combination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 digital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analog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more </a:t>
            </a:r>
            <a:r>
              <a:rPr dirty="0" sz="1200">
                <a:latin typeface="Times New Roman"/>
                <a:cs typeface="Times New Roman"/>
              </a:rPr>
              <a:t>than analog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Mainframes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 powerful</a:t>
            </a:r>
            <a:r>
              <a:rPr dirty="0" sz="1200" spc="-5">
                <a:latin typeface="Times New Roman"/>
                <a:cs typeface="Times New Roman"/>
              </a:rPr>
              <a:t> computers.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7749030"/>
            <a:ext cx="6737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………..3.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….…….4.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….……5.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….…….6.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8800590"/>
            <a:ext cx="673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….…….7.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0400" y="8800590"/>
            <a:ext cx="47123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speedometer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485900" y="1084325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4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143000" y="1084325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4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485900" y="150571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143000" y="1505711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485900" y="2007107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143000" y="2007107"/>
            <a:ext cx="182880" cy="177800"/>
          </a:xfrm>
          <a:custGeom>
            <a:avLst/>
            <a:gdLst/>
            <a:ahLst/>
            <a:cxnLst/>
            <a:rect l="l" t="t" r="r" b="b"/>
            <a:pathLst>
              <a:path w="182880" h="177800">
                <a:moveTo>
                  <a:pt x="182880" y="0"/>
                </a:moveTo>
                <a:lnTo>
                  <a:pt x="0" y="0"/>
                </a:lnTo>
                <a:lnTo>
                  <a:pt x="0" y="177546"/>
                </a:lnTo>
                <a:lnTo>
                  <a:pt x="182880" y="177546"/>
                </a:lnTo>
                <a:lnTo>
                  <a:pt x="18288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485900" y="2378964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5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143000" y="2378964"/>
            <a:ext cx="182880" cy="178435"/>
          </a:xfrm>
          <a:custGeom>
            <a:avLst/>
            <a:gdLst/>
            <a:ahLst/>
            <a:cxnLst/>
            <a:rect l="l" t="t" r="r" b="b"/>
            <a:pathLst>
              <a:path w="182880" h="178435">
                <a:moveTo>
                  <a:pt x="182880" y="0"/>
                </a:moveTo>
                <a:lnTo>
                  <a:pt x="0" y="0"/>
                </a:lnTo>
                <a:lnTo>
                  <a:pt x="0" y="178307"/>
                </a:lnTo>
                <a:lnTo>
                  <a:pt x="182880" y="178307"/>
                </a:lnTo>
                <a:lnTo>
                  <a:pt x="18288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54100" y="913892"/>
            <a:ext cx="673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.……….8.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56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613" y="913892"/>
            <a:ext cx="44951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265935"/>
            <a:ext cx="5627370" cy="3186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7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passages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text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where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following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ideas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expressed.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Give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references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Para1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 Smaller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may</a:t>
            </a:r>
            <a:r>
              <a:rPr dirty="0" sz="1200">
                <a:latin typeface="Times New Roman"/>
                <a:cs typeface="Times New Roman"/>
              </a:rPr>
              <a:t> take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operation.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70"/>
              </a:spcBef>
            </a:pPr>
            <a:r>
              <a:rPr dirty="0" sz="1200" b="1">
                <a:latin typeface="Times New Roman"/>
                <a:cs typeface="Times New Roman"/>
              </a:rPr>
              <a:t>Para3</a:t>
            </a:r>
            <a:r>
              <a:rPr dirty="0" sz="1200" spc="19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technological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mechanical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associated</a:t>
            </a:r>
            <a:r>
              <a:rPr dirty="0" sz="1200" spc="-5">
                <a:latin typeface="Times New Roman"/>
                <a:cs typeface="Times New Roman"/>
              </a:rPr>
              <a:t> 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</a:t>
            </a:r>
            <a:endParaRPr sz="1200">
              <a:latin typeface="Times New Roman"/>
              <a:cs typeface="Times New Roman"/>
            </a:endParaRPr>
          </a:p>
          <a:p>
            <a:pPr marL="12700" marR="30289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Para1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 </a:t>
            </a:r>
            <a:r>
              <a:rPr dirty="0" sz="1200" spc="-5">
                <a:latin typeface="Times New Roman"/>
                <a:cs typeface="Times New Roman"/>
              </a:rPr>
              <a:t>Mainframes </a:t>
            </a:r>
            <a:r>
              <a:rPr dirty="0" sz="1200">
                <a:latin typeface="Times New Roman"/>
                <a:cs typeface="Times New Roman"/>
              </a:rPr>
              <a:t>can operate quickly and execute </a:t>
            </a:r>
            <a:r>
              <a:rPr dirty="0" sz="1200" spc="-5">
                <a:latin typeface="Times New Roman"/>
                <a:cs typeface="Times New Roman"/>
              </a:rPr>
              <a:t>more complex instruments.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Para2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4. The hybrid computer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combination </a:t>
            </a:r>
            <a:r>
              <a:rPr dirty="0" sz="1200">
                <a:latin typeface="Times New Roman"/>
                <a:cs typeface="Times New Roman"/>
              </a:rPr>
              <a:t>of both digital and analog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Para2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are 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than analog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Para1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 </a:t>
            </a:r>
            <a:r>
              <a:rPr dirty="0" sz="1200" spc="-5">
                <a:latin typeface="Times New Roman"/>
                <a:cs typeface="Times New Roman"/>
              </a:rPr>
              <a:t>Mainframes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powerful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Para2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comparable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speedometer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way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Para2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computers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calculations,</a:t>
            </a:r>
            <a:r>
              <a:rPr dirty="0" sz="1200" spc="-5">
                <a:latin typeface="Times New Roman"/>
                <a:cs typeface="Times New Roman"/>
              </a:rPr>
              <a:t> one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4.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Contextual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reference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bold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typeface</a:t>
            </a:r>
            <a:r>
              <a:rPr dirty="0" sz="1200">
                <a:latin typeface="Times New Roman"/>
                <a:cs typeface="Times New Roman"/>
              </a:rPr>
              <a:t> refer to.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4419091"/>
            <a:ext cx="2823845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executed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calculations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continuously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Both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their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dollars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215825" y="4419091"/>
            <a:ext cx="1346835" cy="178562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42545" indent="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(line.7) …………….  </a:t>
            </a:r>
            <a:r>
              <a:rPr dirty="0" sz="1200" spc="-5">
                <a:latin typeface="Times New Roman"/>
                <a:cs typeface="Times New Roman"/>
              </a:rPr>
              <a:t>(line.12)……………  </a:t>
            </a:r>
            <a:r>
              <a:rPr dirty="0" sz="1200">
                <a:latin typeface="Times New Roman"/>
                <a:cs typeface="Times New Roman"/>
              </a:rPr>
              <a:t>(line.14)……………  (line.16)……………  </a:t>
            </a:r>
            <a:r>
              <a:rPr dirty="0" sz="1200" spc="-5">
                <a:latin typeface="Times New Roman"/>
                <a:cs typeface="Times New Roman"/>
              </a:rPr>
              <a:t>(line.20)…………...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(line.23)…………...</a:t>
            </a:r>
            <a:endParaRPr sz="1200">
              <a:latin typeface="Times New Roman"/>
              <a:cs typeface="Times New Roman"/>
            </a:endParaRPr>
          </a:p>
          <a:p>
            <a:pPr marL="133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(line.24)…………...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(line.29)…………...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(line.31)……………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(line.37)…………….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6348476"/>
            <a:ext cx="4911725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Look back at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text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 find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out what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bold </a:t>
            </a:r>
            <a:r>
              <a:rPr dirty="0" sz="1200" b="1">
                <a:latin typeface="Times New Roman"/>
                <a:cs typeface="Times New Roman"/>
              </a:rPr>
              <a:t>typeface refer</a:t>
            </a:r>
            <a:r>
              <a:rPr dirty="0" sz="1200" spc="-5" b="1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6872732"/>
            <a:ext cx="157924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executed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……………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 startAt="3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45673" y="6872732"/>
            <a:ext cx="1076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(p.1)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instructions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75560" y="7223252"/>
            <a:ext cx="200913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General-purpose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09339" y="7573771"/>
            <a:ext cx="626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data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7924292"/>
            <a:ext cx="190118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38509" y="7924292"/>
            <a:ext cx="13677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digital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8274811"/>
            <a:ext cx="216281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 startAt="5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continuously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…………...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6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Both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…………...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 startAt="7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33099" y="8274811"/>
            <a:ext cx="13931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(p.2)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analog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42148" y="8625332"/>
            <a:ext cx="137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digital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&amp;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analog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81313" y="8975852"/>
            <a:ext cx="17316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electronic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components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232029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8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8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marL="1270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housing</a:t>
            </a:r>
            <a:endParaRPr sz="1200">
              <a:latin typeface="Times New Roman"/>
              <a:cs typeface="Times New Roman"/>
            </a:endParaRPr>
          </a:p>
          <a:p>
            <a:pPr marL="203835" indent="-191135">
              <a:lnSpc>
                <a:spcPts val="1410"/>
              </a:lnSpc>
              <a:buFont typeface="Times New Roman"/>
              <a:buAutoNum type="arabicPeriod" startAt="10"/>
              <a:tabLst>
                <a:tab pos="203835" algn="l"/>
              </a:tabLst>
            </a:pP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dollars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2" name="object 22"/>
          <p:cNvSpPr txBox="1"/>
          <p:nvPr/>
        </p:nvSpPr>
        <p:spPr>
          <a:xfrm>
            <a:off x="6464300" y="9261432"/>
            <a:ext cx="1778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63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88664" y="913892"/>
            <a:ext cx="1362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(p.2)Hybrid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03162" y="1264411"/>
            <a:ext cx="89281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4765" marR="5080" indent="-1270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(p.3)computer  </a:t>
            </a:r>
            <a:r>
              <a:rPr dirty="0" sz="1200" spc="-5">
                <a:latin typeface="Times New Roman"/>
                <a:cs typeface="Times New Roman"/>
              </a:rPr>
              <a:t>(p.3)price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1791716"/>
            <a:ext cx="428434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5.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Understanding words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Refer back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text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synonyms</a:t>
            </a:r>
            <a:r>
              <a:rPr dirty="0" sz="1200" b="1">
                <a:latin typeface="Times New Roman"/>
                <a:cs typeface="Times New Roman"/>
              </a:rPr>
              <a:t> for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2491231"/>
            <a:ext cx="96075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area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acted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composed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principally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15539" y="2491231"/>
            <a:ext cx="1656714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……………………..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……………………..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 indent="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(l. 9) …………………….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(l.15)…………………….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3544315"/>
            <a:ext cx="428371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Refer back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text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synonyms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4068571"/>
            <a:ext cx="960119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area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acted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composed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principally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51069" y="4068571"/>
            <a:ext cx="155765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5400" marR="5080" indent="-133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(p.1) …field………….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(p.1) …executed……..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(p.1) …accomplished…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(p.2)…..consisting of 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(p.2)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….essentially……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5120132"/>
            <a:ext cx="4313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refer 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 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antonyms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00831" y="5295391"/>
            <a:ext cx="165608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5295391"/>
            <a:ext cx="605790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6.ignored  </a:t>
            </a:r>
            <a:r>
              <a:rPr dirty="0" sz="1200">
                <a:latin typeface="Times New Roman"/>
                <a:cs typeface="Times New Roman"/>
              </a:rPr>
              <a:t>7.seldom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8.little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9.small </a:t>
            </a:r>
            <a:r>
              <a:rPr dirty="0" sz="1200">
                <a:latin typeface="Times New Roman"/>
                <a:cs typeface="Times New Roman"/>
              </a:rPr>
              <a:t> 10.weak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100699" y="5645911"/>
            <a:ext cx="1694814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51435" marR="44450" indent="-3937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16)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30)…………………</a:t>
            </a:r>
            <a:endParaRPr sz="1200">
              <a:latin typeface="Times New Roman"/>
              <a:cs typeface="Times New Roman"/>
            </a:endParaRPr>
          </a:p>
          <a:p>
            <a:pPr marL="52069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(l.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35)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6000" y="6346952"/>
            <a:ext cx="4567555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 b="1">
                <a:latin typeface="Times New Roman"/>
                <a:cs typeface="Times New Roman"/>
              </a:rPr>
              <a:t>Now </a:t>
            </a:r>
            <a:r>
              <a:rPr dirty="0" sz="1200" b="1">
                <a:latin typeface="Times New Roman"/>
                <a:cs typeface="Times New Roman"/>
              </a:rPr>
              <a:t>refer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back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antonyms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16000" y="6872732"/>
            <a:ext cx="64389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ignored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6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seldom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little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6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small</a:t>
            </a:r>
            <a:endParaRPr sz="1200">
              <a:latin typeface="Times New Roman"/>
              <a:cs typeface="Times New Roman"/>
            </a:endParaRPr>
          </a:p>
          <a:p>
            <a:pPr marL="241300" indent="-228600">
              <a:lnSpc>
                <a:spcPts val="1410"/>
              </a:lnSpc>
              <a:buAutoNum type="arabicPeriod" startAt="6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weak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224912" y="6872732"/>
            <a:ext cx="168084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6510" marR="5080" indent="-444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(p.1)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……deal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with………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(p.2) ……often…………..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(p.2) ……gigantic……….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(p.3)…… bulky………….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(p.3)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……powerful……..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16000" y="8276335"/>
            <a:ext cx="5626735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First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appropriate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complete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check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differences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meaning</a:t>
            </a:r>
            <a:r>
              <a:rPr dirty="0" sz="1200" spc="-5" b="1">
                <a:latin typeface="Times New Roman"/>
                <a:cs typeface="Times New Roman"/>
              </a:rPr>
              <a:t> in </a:t>
            </a:r>
            <a:r>
              <a:rPr dirty="0" sz="1200" b="1">
                <a:latin typeface="Times New Roman"/>
                <a:cs typeface="Times New Roman"/>
              </a:rPr>
              <a:t>your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3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permission,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permit,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permissible,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permitted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50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56210" indent="-144145">
              <a:lnSpc>
                <a:spcPts val="1410"/>
              </a:lnSpc>
              <a:spcBef>
                <a:spcPts val="107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smoke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installation.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………..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time </a:t>
            </a:r>
            <a:r>
              <a:rPr dirty="0" sz="1200">
                <a:latin typeface="Times New Roman"/>
                <a:cs typeface="Times New Roman"/>
              </a:rPr>
              <a:t>more effectively.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renovations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department.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lphaLcPeriod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First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appropriate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complete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check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differences</a:t>
            </a:r>
            <a:r>
              <a:rPr dirty="0" sz="1200" b="1">
                <a:latin typeface="Times New Roman"/>
                <a:cs typeface="Times New Roman"/>
              </a:rPr>
              <a:t> of meaning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your dictionary.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165100" indent="-153035">
              <a:lnSpc>
                <a:spcPct val="100000"/>
              </a:lnSpc>
              <a:buAutoNum type="arabicPeriod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permission,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permit,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permissible,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permitted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lvl="2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usually not </a:t>
            </a:r>
            <a:r>
              <a:rPr dirty="0" sz="1200" spc="-5">
                <a:latin typeface="Times New Roman"/>
                <a:cs typeface="Times New Roman"/>
              </a:rPr>
              <a:t>.…permitted……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smoke</a:t>
            </a:r>
            <a:r>
              <a:rPr dirty="0" sz="1200">
                <a:latin typeface="Times New Roman"/>
                <a:cs typeface="Times New Roman"/>
              </a:rPr>
              <a:t> in 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installation.</a:t>
            </a:r>
            <a:endParaRPr sz="1200">
              <a:latin typeface="Times New Roman"/>
              <a:cs typeface="Times New Roman"/>
            </a:endParaRPr>
          </a:p>
          <a:p>
            <a:pPr lvl="2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……permit…….</a:t>
            </a:r>
            <a:r>
              <a:rPr dirty="0" sz="1200">
                <a:latin typeface="Times New Roman"/>
                <a:cs typeface="Times New Roman"/>
              </a:rPr>
              <a:t> people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their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effectively.</a:t>
            </a:r>
            <a:endParaRPr sz="1200">
              <a:latin typeface="Times New Roman"/>
              <a:cs typeface="Times New Roman"/>
            </a:endParaRPr>
          </a:p>
          <a:p>
            <a:pPr lvl="2" marL="12700" marR="273050">
              <a:lnSpc>
                <a:spcPts val="1380"/>
              </a:lnSpc>
              <a:spcBef>
                <a:spcPts val="70"/>
              </a:spcBef>
              <a:buAutoNum type="alphaLcPeriod"/>
              <a:tabLst>
                <a:tab pos="175895" algn="l"/>
              </a:tabLst>
            </a:pP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……permission…….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starting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renovations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computer department.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buAutoNum type="arabicPeriod" startAt="2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continuation,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continue,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continuing,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continuously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2"/>
            </a:pP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spcBef>
                <a:spcPts val="5"/>
              </a:spcBef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household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15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repetitive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operations………..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bored.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……….interest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discovering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continuation,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continuing,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continuously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8542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sales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……continue……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household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one.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repetitive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operations……continuously……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bored.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6319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…..continuing……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discovering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05"/>
              </a:lnSpc>
              <a:buAutoNum type="arabicPeriod" startAt="3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measurement,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measure,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measured,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measurable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 </a:t>
            </a:r>
            <a:r>
              <a:rPr dirty="0" sz="1200" spc="-5">
                <a:latin typeface="Times New Roman"/>
                <a:cs typeface="Times New Roman"/>
              </a:rPr>
              <a:t>computer is</a:t>
            </a:r>
            <a:r>
              <a:rPr dirty="0" sz="1200">
                <a:latin typeface="Times New Roman"/>
                <a:cs typeface="Times New Roman"/>
              </a:rPr>
              <a:t> essentially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</a:t>
            </a:r>
            <a:endParaRPr sz="1200">
              <a:latin typeface="Times New Roman"/>
              <a:cs typeface="Times New Roman"/>
            </a:endParaRPr>
          </a:p>
          <a:p>
            <a:pPr lvl="1" marL="12700" marR="27051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84785" algn="l"/>
              </a:tabLst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equipment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bulky,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installation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be…………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carefully.</a:t>
            </a: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buAutoNum type="alphaLcPeriod"/>
              <a:tabLst>
                <a:tab pos="1612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employees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a……..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success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>
                <a:latin typeface="Times New Roman"/>
                <a:cs typeface="Times New Roman"/>
              </a:rPr>
              <a:t> world.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measurement,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measured,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measurable</a:t>
            </a:r>
            <a:endParaRPr sz="1200">
              <a:latin typeface="Times New Roman"/>
              <a:cs typeface="Times New Roman"/>
            </a:endParaRPr>
          </a:p>
          <a:p>
            <a:pPr marL="300355" indent="-288290">
              <a:lnSpc>
                <a:spcPts val="1380"/>
              </a:lnSpc>
              <a:buAutoNum type="alphaLcPeriod"/>
              <a:tabLst>
                <a:tab pos="300355" algn="l"/>
                <a:tab pos="300990" algn="l"/>
                <a:tab pos="719455" algn="l"/>
                <a:tab pos="1308100" algn="l"/>
                <a:tab pos="2066289" algn="l"/>
                <a:tab pos="2350135" algn="l"/>
                <a:tab pos="3175000" algn="l"/>
                <a:tab pos="3636645" algn="l"/>
                <a:tab pos="3996054" algn="l"/>
                <a:tab pos="4744720" algn="l"/>
                <a:tab pos="5028565" algn="l"/>
              </a:tabLst>
            </a:pPr>
            <a:r>
              <a:rPr dirty="0" sz="1200">
                <a:latin typeface="Times New Roman"/>
                <a:cs typeface="Times New Roman"/>
              </a:rPr>
              <a:t>The	analog	computer	</a:t>
            </a:r>
            <a:r>
              <a:rPr dirty="0" sz="1200" spc="-5">
                <a:latin typeface="Times New Roman"/>
                <a:cs typeface="Times New Roman"/>
              </a:rPr>
              <a:t>is	essentially	</a:t>
            </a:r>
            <a:r>
              <a:rPr dirty="0" sz="1200">
                <a:latin typeface="Times New Roman"/>
                <a:cs typeface="Times New Roman"/>
              </a:rPr>
              <a:t>used	for	</a:t>
            </a:r>
            <a:r>
              <a:rPr dirty="0" sz="1200" spc="-5">
                <a:latin typeface="Times New Roman"/>
                <a:cs typeface="Times New Roman"/>
              </a:rPr>
              <a:t>problems	is	</a:t>
            </a:r>
            <a:r>
              <a:rPr dirty="0" sz="1200">
                <a:latin typeface="Times New Roman"/>
                <a:cs typeface="Times New Roman"/>
              </a:rPr>
              <a:t>involving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…measurement………</a:t>
            </a:r>
            <a:endParaRPr sz="1200">
              <a:latin typeface="Times New Roman"/>
              <a:cs typeface="Times New Roman"/>
            </a:endParaRPr>
          </a:p>
          <a:p>
            <a:pPr marL="12700" marR="519430">
              <a:lnSpc>
                <a:spcPts val="1380"/>
              </a:lnSpc>
              <a:spcBef>
                <a:spcPts val="65"/>
              </a:spcBef>
              <a:buAutoNum type="alphaL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Because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equipment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bulky,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installation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-5">
                <a:latin typeface="Times New Roman"/>
                <a:cs typeface="Times New Roman"/>
              </a:rPr>
              <a:t> be……measured……</a:t>
            </a:r>
            <a:r>
              <a:rPr dirty="0" sz="1200">
                <a:latin typeface="Times New Roman"/>
                <a:cs typeface="Times New Roman"/>
              </a:rPr>
              <a:t> out carefully.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lphaLcPeriod" startAt="2"/>
              <a:tabLst>
                <a:tab pos="165100" algn="l"/>
                <a:tab pos="45650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employees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	</a:t>
            </a:r>
            <a:r>
              <a:rPr dirty="0" sz="1200" spc="-5">
                <a:latin typeface="Times New Roman"/>
                <a:cs typeface="Times New Roman"/>
              </a:rPr>
              <a:t>….measure ……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</a:t>
            </a:r>
            <a:r>
              <a:rPr dirty="0" sz="1200">
                <a:latin typeface="Times New Roman"/>
                <a:cs typeface="Times New Roman"/>
              </a:rPr>
              <a:t> in the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>
                <a:latin typeface="Times New Roman"/>
                <a:cs typeface="Times New Roman"/>
              </a:rPr>
              <a:t> world.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association,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associate,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associated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64</a:t>
            </a:fld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718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56210" indent="-144145">
              <a:lnSpc>
                <a:spcPts val="1410"/>
              </a:lnSpc>
              <a:spcBef>
                <a:spcPts val="1070"/>
              </a:spcBef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accuracy.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  <a:buAutoNum type="alphaLcPeriod"/>
              <a:tabLst>
                <a:tab pos="22542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professionals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belong………….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buAutoNum type="alphaLcPeriod"/>
              <a:tabLst>
                <a:tab pos="191770" algn="l"/>
              </a:tabLst>
            </a:pP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cities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via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75"/>
              </a:lnSpc>
              <a:buFont typeface="Times New Roman"/>
              <a:buAutoNum type="alphaLcPeriod"/>
              <a:tabLst>
                <a:tab pos="15684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associated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associations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410"/>
              </a:lnSpc>
              <a:buFont typeface="Times New Roman"/>
              <a:buAutoNum type="alphaLcPeriod"/>
              <a:tabLst>
                <a:tab pos="156845" algn="l"/>
              </a:tabLst>
            </a:pPr>
            <a:r>
              <a:rPr dirty="0" sz="1200" spc="-10">
                <a:latin typeface="Times New Roman"/>
                <a:cs typeface="Times New Roman"/>
              </a:rPr>
              <a:t>associates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ts val="1405"/>
              </a:lnSpc>
              <a:spcBef>
                <a:spcPts val="5"/>
              </a:spcBef>
              <a:buAutoNum type="arabicPeriod" startAt="5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Efficiency,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efficient,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efficiently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>
                <a:latin typeface="Times New Roman"/>
                <a:cs typeface="Times New Roman"/>
              </a:rPr>
              <a:t>a hand calculator to do </a:t>
            </a:r>
            <a:r>
              <a:rPr dirty="0" sz="1200" spc="-5">
                <a:latin typeface="Times New Roman"/>
                <a:cs typeface="Times New Roman"/>
              </a:rPr>
              <a:t>simple mathematics is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…...………way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working.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problems </a:t>
            </a:r>
            <a:r>
              <a:rPr dirty="0" sz="1200">
                <a:latin typeface="Times New Roman"/>
                <a:cs typeface="Times New Roman"/>
              </a:rPr>
              <a:t>faster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……….. than </a:t>
            </a:r>
            <a:r>
              <a:rPr dirty="0" sz="1200" spc="-5">
                <a:latin typeface="Times New Roman"/>
                <a:cs typeface="Times New Roman"/>
              </a:rPr>
              <a:t>humans.</a:t>
            </a:r>
            <a:endParaRPr sz="1200">
              <a:latin typeface="Times New Roman"/>
              <a:cs typeface="Times New Roman"/>
            </a:endParaRPr>
          </a:p>
          <a:p>
            <a:pPr lvl="1" marL="118745" indent="-106680">
              <a:lnSpc>
                <a:spcPts val="1410"/>
              </a:lnSpc>
              <a:buAutoNum type="alphaLcPeriod"/>
              <a:tabLst>
                <a:tab pos="119380" algn="l"/>
              </a:tabLst>
            </a:pPr>
            <a:r>
              <a:rPr dirty="0" sz="1200">
                <a:latin typeface="Times New Roman"/>
                <a:cs typeface="Times New Roman"/>
              </a:rPr>
              <a:t>…………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service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industry.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efficient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efficiently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efficiency</a:t>
            </a:r>
            <a:endParaRPr sz="1200">
              <a:latin typeface="Times New Roman"/>
              <a:cs typeface="Times New Roman"/>
            </a:endParaRPr>
          </a:p>
          <a:p>
            <a:pPr marL="12700" marR="3738879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com…………….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7.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Content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appropriate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(Some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once.)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correct form,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66837" y="5785103"/>
          <a:ext cx="4238625" cy="809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00810"/>
                <a:gridCol w="1701800"/>
                <a:gridCol w="1125219"/>
              </a:tblGrid>
              <a:tr h="237377">
                <a:tc>
                  <a:txBody>
                    <a:bodyPr/>
                    <a:lstStyle/>
                    <a:p>
                      <a:pPr marL="190500">
                        <a:lnSpc>
                          <a:spcPts val="1385"/>
                        </a:lnSpc>
                        <a:spcBef>
                          <a:spcPts val="38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mainframe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826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385"/>
                        </a:lnSpc>
                        <a:spcBef>
                          <a:spcPts val="38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installation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826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1385"/>
                        </a:lnSpc>
                        <a:spcBef>
                          <a:spcPts val="3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digits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826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75259">
                <a:tc>
                  <a:txBody>
                    <a:bodyPr/>
                    <a:lstStyle/>
                    <a:p>
                      <a:pPr marL="1905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hybrid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code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145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programming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387462">
                <a:tc>
                  <a:txBody>
                    <a:bodyPr/>
                    <a:lstStyle/>
                    <a:p>
                      <a:pPr marL="19050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Digital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analog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64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6872732"/>
            <a:ext cx="5627370" cy="2136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combined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features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…….…… and ………..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r>
              <a:rPr dirty="0" sz="1200">
                <a:latin typeface="Times New Roman"/>
                <a:cs typeface="Times New Roman"/>
              </a:rPr>
              <a:t> 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used </a:t>
            </a:r>
            <a:r>
              <a:rPr dirty="0" sz="1200" spc="-5">
                <a:latin typeface="Times New Roman"/>
                <a:cs typeface="Times New Roman"/>
              </a:rPr>
              <a:t>mainly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scientific</a:t>
            </a:r>
            <a:r>
              <a:rPr dirty="0" sz="1200">
                <a:latin typeface="Times New Roman"/>
                <a:cs typeface="Times New Roman"/>
              </a:rPr>
              <a:t> research.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2.……………computers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word……………These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………….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for processing.</a:t>
            </a:r>
            <a:endParaRPr sz="1200">
              <a:latin typeface="Times New Roman"/>
              <a:cs typeface="Times New Roman"/>
            </a:endParaRPr>
          </a:p>
          <a:p>
            <a:pPr marL="127635" indent="-115570">
              <a:lnSpc>
                <a:spcPts val="1315"/>
              </a:lnSpc>
              <a:buSzPct val="91666"/>
              <a:buAutoNum type="arabicPeriod" startAt="3"/>
              <a:tabLst>
                <a:tab pos="128270" algn="l"/>
              </a:tabLst>
            </a:pPr>
            <a:r>
              <a:rPr dirty="0" sz="1200">
                <a:latin typeface="Times New Roman"/>
                <a:cs typeface="Times New Roman"/>
              </a:rPr>
              <a:t>………………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</a:t>
            </a:r>
            <a:endParaRPr sz="1200">
              <a:latin typeface="Times New Roman"/>
              <a:cs typeface="Times New Roman"/>
            </a:endParaRPr>
          </a:p>
          <a:p>
            <a:pPr marL="213360" indent="-201295">
              <a:lnSpc>
                <a:spcPts val="1380"/>
              </a:lnSpc>
              <a:buSzPct val="91666"/>
              <a:buAutoNum type="arabicPeriod" startAt="3"/>
              <a:tabLst>
                <a:tab pos="21399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commonly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…………..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community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……………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hybrid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digital,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code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047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Reading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Reading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important </a:t>
            </a:r>
            <a:r>
              <a:rPr dirty="0" sz="1200">
                <a:latin typeface="Times New Roman"/>
                <a:cs typeface="Times New Roman"/>
              </a:rPr>
              <a:t>skill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need for </a:t>
            </a:r>
            <a:r>
              <a:rPr dirty="0" sz="1200" spc="-5">
                <a:latin typeface="Times New Roman"/>
                <a:cs typeface="Times New Roman"/>
              </a:rPr>
              <a:t>success </a:t>
            </a:r>
            <a:r>
              <a:rPr dirty="0" sz="1200">
                <a:latin typeface="Times New Roman"/>
                <a:cs typeface="Times New Roman"/>
              </a:rPr>
              <a:t>in your </a:t>
            </a:r>
            <a:r>
              <a:rPr dirty="0" sz="1200" spc="-5">
                <a:latin typeface="Times New Roman"/>
                <a:cs typeface="Times New Roman"/>
              </a:rPr>
              <a:t>studies. </a:t>
            </a:r>
            <a:r>
              <a:rPr dirty="0" sz="1200">
                <a:latin typeface="Times New Roman"/>
                <a:cs typeface="Times New Roman"/>
              </a:rPr>
              <a:t>Poor reading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 a problem for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of you, but 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not a hopeless one.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been learning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in which you can improve your </a:t>
            </a:r>
            <a:r>
              <a:rPr dirty="0" sz="1200" spc="-5">
                <a:latin typeface="Times New Roman"/>
                <a:cs typeface="Times New Roman"/>
              </a:rPr>
              <a:t>reading comprehension. Remember,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will only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introduction. You must continue to read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practice on your own. You learn to read 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concern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improving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comprehension.</a:t>
            </a:r>
            <a:r>
              <a:rPr dirty="0" sz="1200">
                <a:latin typeface="Times New Roman"/>
                <a:cs typeface="Times New Roman"/>
              </a:rPr>
              <a:t> 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 speed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reading comprehension. You may </a:t>
            </a:r>
            <a:r>
              <a:rPr dirty="0" sz="1200">
                <a:latin typeface="Times New Roman"/>
                <a:cs typeface="Times New Roman"/>
              </a:rPr>
              <a:t>think that if you read rapidly,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 will </a:t>
            </a:r>
            <a:r>
              <a:rPr dirty="0" sz="1200">
                <a:latin typeface="Times New Roman"/>
                <a:cs typeface="Times New Roman"/>
              </a:rPr>
              <a:t>suffer.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false </a:t>
            </a:r>
            <a:r>
              <a:rPr dirty="0" sz="1200" spc="-5">
                <a:latin typeface="Times New Roman"/>
                <a:cs typeface="Times New Roman"/>
              </a:rPr>
              <a:t>assumption. As you </a:t>
            </a:r>
            <a:r>
              <a:rPr dirty="0" sz="1200">
                <a:latin typeface="Times New Roman"/>
                <a:cs typeface="Times New Roman"/>
              </a:rPr>
              <a:t>push yourself to read </a:t>
            </a:r>
            <a:r>
              <a:rPr dirty="0" sz="1200" spc="-5">
                <a:latin typeface="Times New Roman"/>
                <a:cs typeface="Times New Roman"/>
              </a:rPr>
              <a:t>slower 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find that you </a:t>
            </a:r>
            <a:r>
              <a:rPr dirty="0" sz="1200" spc="-5">
                <a:latin typeface="Times New Roman"/>
                <a:cs typeface="Times New Roman"/>
              </a:rPr>
              <a:t>comprehend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cause </a:t>
            </a:r>
            <a:r>
              <a:rPr dirty="0" sz="1200" spc="-5">
                <a:latin typeface="Times New Roman"/>
                <a:cs typeface="Times New Roman"/>
              </a:rPr>
              <a:t>of slow </a:t>
            </a:r>
            <a:r>
              <a:rPr dirty="0" sz="1200">
                <a:latin typeface="Times New Roman"/>
                <a:cs typeface="Times New Roman"/>
              </a:rPr>
              <a:t>reading </a:t>
            </a:r>
            <a:r>
              <a:rPr dirty="0" sz="1200" spc="-5">
                <a:latin typeface="Times New Roman"/>
                <a:cs typeface="Times New Roman"/>
              </a:rPr>
              <a:t>is VOCALIZATION </a:t>
            </a:r>
            <a:r>
              <a:rPr dirty="0" sz="1200">
                <a:latin typeface="Times New Roman"/>
                <a:cs typeface="Times New Roman"/>
              </a:rPr>
              <a:t>- the </a:t>
            </a:r>
            <a:r>
              <a:rPr dirty="0" sz="1200" spc="-5">
                <a:latin typeface="Times New Roman"/>
                <a:cs typeface="Times New Roman"/>
              </a:rPr>
              <a:t>forming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sounds </a:t>
            </a:r>
            <a:r>
              <a:rPr dirty="0" sz="1200">
                <a:latin typeface="Times New Roman"/>
                <a:cs typeface="Times New Roman"/>
              </a:rPr>
              <a:t>of each word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>
                <a:latin typeface="Times New Roman"/>
                <a:cs typeface="Times New Roman"/>
              </a:rPr>
              <a:t> them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aloud.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Vocalization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 students.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sure </a:t>
            </a:r>
            <a:r>
              <a:rPr dirty="0" sz="1200" spc="-5">
                <a:latin typeface="Times New Roman"/>
                <a:cs typeface="Times New Roman"/>
              </a:rPr>
              <a:t>sign </a:t>
            </a:r>
            <a:r>
              <a:rPr dirty="0" sz="1200">
                <a:latin typeface="Times New Roman"/>
                <a:cs typeface="Times New Roman"/>
              </a:rPr>
              <a:t>that the reader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poor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 to </a:t>
            </a:r>
            <a:r>
              <a:rPr dirty="0" sz="1200" spc="-5">
                <a:latin typeface="Times New Roman"/>
                <a:cs typeface="Times New Roman"/>
              </a:rPr>
              <a:t>read with your eyes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lips.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learn to</a:t>
            </a:r>
            <a:r>
              <a:rPr dirty="0" sz="1200" spc="-5">
                <a:latin typeface="Times New Roman"/>
                <a:cs typeface="Times New Roman"/>
              </a:rPr>
              <a:t> read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silently.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 you learn to recognize and understand the </a:t>
            </a:r>
            <a:r>
              <a:rPr dirty="0" sz="1200" spc="-5">
                <a:latin typeface="Times New Roman"/>
                <a:cs typeface="Times New Roman"/>
              </a:rPr>
              <a:t>principles </a:t>
            </a:r>
            <a:r>
              <a:rPr dirty="0" sz="1200">
                <a:latin typeface="Times New Roman"/>
                <a:cs typeface="Times New Roman"/>
              </a:rPr>
              <a:t>and methods of writing - rhetoric - 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help improve your reading. If you learn to understand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why</a:t>
            </a:r>
            <a:r>
              <a:rPr dirty="0" sz="1200">
                <a:latin typeface="Times New Roman"/>
                <a:cs typeface="Times New Roman"/>
              </a:rPr>
              <a:t> a piece of text or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what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overall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major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points,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how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 or writer </a:t>
            </a:r>
            <a:r>
              <a:rPr dirty="0" sz="1200" spc="-5">
                <a:latin typeface="Times New Roman"/>
                <a:cs typeface="Times New Roman"/>
              </a:rPr>
              <a:t>has made </a:t>
            </a:r>
            <a:r>
              <a:rPr dirty="0" sz="1200">
                <a:latin typeface="Times New Roman"/>
                <a:cs typeface="Times New Roman"/>
              </a:rPr>
              <a:t>those </a:t>
            </a:r>
            <a:r>
              <a:rPr dirty="0" sz="1200" spc="-5">
                <a:latin typeface="Times New Roman"/>
                <a:cs typeface="Times New Roman"/>
              </a:rPr>
              <a:t>major statements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minor sub </a:t>
            </a:r>
            <a:r>
              <a:rPr dirty="0" sz="1200">
                <a:latin typeface="Times New Roman"/>
                <a:cs typeface="Times New Roman"/>
              </a:rPr>
              <a:t>parts fit in, 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help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improve </a:t>
            </a:r>
            <a:r>
              <a:rPr dirty="0" sz="1200">
                <a:latin typeface="Times New Roman"/>
                <a:cs typeface="Times New Roman"/>
              </a:rPr>
              <a:t>your understanding of the reading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successful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Why?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How?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An important </a:t>
            </a:r>
            <a:r>
              <a:rPr dirty="0" sz="1200">
                <a:latin typeface="Times New Roman"/>
                <a:cs typeface="Times New Roman"/>
              </a:rPr>
              <a:t>part of reading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realizing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everything you read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an author or writer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manner.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successful </a:t>
            </a:r>
            <a:r>
              <a:rPr dirty="0" sz="1200">
                <a:latin typeface="Times New Roman"/>
                <a:cs typeface="Times New Roman"/>
              </a:rPr>
              <a:t>reader,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apply the </a:t>
            </a:r>
            <a:r>
              <a:rPr dirty="0" sz="1200" spc="-5">
                <a:latin typeface="Times New Roman"/>
                <a:cs typeface="Times New Roman"/>
              </a:rPr>
              <a:t>same technique </a:t>
            </a:r>
            <a:r>
              <a:rPr dirty="0" sz="1200">
                <a:latin typeface="Times New Roman"/>
                <a:cs typeface="Times New Roman"/>
              </a:rPr>
              <a:t>that the writer used - the questions, why?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What?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decode what he 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said.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answer </a:t>
            </a:r>
            <a:r>
              <a:rPr dirty="0" sz="1200">
                <a:latin typeface="Times New Roman"/>
                <a:cs typeface="Times New Roman"/>
              </a:rPr>
              <a:t>the first question - </a:t>
            </a:r>
            <a:r>
              <a:rPr dirty="0" sz="1200" spc="-5">
                <a:latin typeface="Times New Roman"/>
                <a:cs typeface="Times New Roman"/>
              </a:rPr>
              <a:t>Why?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remember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author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person who has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reason for </a:t>
            </a:r>
            <a:r>
              <a:rPr dirty="0" sz="1200">
                <a:latin typeface="Times New Roman"/>
                <a:cs typeface="Times New Roman"/>
              </a:rPr>
              <a:t> writing a given piece of text, and who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from a personal point of view.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skilled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 you must fully understand and evaluate what you read. The writer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 purpose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 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recognize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PURPOSE. </a:t>
            </a:r>
            <a:r>
              <a:rPr dirty="0" sz="1200" spc="-5">
                <a:latin typeface="Times New Roman"/>
                <a:cs typeface="Times New Roman"/>
              </a:rPr>
              <a:t>Aligned with purpose are two other things </a:t>
            </a:r>
            <a:r>
              <a:rPr dirty="0" sz="1200">
                <a:latin typeface="Times New Roman"/>
                <a:cs typeface="Times New Roman"/>
              </a:rPr>
              <a:t> which are 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ATTITUDE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TONE</a:t>
            </a:r>
            <a:r>
              <a:rPr dirty="0" sz="1200">
                <a:latin typeface="Times New Roman"/>
                <a:cs typeface="Times New Roman"/>
              </a:rPr>
              <a:t> -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expression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5">
                <a:latin typeface="Times New Roman"/>
                <a:cs typeface="Times New Roman"/>
              </a:rPr>
              <a:t> writer’s </a:t>
            </a:r>
            <a:r>
              <a:rPr dirty="0" sz="1200">
                <a:latin typeface="Times New Roman"/>
                <a:cs typeface="Times New Roman"/>
              </a:rPr>
              <a:t>feelings.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3 </a:t>
            </a:r>
            <a:r>
              <a:rPr dirty="0" sz="1200" spc="-5">
                <a:latin typeface="Times New Roman"/>
                <a:cs typeface="Times New Roman"/>
              </a:rPr>
              <a:t>common purposes of communication: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inform, </a:t>
            </a:r>
            <a:r>
              <a:rPr dirty="0" sz="1200">
                <a:latin typeface="Times New Roman"/>
                <a:cs typeface="Times New Roman"/>
              </a:rPr>
              <a:t>to persuade and to entertain.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 the purpose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inform, </a:t>
            </a:r>
            <a:r>
              <a:rPr dirty="0" sz="1200">
                <a:latin typeface="Times New Roman"/>
                <a:cs typeface="Times New Roman"/>
              </a:rPr>
              <a:t>the writer </a:t>
            </a:r>
            <a:r>
              <a:rPr dirty="0" sz="1200" spc="-5">
                <a:latin typeface="Times New Roman"/>
                <a:cs typeface="Times New Roman"/>
              </a:rPr>
              <a:t>gives information </a:t>
            </a:r>
            <a:r>
              <a:rPr dirty="0" sz="1200">
                <a:latin typeface="Times New Roman"/>
                <a:cs typeface="Times New Roman"/>
              </a:rPr>
              <a:t>on facts about the topic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about.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the purpose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persuade,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convince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53856" y="8975852"/>
            <a:ext cx="54597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agree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writer’s</a:t>
            </a:r>
            <a:r>
              <a:rPr dirty="0" sz="1200">
                <a:latin typeface="Times New Roman"/>
                <a:cs typeface="Times New Roman"/>
              </a:rPr>
              <a:t> point of view.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Here, also </a:t>
            </a:r>
            <a:r>
              <a:rPr dirty="0" sz="1200" spc="-5">
                <a:latin typeface="Times New Roman"/>
                <a:cs typeface="Times New Roman"/>
              </a:rPr>
              <a:t>writers 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64</a:t>
            </a:fld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872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goal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promote </a:t>
            </a:r>
            <a:r>
              <a:rPr dirty="0" sz="1200">
                <a:latin typeface="Times New Roman"/>
                <a:cs typeface="Times New Roman"/>
              </a:rPr>
              <a:t>an opinion.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third purpose which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entertain,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author </a:t>
            </a:r>
            <a:r>
              <a:rPr dirty="0" sz="1200">
                <a:latin typeface="Times New Roman"/>
                <a:cs typeface="Times New Roman"/>
              </a:rPr>
              <a:t> appeals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reader’s </a:t>
            </a:r>
            <a:r>
              <a:rPr dirty="0" sz="1200" spc="-5">
                <a:latin typeface="Times New Roman"/>
                <a:cs typeface="Times New Roman"/>
              </a:rPr>
              <a:t>senses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imagination</a:t>
            </a:r>
            <a:r>
              <a:rPr dirty="0" sz="1200">
                <a:latin typeface="Times New Roman"/>
                <a:cs typeface="Times New Roman"/>
              </a:rPr>
              <a:t> with the aim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amusing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delight.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Closely </a:t>
            </a:r>
            <a:r>
              <a:rPr dirty="0" sz="1200" spc="-5">
                <a:latin typeface="Times New Roman"/>
                <a:cs typeface="Times New Roman"/>
              </a:rPr>
              <a:t>related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question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purpose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>
                <a:latin typeface="Times New Roman"/>
                <a:cs typeface="Times New Roman"/>
              </a:rPr>
              <a:t>of ATTITUDE.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writer’s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attitude toward his purpose, and toward his subject, or toward you, the reader? </a:t>
            </a:r>
            <a:r>
              <a:rPr dirty="0" sz="1200">
                <a:latin typeface="Times New Roman"/>
                <a:cs typeface="Times New Roman"/>
              </a:rPr>
              <a:t>Even if he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arguing,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arguing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coolly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logically,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angrily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heatedly.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funny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situation or something frightening.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Similarly,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audience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friends,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enemies,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equals,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can talk down to them from a position of </a:t>
            </a:r>
            <a:r>
              <a:rPr dirty="0" sz="1200" spc="-5">
                <a:latin typeface="Times New Roman"/>
                <a:cs typeface="Times New Roman"/>
              </a:rPr>
              <a:t>authority. Attitude, then,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author’s </a:t>
            </a:r>
            <a:r>
              <a:rPr dirty="0" sz="1200">
                <a:latin typeface="Times New Roman"/>
                <a:cs typeface="Times New Roman"/>
              </a:rPr>
              <a:t> approach, position, the stance that he adopts </a:t>
            </a:r>
            <a:r>
              <a:rPr dirty="0" sz="1200" spc="-5">
                <a:latin typeface="Times New Roman"/>
                <a:cs typeface="Times New Roman"/>
              </a:rPr>
              <a:t>towards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is presenting,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audience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situation in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he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clue to the author’s attitude and </a:t>
            </a:r>
            <a:r>
              <a:rPr dirty="0" sz="1200" spc="-5">
                <a:latin typeface="Times New Roman"/>
                <a:cs typeface="Times New Roman"/>
              </a:rPr>
              <a:t>approach </a:t>
            </a:r>
            <a:r>
              <a:rPr dirty="0" sz="1200">
                <a:latin typeface="Times New Roman"/>
                <a:cs typeface="Times New Roman"/>
              </a:rPr>
              <a:t>to the subject </a:t>
            </a:r>
            <a:r>
              <a:rPr dirty="0" sz="1200" spc="-5">
                <a:latin typeface="Times New Roman"/>
                <a:cs typeface="Times New Roman"/>
              </a:rPr>
              <a:t>is his TONE.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voice in which he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speaking to you - the </a:t>
            </a:r>
            <a:r>
              <a:rPr dirty="0" sz="1200" spc="-5">
                <a:latin typeface="Times New Roman"/>
                <a:cs typeface="Times New Roman"/>
              </a:rPr>
              <a:t>language,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 and phrases he chooses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through the author’s tone that </a:t>
            </a:r>
            <a:r>
              <a:rPr dirty="0" sz="1200" spc="-5">
                <a:latin typeface="Times New Roman"/>
                <a:cs typeface="Times New Roman"/>
              </a:rPr>
              <a:t>we sense his wit, humor, sadness, </a:t>
            </a:r>
            <a:r>
              <a:rPr dirty="0" sz="1200">
                <a:latin typeface="Times New Roman"/>
                <a:cs typeface="Times New Roman"/>
              </a:rPr>
              <a:t>indignation,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friendliness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Just as </a:t>
            </a:r>
            <a:r>
              <a:rPr dirty="0" sz="1200">
                <a:latin typeface="Times New Roman"/>
                <a:cs typeface="Times New Roman"/>
              </a:rPr>
              <a:t>a speaker’s </a:t>
            </a:r>
            <a:r>
              <a:rPr dirty="0" sz="1200" spc="-5">
                <a:latin typeface="Times New Roman"/>
                <a:cs typeface="Times New Roman"/>
              </a:rPr>
              <a:t>voice </a:t>
            </a:r>
            <a:r>
              <a:rPr dirty="0" sz="1200">
                <a:latin typeface="Times New Roman"/>
                <a:cs typeface="Times New Roman"/>
              </a:rPr>
              <a:t>can project a range of feelings, a </a:t>
            </a:r>
            <a:r>
              <a:rPr dirty="0" sz="1200" spc="-5">
                <a:latin typeface="Times New Roman"/>
                <a:cs typeface="Times New Roman"/>
              </a:rPr>
              <a:t>writer’s words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phrases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project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tones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feelings.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Understanding</a:t>
            </a:r>
            <a:r>
              <a:rPr dirty="0" sz="1200">
                <a:latin typeface="Times New Roman"/>
                <a:cs typeface="Times New Roman"/>
              </a:rPr>
              <a:t> tone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understanding what the writer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written. </a:t>
            </a:r>
            <a:r>
              <a:rPr dirty="0" sz="1200" spc="-5">
                <a:latin typeface="Times New Roman"/>
                <a:cs typeface="Times New Roman"/>
              </a:rPr>
              <a:t>Sometimes, </a:t>
            </a:r>
            <a:r>
              <a:rPr dirty="0" sz="1200">
                <a:latin typeface="Times New Roman"/>
                <a:cs typeface="Times New Roman"/>
              </a:rPr>
              <a:t>tone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evident from the first line,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the first paragraph. </a:t>
            </a:r>
            <a:r>
              <a:rPr dirty="0" sz="1200" spc="-5">
                <a:latin typeface="Times New Roman"/>
                <a:cs typeface="Times New Roman"/>
              </a:rPr>
              <a:t>Sometimes, </a:t>
            </a:r>
            <a:r>
              <a:rPr dirty="0" sz="1200">
                <a:latin typeface="Times New Roman"/>
                <a:cs typeface="Times New Roman"/>
              </a:rPr>
              <a:t>the tone, purpose and attitude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not be </a:t>
            </a:r>
            <a:r>
              <a:rPr dirty="0" sz="1200" spc="-5">
                <a:latin typeface="Times New Roman"/>
                <a:cs typeface="Times New Roman"/>
              </a:rPr>
              <a:t>evident or </a:t>
            </a:r>
            <a:r>
              <a:rPr dirty="0" sz="1200">
                <a:latin typeface="Times New Roman"/>
                <a:cs typeface="Times New Roman"/>
              </a:rPr>
              <a:t> clear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until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entire piece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Authors </a:t>
            </a:r>
            <a:r>
              <a:rPr dirty="0" sz="1200">
                <a:latin typeface="Times New Roman"/>
                <a:cs typeface="Times New Roman"/>
              </a:rPr>
              <a:t>and their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complex. An </a:t>
            </a:r>
            <a:r>
              <a:rPr dirty="0" sz="1200">
                <a:latin typeface="Times New Roman"/>
                <a:cs typeface="Times New Roman"/>
              </a:rPr>
              <a:t>author </a:t>
            </a:r>
            <a:r>
              <a:rPr dirty="0" sz="1200" spc="-5">
                <a:latin typeface="Times New Roman"/>
                <a:cs typeface="Times New Roman"/>
              </a:rPr>
              <a:t>may use </a:t>
            </a:r>
            <a:r>
              <a:rPr dirty="0" sz="1200">
                <a:latin typeface="Times New Roman"/>
                <a:cs typeface="Times New Roman"/>
              </a:rPr>
              <a:t>different types of writing to put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forward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views.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narrate,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argue.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neatly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one of these </a:t>
            </a:r>
            <a:r>
              <a:rPr dirty="0" sz="1200" spc="-5">
                <a:latin typeface="Times New Roman"/>
                <a:cs typeface="Times New Roman"/>
              </a:rPr>
              <a:t>categories. He </a:t>
            </a:r>
            <a:r>
              <a:rPr dirty="0" sz="1200">
                <a:latin typeface="Times New Roman"/>
                <a:cs typeface="Times New Roman"/>
              </a:rPr>
              <a:t>may </a:t>
            </a:r>
            <a:r>
              <a:rPr dirty="0" sz="1200" spc="-5">
                <a:latin typeface="Times New Roman"/>
                <a:cs typeface="Times New Roman"/>
              </a:rPr>
              <a:t>combine </a:t>
            </a:r>
            <a:r>
              <a:rPr dirty="0" sz="1200">
                <a:latin typeface="Times New Roman"/>
                <a:cs typeface="Times New Roman"/>
              </a:rPr>
              <a:t>all these types in one piece of writing.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 and narration are </a:t>
            </a:r>
            <a:r>
              <a:rPr dirty="0" sz="1200" spc="-5">
                <a:latin typeface="Times New Roman"/>
                <a:cs typeface="Times New Roman"/>
              </a:rPr>
              <a:t>often </a:t>
            </a:r>
            <a:r>
              <a:rPr dirty="0" sz="1200">
                <a:latin typeface="Times New Roman"/>
                <a:cs typeface="Times New Roman"/>
              </a:rPr>
              <a:t>used to help developing a further purpose – either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Exposition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may use </a:t>
            </a:r>
            <a:r>
              <a:rPr dirty="0" sz="1200">
                <a:latin typeface="Times New Roman"/>
                <a:cs typeface="Times New Roman"/>
              </a:rPr>
              <a:t>exposition to develop an </a:t>
            </a:r>
            <a:r>
              <a:rPr dirty="0" sz="1200" spc="-5">
                <a:latin typeface="Times New Roman"/>
                <a:cs typeface="Times New Roman"/>
              </a:rPr>
              <a:t>argument. </a:t>
            </a:r>
            <a:r>
              <a:rPr dirty="0" sz="1200">
                <a:latin typeface="Times New Roman"/>
                <a:cs typeface="Times New Roman"/>
              </a:rPr>
              <a:t>Thus,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find </a:t>
            </a:r>
            <a:r>
              <a:rPr dirty="0" sz="1200" spc="-5">
                <a:latin typeface="Times New Roman"/>
                <a:cs typeface="Times New Roman"/>
              </a:rPr>
              <a:t>combinations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approach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humor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entertainment.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underlying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intention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technique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strategy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is employing, then </a:t>
            </a:r>
            <a:r>
              <a:rPr dirty="0" sz="1200">
                <a:latin typeface="Times New Roman"/>
                <a:cs typeface="Times New Roman"/>
              </a:rPr>
              <a:t>you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successful</a:t>
            </a:r>
            <a:r>
              <a:rPr dirty="0" sz="1200">
                <a:latin typeface="Times New Roman"/>
                <a:cs typeface="Times New Roman"/>
              </a:rPr>
              <a:t> reader.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not be evident in your first </a:t>
            </a:r>
            <a:r>
              <a:rPr dirty="0" sz="1200" spc="-5">
                <a:latin typeface="Times New Roman"/>
                <a:cs typeface="Times New Roman"/>
              </a:rPr>
              <a:t>reading. So,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have to re-read.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least, this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necessary </a:t>
            </a:r>
            <a:r>
              <a:rPr dirty="0" sz="1200">
                <a:latin typeface="Times New Roman"/>
                <a:cs typeface="Times New Roman"/>
              </a:rPr>
              <a:t>till you are a </a:t>
            </a:r>
            <a:r>
              <a:rPr dirty="0" sz="1200" spc="-5">
                <a:latin typeface="Times New Roman"/>
                <a:cs typeface="Times New Roman"/>
              </a:rPr>
              <a:t>practiced reader. You </a:t>
            </a:r>
            <a:r>
              <a:rPr dirty="0" sz="1200">
                <a:latin typeface="Times New Roman"/>
                <a:cs typeface="Times New Roman"/>
              </a:rPr>
              <a:t>cannot </a:t>
            </a:r>
            <a:r>
              <a:rPr dirty="0" sz="1200" spc="-5">
                <a:latin typeface="Times New Roman"/>
                <a:cs typeface="Times New Roman"/>
              </a:rPr>
              <a:t>always rely on </a:t>
            </a:r>
            <a:r>
              <a:rPr dirty="0" sz="1200">
                <a:latin typeface="Times New Roman"/>
                <a:cs typeface="Times New Roman"/>
              </a:rPr>
              <a:t> your first reading to bring you the </a:t>
            </a:r>
            <a:r>
              <a:rPr dirty="0" sz="1200" spc="-5">
                <a:latin typeface="Times New Roman"/>
                <a:cs typeface="Times New Roman"/>
              </a:rPr>
              <a:t>comprehension, </a:t>
            </a:r>
            <a:r>
              <a:rPr dirty="0" sz="1200">
                <a:latin typeface="Times New Roman"/>
                <a:cs typeface="Times New Roman"/>
              </a:rPr>
              <a:t>the analytical understanding. But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your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5">
                <a:latin typeface="Times New Roman"/>
                <a:cs typeface="Times New Roman"/>
              </a:rPr>
              <a:t> reading will supply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valuable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re-reading.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second technique that the writer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the WHAT </a:t>
            </a:r>
            <a:r>
              <a:rPr dirty="0" sz="1200">
                <a:latin typeface="Times New Roman"/>
                <a:cs typeface="Times New Roman"/>
              </a:rPr>
              <a:t>question.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the writer </a:t>
            </a:r>
            <a:r>
              <a:rPr dirty="0" sz="1200" spc="-5">
                <a:latin typeface="Times New Roman"/>
                <a:cs typeface="Times New Roman"/>
              </a:rPr>
              <a:t>says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overall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>
                <a:latin typeface="Times New Roman"/>
                <a:cs typeface="Times New Roman"/>
              </a:rPr>
              <a:t> and major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>
                <a:latin typeface="Times New Roman"/>
                <a:cs typeface="Times New Roman"/>
              </a:rPr>
              <a:t> points of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text </a:t>
            </a:r>
            <a:r>
              <a:rPr dirty="0" sz="1200" spc="-5">
                <a:latin typeface="Times New Roman"/>
                <a:cs typeface="Times New Roman"/>
              </a:rPr>
              <a:t>leads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to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author’s</a:t>
            </a:r>
            <a:r>
              <a:rPr dirty="0" sz="1200">
                <a:latin typeface="Times New Roman"/>
                <a:cs typeface="Times New Roman"/>
              </a:rPr>
              <a:t> basic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800592"/>
            <a:ext cx="56261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you,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reader,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saying.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limitations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67</a:t>
            </a:fld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398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himself,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boundaries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limitations.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 help readers understand their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points, </a:t>
            </a:r>
            <a:r>
              <a:rPr dirty="0" sz="1200" spc="-5">
                <a:latin typeface="Times New Roman"/>
                <a:cs typeface="Times New Roman"/>
              </a:rPr>
              <a:t>authors </a:t>
            </a:r>
            <a:r>
              <a:rPr dirty="0" sz="1200">
                <a:latin typeface="Times New Roman"/>
                <a:cs typeface="Times New Roman"/>
              </a:rPr>
              <a:t>try to present supporting details in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 organized way. </a:t>
            </a:r>
            <a:r>
              <a:rPr dirty="0" sz="1200" spc="-5">
                <a:latin typeface="Times New Roman"/>
                <a:cs typeface="Times New Roman"/>
              </a:rPr>
              <a:t>Details might</a:t>
            </a:r>
            <a:r>
              <a:rPr dirty="0" sz="1200">
                <a:latin typeface="Times New Roman"/>
                <a:cs typeface="Times New Roman"/>
              </a:rPr>
              <a:t> be arranged in any of several </a:t>
            </a:r>
            <a:r>
              <a:rPr dirty="0" sz="1200" spc="-5">
                <a:latin typeface="Times New Roman"/>
                <a:cs typeface="Times New Roman"/>
              </a:rPr>
              <a:t>common</a:t>
            </a:r>
            <a:r>
              <a:rPr dirty="0" sz="1200">
                <a:latin typeface="Times New Roman"/>
                <a:cs typeface="Times New Roman"/>
              </a:rPr>
              <a:t> patterns.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Sometimes, </a:t>
            </a:r>
            <a:r>
              <a:rPr dirty="0" sz="1200">
                <a:latin typeface="Times New Roman"/>
                <a:cs typeface="Times New Roman"/>
              </a:rPr>
              <a:t>authors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build a paragraph or longer </a:t>
            </a:r>
            <a:r>
              <a:rPr dirty="0" sz="1200" spc="-5">
                <a:latin typeface="Times New Roman"/>
                <a:cs typeface="Times New Roman"/>
              </a:rPr>
              <a:t>passage </a:t>
            </a:r>
            <a:r>
              <a:rPr dirty="0" sz="1200">
                <a:latin typeface="Times New Roman"/>
                <a:cs typeface="Times New Roman"/>
              </a:rPr>
              <a:t>exclusively on one pattern;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often the patterns are </a:t>
            </a:r>
            <a:r>
              <a:rPr dirty="0" sz="1200" spc="-5">
                <a:latin typeface="Times New Roman"/>
                <a:cs typeface="Times New Roman"/>
              </a:rPr>
              <a:t>mixed.</a:t>
            </a:r>
            <a:r>
              <a:rPr dirty="0" sz="1200">
                <a:latin typeface="Times New Roman"/>
                <a:cs typeface="Times New Roman"/>
              </a:rPr>
              <a:t> By </a:t>
            </a:r>
            <a:r>
              <a:rPr dirty="0" sz="1200" spc="-5">
                <a:latin typeface="Times New Roman"/>
                <a:cs typeface="Times New Roman"/>
              </a:rPr>
              <a:t>recognizing</a:t>
            </a:r>
            <a:r>
              <a:rPr dirty="0" sz="1200">
                <a:latin typeface="Times New Roman"/>
                <a:cs typeface="Times New Roman"/>
              </a:rPr>
              <a:t> the patterns, you, the reader,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 to understand and</a:t>
            </a:r>
            <a:r>
              <a:rPr dirty="0" sz="1200" spc="-5">
                <a:latin typeface="Times New Roman"/>
                <a:cs typeface="Times New Roman"/>
              </a:rPr>
              <a:t> remember</a:t>
            </a:r>
            <a:r>
              <a:rPr dirty="0" sz="1200">
                <a:latin typeface="Times New Roman"/>
                <a:cs typeface="Times New Roman"/>
              </a:rPr>
              <a:t> what you read.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commonly used patterns of organization or subdivisions are time order /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sequences.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items,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contrast,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subdivisions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pattern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writer’s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thought.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reader’s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recognition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subdivisions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answering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question HOW </a:t>
            </a:r>
            <a:r>
              <a:rPr dirty="0" sz="1200">
                <a:latin typeface="Times New Roman"/>
                <a:cs typeface="Times New Roman"/>
              </a:rPr>
              <a:t>- the third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technique used by the writer. Recognition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subdivisions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techniques</a:t>
            </a:r>
            <a:r>
              <a:rPr dirty="0" sz="1200">
                <a:latin typeface="Times New Roman"/>
                <a:cs typeface="Times New Roman"/>
              </a:rPr>
              <a:t> and devices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organization.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Paragraphs and particularly, </a:t>
            </a:r>
            <a:r>
              <a:rPr dirty="0" sz="1200" spc="-5">
                <a:latin typeface="Times New Roman"/>
                <a:cs typeface="Times New Roman"/>
              </a:rPr>
              <a:t>the topic sentences of paragraphs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clues.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 of the individual </a:t>
            </a:r>
            <a:r>
              <a:rPr dirty="0" sz="1200" spc="-5">
                <a:latin typeface="Times New Roman"/>
                <a:cs typeface="Times New Roman"/>
              </a:rPr>
              <a:t>paragraphs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core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in explaining the thesis: each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will </a:t>
            </a:r>
            <a:r>
              <a:rPr dirty="0" sz="1200" spc="-5">
                <a:latin typeface="Times New Roman"/>
                <a:cs typeface="Times New Roman"/>
              </a:rPr>
              <a:t>make some </a:t>
            </a:r>
            <a:r>
              <a:rPr dirty="0" sz="1200">
                <a:latin typeface="Times New Roman"/>
                <a:cs typeface="Times New Roman"/>
              </a:rPr>
              <a:t>kind of core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and then develop it with </a:t>
            </a:r>
            <a:r>
              <a:rPr dirty="0" sz="1200" spc="-5">
                <a:latin typeface="Times New Roman"/>
                <a:cs typeface="Times New Roman"/>
              </a:rPr>
              <a:t>some concrete </a:t>
            </a:r>
            <a:r>
              <a:rPr dirty="0" sz="1200">
                <a:latin typeface="Times New Roman"/>
                <a:cs typeface="Times New Roman"/>
              </a:rPr>
              <a:t> details.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short pieces of writing each paragraph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 separate </a:t>
            </a:r>
            <a:r>
              <a:rPr dirty="0" sz="1200" spc="-5">
                <a:latin typeface="Times New Roman"/>
                <a:cs typeface="Times New Roman"/>
              </a:rPr>
              <a:t>subdivision; </a:t>
            </a:r>
            <a:r>
              <a:rPr dirty="0" sz="1200">
                <a:latin typeface="Times New Roman"/>
                <a:cs typeface="Times New Roman"/>
              </a:rPr>
              <a:t>in longer pieces,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paragraphs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form a subdivision, each contributing to the total </a:t>
            </a:r>
            <a:r>
              <a:rPr dirty="0" sz="1200" spc="-5">
                <a:latin typeface="Times New Roman"/>
                <a:cs typeface="Times New Roman"/>
              </a:rPr>
              <a:t>understanding.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parts are </a:t>
            </a:r>
            <a:r>
              <a:rPr dirty="0" sz="1200" spc="-5">
                <a:latin typeface="Times New Roman"/>
                <a:cs typeface="Times New Roman"/>
              </a:rPr>
              <a:t>conveyed throughout </a:t>
            </a:r>
            <a:r>
              <a:rPr dirty="0" sz="1200">
                <a:latin typeface="Times New Roman"/>
                <a:cs typeface="Times New Roman"/>
              </a:rPr>
              <a:t>a text by </a:t>
            </a:r>
            <a:r>
              <a:rPr dirty="0" sz="1200" spc="-5">
                <a:latin typeface="Times New Roman"/>
                <a:cs typeface="Times New Roman"/>
              </a:rPr>
              <a:t>transitions. Recognition </a:t>
            </a:r>
            <a:r>
              <a:rPr dirty="0" sz="1200">
                <a:latin typeface="Times New Roman"/>
                <a:cs typeface="Times New Roman"/>
              </a:rPr>
              <a:t> of these </a:t>
            </a:r>
            <a:r>
              <a:rPr dirty="0" sz="1200" spc="-5">
                <a:latin typeface="Times New Roman"/>
                <a:cs typeface="Times New Roman"/>
              </a:rPr>
              <a:t>transitions </a:t>
            </a:r>
            <a:r>
              <a:rPr dirty="0" sz="1200">
                <a:latin typeface="Times New Roman"/>
                <a:cs typeface="Times New Roman"/>
              </a:rPr>
              <a:t>- the </a:t>
            </a:r>
            <a:r>
              <a:rPr dirty="0" sz="1200" spc="-5">
                <a:latin typeface="Times New Roman"/>
                <a:cs typeface="Times New Roman"/>
              </a:rPr>
              <a:t>movement </a:t>
            </a:r>
            <a:r>
              <a:rPr dirty="0" sz="1200">
                <a:latin typeface="Times New Roman"/>
                <a:cs typeface="Times New Roman"/>
              </a:rPr>
              <a:t>from or connection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>
                <a:latin typeface="Times New Roman"/>
                <a:cs typeface="Times New Roman"/>
              </a:rPr>
              <a:t>one part and the </a:t>
            </a:r>
            <a:r>
              <a:rPr dirty="0" sz="1200" spc="-5">
                <a:latin typeface="Times New Roman"/>
                <a:cs typeface="Times New Roman"/>
              </a:rPr>
              <a:t>next will </a:t>
            </a:r>
            <a:r>
              <a:rPr dirty="0" sz="1200">
                <a:latin typeface="Times New Roman"/>
                <a:cs typeface="Times New Roman"/>
              </a:rPr>
              <a:t> lead to a general </a:t>
            </a:r>
            <a:r>
              <a:rPr dirty="0" sz="1200" spc="-5">
                <a:latin typeface="Times New Roman"/>
                <a:cs typeface="Times New Roman"/>
              </a:rPr>
              <a:t>improvement </a:t>
            </a:r>
            <a:r>
              <a:rPr dirty="0" sz="1200">
                <a:latin typeface="Times New Roman"/>
                <a:cs typeface="Times New Roman"/>
              </a:rPr>
              <a:t>of your </a:t>
            </a:r>
            <a:r>
              <a:rPr dirty="0" sz="1200" spc="-5">
                <a:latin typeface="Times New Roman"/>
                <a:cs typeface="Times New Roman"/>
              </a:rPr>
              <a:t>reading. </a:t>
            </a:r>
            <a:r>
              <a:rPr dirty="0" sz="1200">
                <a:latin typeface="Times New Roman"/>
                <a:cs typeface="Times New Roman"/>
              </a:rPr>
              <a:t>In other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noticing important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phrases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parts.</a:t>
            </a:r>
            <a:r>
              <a:rPr dirty="0" sz="1200" spc="-5">
                <a:latin typeface="Times New Roman"/>
                <a:cs typeface="Times New Roman"/>
              </a:rPr>
              <a:t> 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 function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 content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is.</a:t>
            </a:r>
            <a:r>
              <a:rPr dirty="0" sz="1200">
                <a:latin typeface="Times New Roman"/>
                <a:cs typeface="Times New Roman"/>
              </a:rPr>
              <a:t> 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but…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prepositions,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conjunctions,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modifiers,</a:t>
            </a:r>
            <a:r>
              <a:rPr dirty="0" sz="1200">
                <a:latin typeface="Times New Roman"/>
                <a:cs typeface="Times New Roman"/>
              </a:rPr>
              <a:t> etc.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establish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 </a:t>
            </a:r>
            <a:r>
              <a:rPr dirty="0" sz="1200">
                <a:latin typeface="Times New Roman"/>
                <a:cs typeface="Times New Roman"/>
              </a:rPr>
              <a:t>between the parts. They are the </a:t>
            </a:r>
            <a:r>
              <a:rPr dirty="0" sz="1200" spc="-5">
                <a:latin typeface="Times New Roman"/>
                <a:cs typeface="Times New Roman"/>
              </a:rPr>
              <a:t>chief </a:t>
            </a:r>
            <a:r>
              <a:rPr dirty="0" sz="1200">
                <a:latin typeface="Times New Roman"/>
                <a:cs typeface="Times New Roman"/>
              </a:rPr>
              <a:t>clues to the organization of a piece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Content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those words that </a:t>
            </a:r>
            <a:r>
              <a:rPr dirty="0" sz="1200">
                <a:latin typeface="Times New Roman"/>
                <a:cs typeface="Times New Roman"/>
              </a:rPr>
              <a:t>are central to the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of the subject of any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 piece of writing. They are often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are most fully defined. But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the author </a:t>
            </a:r>
            <a:r>
              <a:rPr dirty="0" sz="1200" spc="-5">
                <a:latin typeface="Times New Roman"/>
                <a:cs typeface="Times New Roman"/>
              </a:rPr>
              <a:t>assumes </a:t>
            </a:r>
            <a:r>
              <a:rPr dirty="0" sz="1200">
                <a:latin typeface="Times New Roman"/>
                <a:cs typeface="Times New Roman"/>
              </a:rPr>
              <a:t>you know their </a:t>
            </a:r>
            <a:r>
              <a:rPr dirty="0" sz="1200" spc="-5">
                <a:latin typeface="Times New Roman"/>
                <a:cs typeface="Times New Roman"/>
              </a:rPr>
              <a:t>definitions. </a:t>
            </a:r>
            <a:r>
              <a:rPr dirty="0" sz="1200">
                <a:latin typeface="Times New Roman"/>
                <a:cs typeface="Times New Roman"/>
              </a:rPr>
              <a:t>In either case you, the reader,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to be sure you understand these key words.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>
                <a:latin typeface="Times New Roman"/>
                <a:cs typeface="Times New Roman"/>
              </a:rPr>
              <a:t>you need to notice how an author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modifies key content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at different </a:t>
            </a:r>
            <a:r>
              <a:rPr dirty="0" sz="1200" spc="-5">
                <a:latin typeface="Times New Roman"/>
                <a:cs typeface="Times New Roman"/>
              </a:rPr>
              <a:t>parts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text. He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antonyms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content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67</a:t>
            </a:fld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successful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recognize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clues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only happen </a:t>
            </a:r>
            <a:r>
              <a:rPr dirty="0" sz="1200" spc="-5">
                <a:latin typeface="Times New Roman"/>
                <a:cs typeface="Times New Roman"/>
              </a:rPr>
              <a:t>through practiced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Approach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Comprehension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have probably realized by now that </a:t>
            </a:r>
            <a:r>
              <a:rPr dirty="0" sz="1200" spc="-5">
                <a:latin typeface="Times New Roman"/>
                <a:cs typeface="Times New Roman"/>
              </a:rPr>
              <a:t>everything </a:t>
            </a:r>
            <a:r>
              <a:rPr dirty="0" sz="1200">
                <a:latin typeface="Times New Roman"/>
                <a:cs typeface="Times New Roman"/>
              </a:rPr>
              <a:t>you learn in this course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geared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towards </a:t>
            </a:r>
            <a:r>
              <a:rPr dirty="0" sz="1200">
                <a:latin typeface="Times New Roman"/>
                <a:cs typeface="Times New Roman"/>
              </a:rPr>
              <a:t>the end </a:t>
            </a:r>
            <a:r>
              <a:rPr dirty="0" sz="1200" spc="-5">
                <a:latin typeface="Times New Roman"/>
                <a:cs typeface="Times New Roman"/>
              </a:rPr>
              <a:t>of writing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understanding </a:t>
            </a:r>
            <a:r>
              <a:rPr dirty="0" sz="1200">
                <a:latin typeface="Times New Roman"/>
                <a:cs typeface="Times New Roman"/>
              </a:rPr>
              <a:t>English and nothing </a:t>
            </a:r>
            <a:r>
              <a:rPr dirty="0" sz="1200" spc="-5">
                <a:latin typeface="Times New Roman"/>
                <a:cs typeface="Times New Roman"/>
              </a:rPr>
              <a:t>is merely </a:t>
            </a:r>
            <a:r>
              <a:rPr dirty="0" sz="1200">
                <a:latin typeface="Times New Roman"/>
                <a:cs typeface="Times New Roman"/>
              </a:rPr>
              <a:t>an exercise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learnt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‘comprehension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exercises’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test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this understanding. </a:t>
            </a:r>
            <a:r>
              <a:rPr dirty="0" sz="1200" spc="-10">
                <a:latin typeface="Times New Roman"/>
                <a:cs typeface="Times New Roman"/>
              </a:rPr>
              <a:t>Up </a:t>
            </a:r>
            <a:r>
              <a:rPr dirty="0" sz="1200">
                <a:latin typeface="Times New Roman"/>
                <a:cs typeface="Times New Roman"/>
              </a:rPr>
              <a:t>till </a:t>
            </a:r>
            <a:r>
              <a:rPr dirty="0" sz="1200" spc="-5">
                <a:latin typeface="Times New Roman"/>
                <a:cs typeface="Times New Roman"/>
              </a:rPr>
              <a:t>now, you have been dealing with computer related </a:t>
            </a:r>
            <a:r>
              <a:rPr dirty="0" sz="1200" spc="-10">
                <a:latin typeface="Times New Roman"/>
                <a:cs typeface="Times New Roman"/>
              </a:rPr>
              <a:t>passages, </a:t>
            </a:r>
            <a:r>
              <a:rPr dirty="0" sz="1200" spc="-5">
                <a:latin typeface="Times New Roman"/>
                <a:cs typeface="Times New Roman"/>
              </a:rPr>
              <a:t> 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shift gear and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you 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kinds of reading </a:t>
            </a:r>
            <a:r>
              <a:rPr dirty="0" sz="1200" spc="-5">
                <a:latin typeface="Times New Roman"/>
                <a:cs typeface="Times New Roman"/>
              </a:rPr>
              <a:t>materials.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pieces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writing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varieties:</a:t>
            </a:r>
            <a:r>
              <a:rPr dirty="0" sz="1200" spc="-5">
                <a:latin typeface="Times New Roman"/>
                <a:cs typeface="Times New Roman"/>
              </a:rPr>
              <a:t> imaginative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practical.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‘imaginative’ passage will </a:t>
            </a:r>
            <a:r>
              <a:rPr dirty="0" sz="1200">
                <a:latin typeface="Times New Roman"/>
                <a:cs typeface="Times New Roman"/>
              </a:rPr>
              <a:t>be a piece of </a:t>
            </a:r>
            <a:r>
              <a:rPr dirty="0" sz="1200" spc="-5">
                <a:latin typeface="Times New Roman"/>
                <a:cs typeface="Times New Roman"/>
              </a:rPr>
              <a:t>creative writing, </a:t>
            </a:r>
            <a:r>
              <a:rPr dirty="0" sz="1200">
                <a:latin typeface="Times New Roman"/>
                <a:cs typeface="Times New Roman"/>
              </a:rPr>
              <a:t>an extract from a novel or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story dealing with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fictional situation; it </a:t>
            </a:r>
            <a:r>
              <a:rPr dirty="0" sz="1200" spc="-5">
                <a:latin typeface="Times New Roman"/>
                <a:cs typeface="Times New Roman"/>
              </a:rPr>
              <a:t>could </a:t>
            </a:r>
            <a:r>
              <a:rPr dirty="0" sz="1200">
                <a:latin typeface="Times New Roman"/>
                <a:cs typeface="Times New Roman"/>
              </a:rPr>
              <a:t>alternatively be a </a:t>
            </a:r>
            <a:r>
              <a:rPr dirty="0" sz="1200" spc="-5">
                <a:latin typeface="Times New Roman"/>
                <a:cs typeface="Times New Roman"/>
              </a:rPr>
              <a:t>poem.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  <a:buAutoNum type="alphaLcParenBoth"/>
              <a:tabLst>
                <a:tab pos="238760" algn="l"/>
              </a:tabLst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answering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questions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show </a:t>
            </a:r>
            <a:r>
              <a:rPr dirty="0" sz="1200">
                <a:latin typeface="Times New Roman"/>
                <a:cs typeface="Times New Roman"/>
              </a:rPr>
              <a:t>that you can understand what the writer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talking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about,</a:t>
            </a:r>
            <a:r>
              <a:rPr dirty="0" sz="1200">
                <a:latin typeface="Times New Roman"/>
                <a:cs typeface="Times New Roman"/>
              </a:rPr>
              <a:t> not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>
                <a:latin typeface="Times New Roman"/>
                <a:cs typeface="Times New Roman"/>
              </a:rPr>
              <a:t> 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surface,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subtleties</a:t>
            </a:r>
            <a:r>
              <a:rPr dirty="0" sz="1200" spc="-5">
                <a:latin typeface="Times New Roman"/>
                <a:cs typeface="Times New Roman"/>
              </a:rPr>
              <a:t> and implications.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lphaLcParenBoth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lphaLcParenBoth"/>
              <a:tabLst>
                <a:tab pos="232410" algn="l"/>
              </a:tabLst>
            </a:pPr>
            <a:r>
              <a:rPr dirty="0" sz="1200">
                <a:latin typeface="Times New Roman"/>
                <a:cs typeface="Times New Roman"/>
              </a:rPr>
              <a:t>You will also need to </a:t>
            </a:r>
            <a:r>
              <a:rPr dirty="0" sz="1200" spc="-5">
                <a:latin typeface="Times New Roman"/>
                <a:cs typeface="Times New Roman"/>
              </a:rPr>
              <a:t>say something </a:t>
            </a:r>
            <a:r>
              <a:rPr dirty="0" sz="1200">
                <a:latin typeface="Times New Roman"/>
                <a:cs typeface="Times New Roman"/>
              </a:rPr>
              <a:t>about how the writer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getting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points over,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effectiveness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otherwise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images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 effects.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other words, some </a:t>
            </a:r>
            <a:r>
              <a:rPr dirty="0" sz="1200">
                <a:latin typeface="Times New Roman"/>
                <a:cs typeface="Times New Roman"/>
              </a:rPr>
              <a:t>insight into </a:t>
            </a:r>
            <a:r>
              <a:rPr dirty="0" sz="1200" spc="-5">
                <a:latin typeface="Times New Roman"/>
                <a:cs typeface="Times New Roman"/>
              </a:rPr>
              <a:t>matters </a:t>
            </a:r>
            <a:r>
              <a:rPr dirty="0" sz="1200">
                <a:latin typeface="Times New Roman"/>
                <a:cs typeface="Times New Roman"/>
              </a:rPr>
              <a:t>of style and the appropriateness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style to content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demanded.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‘practical’ passage will </a:t>
            </a:r>
            <a:r>
              <a:rPr dirty="0" sz="1200">
                <a:latin typeface="Times New Roman"/>
                <a:cs typeface="Times New Roman"/>
              </a:rPr>
              <a:t>deal mainly with </a:t>
            </a:r>
            <a:r>
              <a:rPr dirty="0" sz="1200" spc="-5">
                <a:latin typeface="Times New Roman"/>
                <a:cs typeface="Times New Roman"/>
              </a:rPr>
              <a:t>facts.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 report, an account or someone </a:t>
            </a:r>
            <a:r>
              <a:rPr dirty="0" sz="1200" spc="-5">
                <a:latin typeface="Times New Roman"/>
                <a:cs typeface="Times New Roman"/>
              </a:rPr>
              <a:t>expressing his </a:t>
            </a:r>
            <a:r>
              <a:rPr dirty="0" sz="1200">
                <a:latin typeface="Times New Roman"/>
                <a:cs typeface="Times New Roman"/>
              </a:rPr>
              <a:t>opinions on a </a:t>
            </a:r>
            <a:r>
              <a:rPr dirty="0" sz="1200" spc="-5">
                <a:latin typeface="Times New Roman"/>
                <a:cs typeface="Times New Roman"/>
              </a:rPr>
              <a:t>particular matter,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statistics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interpret.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 </a:t>
            </a:r>
            <a:r>
              <a:rPr dirty="0" sz="1200">
                <a:latin typeface="Times New Roman"/>
                <a:cs typeface="Times New Roman"/>
              </a:rPr>
              <a:t>here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on making </a:t>
            </a:r>
            <a:r>
              <a:rPr dirty="0" sz="1200">
                <a:latin typeface="Times New Roman"/>
                <a:cs typeface="Times New Roman"/>
              </a:rPr>
              <a:t>sure that you can understand the line of </a:t>
            </a:r>
            <a:r>
              <a:rPr dirty="0" sz="1200" spc="-5">
                <a:latin typeface="Times New Roman"/>
                <a:cs typeface="Times New Roman"/>
              </a:rPr>
              <a:t>argument </a:t>
            </a:r>
            <a:r>
              <a:rPr dirty="0" sz="1200">
                <a:latin typeface="Times New Roman"/>
                <a:cs typeface="Times New Roman"/>
              </a:rPr>
              <a:t>or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 </a:t>
            </a:r>
            <a:r>
              <a:rPr dirty="0" sz="1200" spc="-5">
                <a:latin typeface="Times New Roman"/>
                <a:cs typeface="Times New Roman"/>
              </a:rPr>
              <a:t>step-by-step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facts. You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asked to summarize the points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passage about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particular aspect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>
                <a:latin typeface="Times New Roman"/>
                <a:cs typeface="Times New Roman"/>
              </a:rPr>
              <a:t>being </a:t>
            </a:r>
            <a:r>
              <a:rPr dirty="0" sz="1200" spc="-5">
                <a:latin typeface="Times New Roman"/>
                <a:cs typeface="Times New Roman"/>
              </a:rPr>
              <a:t>discussed. </a:t>
            </a:r>
            <a:r>
              <a:rPr dirty="0" sz="1200">
                <a:latin typeface="Times New Roman"/>
                <a:cs typeface="Times New Roman"/>
              </a:rPr>
              <a:t>Keep in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we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earlier</a:t>
            </a:r>
            <a:r>
              <a:rPr dirty="0" sz="1200" spc="-5">
                <a:latin typeface="Times New Roman"/>
                <a:cs typeface="Times New Roman"/>
              </a:rPr>
              <a:t> lessons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factual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Kinds</a:t>
            </a:r>
            <a:r>
              <a:rPr dirty="0" sz="1200" b="1">
                <a:latin typeface="Times New Roman"/>
                <a:cs typeface="Times New Roman"/>
              </a:rPr>
              <a:t> of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Questions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likely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/>
              <a:tabLst>
                <a:tab pos="173990" algn="l"/>
              </a:tabLst>
            </a:pPr>
            <a:r>
              <a:rPr dirty="0" sz="1200" b="1">
                <a:latin typeface="Times New Roman"/>
                <a:cs typeface="Times New Roman"/>
              </a:rPr>
              <a:t>Meaning.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passage, e.g. when you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the word </a:t>
            </a:r>
            <a:r>
              <a:rPr dirty="0" sz="1200" spc="-5">
                <a:latin typeface="Times New Roman"/>
                <a:cs typeface="Times New Roman"/>
              </a:rPr>
              <a:t>‘execute’,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 immediately </a:t>
            </a:r>
            <a:r>
              <a:rPr dirty="0" sz="1200">
                <a:latin typeface="Times New Roman"/>
                <a:cs typeface="Times New Roman"/>
              </a:rPr>
              <a:t>think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‘inflict capital </a:t>
            </a:r>
            <a:r>
              <a:rPr dirty="0" sz="1200" spc="-5">
                <a:latin typeface="Times New Roman"/>
                <a:cs typeface="Times New Roman"/>
              </a:rPr>
              <a:t>punishment </a:t>
            </a:r>
            <a:r>
              <a:rPr dirty="0" sz="1200">
                <a:latin typeface="Times New Roman"/>
                <a:cs typeface="Times New Roman"/>
              </a:rPr>
              <a:t>on’. But this </a:t>
            </a:r>
            <a:r>
              <a:rPr dirty="0" sz="1200" spc="-5">
                <a:latin typeface="Times New Roman"/>
                <a:cs typeface="Times New Roman"/>
              </a:rPr>
              <a:t>would not be an appropriate meaning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context </a:t>
            </a:r>
            <a:r>
              <a:rPr dirty="0" sz="1200" spc="-5">
                <a:latin typeface="Times New Roman"/>
                <a:cs typeface="Times New Roman"/>
              </a:rPr>
              <a:t>like this: </a:t>
            </a:r>
            <a:r>
              <a:rPr dirty="0" sz="1200">
                <a:latin typeface="Times New Roman"/>
                <a:cs typeface="Times New Roman"/>
              </a:rPr>
              <a:t>‘To </a:t>
            </a:r>
            <a:r>
              <a:rPr dirty="0" sz="1200" spc="-5">
                <a:latin typeface="Times New Roman"/>
                <a:cs typeface="Times New Roman"/>
              </a:rPr>
              <a:t>execute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plan for redevelopment </a:t>
            </a:r>
            <a:r>
              <a:rPr dirty="0" sz="1200">
                <a:latin typeface="Times New Roman"/>
                <a:cs typeface="Times New Roman"/>
              </a:rPr>
              <a:t>of the town </a:t>
            </a:r>
            <a:r>
              <a:rPr dirty="0" sz="1200" spc="-5">
                <a:latin typeface="Times New Roman"/>
                <a:cs typeface="Times New Roman"/>
              </a:rPr>
              <a:t>we will call for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all citizens.’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‘execute’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‘carry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effect’.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arabicPeriod"/>
              <a:tabLst>
                <a:tab pos="173355" algn="l"/>
              </a:tabLst>
            </a:pPr>
            <a:r>
              <a:rPr dirty="0" sz="1200" b="1">
                <a:latin typeface="Times New Roman"/>
                <a:cs typeface="Times New Roman"/>
              </a:rPr>
              <a:t>Facts.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actually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saying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sure that you understand it, e.g. if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piece of writing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about a character </a:t>
            </a:r>
            <a:r>
              <a:rPr dirty="0" sz="1200" spc="-5">
                <a:latin typeface="Times New Roman"/>
                <a:cs typeface="Times New Roman"/>
              </a:rPr>
              <a:t>digging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allotment,</a:t>
            </a:r>
            <a:r>
              <a:rPr dirty="0" sz="1200">
                <a:latin typeface="Times New Roman"/>
                <a:cs typeface="Times New Roman"/>
              </a:rPr>
              <a:t> you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 asked ‘what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doing?’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/>
              <a:tabLst>
                <a:tab pos="19748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Reading between the lines. </a:t>
            </a:r>
            <a:r>
              <a:rPr dirty="0" sz="1200" spc="-5">
                <a:latin typeface="Times New Roman"/>
                <a:cs typeface="Times New Roman"/>
              </a:rPr>
              <a:t>Writers do not always state </a:t>
            </a:r>
            <a:r>
              <a:rPr dirty="0" sz="1200">
                <a:latin typeface="Times New Roman"/>
                <a:cs typeface="Times New Roman"/>
              </a:rPr>
              <a:t>facts directly. They imply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emotions </a:t>
            </a:r>
            <a:r>
              <a:rPr dirty="0" sz="1200">
                <a:latin typeface="Times New Roman"/>
                <a:cs typeface="Times New Roman"/>
              </a:rPr>
              <a:t>and attitudes and </a:t>
            </a:r>
            <a:r>
              <a:rPr dirty="0" sz="1200" spc="-5">
                <a:latin typeface="Times New Roman"/>
                <a:cs typeface="Times New Roman"/>
              </a:rPr>
              <a:t>suggest </a:t>
            </a:r>
            <a:r>
              <a:rPr dirty="0" sz="1200">
                <a:latin typeface="Times New Roman"/>
                <a:cs typeface="Times New Roman"/>
              </a:rPr>
              <a:t>points of view, and they depend on the reader being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perspective enough to be able to form a total impression greater than the bare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page.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instance,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dislikes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67</a:t>
            </a:fld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6459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writing about, but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describe </a:t>
            </a:r>
            <a:r>
              <a:rPr dirty="0" sz="1200">
                <a:latin typeface="Times New Roman"/>
                <a:cs typeface="Times New Roman"/>
              </a:rPr>
              <a:t>that character and the situations 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presents him in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convey the author’s attitude </a:t>
            </a:r>
            <a:r>
              <a:rPr dirty="0" sz="1200" spc="-5">
                <a:latin typeface="Times New Roman"/>
                <a:cs typeface="Times New Roman"/>
              </a:rPr>
              <a:t>towards the </a:t>
            </a:r>
            <a:r>
              <a:rPr dirty="0" sz="1200">
                <a:latin typeface="Times New Roman"/>
                <a:cs typeface="Times New Roman"/>
              </a:rPr>
              <a:t>character, and that attitude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passed </a:t>
            </a:r>
            <a:r>
              <a:rPr dirty="0" sz="1200">
                <a:latin typeface="Times New Roman"/>
                <a:cs typeface="Times New Roman"/>
              </a:rPr>
              <a:t>on to the perceptive reader.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chosen </a:t>
            </a:r>
            <a:r>
              <a:rPr dirty="0" sz="1200" spc="-5">
                <a:latin typeface="Times New Roman"/>
                <a:cs typeface="Times New Roman"/>
              </a:rPr>
              <a:t>accidentally </a:t>
            </a:r>
            <a:r>
              <a:rPr dirty="0" sz="1200">
                <a:latin typeface="Times New Roman"/>
                <a:cs typeface="Times New Roman"/>
              </a:rPr>
              <a:t>but with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beyond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surface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implications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are. </a:t>
            </a:r>
            <a:r>
              <a:rPr dirty="0" sz="1200" spc="-5">
                <a:latin typeface="Times New Roman"/>
                <a:cs typeface="Times New Roman"/>
              </a:rPr>
              <a:t>For example: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buAutoNum type="alphaLcParenBoth"/>
              <a:tabLst>
                <a:tab pos="242570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soldiers could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called ‘terrorists’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‘freedom-fighters’, according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writer’s attitude towards them.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lphaLcParenBoth"/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lphaLcParenBoth"/>
              <a:tabLst>
                <a:tab pos="238760" algn="l"/>
              </a:tabLst>
            </a:pPr>
            <a:r>
              <a:rPr dirty="0" sz="1200">
                <a:latin typeface="Times New Roman"/>
                <a:cs typeface="Times New Roman"/>
              </a:rPr>
              <a:t>In describing </a:t>
            </a:r>
            <a:r>
              <a:rPr dirty="0" sz="1200" spc="-5">
                <a:latin typeface="Times New Roman"/>
                <a:cs typeface="Times New Roman"/>
              </a:rPr>
              <a:t>someone </a:t>
            </a:r>
            <a:r>
              <a:rPr dirty="0" sz="1200">
                <a:latin typeface="Times New Roman"/>
                <a:cs typeface="Times New Roman"/>
              </a:rPr>
              <a:t>eating, a writer </a:t>
            </a:r>
            <a:r>
              <a:rPr dirty="0" sz="1200" spc="-5">
                <a:latin typeface="Times New Roman"/>
                <a:cs typeface="Times New Roman"/>
              </a:rPr>
              <a:t>may 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 ‘wolfed down’, ‘slobbered’, </a:t>
            </a:r>
            <a:r>
              <a:rPr dirty="0" sz="1200">
                <a:latin typeface="Times New Roman"/>
                <a:cs typeface="Times New Roman"/>
              </a:rPr>
              <a:t> ‘guzzled’. If he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describing a baby eating, these </a:t>
            </a:r>
            <a:r>
              <a:rPr dirty="0" sz="1200" spc="-5">
                <a:latin typeface="Times New Roman"/>
                <a:cs typeface="Times New Roman"/>
              </a:rPr>
              <a:t>words 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merely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of fact,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if they are about an </a:t>
            </a:r>
            <a:r>
              <a:rPr dirty="0" sz="1200" spc="-5">
                <a:latin typeface="Times New Roman"/>
                <a:cs typeface="Times New Roman"/>
              </a:rPr>
              <a:t>adult,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well be a </a:t>
            </a:r>
            <a:r>
              <a:rPr dirty="0" sz="1200" spc="-5">
                <a:latin typeface="Times New Roman"/>
                <a:cs typeface="Times New Roman"/>
              </a:rPr>
              <a:t>suggestion of distaste towards the </a:t>
            </a:r>
            <a:r>
              <a:rPr dirty="0" sz="1200">
                <a:latin typeface="Times New Roman"/>
                <a:cs typeface="Times New Roman"/>
              </a:rPr>
              <a:t> character.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Metaphorical </a:t>
            </a:r>
            <a:r>
              <a:rPr dirty="0" sz="1200" spc="-5" b="1">
                <a:latin typeface="Times New Roman"/>
                <a:cs typeface="Times New Roman"/>
              </a:rPr>
              <a:t>language.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asked to explain what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exactly that a writer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when he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comparison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metaphorical </a:t>
            </a:r>
            <a:r>
              <a:rPr dirty="0" sz="1200">
                <a:latin typeface="Times New Roman"/>
                <a:cs typeface="Times New Roman"/>
              </a:rPr>
              <a:t>expression, e.g. in The Story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Dylan </a:t>
            </a:r>
            <a:r>
              <a:rPr dirty="0" sz="1200" spc="-5">
                <a:latin typeface="Times New Roman"/>
                <a:cs typeface="Times New Roman"/>
              </a:rPr>
              <a:t>Thomas, </a:t>
            </a:r>
            <a:r>
              <a:rPr dirty="0" sz="1200">
                <a:latin typeface="Times New Roman"/>
                <a:cs typeface="Times New Roman"/>
              </a:rPr>
              <a:t>the author </a:t>
            </a:r>
            <a:r>
              <a:rPr dirty="0" sz="1200" spc="-5">
                <a:latin typeface="Times New Roman"/>
                <a:cs typeface="Times New Roman"/>
              </a:rPr>
              <a:t>says </a:t>
            </a:r>
            <a:r>
              <a:rPr dirty="0" sz="1200">
                <a:latin typeface="Times New Roman"/>
                <a:cs typeface="Times New Roman"/>
              </a:rPr>
              <a:t>‘my uncle </a:t>
            </a:r>
            <a:r>
              <a:rPr dirty="0" sz="1200" spc="-5">
                <a:latin typeface="Times New Roman"/>
                <a:cs typeface="Times New Roman"/>
              </a:rPr>
              <a:t>blew </a:t>
            </a:r>
            <a:r>
              <a:rPr dirty="0" sz="1200">
                <a:latin typeface="Times New Roman"/>
                <a:cs typeface="Times New Roman"/>
              </a:rPr>
              <a:t>and bugled whenever he won’ (at cards).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‘blew’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literal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factual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expelling;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breath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mouth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 burst, but the word ‘bugled’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being used in a </a:t>
            </a:r>
            <a:r>
              <a:rPr dirty="0" sz="1200" spc="-5">
                <a:latin typeface="Times New Roman"/>
                <a:cs typeface="Times New Roman"/>
              </a:rPr>
              <a:t>metaphorical </a:t>
            </a:r>
            <a:r>
              <a:rPr dirty="0" sz="1200">
                <a:latin typeface="Times New Roman"/>
                <a:cs typeface="Times New Roman"/>
              </a:rPr>
              <a:t>way. </a:t>
            </a:r>
            <a:r>
              <a:rPr dirty="0" sz="1200" spc="-5">
                <a:latin typeface="Times New Roman"/>
                <a:cs typeface="Times New Roman"/>
              </a:rPr>
              <a:t>Thomas is making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noise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bugle.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trying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more </a:t>
            </a:r>
            <a:r>
              <a:rPr dirty="0" sz="1200">
                <a:latin typeface="Times New Roman"/>
                <a:cs typeface="Times New Roman"/>
              </a:rPr>
              <a:t>vivid, to our </a:t>
            </a:r>
            <a:r>
              <a:rPr dirty="0" sz="1200" spc="-5">
                <a:latin typeface="Times New Roman"/>
                <a:cs typeface="Times New Roman"/>
              </a:rPr>
              <a:t>imaginations,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kind </a:t>
            </a:r>
            <a:r>
              <a:rPr dirty="0" sz="1200">
                <a:latin typeface="Times New Roman"/>
                <a:cs typeface="Times New Roman"/>
              </a:rPr>
              <a:t>of noise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uncle </a:t>
            </a:r>
            <a:r>
              <a:rPr dirty="0" sz="1200" spc="-5">
                <a:latin typeface="Times New Roman"/>
                <a:cs typeface="Times New Roman"/>
              </a:rPr>
              <a:t>made. </a:t>
            </a:r>
            <a:r>
              <a:rPr dirty="0" sz="1200">
                <a:latin typeface="Times New Roman"/>
                <a:cs typeface="Times New Roman"/>
              </a:rPr>
              <a:t>The word ‘bugled’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</a:t>
            </a:r>
            <a:r>
              <a:rPr dirty="0" sz="1200">
                <a:latin typeface="Times New Roman"/>
                <a:cs typeface="Times New Roman"/>
              </a:rPr>
              <a:t> things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‘high-pitched’,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‘strident’,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‘sudden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loud’,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perhaps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‘triumphant’. </a:t>
            </a:r>
            <a:r>
              <a:rPr dirty="0" sz="1200">
                <a:latin typeface="Times New Roman"/>
                <a:cs typeface="Times New Roman"/>
              </a:rPr>
              <a:t>These are ideas which this </a:t>
            </a:r>
            <a:r>
              <a:rPr dirty="0" sz="1200" spc="-5">
                <a:latin typeface="Times New Roman"/>
                <a:cs typeface="Times New Roman"/>
              </a:rPr>
              <a:t>metaphorical use </a:t>
            </a:r>
            <a:r>
              <a:rPr dirty="0" sz="1200">
                <a:latin typeface="Times New Roman"/>
                <a:cs typeface="Times New Roman"/>
              </a:rPr>
              <a:t>of the word conveys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otherwise,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literal</a:t>
            </a:r>
            <a:r>
              <a:rPr dirty="0" sz="1200" spc="-5">
                <a:latin typeface="Times New Roman"/>
                <a:cs typeface="Times New Roman"/>
              </a:rPr>
              <a:t> word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5">
                <a:latin typeface="Times New Roman"/>
                <a:cs typeface="Times New Roman"/>
              </a:rPr>
              <a:t> 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4"/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arabicPeriod" startAt="4"/>
              <a:tabLst>
                <a:tab pos="200025" algn="l"/>
              </a:tabLst>
            </a:pPr>
            <a:r>
              <a:rPr dirty="0" sz="1200" b="1">
                <a:latin typeface="Times New Roman"/>
                <a:cs typeface="Times New Roman"/>
              </a:rPr>
              <a:t>Style. </a:t>
            </a:r>
            <a:r>
              <a:rPr dirty="0" sz="1200" spc="-5">
                <a:latin typeface="Times New Roman"/>
                <a:cs typeface="Times New Roman"/>
              </a:rPr>
              <a:t>Just as </a:t>
            </a:r>
            <a:r>
              <a:rPr dirty="0" sz="1200">
                <a:latin typeface="Times New Roman"/>
                <a:cs typeface="Times New Roman"/>
              </a:rPr>
              <a:t>people are individual and different,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they write varies.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addition, a particular writer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write in different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depending on what effects he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trying to achieve, e.g. he </a:t>
            </a:r>
            <a:r>
              <a:rPr dirty="0" sz="1200" spc="-5">
                <a:latin typeface="Times New Roman"/>
                <a:cs typeface="Times New Roman"/>
              </a:rPr>
              <a:t>may use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flowery </a:t>
            </a:r>
            <a:r>
              <a:rPr dirty="0" sz="1200">
                <a:latin typeface="Times New Roman"/>
                <a:cs typeface="Times New Roman"/>
              </a:rPr>
              <a:t>language if he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trying to create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atmosphere;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write very </a:t>
            </a:r>
            <a:r>
              <a:rPr dirty="0" sz="1200" spc="-5">
                <a:latin typeface="Times New Roman"/>
                <a:cs typeface="Times New Roman"/>
              </a:rPr>
              <a:t>simple </a:t>
            </a:r>
            <a:r>
              <a:rPr dirty="0" sz="1200">
                <a:latin typeface="Times New Roman"/>
                <a:cs typeface="Times New Roman"/>
              </a:rPr>
              <a:t>if he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concerned with getting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facts over;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tongue in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cheek.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asked to </a:t>
            </a:r>
            <a:r>
              <a:rPr dirty="0" sz="1200" spc="-5">
                <a:latin typeface="Times New Roman"/>
                <a:cs typeface="Times New Roman"/>
              </a:rPr>
              <a:t>comment </a:t>
            </a:r>
            <a:r>
              <a:rPr dirty="0" sz="1200">
                <a:latin typeface="Times New Roman"/>
                <a:cs typeface="Times New Roman"/>
              </a:rPr>
              <a:t>on the style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 </a:t>
            </a:r>
            <a:r>
              <a:rPr dirty="0" sz="1200">
                <a:latin typeface="Times New Roman"/>
                <a:cs typeface="Times New Roman"/>
              </a:rPr>
              <a:t>you are studying and you </a:t>
            </a:r>
            <a:r>
              <a:rPr dirty="0" sz="1200" spc="-5">
                <a:latin typeface="Times New Roman"/>
                <a:cs typeface="Times New Roman"/>
              </a:rPr>
              <a:t>may have </a:t>
            </a:r>
            <a:r>
              <a:rPr dirty="0" sz="1200">
                <a:latin typeface="Times New Roman"/>
                <a:cs typeface="Times New Roman"/>
              </a:rPr>
              <a:t>to justify the </a:t>
            </a:r>
            <a:r>
              <a:rPr dirty="0" sz="1200" spc="-5">
                <a:latin typeface="Times New Roman"/>
                <a:cs typeface="Times New Roman"/>
              </a:rPr>
              <a:t>appropriateness and effectiveness </a:t>
            </a:r>
            <a:r>
              <a:rPr dirty="0" sz="1200">
                <a:latin typeface="Times New Roman"/>
                <a:cs typeface="Times New Roman"/>
              </a:rPr>
              <a:t> or otherwise of the style to the content –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the writer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saying. The kinds of points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 have to be aware of are the variety of </a:t>
            </a:r>
            <a:r>
              <a:rPr dirty="0" sz="1200" spc="-5">
                <a:latin typeface="Times New Roman"/>
                <a:cs typeface="Times New Roman"/>
              </a:rPr>
              <a:t>sentences used,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kinds of words </a:t>
            </a:r>
            <a:r>
              <a:rPr dirty="0" sz="1200">
                <a:latin typeface="Times New Roman"/>
                <a:cs typeface="Times New Roman"/>
              </a:rPr>
              <a:t>chosen,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 literary devices he </a:t>
            </a:r>
            <a:r>
              <a:rPr dirty="0" sz="1200" spc="-5">
                <a:latin typeface="Times New Roman"/>
                <a:cs typeface="Times New Roman"/>
              </a:rPr>
              <a:t>uses, </a:t>
            </a:r>
            <a:r>
              <a:rPr dirty="0" sz="1200">
                <a:latin typeface="Times New Roman"/>
                <a:cs typeface="Times New Roman"/>
              </a:rPr>
              <a:t>etc.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are very </a:t>
            </a:r>
            <a:r>
              <a:rPr dirty="0" sz="1200" spc="-5">
                <a:latin typeface="Times New Roman"/>
                <a:cs typeface="Times New Roman"/>
              </a:rPr>
              <a:t>important aspects </a:t>
            </a:r>
            <a:r>
              <a:rPr dirty="0" sz="1200">
                <a:latin typeface="Times New Roman"/>
                <a:cs typeface="Times New Roman"/>
              </a:rPr>
              <a:t>of understanding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will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discussed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greater detail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573771"/>
            <a:ext cx="5627370" cy="16103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  <a:buAutoNum type="arabicPeriod" startAt="6"/>
              <a:tabLst>
                <a:tab pos="200660" algn="l"/>
              </a:tabLst>
            </a:pPr>
            <a:r>
              <a:rPr dirty="0" sz="1200" b="1">
                <a:latin typeface="Times New Roman"/>
                <a:cs typeface="Times New Roman"/>
              </a:rPr>
              <a:t>Summary.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 asked to pick out certain facts in a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>
                <a:latin typeface="Times New Roman"/>
                <a:cs typeface="Times New Roman"/>
              </a:rPr>
              <a:t> relevant to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 point, e.g.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asked ‘what do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learn about </a:t>
            </a:r>
            <a:r>
              <a:rPr dirty="0" sz="1200" spc="-5">
                <a:latin typeface="Times New Roman"/>
                <a:cs typeface="Times New Roman"/>
              </a:rPr>
              <a:t>X’s </a:t>
            </a:r>
            <a:r>
              <a:rPr dirty="0" sz="1200">
                <a:latin typeface="Times New Roman"/>
                <a:cs typeface="Times New Roman"/>
              </a:rPr>
              <a:t>physical appearance?’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have to search through the piece of writing to find all the details that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writer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about this.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6"/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 startAt="6"/>
              <a:tabLst>
                <a:tab pos="17208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Opinions.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asked to </a:t>
            </a:r>
            <a:r>
              <a:rPr dirty="0" sz="1200" spc="-5">
                <a:latin typeface="Times New Roman"/>
                <a:cs typeface="Times New Roman"/>
              </a:rPr>
              <a:t>comment </a:t>
            </a:r>
            <a:r>
              <a:rPr dirty="0" sz="1200">
                <a:latin typeface="Times New Roman"/>
                <a:cs typeface="Times New Roman"/>
              </a:rPr>
              <a:t>on the </a:t>
            </a:r>
            <a:r>
              <a:rPr dirty="0" sz="1200" spc="-5">
                <a:latin typeface="Times New Roman"/>
                <a:cs typeface="Times New Roman"/>
              </a:rPr>
              <a:t>views </a:t>
            </a:r>
            <a:r>
              <a:rPr dirty="0" sz="1200">
                <a:latin typeface="Times New Roman"/>
                <a:cs typeface="Times New Roman"/>
              </a:rPr>
              <a:t>expressed in the passage, to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 </a:t>
            </a:r>
            <a:r>
              <a:rPr dirty="0" sz="1200">
                <a:latin typeface="Times New Roman"/>
                <a:cs typeface="Times New Roman"/>
              </a:rPr>
              <a:t>you think they are convincing, or to give your own </a:t>
            </a:r>
            <a:r>
              <a:rPr dirty="0" sz="1200" spc="-5">
                <a:latin typeface="Times New Roman"/>
                <a:cs typeface="Times New Roman"/>
              </a:rPr>
              <a:t>views </a:t>
            </a:r>
            <a:r>
              <a:rPr dirty="0" sz="1200">
                <a:latin typeface="Times New Roman"/>
                <a:cs typeface="Times New Roman"/>
              </a:rPr>
              <a:t>on the topic, e.g. if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 is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homeopathy,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asked, ‘Do </a:t>
            </a:r>
            <a:r>
              <a:rPr dirty="0" sz="1200">
                <a:latin typeface="Times New Roman"/>
                <a:cs typeface="Times New Roman"/>
              </a:rPr>
              <a:t>you think </a:t>
            </a:r>
            <a:r>
              <a:rPr dirty="0" sz="1200" spc="-5">
                <a:latin typeface="Times New Roman"/>
                <a:cs typeface="Times New Roman"/>
              </a:rPr>
              <a:t>Homeopathy is </a:t>
            </a:r>
            <a:r>
              <a:rPr dirty="0" sz="1200">
                <a:latin typeface="Times New Roman"/>
                <a:cs typeface="Times New Roman"/>
              </a:rPr>
              <a:t>harmful?’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experience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6464300" y="9261432"/>
            <a:ext cx="1778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70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passage,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treating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personal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passage 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 about working conditions, and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asked, ‘Comment on the </a:t>
            </a:r>
            <a:r>
              <a:rPr dirty="0" sz="1200" spc="-5">
                <a:latin typeface="Times New Roman"/>
                <a:cs typeface="Times New Roman"/>
              </a:rPr>
              <a:t>conditions </a:t>
            </a:r>
            <a:r>
              <a:rPr dirty="0" sz="1200">
                <a:latin typeface="Times New Roman"/>
                <a:cs typeface="Times New Roman"/>
              </a:rPr>
              <a:t> under which you work, indicating the area in which you think </a:t>
            </a:r>
            <a:r>
              <a:rPr dirty="0" sz="1200" spc="-5">
                <a:latin typeface="Times New Roman"/>
                <a:cs typeface="Times New Roman"/>
              </a:rPr>
              <a:t>improvements </a:t>
            </a:r>
            <a:r>
              <a:rPr dirty="0" sz="1200">
                <a:latin typeface="Times New Roman"/>
                <a:cs typeface="Times New Roman"/>
              </a:rPr>
              <a:t>could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made.’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acquainted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 </a:t>
            </a:r>
            <a:r>
              <a:rPr dirty="0" sz="1200" spc="-5">
                <a:latin typeface="Times New Roman"/>
                <a:cs typeface="Times New Roman"/>
              </a:rPr>
              <a:t>them,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be</a:t>
            </a:r>
            <a:r>
              <a:rPr dirty="0" sz="1200" spc="-5">
                <a:latin typeface="Times New Roman"/>
                <a:cs typeface="Times New Roman"/>
              </a:rPr>
              <a:t> well prepared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Listing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linked by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of a connective word or </a:t>
            </a:r>
            <a:r>
              <a:rPr dirty="0" sz="1200" spc="-5">
                <a:latin typeface="Times New Roman"/>
                <a:cs typeface="Times New Roman"/>
              </a:rPr>
              <a:t>marker. </a:t>
            </a:r>
            <a:r>
              <a:rPr dirty="0" sz="1200">
                <a:latin typeface="Times New Roman"/>
                <a:cs typeface="Times New Roman"/>
              </a:rPr>
              <a:t>Making a list, </a:t>
            </a:r>
            <a:r>
              <a:rPr dirty="0" sz="1200" spc="-5">
                <a:latin typeface="Times New Roman"/>
                <a:cs typeface="Times New Roman"/>
              </a:rPr>
              <a:t>enumerating, </a:t>
            </a:r>
            <a:r>
              <a:rPr dirty="0" sz="1200">
                <a:latin typeface="Times New Roman"/>
                <a:cs typeface="Times New Roman"/>
              </a:rPr>
              <a:t>and giving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instructions, indicates a cataloguing of what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being said. It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to note that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enumerations </a:t>
            </a:r>
            <a:r>
              <a:rPr dirty="0" sz="1200">
                <a:latin typeface="Times New Roman"/>
                <a:cs typeface="Times New Roman"/>
              </a:rPr>
              <a:t>belong to clearly defined </a:t>
            </a:r>
            <a:r>
              <a:rPr dirty="0" sz="1200" spc="-5">
                <a:latin typeface="Times New Roman"/>
                <a:cs typeface="Times New Roman"/>
              </a:rPr>
              <a:t>sets.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table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list of the </a:t>
            </a:r>
            <a:r>
              <a:rPr dirty="0" sz="1200" spc="-5">
                <a:latin typeface="Times New Roman"/>
                <a:cs typeface="Times New Roman"/>
              </a:rPr>
              <a:t>markers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show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which things are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said.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LISTING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MARKERS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 marL="12700" marR="407098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One,</a:t>
            </a:r>
            <a:r>
              <a:rPr dirty="0" sz="1200">
                <a:latin typeface="Times New Roman"/>
                <a:cs typeface="Times New Roman"/>
              </a:rPr>
              <a:t> two,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three,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First(ly), second(ly), </a:t>
            </a:r>
            <a:r>
              <a:rPr dirty="0" sz="1200">
                <a:latin typeface="Times New Roman"/>
                <a:cs typeface="Times New Roman"/>
              </a:rPr>
              <a:t>third(ly)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first/second/third </a:t>
            </a:r>
            <a:r>
              <a:rPr dirty="0" sz="1200">
                <a:latin typeface="Times New Roman"/>
                <a:cs typeface="Times New Roman"/>
              </a:rPr>
              <a:t>place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marL="12700" marR="373126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Furthermore, </a:t>
            </a:r>
            <a:r>
              <a:rPr dirty="0" sz="1200">
                <a:latin typeface="Times New Roman"/>
                <a:cs typeface="Times New Roman"/>
              </a:rPr>
              <a:t>afterwards, </a:t>
            </a:r>
            <a:r>
              <a:rPr dirty="0" sz="1200" spc="-5">
                <a:latin typeface="Times New Roman"/>
                <a:cs typeface="Times New Roman"/>
              </a:rPr>
              <a:t>moreover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Lastly/finally</a:t>
            </a:r>
            <a:endParaRPr sz="1200">
              <a:latin typeface="Times New Roman"/>
              <a:cs typeface="Times New Roman"/>
            </a:endParaRPr>
          </a:p>
          <a:p>
            <a:pPr marL="12700" marR="3529329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 begin/start with, and to conclude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foremost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endParaRPr sz="1200">
              <a:latin typeface="Times New Roman"/>
              <a:cs typeface="Times New Roman"/>
            </a:endParaRPr>
          </a:p>
          <a:p>
            <a:pPr marL="12700" marR="279527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important(ly) </a:t>
            </a:r>
            <a:r>
              <a:rPr dirty="0" sz="1200">
                <a:latin typeface="Times New Roman"/>
                <a:cs typeface="Times New Roman"/>
              </a:rPr>
              <a:t>of a descending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ascending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42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There are many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showing sequential </a:t>
            </a:r>
            <a:r>
              <a:rPr dirty="0" sz="1200" spc="-5">
                <a:latin typeface="Times New Roman"/>
                <a:cs typeface="Times New Roman"/>
              </a:rPr>
              <a:t>relationships. Those </a:t>
            </a:r>
            <a:r>
              <a:rPr dirty="0" sz="1200">
                <a:latin typeface="Times New Roman"/>
                <a:cs typeface="Times New Roman"/>
              </a:rPr>
              <a:t>given in the table above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not the only ones, they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common </a:t>
            </a:r>
            <a:r>
              <a:rPr dirty="0" sz="1200">
                <a:latin typeface="Times New Roman"/>
                <a:cs typeface="Times New Roman"/>
              </a:rPr>
              <a:t>ones used in listing or </a:t>
            </a:r>
            <a:r>
              <a:rPr dirty="0" sz="1200" spc="-5">
                <a:latin typeface="Times New Roman"/>
                <a:cs typeface="Times New Roman"/>
              </a:rPr>
              <a:t>enumerating. </a:t>
            </a:r>
            <a:r>
              <a:rPr dirty="0" sz="1200">
                <a:latin typeface="Times New Roman"/>
                <a:cs typeface="Times New Roman"/>
              </a:rPr>
              <a:t>The –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ly</a:t>
            </a:r>
            <a:r>
              <a:rPr dirty="0" sz="1200" spc="-5">
                <a:latin typeface="Times New Roman"/>
                <a:cs typeface="Times New Roman"/>
              </a:rPr>
              <a:t> forms</a:t>
            </a:r>
            <a:r>
              <a:rPr dirty="0" sz="1200">
                <a:latin typeface="Times New Roman"/>
                <a:cs typeface="Times New Roman"/>
              </a:rPr>
              <a:t> are usually used 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departments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sophisticated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devices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help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increasing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crime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rate.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are: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Firstly,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terminal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police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vehicle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officer’s </a:t>
            </a:r>
            <a:r>
              <a:rPr dirty="0" sz="1200" spc="-5">
                <a:latin typeface="Times New Roman"/>
                <a:cs typeface="Times New Roman"/>
              </a:rPr>
              <a:t>questions;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secondly,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computer-controlled</a:t>
            </a:r>
            <a:r>
              <a:rPr dirty="0" sz="1200">
                <a:latin typeface="Times New Roman"/>
                <a:cs typeface="Times New Roman"/>
              </a:rPr>
              <a:t> display</a:t>
            </a:r>
            <a:r>
              <a:rPr dirty="0" sz="1200" spc="-5">
                <a:latin typeface="Times New Roman"/>
                <a:cs typeface="Times New Roman"/>
              </a:rPr>
              <a:t> unit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 displaying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fingerprints;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thirdly,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educational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officers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terminals,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enabling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verify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laws,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regulations.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law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enforcement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foremost,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data on stolen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such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cars, license plates and property.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Second, 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fugitives.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political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extremist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activities.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goes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saying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certainly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revolutionized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police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providing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71</a:t>
            </a:fld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470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delay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apprehending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suspicious-looking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paragraph is </a:t>
            </a:r>
            <a:r>
              <a:rPr dirty="0" sz="1200">
                <a:latin typeface="Times New Roman"/>
                <a:cs typeface="Times New Roman"/>
              </a:rPr>
              <a:t>an excerpt from a </a:t>
            </a:r>
            <a:r>
              <a:rPr dirty="0" sz="1200" spc="-5">
                <a:latin typeface="Times New Roman"/>
                <a:cs typeface="Times New Roman"/>
              </a:rPr>
              <a:t>passage </a:t>
            </a:r>
            <a:r>
              <a:rPr dirty="0" sz="1200">
                <a:latin typeface="Times New Roman"/>
                <a:cs typeface="Times New Roman"/>
              </a:rPr>
              <a:t>you have read earlier. </a:t>
            </a:r>
            <a:r>
              <a:rPr dirty="0" sz="1200" spc="-5">
                <a:latin typeface="Times New Roman"/>
                <a:cs typeface="Times New Roman"/>
              </a:rPr>
              <a:t>‘What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Computer?</a:t>
            </a:r>
            <a:r>
              <a:rPr dirty="0" sz="1200">
                <a:latin typeface="Times New Roman"/>
                <a:cs typeface="Times New Roman"/>
              </a:rPr>
              <a:t> While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remarkable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powers.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However,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>
                <a:latin typeface="Times New Roman"/>
                <a:cs typeface="Times New Roman"/>
              </a:rPr>
              <a:t>have three basic capabilities. </a:t>
            </a:r>
            <a:r>
              <a:rPr dirty="0" sz="1200" spc="-5">
                <a:latin typeface="Times New Roman"/>
                <a:cs typeface="Times New Roman"/>
              </a:rPr>
              <a:t>First, computers </a:t>
            </a:r>
            <a:r>
              <a:rPr dirty="0" sz="1200">
                <a:latin typeface="Times New Roman"/>
                <a:cs typeface="Times New Roman"/>
              </a:rPr>
              <a:t>have circuits for </a:t>
            </a:r>
            <a:r>
              <a:rPr dirty="0" sz="1200" spc="-5">
                <a:latin typeface="Times New Roman"/>
                <a:cs typeface="Times New Roman"/>
              </a:rPr>
              <a:t>performing arithmetic </a:t>
            </a:r>
            <a:r>
              <a:rPr dirty="0" sz="1200">
                <a:latin typeface="Times New Roman"/>
                <a:cs typeface="Times New Roman"/>
              </a:rPr>
              <a:t> operations,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addition,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subtraction,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division,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multiplication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exponentiation.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Second, computers have a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of communicating with the user. After all, if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couldn’t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of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use. Third,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circuits </a:t>
            </a:r>
            <a:r>
              <a:rPr dirty="0" sz="1200">
                <a:latin typeface="Times New Roman"/>
                <a:cs typeface="Times New Roman"/>
              </a:rPr>
              <a:t>which can </a:t>
            </a:r>
            <a:r>
              <a:rPr dirty="0" sz="1200" spc="-5">
                <a:latin typeface="Times New Roman"/>
                <a:cs typeface="Times New Roman"/>
              </a:rPr>
              <a:t>make decisions. </a:t>
            </a:r>
            <a:r>
              <a:rPr dirty="0" sz="1200">
                <a:latin typeface="Times New Roman"/>
                <a:cs typeface="Times New Roman"/>
              </a:rPr>
              <a:t>The computer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only decide </a:t>
            </a:r>
            <a:r>
              <a:rPr dirty="0" sz="1200">
                <a:latin typeface="Times New Roman"/>
                <a:cs typeface="Times New Roman"/>
              </a:rPr>
              <a:t>three things:</a:t>
            </a:r>
            <a:endParaRPr sz="1200">
              <a:latin typeface="Times New Roman"/>
              <a:cs typeface="Times New Roman"/>
            </a:endParaRPr>
          </a:p>
          <a:p>
            <a:pPr marL="202565" indent="-153035">
              <a:lnSpc>
                <a:spcPts val="1315"/>
              </a:lnSpc>
              <a:buAutoNum type="arabicPeriod"/>
              <a:tabLst>
                <a:tab pos="203200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equal? And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Exercise 2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Complete </a:t>
            </a:r>
            <a:r>
              <a:rPr dirty="0" sz="1200" spc="-5" b="1">
                <a:latin typeface="Times New Roman"/>
                <a:cs typeface="Times New Roman"/>
              </a:rPr>
              <a:t>the following paragraph by </a:t>
            </a:r>
            <a:r>
              <a:rPr dirty="0" sz="1200" b="1">
                <a:latin typeface="Times New Roman"/>
                <a:cs typeface="Times New Roman"/>
              </a:rPr>
              <a:t>filling </a:t>
            </a:r>
            <a:r>
              <a:rPr dirty="0" sz="1200" spc="-5" b="1">
                <a:latin typeface="Times New Roman"/>
                <a:cs typeface="Times New Roman"/>
              </a:rPr>
              <a:t>in the blanks with </a:t>
            </a:r>
            <a:r>
              <a:rPr dirty="0" sz="1200" b="1">
                <a:latin typeface="Times New Roman"/>
                <a:cs typeface="Times New Roman"/>
              </a:rPr>
              <a:t>appropriate </a:t>
            </a:r>
            <a:r>
              <a:rPr dirty="0" sz="1200" spc="-5" b="1">
                <a:latin typeface="Times New Roman"/>
                <a:cs typeface="Times New Roman"/>
              </a:rPr>
              <a:t>listing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markers.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can do wonders, but they can </a:t>
            </a:r>
            <a:r>
              <a:rPr dirty="0" sz="1200" spc="-5">
                <a:latin typeface="Times New Roman"/>
                <a:cs typeface="Times New Roman"/>
              </a:rPr>
              <a:t>waste </a:t>
            </a:r>
            <a:r>
              <a:rPr dirty="0" sz="1200">
                <a:latin typeface="Times New Roman"/>
                <a:cs typeface="Times New Roman"/>
              </a:rPr>
              <a:t>a lot of money </a:t>
            </a:r>
            <a:r>
              <a:rPr dirty="0" sz="1200" spc="-5">
                <a:latin typeface="Times New Roman"/>
                <a:cs typeface="Times New Roman"/>
              </a:rPr>
              <a:t>unless </a:t>
            </a:r>
            <a:r>
              <a:rPr dirty="0" sz="1200">
                <a:latin typeface="Times New Roman"/>
                <a:cs typeface="Times New Roman"/>
              </a:rPr>
              <a:t>careful consideration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goes into buying </a:t>
            </a:r>
            <a:r>
              <a:rPr dirty="0" sz="1200" spc="-5">
                <a:latin typeface="Times New Roman"/>
                <a:cs typeface="Times New Roman"/>
              </a:rPr>
              <a:t>them. </a:t>
            </a:r>
            <a:r>
              <a:rPr dirty="0" sz="120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businessman </a:t>
            </a:r>
            <a:r>
              <a:rPr dirty="0" sz="1200">
                <a:latin typeface="Times New Roman"/>
                <a:cs typeface="Times New Roman"/>
              </a:rPr>
              <a:t>thinking of buying a </a:t>
            </a:r>
            <a:r>
              <a:rPr dirty="0" sz="1200" spc="-5">
                <a:latin typeface="Times New Roman"/>
                <a:cs typeface="Times New Roman"/>
              </a:rPr>
              <a:t>computer system </a:t>
            </a:r>
            <a:r>
              <a:rPr dirty="0" sz="1200">
                <a:latin typeface="Times New Roman"/>
                <a:cs typeface="Times New Roman"/>
              </a:rPr>
              <a:t>should ..…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admit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knows </a:t>
            </a:r>
            <a:r>
              <a:rPr dirty="0" sz="1200">
                <a:latin typeface="Times New Roman"/>
                <a:cs typeface="Times New Roman"/>
              </a:rPr>
              <a:t>very little about computers….., he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realize that the </a:t>
            </a:r>
            <a:r>
              <a:rPr dirty="0" sz="1200" spc="-5">
                <a:latin typeface="Times New Roman"/>
                <a:cs typeface="Times New Roman"/>
              </a:rPr>
              <a:t>computer salesman </a:t>
            </a:r>
            <a:r>
              <a:rPr dirty="0" sz="1200">
                <a:latin typeface="Times New Roman"/>
                <a:cs typeface="Times New Roman"/>
              </a:rPr>
              <a:t> doesn’t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 how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.…., that he should get that </a:t>
            </a:r>
            <a:r>
              <a:rPr dirty="0" sz="1200" spc="-5">
                <a:latin typeface="Times New Roman"/>
                <a:cs typeface="Times New Roman"/>
              </a:rPr>
              <a:t>outside </a:t>
            </a:r>
            <a:r>
              <a:rPr dirty="0" sz="1200">
                <a:latin typeface="Times New Roman"/>
                <a:cs typeface="Times New Roman"/>
              </a:rPr>
              <a:t>advice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must, not </a:t>
            </a:r>
            <a:r>
              <a:rPr dirty="0" sz="1200" spc="-5">
                <a:latin typeface="Times New Roman"/>
                <a:cs typeface="Times New Roman"/>
              </a:rPr>
              <a:t>necessarily from </a:t>
            </a:r>
            <a:r>
              <a:rPr dirty="0" sz="1200">
                <a:latin typeface="Times New Roman"/>
                <a:cs typeface="Times New Roman"/>
              </a:rPr>
              <a:t>consultants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>
                <a:latin typeface="Times New Roman"/>
                <a:cs typeface="Times New Roman"/>
              </a:rPr>
              <a:t> from other executives </a:t>
            </a:r>
            <a:r>
              <a:rPr dirty="0" sz="1200" spc="-5">
                <a:latin typeface="Times New Roman"/>
                <a:cs typeface="Times New Roman"/>
              </a:rPr>
              <a:t>who </a:t>
            </a:r>
            <a:r>
              <a:rPr dirty="0" sz="1200">
                <a:latin typeface="Times New Roman"/>
                <a:cs typeface="Times New Roman"/>
              </a:rPr>
              <a:t>have had recent experience buying a </a:t>
            </a:r>
            <a:r>
              <a:rPr dirty="0" sz="1200" spc="-5">
                <a:latin typeface="Times New Roman"/>
                <a:cs typeface="Times New Roman"/>
              </a:rPr>
              <a:t>computer system </a:t>
            </a:r>
            <a:r>
              <a:rPr dirty="0" sz="1200">
                <a:latin typeface="Times New Roman"/>
                <a:cs typeface="Times New Roman"/>
              </a:rPr>
              <a:t>..…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 </a:t>
            </a:r>
            <a:r>
              <a:rPr dirty="0" sz="1200">
                <a:latin typeface="Times New Roman"/>
                <a:cs typeface="Times New Roman"/>
              </a:rPr>
              <a:t>try to </a:t>
            </a:r>
            <a:r>
              <a:rPr dirty="0" sz="1200" spc="-5">
                <a:latin typeface="Times New Roman"/>
                <a:cs typeface="Times New Roman"/>
              </a:rPr>
              <a:t>see systems similar </a:t>
            </a:r>
            <a:r>
              <a:rPr dirty="0" sz="1200">
                <a:latin typeface="Times New Roman"/>
                <a:cs typeface="Times New Roman"/>
              </a:rPr>
              <a:t>to ones under consideration in operation. Because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 will have the </a:t>
            </a:r>
            <a:r>
              <a:rPr dirty="0" sz="1200">
                <a:latin typeface="Times New Roman"/>
                <a:cs typeface="Times New Roman"/>
              </a:rPr>
              <a:t>differences that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accommodated, </a:t>
            </a:r>
            <a:r>
              <a:rPr dirty="0" sz="1200" spc="-5">
                <a:latin typeface="Times New Roman"/>
                <a:cs typeface="Times New Roman"/>
              </a:rPr>
              <a:t>he should </a:t>
            </a:r>
            <a:r>
              <a:rPr dirty="0" sz="1200">
                <a:latin typeface="Times New Roman"/>
                <a:cs typeface="Times New Roman"/>
              </a:rPr>
              <a:t>….. </a:t>
            </a:r>
            <a:r>
              <a:rPr dirty="0" sz="1200" spc="-5">
                <a:latin typeface="Times New Roman"/>
                <a:cs typeface="Times New Roman"/>
              </a:rPr>
              <a:t>find out </a:t>
            </a:r>
            <a:r>
              <a:rPr dirty="0" sz="1200">
                <a:latin typeface="Times New Roman"/>
                <a:cs typeface="Times New Roman"/>
              </a:rPr>
              <a:t> what would be involved in upgrading a </a:t>
            </a:r>
            <a:r>
              <a:rPr dirty="0" sz="1200" spc="-5">
                <a:latin typeface="Times New Roman"/>
                <a:cs typeface="Times New Roman"/>
              </a:rPr>
              <a:t>system. </a:t>
            </a:r>
            <a:r>
              <a:rPr dirty="0" sz="1200">
                <a:latin typeface="Times New Roman"/>
                <a:cs typeface="Times New Roman"/>
              </a:rPr>
              <a:t>…..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thing to know before buying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is </a:t>
            </a:r>
            <a:r>
              <a:rPr dirty="0" sz="1200">
                <a:latin typeface="Times New Roman"/>
                <a:cs typeface="Times New Roman"/>
              </a:rPr>
              <a:t>the financial </a:t>
            </a:r>
            <a:r>
              <a:rPr dirty="0" sz="1200" spc="-5">
                <a:latin typeface="Times New Roman"/>
                <a:cs typeface="Times New Roman"/>
              </a:rPr>
              <a:t>situation </a:t>
            </a:r>
            <a:r>
              <a:rPr dirty="0" sz="1200">
                <a:latin typeface="Times New Roman"/>
                <a:cs typeface="Times New Roman"/>
              </a:rPr>
              <a:t>of the supplier because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companies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 and not all are financially stable. ….. the perspective buyer should </a:t>
            </a:r>
            <a:r>
              <a:rPr dirty="0" sz="1200" spc="-5">
                <a:latin typeface="Times New Roman"/>
                <a:cs typeface="Times New Roman"/>
              </a:rPr>
              <a:t>demand </a:t>
            </a:r>
            <a:r>
              <a:rPr dirty="0" sz="1200">
                <a:latin typeface="Times New Roman"/>
                <a:cs typeface="Times New Roman"/>
              </a:rPr>
              <a:t>that every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covered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Including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hardware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software,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supplied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 different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companies.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There’s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nothing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wrong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it’s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can cause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71</a:t>
            </a:fld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047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018279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Making</a:t>
            </a:r>
            <a:r>
              <a:rPr dirty="0" sz="1200" spc="-5" b="1">
                <a:latin typeface="Times New Roman"/>
                <a:cs typeface="Times New Roman"/>
              </a:rPr>
              <a:t> Inferences </a:t>
            </a:r>
            <a:r>
              <a:rPr dirty="0" sz="1200" spc="-29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Making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Inferences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familiar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lines”,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pick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ideas that are not directly stated in the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you are </a:t>
            </a:r>
            <a:r>
              <a:rPr dirty="0" sz="1200" spc="-5">
                <a:latin typeface="Times New Roman"/>
                <a:cs typeface="Times New Roman"/>
              </a:rPr>
              <a:t>reading. The writer is giving 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suggestion but stating </a:t>
            </a:r>
            <a:r>
              <a:rPr dirty="0" sz="1200">
                <a:latin typeface="Times New Roman"/>
                <a:cs typeface="Times New Roman"/>
              </a:rPr>
              <a:t>it indirectly i.e. he </a:t>
            </a:r>
            <a:r>
              <a:rPr dirty="0" sz="1200" spc="-5">
                <a:latin typeface="Times New Roman"/>
                <a:cs typeface="Times New Roman"/>
              </a:rPr>
              <a:t>is implying something. </a:t>
            </a:r>
            <a:r>
              <a:rPr dirty="0" sz="1200">
                <a:latin typeface="Times New Roman"/>
                <a:cs typeface="Times New Roman"/>
              </a:rPr>
              <a:t>These implied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are often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for a full understanding of what the writer </a:t>
            </a:r>
            <a:r>
              <a:rPr dirty="0" sz="1200" spc="-5">
                <a:latin typeface="Times New Roman"/>
                <a:cs typeface="Times New Roman"/>
              </a:rPr>
              <a:t>means.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discover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implied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underlying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‘making</a:t>
            </a:r>
            <a:r>
              <a:rPr dirty="0" sz="1200">
                <a:latin typeface="Times New Roman"/>
                <a:cs typeface="Times New Roman"/>
              </a:rPr>
              <a:t> inferences’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 indent="381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aim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help you not only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a better reader but a strong thinker – a person able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only to understand what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read but to </a:t>
            </a:r>
            <a:r>
              <a:rPr dirty="0" sz="1200" spc="-5">
                <a:latin typeface="Times New Roman"/>
                <a:cs typeface="Times New Roman"/>
              </a:rPr>
              <a:t>analyze </a:t>
            </a:r>
            <a:r>
              <a:rPr dirty="0" sz="1200">
                <a:latin typeface="Times New Roman"/>
                <a:cs typeface="Times New Roman"/>
              </a:rPr>
              <a:t>and evaluate it </a:t>
            </a:r>
            <a:r>
              <a:rPr dirty="0" sz="1200" spc="-5">
                <a:latin typeface="Times New Roman"/>
                <a:cs typeface="Times New Roman"/>
              </a:rPr>
              <a:t>as well. </a:t>
            </a:r>
            <a:r>
              <a:rPr dirty="0" sz="1200">
                <a:latin typeface="Times New Roman"/>
                <a:cs typeface="Times New Roman"/>
              </a:rPr>
              <a:t>In fact, reading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thinking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closely</a:t>
            </a:r>
            <a:r>
              <a:rPr dirty="0" sz="1200">
                <a:latin typeface="Times New Roman"/>
                <a:cs typeface="Times New Roman"/>
              </a:rPr>
              <a:t> related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skills,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practice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strengthen your </a:t>
            </a:r>
            <a:r>
              <a:rPr dirty="0" sz="1200">
                <a:latin typeface="Times New Roman"/>
                <a:cs typeface="Times New Roman"/>
              </a:rPr>
              <a:t>ability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5">
                <a:latin typeface="Times New Roman"/>
                <a:cs typeface="Times New Roman"/>
              </a:rPr>
              <a:t> clearly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logically.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higher</a:t>
            </a:r>
            <a:r>
              <a:rPr dirty="0" sz="1200">
                <a:latin typeface="Times New Roman"/>
                <a:cs typeface="Times New Roman"/>
              </a:rPr>
              <a:t> level</a:t>
            </a:r>
            <a:r>
              <a:rPr dirty="0" sz="1200" spc="-5">
                <a:latin typeface="Times New Roman"/>
                <a:cs typeface="Times New Roman"/>
              </a:rPr>
              <a:t> skill.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 indent="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everyday life,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keep on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inferences. </a:t>
            </a:r>
            <a:r>
              <a:rPr dirty="0" sz="1200" spc="-5">
                <a:latin typeface="Times New Roman"/>
                <a:cs typeface="Times New Roman"/>
              </a:rPr>
              <a:t>For example, </a:t>
            </a:r>
            <a:r>
              <a:rPr dirty="0" sz="1200">
                <a:latin typeface="Times New Roman"/>
                <a:cs typeface="Times New Roman"/>
              </a:rPr>
              <a:t>you go out in the street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notice a large crowd gathered outside a shop, and you also notice a lot of broken </a:t>
            </a:r>
            <a:r>
              <a:rPr dirty="0" sz="1200" spc="-5">
                <a:latin typeface="Times New Roman"/>
                <a:cs typeface="Times New Roman"/>
              </a:rPr>
              <a:t>glass </a:t>
            </a:r>
            <a:r>
              <a:rPr dirty="0" sz="1200">
                <a:latin typeface="Times New Roman"/>
                <a:cs typeface="Times New Roman"/>
              </a:rPr>
              <a:t> on the road.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you get closer, you hear loud </a:t>
            </a:r>
            <a:r>
              <a:rPr dirty="0" sz="1200" spc="-5">
                <a:latin typeface="Times New Roman"/>
                <a:cs typeface="Times New Roman"/>
              </a:rPr>
              <a:t>talking. </a:t>
            </a:r>
            <a:r>
              <a:rPr dirty="0" sz="1200">
                <a:latin typeface="Times New Roman"/>
                <a:cs typeface="Times New Roman"/>
              </a:rPr>
              <a:t>Before you even reach the shop,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inferred </a:t>
            </a:r>
            <a:r>
              <a:rPr dirty="0" sz="1200">
                <a:latin typeface="Times New Roman"/>
                <a:cs typeface="Times New Roman"/>
              </a:rPr>
              <a:t>what all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-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been an accident.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 indent="381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How </a:t>
            </a:r>
            <a:r>
              <a:rPr dirty="0" sz="1200">
                <a:latin typeface="Times New Roman"/>
                <a:cs typeface="Times New Roman"/>
              </a:rPr>
              <a:t>did you arrive at these inferences? </a:t>
            </a:r>
            <a:r>
              <a:rPr dirty="0" sz="1200" spc="-5">
                <a:latin typeface="Times New Roman"/>
                <a:cs typeface="Times New Roman"/>
              </a:rPr>
              <a:t>First, you used your </a:t>
            </a:r>
            <a:r>
              <a:rPr dirty="0" sz="1200">
                <a:latin typeface="Times New Roman"/>
                <a:cs typeface="Times New Roman"/>
              </a:rPr>
              <a:t>experience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life and </a:t>
            </a:r>
            <a:r>
              <a:rPr dirty="0" sz="1200" spc="-5">
                <a:latin typeface="Times New Roman"/>
                <a:cs typeface="Times New Roman"/>
              </a:rPr>
              <a:t>general </a:t>
            </a:r>
            <a:r>
              <a:rPr dirty="0" sz="1200">
                <a:latin typeface="Times New Roman"/>
                <a:cs typeface="Times New Roman"/>
              </a:rPr>
              <a:t> knowledge of people. </a:t>
            </a:r>
            <a:r>
              <a:rPr dirty="0" sz="1200" spc="-5">
                <a:latin typeface="Times New Roman"/>
                <a:cs typeface="Times New Roman"/>
              </a:rPr>
              <a:t>Second,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made informed guesses which were based on the facts 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necessarily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possible that the crowd gathered outside is not because of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accident between cars etc. </a:t>
            </a:r>
            <a:r>
              <a:rPr dirty="0" sz="1200">
                <a:latin typeface="Times New Roman"/>
                <a:cs typeface="Times New Roman"/>
              </a:rPr>
              <a:t> but because of a quarrel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some people and while fighting </a:t>
            </a:r>
            <a:r>
              <a:rPr dirty="0" sz="1200" spc="-5">
                <a:latin typeface="Times New Roman"/>
                <a:cs typeface="Times New Roman"/>
              </a:rPr>
              <a:t>among themselves </a:t>
            </a:r>
            <a:r>
              <a:rPr dirty="0" sz="1200">
                <a:latin typeface="Times New Roman"/>
                <a:cs typeface="Times New Roman"/>
              </a:rPr>
              <a:t>they hit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glass windows </a:t>
            </a:r>
            <a:r>
              <a:rPr dirty="0" sz="1200">
                <a:latin typeface="Times New Roman"/>
                <a:cs typeface="Times New Roman"/>
              </a:rPr>
              <a:t>of the shop and it turned </a:t>
            </a:r>
            <a:r>
              <a:rPr dirty="0" sz="1200" spc="-5">
                <a:latin typeface="Times New Roman"/>
                <a:cs typeface="Times New Roman"/>
              </a:rPr>
              <a:t>into </a:t>
            </a:r>
            <a:r>
              <a:rPr dirty="0" sz="1200">
                <a:latin typeface="Times New Roman"/>
                <a:cs typeface="Times New Roman"/>
              </a:rPr>
              <a:t>a nasty brawl. In any case, the more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solid</a:t>
            </a:r>
            <a:r>
              <a:rPr dirty="0" sz="1200">
                <a:latin typeface="Times New Roman"/>
                <a:cs typeface="Times New Roman"/>
              </a:rPr>
              <a:t> your inferences are.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two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incidents.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Write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down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piece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paper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what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might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infer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if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saw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following two </a:t>
            </a:r>
            <a:r>
              <a:rPr dirty="0" sz="1200" b="1">
                <a:latin typeface="Times New Roman"/>
                <a:cs typeface="Times New Roman"/>
              </a:rPr>
              <a:t>occurrences.</a:t>
            </a:r>
            <a:endParaRPr sz="1200">
              <a:latin typeface="Times New Roman"/>
              <a:cs typeface="Times New Roman"/>
            </a:endParaRPr>
          </a:p>
          <a:p>
            <a:pPr marL="143510" indent="-131445">
              <a:lnSpc>
                <a:spcPts val="1300"/>
              </a:lnSpc>
              <a:buAutoNum type="romanLcParenR"/>
              <a:tabLst>
                <a:tab pos="144145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high school </a:t>
            </a:r>
            <a:r>
              <a:rPr dirty="0" sz="1200" spc="-5">
                <a:latin typeface="Times New Roman"/>
                <a:cs typeface="Times New Roman"/>
              </a:rPr>
              <a:t>has policemen</a:t>
            </a:r>
            <a:r>
              <a:rPr dirty="0" sz="1200">
                <a:latin typeface="Times New Roman"/>
                <a:cs typeface="Times New Roman"/>
              </a:rPr>
              <a:t> walking 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down </a:t>
            </a:r>
            <a:r>
              <a:rPr dirty="0" sz="1200" spc="-5">
                <a:latin typeface="Times New Roman"/>
                <a:cs typeface="Times New Roman"/>
              </a:rPr>
              <a:t>its main</a:t>
            </a:r>
            <a:r>
              <a:rPr dirty="0" sz="1200">
                <a:latin typeface="Times New Roman"/>
                <a:cs typeface="Times New Roman"/>
              </a:rPr>
              <a:t> hall.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602230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infer?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2661285">
              <a:lnSpc>
                <a:spcPts val="1380"/>
              </a:lnSpc>
              <a:spcBef>
                <a:spcPts val="65"/>
              </a:spcBef>
              <a:buAutoNum type="romanLcParenR" startAt="2"/>
              <a:tabLst>
                <a:tab pos="186690" algn="l"/>
                <a:tab pos="260223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dog</a:t>
            </a:r>
            <a:r>
              <a:rPr dirty="0" sz="1200" spc="-5">
                <a:latin typeface="Times New Roman"/>
                <a:cs typeface="Times New Roman"/>
              </a:rPr>
              <a:t> shrinks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cringes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infer?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situation,</a:t>
            </a:r>
            <a:r>
              <a:rPr dirty="0" sz="1200">
                <a:latin typeface="Times New Roman"/>
                <a:cs typeface="Times New Roman"/>
              </a:rPr>
              <a:t> 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public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 </a:t>
            </a:r>
            <a:r>
              <a:rPr dirty="0" sz="1200">
                <a:latin typeface="Times New Roman"/>
                <a:cs typeface="Times New Roman"/>
              </a:rPr>
              <a:t>going on/or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important function </a:t>
            </a:r>
            <a:r>
              <a:rPr dirty="0" sz="1200" spc="-5">
                <a:latin typeface="Times New Roman"/>
                <a:cs typeface="Times New Roman"/>
              </a:rPr>
              <a:t>taking </a:t>
            </a:r>
            <a:r>
              <a:rPr dirty="0" sz="1200">
                <a:latin typeface="Times New Roman"/>
                <a:cs typeface="Times New Roman"/>
              </a:rPr>
              <a:t>place and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high-ranking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present. And in the second </a:t>
            </a:r>
            <a:r>
              <a:rPr dirty="0" sz="1200" spc="-5">
                <a:latin typeface="Times New Roman"/>
                <a:cs typeface="Times New Roman"/>
              </a:rPr>
              <a:t>situation you probably inferred that the dog </a:t>
            </a:r>
            <a:r>
              <a:rPr dirty="0" sz="1200" spc="-10">
                <a:latin typeface="Times New Roman"/>
                <a:cs typeface="Times New Roman"/>
              </a:rPr>
              <a:t>has </a:t>
            </a:r>
            <a:r>
              <a:rPr dirty="0" sz="1200" spc="-5">
                <a:latin typeface="Times New Roman"/>
                <a:cs typeface="Times New Roman"/>
              </a:rPr>
              <a:t> previously</a:t>
            </a:r>
            <a:r>
              <a:rPr dirty="0" sz="1200">
                <a:latin typeface="Times New Roman"/>
                <a:cs typeface="Times New Roman"/>
              </a:rPr>
              <a:t> been </a:t>
            </a:r>
            <a:r>
              <a:rPr dirty="0" sz="1200" spc="-5">
                <a:latin typeface="Times New Roman"/>
                <a:cs typeface="Times New Roman"/>
              </a:rPr>
              <a:t>maltreated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afraid of people.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pictures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screen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>
                <a:latin typeface="Times New Roman"/>
                <a:cs typeface="Times New Roman"/>
              </a:rPr>
              <a:t> against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inference(s)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information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picture.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71</a:t>
            </a:fld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664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Picture</a:t>
            </a:r>
            <a:r>
              <a:rPr dirty="0" u="heavy" sz="1200" spc="-7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5645911"/>
            <a:ext cx="3161030" cy="911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5">
                <a:latin typeface="Times New Roman"/>
                <a:cs typeface="Times New Roman"/>
              </a:rPr>
              <a:t> woman is </a:t>
            </a:r>
            <a:r>
              <a:rPr dirty="0" sz="1200">
                <a:latin typeface="Times New Roman"/>
                <a:cs typeface="Times New Roman"/>
              </a:rPr>
              <a:t>asking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something.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old </a:t>
            </a:r>
            <a:r>
              <a:rPr dirty="0" sz="1200" spc="-5">
                <a:latin typeface="Times New Roman"/>
                <a:cs typeface="Times New Roman"/>
              </a:rPr>
              <a:t>woman </a:t>
            </a:r>
            <a:r>
              <a:rPr dirty="0" sz="1200">
                <a:latin typeface="Times New Roman"/>
                <a:cs typeface="Times New Roman"/>
              </a:rPr>
              <a:t>couldn’t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because of the </a:t>
            </a:r>
            <a:r>
              <a:rPr dirty="0" sz="1200" spc="-5">
                <a:latin typeface="Times New Roman"/>
                <a:cs typeface="Times New Roman"/>
              </a:rPr>
              <a:t>smoke.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5">
                <a:latin typeface="Times New Roman"/>
                <a:cs typeface="Times New Roman"/>
              </a:rPr>
              <a:t> woman was </a:t>
            </a:r>
            <a:r>
              <a:rPr dirty="0" sz="1200">
                <a:latin typeface="Times New Roman"/>
                <a:cs typeface="Times New Roman"/>
              </a:rPr>
              <a:t>pointing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no-smoking </a:t>
            </a:r>
            <a:r>
              <a:rPr dirty="0" sz="1200">
                <a:latin typeface="Times New Roman"/>
                <a:cs typeface="Times New Roman"/>
              </a:rPr>
              <a:t>sign.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Picture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8800590"/>
            <a:ext cx="242951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vision.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doing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work.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1465325"/>
            <a:ext cx="5486400" cy="3957066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57300" y="6562349"/>
            <a:ext cx="5485638" cy="3495670"/>
          </a:xfrm>
          <a:prstGeom prst="rect">
            <a:avLst/>
          </a:prstGeom>
        </p:spPr>
      </p:pic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71</a:t>
            </a:fld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84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4056379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man watches </a:t>
            </a:r>
            <a:r>
              <a:rPr dirty="0" sz="1200">
                <a:latin typeface="Times New Roman"/>
                <a:cs typeface="Times New Roman"/>
              </a:rPr>
              <a:t>a lot </a:t>
            </a:r>
            <a:r>
              <a:rPr dirty="0" sz="1200" spc="-5">
                <a:latin typeface="Times New Roman"/>
                <a:cs typeface="Times New Roman"/>
              </a:rPr>
              <a:t>of TV.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6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Inferences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jumps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directly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that are not stated directly i.e. </a:t>
            </a:r>
            <a:r>
              <a:rPr dirty="0" sz="1200" spc="-5">
                <a:latin typeface="Times New Roman"/>
                <a:cs typeface="Times New Roman"/>
              </a:rPr>
              <a:t>we make statements </a:t>
            </a:r>
            <a:r>
              <a:rPr dirty="0" sz="1200">
                <a:latin typeface="Times New Roman"/>
                <a:cs typeface="Times New Roman"/>
              </a:rPr>
              <a:t>or draw conclusions about what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 the clues provided by the writer,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 </a:t>
            </a:r>
            <a:r>
              <a:rPr dirty="0" sz="1200" spc="-5">
                <a:latin typeface="Times New Roman"/>
                <a:cs typeface="Times New Roman"/>
              </a:rPr>
              <a:t>experience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 the reader’s own experience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1085"/>
              </a:spcBef>
              <a:buAutoNum type="arabicPeriod" startAt="2"/>
              <a:tabLst>
                <a:tab pos="190500" algn="l"/>
              </a:tabLst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logically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1200">
                <a:latin typeface="Times New Roman"/>
                <a:cs typeface="Times New Roman"/>
              </a:rPr>
              <a:t>Sohail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sits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5">
                <a:latin typeface="Times New Roman"/>
                <a:cs typeface="Times New Roman"/>
              </a:rPr>
              <a:t> row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classroom.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Sohail</a:t>
            </a:r>
            <a:r>
              <a:rPr dirty="0" sz="1200" spc="-5">
                <a:latin typeface="Times New Roman"/>
                <a:cs typeface="Times New Roman"/>
              </a:rPr>
              <a:t> dislikes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college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courses.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Sohail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unprepared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Sohail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feels</a:t>
            </a:r>
            <a:r>
              <a:rPr dirty="0" sz="1200" spc="-5">
                <a:latin typeface="Times New Roman"/>
                <a:cs typeface="Times New Roman"/>
              </a:rPr>
              <a:t> uncomfortable </a:t>
            </a:r>
            <a:r>
              <a:rPr dirty="0" sz="1200">
                <a:latin typeface="Times New Roman"/>
                <a:cs typeface="Times New Roman"/>
              </a:rPr>
              <a:t>sitting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row.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Sohail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farsighted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1125"/>
              </a:spcBef>
            </a:pPr>
            <a:r>
              <a:rPr dirty="0" sz="1200">
                <a:latin typeface="Times New Roman"/>
                <a:cs typeface="Times New Roman"/>
              </a:rPr>
              <a:t>The given sentence tells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nothing about how Sohail feels about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college courses, how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prepared he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or how well he </a:t>
            </a:r>
            <a:r>
              <a:rPr dirty="0" sz="1200" spc="-5">
                <a:latin typeface="Times New Roman"/>
                <a:cs typeface="Times New Roman"/>
              </a:rPr>
              <a:t>sees. So answers </a:t>
            </a:r>
            <a:r>
              <a:rPr dirty="0" sz="1200">
                <a:latin typeface="Times New Roman"/>
                <a:cs typeface="Times New Roman"/>
              </a:rPr>
              <a:t>a, b or d are possibilities, but none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directly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suggested</a:t>
            </a:r>
            <a:r>
              <a:rPr dirty="0" sz="1200">
                <a:latin typeface="Times New Roman"/>
                <a:cs typeface="Times New Roman"/>
              </a:rPr>
              <a:t>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therefore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we </a:t>
            </a:r>
            <a:r>
              <a:rPr dirty="0" sz="1200">
                <a:latin typeface="Times New Roman"/>
                <a:cs typeface="Times New Roman"/>
              </a:rPr>
              <a:t>are given,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can conclude only that </a:t>
            </a:r>
            <a:r>
              <a:rPr dirty="0" sz="1200" spc="-5">
                <a:latin typeface="Times New Roman"/>
                <a:cs typeface="Times New Roman"/>
              </a:rPr>
              <a:t>Sohail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for some reason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does not </a:t>
            </a:r>
            <a:r>
              <a:rPr dirty="0" sz="1200">
                <a:latin typeface="Times New Roman"/>
                <a:cs typeface="Times New Roman"/>
              </a:rPr>
              <a:t> like sitting in the front. We are not given </a:t>
            </a:r>
            <a:r>
              <a:rPr dirty="0" sz="1200" spc="-5">
                <a:latin typeface="Times New Roman"/>
                <a:cs typeface="Times New Roman"/>
              </a:rPr>
              <a:t>enough information </a:t>
            </a:r>
            <a:r>
              <a:rPr dirty="0" sz="1200">
                <a:latin typeface="Times New Roman"/>
                <a:cs typeface="Times New Roman"/>
              </a:rPr>
              <a:t>to know why he feels 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way. </a:t>
            </a:r>
            <a:r>
              <a:rPr dirty="0" sz="1200">
                <a:latin typeface="Times New Roman"/>
                <a:cs typeface="Times New Roman"/>
              </a:rPr>
              <a:t>Remember your inferences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stronger </a:t>
            </a:r>
            <a:r>
              <a:rPr dirty="0" sz="1200">
                <a:latin typeface="Times New Roman"/>
                <a:cs typeface="Times New Roman"/>
              </a:rPr>
              <a:t>if you don’t </a:t>
            </a:r>
            <a:r>
              <a:rPr dirty="0" sz="1200" spc="-5">
                <a:latin typeface="Times New Roman"/>
                <a:cs typeface="Times New Roman"/>
              </a:rPr>
              <a:t>jump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conclusions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unsupported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only 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weakly supported 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available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1085"/>
              </a:spcBef>
            </a:pPr>
            <a:r>
              <a:rPr dirty="0" sz="1200">
                <a:latin typeface="Times New Roman"/>
                <a:cs typeface="Times New Roman"/>
              </a:rPr>
              <a:t>3.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have some </a:t>
            </a:r>
            <a:r>
              <a:rPr dirty="0" sz="1200">
                <a:latin typeface="Times New Roman"/>
                <a:cs typeface="Times New Roman"/>
              </a:rPr>
              <a:t>more practice in drawing inferences. Read the given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 and put a tick </a:t>
            </a:r>
            <a:r>
              <a:rPr dirty="0" sz="1200" spc="-5">
                <a:latin typeface="Times New Roman"/>
                <a:cs typeface="Times New Roman"/>
              </a:rPr>
              <a:t>mark </a:t>
            </a:r>
            <a:r>
              <a:rPr dirty="0" sz="1200">
                <a:latin typeface="Times New Roman"/>
                <a:cs typeface="Times New Roman"/>
              </a:rPr>
              <a:t>by the inference, </a:t>
            </a:r>
            <a:r>
              <a:rPr dirty="0" sz="1200" spc="-5">
                <a:latin typeface="Times New Roman"/>
                <a:cs typeface="Times New Roman"/>
              </a:rPr>
              <a:t>most logically </a:t>
            </a:r>
            <a:r>
              <a:rPr dirty="0" sz="1200">
                <a:latin typeface="Times New Roman"/>
                <a:cs typeface="Times New Roman"/>
              </a:rPr>
              <a:t>supported by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given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ct val="100000"/>
              </a:lnSpc>
              <a:spcBef>
                <a:spcPts val="500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Arabic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numerous words </a:t>
            </a:r>
            <a:r>
              <a:rPr dirty="0" sz="1200">
                <a:latin typeface="Times New Roman"/>
                <a:cs typeface="Times New Roman"/>
              </a:rPr>
              <a:t>describing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camels.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5">
                <a:latin typeface="Times New Roman"/>
                <a:cs typeface="Times New Roman"/>
              </a:rPr>
              <a:t> 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kind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camel.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Arabic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 clearly</a:t>
            </a:r>
            <a:r>
              <a:rPr dirty="0" sz="1200" spc="-5">
                <a:latin typeface="Times New Roman"/>
                <a:cs typeface="Times New Roman"/>
              </a:rPr>
              <a:t> 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times</a:t>
            </a:r>
            <a:r>
              <a:rPr dirty="0" sz="1200">
                <a:latin typeface="Times New Roman"/>
                <a:cs typeface="Times New Roman"/>
              </a:rPr>
              <a:t> more</a:t>
            </a:r>
            <a:r>
              <a:rPr dirty="0" sz="1200" spc="-5">
                <a:latin typeface="Times New Roman"/>
                <a:cs typeface="Times New Roman"/>
              </a:rPr>
              <a:t> words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Arabic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 probably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has numerous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for 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dates.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 nature of</a:t>
            </a:r>
            <a:r>
              <a:rPr dirty="0" sz="1200" spc="-5">
                <a:latin typeface="Times New Roman"/>
                <a:cs typeface="Times New Roman"/>
              </a:rPr>
              <a:t> camels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to the desert</a:t>
            </a:r>
            <a:r>
              <a:rPr dirty="0" sz="1200" spc="-5">
                <a:latin typeface="Times New Roman"/>
                <a:cs typeface="Times New Roman"/>
              </a:rPr>
              <a:t> way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823452"/>
            <a:ext cx="56261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2.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office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building,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marches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fellow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employees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without </a:t>
            </a:r>
            <a:r>
              <a:rPr dirty="0" sz="1200">
                <a:latin typeface="Times New Roman"/>
                <a:cs typeface="Times New Roman"/>
              </a:rPr>
              <a:t> returning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greetings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goes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office, </a:t>
            </a:r>
            <a:r>
              <a:rPr dirty="0" sz="1200" spc="-5">
                <a:latin typeface="Times New Roman"/>
                <a:cs typeface="Times New Roman"/>
              </a:rPr>
              <a:t>slamming </a:t>
            </a:r>
            <a:r>
              <a:rPr dirty="0" sz="1200">
                <a:latin typeface="Times New Roman"/>
                <a:cs typeface="Times New Roman"/>
              </a:rPr>
              <a:t>the door.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75</a:t>
            </a:fld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6772"/>
            <a:ext cx="5628005" cy="798068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56210" indent="-144145">
              <a:lnSpc>
                <a:spcPct val="100000"/>
              </a:lnSpc>
              <a:spcBef>
                <a:spcPts val="64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 has </a:t>
            </a:r>
            <a:r>
              <a:rPr dirty="0" sz="1200">
                <a:latin typeface="Times New Roman"/>
                <a:cs typeface="Times New Roman"/>
              </a:rPr>
              <a:t>quarreled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his boss.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mood.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wife.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spcBef>
                <a:spcPts val="112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logically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given.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6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super-automation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industrial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factories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– offices are </a:t>
            </a:r>
            <a:r>
              <a:rPr dirty="0" sz="1200" spc="-5">
                <a:latin typeface="Times New Roman"/>
                <a:cs typeface="Times New Roman"/>
              </a:rPr>
              <a:t>increasingly electronic. </a:t>
            </a:r>
            <a:r>
              <a:rPr dirty="0" sz="1200">
                <a:latin typeface="Times New Roman"/>
                <a:cs typeface="Times New Roman"/>
              </a:rPr>
              <a:t>Engineers and architects now draw three </a:t>
            </a:r>
            <a:r>
              <a:rPr dirty="0" sz="1200" spc="-5">
                <a:latin typeface="Times New Roman"/>
                <a:cs typeface="Times New Roman"/>
              </a:rPr>
              <a:t>dimensional </a:t>
            </a:r>
            <a:r>
              <a:rPr dirty="0" sz="1200">
                <a:latin typeface="Times New Roman"/>
                <a:cs typeface="Times New Roman"/>
              </a:rPr>
              <a:t> designs,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update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them,</a:t>
            </a:r>
            <a:r>
              <a:rPr dirty="0" sz="1200">
                <a:latin typeface="Times New Roman"/>
                <a:cs typeface="Times New Roman"/>
              </a:rPr>
              <a:t> test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them,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instantaneously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 </a:t>
            </a:r>
            <a:r>
              <a:rPr dirty="0" sz="1200">
                <a:latin typeface="Times New Roman"/>
                <a:cs typeface="Times New Roman"/>
              </a:rPr>
              <a:t> Agriculture </a:t>
            </a:r>
            <a:r>
              <a:rPr dirty="0" sz="1200" spc="-5">
                <a:latin typeface="Times New Roman"/>
                <a:cs typeface="Times New Roman"/>
              </a:rPr>
              <a:t>employs </a:t>
            </a:r>
            <a:r>
              <a:rPr dirty="0" sz="1200">
                <a:latin typeface="Times New Roman"/>
                <a:cs typeface="Times New Roman"/>
              </a:rPr>
              <a:t>robot fruit </a:t>
            </a:r>
            <a:r>
              <a:rPr dirty="0" sz="1200" spc="-5">
                <a:latin typeface="Times New Roman"/>
                <a:cs typeface="Times New Roman"/>
              </a:rPr>
              <a:t>pickers and sheepshearers, computerized </a:t>
            </a:r>
            <a:r>
              <a:rPr dirty="0" sz="1200">
                <a:latin typeface="Times New Roman"/>
                <a:cs typeface="Times New Roman"/>
              </a:rPr>
              <a:t>irrigation </a:t>
            </a:r>
            <a:r>
              <a:rPr dirty="0" sz="1200" spc="-10">
                <a:latin typeface="Times New Roman"/>
                <a:cs typeface="Times New Roman"/>
              </a:rPr>
              <a:t>systems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use sensors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calculate water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fertilizer </a:t>
            </a:r>
            <a:r>
              <a:rPr dirty="0" sz="1200">
                <a:latin typeface="Times New Roman"/>
                <a:cs typeface="Times New Roman"/>
              </a:rPr>
              <a:t>needs in different parts of a field,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automated </a:t>
            </a:r>
            <a:r>
              <a:rPr dirty="0" sz="1200">
                <a:latin typeface="Times New Roman"/>
                <a:cs typeface="Times New Roman"/>
              </a:rPr>
              <a:t>chicken houses.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1085"/>
              </a:spcBef>
            </a:pPr>
            <a:r>
              <a:rPr dirty="0" sz="1200">
                <a:latin typeface="Times New Roman"/>
                <a:cs typeface="Times New Roman"/>
              </a:rPr>
              <a:t>Retail </a:t>
            </a:r>
            <a:r>
              <a:rPr dirty="0" sz="1200" spc="-5">
                <a:latin typeface="Times New Roman"/>
                <a:cs typeface="Times New Roman"/>
              </a:rPr>
              <a:t>stores, </a:t>
            </a:r>
            <a:r>
              <a:rPr dirty="0" sz="1200">
                <a:latin typeface="Times New Roman"/>
                <a:cs typeface="Times New Roman"/>
              </a:rPr>
              <a:t>banks, and </a:t>
            </a:r>
            <a:r>
              <a:rPr dirty="0" sz="1200" spc="-5">
                <a:latin typeface="Times New Roman"/>
                <a:cs typeface="Times New Roman"/>
              </a:rPr>
              <a:t>brokerage houses use on-line transaction processing to obtain </a:t>
            </a:r>
            <a:r>
              <a:rPr dirty="0" sz="1200">
                <a:latin typeface="Times New Roman"/>
                <a:cs typeface="Times New Roman"/>
              </a:rPr>
              <a:t> instant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conduct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transactions.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scanning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codes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transforming </a:t>
            </a:r>
            <a:r>
              <a:rPr dirty="0" sz="1200">
                <a:latin typeface="Times New Roman"/>
                <a:cs typeface="Times New Roman"/>
              </a:rPr>
              <a:t>the physical </a:t>
            </a:r>
            <a:r>
              <a:rPr dirty="0" sz="1200" spc="-5">
                <a:latin typeface="Times New Roman"/>
                <a:cs typeface="Times New Roman"/>
              </a:rPr>
              <a:t>handling of codes by retailers and </a:t>
            </a:r>
            <a:r>
              <a:rPr dirty="0" sz="1200">
                <a:latin typeface="Times New Roman"/>
                <a:cs typeface="Times New Roman"/>
              </a:rPr>
              <a:t>wholesale distributors.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final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affecting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widespread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televisions,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telephones,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the purposes of home banking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shopping.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990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soon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engineers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architects.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will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more </a:t>
            </a:r>
            <a:r>
              <a:rPr dirty="0" sz="1200">
                <a:latin typeface="Times New Roman"/>
                <a:cs typeface="Times New Roman"/>
              </a:rPr>
              <a:t>jobs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people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repair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 </a:t>
            </a:r>
            <a:r>
              <a:rPr dirty="0" sz="1200" spc="-5">
                <a:latin typeface="Times New Roman"/>
                <a:cs typeface="Times New Roman"/>
              </a:rPr>
              <a:t>devices.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function of super </a:t>
            </a:r>
            <a:r>
              <a:rPr dirty="0" sz="1200" spc="-5">
                <a:latin typeface="Times New Roman"/>
                <a:cs typeface="Times New Roman"/>
              </a:rPr>
              <a:t>automation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Restaurants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benefit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automation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Machines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help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employees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accomplish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Super</a:t>
            </a:r>
            <a:r>
              <a:rPr dirty="0" sz="1200" spc="-5">
                <a:latin typeface="Times New Roman"/>
                <a:cs typeface="Times New Roman"/>
              </a:rPr>
              <a:t> automation</a:t>
            </a:r>
            <a:r>
              <a:rPr dirty="0" sz="1200">
                <a:latin typeface="Times New Roman"/>
                <a:cs typeface="Times New Roman"/>
              </a:rPr>
              <a:t> requires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adjustments</a:t>
            </a:r>
            <a:r>
              <a:rPr dirty="0" sz="1200">
                <a:latin typeface="Times New Roman"/>
                <a:cs typeface="Times New Roman"/>
              </a:rPr>
              <a:t> 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society.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spcBef>
                <a:spcPts val="540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Super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automation 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advantages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disadvantages.</a:t>
            </a:r>
            <a:endParaRPr sz="1200">
              <a:latin typeface="Times New Roman"/>
              <a:cs typeface="Times New Roman"/>
            </a:endParaRPr>
          </a:p>
          <a:p>
            <a:pPr marL="12700" marR="242443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Laser technology </a:t>
            </a:r>
            <a:r>
              <a:rPr dirty="0" sz="1200" spc="-5">
                <a:latin typeface="Times New Roman"/>
                <a:cs typeface="Times New Roman"/>
              </a:rPr>
              <a:t>is limited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business </a:t>
            </a:r>
            <a:r>
              <a:rPr dirty="0" sz="1200">
                <a:latin typeface="Times New Roman"/>
                <a:cs typeface="Times New Roman"/>
              </a:rPr>
              <a:t>world.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 a) You might like to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why the Sun </a:t>
            </a:r>
            <a:r>
              <a:rPr dirty="0" sz="1200" spc="-5">
                <a:latin typeface="Times New Roman"/>
                <a:cs typeface="Times New Roman"/>
              </a:rPr>
              <a:t>is able </a:t>
            </a:r>
            <a:r>
              <a:rPr dirty="0" sz="1200">
                <a:latin typeface="Times New Roman"/>
                <a:cs typeface="Times New Roman"/>
              </a:rPr>
              <a:t>to supply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own light, heat, and energy,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whereas </a:t>
            </a:r>
            <a:r>
              <a:rPr dirty="0" sz="1200">
                <a:latin typeface="Times New Roman"/>
                <a:cs typeface="Times New Roman"/>
              </a:rPr>
              <a:t>the Earth and the other planets only </a:t>
            </a:r>
            <a:r>
              <a:rPr dirty="0" sz="1200" spc="-5">
                <a:latin typeface="Times New Roman"/>
                <a:cs typeface="Times New Roman"/>
              </a:rPr>
              <a:t>shine feebly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-5">
                <a:latin typeface="Times New Roman"/>
                <a:cs typeface="Times New Roman"/>
              </a:rPr>
              <a:t>aid </a:t>
            </a:r>
            <a:r>
              <a:rPr dirty="0" sz="1200">
                <a:latin typeface="Times New Roman"/>
                <a:cs typeface="Times New Roman"/>
              </a:rPr>
              <a:t>of borrowed light.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Strange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may seem,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best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start this </a:t>
            </a:r>
            <a:r>
              <a:rPr dirty="0" sz="1200">
                <a:latin typeface="Times New Roman"/>
                <a:cs typeface="Times New Roman"/>
              </a:rPr>
              <a:t>problem by considering the interior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Earth.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b) The </a:t>
            </a:r>
            <a:r>
              <a:rPr dirty="0" sz="1200" spc="-5">
                <a:latin typeface="Times New Roman"/>
                <a:cs typeface="Times New Roman"/>
              </a:rPr>
              <a:t>morrow </a:t>
            </a:r>
            <a:r>
              <a:rPr dirty="0" sz="1200">
                <a:latin typeface="Times New Roman"/>
                <a:cs typeface="Times New Roman"/>
              </a:rPr>
              <a:t>brought a very sober-looking </a:t>
            </a:r>
            <a:r>
              <a:rPr dirty="0" sz="1200" spc="-5">
                <a:latin typeface="Times New Roman"/>
                <a:cs typeface="Times New Roman"/>
              </a:rPr>
              <a:t>morning,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sun making </a:t>
            </a:r>
            <a:r>
              <a:rPr dirty="0" sz="1200">
                <a:latin typeface="Times New Roman"/>
                <a:cs typeface="Times New Roman"/>
              </a:rPr>
              <a:t>only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efforts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appear; and Catherine augured from it everything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favourable to </a:t>
            </a:r>
            <a:r>
              <a:rPr dirty="0" sz="1200" spc="-5">
                <a:latin typeface="Times New Roman"/>
                <a:cs typeface="Times New Roman"/>
              </a:rPr>
              <a:t>her wishes. A bright </a:t>
            </a:r>
            <a:r>
              <a:rPr dirty="0" sz="1200">
                <a:latin typeface="Times New Roman"/>
                <a:cs typeface="Times New Roman"/>
              </a:rPr>
              <a:t> morning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early in the year,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allowed, would generally turn to </a:t>
            </a:r>
            <a:r>
              <a:rPr dirty="0" sz="1200" spc="-5">
                <a:latin typeface="Times New Roman"/>
                <a:cs typeface="Times New Roman"/>
              </a:rPr>
              <a:t>rain; but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cloudy one </a:t>
            </a:r>
            <a:r>
              <a:rPr dirty="0" sz="1200">
                <a:latin typeface="Times New Roman"/>
                <a:cs typeface="Times New Roman"/>
              </a:rPr>
              <a:t> foretold</a:t>
            </a:r>
            <a:r>
              <a:rPr dirty="0" sz="1200" spc="-5">
                <a:latin typeface="Times New Roman"/>
                <a:cs typeface="Times New Roman"/>
              </a:rPr>
              <a:t> improvement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the day advanced.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75</a:t>
            </a:fld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7900" y="435356"/>
            <a:ext cx="59436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9175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50800" marR="2838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c) Your </a:t>
            </a:r>
            <a:r>
              <a:rPr dirty="0" sz="1200" spc="-5">
                <a:latin typeface="Times New Roman"/>
                <a:cs typeface="Times New Roman"/>
              </a:rPr>
              <a:t>mother </a:t>
            </a:r>
            <a:r>
              <a:rPr dirty="0" sz="1200">
                <a:latin typeface="Times New Roman"/>
                <a:cs typeface="Times New Roman"/>
              </a:rPr>
              <a:t>and I were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happy then. It </a:t>
            </a:r>
            <a:r>
              <a:rPr dirty="0" sz="1200" spc="-5">
                <a:latin typeface="Times New Roman"/>
                <a:cs typeface="Times New Roman"/>
              </a:rPr>
              <a:t>seemed as though we had everything we could </a:t>
            </a:r>
            <a:r>
              <a:rPr dirty="0" sz="1200">
                <a:latin typeface="Times New Roman"/>
                <a:cs typeface="Times New Roman"/>
              </a:rPr>
              <a:t> ever want. I think the last day the </a:t>
            </a:r>
            <a:r>
              <a:rPr dirty="0" sz="1200" spc="-5">
                <a:latin typeface="Times New Roman"/>
                <a:cs typeface="Times New Roman"/>
              </a:rPr>
              <a:t>sun shone was when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dirty </a:t>
            </a:r>
            <a:r>
              <a:rPr dirty="0" sz="1200">
                <a:latin typeface="Times New Roman"/>
                <a:cs typeface="Times New Roman"/>
              </a:rPr>
              <a:t>little train </a:t>
            </a:r>
            <a:r>
              <a:rPr dirty="0" sz="1200" spc="-5">
                <a:latin typeface="Times New Roman"/>
                <a:cs typeface="Times New Roman"/>
              </a:rPr>
              <a:t>steamed out of </a:t>
            </a:r>
            <a:r>
              <a:rPr dirty="0" sz="1200">
                <a:latin typeface="Times New Roman"/>
                <a:cs typeface="Times New Roman"/>
              </a:rPr>
              <a:t> that crowded, suffocating Indian </a:t>
            </a:r>
            <a:r>
              <a:rPr dirty="0" sz="1200" spc="-5">
                <a:latin typeface="Times New Roman"/>
                <a:cs typeface="Times New Roman"/>
              </a:rPr>
              <a:t>station,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battalion band </a:t>
            </a:r>
            <a:r>
              <a:rPr dirty="0" sz="1200">
                <a:latin typeface="Times New Roman"/>
                <a:cs typeface="Times New Roman"/>
              </a:rPr>
              <a:t>playing for all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worth.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knew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my heart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all 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then. Everything!</a:t>
            </a:r>
            <a:endParaRPr sz="1200">
              <a:latin typeface="Times New Roman"/>
              <a:cs typeface="Times New Roman"/>
            </a:endParaRPr>
          </a:p>
          <a:p>
            <a:pPr algn="just" marL="50800" marR="30410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(No statements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given </a:t>
            </a:r>
            <a:r>
              <a:rPr dirty="0" sz="1200">
                <a:latin typeface="Times New Roman"/>
                <a:cs typeface="Times New Roman"/>
              </a:rPr>
              <a:t>for these </a:t>
            </a:r>
            <a:r>
              <a:rPr dirty="0" sz="1200" spc="-5">
                <a:latin typeface="Times New Roman"/>
                <a:cs typeface="Times New Roman"/>
              </a:rPr>
              <a:t>paragraphs)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((99922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ts val="1355"/>
              </a:lnSpc>
            </a:pPr>
            <a:r>
              <a:rPr dirty="0" sz="1200" spc="-5" b="1">
                <a:latin typeface="Times New Roman"/>
                <a:cs typeface="Times New Roman"/>
              </a:rPr>
              <a:t>Inferences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Literature: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50800" marR="2819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If you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fond of reading novels, short stories, poetry, etc.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might be aware that </a:t>
            </a:r>
            <a:r>
              <a:rPr dirty="0" sz="1200">
                <a:latin typeface="Times New Roman"/>
                <a:cs typeface="Times New Roman"/>
              </a:rPr>
              <a:t> inference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understanding and </a:t>
            </a:r>
            <a:r>
              <a:rPr dirty="0" sz="1200">
                <a:latin typeface="Times New Roman"/>
                <a:cs typeface="Times New Roman"/>
              </a:rPr>
              <a:t>appreciating </a:t>
            </a:r>
            <a:r>
              <a:rPr dirty="0" sz="1200" spc="-5">
                <a:latin typeface="Times New Roman"/>
                <a:cs typeface="Times New Roman"/>
              </a:rPr>
              <a:t>literature. While </a:t>
            </a:r>
            <a:r>
              <a:rPr dirty="0" sz="1200">
                <a:latin typeface="Times New Roman"/>
                <a:cs typeface="Times New Roman"/>
              </a:rPr>
              <a:t>nonfiction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writers,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is, writers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factual material, usually </a:t>
            </a:r>
            <a:r>
              <a:rPr dirty="0" sz="1200">
                <a:latin typeface="Times New Roman"/>
                <a:cs typeface="Times New Roman"/>
              </a:rPr>
              <a:t>state directly what they </a:t>
            </a:r>
            <a:r>
              <a:rPr dirty="0" sz="1200" spc="-5">
                <a:latin typeface="Times New Roman"/>
                <a:cs typeface="Times New Roman"/>
              </a:rPr>
              <a:t>mean, </a:t>
            </a:r>
            <a:r>
              <a:rPr dirty="0" sz="1200">
                <a:latin typeface="Times New Roman"/>
                <a:cs typeface="Times New Roman"/>
              </a:rPr>
              <a:t>fiction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creative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often </a:t>
            </a:r>
            <a:r>
              <a:rPr dirty="0" sz="1200" spc="-5" i="1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what they </a:t>
            </a:r>
            <a:r>
              <a:rPr dirty="0" sz="1200" spc="-5">
                <a:latin typeface="Times New Roman"/>
                <a:cs typeface="Times New Roman"/>
              </a:rPr>
              <a:t>mean </a:t>
            </a:r>
            <a:r>
              <a:rPr dirty="0" sz="1200">
                <a:latin typeface="Times New Roman"/>
                <a:cs typeface="Times New Roman"/>
              </a:rPr>
              <a:t>by describing the </a:t>
            </a:r>
            <a:r>
              <a:rPr dirty="0" sz="1200" spc="-5">
                <a:latin typeface="Times New Roman"/>
                <a:cs typeface="Times New Roman"/>
              </a:rPr>
              <a:t>scene </a:t>
            </a:r>
            <a:r>
              <a:rPr dirty="0" sz="1200">
                <a:latin typeface="Times New Roman"/>
                <a:cs typeface="Times New Roman"/>
              </a:rPr>
              <a:t>or situation.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for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 to </a:t>
            </a:r>
            <a:r>
              <a:rPr dirty="0" sz="1200" i="1">
                <a:latin typeface="Times New Roman"/>
                <a:cs typeface="Times New Roman"/>
              </a:rPr>
              <a:t>infer </a:t>
            </a:r>
            <a:r>
              <a:rPr dirty="0" sz="1200">
                <a:latin typeface="Times New Roman"/>
                <a:cs typeface="Times New Roman"/>
              </a:rPr>
              <a:t>the point of what the writer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 say. I shall </a:t>
            </a:r>
            <a:r>
              <a:rPr dirty="0" sz="1200" spc="-5">
                <a:latin typeface="Times New Roman"/>
                <a:cs typeface="Times New Roman"/>
              </a:rPr>
              <a:t>illustrate this </a:t>
            </a:r>
            <a:r>
              <a:rPr dirty="0" sz="1200">
                <a:latin typeface="Times New Roman"/>
                <a:cs typeface="Times New Roman"/>
              </a:rPr>
              <a:t>with an </a:t>
            </a:r>
            <a:r>
              <a:rPr dirty="0" sz="1200" spc="-5">
                <a:latin typeface="Times New Roman"/>
                <a:cs typeface="Times New Roman"/>
              </a:rPr>
              <a:t>example.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non-fiction writer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>
                <a:latin typeface="Times New Roman"/>
                <a:cs typeface="Times New Roman"/>
              </a:rPr>
              <a:t> write: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ts val="1315"/>
              </a:lnSpc>
            </a:pPr>
            <a:r>
              <a:rPr dirty="0" sz="1200" spc="-5" i="1">
                <a:latin typeface="Times New Roman"/>
                <a:cs typeface="Times New Roman"/>
              </a:rPr>
              <a:t>Henry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angry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wife.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fiction/creative writer might </a:t>
            </a:r>
            <a:r>
              <a:rPr dirty="0" sz="1200">
                <a:latin typeface="Times New Roman"/>
                <a:cs typeface="Times New Roman"/>
              </a:rPr>
              <a:t>write:</a:t>
            </a:r>
            <a:endParaRPr sz="120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80"/>
              </a:lnSpc>
              <a:spcBef>
                <a:spcPts val="70"/>
              </a:spcBef>
            </a:pPr>
            <a:r>
              <a:rPr dirty="0" sz="1200" spc="-5" i="1">
                <a:latin typeface="Times New Roman"/>
                <a:cs typeface="Times New Roman"/>
              </a:rPr>
              <a:t>Henry’s </a:t>
            </a:r>
            <a:r>
              <a:rPr dirty="0" sz="1200" i="1">
                <a:latin typeface="Times New Roman"/>
                <a:cs typeface="Times New Roman"/>
              </a:rPr>
              <a:t>eyes narrowed when </a:t>
            </a:r>
            <a:r>
              <a:rPr dirty="0" sz="1200" spc="-5" i="1">
                <a:latin typeface="Times New Roman"/>
                <a:cs typeface="Times New Roman"/>
              </a:rPr>
              <a:t>his wife spoke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him. He cut her off </a:t>
            </a:r>
            <a:r>
              <a:rPr dirty="0" sz="1200" i="1">
                <a:latin typeface="Times New Roman"/>
                <a:cs typeface="Times New Roman"/>
              </a:rPr>
              <a:t>in the middle </a:t>
            </a:r>
            <a:r>
              <a:rPr dirty="0" sz="1200" spc="-5" i="1">
                <a:latin typeface="Times New Roman"/>
                <a:cs typeface="Times New Roman"/>
              </a:rPr>
              <a:t>of the </a:t>
            </a:r>
            <a:r>
              <a:rPr dirty="0" sz="1200" i="1">
                <a:latin typeface="Times New Roman"/>
                <a:cs typeface="Times New Roman"/>
              </a:rPr>
              <a:t> sentence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 the </a:t>
            </a:r>
            <a:r>
              <a:rPr dirty="0" sz="1200" spc="-5" i="1">
                <a:latin typeface="Times New Roman"/>
                <a:cs typeface="Times New Roman"/>
              </a:rPr>
              <a:t>words,”</a:t>
            </a:r>
            <a:r>
              <a:rPr dirty="0" sz="1200" i="1">
                <a:latin typeface="Times New Roman"/>
                <a:cs typeface="Times New Roman"/>
              </a:rPr>
              <a:t> 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time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argue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you.”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23</a:t>
            </a:r>
            <a:endParaRPr sz="120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Instead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simply</a:t>
            </a:r>
            <a:r>
              <a:rPr dirty="0" sz="1200">
                <a:latin typeface="Times New Roman"/>
                <a:cs typeface="Times New Roman"/>
              </a:rPr>
              <a:t> stating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angry,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creative</a:t>
            </a:r>
            <a:r>
              <a:rPr dirty="0" sz="1200">
                <a:latin typeface="Times New Roman"/>
                <a:cs typeface="Times New Roman"/>
              </a:rPr>
              <a:t> writer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description </a:t>
            </a:r>
            <a:r>
              <a:rPr dirty="0" sz="1200" spc="-5" i="1">
                <a:latin typeface="Times New Roman"/>
                <a:cs typeface="Times New Roman"/>
              </a:rPr>
              <a:t>shown </a:t>
            </a:r>
            <a:r>
              <a:rPr dirty="0" sz="1200">
                <a:latin typeface="Times New Roman"/>
                <a:cs typeface="Times New Roman"/>
              </a:rPr>
              <a:t>Henry’s anger. If you read literature – poetry, short stories, novels,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biographies, </a:t>
            </a:r>
            <a:r>
              <a:rPr dirty="0" sz="1200">
                <a:latin typeface="Times New Roman"/>
                <a:cs typeface="Times New Roman"/>
              </a:rPr>
              <a:t>etc… you need to apply inference </a:t>
            </a:r>
            <a:r>
              <a:rPr dirty="0" sz="1200" spc="-5">
                <a:latin typeface="Times New Roman"/>
                <a:cs typeface="Times New Roman"/>
              </a:rPr>
              <a:t>skills.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understanding </a:t>
            </a:r>
            <a:r>
              <a:rPr dirty="0" sz="1200">
                <a:latin typeface="Times New Roman"/>
                <a:cs typeface="Times New Roman"/>
              </a:rPr>
              <a:t>and appreciation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such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where a lot of </a:t>
            </a:r>
            <a:r>
              <a:rPr dirty="0" sz="1200" spc="-5">
                <a:latin typeface="Times New Roman"/>
                <a:cs typeface="Times New Roman"/>
              </a:rPr>
              <a:t>meaning is implied </a:t>
            </a:r>
            <a:r>
              <a:rPr dirty="0" sz="1200">
                <a:latin typeface="Times New Roman"/>
                <a:cs typeface="Times New Roman"/>
              </a:rPr>
              <a:t>i.e. not </a:t>
            </a:r>
            <a:r>
              <a:rPr dirty="0" sz="1200" spc="-5">
                <a:latin typeface="Times New Roman"/>
                <a:cs typeface="Times New Roman"/>
              </a:rPr>
              <a:t>stated directly, will depend on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skill. </a:t>
            </a:r>
            <a:r>
              <a:rPr dirty="0" sz="1200" spc="-5">
                <a:latin typeface="Times New Roman"/>
                <a:cs typeface="Times New Roman"/>
              </a:rPr>
              <a:t>Now, </a:t>
            </a:r>
            <a:r>
              <a:rPr dirty="0" sz="1200">
                <a:latin typeface="Times New Roman"/>
                <a:cs typeface="Times New Roman"/>
              </a:rPr>
              <a:t>I shall </a:t>
            </a:r>
            <a:r>
              <a:rPr dirty="0" sz="1200" spc="-5">
                <a:latin typeface="Times New Roman"/>
                <a:cs typeface="Times New Roman"/>
              </a:rPr>
              <a:t>read </a:t>
            </a:r>
            <a:r>
              <a:rPr dirty="0" sz="1200">
                <a:latin typeface="Times New Roman"/>
                <a:cs typeface="Times New Roman"/>
              </a:rPr>
              <a:t>a very </a:t>
            </a:r>
            <a:r>
              <a:rPr dirty="0" sz="1200" spc="-5">
                <a:latin typeface="Times New Roman"/>
                <a:cs typeface="Times New Roman"/>
              </a:rPr>
              <a:t>short </a:t>
            </a:r>
            <a:r>
              <a:rPr dirty="0" sz="1200">
                <a:latin typeface="Times New Roman"/>
                <a:cs typeface="Times New Roman"/>
              </a:rPr>
              <a:t>poem of four </a:t>
            </a:r>
            <a:r>
              <a:rPr dirty="0" sz="1200" spc="-5">
                <a:latin typeface="Times New Roman"/>
                <a:cs typeface="Times New Roman"/>
              </a:rPr>
              <a:t>lines. It is </a:t>
            </a:r>
            <a:r>
              <a:rPr dirty="0" sz="1200">
                <a:latin typeface="Times New Roman"/>
                <a:cs typeface="Times New Roman"/>
              </a:rPr>
              <a:t>written by the </a:t>
            </a:r>
            <a:r>
              <a:rPr dirty="0" sz="1200" spc="-5">
                <a:latin typeface="Times New Roman"/>
                <a:cs typeface="Times New Roman"/>
              </a:rPr>
              <a:t>American poet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Russell</a:t>
            </a:r>
            <a:r>
              <a:rPr dirty="0" sz="1200">
                <a:latin typeface="Times New Roman"/>
                <a:cs typeface="Times New Roman"/>
              </a:rPr>
              <a:t> Lowell </a:t>
            </a:r>
            <a:r>
              <a:rPr dirty="0" sz="1200" spc="-5">
                <a:latin typeface="Times New Roman"/>
                <a:cs typeface="Times New Roman"/>
              </a:rPr>
              <a:t>and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“Sixty </a:t>
            </a:r>
            <a:r>
              <a:rPr dirty="0" sz="1200" b="1">
                <a:latin typeface="Times New Roman"/>
                <a:cs typeface="Times New Roman"/>
              </a:rPr>
              <a:t>–</a:t>
            </a:r>
            <a:r>
              <a:rPr dirty="0" sz="1200" spc="-5" b="1">
                <a:latin typeface="Times New Roman"/>
                <a:cs typeface="Times New Roman"/>
              </a:rPr>
              <a:t> Eight Birthday”.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  <a:p>
            <a:pPr marL="50800" marR="352361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strange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endParaRPr sz="1200">
              <a:latin typeface="Times New Roman"/>
              <a:cs typeface="Times New Roman"/>
            </a:endParaRPr>
          </a:p>
          <a:p>
            <a:pPr marL="50800" marR="3467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milestones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headstones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‘Neath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J.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R.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Lowell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 marR="284480">
              <a:lnSpc>
                <a:spcPts val="138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Milestone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>
                <a:latin typeface="Times New Roman"/>
                <a:cs typeface="Times New Roman"/>
              </a:rPr>
              <a:t>a slab of stone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up in the ground to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the distance in </a:t>
            </a:r>
            <a:r>
              <a:rPr dirty="0" sz="1200" spc="-5">
                <a:latin typeface="Times New Roman"/>
                <a:cs typeface="Times New Roman"/>
              </a:rPr>
              <a:t>miles </a:t>
            </a:r>
            <a:r>
              <a:rPr dirty="0" sz="1200">
                <a:latin typeface="Times New Roman"/>
                <a:cs typeface="Times New Roman"/>
              </a:rPr>
              <a:t>on a road.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Headstone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stone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grave,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buried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person’s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 </a:t>
            </a:r>
            <a:r>
              <a:rPr dirty="0" sz="1200">
                <a:latin typeface="Times New Roman"/>
                <a:cs typeface="Times New Roman"/>
              </a:rPr>
              <a:t>on it.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  <a:p>
            <a:pPr algn="just" marL="50800" marR="2838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05104" algn="l"/>
              </a:tabLst>
            </a:pP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infer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the speaker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poem is </a:t>
            </a:r>
            <a:r>
              <a:rPr dirty="0" sz="1200">
                <a:latin typeface="Times New Roman"/>
                <a:cs typeface="Times New Roman"/>
              </a:rPr>
              <a:t>sixty-eight although the poem does not state 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speaker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sixty </a:t>
            </a:r>
            <a:r>
              <a:rPr dirty="0" sz="1200" spc="-5">
                <a:latin typeface="Times New Roman"/>
                <a:cs typeface="Times New Roman"/>
              </a:rPr>
              <a:t>eight. </a:t>
            </a:r>
            <a:r>
              <a:rPr dirty="0" sz="1200">
                <a:latin typeface="Times New Roman"/>
                <a:cs typeface="Times New Roman"/>
              </a:rPr>
              <a:t>The title of the poem strongly </a:t>
            </a:r>
            <a:r>
              <a:rPr dirty="0" sz="1200" spc="-5">
                <a:latin typeface="Times New Roman"/>
                <a:cs typeface="Times New Roman"/>
              </a:rPr>
              <a:t>implies</a:t>
            </a:r>
            <a:r>
              <a:rPr dirty="0" sz="1200">
                <a:latin typeface="Times New Roman"/>
                <a:cs typeface="Times New Roman"/>
              </a:rPr>
              <a:t> it. That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purpose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title.</a:t>
            </a:r>
            <a:endParaRPr sz="1200">
              <a:latin typeface="Times New Roman"/>
              <a:cs typeface="Times New Roman"/>
            </a:endParaRPr>
          </a:p>
          <a:p>
            <a:pPr algn="just" marL="50800" marR="281305">
              <a:lnSpc>
                <a:spcPts val="1380"/>
              </a:lnSpc>
              <a:buFont typeface="Times New Roman"/>
              <a:buAutoNum type="arabi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The poem </a:t>
            </a:r>
            <a:r>
              <a:rPr dirty="0" sz="1200" spc="-5">
                <a:latin typeface="Times New Roman"/>
                <a:cs typeface="Times New Roman"/>
              </a:rPr>
              <a:t>compares </a:t>
            </a:r>
            <a:r>
              <a:rPr dirty="0" sz="1200">
                <a:latin typeface="Times New Roman"/>
                <a:cs typeface="Times New Roman"/>
              </a:rPr>
              <a:t>life to a road with </a:t>
            </a:r>
            <a:r>
              <a:rPr dirty="0" sz="1200" spc="-5">
                <a:latin typeface="Times New Roman"/>
                <a:cs typeface="Times New Roman"/>
              </a:rPr>
              <a:t>milestones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baseline="31250" sz="1200" spc="-7">
                <a:latin typeface="Times New Roman"/>
                <a:cs typeface="Times New Roman"/>
              </a:rPr>
              <a:t>st </a:t>
            </a:r>
            <a:r>
              <a:rPr dirty="0" sz="1200">
                <a:latin typeface="Times New Roman"/>
                <a:cs typeface="Times New Roman"/>
              </a:rPr>
              <a:t>&amp; 3rd lines </a:t>
            </a:r>
            <a:r>
              <a:rPr dirty="0" sz="1200" spc="-5">
                <a:latin typeface="Times New Roman"/>
                <a:cs typeface="Times New Roman"/>
              </a:rPr>
              <a:t>suggest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life runs </a:t>
            </a:r>
            <a:r>
              <a:rPr dirty="0" sz="1200">
                <a:latin typeface="Times New Roman"/>
                <a:cs typeface="Times New Roman"/>
              </a:rPr>
              <a:t> on a road marked by </a:t>
            </a:r>
            <a:r>
              <a:rPr dirty="0" sz="1200" spc="-5">
                <a:latin typeface="Times New Roman"/>
                <a:cs typeface="Times New Roman"/>
              </a:rPr>
              <a:t>milestones </a:t>
            </a:r>
            <a:r>
              <a:rPr dirty="0" sz="1200">
                <a:latin typeface="Times New Roman"/>
                <a:cs typeface="Times New Roman"/>
              </a:rPr>
              <a:t>along it. </a:t>
            </a:r>
            <a:r>
              <a:rPr dirty="0" sz="1200" spc="-5">
                <a:latin typeface="Times New Roman"/>
                <a:cs typeface="Times New Roman"/>
              </a:rPr>
              <a:t>As we </a:t>
            </a:r>
            <a:r>
              <a:rPr dirty="0" sz="1200">
                <a:latin typeface="Times New Roman"/>
                <a:cs typeface="Times New Roman"/>
              </a:rPr>
              <a:t>move along the road, </a:t>
            </a:r>
            <a:r>
              <a:rPr dirty="0" sz="1200" spc="-5">
                <a:latin typeface="Times New Roman"/>
                <a:cs typeface="Times New Roman"/>
              </a:rPr>
              <a:t>we meet new </a:t>
            </a:r>
            <a:r>
              <a:rPr dirty="0" sz="1200">
                <a:latin typeface="Times New Roman"/>
                <a:cs typeface="Times New Roman"/>
              </a:rPr>
              <a:t>faces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5">
                <a:latin typeface="Times New Roman"/>
                <a:cs typeface="Times New Roman"/>
              </a:rPr>
              <a:t> 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not </a:t>
            </a:r>
            <a:r>
              <a:rPr dirty="0" sz="1200" spc="-5">
                <a:latin typeface="Times New Roman"/>
                <a:cs typeface="Times New Roman"/>
              </a:rPr>
              <a:t>familiar</a:t>
            </a:r>
            <a:r>
              <a:rPr dirty="0" sz="1200">
                <a:latin typeface="Times New Roman"/>
                <a:cs typeface="Times New Roman"/>
              </a:rPr>
              <a:t> with.</a:t>
            </a:r>
            <a:endParaRPr sz="1200">
              <a:latin typeface="Times New Roman"/>
              <a:cs typeface="Times New Roman"/>
            </a:endParaRPr>
          </a:p>
          <a:p>
            <a:pPr algn="just" marL="50800" marR="282575">
              <a:lnSpc>
                <a:spcPts val="1380"/>
              </a:lnSpc>
              <a:buFont typeface="Times New Roman"/>
              <a:buAutoNum type="arabicPeriod"/>
              <a:tabLst>
                <a:tab pos="215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poem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birthdays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milestones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covered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 lived.</a:t>
            </a:r>
            <a:endParaRPr sz="120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time </a:t>
            </a:r>
            <a:r>
              <a:rPr dirty="0" sz="1200">
                <a:latin typeface="Times New Roman"/>
                <a:cs typeface="Times New Roman"/>
              </a:rPr>
              <a:t>comes when </a:t>
            </a:r>
            <a:r>
              <a:rPr dirty="0" sz="1200" spc="-5">
                <a:latin typeface="Times New Roman"/>
                <a:cs typeface="Times New Roman"/>
              </a:rPr>
              <a:t>life’s milestones </a:t>
            </a:r>
            <a:r>
              <a:rPr dirty="0" sz="1200">
                <a:latin typeface="Times New Roman"/>
                <a:cs typeface="Times New Roman"/>
              </a:rPr>
              <a:t>turn into headstones, the </a:t>
            </a:r>
            <a:r>
              <a:rPr dirty="0" sz="1200" spc="-5" b="1">
                <a:latin typeface="Times New Roman"/>
                <a:cs typeface="Times New Roman"/>
              </a:rPr>
              <a:t>markers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graves,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75</a:t>
            </a:fld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. The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>
                <a:latin typeface="Times New Roman"/>
                <a:cs typeface="Times New Roman"/>
              </a:rPr>
              <a:t>line </a:t>
            </a:r>
            <a:r>
              <a:rPr dirty="0" sz="1200" spc="-5">
                <a:latin typeface="Times New Roman"/>
                <a:cs typeface="Times New Roman"/>
              </a:rPr>
              <a:t>implies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as we </a:t>
            </a:r>
            <a:r>
              <a:rPr dirty="0" sz="1200">
                <a:latin typeface="Times New Roman"/>
                <a:cs typeface="Times New Roman"/>
              </a:rPr>
              <a:t>get </a:t>
            </a:r>
            <a:r>
              <a:rPr dirty="0" sz="1200" spc="-5">
                <a:latin typeface="Times New Roman"/>
                <a:cs typeface="Times New Roman"/>
              </a:rPr>
              <a:t>older, </a:t>
            </a:r>
            <a:r>
              <a:rPr dirty="0" sz="1200">
                <a:latin typeface="Times New Roman"/>
                <a:cs typeface="Times New Roman"/>
              </a:rPr>
              <a:t>more and more friends die. Under all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headstones are </a:t>
            </a:r>
            <a:r>
              <a:rPr dirty="0" sz="1200" spc="-5">
                <a:latin typeface="Times New Roman"/>
                <a:cs typeface="Times New Roman"/>
              </a:rPr>
              <a:t>friends.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poem.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 the poem titled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‘Fog’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Sandburg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questions given 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Fog</a:t>
            </a:r>
            <a:endParaRPr sz="1200">
              <a:latin typeface="Times New Roman"/>
              <a:cs typeface="Times New Roman"/>
            </a:endParaRPr>
          </a:p>
          <a:p>
            <a:pPr marL="12700" marR="484759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fog comes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feet.</a:t>
            </a:r>
            <a:endParaRPr sz="1200">
              <a:latin typeface="Times New Roman"/>
              <a:cs typeface="Times New Roman"/>
            </a:endParaRPr>
          </a:p>
          <a:p>
            <a:pPr marL="12700" marR="373062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It sets </a:t>
            </a:r>
            <a:r>
              <a:rPr dirty="0" sz="1200">
                <a:latin typeface="Times New Roman"/>
                <a:cs typeface="Times New Roman"/>
              </a:rPr>
              <a:t>looking </a:t>
            </a:r>
            <a:r>
              <a:rPr dirty="0" sz="1200" spc="-5">
                <a:latin typeface="Times New Roman"/>
                <a:cs typeface="Times New Roman"/>
              </a:rPr>
              <a:t>ones harbor </a:t>
            </a:r>
            <a:r>
              <a:rPr dirty="0" sz="1200">
                <a:latin typeface="Times New Roman"/>
                <a:cs typeface="Times New Roman"/>
              </a:rPr>
              <a:t>and city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silent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haunches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Sandburg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Put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tick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mark</a:t>
            </a:r>
            <a:r>
              <a:rPr dirty="0" sz="1200" spc="-5" b="1">
                <a:latin typeface="Times New Roman"/>
                <a:cs typeface="Times New Roman"/>
              </a:rPr>
              <a:t> against the answer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that 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based on the poem.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way </a:t>
            </a:r>
            <a:r>
              <a:rPr dirty="0" sz="1200">
                <a:latin typeface="Times New Roman"/>
                <a:cs typeface="Times New Roman"/>
              </a:rPr>
              <a:t>the fog</a:t>
            </a:r>
            <a:r>
              <a:rPr dirty="0" sz="1200" spc="-5">
                <a:latin typeface="Times New Roman"/>
                <a:cs typeface="Times New Roman"/>
              </a:rPr>
              <a:t> moves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compared </a:t>
            </a:r>
            <a:r>
              <a:rPr dirty="0" sz="1200">
                <a:latin typeface="Times New Roman"/>
                <a:cs typeface="Times New Roman"/>
              </a:rPr>
              <a:t>to: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movements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harbor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movements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endParaRPr sz="1200">
              <a:latin typeface="Times New Roman"/>
              <a:cs typeface="Times New Roman"/>
            </a:endParaRPr>
          </a:p>
          <a:p>
            <a:pPr lvl="1" marL="12700" marR="444182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comparison</a:t>
            </a:r>
            <a:r>
              <a:rPr dirty="0" sz="1200" spc="-5">
                <a:latin typeface="Times New Roman"/>
                <a:cs typeface="Times New Roman"/>
              </a:rPr>
              <a:t> implies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fog: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floats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harbor.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hangs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moves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silently.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comparison </a:t>
            </a:r>
            <a:r>
              <a:rPr dirty="0" sz="1200">
                <a:latin typeface="Times New Roman"/>
                <a:cs typeface="Times New Roman"/>
              </a:rPr>
              <a:t>with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 </a:t>
            </a:r>
            <a:r>
              <a:rPr dirty="0" sz="1200" spc="-5">
                <a:latin typeface="Times New Roman"/>
                <a:cs typeface="Times New Roman"/>
              </a:rPr>
              <a:t>continues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word: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harbor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haunches</a:t>
            </a:r>
            <a:endParaRPr sz="1200">
              <a:latin typeface="Times New Roman"/>
              <a:cs typeface="Times New Roman"/>
            </a:endParaRPr>
          </a:p>
          <a:p>
            <a:pPr lvl="1" marL="156845" indent="-144780">
              <a:lnSpc>
                <a:spcPts val="1410"/>
              </a:lnSpc>
              <a:buAutoNum type="alphaLcPeriod"/>
              <a:tabLst>
                <a:tab pos="157480" algn="l"/>
              </a:tabLst>
            </a:pPr>
            <a:r>
              <a:rPr dirty="0" sz="1200">
                <a:latin typeface="Times New Roman"/>
                <a:cs typeface="Times New Roman"/>
              </a:rPr>
              <a:t>city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fog: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stays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leaves.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stays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long.</a:t>
            </a:r>
            <a:endParaRPr sz="1200">
              <a:latin typeface="Times New Roman"/>
              <a:cs typeface="Times New Roman"/>
            </a:endParaRPr>
          </a:p>
          <a:p>
            <a:pPr lvl="1" marL="156210" marR="5008245" indent="-14414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stays.</a:t>
            </a:r>
            <a:endParaRPr sz="1200">
              <a:latin typeface="Times New Roman"/>
              <a:cs typeface="Times New Roman"/>
            </a:endParaRPr>
          </a:p>
          <a:p>
            <a:pPr marL="12700" marR="50082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 startAt="5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as: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dangerous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quiet</a:t>
            </a:r>
            <a:endParaRPr sz="1200">
              <a:latin typeface="Times New Roman"/>
              <a:cs typeface="Times New Roman"/>
            </a:endParaRPr>
          </a:p>
          <a:p>
            <a:pPr lvl="1" marL="156845" indent="-144780">
              <a:lnSpc>
                <a:spcPts val="1410"/>
              </a:lnSpc>
              <a:buAutoNum type="alphaLcPeriod"/>
              <a:tabLst>
                <a:tab pos="157480" algn="l"/>
              </a:tabLst>
            </a:pPr>
            <a:r>
              <a:rPr dirty="0" sz="1200">
                <a:latin typeface="Times New Roman"/>
                <a:cs typeface="Times New Roman"/>
              </a:rPr>
              <a:t>full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movement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Another way in which writers can indicate </a:t>
            </a:r>
            <a:r>
              <a:rPr dirty="0" sz="1200" spc="-5">
                <a:latin typeface="Times New Roman"/>
                <a:cs typeface="Times New Roman"/>
              </a:rPr>
              <a:t>character is </a:t>
            </a:r>
            <a:r>
              <a:rPr dirty="0" sz="1200">
                <a:latin typeface="Times New Roman"/>
                <a:cs typeface="Times New Roman"/>
              </a:rPr>
              <a:t>through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put </a:t>
            </a:r>
            <a:r>
              <a:rPr dirty="0" sz="1200">
                <a:latin typeface="Times New Roman"/>
                <a:cs typeface="Times New Roman"/>
              </a:rPr>
              <a:t>into their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character’s mouths. The readers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to read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>
                <a:latin typeface="Times New Roman"/>
                <a:cs typeface="Times New Roman"/>
              </a:rPr>
              <a:t>the lines and </a:t>
            </a:r>
            <a:r>
              <a:rPr dirty="0" sz="1200" spc="-5">
                <a:latin typeface="Times New Roman"/>
                <a:cs typeface="Times New Roman"/>
              </a:rPr>
              <a:t>infer meanings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directly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novels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genres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literature.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drama,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playwrights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audience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dialogue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inference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depict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diversity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characterization.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important-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dramatist’s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reveal his </a:t>
            </a:r>
            <a:r>
              <a:rPr dirty="0" sz="1200">
                <a:latin typeface="Times New Roman"/>
                <a:cs typeface="Times New Roman"/>
              </a:rPr>
              <a:t>characters through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speech,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writers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well.</a:t>
            </a:r>
            <a:endParaRPr sz="1200">
              <a:latin typeface="Times New Roman"/>
              <a:cs typeface="Times New Roman"/>
            </a:endParaRPr>
          </a:p>
          <a:p>
            <a:pPr marL="12700" marR="35045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P.G.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house’s </a:t>
            </a:r>
            <a:r>
              <a:rPr dirty="0" sz="1200">
                <a:latin typeface="Times New Roman"/>
                <a:cs typeface="Times New Roman"/>
              </a:rPr>
              <a:t>‘Thank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Jeeves’.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78</a:t>
            </a:fld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120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3586479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‘Jeeves’,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‘do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what?’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‘No </a:t>
            </a:r>
            <a:r>
              <a:rPr dirty="0" sz="1200">
                <a:latin typeface="Times New Roman"/>
                <a:cs typeface="Times New Roman"/>
              </a:rPr>
              <a:t>sir.’ 32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‘No,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sir.</a:t>
            </a:r>
            <a:endParaRPr sz="1200">
              <a:latin typeface="Times New Roman"/>
              <a:cs typeface="Times New Roman"/>
            </a:endParaRPr>
          </a:p>
          <a:p>
            <a:pPr marL="12700" marR="353949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‘Do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night?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‘No,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sir.”</a:t>
            </a:r>
            <a:endParaRPr sz="1200">
              <a:latin typeface="Times New Roman"/>
              <a:cs typeface="Times New Roman"/>
            </a:endParaRPr>
          </a:p>
          <a:p>
            <a:pPr marL="12700" marR="354076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‘J.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Washburn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Stoker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daughter,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Pauline.’</a:t>
            </a:r>
            <a:endParaRPr sz="1200">
              <a:latin typeface="Times New Roman"/>
              <a:cs typeface="Times New Roman"/>
            </a:endParaRPr>
          </a:p>
          <a:p>
            <a:pPr marL="12700" marR="47301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‘Indeed, </a:t>
            </a:r>
            <a:r>
              <a:rPr dirty="0" sz="1200" spc="-10">
                <a:latin typeface="Times New Roman"/>
                <a:cs typeface="Times New Roman"/>
              </a:rPr>
              <a:t>sir?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‘Awkward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what?’  </a:t>
            </a:r>
            <a:r>
              <a:rPr dirty="0" sz="1200">
                <a:latin typeface="Times New Roman"/>
                <a:cs typeface="Times New Roman"/>
              </a:rPr>
              <a:t>33</a:t>
            </a:r>
            <a:endParaRPr sz="1200">
              <a:latin typeface="Times New Roman"/>
              <a:cs typeface="Times New Roman"/>
            </a:endParaRPr>
          </a:p>
          <a:p>
            <a:pPr marL="12700" marR="32054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‘I </a:t>
            </a:r>
            <a:r>
              <a:rPr dirty="0" sz="1200">
                <a:latin typeface="Times New Roman"/>
                <a:cs typeface="Times New Roman"/>
              </a:rPr>
              <a:t>can conceive that after </a:t>
            </a:r>
            <a:r>
              <a:rPr dirty="0" sz="1200" spc="-5">
                <a:latin typeface="Times New Roman"/>
                <a:cs typeface="Times New Roman"/>
              </a:rPr>
              <a:t>what occurred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York it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distressing </a:t>
            </a:r>
            <a:r>
              <a:rPr dirty="0" sz="1200">
                <a:latin typeface="Times New Roman"/>
                <a:cs typeface="Times New Roman"/>
              </a:rPr>
              <a:t>for you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encounter </a:t>
            </a:r>
            <a:r>
              <a:rPr dirty="0" sz="1200" spc="-5">
                <a:latin typeface="Times New Roman"/>
                <a:cs typeface="Times New Roman"/>
              </a:rPr>
              <a:t>Miss Stoker, sir. But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fancy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contingency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scarcely arise.’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weighed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this.</a:t>
            </a:r>
            <a:endParaRPr sz="1200">
              <a:latin typeface="Times New Roman"/>
              <a:cs typeface="Times New Roman"/>
            </a:endParaRPr>
          </a:p>
          <a:p>
            <a:pPr marL="12700" marR="31756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‘When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talking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contingencies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arising, </a:t>
            </a:r>
            <a:r>
              <a:rPr dirty="0" sz="1200" spc="-5">
                <a:latin typeface="Times New Roman"/>
                <a:cs typeface="Times New Roman"/>
              </a:rPr>
              <a:t>Jeeves,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brain seems </a:t>
            </a:r>
            <a:r>
              <a:rPr dirty="0" sz="1200">
                <a:latin typeface="Times New Roman"/>
                <a:cs typeface="Times New Roman"/>
              </a:rPr>
              <a:t>to flicker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 rather </a:t>
            </a:r>
            <a:r>
              <a:rPr dirty="0" sz="1200" spc="-5">
                <a:latin typeface="Times New Roman"/>
                <a:cs typeface="Times New Roman"/>
              </a:rPr>
              <a:t>miss </a:t>
            </a:r>
            <a:r>
              <a:rPr dirty="0" sz="1200">
                <a:latin typeface="Times New Roman"/>
                <a:cs typeface="Times New Roman"/>
              </a:rPr>
              <a:t>the gist.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mean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ought to be able to keep out of her way?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‘Yes, sir.’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  <a:p>
            <a:pPr marL="12700" marR="513969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‘Avoid her?  </a:t>
            </a:r>
            <a:r>
              <a:rPr dirty="0" sz="1200">
                <a:latin typeface="Times New Roman"/>
                <a:cs typeface="Times New Roman"/>
              </a:rPr>
              <a:t>‘Yes,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sir.’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(P.G. WODEHOUSE,</a:t>
            </a:r>
            <a:r>
              <a:rPr dirty="0" sz="1200">
                <a:latin typeface="Times New Roman"/>
                <a:cs typeface="Times New Roman"/>
              </a:rPr>
              <a:t> Thank You,</a:t>
            </a:r>
            <a:r>
              <a:rPr dirty="0" sz="1200" spc="-5">
                <a:latin typeface="Times New Roman"/>
                <a:cs typeface="Times New Roman"/>
              </a:rPr>
              <a:t> Jeeves)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Jeeves’s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Apart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one’s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economical.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Jeeves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attitude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towards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master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economy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speech?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Jeeves</a:t>
            </a:r>
            <a:r>
              <a:rPr dirty="0" sz="1200">
                <a:latin typeface="Times New Roman"/>
                <a:cs typeface="Times New Roman"/>
              </a:rPr>
              <a:t> actually </a:t>
            </a:r>
            <a:r>
              <a:rPr dirty="0" sz="1200" spc="-5">
                <a:latin typeface="Times New Roman"/>
                <a:cs typeface="Times New Roman"/>
              </a:rPr>
              <a:t>says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what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implied?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35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today's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you’ve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non-fiction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factual </a:t>
            </a:r>
            <a:r>
              <a:rPr dirty="0" sz="1200">
                <a:latin typeface="Times New Roman"/>
                <a:cs typeface="Times New Roman"/>
              </a:rPr>
              <a:t>writing and then in </a:t>
            </a:r>
            <a:r>
              <a:rPr dirty="0" sz="1200" spc="-5">
                <a:latin typeface="Times New Roman"/>
                <a:cs typeface="Times New Roman"/>
              </a:rPr>
              <a:t>creative </a:t>
            </a:r>
            <a:r>
              <a:rPr dirty="0" sz="1200">
                <a:latin typeface="Times New Roman"/>
                <a:cs typeface="Times New Roman"/>
              </a:rPr>
              <a:t>writing for finding out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stated </a:t>
            </a:r>
            <a:r>
              <a:rPr dirty="0" sz="1200">
                <a:latin typeface="Times New Roman"/>
                <a:cs typeface="Times New Roman"/>
              </a:rPr>
              <a:t> directly.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skill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can</a:t>
            </a:r>
            <a:r>
              <a:rPr dirty="0" sz="1200" spc="-5">
                <a:latin typeface="Times New Roman"/>
                <a:cs typeface="Times New Roman"/>
              </a:rPr>
              <a:t> 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acquire</a:t>
            </a:r>
            <a:r>
              <a:rPr dirty="0" sz="1200" spc="-5">
                <a:latin typeface="Times New Roman"/>
                <a:cs typeface="Times New Roman"/>
              </a:rPr>
              <a:t> by 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extensively.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049516"/>
            <a:ext cx="679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\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28700" y="7231380"/>
            <a:ext cx="43180" cy="14604"/>
          </a:xfrm>
          <a:custGeom>
            <a:avLst/>
            <a:gdLst/>
            <a:ahLst/>
            <a:cxnLst/>
            <a:rect l="l" t="t" r="r" b="b"/>
            <a:pathLst>
              <a:path w="43180" h="14604">
                <a:moveTo>
                  <a:pt x="42671" y="0"/>
                </a:moveTo>
                <a:lnTo>
                  <a:pt x="0" y="0"/>
                </a:lnTo>
                <a:lnTo>
                  <a:pt x="0" y="14478"/>
                </a:lnTo>
                <a:lnTo>
                  <a:pt x="42671" y="14478"/>
                </a:lnTo>
                <a:lnTo>
                  <a:pt x="426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78</a:t>
            </a:fld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66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Reading: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Assessing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Text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lesson we will </a:t>
            </a:r>
            <a:r>
              <a:rPr dirty="0" sz="1200">
                <a:latin typeface="Times New Roman"/>
                <a:cs typeface="Times New Roman"/>
              </a:rPr>
              <a:t>be looking at different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determining fact from opinion. In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second half, </a:t>
            </a:r>
            <a:r>
              <a:rPr dirty="0" sz="1200" spc="-5">
                <a:latin typeface="Times New Roman"/>
                <a:cs typeface="Times New Roman"/>
              </a:rPr>
              <a:t>we will </a:t>
            </a:r>
            <a:r>
              <a:rPr dirty="0" sz="1200">
                <a:latin typeface="Times New Roman"/>
                <a:cs typeface="Times New Roman"/>
              </a:rPr>
              <a:t>be looking at </a:t>
            </a:r>
            <a:r>
              <a:rPr dirty="0" sz="1200" spc="-5">
                <a:latin typeface="Times New Roman"/>
                <a:cs typeface="Times New Roman"/>
              </a:rPr>
              <a:t>different ways </a:t>
            </a:r>
            <a:r>
              <a:rPr dirty="0" sz="1200">
                <a:latin typeface="Times New Roman"/>
                <a:cs typeface="Times New Roman"/>
              </a:rPr>
              <a:t>of indicating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sequences in </a:t>
            </a:r>
            <a:r>
              <a:rPr dirty="0" sz="1200" spc="-5">
                <a:latin typeface="Times New Roman"/>
                <a:cs typeface="Times New Roman"/>
              </a:rPr>
              <a:t>practical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scientific texts.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Distinguishing</a:t>
            </a:r>
            <a:r>
              <a:rPr dirty="0" sz="1200" b="1">
                <a:latin typeface="Times New Roman"/>
                <a:cs typeface="Times New Roman"/>
              </a:rPr>
              <a:t> Facts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from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Opinions:</a:t>
            </a:r>
            <a:endParaRPr sz="1200">
              <a:latin typeface="Times New Roman"/>
              <a:cs typeface="Times New Roman"/>
            </a:endParaRPr>
          </a:p>
          <a:p>
            <a:pPr algn="just" marL="12700" marR="268605" indent="43815">
              <a:lnSpc>
                <a:spcPct val="95800"/>
              </a:lnSpc>
              <a:spcBef>
                <a:spcPts val="25"/>
              </a:spcBef>
            </a:pPr>
            <a:r>
              <a:rPr dirty="0" sz="1200" spc="-5">
                <a:latin typeface="Times New Roman"/>
                <a:cs typeface="Times New Roman"/>
              </a:rPr>
              <a:t>Being </a:t>
            </a:r>
            <a:r>
              <a:rPr dirty="0" sz="1200">
                <a:latin typeface="Times New Roman"/>
                <a:cs typeface="Times New Roman"/>
              </a:rPr>
              <a:t>able to </a:t>
            </a:r>
            <a:r>
              <a:rPr dirty="0" sz="1200" spc="-5">
                <a:latin typeface="Times New Roman"/>
                <a:cs typeface="Times New Roman"/>
              </a:rPr>
              <a:t>dissociate facts </a:t>
            </a:r>
            <a:r>
              <a:rPr dirty="0" sz="1200">
                <a:latin typeface="Times New Roman"/>
                <a:cs typeface="Times New Roman"/>
              </a:rPr>
              <a:t>from opinions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essential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step in acquiring a critical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ability.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</a:t>
            </a:r>
            <a:r>
              <a:rPr dirty="0" sz="1200">
                <a:latin typeface="Times New Roman"/>
                <a:cs typeface="Times New Roman"/>
              </a:rPr>
              <a:t> or </a:t>
            </a:r>
            <a:r>
              <a:rPr dirty="0" sz="1200" spc="-5">
                <a:latin typeface="Times New Roman"/>
                <a:cs typeface="Times New Roman"/>
              </a:rPr>
              <a:t>speakers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communicate, </a:t>
            </a:r>
            <a:r>
              <a:rPr dirty="0" sz="1200">
                <a:latin typeface="Times New Roman"/>
                <a:cs typeface="Times New Roman"/>
              </a:rPr>
              <a:t>they include their opinions of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they </a:t>
            </a:r>
            <a:r>
              <a:rPr dirty="0" sz="1200" spc="-5">
                <a:latin typeface="Times New Roman"/>
                <a:cs typeface="Times New Roman"/>
              </a:rPr>
              <a:t>say 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therefore,</a:t>
            </a:r>
            <a:r>
              <a:rPr dirty="0" sz="1200">
                <a:latin typeface="Times New Roman"/>
                <a:cs typeface="Times New Roman"/>
              </a:rPr>
              <a:t> at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>
                <a:latin typeface="Times New Roman"/>
                <a:cs typeface="Times New Roman"/>
              </a:rPr>
              <a:t> partly </a:t>
            </a:r>
            <a:r>
              <a:rPr dirty="0" sz="1200" spc="-5">
                <a:latin typeface="Times New Roman"/>
                <a:cs typeface="Times New Roman"/>
              </a:rPr>
              <a:t>biased.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While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bias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unavoidable,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objective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Scientific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reports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factual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newspaper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editorials,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political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speeches,</a:t>
            </a:r>
            <a:r>
              <a:rPr dirty="0" sz="1200">
                <a:latin typeface="Times New Roman"/>
                <a:cs typeface="Times New Roman"/>
              </a:rPr>
              <a:t> advertisement,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etc…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opinions are central to the writing. In such writings the writer/author tries to convince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readers to change their </a:t>
            </a:r>
            <a:r>
              <a:rPr dirty="0" sz="1200" spc="-5">
                <a:latin typeface="Times New Roman"/>
                <a:cs typeface="Times New Roman"/>
              </a:rPr>
              <a:t>minds</a:t>
            </a:r>
            <a:r>
              <a:rPr dirty="0" sz="1200">
                <a:latin typeface="Times New Roman"/>
                <a:cs typeface="Times New Roman"/>
              </a:rPr>
              <a:t> and share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view points. This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that facts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opinions are valuable to </a:t>
            </a:r>
            <a:r>
              <a:rPr dirty="0" sz="1200" spc="-5">
                <a:latin typeface="Times New Roman"/>
                <a:cs typeface="Times New Roman"/>
              </a:rPr>
              <a:t>writers. But readers ought to know the difference between the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evaluate</a:t>
            </a:r>
            <a:r>
              <a:rPr dirty="0" sz="1200">
                <a:latin typeface="Times New Roman"/>
                <a:cs typeface="Times New Roman"/>
              </a:rPr>
              <a:t> what they </a:t>
            </a:r>
            <a:r>
              <a:rPr dirty="0" sz="1200" spc="-5">
                <a:latin typeface="Times New Roman"/>
                <a:cs typeface="Times New Roman"/>
              </a:rPr>
              <a:t>read.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other words,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skilled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be able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distinguish fact from fiction. I am sure this </a:t>
            </a:r>
            <a:r>
              <a:rPr dirty="0" sz="1200" spc="-5">
                <a:latin typeface="Times New Roman"/>
                <a:cs typeface="Times New Roman"/>
              </a:rPr>
              <a:t>is something we </a:t>
            </a:r>
            <a:r>
              <a:rPr dirty="0" sz="1200">
                <a:latin typeface="Times New Roman"/>
                <a:cs typeface="Times New Roman"/>
              </a:rPr>
              <a:t>do already without realizing.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talk, </a:t>
            </a:r>
            <a:r>
              <a:rPr dirty="0" sz="1200" spc="-5">
                <a:latin typeface="Times New Roman"/>
                <a:cs typeface="Times New Roman"/>
              </a:rPr>
              <a:t>we mix facts </a:t>
            </a:r>
            <a:r>
              <a:rPr dirty="0" sz="1200">
                <a:latin typeface="Times New Roman"/>
                <a:cs typeface="Times New Roman"/>
              </a:rPr>
              <a:t>with opinions. 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sift fact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What is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fact?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fact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that can be proved true through objective evidence.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Now, </a:t>
            </a:r>
            <a:r>
              <a:rPr dirty="0" sz="1200">
                <a:latin typeface="Times New Roman"/>
                <a:cs typeface="Times New Roman"/>
              </a:rPr>
              <a:t>this evidence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 physical proof, or the testimony of witnesses (spoken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written). The following are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facts which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>
                <a:latin typeface="Times New Roman"/>
                <a:cs typeface="Times New Roman"/>
              </a:rPr>
              <a:t>be checked for accuracy and thus 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1708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garden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tall.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(Anyone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confirm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disprove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fact.)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buAutoNum type="arabicPeriod"/>
              <a:tabLst>
                <a:tab pos="17526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Lahore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Museum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oldest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museum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(Any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researcher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historical </a:t>
            </a:r>
            <a:r>
              <a:rPr dirty="0" sz="1200" spc="-5">
                <a:latin typeface="Times New Roman"/>
                <a:cs typeface="Times New Roman"/>
              </a:rPr>
              <a:t>publications/documents.)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4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Pakistan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1992</a:t>
            </a:r>
            <a:r>
              <a:rPr dirty="0" sz="1200" spc="-5">
                <a:latin typeface="Times New Roman"/>
                <a:cs typeface="Times New Roman"/>
              </a:rPr>
              <a:t> World </a:t>
            </a:r>
            <a:r>
              <a:rPr dirty="0" sz="1200">
                <a:latin typeface="Times New Roman"/>
                <a:cs typeface="Times New Roman"/>
              </a:rPr>
              <a:t>Cup.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(Anyone can check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sports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Now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we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turn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5" b="1">
                <a:latin typeface="Times New Roman"/>
                <a:cs typeface="Times New Roman"/>
              </a:rPr>
              <a:t> opinion: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opinion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that cannot be </a:t>
            </a:r>
            <a:r>
              <a:rPr dirty="0" sz="1200" spc="-5">
                <a:latin typeface="Times New Roman"/>
                <a:cs typeface="Times New Roman"/>
              </a:rPr>
              <a:t>objectively </a:t>
            </a:r>
            <a:r>
              <a:rPr dirty="0" sz="1200">
                <a:latin typeface="Times New Roman"/>
                <a:cs typeface="Times New Roman"/>
              </a:rPr>
              <a:t>proved true or false. Opinions </a:t>
            </a:r>
            <a:r>
              <a:rPr dirty="0" sz="1200" spc="-5">
                <a:latin typeface="Times New Roman"/>
                <a:cs typeface="Times New Roman"/>
              </a:rPr>
              <a:t>usually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beliefs, feelings, </a:t>
            </a:r>
            <a:r>
              <a:rPr dirty="0" sz="1200" spc="-5">
                <a:latin typeface="Times New Roman"/>
                <a:cs typeface="Times New Roman"/>
              </a:rPr>
              <a:t>judgments </a:t>
            </a:r>
            <a:r>
              <a:rPr dirty="0" sz="1200">
                <a:latin typeface="Times New Roman"/>
                <a:cs typeface="Times New Roman"/>
              </a:rPr>
              <a:t>that a person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have on or about a subject. Here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opinions: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Alhmara </a:t>
            </a:r>
            <a:r>
              <a:rPr dirty="0" sz="1200" spc="-5">
                <a:latin typeface="Times New Roman"/>
                <a:cs typeface="Times New Roman"/>
              </a:rPr>
              <a:t>Arts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Council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beautiful building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Lahore.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Now,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can be proved true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people can look at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come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its </a:t>
            </a:r>
            <a:r>
              <a:rPr dirty="0" sz="1200">
                <a:latin typeface="Times New Roman"/>
                <a:cs typeface="Times New Roman"/>
              </a:rPr>
              <a:t>beauty.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“Beautiful”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value-word </a:t>
            </a:r>
            <a:r>
              <a:rPr dirty="0" sz="1200">
                <a:latin typeface="Times New Roman"/>
                <a:cs typeface="Times New Roman"/>
              </a:rPr>
              <a:t>– the word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use to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our </a:t>
            </a:r>
            <a:r>
              <a:rPr dirty="0" sz="1200" spc="-5">
                <a:latin typeface="Times New Roman"/>
                <a:cs typeface="Times New Roman"/>
              </a:rPr>
              <a:t>judgment. Now </a:t>
            </a:r>
            <a:r>
              <a:rPr dirty="0" sz="1200">
                <a:latin typeface="Times New Roman"/>
                <a:cs typeface="Times New Roman"/>
              </a:rPr>
              <a:t>remember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value-words are </a:t>
            </a:r>
            <a:r>
              <a:rPr dirty="0" sz="1200" spc="-5">
                <a:latin typeface="Times New Roman"/>
                <a:cs typeface="Times New Roman"/>
              </a:rPr>
              <a:t>signals </a:t>
            </a:r>
            <a:r>
              <a:rPr dirty="0" sz="1200">
                <a:latin typeface="Times New Roman"/>
                <a:cs typeface="Times New Roman"/>
              </a:rPr>
              <a:t>that an </a:t>
            </a:r>
            <a:r>
              <a:rPr dirty="0" sz="1200" spc="-5">
                <a:latin typeface="Times New Roman"/>
                <a:cs typeface="Times New Roman"/>
              </a:rPr>
              <a:t>opinion is being expressed.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value-words </a:t>
            </a:r>
            <a:r>
              <a:rPr dirty="0" sz="1200">
                <a:latin typeface="Times New Roman"/>
                <a:cs typeface="Times New Roman"/>
              </a:rPr>
              <a:t>by their very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nature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 opinions, not facts. e.g.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Prime</a:t>
            </a:r>
            <a:r>
              <a:rPr dirty="0" sz="1200" spc="-5">
                <a:latin typeface="Times New Roman"/>
                <a:cs typeface="Times New Roman"/>
              </a:rPr>
              <a:t> Minister should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willed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property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(That’s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opinion).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97485" algn="l"/>
              </a:tabLst>
            </a:pPr>
            <a:r>
              <a:rPr dirty="0" sz="1200">
                <a:latin typeface="Times New Roman"/>
                <a:cs typeface="Times New Roman"/>
              </a:rPr>
              <a:t>Pakistan cricket team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best in the world. This, again,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opinion. ‘Best’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debatable.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78</a:t>
            </a:fld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627370" cy="423799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12700" marR="5080">
              <a:lnSpc>
                <a:spcPts val="1370"/>
              </a:lnSpc>
              <a:spcBef>
                <a:spcPts val="200"/>
              </a:spcBef>
            </a:pP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sharpen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your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about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fact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opinion,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read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decide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whether</a:t>
            </a:r>
            <a:r>
              <a:rPr dirty="0" sz="1200" b="1">
                <a:latin typeface="Times New Roman"/>
                <a:cs typeface="Times New Roman"/>
              </a:rPr>
              <a:t> they are facts (F) or </a:t>
            </a:r>
            <a:r>
              <a:rPr dirty="0" sz="1200" spc="-5" b="1">
                <a:latin typeface="Times New Roman"/>
                <a:cs typeface="Times New Roman"/>
              </a:rPr>
              <a:t>opinions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(O)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brother,</a:t>
            </a:r>
            <a:r>
              <a:rPr dirty="0" sz="1200" spc="-5">
                <a:latin typeface="Times New Roman"/>
                <a:cs typeface="Times New Roman"/>
              </a:rPr>
              <a:t> Aslam, is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handsome.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night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accident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highway.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Mohammad</a:t>
            </a:r>
            <a:r>
              <a:rPr dirty="0" sz="1200" spc="-5">
                <a:latin typeface="Times New Roman"/>
                <a:cs typeface="Times New Roman"/>
              </a:rPr>
              <a:t> Ali</a:t>
            </a:r>
            <a:r>
              <a:rPr dirty="0" sz="1200">
                <a:latin typeface="Times New Roman"/>
                <a:cs typeface="Times New Roman"/>
              </a:rPr>
              <a:t> Bogra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Minister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country</a:t>
            </a:r>
            <a:r>
              <a:rPr dirty="0" sz="1200" spc="-5">
                <a:latin typeface="Times New Roman"/>
                <a:cs typeface="Times New Roman"/>
              </a:rPr>
              <a:t> had ever had.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71450" algn="l"/>
              </a:tabLst>
            </a:pPr>
            <a:r>
              <a:rPr dirty="0" sz="1200" spc="-5">
                <a:latin typeface="Times New Roman"/>
                <a:cs typeface="Times New Roman"/>
              </a:rPr>
              <a:t>Ostriches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hide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sand.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(Contrary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be </a:t>
            </a:r>
            <a:r>
              <a:rPr dirty="0" sz="1200">
                <a:latin typeface="Times New Roman"/>
                <a:cs typeface="Times New Roman"/>
              </a:rPr>
              <a:t>checked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observation</a:t>
            </a:r>
            <a:r>
              <a:rPr dirty="0" sz="1200">
                <a:latin typeface="Times New Roman"/>
                <a:cs typeface="Times New Roman"/>
              </a:rPr>
              <a:t> or reports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observations.)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 more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points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about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fact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opinion: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separating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mind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that:</a:t>
            </a:r>
            <a:endParaRPr sz="1200">
              <a:latin typeface="Times New Roman"/>
              <a:cs typeface="Times New Roman"/>
            </a:endParaRPr>
          </a:p>
          <a:p>
            <a:pPr marL="144145" indent="-132080">
              <a:lnSpc>
                <a:spcPts val="1380"/>
              </a:lnSpc>
              <a:buFont typeface="Times New Roman"/>
              <a:buAutoNum type="romanLcParenR"/>
              <a:tabLst>
                <a:tab pos="14478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 </a:t>
            </a:r>
            <a:r>
              <a:rPr dirty="0" sz="1200" b="1">
                <a:latin typeface="Times New Roman"/>
                <a:cs typeface="Times New Roman"/>
              </a:rPr>
              <a:t>statement 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fact </a:t>
            </a:r>
            <a:r>
              <a:rPr dirty="0" sz="1200" spc="-5" b="1">
                <a:latin typeface="Times New Roman"/>
                <a:cs typeface="Times New Roman"/>
              </a:rPr>
              <a:t>can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possibly be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un-</a:t>
            </a:r>
            <a:r>
              <a:rPr dirty="0" sz="1200" b="1">
                <a:latin typeface="Times New Roman"/>
                <a:cs typeface="Times New Roman"/>
              </a:rPr>
              <a:t> true.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Sometimes,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that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 </a:t>
            </a:r>
            <a:r>
              <a:rPr dirty="0" sz="1200" spc="-5">
                <a:latin typeface="Times New Roman"/>
                <a:cs typeface="Times New Roman"/>
              </a:rPr>
              <a:t>is 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 marL="186055" indent="-173990">
              <a:lnSpc>
                <a:spcPts val="1380"/>
              </a:lnSpc>
              <a:buFont typeface="Times New Roman"/>
              <a:buAutoNum type="romanLcParenR" startAt="2"/>
              <a:tabLst>
                <a:tab pos="18669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Opinions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may</a:t>
            </a:r>
            <a:r>
              <a:rPr dirty="0" sz="1200" spc="-5" b="1">
                <a:latin typeface="Times New Roman"/>
                <a:cs typeface="Times New Roman"/>
              </a:rPr>
              <a:t> be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masked as </a:t>
            </a:r>
            <a:r>
              <a:rPr dirty="0" sz="1200" b="1">
                <a:latin typeface="Times New Roman"/>
                <a:cs typeface="Times New Roman"/>
              </a:rPr>
              <a:t>facts.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facts.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economy, </a:t>
            </a:r>
            <a:r>
              <a:rPr dirty="0" sz="1200">
                <a:latin typeface="Times New Roman"/>
                <a:cs typeface="Times New Roman"/>
              </a:rPr>
              <a:t>in fact,</a:t>
            </a:r>
            <a:r>
              <a:rPr dirty="0" sz="1200" spc="-5">
                <a:latin typeface="Times New Roman"/>
                <a:cs typeface="Times New Roman"/>
              </a:rPr>
              <a:t> has</a:t>
            </a:r>
            <a:r>
              <a:rPr dirty="0" sz="1200">
                <a:latin typeface="Times New Roman"/>
                <a:cs typeface="Times New Roman"/>
              </a:rPr>
              <a:t> 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worst </a:t>
            </a:r>
            <a:r>
              <a:rPr dirty="0" sz="1200">
                <a:latin typeface="Times New Roman"/>
                <a:cs typeface="Times New Roman"/>
              </a:rPr>
              <a:t>condition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candidates</a:t>
            </a:r>
            <a:r>
              <a:rPr dirty="0" sz="1200" spc="-5">
                <a:latin typeface="Times New Roman"/>
                <a:cs typeface="Times New Roman"/>
              </a:rPr>
              <a:t> for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Nazim’s</a:t>
            </a:r>
            <a:r>
              <a:rPr dirty="0" sz="1200">
                <a:latin typeface="Times New Roman"/>
                <a:cs typeface="Times New Roman"/>
              </a:rPr>
              <a:t> post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qualified.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truth of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matter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frozen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fresh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meat.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glance,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that 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statements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Value-words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often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represent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opinions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Value-words </a:t>
            </a:r>
            <a:r>
              <a:rPr dirty="0" sz="1200">
                <a:latin typeface="Times New Roman"/>
                <a:cs typeface="Times New Roman"/>
              </a:rPr>
              <a:t>are generally subjective, not objective and they </a:t>
            </a:r>
            <a:r>
              <a:rPr dirty="0" sz="1200" spc="-5">
                <a:latin typeface="Times New Roman"/>
                <a:cs typeface="Times New Roman"/>
              </a:rPr>
              <a:t>express judgment. </a:t>
            </a:r>
            <a:r>
              <a:rPr dirty="0" sz="1200">
                <a:latin typeface="Times New Roman"/>
                <a:cs typeface="Times New Roman"/>
              </a:rPr>
              <a:t>Factual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report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observed</a:t>
            </a:r>
            <a:r>
              <a:rPr dirty="0" sz="1200">
                <a:latin typeface="Times New Roman"/>
                <a:cs typeface="Times New Roman"/>
              </a:rPr>
              <a:t> reality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interpret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reality.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instance, some</a:t>
            </a:r>
            <a:r>
              <a:rPr dirty="0" sz="1200">
                <a:latin typeface="Times New Roman"/>
                <a:cs typeface="Times New Roman"/>
              </a:rPr>
              <a:t> value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are: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138237" y="5579364"/>
          <a:ext cx="2981325" cy="809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1710"/>
                <a:gridCol w="1045210"/>
                <a:gridCol w="943609"/>
              </a:tblGrid>
              <a:tr h="267857">
                <a:tc>
                  <a:txBody>
                    <a:bodyPr/>
                    <a:lstStyle/>
                    <a:p>
                      <a:pPr algn="ctr" marL="8255">
                        <a:lnSpc>
                          <a:spcPts val="1385"/>
                        </a:lnSpc>
                        <a:spcBef>
                          <a:spcPts val="6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good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74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ts val="1385"/>
                        </a:lnSpc>
                        <a:spcBef>
                          <a:spcPts val="6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bad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74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ts val="1385"/>
                        </a:lnSpc>
                        <a:spcBef>
                          <a:spcPts val="6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great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74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75259">
                <a:tc>
                  <a:txBody>
                    <a:bodyPr/>
                    <a:lstStyle/>
                    <a:p>
                      <a:pPr algn="ctr" marR="4318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worst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terrible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5260">
                <a:tc>
                  <a:txBody>
                    <a:bodyPr/>
                    <a:lstStyle/>
                    <a:p>
                      <a:pPr algn="ctr" marL="501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better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lovely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wonder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1722">
                <a:tc>
                  <a:txBody>
                    <a:bodyPr/>
                    <a:lstStyle/>
                    <a:p>
                      <a:pPr algn="ctr" marL="6731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worse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disgusting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1016000" y="6522211"/>
            <a:ext cx="5627370" cy="266319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71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someone says, </a:t>
            </a:r>
            <a:r>
              <a:rPr dirty="0" sz="1200">
                <a:latin typeface="Times New Roman"/>
                <a:cs typeface="Times New Roman"/>
              </a:rPr>
              <a:t>“It’s raining outside”. </a:t>
            </a:r>
            <a:r>
              <a:rPr dirty="0" sz="1200" spc="-5">
                <a:latin typeface="Times New Roman"/>
                <a:cs typeface="Times New Roman"/>
              </a:rPr>
              <a:t>Now, </a:t>
            </a:r>
            <a:r>
              <a:rPr dirty="0" sz="1200">
                <a:latin typeface="Times New Roman"/>
                <a:cs typeface="Times New Roman"/>
              </a:rPr>
              <a:t>this observation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objective one. It 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verified, but if </a:t>
            </a:r>
            <a:r>
              <a:rPr dirty="0" sz="1200" spc="-5">
                <a:latin typeface="Times New Roman"/>
                <a:cs typeface="Times New Roman"/>
              </a:rPr>
              <a:t>someone says, </a:t>
            </a:r>
            <a:r>
              <a:rPr dirty="0" sz="1200">
                <a:latin typeface="Times New Roman"/>
                <a:cs typeface="Times New Roman"/>
              </a:rPr>
              <a:t>“It’s </a:t>
            </a:r>
            <a:r>
              <a:rPr dirty="0" sz="1200" spc="-5">
                <a:latin typeface="Times New Roman"/>
                <a:cs typeface="Times New Roman"/>
              </a:rPr>
              <a:t>bad </a:t>
            </a:r>
            <a:r>
              <a:rPr dirty="0" sz="1200">
                <a:latin typeface="Times New Roman"/>
                <a:cs typeface="Times New Roman"/>
              </a:rPr>
              <a:t>weather”,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subjective statement </a:t>
            </a:r>
            <a:r>
              <a:rPr dirty="0" sz="1200">
                <a:latin typeface="Times New Roman"/>
                <a:cs typeface="Times New Roman"/>
              </a:rPr>
              <a:t>- a personal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interpretation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people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rain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 weather!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(iv) </a:t>
            </a:r>
            <a:r>
              <a:rPr dirty="0" sz="1200" spc="-5" b="1">
                <a:latin typeface="Times New Roman"/>
                <a:cs typeface="Times New Roman"/>
              </a:rPr>
              <a:t>Much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what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we</a:t>
            </a:r>
            <a:r>
              <a:rPr dirty="0" sz="1200" b="1">
                <a:latin typeface="Times New Roman"/>
                <a:cs typeface="Times New Roman"/>
              </a:rPr>
              <a:t> read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hear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mixture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 fact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opinion: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Recognizing facts and opinions is important because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lot of information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read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really OPINION.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might,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instance,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politician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say,”</a:t>
            </a:r>
            <a:r>
              <a:rPr dirty="0" sz="1200" spc="-5">
                <a:latin typeface="Times New Roman"/>
                <a:cs typeface="Times New Roman"/>
              </a:rPr>
              <a:t> My </a:t>
            </a:r>
            <a:r>
              <a:rPr dirty="0" sz="1200">
                <a:latin typeface="Times New Roman"/>
                <a:cs typeface="Times New Roman"/>
              </a:rPr>
              <a:t>record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National </a:t>
            </a:r>
            <a:r>
              <a:rPr dirty="0" sz="1200" spc="-5">
                <a:latin typeface="Times New Roman"/>
                <a:cs typeface="Times New Roman"/>
              </a:rPr>
              <a:t>Assembly is </a:t>
            </a:r>
            <a:r>
              <a:rPr dirty="0" sz="1200">
                <a:latin typeface="Times New Roman"/>
                <a:cs typeface="Times New Roman"/>
              </a:rPr>
              <a:t>outstanding”.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  <a:spcBef>
                <a:spcPts val="30"/>
              </a:spcBef>
              <a:buChar char="-"/>
              <a:tabLst>
                <a:tab pos="111125" algn="l"/>
              </a:tabLst>
            </a:pPr>
            <a:r>
              <a:rPr dirty="0" sz="1200" spc="-5">
                <a:latin typeface="Times New Roman"/>
                <a:cs typeface="Times New Roman"/>
              </a:rPr>
              <a:t>An advertisement may </a:t>
            </a:r>
            <a:r>
              <a:rPr dirty="0" sz="1200">
                <a:latin typeface="Times New Roman"/>
                <a:cs typeface="Times New Roman"/>
              </a:rPr>
              <a:t>claim that a </a:t>
            </a:r>
            <a:r>
              <a:rPr dirty="0" sz="1200" spc="-5">
                <a:latin typeface="Times New Roman"/>
                <a:cs typeface="Times New Roman"/>
              </a:rPr>
              <a:t>particular </a:t>
            </a:r>
            <a:r>
              <a:rPr dirty="0" sz="1200">
                <a:latin typeface="Times New Roman"/>
                <a:cs typeface="Times New Roman"/>
              </a:rPr>
              <a:t>model of a car </a:t>
            </a:r>
            <a:r>
              <a:rPr dirty="0" sz="1200" spc="-5">
                <a:latin typeface="Times New Roman"/>
                <a:cs typeface="Times New Roman"/>
              </a:rPr>
              <a:t>“is </a:t>
            </a:r>
            <a:r>
              <a:rPr dirty="0" sz="1200">
                <a:latin typeface="Times New Roman"/>
                <a:cs typeface="Times New Roman"/>
              </a:rPr>
              <a:t>the most </a:t>
            </a:r>
            <a:r>
              <a:rPr dirty="0" sz="1200" spc="-5">
                <a:latin typeface="Times New Roman"/>
                <a:cs typeface="Times New Roman"/>
              </a:rPr>
              <a:t>economical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road”. Both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are opinions. In the first one, the word “outstanding” needs to 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probed.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does the politician </a:t>
            </a:r>
            <a:r>
              <a:rPr dirty="0" sz="1200" spc="-5">
                <a:latin typeface="Times New Roman"/>
                <a:cs typeface="Times New Roman"/>
              </a:rPr>
              <a:t>exactly mean? </a:t>
            </a:r>
            <a:r>
              <a:rPr dirty="0" sz="1200">
                <a:latin typeface="Times New Roman"/>
                <a:cs typeface="Times New Roman"/>
              </a:rPr>
              <a:t>The second </a:t>
            </a:r>
            <a:r>
              <a:rPr dirty="0" sz="1200" spc="-5">
                <a:latin typeface="Times New Roman"/>
                <a:cs typeface="Times New Roman"/>
              </a:rPr>
              <a:t>statement seems </a:t>
            </a:r>
            <a:r>
              <a:rPr dirty="0" sz="1200">
                <a:latin typeface="Times New Roman"/>
                <a:cs typeface="Times New Roman"/>
              </a:rPr>
              <a:t>very factual.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what </a:t>
            </a:r>
            <a:r>
              <a:rPr dirty="0" sz="1200" spc="-5">
                <a:latin typeface="Times New Roman"/>
                <a:cs typeface="Times New Roman"/>
              </a:rPr>
              <a:t>is meant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“economical? </a:t>
            </a:r>
            <a:r>
              <a:rPr dirty="0" sz="1200">
                <a:latin typeface="Times New Roman"/>
                <a:cs typeface="Times New Roman"/>
              </a:rPr>
              <a:t>The car </a:t>
            </a:r>
            <a:r>
              <a:rPr dirty="0" sz="1200" spc="-5">
                <a:latin typeface="Times New Roman"/>
                <a:cs typeface="Times New Roman"/>
              </a:rPr>
              <a:t>might be offering more miles per </a:t>
            </a:r>
            <a:r>
              <a:rPr dirty="0" sz="1200">
                <a:latin typeface="Times New Roman"/>
                <a:cs typeface="Times New Roman"/>
              </a:rPr>
              <a:t>liter </a:t>
            </a:r>
            <a:r>
              <a:rPr dirty="0" sz="1200" spc="-5">
                <a:latin typeface="Times New Roman"/>
                <a:cs typeface="Times New Roman"/>
              </a:rPr>
              <a:t>of petrol 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worst </a:t>
            </a:r>
            <a:r>
              <a:rPr dirty="0" sz="1200">
                <a:latin typeface="Times New Roman"/>
                <a:cs typeface="Times New Roman"/>
              </a:rPr>
              <a:t>record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 </a:t>
            </a:r>
            <a:r>
              <a:rPr dirty="0" sz="1200" spc="-5">
                <a:latin typeface="Times New Roman"/>
                <a:cs typeface="Times New Roman"/>
              </a:rPr>
              <a:t>repairs</a:t>
            </a:r>
            <a:r>
              <a:rPr dirty="0" sz="1200" spc="-5">
                <a:latin typeface="Arial MT"/>
                <a:cs typeface="Arial MT"/>
              </a:rPr>
              <a:t>.</a:t>
            </a:r>
            <a:r>
              <a:rPr dirty="0" sz="1200" spc="-35">
                <a:latin typeface="Arial MT"/>
                <a:cs typeface="Arial MT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economical.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statements;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lain"/>
              <a:tabLst>
                <a:tab pos="18986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several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queens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Egypt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Cleopatra,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includes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Caesar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Antony,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Rome.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15"/>
              </a:lnSpc>
              <a:buAutoNum type="arabicPlain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interesting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Egyptian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history.</a:t>
            </a:r>
            <a:endParaRPr sz="1200">
              <a:latin typeface="Times New Roman"/>
              <a:cs typeface="Times New Roman"/>
            </a:endParaRPr>
          </a:p>
          <a:p>
            <a:pPr marL="12700" marR="349250">
              <a:lnSpc>
                <a:spcPts val="1380"/>
              </a:lnSpc>
              <a:spcBef>
                <a:spcPts val="65"/>
              </a:spcBef>
              <a:buAutoNum type="arabicPlain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records, </a:t>
            </a:r>
            <a:r>
              <a:rPr dirty="0" sz="1200" spc="-5">
                <a:latin typeface="Times New Roman"/>
                <a:cs typeface="Times New Roman"/>
              </a:rPr>
              <a:t>she was </a:t>
            </a:r>
            <a:r>
              <a:rPr dirty="0" sz="1200">
                <a:latin typeface="Times New Roman"/>
                <a:cs typeface="Times New Roman"/>
              </a:rPr>
              <a:t>born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69BC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died</a:t>
            </a:r>
            <a:r>
              <a:rPr dirty="0" sz="1200" spc="-5">
                <a:latin typeface="Times New Roman"/>
                <a:cs typeface="Times New Roman"/>
              </a:rPr>
              <a:t> almost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4-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 fascinating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easy to believe.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15"/>
              </a:lnSpc>
              <a:buAutoNum type="arabicPlain" startAt="5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Reports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herself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cobra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lain" startAt="5"/>
              <a:tabLst>
                <a:tab pos="182245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Egyptian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cobra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royalty,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queen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 marL="12700" marR="5720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  <a:p>
            <a:pPr marL="12700" marR="30226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Sentence 2. expresses an opinion </a:t>
            </a:r>
            <a:r>
              <a:rPr dirty="0" sz="1200" i="1">
                <a:latin typeface="Times New Roman"/>
                <a:cs typeface="Times New Roman"/>
              </a:rPr>
              <a:t>– to </a:t>
            </a:r>
            <a:r>
              <a:rPr dirty="0" sz="1200" spc="-5" i="1">
                <a:latin typeface="Times New Roman"/>
                <a:cs typeface="Times New Roman"/>
              </a:rPr>
              <a:t>some </a:t>
            </a:r>
            <a:r>
              <a:rPr dirty="0" sz="1200" i="1">
                <a:latin typeface="Times New Roman"/>
                <a:cs typeface="Times New Roman"/>
              </a:rPr>
              <a:t>Cleopatra </a:t>
            </a:r>
            <a:r>
              <a:rPr dirty="0" sz="1200" spc="-5" i="1">
                <a:latin typeface="Times New Roman"/>
                <a:cs typeface="Times New Roman"/>
              </a:rPr>
              <a:t>may </a:t>
            </a:r>
            <a:r>
              <a:rPr dirty="0" sz="1200" i="1">
                <a:latin typeface="Times New Roman"/>
                <a:cs typeface="Times New Roman"/>
              </a:rPr>
              <a:t>not be an interesting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figure.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 4 - opinion: </a:t>
            </a:r>
            <a:r>
              <a:rPr dirty="0" sz="1200" spc="-5" i="1">
                <a:latin typeface="Times New Roman"/>
                <a:cs typeface="Times New Roman"/>
              </a:rPr>
              <a:t>how </a:t>
            </a:r>
            <a:r>
              <a:rPr dirty="0" sz="1200" i="1">
                <a:latin typeface="Times New Roman"/>
                <a:cs typeface="Times New Roman"/>
              </a:rPr>
              <a:t>fascinating </a:t>
            </a:r>
            <a:r>
              <a:rPr dirty="0" sz="1200" spc="-5" i="1">
                <a:latin typeface="Times New Roman"/>
                <a:cs typeface="Times New Roman"/>
              </a:rPr>
              <a:t>and easy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believe will </a:t>
            </a:r>
            <a:r>
              <a:rPr dirty="0" sz="1200" i="1">
                <a:latin typeface="Times New Roman"/>
                <a:cs typeface="Times New Roman"/>
              </a:rPr>
              <a:t>differ </a:t>
            </a:r>
            <a:r>
              <a:rPr dirty="0" sz="1200" spc="-5" i="1">
                <a:latin typeface="Times New Roman"/>
                <a:cs typeface="Times New Roman"/>
              </a:rPr>
              <a:t>from person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person.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6 - </a:t>
            </a:r>
            <a:r>
              <a:rPr dirty="0" sz="1200" spc="-5">
                <a:latin typeface="Times New Roman"/>
                <a:cs typeface="Times New Roman"/>
              </a:rPr>
              <a:t>mixture</a:t>
            </a:r>
            <a:r>
              <a:rPr dirty="0" sz="1200">
                <a:latin typeface="Times New Roman"/>
                <a:cs typeface="Times New Roman"/>
              </a:rPr>
              <a:t> of fact </a:t>
            </a:r>
            <a:r>
              <a:rPr dirty="0" sz="1200" spc="-5" i="1">
                <a:latin typeface="Times New Roman"/>
                <a:cs typeface="Times New Roman"/>
              </a:rPr>
              <a:t>and opinion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77165" indent="-165100">
              <a:lnSpc>
                <a:spcPts val="1410"/>
              </a:lnSpc>
              <a:buAutoNum type="arabicPlain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weeds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is something</a:t>
            </a:r>
            <a:r>
              <a:rPr dirty="0" sz="1200">
                <a:latin typeface="Times New Roman"/>
                <a:cs typeface="Times New Roman"/>
              </a:rPr>
              <a:t> negative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name.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arabicPlain"/>
              <a:tabLst>
                <a:tab pos="180340" algn="l"/>
              </a:tabLst>
            </a:pPr>
            <a:r>
              <a:rPr dirty="0" sz="1200">
                <a:latin typeface="Times New Roman"/>
                <a:cs typeface="Times New Roman"/>
              </a:rPr>
              <a:t>R.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Emerson,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American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poet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virtues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yet been discovered”.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15"/>
              </a:lnSpc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Weeds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all.</a:t>
            </a:r>
            <a:endParaRPr sz="1200">
              <a:latin typeface="Times New Roman"/>
              <a:cs typeface="Times New Roman"/>
            </a:endParaRPr>
          </a:p>
          <a:p>
            <a:pPr marL="12700" marR="1818639">
              <a:lnSpc>
                <a:spcPts val="1380"/>
              </a:lnSpc>
              <a:spcBef>
                <a:spcPts val="70"/>
              </a:spcBef>
              <a:buAutoNum type="arabicPlain"/>
              <a:tabLst>
                <a:tab pos="177800" algn="l"/>
              </a:tabLst>
            </a:pP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instance, they can </a:t>
            </a:r>
            <a:r>
              <a:rPr dirty="0" sz="1200" spc="-5">
                <a:latin typeface="Times New Roman"/>
                <a:cs typeface="Times New Roman"/>
              </a:rPr>
              <a:t>replenish </a:t>
            </a:r>
            <a:r>
              <a:rPr dirty="0" sz="1200">
                <a:latin typeface="Times New Roman"/>
                <a:cs typeface="Times New Roman"/>
              </a:rPr>
              <a:t>depleted top soil with </a:t>
            </a:r>
            <a:r>
              <a:rPr dirty="0" sz="1200" spc="-5">
                <a:latin typeface="Times New Roman"/>
                <a:cs typeface="Times New Roman"/>
              </a:rPr>
              <a:t>minerals.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5- </a:t>
            </a:r>
            <a:r>
              <a:rPr dirty="0" sz="1200" spc="-5">
                <a:latin typeface="Times New Roman"/>
                <a:cs typeface="Times New Roman"/>
              </a:rPr>
              <a:t>Also,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weeds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 vitamins and are edible.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Facts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Versus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Opinions: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-5">
                <a:latin typeface="Times New Roman"/>
                <a:cs typeface="Times New Roman"/>
              </a:rPr>
              <a:t> whether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facts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 i="1">
                <a:latin typeface="Times New Roman"/>
                <a:cs typeface="Times New Roman"/>
              </a:rPr>
              <a:t>opinions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  <a:tab pos="5461635" algn="l"/>
              </a:tabLst>
            </a:pPr>
            <a:r>
              <a:rPr dirty="0" sz="1200">
                <a:latin typeface="Times New Roman"/>
                <a:cs typeface="Times New Roman"/>
              </a:rPr>
              <a:t>Edgar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Allan</a:t>
            </a:r>
            <a:r>
              <a:rPr dirty="0" sz="1200" spc="-5">
                <a:latin typeface="Times New Roman"/>
                <a:cs typeface="Times New Roman"/>
              </a:rPr>
              <a:t> Poe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horror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stories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50825" algn="l"/>
                <a:tab pos="1134110" algn="l"/>
              </a:tabLst>
            </a:pPr>
            <a:r>
              <a:rPr dirty="0" sz="1200" spc="-5">
                <a:latin typeface="Times New Roman"/>
                <a:cs typeface="Times New Roman"/>
              </a:rPr>
              <a:t>Poe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University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Virginia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couldn’t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debts.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  <a:tab pos="4605655" algn="l"/>
              </a:tabLst>
            </a:pPr>
            <a:r>
              <a:rPr dirty="0" sz="1200">
                <a:latin typeface="Times New Roman"/>
                <a:cs typeface="Times New Roman"/>
              </a:rPr>
              <a:t>Edgar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Allan</a:t>
            </a:r>
            <a:r>
              <a:rPr dirty="0" sz="1200" spc="-5">
                <a:latin typeface="Times New Roman"/>
                <a:cs typeface="Times New Roman"/>
              </a:rPr>
              <a:t> Poe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drunk</a:t>
            </a:r>
            <a:r>
              <a:rPr dirty="0" sz="1200" spc="-5">
                <a:latin typeface="Times New Roman"/>
                <a:cs typeface="Times New Roman"/>
              </a:rPr>
              <a:t> so much.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5001260" algn="l"/>
              </a:tabLst>
            </a:pPr>
            <a:r>
              <a:rPr dirty="0" sz="1200">
                <a:latin typeface="Times New Roman"/>
                <a:cs typeface="Times New Roman"/>
              </a:rPr>
              <a:t>Lovecraft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Edgar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Allah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Poe.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472694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Lovecraft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practically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unknown.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4608195" algn="l"/>
              </a:tabLst>
            </a:pPr>
            <a:r>
              <a:rPr dirty="0" sz="1200">
                <a:latin typeface="Times New Roman"/>
                <a:cs typeface="Times New Roman"/>
              </a:rPr>
              <a:t>Lovecraft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conditions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shameful neglect.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5582920" algn="l"/>
              </a:tabLst>
            </a:pPr>
            <a:r>
              <a:rPr dirty="0" sz="1200">
                <a:latin typeface="Times New Roman"/>
                <a:cs typeface="Times New Roman"/>
              </a:rPr>
              <a:t>Lovecraft’s</a:t>
            </a:r>
            <a:r>
              <a:rPr dirty="0" sz="1200" spc="-5">
                <a:latin typeface="Times New Roman"/>
                <a:cs typeface="Times New Roman"/>
              </a:rPr>
              <a:t> stories</a:t>
            </a:r>
            <a:r>
              <a:rPr dirty="0" sz="1200">
                <a:latin typeface="Times New Roman"/>
                <a:cs typeface="Times New Roman"/>
              </a:rPr>
              <a:t> are far</a:t>
            </a:r>
            <a:r>
              <a:rPr dirty="0" sz="1200" spc="-5">
                <a:latin typeface="Times New Roman"/>
                <a:cs typeface="Times New Roman"/>
              </a:rPr>
              <a:t> 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horrible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 of Edgar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Allan Poe.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40665" algn="l"/>
                <a:tab pos="1684655" algn="l"/>
              </a:tabLst>
            </a:pPr>
            <a:r>
              <a:rPr dirty="0" sz="1200">
                <a:latin typeface="Times New Roman"/>
                <a:cs typeface="Times New Roman"/>
              </a:rPr>
              <a:t>Edgar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stories</a:t>
            </a:r>
            <a:r>
              <a:rPr dirty="0" sz="1200">
                <a:latin typeface="Times New Roman"/>
                <a:cs typeface="Times New Roman"/>
              </a:rPr>
              <a:t> reflect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powerful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imagination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love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eriod"/>
              <a:tabLst>
                <a:tab pos="197485" algn="l"/>
                <a:tab pos="2688590" algn="l"/>
              </a:tabLst>
            </a:pPr>
            <a:r>
              <a:rPr dirty="0" sz="1200">
                <a:latin typeface="Times New Roman"/>
                <a:cs typeface="Times New Roman"/>
              </a:rPr>
              <a:t>Baudelaire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wrote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Edgar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‘pursued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imagination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subjected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stringent analysis’.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buAutoNum type="arabicPeriod"/>
              <a:tabLst>
                <a:tab pos="348615" algn="l"/>
                <a:tab pos="349885" algn="l"/>
                <a:tab pos="588010" algn="l"/>
                <a:tab pos="835660" algn="l"/>
                <a:tab pos="1464310" algn="l"/>
                <a:tab pos="1737360" algn="l"/>
                <a:tab pos="1760220" algn="l"/>
                <a:tab pos="2544445" algn="l"/>
                <a:tab pos="2919730" algn="l"/>
                <a:tab pos="3430270" algn="l"/>
                <a:tab pos="3914775" algn="l"/>
                <a:tab pos="4289425" algn="l"/>
                <a:tab pos="4900295" algn="l"/>
                <a:tab pos="5495925" algn="l"/>
              </a:tabLst>
            </a:pPr>
            <a:r>
              <a:rPr dirty="0" sz="1200">
                <a:latin typeface="Times New Roman"/>
                <a:cs typeface="Times New Roman"/>
              </a:rPr>
              <a:t>It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	because	of	Baudelaire	that	Edgar	Allan	</a:t>
            </a:r>
            <a:r>
              <a:rPr dirty="0" sz="1200" spc="-5">
                <a:latin typeface="Times New Roman"/>
                <a:cs typeface="Times New Roman"/>
              </a:rPr>
              <a:t>Poe</a:t>
            </a:r>
            <a:r>
              <a:rPr dirty="0" sz="1200" spc="-5">
                <a:latin typeface="Times New Roman"/>
                <a:cs typeface="Times New Roman"/>
              </a:rPr>
              <a:t>	beca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	f</a:t>
            </a:r>
            <a:r>
              <a:rPr dirty="0" sz="1200" spc="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	in  </a:t>
            </a:r>
            <a:r>
              <a:rPr dirty="0" sz="1200">
                <a:latin typeface="Times New Roman"/>
                <a:cs typeface="Times New Roman"/>
              </a:rPr>
              <a:t>France.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		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Grellet, Francoise </a:t>
            </a:r>
            <a:r>
              <a:rPr dirty="0" sz="1200" spc="-5" i="1">
                <a:latin typeface="Times New Roman"/>
                <a:cs typeface="Times New Roman"/>
              </a:rPr>
              <a:t>Developing </a:t>
            </a:r>
            <a:r>
              <a:rPr dirty="0" sz="1200" i="1">
                <a:latin typeface="Times New Roman"/>
                <a:cs typeface="Times New Roman"/>
              </a:rPr>
              <a:t>Reading</a:t>
            </a:r>
            <a:r>
              <a:rPr dirty="0" sz="1200" spc="-5" i="1">
                <a:latin typeface="Times New Roman"/>
                <a:cs typeface="Times New Roman"/>
              </a:rPr>
              <a:t> Skills, </a:t>
            </a:r>
            <a:r>
              <a:rPr dirty="0" sz="1200">
                <a:latin typeface="Times New Roman"/>
                <a:cs typeface="Times New Roman"/>
              </a:rPr>
              <a:t>CUP,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1981, page239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a)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supply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heat,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energy,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planets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shine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feebly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aid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borrowed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069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Strange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may seem,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best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start this </a:t>
            </a:r>
            <a:r>
              <a:rPr dirty="0" sz="1200">
                <a:latin typeface="Times New Roman"/>
                <a:cs typeface="Times New Roman"/>
              </a:rPr>
              <a:t>problem by considering the interior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 indent="114300">
              <a:lnSpc>
                <a:spcPts val="1380"/>
              </a:lnSpc>
              <a:buAutoNum type="alphaLcParenR" startAt="2"/>
              <a:tabLst>
                <a:tab pos="29781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morrow </a:t>
            </a:r>
            <a:r>
              <a:rPr dirty="0" sz="1200">
                <a:latin typeface="Times New Roman"/>
                <a:cs typeface="Times New Roman"/>
              </a:rPr>
              <a:t>brought a very </a:t>
            </a:r>
            <a:r>
              <a:rPr dirty="0" sz="1200" spc="-5">
                <a:latin typeface="Times New Roman"/>
                <a:cs typeface="Times New Roman"/>
              </a:rPr>
              <a:t>sober-looking </a:t>
            </a:r>
            <a:r>
              <a:rPr dirty="0" sz="1200">
                <a:latin typeface="Times New Roman"/>
                <a:cs typeface="Times New Roman"/>
              </a:rPr>
              <a:t>morning, the </a:t>
            </a:r>
            <a:r>
              <a:rPr dirty="0" sz="1200" spc="-5">
                <a:latin typeface="Times New Roman"/>
                <a:cs typeface="Times New Roman"/>
              </a:rPr>
              <a:t>sun making </a:t>
            </a:r>
            <a:r>
              <a:rPr dirty="0" sz="1200">
                <a:latin typeface="Times New Roman"/>
                <a:cs typeface="Times New Roman"/>
              </a:rPr>
              <a:t>only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efforts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appear;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Catherine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augured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everything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favourable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wishes.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bright </a:t>
            </a:r>
            <a:r>
              <a:rPr dirty="0" sz="1200" spc="-5">
                <a:latin typeface="Times New Roman"/>
                <a:cs typeface="Times New Roman"/>
              </a:rPr>
              <a:t>morning so </a:t>
            </a:r>
            <a:r>
              <a:rPr dirty="0" sz="1200">
                <a:latin typeface="Times New Roman"/>
                <a:cs typeface="Times New Roman"/>
              </a:rPr>
              <a:t>early in the year, </a:t>
            </a:r>
            <a:r>
              <a:rPr dirty="0" sz="1200" spc="-5">
                <a:latin typeface="Times New Roman"/>
                <a:cs typeface="Times New Roman"/>
              </a:rPr>
              <a:t>she allowed, </a:t>
            </a:r>
            <a:r>
              <a:rPr dirty="0" sz="1200">
                <a:latin typeface="Times New Roman"/>
                <a:cs typeface="Times New Roman"/>
              </a:rPr>
              <a:t>would generally turn to rain; but a cloudy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foretold</a:t>
            </a:r>
            <a:r>
              <a:rPr dirty="0" sz="1200" spc="-5">
                <a:latin typeface="Times New Roman"/>
                <a:cs typeface="Times New Roman"/>
              </a:rPr>
              <a:t> improvement 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advanced.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lphaLcParenR" startAt="2"/>
              <a:tabLst>
                <a:tab pos="172720" algn="l"/>
              </a:tabLst>
            </a:pP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mother </a:t>
            </a:r>
            <a:r>
              <a:rPr dirty="0" sz="1200">
                <a:latin typeface="Times New Roman"/>
                <a:cs typeface="Times New Roman"/>
              </a:rPr>
              <a:t>and I were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happy then. It </a:t>
            </a:r>
            <a:r>
              <a:rPr dirty="0" sz="1200" spc="-5">
                <a:latin typeface="Times New Roman"/>
                <a:cs typeface="Times New Roman"/>
              </a:rPr>
              <a:t>seemed as though we had everything we could </a:t>
            </a:r>
            <a:r>
              <a:rPr dirty="0" sz="1200">
                <a:latin typeface="Times New Roman"/>
                <a:cs typeface="Times New Roman"/>
              </a:rPr>
              <a:t> ever want. I think the last day the </a:t>
            </a:r>
            <a:r>
              <a:rPr dirty="0" sz="1200" spc="-5">
                <a:latin typeface="Times New Roman"/>
                <a:cs typeface="Times New Roman"/>
              </a:rPr>
              <a:t>sun shone was when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dirty </a:t>
            </a:r>
            <a:r>
              <a:rPr dirty="0" sz="1200">
                <a:latin typeface="Times New Roman"/>
                <a:cs typeface="Times New Roman"/>
              </a:rPr>
              <a:t>little train </a:t>
            </a:r>
            <a:r>
              <a:rPr dirty="0" sz="1200" spc="-5">
                <a:latin typeface="Times New Roman"/>
                <a:cs typeface="Times New Roman"/>
              </a:rPr>
              <a:t>steamed out of </a:t>
            </a:r>
            <a:r>
              <a:rPr dirty="0" sz="1200">
                <a:latin typeface="Times New Roman"/>
                <a:cs typeface="Times New Roman"/>
              </a:rPr>
              <a:t> that crowded, suffocating Indian </a:t>
            </a:r>
            <a:r>
              <a:rPr dirty="0" sz="1200" spc="-5">
                <a:latin typeface="Times New Roman"/>
                <a:cs typeface="Times New Roman"/>
              </a:rPr>
              <a:t>station,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battalion band </a:t>
            </a:r>
            <a:r>
              <a:rPr dirty="0" sz="1200">
                <a:latin typeface="Times New Roman"/>
                <a:cs typeface="Times New Roman"/>
              </a:rPr>
              <a:t>playing for all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worth.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knew in my heart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all </a:t>
            </a: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then. Everything!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Sequences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11,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looked at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markers </a:t>
            </a:r>
            <a:r>
              <a:rPr dirty="0" sz="1200">
                <a:latin typeface="Times New Roman"/>
                <a:cs typeface="Times New Roman"/>
              </a:rPr>
              <a:t>used for </a:t>
            </a:r>
            <a:r>
              <a:rPr dirty="0" sz="1200" spc="-5">
                <a:latin typeface="Times New Roman"/>
                <a:cs typeface="Times New Roman"/>
              </a:rPr>
              <a:t>enumerating </a:t>
            </a:r>
            <a:r>
              <a:rPr dirty="0" sz="1200">
                <a:latin typeface="Times New Roman"/>
                <a:cs typeface="Times New Roman"/>
              </a:rPr>
              <a:t>the order in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 are to be </a:t>
            </a:r>
            <a:r>
              <a:rPr dirty="0" sz="1200" spc="-5">
                <a:latin typeface="Times New Roman"/>
                <a:cs typeface="Times New Roman"/>
              </a:rPr>
              <a:t>said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5">
                <a:latin typeface="Times New Roman"/>
                <a:cs typeface="Times New Roman"/>
              </a:rPr>
              <a:t>making lists or giving instructions. </a:t>
            </a:r>
            <a:r>
              <a:rPr dirty="0" sz="1200">
                <a:latin typeface="Times New Roman"/>
                <a:cs typeface="Times New Roman"/>
              </a:rPr>
              <a:t>However, it </a:t>
            </a:r>
            <a:r>
              <a:rPr dirty="0" sz="1200" spc="-5">
                <a:latin typeface="Times New Roman"/>
                <a:cs typeface="Times New Roman"/>
              </a:rPr>
              <a:t>didn’t mention </a:t>
            </a:r>
            <a:r>
              <a:rPr dirty="0" sz="1200">
                <a:latin typeface="Times New Roman"/>
                <a:cs typeface="Times New Roman"/>
              </a:rPr>
              <a:t> those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markers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events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equally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to recognize the sequence of events, especially in such </a:t>
            </a:r>
            <a:r>
              <a:rPr dirty="0" sz="1200" spc="-5">
                <a:latin typeface="Times New Roman"/>
                <a:cs typeface="Times New Roman"/>
              </a:rPr>
              <a:t>activities as </a:t>
            </a:r>
            <a:r>
              <a:rPr dirty="0" sz="1200">
                <a:latin typeface="Times New Roman"/>
                <a:cs typeface="Times New Roman"/>
              </a:rPr>
              <a:t>scheduling,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recounting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routine</a:t>
            </a:r>
            <a:r>
              <a:rPr dirty="0" sz="1200">
                <a:latin typeface="Times New Roman"/>
                <a:cs typeface="Times New Roman"/>
              </a:rPr>
              <a:t> activities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conducting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experiments.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As we know, events do not simply occur; they occur either before, during or after other </a:t>
            </a:r>
            <a:r>
              <a:rPr dirty="0" sz="1200">
                <a:latin typeface="Times New Roman"/>
                <a:cs typeface="Times New Roman"/>
              </a:rPr>
              <a:t> events. This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sequence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chronological, </a:t>
            </a:r>
            <a:r>
              <a:rPr dirty="0" sz="1200">
                <a:latin typeface="Times New Roman"/>
                <a:cs typeface="Times New Roman"/>
              </a:rPr>
              <a:t>logical or causal. Once a </a:t>
            </a:r>
            <a:r>
              <a:rPr dirty="0" sz="1200" spc="-5">
                <a:latin typeface="Times New Roman"/>
                <a:cs typeface="Times New Roman"/>
              </a:rPr>
              <a:t>time-reference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</a:t>
            </a:r>
            <a:r>
              <a:rPr dirty="0" sz="1200" spc="-5">
                <a:latin typeface="Times New Roman"/>
                <a:cs typeface="Times New Roman"/>
              </a:rPr>
              <a:t>established, </a:t>
            </a:r>
            <a:r>
              <a:rPr dirty="0" sz="1200">
                <a:latin typeface="Times New Roman"/>
                <a:cs typeface="Times New Roman"/>
              </a:rPr>
              <a:t>certain </a:t>
            </a:r>
            <a:r>
              <a:rPr dirty="0" sz="1200" spc="-5">
                <a:latin typeface="Times New Roman"/>
                <a:cs typeface="Times New Roman"/>
              </a:rPr>
              <a:t>adjective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adverbials may </a:t>
            </a:r>
            <a:r>
              <a:rPr dirty="0" sz="1200">
                <a:latin typeface="Times New Roman"/>
                <a:cs typeface="Times New Roman"/>
              </a:rPr>
              <a:t>order subsequent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</a:t>
            </a:r>
            <a:r>
              <a:rPr dirty="0" sz="1200">
                <a:latin typeface="Times New Roman"/>
                <a:cs typeface="Times New Roman"/>
              </a:rPr>
              <a:t> to it. The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examples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time </a:t>
            </a:r>
            <a:r>
              <a:rPr dirty="0" sz="1200">
                <a:latin typeface="Times New Roman"/>
                <a:cs typeface="Times New Roman"/>
              </a:rPr>
              <a:t>relaters.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Table1: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Previous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time-references,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endParaRPr sz="1200">
              <a:latin typeface="Times New Roman"/>
              <a:cs typeface="Times New Roman"/>
            </a:endParaRPr>
          </a:p>
          <a:p>
            <a:pPr marL="1460500">
              <a:lnSpc>
                <a:spcPts val="1415"/>
              </a:lnSpc>
            </a:pPr>
            <a:r>
              <a:rPr dirty="0" sz="1200" b="1">
                <a:latin typeface="Times New Roman"/>
                <a:cs typeface="Times New Roman"/>
              </a:rPr>
              <a:t>TIME RELATERS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400035"/>
            <a:ext cx="5626100" cy="1610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7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memory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earlier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large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these days.</a:t>
            </a:r>
            <a:endParaRPr sz="1200">
              <a:latin typeface="Times New Roman"/>
              <a:cs typeface="Times New Roman"/>
            </a:endParaRPr>
          </a:p>
          <a:p>
            <a:pPr marL="180975" indent="-168910">
              <a:lnSpc>
                <a:spcPts val="1380"/>
              </a:lnSpc>
              <a:buAutoNum type="arabicPeriod"/>
              <a:tabLst>
                <a:tab pos="18161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already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 startAt="3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Up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 </a:t>
            </a:r>
            <a:r>
              <a:rPr dirty="0" sz="1200" spc="-10" b="1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much </a:t>
            </a:r>
            <a:r>
              <a:rPr dirty="0" sz="1200" spc="-5">
                <a:latin typeface="Times New Roman"/>
                <a:cs typeface="Times New Roman"/>
              </a:rPr>
              <a:t>unemployment.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Table2: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Subsequent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time-reference,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after</a:t>
            </a:r>
            <a:endParaRPr sz="1200">
              <a:latin typeface="Times New Roman"/>
              <a:cs typeface="Times New Roman"/>
            </a:endParaRPr>
          </a:p>
          <a:p>
            <a:pPr marL="1651000">
              <a:lnSpc>
                <a:spcPts val="1415"/>
              </a:lnSpc>
            </a:pPr>
            <a:r>
              <a:rPr dirty="0" sz="1200" spc="-5" b="1">
                <a:latin typeface="Times New Roman"/>
                <a:cs typeface="Times New Roman"/>
              </a:rPr>
              <a:t>TIME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RELATERS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57072" y="5574029"/>
          <a:ext cx="4421505" cy="16408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4585"/>
                <a:gridCol w="1572894"/>
                <a:gridCol w="1714500"/>
              </a:tblGrid>
              <a:tr h="182118">
                <a:tc rowSpan="2"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Adjectives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earlier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preceding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previous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6">
                <a:tc rowSpan="7"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Adverbials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already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earlier/previous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2118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prior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first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6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formerly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yet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up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now/then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2117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beginning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6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until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now/then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(long)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938783"/>
          <a:ext cx="5689600" cy="18186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92935"/>
                <a:gridCol w="1893569"/>
                <a:gridCol w="1893570"/>
              </a:tblGrid>
              <a:tr h="429005"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525145">
                        <a:lnSpc>
                          <a:spcPct val="100000"/>
                        </a:lnSpc>
                        <a:spcBef>
                          <a:spcPts val="980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Adverbials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Contemporary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Simultaneous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  <a:tr h="2286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present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meanwhile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  <a:tr h="2286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this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point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  <a:tr h="22859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now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  <a:tr h="2286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today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same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  <a:tr h="2286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  <a:tr h="24003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6500"/>
                      </a:solidFill>
                      <a:prstDash val="solid"/>
                    </a:lnL>
                    <a:lnR w="6350">
                      <a:solidFill>
                        <a:srgbClr val="FF6500"/>
                      </a:solidFill>
                      <a:prstDash val="solid"/>
                    </a:lnR>
                    <a:lnT w="6350">
                      <a:solidFill>
                        <a:srgbClr val="FF6500"/>
                      </a:solidFill>
                      <a:prstDash val="solid"/>
                    </a:lnT>
                    <a:lnB w="6350">
                      <a:solidFill>
                        <a:srgbClr val="FF65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2908807"/>
            <a:ext cx="5627370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simultaneous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translating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newspapers.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05104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future,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probably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replace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daily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activities,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meantime scientists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still </a:t>
            </a:r>
            <a:r>
              <a:rPr dirty="0" sz="1200">
                <a:latin typeface="Times New Roman"/>
                <a:cs typeface="Times New Roman"/>
              </a:rPr>
              <a:t>trying to</a:t>
            </a:r>
            <a:r>
              <a:rPr dirty="0" sz="1200" spc="-5">
                <a:latin typeface="Times New Roman"/>
                <a:cs typeface="Times New Roman"/>
              </a:rPr>
              <a:t> develop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their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potential.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3843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TIME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RELATERS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52537" y="4352353"/>
          <a:ext cx="4358005" cy="1038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28700"/>
                <a:gridCol w="914400"/>
                <a:gridCol w="1143000"/>
                <a:gridCol w="1257300"/>
              </a:tblGrid>
              <a:tr h="10287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228600" marR="123825">
                        <a:lnSpc>
                          <a:spcPts val="13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Adjectives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Adverbials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13664" marR="149860">
                        <a:lnSpc>
                          <a:spcPts val="13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following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afterwards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after that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eventually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304165" marR="216535" indent="-63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later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since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since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04800">
                        <a:lnSpc>
                          <a:spcPts val="134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ts val="1410"/>
                        </a:lnSpc>
                        <a:spcBef>
                          <a:spcPts val="110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next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42900" marR="272415" indent="-1270">
                        <a:lnSpc>
                          <a:spcPts val="1380"/>
                        </a:lnSpc>
                        <a:spcBef>
                          <a:spcPts val="7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end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soon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42900">
                        <a:lnSpc>
                          <a:spcPts val="134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next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397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016000" y="5362447"/>
            <a:ext cx="5627370" cy="3712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>
                <a:latin typeface="Times New Roman"/>
                <a:cs typeface="Times New Roman"/>
              </a:rPr>
              <a:t> of the chip,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 become cheaper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compact.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1610" algn="l"/>
              </a:tabLst>
            </a:pP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finish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course.</a:t>
            </a:r>
            <a:endParaRPr sz="1200">
              <a:latin typeface="Times New Roman"/>
              <a:cs typeface="Times New Roman"/>
            </a:endParaRPr>
          </a:p>
          <a:p>
            <a:pPr marL="12700" marR="883285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After the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of transistors, the later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faster.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N.B</a:t>
            </a:r>
            <a:r>
              <a:rPr dirty="0" sz="1200" spc="-5">
                <a:latin typeface="Times New Roman"/>
                <a:cs typeface="Times New Roman"/>
              </a:rPr>
              <a:t>. 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shown by different verb tenses.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87960" algn="l"/>
              </a:tabLst>
            </a:pPr>
            <a:r>
              <a:rPr dirty="0" sz="1200" spc="-5">
                <a:latin typeface="Times New Roman"/>
                <a:cs typeface="Times New Roman"/>
              </a:rPr>
              <a:t>Vannevar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Bush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had</a:t>
            </a:r>
            <a:r>
              <a:rPr dirty="0" sz="1200" spc="1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built</a:t>
            </a:r>
            <a:r>
              <a:rPr dirty="0" sz="1200" spc="17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Professor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Aiken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</a:t>
            </a:r>
            <a:r>
              <a:rPr dirty="0" sz="1200">
                <a:latin typeface="Times New Roman"/>
                <a:cs typeface="Times New Roman"/>
              </a:rPr>
              <a:t> 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IBM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invented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digital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marL="180975" indent="-168910">
              <a:lnSpc>
                <a:spcPts val="1315"/>
              </a:lnSpc>
              <a:buAutoNum type="arabicPeriod"/>
              <a:tabLst>
                <a:tab pos="181610" algn="l"/>
              </a:tabLst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growing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will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soon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become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obsolete.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Sample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today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haven’t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wasn’t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until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mid-1940s </a:t>
            </a:r>
            <a:r>
              <a:rPr dirty="0" sz="1200">
                <a:latin typeface="Times New Roman"/>
                <a:cs typeface="Times New Roman"/>
              </a:rPr>
              <a:t>that the first working digital computer </a:t>
            </a:r>
            <a:r>
              <a:rPr dirty="0" sz="1200" spc="-5">
                <a:latin typeface="Times New Roman"/>
                <a:cs typeface="Times New Roman"/>
              </a:rPr>
              <a:t>was completed.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 b="1">
                <a:latin typeface="Times New Roman"/>
                <a:cs typeface="Times New Roman"/>
              </a:rPr>
              <a:t>since then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have evolved </a:t>
            </a:r>
            <a:r>
              <a:rPr dirty="0" sz="1200" spc="-5">
                <a:latin typeface="Times New Roman"/>
                <a:cs typeface="Times New Roman"/>
              </a:rPr>
              <a:t>tremendously. </a:t>
            </a:r>
            <a:r>
              <a:rPr dirty="0" sz="1200">
                <a:latin typeface="Times New Roman"/>
                <a:cs typeface="Times New Roman"/>
              </a:rPr>
              <a:t>Vacuum tubes </a:t>
            </a:r>
            <a:r>
              <a:rPr dirty="0" sz="1200" spc="-5">
                <a:latin typeface="Times New Roman"/>
                <a:cs typeface="Times New Roman"/>
              </a:rPr>
              <a:t>were used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first-generation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beginning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1960s.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1960s,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 </a:t>
            </a:r>
            <a:r>
              <a:rPr dirty="0" sz="1200">
                <a:latin typeface="Times New Roman"/>
                <a:cs typeface="Times New Roman"/>
              </a:rPr>
              <a:t> replaced by tiny </a:t>
            </a:r>
            <a:r>
              <a:rPr dirty="0" sz="1200" spc="-5">
                <a:latin typeface="Times New Roman"/>
                <a:cs typeface="Times New Roman"/>
              </a:rPr>
              <a:t>integrated circuit </a:t>
            </a:r>
            <a:r>
              <a:rPr dirty="0" sz="1200">
                <a:latin typeface="Times New Roman"/>
                <a:cs typeface="Times New Roman"/>
              </a:rPr>
              <a:t>boards and, </a:t>
            </a:r>
            <a:r>
              <a:rPr dirty="0" sz="1200" spc="-5">
                <a:latin typeface="Times New Roman"/>
                <a:cs typeface="Times New Roman"/>
              </a:rPr>
              <a:t>consequently,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generation of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market.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Fourth-generation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now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4627626" y="6178296"/>
            <a:ext cx="880110" cy="13970"/>
            <a:chOff x="4627626" y="6178296"/>
            <a:chExt cx="880110" cy="13970"/>
          </a:xfrm>
        </p:grpSpPr>
        <p:sp>
          <p:nvSpPr>
            <p:cNvPr id="4" name="object 4"/>
            <p:cNvSpPr/>
            <p:nvPr/>
          </p:nvSpPr>
          <p:spPr>
            <a:xfrm>
              <a:off x="4633722" y="6184391"/>
              <a:ext cx="874394" cy="7620"/>
            </a:xfrm>
            <a:custGeom>
              <a:avLst/>
              <a:gdLst/>
              <a:ahLst/>
              <a:cxnLst/>
              <a:rect l="l" t="t" r="r" b="b"/>
              <a:pathLst>
                <a:path w="874395" h="7620">
                  <a:moveTo>
                    <a:pt x="874013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874013" y="7620"/>
                  </a:lnTo>
                  <a:lnTo>
                    <a:pt x="874013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627626" y="6178296"/>
              <a:ext cx="874394" cy="7620"/>
            </a:xfrm>
            <a:custGeom>
              <a:avLst/>
              <a:gdLst/>
              <a:ahLst/>
              <a:cxnLst/>
              <a:rect l="l" t="t" r="r" b="b"/>
              <a:pathLst>
                <a:path w="874395" h="7620">
                  <a:moveTo>
                    <a:pt x="874013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874013" y="7619"/>
                  </a:lnTo>
                  <a:lnTo>
                    <a:pt x="8740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1417319" y="6353555"/>
            <a:ext cx="553720" cy="13970"/>
            <a:chOff x="1417319" y="6353555"/>
            <a:chExt cx="553720" cy="13970"/>
          </a:xfrm>
        </p:grpSpPr>
        <p:sp>
          <p:nvSpPr>
            <p:cNvPr id="7" name="object 7"/>
            <p:cNvSpPr/>
            <p:nvPr/>
          </p:nvSpPr>
          <p:spPr>
            <a:xfrm>
              <a:off x="1423415" y="6359651"/>
              <a:ext cx="547370" cy="7620"/>
            </a:xfrm>
            <a:custGeom>
              <a:avLst/>
              <a:gdLst/>
              <a:ahLst/>
              <a:cxnLst/>
              <a:rect l="l" t="t" r="r" b="b"/>
              <a:pathLst>
                <a:path w="547369" h="7620">
                  <a:moveTo>
                    <a:pt x="547116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547116" y="7620"/>
                  </a:lnTo>
                  <a:lnTo>
                    <a:pt x="54711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417319" y="6353555"/>
              <a:ext cx="547370" cy="7620"/>
            </a:xfrm>
            <a:custGeom>
              <a:avLst/>
              <a:gdLst/>
              <a:ahLst/>
              <a:cxnLst/>
              <a:rect l="l" t="t" r="r" b="b"/>
              <a:pathLst>
                <a:path w="547369" h="7620">
                  <a:moveTo>
                    <a:pt x="547116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547116" y="7620"/>
                  </a:lnTo>
                  <a:lnTo>
                    <a:pt x="5471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5525261" y="6353555"/>
            <a:ext cx="1110615" cy="13970"/>
            <a:chOff x="5525261" y="6353555"/>
            <a:chExt cx="1110615" cy="13970"/>
          </a:xfrm>
        </p:grpSpPr>
        <p:sp>
          <p:nvSpPr>
            <p:cNvPr id="10" name="object 10"/>
            <p:cNvSpPr/>
            <p:nvPr/>
          </p:nvSpPr>
          <p:spPr>
            <a:xfrm>
              <a:off x="5531357" y="6359651"/>
              <a:ext cx="1104265" cy="7620"/>
            </a:xfrm>
            <a:custGeom>
              <a:avLst/>
              <a:gdLst/>
              <a:ahLst/>
              <a:cxnLst/>
              <a:rect l="l" t="t" r="r" b="b"/>
              <a:pathLst>
                <a:path w="1104265" h="7620">
                  <a:moveTo>
                    <a:pt x="110413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104138" y="7620"/>
                  </a:lnTo>
                  <a:lnTo>
                    <a:pt x="110413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525261" y="6353555"/>
              <a:ext cx="1104265" cy="7620"/>
            </a:xfrm>
            <a:custGeom>
              <a:avLst/>
              <a:gdLst/>
              <a:ahLst/>
              <a:cxnLst/>
              <a:rect l="l" t="t" r="r" b="b"/>
              <a:pathLst>
                <a:path w="1104265" h="7620">
                  <a:moveTo>
                    <a:pt x="110413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104138" y="7620"/>
                  </a:lnTo>
                  <a:lnTo>
                    <a:pt x="11041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1028700" y="6528816"/>
            <a:ext cx="2767965" cy="13970"/>
            <a:chOff x="1028700" y="6528816"/>
            <a:chExt cx="2767965" cy="13970"/>
          </a:xfrm>
        </p:grpSpPr>
        <p:sp>
          <p:nvSpPr>
            <p:cNvPr id="13" name="object 13"/>
            <p:cNvSpPr/>
            <p:nvPr/>
          </p:nvSpPr>
          <p:spPr>
            <a:xfrm>
              <a:off x="1034795" y="6534911"/>
              <a:ext cx="2761615" cy="7620"/>
            </a:xfrm>
            <a:custGeom>
              <a:avLst/>
              <a:gdLst/>
              <a:ahLst/>
              <a:cxnLst/>
              <a:rect l="l" t="t" r="r" b="b"/>
              <a:pathLst>
                <a:path w="2761615" h="7620">
                  <a:moveTo>
                    <a:pt x="276148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2761488" y="7620"/>
                  </a:lnTo>
                  <a:lnTo>
                    <a:pt x="276148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028700" y="6528816"/>
              <a:ext cx="2761615" cy="7620"/>
            </a:xfrm>
            <a:custGeom>
              <a:avLst/>
              <a:gdLst/>
              <a:ahLst/>
              <a:cxnLst/>
              <a:rect l="l" t="t" r="r" b="b"/>
              <a:pathLst>
                <a:path w="2761615" h="7620">
                  <a:moveTo>
                    <a:pt x="2761488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2761488" y="7619"/>
                  </a:lnTo>
                  <a:lnTo>
                    <a:pt x="27614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6073140" y="6528816"/>
            <a:ext cx="135255" cy="13970"/>
            <a:chOff x="6073140" y="6528816"/>
            <a:chExt cx="135255" cy="13970"/>
          </a:xfrm>
        </p:grpSpPr>
        <p:sp>
          <p:nvSpPr>
            <p:cNvPr id="16" name="object 16"/>
            <p:cNvSpPr/>
            <p:nvPr/>
          </p:nvSpPr>
          <p:spPr>
            <a:xfrm>
              <a:off x="6079236" y="6534911"/>
              <a:ext cx="128905" cy="7620"/>
            </a:xfrm>
            <a:custGeom>
              <a:avLst/>
              <a:gdLst/>
              <a:ahLst/>
              <a:cxnLst/>
              <a:rect l="l" t="t" r="r" b="b"/>
              <a:pathLst>
                <a:path w="128904" h="7620">
                  <a:moveTo>
                    <a:pt x="128777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28777" y="7620"/>
                  </a:lnTo>
                  <a:lnTo>
                    <a:pt x="128777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073140" y="6528816"/>
              <a:ext cx="128905" cy="7620"/>
            </a:xfrm>
            <a:custGeom>
              <a:avLst/>
              <a:gdLst/>
              <a:ahLst/>
              <a:cxnLst/>
              <a:rect l="l" t="t" r="r" b="b"/>
              <a:pathLst>
                <a:path w="128904" h="7620">
                  <a:moveTo>
                    <a:pt x="128777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128777" y="7619"/>
                  </a:lnTo>
                  <a:lnTo>
                    <a:pt x="1287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6215634" y="6704076"/>
            <a:ext cx="420370" cy="13970"/>
            <a:chOff x="6215634" y="6704076"/>
            <a:chExt cx="420370" cy="13970"/>
          </a:xfrm>
        </p:grpSpPr>
        <p:sp>
          <p:nvSpPr>
            <p:cNvPr id="19" name="object 19"/>
            <p:cNvSpPr/>
            <p:nvPr/>
          </p:nvSpPr>
          <p:spPr>
            <a:xfrm>
              <a:off x="6221730" y="6710171"/>
              <a:ext cx="414020" cy="7620"/>
            </a:xfrm>
            <a:custGeom>
              <a:avLst/>
              <a:gdLst/>
              <a:ahLst/>
              <a:cxnLst/>
              <a:rect l="l" t="t" r="r" b="b"/>
              <a:pathLst>
                <a:path w="414020" h="7620">
                  <a:moveTo>
                    <a:pt x="413766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413766" y="7620"/>
                  </a:lnTo>
                  <a:lnTo>
                    <a:pt x="41376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215634" y="6704076"/>
              <a:ext cx="414020" cy="7620"/>
            </a:xfrm>
            <a:custGeom>
              <a:avLst/>
              <a:gdLst/>
              <a:ahLst/>
              <a:cxnLst/>
              <a:rect l="l" t="t" r="r" b="b"/>
              <a:pathLst>
                <a:path w="414020" h="7620">
                  <a:moveTo>
                    <a:pt x="413765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413765" y="7620"/>
                  </a:lnTo>
                  <a:lnTo>
                    <a:pt x="4137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1028700" y="6879335"/>
            <a:ext cx="889000" cy="13970"/>
            <a:chOff x="1028700" y="6879335"/>
            <a:chExt cx="889000" cy="13970"/>
          </a:xfrm>
        </p:grpSpPr>
        <p:sp>
          <p:nvSpPr>
            <p:cNvPr id="22" name="object 22"/>
            <p:cNvSpPr/>
            <p:nvPr/>
          </p:nvSpPr>
          <p:spPr>
            <a:xfrm>
              <a:off x="1034795" y="6885431"/>
              <a:ext cx="882650" cy="7620"/>
            </a:xfrm>
            <a:custGeom>
              <a:avLst/>
              <a:gdLst/>
              <a:ahLst/>
              <a:cxnLst/>
              <a:rect l="l" t="t" r="r" b="b"/>
              <a:pathLst>
                <a:path w="882650" h="7620">
                  <a:moveTo>
                    <a:pt x="882396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882396" y="7620"/>
                  </a:lnTo>
                  <a:lnTo>
                    <a:pt x="88239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028700" y="6879335"/>
              <a:ext cx="882650" cy="7620"/>
            </a:xfrm>
            <a:custGeom>
              <a:avLst/>
              <a:gdLst/>
              <a:ahLst/>
              <a:cxnLst/>
              <a:rect l="l" t="t" r="r" b="b"/>
              <a:pathLst>
                <a:path w="882650" h="7620">
                  <a:moveTo>
                    <a:pt x="882396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882396" y="7620"/>
                  </a:lnTo>
                  <a:lnTo>
                    <a:pt x="8823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2667761" y="6879335"/>
            <a:ext cx="1285875" cy="13970"/>
            <a:chOff x="2667761" y="6879335"/>
            <a:chExt cx="1285875" cy="13970"/>
          </a:xfrm>
        </p:grpSpPr>
        <p:sp>
          <p:nvSpPr>
            <p:cNvPr id="25" name="object 25"/>
            <p:cNvSpPr/>
            <p:nvPr/>
          </p:nvSpPr>
          <p:spPr>
            <a:xfrm>
              <a:off x="2673857" y="6885431"/>
              <a:ext cx="1279525" cy="7620"/>
            </a:xfrm>
            <a:custGeom>
              <a:avLst/>
              <a:gdLst/>
              <a:ahLst/>
              <a:cxnLst/>
              <a:rect l="l" t="t" r="r" b="b"/>
              <a:pathLst>
                <a:path w="1279525" h="7620">
                  <a:moveTo>
                    <a:pt x="1279397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279397" y="7620"/>
                  </a:lnTo>
                  <a:lnTo>
                    <a:pt x="1279397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667761" y="6879335"/>
              <a:ext cx="1279525" cy="7620"/>
            </a:xfrm>
            <a:custGeom>
              <a:avLst/>
              <a:gdLst/>
              <a:ahLst/>
              <a:cxnLst/>
              <a:rect l="l" t="t" r="r" b="b"/>
              <a:pathLst>
                <a:path w="1279525" h="7620">
                  <a:moveTo>
                    <a:pt x="127939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279398" y="7620"/>
                  </a:lnTo>
                  <a:lnTo>
                    <a:pt x="12793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/>
          <p:cNvGrpSpPr/>
          <p:nvPr/>
        </p:nvGrpSpPr>
        <p:grpSpPr>
          <a:xfrm>
            <a:off x="1303782" y="7054595"/>
            <a:ext cx="1111885" cy="13970"/>
            <a:chOff x="1303782" y="7054595"/>
            <a:chExt cx="1111885" cy="13970"/>
          </a:xfrm>
        </p:grpSpPr>
        <p:sp>
          <p:nvSpPr>
            <p:cNvPr id="28" name="object 28"/>
            <p:cNvSpPr/>
            <p:nvPr/>
          </p:nvSpPr>
          <p:spPr>
            <a:xfrm>
              <a:off x="1309878" y="7060691"/>
              <a:ext cx="1106170" cy="7620"/>
            </a:xfrm>
            <a:custGeom>
              <a:avLst/>
              <a:gdLst/>
              <a:ahLst/>
              <a:cxnLst/>
              <a:rect l="l" t="t" r="r" b="b"/>
              <a:pathLst>
                <a:path w="1106170" h="7620">
                  <a:moveTo>
                    <a:pt x="1105661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105661" y="7620"/>
                  </a:lnTo>
                  <a:lnTo>
                    <a:pt x="110566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303782" y="7054595"/>
              <a:ext cx="1106170" cy="7620"/>
            </a:xfrm>
            <a:custGeom>
              <a:avLst/>
              <a:gdLst/>
              <a:ahLst/>
              <a:cxnLst/>
              <a:rect l="l" t="t" r="r" b="b"/>
              <a:pathLst>
                <a:path w="1106170" h="7620">
                  <a:moveTo>
                    <a:pt x="1105662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1105662" y="7619"/>
                  </a:lnTo>
                  <a:lnTo>
                    <a:pt x="11056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914400" y="435356"/>
            <a:ext cx="6070600" cy="7872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95"/>
              </a:spcBef>
              <a:tabLst>
                <a:tab pos="59810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14300" marR="3467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much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before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Soon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fifth-generation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these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will, no doubt,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 than</a:t>
            </a:r>
            <a:r>
              <a:rPr dirty="0" sz="1200" spc="-5">
                <a:latin typeface="Times New Roman"/>
                <a:cs typeface="Times New Roman"/>
              </a:rPr>
              <a:t> their </a:t>
            </a:r>
            <a:r>
              <a:rPr dirty="0" sz="1200">
                <a:latin typeface="Times New Roman"/>
                <a:cs typeface="Times New Roman"/>
              </a:rPr>
              <a:t>predecessors.</a:t>
            </a:r>
            <a:endParaRPr sz="1200">
              <a:latin typeface="Times New Roman"/>
              <a:cs typeface="Times New Roman"/>
            </a:endParaRPr>
          </a:p>
          <a:p>
            <a:pPr marL="114300">
              <a:lnSpc>
                <a:spcPts val="132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endParaRPr sz="1200">
              <a:latin typeface="Times New Roman"/>
              <a:cs typeface="Times New Roman"/>
            </a:endParaRPr>
          </a:p>
          <a:p>
            <a:pPr marL="1143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relaters.</a:t>
            </a:r>
            <a:endParaRPr sz="1200">
              <a:latin typeface="Times New Roman"/>
              <a:cs typeface="Times New Roman"/>
            </a:endParaRPr>
          </a:p>
          <a:p>
            <a:pPr algn="just" marL="113664" marR="3473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computers have </a:t>
            </a:r>
            <a:r>
              <a:rPr dirty="0" sz="1200">
                <a:latin typeface="Times New Roman"/>
                <a:cs typeface="Times New Roman"/>
              </a:rPr>
              <a:t>a very short history but, because they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manipulate numbers, </a:t>
            </a:r>
            <a:r>
              <a:rPr dirty="0" sz="1200">
                <a:latin typeface="Times New Roman"/>
                <a:cs typeface="Times New Roman"/>
              </a:rPr>
              <a:t>others disagree. More than 5000 years ago, a need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 was recognized, and somebody </a:t>
            </a:r>
            <a:r>
              <a:rPr dirty="0" sz="1200">
                <a:latin typeface="Times New Roman"/>
                <a:cs typeface="Times New Roman"/>
              </a:rPr>
              <a:t>had the idea of using first </a:t>
            </a:r>
            <a:r>
              <a:rPr dirty="0" sz="1200" spc="-5">
                <a:latin typeface="Times New Roman"/>
                <a:cs typeface="Times New Roman"/>
              </a:rPr>
              <a:t>his fingers, then pebbles to </a:t>
            </a:r>
            <a:r>
              <a:rPr dirty="0" sz="1200">
                <a:latin typeface="Times New Roman"/>
                <a:cs typeface="Times New Roman"/>
              </a:rPr>
              <a:t> keep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count.</a:t>
            </a:r>
            <a:endParaRPr sz="1200">
              <a:latin typeface="Times New Roman"/>
              <a:cs typeface="Times New Roman"/>
            </a:endParaRPr>
          </a:p>
          <a:p>
            <a:pPr algn="just" marL="113664" marR="3454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History is not clear as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whether the need was recognized before </a:t>
            </a:r>
            <a:r>
              <a:rPr dirty="0" sz="1200">
                <a:latin typeface="Times New Roman"/>
                <a:cs typeface="Times New Roman"/>
              </a:rPr>
              <a:t>or after the idea occurred.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 </a:t>
            </a:r>
            <a:r>
              <a:rPr dirty="0" sz="1200" spc="-5">
                <a:latin typeface="Times New Roman"/>
                <a:cs typeface="Times New Roman"/>
              </a:rPr>
              <a:t>that time, </a:t>
            </a:r>
            <a:r>
              <a:rPr dirty="0" sz="1200">
                <a:latin typeface="Times New Roman"/>
                <a:cs typeface="Times New Roman"/>
              </a:rPr>
              <a:t>the abacus </a:t>
            </a:r>
            <a:r>
              <a:rPr dirty="0" sz="1200" spc="-5">
                <a:latin typeface="Times New Roman"/>
                <a:cs typeface="Times New Roman"/>
              </a:rPr>
              <a:t>was invented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some form </a:t>
            </a:r>
            <a:r>
              <a:rPr dirty="0" sz="1200">
                <a:latin typeface="Times New Roman"/>
                <a:cs typeface="Times New Roman"/>
              </a:rPr>
              <a:t>of it </a:t>
            </a:r>
            <a:r>
              <a:rPr dirty="0" sz="1200" spc="-5">
                <a:latin typeface="Times New Roman"/>
                <a:cs typeface="Times New Roman"/>
              </a:rPr>
              <a:t>was used </a:t>
            </a:r>
            <a:r>
              <a:rPr dirty="0" sz="1200">
                <a:latin typeface="Times New Roman"/>
                <a:cs typeface="Times New Roman"/>
              </a:rPr>
              <a:t>well into the 16th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century. During the 17th and 18th centuries many easy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calculating were devised.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Logarithm tables, calculus and the </a:t>
            </a:r>
            <a:r>
              <a:rPr dirty="0" sz="1200" spc="-5">
                <a:latin typeface="Times New Roman"/>
                <a:cs typeface="Times New Roman"/>
              </a:rPr>
              <a:t>basis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the modern </a:t>
            </a:r>
            <a:r>
              <a:rPr dirty="0" sz="1200">
                <a:latin typeface="Times New Roman"/>
                <a:cs typeface="Times New Roman"/>
              </a:rPr>
              <a:t>slide rule were born out of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 of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not until the early 1800s that the first calculating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appeared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not too long after, Charles </a:t>
            </a:r>
            <a:r>
              <a:rPr dirty="0" sz="1200" spc="-5">
                <a:latin typeface="Times New Roman"/>
                <a:cs typeface="Times New Roman"/>
              </a:rPr>
              <a:t>Babbage designed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became </a:t>
            </a:r>
            <a:r>
              <a:rPr dirty="0" sz="1200">
                <a:latin typeface="Times New Roman"/>
                <a:cs typeface="Times New Roman"/>
              </a:rPr>
              <a:t>the basis 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5">
                <a:latin typeface="Times New Roman"/>
                <a:cs typeface="Times New Roman"/>
              </a:rPr>
              <a:t> computers.</a:t>
            </a:r>
            <a:endParaRPr sz="1200">
              <a:latin typeface="Times New Roman"/>
              <a:cs typeface="Times New Roman"/>
            </a:endParaRPr>
          </a:p>
          <a:p>
            <a:pPr algn="just" marL="113664" marR="3467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hundred years later the first analog </a:t>
            </a:r>
            <a:r>
              <a:rPr dirty="0" sz="1200" spc="-5">
                <a:latin typeface="Times New Roman"/>
                <a:cs typeface="Times New Roman"/>
              </a:rPr>
              <a:t>computer was </a:t>
            </a:r>
            <a:r>
              <a:rPr dirty="0" sz="1200">
                <a:latin typeface="Times New Roman"/>
                <a:cs typeface="Times New Roman"/>
              </a:rPr>
              <a:t>built, but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first digital </a:t>
            </a:r>
            <a:r>
              <a:rPr dirty="0" sz="1200" spc="-5">
                <a:latin typeface="Times New Roman"/>
                <a:cs typeface="Times New Roman"/>
              </a:rPr>
              <a:t>computer was </a:t>
            </a:r>
            <a:r>
              <a:rPr dirty="0" sz="1200">
                <a:latin typeface="Times New Roman"/>
                <a:cs typeface="Times New Roman"/>
              </a:rPr>
              <a:t> not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until </a:t>
            </a:r>
            <a:r>
              <a:rPr dirty="0" sz="1200" spc="-5">
                <a:latin typeface="Times New Roman"/>
                <a:cs typeface="Times New Roman"/>
              </a:rPr>
              <a:t>1944. </a:t>
            </a:r>
            <a:r>
              <a:rPr dirty="0" sz="1200">
                <a:latin typeface="Times New Roman"/>
                <a:cs typeface="Times New Roman"/>
              </a:rPr>
              <a:t>Since then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have gone through four generations from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vacuum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1950s,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1960s,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integrated in the </a:t>
            </a:r>
            <a:r>
              <a:rPr dirty="0" sz="1200" spc="-5">
                <a:latin typeface="Times New Roman"/>
                <a:cs typeface="Times New Roman"/>
              </a:rPr>
              <a:t>mid-60s, </a:t>
            </a:r>
            <a:r>
              <a:rPr dirty="0" sz="1200">
                <a:latin typeface="Times New Roman"/>
                <a:cs typeface="Times New Roman"/>
              </a:rPr>
              <a:t>and a single chip in the 190s.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the rate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technology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growing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changes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13664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(Answer)</a:t>
            </a:r>
            <a:endParaRPr sz="1200">
              <a:latin typeface="Times New Roman"/>
              <a:cs typeface="Times New Roman"/>
            </a:endParaRPr>
          </a:p>
          <a:p>
            <a:pPr algn="just" marL="113664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read,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time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relaters.</a:t>
            </a:r>
            <a:endParaRPr sz="1200">
              <a:latin typeface="Times New Roman"/>
              <a:cs typeface="Times New Roman"/>
            </a:endParaRPr>
          </a:p>
          <a:p>
            <a:pPr algn="just" marL="113664" marR="3473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computers have </a:t>
            </a:r>
            <a:r>
              <a:rPr dirty="0" sz="1200">
                <a:latin typeface="Times New Roman"/>
                <a:cs typeface="Times New Roman"/>
              </a:rPr>
              <a:t>a very short history but, because they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manipulate numbers, </a:t>
            </a:r>
            <a:r>
              <a:rPr dirty="0" sz="1200">
                <a:latin typeface="Times New Roman"/>
                <a:cs typeface="Times New Roman"/>
              </a:rPr>
              <a:t>others disagre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e. More than 5000 years ago,</a:t>
            </a:r>
            <a:r>
              <a:rPr dirty="0" sz="1200">
                <a:latin typeface="Times New Roman"/>
                <a:cs typeface="Times New Roman"/>
              </a:rPr>
              <a:t> a need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 was recognized, and somebody </a:t>
            </a:r>
            <a:r>
              <a:rPr dirty="0" sz="1200">
                <a:latin typeface="Times New Roman"/>
                <a:cs typeface="Times New Roman"/>
              </a:rPr>
              <a:t>had the idea of using first </a:t>
            </a:r>
            <a:r>
              <a:rPr dirty="0" sz="1200" spc="-5">
                <a:latin typeface="Times New Roman"/>
                <a:cs typeface="Times New Roman"/>
              </a:rPr>
              <a:t>his fingers, then pebbles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track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count.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14300" marR="3467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History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recognized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occurred.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dbl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Since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abacus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invented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16th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During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17</a:t>
            </a:r>
            <a:r>
              <a:rPr dirty="0" baseline="31250" sz="1200" spc="-7">
                <a:latin typeface="Times New Roman"/>
                <a:cs typeface="Times New Roman"/>
              </a:rPr>
              <a:t>th</a:t>
            </a:r>
            <a:r>
              <a:rPr dirty="0" baseline="3125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centuries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devised.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Logarithm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born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until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1800s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Babbage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14300" marR="346710">
              <a:lnSpc>
                <a:spcPts val="138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hundred years later</a:t>
            </a:r>
            <a:r>
              <a:rPr dirty="0" sz="1200">
                <a:latin typeface="Times New Roman"/>
                <a:cs typeface="Times New Roman"/>
              </a:rPr>
              <a:t> the first analog </a:t>
            </a:r>
            <a:r>
              <a:rPr dirty="0" sz="1200" spc="-5">
                <a:latin typeface="Times New Roman"/>
                <a:cs typeface="Times New Roman"/>
              </a:rPr>
              <a:t>computer was </a:t>
            </a:r>
            <a:r>
              <a:rPr dirty="0" sz="1200">
                <a:latin typeface="Times New Roman"/>
                <a:cs typeface="Times New Roman"/>
              </a:rPr>
              <a:t>built, but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first digital </a:t>
            </a:r>
            <a:r>
              <a:rPr dirty="0" sz="1200" spc="-5">
                <a:latin typeface="Times New Roman"/>
                <a:cs typeface="Times New Roman"/>
              </a:rPr>
              <a:t>computer was </a:t>
            </a:r>
            <a:r>
              <a:rPr dirty="0" sz="1200">
                <a:latin typeface="Times New Roman"/>
                <a:cs typeface="Times New Roman"/>
              </a:rPr>
              <a:t> not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until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1944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Since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have gone through four generations from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vacuum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tubes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in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1950s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early</a:t>
            </a:r>
            <a:r>
              <a:rPr dirty="0" u="sng" sz="120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1960s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mid-60s,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1970s.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growing </a:t>
            </a:r>
            <a:r>
              <a:rPr dirty="0" sz="1200" spc="-5">
                <a:latin typeface="Times New Roman"/>
                <a:cs typeface="Times New Roman"/>
              </a:rPr>
              <a:t>now, we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changes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by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decade.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32" name="object 3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Assessing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Texts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lesson, we </a:t>
            </a:r>
            <a:r>
              <a:rPr dirty="0" sz="1200">
                <a:latin typeface="Times New Roman"/>
                <a:cs typeface="Times New Roman"/>
              </a:rPr>
              <a:t>are going to begin by </a:t>
            </a:r>
            <a:r>
              <a:rPr dirty="0" sz="1200" spc="-5">
                <a:latin typeface="Times New Roman"/>
                <a:cs typeface="Times New Roman"/>
              </a:rPr>
              <a:t>looking </a:t>
            </a:r>
            <a:r>
              <a:rPr dirty="0" sz="1200">
                <a:latin typeface="Times New Roman"/>
                <a:cs typeface="Times New Roman"/>
              </a:rPr>
              <a:t>at how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bring their characters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employing different descriptive </a:t>
            </a:r>
            <a:r>
              <a:rPr dirty="0" sz="1200">
                <a:latin typeface="Times New Roman"/>
                <a:cs typeface="Times New Roman"/>
              </a:rPr>
              <a:t>and other </a:t>
            </a:r>
            <a:r>
              <a:rPr dirty="0" sz="1200" spc="-5">
                <a:latin typeface="Times New Roman"/>
                <a:cs typeface="Times New Roman"/>
              </a:rPr>
              <a:t>techniques.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second half, we will </a:t>
            </a:r>
            <a:r>
              <a:rPr dirty="0" sz="1200">
                <a:latin typeface="Times New Roman"/>
                <a:cs typeface="Times New Roman"/>
              </a:rPr>
              <a:t>go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practical texts pertaining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field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 related to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Characters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Characters: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>
                <a:latin typeface="Times New Roman"/>
                <a:cs typeface="Times New Roman"/>
              </a:rPr>
              <a:t>every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imaginative </a:t>
            </a:r>
            <a:r>
              <a:rPr dirty="0" sz="1200">
                <a:latin typeface="Times New Roman"/>
                <a:cs typeface="Times New Roman"/>
              </a:rPr>
              <a:t>writing </a:t>
            </a:r>
            <a:r>
              <a:rPr dirty="0" sz="1200" spc="-5">
                <a:latin typeface="Times New Roman"/>
                <a:cs typeface="Times New Roman"/>
              </a:rPr>
              <a:t>has to do with people in some way or the </a:t>
            </a:r>
            <a:r>
              <a:rPr dirty="0" sz="1200">
                <a:latin typeface="Times New Roman"/>
                <a:cs typeface="Times New Roman"/>
              </a:rPr>
              <a:t> other.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going to look at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in which a writer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able to translate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vision </a:t>
            </a:r>
            <a:r>
              <a:rPr dirty="0" sz="1200">
                <a:latin typeface="Times New Roman"/>
                <a:cs typeface="Times New Roman"/>
              </a:rPr>
              <a:t>of the people. </a:t>
            </a:r>
            <a:r>
              <a:rPr dirty="0" sz="1200" spc="-5">
                <a:latin typeface="Times New Roman"/>
                <a:cs typeface="Times New Roman"/>
              </a:rPr>
              <a:t>He is writing </a:t>
            </a:r>
            <a:r>
              <a:rPr dirty="0" sz="1200">
                <a:latin typeface="Times New Roman"/>
                <a:cs typeface="Times New Roman"/>
              </a:rPr>
              <a:t>to the reader </a:t>
            </a:r>
            <a:r>
              <a:rPr dirty="0" sz="1200" spc="-5">
                <a:latin typeface="Times New Roman"/>
                <a:cs typeface="Times New Roman"/>
              </a:rPr>
              <a:t>by means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some ways, </a:t>
            </a:r>
            <a:r>
              <a:rPr dirty="0" sz="1200">
                <a:latin typeface="Times New Roman"/>
                <a:cs typeface="Times New Roman"/>
              </a:rPr>
              <a:t>a painter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photographer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easier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task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directly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visual </a:t>
            </a:r>
            <a:r>
              <a:rPr dirty="0" sz="1200" spc="-5">
                <a:latin typeface="Times New Roman"/>
                <a:cs typeface="Times New Roman"/>
              </a:rPr>
              <a:t>terms-though, </a:t>
            </a:r>
            <a:r>
              <a:rPr dirty="0" sz="1200">
                <a:latin typeface="Times New Roman"/>
                <a:cs typeface="Times New Roman"/>
              </a:rPr>
              <a:t>of course, </a:t>
            </a:r>
            <a:r>
              <a:rPr dirty="0" sz="1200" spc="-5">
                <a:latin typeface="Times New Roman"/>
                <a:cs typeface="Times New Roman"/>
              </a:rPr>
              <a:t>interpretation is </a:t>
            </a:r>
            <a:r>
              <a:rPr dirty="0" sz="1200">
                <a:latin typeface="Times New Roman"/>
                <a:cs typeface="Times New Roman"/>
              </a:rPr>
              <a:t>necessary here, too. </a:t>
            </a:r>
            <a:r>
              <a:rPr dirty="0" sz="1200" spc="-5">
                <a:latin typeface="Times New Roman"/>
                <a:cs typeface="Times New Roman"/>
              </a:rPr>
              <a:t>How, </a:t>
            </a:r>
            <a:r>
              <a:rPr dirty="0" sz="1200">
                <a:latin typeface="Times New Roman"/>
                <a:cs typeface="Times New Roman"/>
              </a:rPr>
              <a:t>then, does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achieve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writer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achieves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by: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showing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actual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characters’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mouth.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associations.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3515" algn="l"/>
              </a:tabLst>
            </a:pPr>
            <a:r>
              <a:rPr dirty="0" sz="1200">
                <a:latin typeface="Times New Roman"/>
                <a:cs typeface="Times New Roman"/>
              </a:rPr>
              <a:t>associating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easily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identified.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eriod"/>
              <a:tabLst>
                <a:tab pos="191135" algn="l"/>
              </a:tabLst>
            </a:pPr>
            <a:r>
              <a:rPr dirty="0" sz="1200">
                <a:latin typeface="Times New Roman"/>
                <a:cs typeface="Times New Roman"/>
              </a:rPr>
              <a:t>choice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picking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feature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vividly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ways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writer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does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6891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Action: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writer </a:t>
            </a:r>
            <a:r>
              <a:rPr dirty="0" sz="1200">
                <a:latin typeface="Times New Roman"/>
                <a:cs typeface="Times New Roman"/>
              </a:rPr>
              <a:t>does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>
                <a:latin typeface="Times New Roman"/>
                <a:cs typeface="Times New Roman"/>
              </a:rPr>
              <a:t>by showing the character </a:t>
            </a:r>
            <a:r>
              <a:rPr dirty="0" sz="1200" spc="-5">
                <a:latin typeface="Times New Roman"/>
                <a:cs typeface="Times New Roman"/>
              </a:rPr>
              <a:t>performing </a:t>
            </a:r>
            <a:r>
              <a:rPr dirty="0" sz="1200">
                <a:latin typeface="Times New Roman"/>
                <a:cs typeface="Times New Roman"/>
              </a:rPr>
              <a:t>some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 </a:t>
            </a:r>
            <a:r>
              <a:rPr dirty="0" sz="1200" spc="-5">
                <a:latin typeface="Times New Roman"/>
                <a:cs typeface="Times New Roman"/>
              </a:rPr>
              <a:t>which is typical </a:t>
            </a:r>
            <a:r>
              <a:rPr dirty="0" sz="1200">
                <a:latin typeface="Times New Roman"/>
                <a:cs typeface="Times New Roman"/>
              </a:rPr>
              <a:t>of him or </a:t>
            </a:r>
            <a:r>
              <a:rPr dirty="0" sz="1200" spc="-5">
                <a:latin typeface="Times New Roman"/>
                <a:cs typeface="Times New Roman"/>
              </a:rPr>
              <a:t>performing </a:t>
            </a:r>
            <a:r>
              <a:rPr dirty="0" sz="1200">
                <a:latin typeface="Times New Roman"/>
                <a:cs typeface="Times New Roman"/>
              </a:rPr>
              <a:t>an action in a </a:t>
            </a:r>
            <a:r>
              <a:rPr dirty="0" sz="1200" spc="-5">
                <a:latin typeface="Times New Roman"/>
                <a:cs typeface="Times New Roman"/>
              </a:rPr>
              <a:t>particular way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reveals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 of person he </a:t>
            </a:r>
            <a:r>
              <a:rPr dirty="0" sz="1200" spc="-5">
                <a:latin typeface="Times New Roman"/>
                <a:cs typeface="Times New Roman"/>
              </a:rPr>
              <a:t>is. </a:t>
            </a:r>
            <a:r>
              <a:rPr dirty="0" sz="1200">
                <a:latin typeface="Times New Roman"/>
                <a:cs typeface="Times New Roman"/>
              </a:rPr>
              <a:t>Here </a:t>
            </a:r>
            <a:r>
              <a:rPr dirty="0" sz="1200" spc="-5">
                <a:latin typeface="Times New Roman"/>
                <a:cs typeface="Times New Roman"/>
              </a:rPr>
              <a:t>is another example,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description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Pip’s sister, Mrs. Gargery, </a:t>
            </a:r>
            <a:r>
              <a:rPr dirty="0" sz="1200">
                <a:latin typeface="Times New Roman"/>
                <a:cs typeface="Times New Roman"/>
              </a:rPr>
              <a:t> 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Dicken’s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My sister </a:t>
            </a:r>
            <a:r>
              <a:rPr dirty="0" sz="1200">
                <a:latin typeface="Times New Roman"/>
                <a:cs typeface="Times New Roman"/>
              </a:rPr>
              <a:t>had a trenchant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cutting our </a:t>
            </a:r>
            <a:r>
              <a:rPr dirty="0" sz="1200" spc="-5">
                <a:latin typeface="Times New Roman"/>
                <a:cs typeface="Times New Roman"/>
              </a:rPr>
              <a:t>bread-and-butter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that never varied. </a:t>
            </a:r>
            <a:r>
              <a:rPr dirty="0" sz="1200" spc="-5">
                <a:latin typeface="Times New Roman"/>
                <a:cs typeface="Times New Roman"/>
              </a:rPr>
              <a:t>First,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jammed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load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against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bib-where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 a pin into it, and </a:t>
            </a: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>
                <a:latin typeface="Times New Roman"/>
                <a:cs typeface="Times New Roman"/>
              </a:rPr>
              <a:t>a needle, </a:t>
            </a:r>
            <a:r>
              <a:rPr dirty="0" sz="1200" spc="-5">
                <a:latin typeface="Times New Roman"/>
                <a:cs typeface="Times New Roman"/>
              </a:rPr>
              <a:t>which we </a:t>
            </a:r>
            <a:r>
              <a:rPr dirty="0" sz="1200">
                <a:latin typeface="Times New Roman"/>
                <a:cs typeface="Times New Roman"/>
              </a:rPr>
              <a:t>afterwards got into our </a:t>
            </a:r>
            <a:r>
              <a:rPr dirty="0" sz="1200" spc="-5">
                <a:latin typeface="Times New Roman"/>
                <a:cs typeface="Times New Roman"/>
              </a:rPr>
              <a:t>mouths.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took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butter </a:t>
            </a:r>
            <a:r>
              <a:rPr dirty="0" sz="1200" spc="-5">
                <a:latin typeface="Times New Roman"/>
                <a:cs typeface="Times New Roman"/>
              </a:rPr>
              <a:t>(not </a:t>
            </a:r>
            <a:r>
              <a:rPr dirty="0" sz="1200">
                <a:latin typeface="Times New Roman"/>
                <a:cs typeface="Times New Roman"/>
              </a:rPr>
              <a:t>too </a:t>
            </a:r>
            <a:r>
              <a:rPr dirty="0" sz="1200" spc="-5">
                <a:latin typeface="Times New Roman"/>
                <a:cs typeface="Times New Roman"/>
              </a:rPr>
              <a:t>much) </a:t>
            </a:r>
            <a:r>
              <a:rPr dirty="0" sz="1200">
                <a:latin typeface="Times New Roman"/>
                <a:cs typeface="Times New Roman"/>
              </a:rPr>
              <a:t>on a knife and spread it on the </a:t>
            </a:r>
            <a:r>
              <a:rPr dirty="0" sz="1200" spc="-5">
                <a:latin typeface="Times New Roman"/>
                <a:cs typeface="Times New Roman"/>
              </a:rPr>
              <a:t>loaf, </a:t>
            </a:r>
            <a:r>
              <a:rPr dirty="0" sz="1200">
                <a:latin typeface="Times New Roman"/>
                <a:cs typeface="Times New Roman"/>
              </a:rPr>
              <a:t>in an </a:t>
            </a:r>
            <a:r>
              <a:rPr dirty="0" sz="1200" spc="-5">
                <a:latin typeface="Times New Roman"/>
                <a:cs typeface="Times New Roman"/>
              </a:rPr>
              <a:t>apothecary </a:t>
            </a:r>
            <a:r>
              <a:rPr dirty="0" sz="1200">
                <a:latin typeface="Times New Roman"/>
                <a:cs typeface="Times New Roman"/>
              </a:rPr>
              <a:t> kind of way,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a plaster-using both </a:t>
            </a:r>
            <a:r>
              <a:rPr dirty="0" sz="1200" spc="-5">
                <a:latin typeface="Times New Roman"/>
                <a:cs typeface="Times New Roman"/>
              </a:rPr>
              <a:t>sides </a:t>
            </a:r>
            <a:r>
              <a:rPr dirty="0" sz="1200">
                <a:latin typeface="Times New Roman"/>
                <a:cs typeface="Times New Roman"/>
              </a:rPr>
              <a:t>of the knife with a slapping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dexterity,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trimming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molding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butter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round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crust.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gave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knife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smart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wipe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edge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plaster,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thick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loaf; which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finally, before separating from the loaf, hewed into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halves,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Joe </a:t>
            </a:r>
            <a:r>
              <a:rPr dirty="0" sz="1200">
                <a:latin typeface="Times New Roman"/>
                <a:cs typeface="Times New Roman"/>
              </a:rPr>
              <a:t>got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other.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(CHARLES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DICKENS,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Expectations)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account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Gargery</a:t>
            </a:r>
            <a:r>
              <a:rPr dirty="0" sz="1200">
                <a:latin typeface="Times New Roman"/>
                <a:cs typeface="Times New Roman"/>
              </a:rPr>
              <a:t> cutting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her?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impression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‘trenchant’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‘jammed’,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‘slapping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dexterity’,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-5">
                <a:latin typeface="Times New Roman"/>
                <a:cs typeface="Times New Roman"/>
              </a:rPr>
              <a:t> smart</a:t>
            </a:r>
            <a:r>
              <a:rPr dirty="0" sz="1200">
                <a:latin typeface="Times New Roman"/>
                <a:cs typeface="Times New Roman"/>
              </a:rPr>
              <a:t> wipe’, ‘sawed’ and </a:t>
            </a:r>
            <a:r>
              <a:rPr dirty="0" sz="1200" spc="-5">
                <a:latin typeface="Times New Roman"/>
                <a:cs typeface="Times New Roman"/>
              </a:rPr>
              <a:t>‘hewed’</a:t>
            </a:r>
            <a:r>
              <a:rPr dirty="0" sz="1200">
                <a:latin typeface="Times New Roman"/>
                <a:cs typeface="Times New Roman"/>
              </a:rPr>
              <a:t> build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Write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answers </a:t>
            </a:r>
            <a:r>
              <a:rPr dirty="0" sz="1200">
                <a:latin typeface="Times New Roman"/>
                <a:cs typeface="Times New Roman"/>
              </a:rPr>
              <a:t>to these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 notebook: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 practice.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  <a:buAutoNum type="arabicPeriod" startAt="2"/>
              <a:tabLst>
                <a:tab pos="17462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Speech: </a:t>
            </a:r>
            <a:r>
              <a:rPr dirty="0" sz="1200">
                <a:latin typeface="Times New Roman"/>
                <a:cs typeface="Times New Roman"/>
              </a:rPr>
              <a:t>Another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indicate </a:t>
            </a:r>
            <a:r>
              <a:rPr dirty="0" sz="1200">
                <a:latin typeface="Times New Roman"/>
                <a:cs typeface="Times New Roman"/>
              </a:rPr>
              <a:t>character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through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mouths.</a:t>
            </a:r>
            <a:r>
              <a:rPr dirty="0" sz="1200">
                <a:latin typeface="Times New Roman"/>
                <a:cs typeface="Times New Roman"/>
              </a:rPr>
              <a:t> 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important-possibly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element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dramatist’s art,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reveal his </a:t>
            </a:r>
            <a:r>
              <a:rPr dirty="0" sz="1200">
                <a:latin typeface="Times New Roman"/>
                <a:cs typeface="Times New Roman"/>
              </a:rPr>
              <a:t>characters </a:t>
            </a:r>
            <a:r>
              <a:rPr dirty="0" sz="1200" spc="-5">
                <a:latin typeface="Times New Roman"/>
                <a:cs typeface="Times New Roman"/>
              </a:rPr>
              <a:t>through </a:t>
            </a:r>
            <a:r>
              <a:rPr dirty="0" sz="1200">
                <a:latin typeface="Times New Roman"/>
                <a:cs typeface="Times New Roman"/>
              </a:rPr>
              <a:t>their speech, 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 employ</a:t>
            </a:r>
            <a:r>
              <a:rPr dirty="0" sz="1200">
                <a:latin typeface="Times New Roman"/>
                <a:cs typeface="Times New Roman"/>
              </a:rPr>
              <a:t> other devices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well.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132905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Study the following passage from </a:t>
            </a:r>
            <a:r>
              <a:rPr dirty="0" sz="1200" spc="-5">
                <a:latin typeface="Times New Roman"/>
                <a:cs typeface="Times New Roman"/>
              </a:rPr>
              <a:t>P.G. Wodehouse’s </a:t>
            </a:r>
            <a:r>
              <a:rPr dirty="0" sz="1200">
                <a:latin typeface="Times New Roman"/>
                <a:cs typeface="Times New Roman"/>
              </a:rPr>
              <a:t>‘Thank you, Jeeves’.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‘Jeeves’,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what?’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sir.’</a:t>
            </a:r>
            <a:endParaRPr sz="1200">
              <a:latin typeface="Times New Roman"/>
              <a:cs typeface="Times New Roman"/>
            </a:endParaRPr>
          </a:p>
          <a:p>
            <a:pPr marL="12700" marR="3502025" indent="3810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‘Do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night?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‘no,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sir.”</a:t>
            </a:r>
            <a:endParaRPr sz="1200">
              <a:latin typeface="Times New Roman"/>
              <a:cs typeface="Times New Roman"/>
            </a:endParaRPr>
          </a:p>
          <a:p>
            <a:pPr marL="12700" marR="295719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‘J.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Washburn </a:t>
            </a:r>
            <a:r>
              <a:rPr dirty="0" sz="1200">
                <a:latin typeface="Times New Roman"/>
                <a:cs typeface="Times New Roman"/>
              </a:rPr>
              <a:t>Stoker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daughter,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Pauline.’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‘Indeed,</a:t>
            </a:r>
            <a:r>
              <a:rPr dirty="0" sz="1200" spc="-10">
                <a:latin typeface="Times New Roman"/>
                <a:cs typeface="Times New Roman"/>
              </a:rPr>
              <a:t> sir?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‘Awkward,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what?’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forming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an action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 a particular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way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80"/>
              </a:lnSpc>
              <a:spcBef>
                <a:spcPts val="6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‘I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conceive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occurred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York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distressing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encounter</a:t>
            </a:r>
            <a:r>
              <a:rPr dirty="0" sz="1200" spc="-5">
                <a:latin typeface="Times New Roman"/>
                <a:cs typeface="Times New Roman"/>
              </a:rPr>
              <a:t> Miss</a:t>
            </a:r>
            <a:r>
              <a:rPr dirty="0" sz="1200">
                <a:latin typeface="Times New Roman"/>
                <a:cs typeface="Times New Roman"/>
              </a:rPr>
              <a:t> Stoker,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sir. 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fancy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contingency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scarcely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arise.’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weighed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‘When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contingencies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arising,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Jeeves,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flicker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rather</a:t>
            </a:r>
            <a:r>
              <a:rPr dirty="0" sz="1200" spc="-5">
                <a:latin typeface="Times New Roman"/>
                <a:cs typeface="Times New Roman"/>
              </a:rPr>
              <a:t> miss</a:t>
            </a:r>
            <a:r>
              <a:rPr dirty="0" sz="1200">
                <a:latin typeface="Times New Roman"/>
                <a:cs typeface="Times New Roman"/>
              </a:rPr>
              <a:t> the gist.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-5">
                <a:latin typeface="Times New Roman"/>
                <a:cs typeface="Times New Roman"/>
              </a:rPr>
              <a:t> mean</a:t>
            </a:r>
            <a:r>
              <a:rPr dirty="0" sz="1200">
                <a:latin typeface="Times New Roman"/>
                <a:cs typeface="Times New Roman"/>
              </a:rPr>
              <a:t> I ought to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able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keep out of 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way?</a:t>
            </a:r>
            <a:endParaRPr sz="1200">
              <a:latin typeface="Times New Roman"/>
              <a:cs typeface="Times New Roman"/>
            </a:endParaRPr>
          </a:p>
          <a:p>
            <a:pPr marL="12700" marR="513969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‘Yes, sir.’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‘Avoid her?  </a:t>
            </a:r>
            <a:r>
              <a:rPr dirty="0" sz="1200" spc="-5">
                <a:latin typeface="Times New Roman"/>
                <a:cs typeface="Times New Roman"/>
              </a:rPr>
              <a:t>‘Yes,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sir.’</a:t>
            </a:r>
            <a:endParaRPr sz="1200">
              <a:latin typeface="Times New Roman"/>
              <a:cs typeface="Times New Roman"/>
            </a:endParaRPr>
          </a:p>
          <a:p>
            <a:pPr marL="13843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(P.G.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WODEHOUSE,</a:t>
            </a:r>
            <a:r>
              <a:rPr dirty="0" sz="1200">
                <a:latin typeface="Times New Roman"/>
                <a:cs typeface="Times New Roman"/>
              </a:rPr>
              <a:t> Thank You,</a:t>
            </a:r>
            <a:r>
              <a:rPr dirty="0" sz="1200" spc="-5">
                <a:latin typeface="Times New Roman"/>
                <a:cs typeface="Times New Roman"/>
              </a:rPr>
              <a:t> Jeeves)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‘Look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Jeeves’s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Apart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one’s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economical.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deduce about the kind of person </a:t>
            </a:r>
            <a:r>
              <a:rPr dirty="0" sz="1200" spc="-5">
                <a:latin typeface="Times New Roman"/>
                <a:cs typeface="Times New Roman"/>
              </a:rPr>
              <a:t>Jeeves is, and his </a:t>
            </a:r>
            <a:r>
              <a:rPr dirty="0" sz="1200">
                <a:latin typeface="Times New Roman"/>
                <a:cs typeface="Times New Roman"/>
              </a:rPr>
              <a:t>attitude </a:t>
            </a:r>
            <a:r>
              <a:rPr dirty="0" sz="1200" spc="-5">
                <a:latin typeface="Times New Roman"/>
                <a:cs typeface="Times New Roman"/>
              </a:rPr>
              <a:t>towards his master </a:t>
            </a:r>
            <a:r>
              <a:rPr dirty="0" sz="1200">
                <a:latin typeface="Times New Roman"/>
                <a:cs typeface="Times New Roman"/>
              </a:rPr>
              <a:t>from 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economy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speech?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Jeeves</a:t>
            </a:r>
            <a:r>
              <a:rPr dirty="0" sz="1200">
                <a:latin typeface="Times New Roman"/>
                <a:cs typeface="Times New Roman"/>
              </a:rPr>
              <a:t> actually </a:t>
            </a:r>
            <a:r>
              <a:rPr dirty="0" sz="1200" spc="-5">
                <a:latin typeface="Times New Roman"/>
                <a:cs typeface="Times New Roman"/>
              </a:rPr>
              <a:t>says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what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implied?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Direct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</a:t>
            </a:r>
            <a:r>
              <a:rPr dirty="0" sz="1200">
                <a:latin typeface="Times New Roman"/>
                <a:cs typeface="Times New Roman"/>
              </a:rPr>
              <a:t> tell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directly</a:t>
            </a:r>
            <a:r>
              <a:rPr dirty="0" sz="1200">
                <a:latin typeface="Times New Roman"/>
                <a:cs typeface="Times New Roman"/>
              </a:rPr>
              <a:t> instead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showing them and allowing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to draw our </a:t>
            </a:r>
            <a:r>
              <a:rPr dirty="0" sz="1200" spc="-5">
                <a:latin typeface="Times New Roman"/>
                <a:cs typeface="Times New Roman"/>
              </a:rPr>
              <a:t>own </a:t>
            </a:r>
            <a:r>
              <a:rPr dirty="0" sz="1200">
                <a:latin typeface="Times New Roman"/>
                <a:cs typeface="Times New Roman"/>
              </a:rPr>
              <a:t>conclusions. They build detail on detail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until </a:t>
            </a:r>
            <a:r>
              <a:rPr dirty="0" sz="1200" spc="-5">
                <a:latin typeface="Times New Roman"/>
                <a:cs typeface="Times New Roman"/>
              </a:rPr>
              <a:t>we have </a:t>
            </a:r>
            <a:r>
              <a:rPr dirty="0" sz="1200">
                <a:latin typeface="Times New Roman"/>
                <a:cs typeface="Times New Roman"/>
              </a:rPr>
              <a:t>a clear </a:t>
            </a:r>
            <a:r>
              <a:rPr dirty="0" sz="1200" spc="-5">
                <a:latin typeface="Times New Roman"/>
                <a:cs typeface="Times New Roman"/>
              </a:rPr>
              <a:t>picture </a:t>
            </a:r>
            <a:r>
              <a:rPr dirty="0" sz="1200">
                <a:latin typeface="Times New Roman"/>
                <a:cs typeface="Times New Roman"/>
              </a:rPr>
              <a:t>of their appearance, their habits, their </a:t>
            </a:r>
            <a:r>
              <a:rPr dirty="0" sz="1200" spc="-5">
                <a:latin typeface="Times New Roman"/>
                <a:cs typeface="Times New Roman"/>
              </a:rPr>
              <a:t>opinions, </a:t>
            </a:r>
            <a:r>
              <a:rPr dirty="0" sz="1200">
                <a:latin typeface="Times New Roman"/>
                <a:cs typeface="Times New Roman"/>
              </a:rPr>
              <a:t>and their </a:t>
            </a:r>
            <a:r>
              <a:rPr dirty="0" sz="1200" spc="-5">
                <a:latin typeface="Times New Roman"/>
                <a:cs typeface="Times New Roman"/>
              </a:rPr>
              <a:t>life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an account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5">
                <a:latin typeface="Times New Roman"/>
                <a:cs typeface="Times New Roman"/>
              </a:rPr>
              <a:t> Miss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Arkwright.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 was </a:t>
            </a:r>
            <a:r>
              <a:rPr dirty="0" sz="1200">
                <a:latin typeface="Times New Roman"/>
                <a:cs typeface="Times New Roman"/>
              </a:rPr>
              <a:t>in no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remarkable </a:t>
            </a:r>
            <a:r>
              <a:rPr dirty="0" sz="1200">
                <a:latin typeface="Times New Roman"/>
                <a:cs typeface="Times New Roman"/>
              </a:rPr>
              <a:t>person. </a:t>
            </a:r>
            <a:r>
              <a:rPr dirty="0" sz="1200" spc="-5">
                <a:latin typeface="Times New Roman"/>
                <a:cs typeface="Times New Roman"/>
              </a:rPr>
              <a:t>Her appearance was not particularly distinguished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yet</a:t>
            </a:r>
            <a:r>
              <a:rPr dirty="0" sz="1200" spc="-5">
                <a:latin typeface="Times New Roman"/>
                <a:cs typeface="Times New Roman"/>
              </a:rPr>
              <a:t> she 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feature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displease.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personal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eccentricities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pattern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village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absurd or anti-social that they could </a:t>
            </a:r>
            <a:r>
              <a:rPr dirty="0" sz="1200" spc="-5">
                <a:latin typeface="Times New Roman"/>
                <a:cs typeface="Times New Roman"/>
              </a:rPr>
              <a:t>embarrass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even arouse gossip beyond what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pleasant </a:t>
            </a:r>
            <a:r>
              <a:rPr dirty="0" sz="1200">
                <a:latin typeface="Times New Roman"/>
                <a:cs typeface="Times New Roman"/>
              </a:rPr>
              <a:t>to her </a:t>
            </a:r>
            <a:r>
              <a:rPr dirty="0" sz="1200" spc="-5">
                <a:latin typeface="Times New Roman"/>
                <a:cs typeface="Times New Roman"/>
              </a:rPr>
              <a:t>neighbors. She </a:t>
            </a:r>
            <a:r>
              <a:rPr dirty="0" sz="1200">
                <a:latin typeface="Times New Roman"/>
                <a:cs typeface="Times New Roman"/>
              </a:rPr>
              <a:t>accepted her position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an old </a:t>
            </a:r>
            <a:r>
              <a:rPr dirty="0" sz="1200" spc="-5">
                <a:latin typeface="Times New Roman"/>
                <a:cs typeface="Times New Roman"/>
              </a:rPr>
              <a:t>maid </a:t>
            </a:r>
            <a:r>
              <a:rPr dirty="0" sz="1200">
                <a:latin typeface="Times New Roman"/>
                <a:cs typeface="Times New Roman"/>
              </a:rPr>
              <a:t>with that </a:t>
            </a:r>
            <a:r>
              <a:rPr dirty="0" sz="1200" spc="-5">
                <a:latin typeface="Times New Roman"/>
                <a:cs typeface="Times New Roman"/>
              </a:rPr>
              <a:t>cheerful </a:t>
            </a:r>
            <a:r>
              <a:rPr dirty="0" sz="1200">
                <a:latin typeface="Times New Roman"/>
                <a:cs typeface="Times New Roman"/>
              </a:rPr>
              <a:t> 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humor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occasional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essential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spinsters</a:t>
            </a:r>
            <a:r>
              <a:rPr dirty="0" sz="1200">
                <a:latin typeface="Times New Roman"/>
                <a:cs typeface="Times New Roman"/>
              </a:rPr>
              <a:t> since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deification of Jane </a:t>
            </a:r>
            <a:r>
              <a:rPr dirty="0" sz="1200" spc="-5">
                <a:latin typeface="Times New Roman"/>
                <a:cs typeface="Times New Roman"/>
              </a:rPr>
              <a:t>Austen,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sacredly </a:t>
            </a:r>
            <a:r>
              <a:rPr dirty="0" sz="1200" spc="-5">
                <a:latin typeface="Times New Roman"/>
                <a:cs typeface="Times New Roman"/>
              </a:rPr>
              <a:t>Miss Austen, </a:t>
            </a:r>
            <a:r>
              <a:rPr dirty="0" sz="1200">
                <a:latin typeface="Times New Roman"/>
                <a:cs typeface="Times New Roman"/>
              </a:rPr>
              <a:t>by the upper middle </a:t>
            </a:r>
            <a:r>
              <a:rPr dirty="0" sz="1200" spc="-5">
                <a:latin typeface="Times New Roman"/>
                <a:cs typeface="Times New Roman"/>
              </a:rPr>
              <a:t>classes,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attempted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counteract </a:t>
            </a:r>
            <a:r>
              <a:rPr dirty="0" sz="1200">
                <a:latin typeface="Times New Roman"/>
                <a:cs typeface="Times New Roman"/>
              </a:rPr>
              <a:t>the inadequacy of the </a:t>
            </a:r>
            <a:r>
              <a:rPr dirty="0" sz="1200" spc="-5">
                <a:latin typeface="Times New Roman"/>
                <a:cs typeface="Times New Roman"/>
              </a:rPr>
              <a:t>unmarried state by quiet, sensible and </a:t>
            </a:r>
            <a:r>
              <a:rPr dirty="0" sz="1200">
                <a:latin typeface="Times New Roman"/>
                <a:cs typeface="Times New Roman"/>
              </a:rPr>
              <a:t> tolerant social work in the local community. </a:t>
            </a:r>
            <a:r>
              <a:rPr dirty="0" sz="1200" spc="-5">
                <a:latin typeface="Times New Roman"/>
                <a:cs typeface="Times New Roman"/>
              </a:rPr>
              <a:t>She was </a:t>
            </a:r>
            <a:r>
              <a:rPr dirty="0" sz="1200">
                <a:latin typeface="Times New Roman"/>
                <a:cs typeface="Times New Roman"/>
              </a:rPr>
              <a:t>liked by nearly everyone, though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not afraid of </a:t>
            </a:r>
            <a:r>
              <a:rPr dirty="0" sz="1200" spc="-5">
                <a:latin typeface="Times New Roman"/>
                <a:cs typeface="Times New Roman"/>
              </a:rPr>
              <a:t>making enemies </a:t>
            </a:r>
            <a:r>
              <a:rPr dirty="0" sz="1200">
                <a:latin typeface="Times New Roman"/>
                <a:cs typeface="Times New Roman"/>
              </a:rPr>
              <a:t>where </a:t>
            </a:r>
            <a:r>
              <a:rPr dirty="0" sz="1200" spc="-5">
                <a:latin typeface="Times New Roman"/>
                <a:cs typeface="Times New Roman"/>
              </a:rPr>
              <a:t>she knew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her </a:t>
            </a:r>
            <a:r>
              <a:rPr dirty="0" sz="1200">
                <a:latin typeface="Times New Roman"/>
                <a:cs typeface="Times New Roman"/>
              </a:rPr>
              <a:t>broad </a:t>
            </a:r>
            <a:r>
              <a:rPr dirty="0" sz="1200" spc="-5">
                <a:latin typeface="Times New Roman"/>
                <a:cs typeface="Times New Roman"/>
              </a:rPr>
              <a:t>but deeply </a:t>
            </a:r>
            <a:r>
              <a:rPr dirty="0" sz="1200">
                <a:latin typeface="Times New Roman"/>
                <a:cs typeface="Times New Roman"/>
              </a:rPr>
              <a:t>felt </a:t>
            </a:r>
            <a:r>
              <a:rPr dirty="0" sz="1200" spc="-5">
                <a:latin typeface="Times New Roman"/>
                <a:cs typeface="Times New Roman"/>
              </a:rPr>
              <a:t>religious </a:t>
            </a:r>
            <a:r>
              <a:rPr dirty="0" sz="1200">
                <a:latin typeface="Times New Roman"/>
                <a:cs typeface="Times New Roman"/>
              </a:rPr>
              <a:t> principles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opposed.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pretentious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undesirably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extravagant </a:t>
            </a:r>
            <a:r>
              <a:rPr dirty="0" sz="1200">
                <a:latin typeface="Times New Roman"/>
                <a:cs typeface="Times New Roman"/>
              </a:rPr>
              <a:t> conduct,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too,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>
                <a:latin typeface="Times New Roman"/>
                <a:cs typeface="Times New Roman"/>
              </a:rPr>
              <a:t> liable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call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unexpectedly</a:t>
            </a:r>
            <a:r>
              <a:rPr dirty="0" sz="1200">
                <a:latin typeface="Times New Roman"/>
                <a:cs typeface="Times New Roman"/>
              </a:rPr>
              <a:t> caustic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well-aimed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snub.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 was invited everywhere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accepted the invitations. Quietly but well </a:t>
            </a:r>
            <a:r>
              <a:rPr dirty="0" sz="1200" spc="-5">
                <a:latin typeface="Times New Roman"/>
                <a:cs typeface="Times New Roman"/>
              </a:rPr>
              <a:t>dressed,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 one or two very fine </a:t>
            </a:r>
            <a:r>
              <a:rPr dirty="0" sz="1200">
                <a:latin typeface="Times New Roman"/>
                <a:cs typeface="Times New Roman"/>
              </a:rPr>
              <a:t>old pieces of jewellery that had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down to her from 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grandmothers,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would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>
                <a:latin typeface="Times New Roman"/>
                <a:cs typeface="Times New Roman"/>
              </a:rPr>
              <a:t> 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laughing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occasion</a:t>
            </a:r>
            <a:r>
              <a:rPr dirty="0" sz="1200" spc="-5">
                <a:latin typeface="Times New Roman"/>
                <a:cs typeface="Times New Roman"/>
              </a:rPr>
              <a:t> demanded.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 indent="381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listened with patience, but with a slight twinkle in her eye, to </a:t>
            </a:r>
            <a:r>
              <a:rPr dirty="0" sz="1200" spc="-5">
                <a:latin typeface="Times New Roman"/>
                <a:cs typeface="Times New Roman"/>
              </a:rPr>
              <a:t>Mr Hodson’s endless </a:t>
            </a:r>
            <a:r>
              <a:rPr dirty="0" sz="1200">
                <a:latin typeface="Times New Roman"/>
                <a:cs typeface="Times New Roman"/>
              </a:rPr>
              <a:t> stories of life in Dar-es-Salaam or Myra Hop’s breathless accounts of her latest </a:t>
            </a:r>
            <a:r>
              <a:rPr dirty="0" sz="1200" spc="-5">
                <a:latin typeface="Times New Roman"/>
                <a:cs typeface="Times New Roman"/>
              </a:rPr>
              <a:t>system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diet. John Hobday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his somewhat ostentatiously gentleman-farmer </a:t>
            </a:r>
            <a:r>
              <a:rPr dirty="0" sz="1200">
                <a:latin typeface="Times New Roman"/>
                <a:cs typeface="Times New Roman"/>
              </a:rPr>
              <a:t>attire would describe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next novel about East Anglican life to her before, even,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beloved daughter had heard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733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Richard </a:t>
            </a:r>
            <a:r>
              <a:rPr dirty="0" sz="1200">
                <a:latin typeface="Times New Roman"/>
                <a:cs typeface="Times New Roman"/>
              </a:rPr>
              <a:t>Trelawney, just </a:t>
            </a:r>
            <a:r>
              <a:rPr dirty="0" sz="1200" spc="-5">
                <a:latin typeface="Times New Roman"/>
                <a:cs typeface="Times New Roman"/>
              </a:rPr>
              <a:t>down from Oxford, </a:t>
            </a:r>
            <a:r>
              <a:rPr dirty="0" sz="1200">
                <a:latin typeface="Times New Roman"/>
                <a:cs typeface="Times New Roman"/>
              </a:rPr>
              <a:t>found that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had </a:t>
            </a:r>
            <a:r>
              <a:rPr dirty="0" sz="1200" spc="-5">
                <a:latin typeface="Times New Roman"/>
                <a:cs typeface="Times New Roman"/>
              </a:rPr>
              <a:t>read </a:t>
            </a:r>
            <a:r>
              <a:rPr dirty="0" sz="1200">
                <a:latin typeface="Times New Roman"/>
                <a:cs typeface="Times New Roman"/>
              </a:rPr>
              <a:t>and really know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Donne’s sermons, yet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could </a:t>
            </a:r>
            <a:r>
              <a:rPr dirty="0" sz="1200" spc="-5">
                <a:latin typeface="Times New Roman"/>
                <a:cs typeface="Times New Roman"/>
              </a:rPr>
              <a:t>swoop detective stories </a:t>
            </a:r>
            <a:r>
              <a:rPr dirty="0" sz="1200">
                <a:latin typeface="Times New Roman"/>
                <a:cs typeface="Times New Roman"/>
              </a:rPr>
              <a:t>with Colonel </a:t>
            </a:r>
            <a:r>
              <a:rPr dirty="0" sz="1200" spc="-5">
                <a:latin typeface="Times New Roman"/>
                <a:cs typeface="Times New Roman"/>
              </a:rPr>
              <a:t>Wright </a:t>
            </a:r>
            <a:r>
              <a:rPr dirty="0" sz="1200">
                <a:latin typeface="Times New Roman"/>
                <a:cs typeface="Times New Roman"/>
              </a:rPr>
              <a:t>by the hour,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was his main </a:t>
            </a:r>
            <a:r>
              <a:rPr dirty="0" sz="1200">
                <a:latin typeface="Times New Roman"/>
                <a:cs typeface="Times New Roman"/>
              </a:rPr>
              <a:t>source for quotations when The </a:t>
            </a:r>
            <a:r>
              <a:rPr dirty="0" sz="1200" spc="-5">
                <a:latin typeface="Times New Roman"/>
                <a:cs typeface="Times New Roman"/>
              </a:rPr>
              <a:t>Times cross-word was </a:t>
            </a:r>
            <a:r>
              <a:rPr dirty="0" sz="1200">
                <a:latin typeface="Times New Roman"/>
                <a:cs typeface="Times New Roman"/>
              </a:rPr>
              <a:t>in question.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incorporated </a:t>
            </a:r>
            <a:r>
              <a:rPr dirty="0" sz="1200">
                <a:latin typeface="Times New Roman"/>
                <a:cs typeface="Times New Roman"/>
              </a:rPr>
              <a:t>little </a:t>
            </a:r>
            <a:r>
              <a:rPr dirty="0" sz="1200" spc="-5">
                <a:latin typeface="Times New Roman"/>
                <a:cs typeface="Times New Roman"/>
              </a:rPr>
              <a:t>Mrs Grantham </a:t>
            </a:r>
            <a:r>
              <a:rPr dirty="0" sz="1200">
                <a:latin typeface="Times New Roman"/>
                <a:cs typeface="Times New Roman"/>
              </a:rPr>
              <a:t>into village life, when </a:t>
            </a:r>
            <a:r>
              <a:rPr dirty="0" sz="1200" spc="-5">
                <a:latin typeface="Times New Roman"/>
                <a:cs typeface="Times New Roman"/>
              </a:rPr>
              <a:t>that underbred, suburban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woman </a:t>
            </a:r>
            <a:r>
              <a:rPr dirty="0" sz="1200">
                <a:latin typeface="Times New Roman"/>
                <a:cs typeface="Times New Roman"/>
              </a:rPr>
              <a:t>came there </a:t>
            </a:r>
            <a:r>
              <a:rPr dirty="0" sz="1200" spc="-5">
                <a:latin typeface="Times New Roman"/>
                <a:cs typeface="Times New Roman"/>
              </a:rPr>
              <a:t>as Colonel Grantham’s second </a:t>
            </a:r>
            <a:r>
              <a:rPr dirty="0" sz="1200">
                <a:latin typeface="Times New Roman"/>
                <a:cs typeface="Times New Roman"/>
              </a:rPr>
              <a:t>wife, checking her vulgar </a:t>
            </a:r>
            <a:r>
              <a:rPr dirty="0" sz="1200" spc="-5">
                <a:latin typeface="Times New Roman"/>
                <a:cs typeface="Times New Roman"/>
              </a:rPr>
              <a:t>remarks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‘the lower </a:t>
            </a:r>
            <a:r>
              <a:rPr dirty="0" sz="1200" spc="-5">
                <a:latin typeface="Times New Roman"/>
                <a:cs typeface="Times New Roman"/>
              </a:rPr>
              <a:t>classes’ </a:t>
            </a:r>
            <a:r>
              <a:rPr dirty="0" sz="1200">
                <a:latin typeface="Times New Roman"/>
                <a:cs typeface="Times New Roman"/>
              </a:rPr>
              <a:t>with kindly </a:t>
            </a:r>
            <a:r>
              <a:rPr dirty="0" sz="1200" spc="-5">
                <a:latin typeface="Times New Roman"/>
                <a:cs typeface="Times New Roman"/>
              </a:rPr>
              <a:t>humor, but defending her </a:t>
            </a:r>
            <a:r>
              <a:rPr dirty="0" sz="1200">
                <a:latin typeface="Times New Roman"/>
                <a:cs typeface="Times New Roman"/>
              </a:rPr>
              <a:t>against the </a:t>
            </a:r>
            <a:r>
              <a:rPr dirty="0" sz="1200" spc="-5">
                <a:latin typeface="Times New Roman"/>
                <a:cs typeface="Times New Roman"/>
              </a:rPr>
              <a:t>formidable battery of </a:t>
            </a:r>
            <a:r>
              <a:rPr dirty="0" sz="1200">
                <a:latin typeface="Times New Roman"/>
                <a:cs typeface="Times New Roman"/>
              </a:rPr>
              <a:t> Lady Vernon’s </a:t>
            </a:r>
            <a:r>
              <a:rPr dirty="0" sz="1200" spc="-5">
                <a:latin typeface="Times New Roman"/>
                <a:cs typeface="Times New Roman"/>
              </a:rPr>
              <a:t>antagonism. </a:t>
            </a:r>
            <a:r>
              <a:rPr dirty="0" sz="1200">
                <a:latin typeface="Times New Roman"/>
                <a:cs typeface="Times New Roman"/>
              </a:rPr>
              <a:t>Yet,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10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first at Lady Vernon’s when </a:t>
            </a:r>
            <a:r>
              <a:rPr dirty="0" sz="1200" spc="-5">
                <a:latin typeface="Times New Roman"/>
                <a:cs typeface="Times New Roman"/>
              </a:rPr>
              <a:t>Sir </a:t>
            </a:r>
            <a:r>
              <a:rPr dirty="0" sz="1200">
                <a:latin typeface="Times New Roman"/>
                <a:cs typeface="Times New Roman"/>
              </a:rPr>
              <a:t> Robert had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stroke and her </a:t>
            </a:r>
            <a:r>
              <a:rPr dirty="0" sz="1200" spc="-5">
                <a:latin typeface="Times New Roman"/>
                <a:cs typeface="Times New Roman"/>
              </a:rPr>
              <a:t>unobtrusive kindliness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real services </a:t>
            </a:r>
            <a:r>
              <a:rPr dirty="0" sz="1200">
                <a:latin typeface="Times New Roman"/>
                <a:cs typeface="Times New Roman"/>
              </a:rPr>
              <a:t>gained her a singular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behind the grim reserve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Vernon </a:t>
            </a:r>
            <a:r>
              <a:rPr dirty="0" sz="1200" spc="-5">
                <a:latin typeface="Times New Roman"/>
                <a:cs typeface="Times New Roman"/>
              </a:rPr>
              <a:t>family.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banter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vicar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hobby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horse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Greek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rite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rural community </a:t>
            </a:r>
            <a:r>
              <a:rPr dirty="0" sz="1200" spc="-5">
                <a:latin typeface="Times New Roman"/>
                <a:cs typeface="Times New Roman"/>
              </a:rPr>
              <a:t>meetings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agenda seemed </a:t>
            </a:r>
            <a:r>
              <a:rPr dirty="0" sz="1200">
                <a:latin typeface="Times New Roman"/>
                <a:cs typeface="Times New Roman"/>
              </a:rPr>
              <a:t>to have been buried for ever beneath a welter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Euchologia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Menaia.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checked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Robert’s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anti-Bolshevik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phobia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victimizing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Country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Librarian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Fabianism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fierce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attack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local council when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thought that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prejudice had prevented </a:t>
            </a:r>
            <a:r>
              <a:rPr dirty="0" sz="1200" spc="-5">
                <a:latin typeface="Times New Roman"/>
                <a:cs typeface="Times New Roman"/>
              </a:rPr>
              <a:t>Commander Osborne’s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 getting </a:t>
            </a:r>
            <a:r>
              <a:rPr dirty="0" sz="1200">
                <a:latin typeface="Times New Roman"/>
                <a:cs typeface="Times New Roman"/>
              </a:rPr>
              <a:t>council </a:t>
            </a:r>
            <a:r>
              <a:rPr dirty="0" sz="1200" spc="-5">
                <a:latin typeface="Times New Roman"/>
                <a:cs typeface="Times New Roman"/>
              </a:rPr>
              <a:t>house.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led, in fact, an active and useful </a:t>
            </a:r>
            <a:r>
              <a:rPr dirty="0" sz="1200" spc="-5">
                <a:latin typeface="Times New Roman"/>
                <a:cs typeface="Times New Roman"/>
              </a:rPr>
              <a:t>existence, </a:t>
            </a:r>
            <a:r>
              <a:rPr dirty="0" sz="1200">
                <a:latin typeface="Times New Roman"/>
                <a:cs typeface="Times New Roman"/>
              </a:rPr>
              <a:t>yet when anyone praised her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would only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laugh-‘My dear’, she would say ‘hard work’s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only excuse old maids like 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 got </a:t>
            </a:r>
            <a:r>
              <a:rPr dirty="0" sz="1200">
                <a:latin typeface="Times New Roman"/>
                <a:cs typeface="Times New Roman"/>
              </a:rPr>
              <a:t> for existing at all, and even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I don’t know that </a:t>
            </a:r>
            <a:r>
              <a:rPr dirty="0" sz="1200" spc="-5">
                <a:latin typeface="Times New Roman"/>
                <a:cs typeface="Times New Roman"/>
              </a:rPr>
              <a:t>they oughtn’t </a:t>
            </a:r>
            <a:r>
              <a:rPr dirty="0" sz="1200">
                <a:latin typeface="Times New Roman"/>
                <a:cs typeface="Times New Roman"/>
              </a:rPr>
              <a:t>to lethalize the lot </a:t>
            </a:r>
            <a:r>
              <a:rPr dirty="0" sz="1200" spc="-5">
                <a:latin typeface="Times New Roman"/>
                <a:cs typeface="Times New Roman"/>
              </a:rPr>
              <a:t>of us.’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danger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grew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nearer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thirties,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favorite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‘Well,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they've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 any </a:t>
            </a:r>
            <a:r>
              <a:rPr dirty="0" sz="1200" spc="-5">
                <a:latin typeface="Times New Roman"/>
                <a:cs typeface="Times New Roman"/>
              </a:rPr>
              <a:t>sense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they’ll keep the young </a:t>
            </a:r>
            <a:r>
              <a:rPr dirty="0" sz="1200" spc="-5">
                <a:latin typeface="Times New Roman"/>
                <a:cs typeface="Times New Roman"/>
              </a:rPr>
              <a:t>fellows </a:t>
            </a:r>
            <a:r>
              <a:rPr dirty="0" sz="1200">
                <a:latin typeface="Times New Roman"/>
                <a:cs typeface="Times New Roman"/>
              </a:rPr>
              <a:t>at home and put </a:t>
            </a:r>
            <a:r>
              <a:rPr dirty="0" sz="1200" spc="-5">
                <a:latin typeface="Times New Roman"/>
                <a:cs typeface="Times New Roman"/>
              </a:rPr>
              <a:t>us useless </a:t>
            </a:r>
            <a:r>
              <a:rPr dirty="0" sz="1200">
                <a:latin typeface="Times New Roman"/>
                <a:cs typeface="Times New Roman"/>
              </a:rPr>
              <a:t>old </a:t>
            </a:r>
            <a:r>
              <a:rPr dirty="0" sz="1200" spc="-5">
                <a:latin typeface="Times New Roman"/>
                <a:cs typeface="Times New Roman"/>
              </a:rPr>
              <a:t>maids 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trenches,’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with real conviction.</a:t>
            </a:r>
            <a:endParaRPr sz="1200">
              <a:latin typeface="Times New Roman"/>
              <a:cs typeface="Times New Roman"/>
            </a:endParaRPr>
          </a:p>
          <a:p>
            <a:pPr algn="r" marR="1939925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(ANGUS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WILSON,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Little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Companion)</a:t>
            </a:r>
            <a:endParaRPr sz="1200">
              <a:latin typeface="Times New Roman"/>
              <a:cs typeface="Times New Roman"/>
            </a:endParaRPr>
          </a:p>
          <a:p>
            <a:pPr algn="just" marL="12700" marR="1045844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sum up in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sentences the main points of </a:t>
            </a:r>
            <a:r>
              <a:rPr dirty="0" sz="1200" spc="-5">
                <a:latin typeface="Times New Roman"/>
                <a:cs typeface="Times New Roman"/>
              </a:rPr>
              <a:t>Miss Arkwright’s </a:t>
            </a:r>
            <a:r>
              <a:rPr dirty="0" sz="1200">
                <a:latin typeface="Times New Roman"/>
                <a:cs typeface="Times New Roman"/>
              </a:rPr>
              <a:t>character.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the reported</a:t>
            </a:r>
            <a:r>
              <a:rPr dirty="0" sz="1200" spc="-5">
                <a:latin typeface="Times New Roman"/>
                <a:cs typeface="Times New Roman"/>
              </a:rPr>
              <a:t> comments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typical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character?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 startAt="4"/>
              <a:tabLst>
                <a:tab pos="18605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Comparisons and Associations: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tell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about their characters 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comparing </a:t>
            </a:r>
            <a:r>
              <a:rPr dirty="0" sz="1200">
                <a:latin typeface="Times New Roman"/>
                <a:cs typeface="Times New Roman"/>
              </a:rPr>
              <a:t>them to something else which calls up an </a:t>
            </a:r>
            <a:r>
              <a:rPr dirty="0" sz="1200" spc="-5">
                <a:latin typeface="Times New Roman"/>
                <a:cs typeface="Times New Roman"/>
              </a:rPr>
              <a:t>image </a:t>
            </a:r>
            <a:r>
              <a:rPr dirty="0" sz="1200">
                <a:latin typeface="Times New Roman"/>
                <a:cs typeface="Times New Roman"/>
              </a:rPr>
              <a:t>in our </a:t>
            </a:r>
            <a:r>
              <a:rPr dirty="0" sz="1200" spc="-5">
                <a:latin typeface="Times New Roman"/>
                <a:cs typeface="Times New Roman"/>
              </a:rPr>
              <a:t>minds </a:t>
            </a:r>
            <a:r>
              <a:rPr dirty="0" sz="1200">
                <a:latin typeface="Times New Roman"/>
                <a:cs typeface="Times New Roman"/>
              </a:rPr>
              <a:t>or by associating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some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is </a:t>
            </a:r>
            <a:r>
              <a:rPr dirty="0" sz="1200">
                <a:latin typeface="Times New Roman"/>
                <a:cs typeface="Times New Roman"/>
              </a:rPr>
              <a:t>significant.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Here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description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Murdstone.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‘It was Miss Murdstone who arrived, and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gloomy-looking lady she was; dark, like her </a:t>
            </a:r>
            <a:r>
              <a:rPr dirty="0" sz="1200">
                <a:latin typeface="Times New Roman"/>
                <a:cs typeface="Times New Roman"/>
              </a:rPr>
              <a:t> brother, </a:t>
            </a:r>
            <a:r>
              <a:rPr dirty="0" sz="1200" spc="-5">
                <a:latin typeface="Times New Roman"/>
                <a:cs typeface="Times New Roman"/>
              </a:rPr>
              <a:t>whom she </a:t>
            </a:r>
            <a:r>
              <a:rPr dirty="0" sz="1200">
                <a:latin typeface="Times New Roman"/>
                <a:cs typeface="Times New Roman"/>
              </a:rPr>
              <a:t>greatly </a:t>
            </a:r>
            <a:r>
              <a:rPr dirty="0" sz="1200" spc="-5">
                <a:latin typeface="Times New Roman"/>
                <a:cs typeface="Times New Roman"/>
              </a:rPr>
              <a:t>resembled </a:t>
            </a:r>
            <a:r>
              <a:rPr dirty="0" sz="1200">
                <a:latin typeface="Times New Roman"/>
                <a:cs typeface="Times New Roman"/>
              </a:rPr>
              <a:t>in face and voice;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with very heavy eyebrows,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nearly </a:t>
            </a:r>
            <a:r>
              <a:rPr dirty="0" sz="1200" spc="-5">
                <a:latin typeface="Times New Roman"/>
                <a:cs typeface="Times New Roman"/>
              </a:rPr>
              <a:t>meeting </a:t>
            </a:r>
            <a:r>
              <a:rPr dirty="0" sz="1200">
                <a:latin typeface="Times New Roman"/>
                <a:cs typeface="Times New Roman"/>
              </a:rPr>
              <a:t>over her large nose,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if, </a:t>
            </a:r>
            <a:r>
              <a:rPr dirty="0" sz="1200" spc="-5">
                <a:latin typeface="Times New Roman"/>
                <a:cs typeface="Times New Roman"/>
              </a:rPr>
              <a:t>being </a:t>
            </a:r>
            <a:r>
              <a:rPr dirty="0" sz="1200">
                <a:latin typeface="Times New Roman"/>
                <a:cs typeface="Times New Roman"/>
              </a:rPr>
              <a:t>disabled by the </a:t>
            </a:r>
            <a:r>
              <a:rPr dirty="0" sz="1200" spc="-5">
                <a:latin typeface="Times New Roman"/>
                <a:cs typeface="Times New Roman"/>
              </a:rPr>
              <a:t>wrongs </a:t>
            </a:r>
            <a:r>
              <a:rPr dirty="0" sz="1200">
                <a:latin typeface="Times New Roman"/>
                <a:cs typeface="Times New Roman"/>
              </a:rPr>
              <a:t>of her kind from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wearing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whiskers, she had </a:t>
            </a:r>
            <a:r>
              <a:rPr dirty="0" sz="1200">
                <a:latin typeface="Times New Roman"/>
                <a:cs typeface="Times New Roman"/>
              </a:rPr>
              <a:t>carried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account.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brought with her </a:t>
            </a:r>
            <a:r>
              <a:rPr dirty="0" sz="1200" spc="-5">
                <a:latin typeface="Times New Roman"/>
                <a:cs typeface="Times New Roman"/>
              </a:rPr>
              <a:t>two uncompromising </a:t>
            </a:r>
            <a:r>
              <a:rPr dirty="0" sz="1200">
                <a:latin typeface="Times New Roman"/>
                <a:cs typeface="Times New Roman"/>
              </a:rPr>
              <a:t>hard </a:t>
            </a:r>
            <a:r>
              <a:rPr dirty="0" sz="1200" spc="-5">
                <a:latin typeface="Times New Roman"/>
                <a:cs typeface="Times New Roman"/>
              </a:rPr>
              <a:t>black </a:t>
            </a:r>
            <a:r>
              <a:rPr dirty="0" sz="1200">
                <a:latin typeface="Times New Roman"/>
                <a:cs typeface="Times New Roman"/>
              </a:rPr>
              <a:t>boxes, with her </a:t>
            </a:r>
            <a:r>
              <a:rPr dirty="0" sz="1200" spc="-5">
                <a:latin typeface="Times New Roman"/>
                <a:cs typeface="Times New Roman"/>
              </a:rPr>
              <a:t>initials </a:t>
            </a:r>
            <a:r>
              <a:rPr dirty="0" sz="1200">
                <a:latin typeface="Times New Roman"/>
                <a:cs typeface="Times New Roman"/>
              </a:rPr>
              <a:t>on the lids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 </a:t>
            </a:r>
            <a:r>
              <a:rPr dirty="0" sz="1200" spc="-5">
                <a:latin typeface="Times New Roman"/>
                <a:cs typeface="Times New Roman"/>
              </a:rPr>
              <a:t>brass </a:t>
            </a:r>
            <a:r>
              <a:rPr dirty="0" sz="1200">
                <a:latin typeface="Times New Roman"/>
                <a:cs typeface="Times New Roman"/>
              </a:rPr>
              <a:t>nails.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she paid the </a:t>
            </a:r>
            <a:r>
              <a:rPr dirty="0" sz="1200" spc="-5">
                <a:latin typeface="Times New Roman"/>
                <a:cs typeface="Times New Roman"/>
              </a:rPr>
              <a:t>coachman </a:t>
            </a:r>
            <a:r>
              <a:rPr dirty="0" sz="1200">
                <a:latin typeface="Times New Roman"/>
                <a:cs typeface="Times New Roman"/>
              </a:rPr>
              <a:t>she took the money from a hard steel purse,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kept the purse in a very jail of a bag which hung upon her arm by a heavy chain,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shut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like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bite.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never,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metallic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lady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altogether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 Murdstone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was.’</a:t>
            </a:r>
            <a:endParaRPr sz="1200">
              <a:latin typeface="Times New Roman"/>
              <a:cs typeface="Times New Roman"/>
            </a:endParaRPr>
          </a:p>
          <a:p>
            <a:pPr algn="r" marR="198247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(CHARLES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DICKENS,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David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Copperfield)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Pick out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 objects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directly suggest </a:t>
            </a:r>
            <a:r>
              <a:rPr dirty="0" sz="1200" spc="-5">
                <a:latin typeface="Times New Roman"/>
                <a:cs typeface="Times New Roman"/>
              </a:rPr>
              <a:t>metal. Which words </a:t>
            </a:r>
            <a:r>
              <a:rPr dirty="0" sz="1200">
                <a:latin typeface="Times New Roman"/>
                <a:cs typeface="Times New Roman"/>
              </a:rPr>
              <a:t>in the description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 </a:t>
            </a:r>
            <a:r>
              <a:rPr dirty="0" sz="1200">
                <a:latin typeface="Times New Roman"/>
                <a:cs typeface="Times New Roman"/>
              </a:rPr>
              <a:t>Murdstone do </a:t>
            </a:r>
            <a:r>
              <a:rPr dirty="0" sz="1200" spc="-5">
                <a:latin typeface="Times New Roman"/>
                <a:cs typeface="Times New Roman"/>
              </a:rPr>
              <a:t>suggest characteristics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metal? How is this association with metal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appropriate?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10"/>
              </a:spcBef>
              <a:buAutoNum type="arabicPeriod" startAt="5"/>
              <a:tabLst>
                <a:tab pos="177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Association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characters </a:t>
            </a:r>
            <a:r>
              <a:rPr dirty="0" sz="1200" spc="-5" b="1">
                <a:latin typeface="Times New Roman"/>
                <a:cs typeface="Times New Roman"/>
              </a:rPr>
              <a:t>with one </a:t>
            </a:r>
            <a:r>
              <a:rPr dirty="0" sz="1200" b="1">
                <a:latin typeface="Times New Roman"/>
                <a:cs typeface="Times New Roman"/>
              </a:rPr>
              <a:t>particular </a:t>
            </a:r>
            <a:r>
              <a:rPr dirty="0" sz="1200" spc="-5" b="1">
                <a:latin typeface="Times New Roman"/>
                <a:cs typeface="Times New Roman"/>
              </a:rPr>
              <a:t>point </a:t>
            </a:r>
            <a:r>
              <a:rPr dirty="0" sz="1200" b="1">
                <a:latin typeface="Times New Roman"/>
                <a:cs typeface="Times New Roman"/>
              </a:rPr>
              <a:t>of view or action </a:t>
            </a:r>
            <a:r>
              <a:rPr dirty="0" sz="1200" spc="-5" b="1">
                <a:latin typeface="Times New Roman"/>
                <a:cs typeface="Times New Roman"/>
              </a:rPr>
              <a:t>by which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they can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b="1">
                <a:latin typeface="Times New Roman"/>
                <a:cs typeface="Times New Roman"/>
              </a:rPr>
              <a:t> easily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quickly</a:t>
            </a:r>
            <a:r>
              <a:rPr dirty="0" sz="1200" b="1">
                <a:latin typeface="Times New Roman"/>
                <a:cs typeface="Times New Roman"/>
              </a:rPr>
              <a:t> identified: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00"/>
              </a:lnSpc>
            </a:pP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forget,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instance,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Uriah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Heep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Charles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Dickens’s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David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Copperfield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being ‘ever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humble’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rubbing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hands</a:t>
            </a:r>
            <a:r>
              <a:rPr dirty="0" sz="1200">
                <a:latin typeface="Times New Roman"/>
                <a:cs typeface="Times New Roman"/>
              </a:rPr>
              <a:t> together,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forever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120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associated </a:t>
            </a:r>
            <a:r>
              <a:rPr dirty="0" sz="1200" spc="-5">
                <a:latin typeface="Times New Roman"/>
                <a:cs typeface="Times New Roman"/>
              </a:rPr>
              <a:t>with him?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 fancy of </a:t>
            </a:r>
            <a:r>
              <a:rPr dirty="0" sz="1200" spc="-5">
                <a:latin typeface="Times New Roman"/>
                <a:cs typeface="Times New Roman"/>
              </a:rPr>
              <a:t>mine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hands, I observed; for he frequently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ground the </a:t>
            </a:r>
            <a:r>
              <a:rPr dirty="0" sz="1200" spc="-5">
                <a:latin typeface="Times New Roman"/>
                <a:cs typeface="Times New Roman"/>
              </a:rPr>
              <a:t>palms against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other as </a:t>
            </a:r>
            <a:r>
              <a:rPr dirty="0" sz="1200">
                <a:latin typeface="Times New Roman"/>
                <a:cs typeface="Times New Roman"/>
              </a:rPr>
              <a:t>if to </a:t>
            </a:r>
            <a:r>
              <a:rPr dirty="0" sz="1200" spc="-5">
                <a:latin typeface="Times New Roman"/>
                <a:cs typeface="Times New Roman"/>
              </a:rPr>
              <a:t>squeeze </a:t>
            </a:r>
            <a:r>
              <a:rPr dirty="0" sz="1200">
                <a:latin typeface="Times New Roman"/>
                <a:cs typeface="Times New Roman"/>
              </a:rPr>
              <a:t>them dry and warm, </a:t>
            </a:r>
            <a:r>
              <a:rPr dirty="0" sz="1200" spc="-5">
                <a:latin typeface="Times New Roman"/>
                <a:cs typeface="Times New Roman"/>
              </a:rPr>
              <a:t>besides </a:t>
            </a:r>
            <a:r>
              <a:rPr dirty="0" sz="1200">
                <a:latin typeface="Times New Roman"/>
                <a:cs typeface="Times New Roman"/>
              </a:rPr>
              <a:t>often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wiping</a:t>
            </a:r>
            <a:r>
              <a:rPr dirty="0" sz="1200" spc="-5">
                <a:latin typeface="Times New Roman"/>
                <a:cs typeface="Times New Roman"/>
              </a:rPr>
              <a:t> them,</a:t>
            </a:r>
            <a:r>
              <a:rPr dirty="0" sz="1200">
                <a:latin typeface="Times New Roman"/>
                <a:cs typeface="Times New Roman"/>
              </a:rPr>
              <a:t> in a stealthy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pocket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handkerchief.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lesser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‘Hard</a:t>
            </a:r>
            <a:r>
              <a:rPr dirty="0" sz="1200" spc="-5">
                <a:latin typeface="Times New Roman"/>
                <a:cs typeface="Times New Roman"/>
              </a:rPr>
              <a:t> Times’: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Thomas </a:t>
            </a:r>
            <a:r>
              <a:rPr dirty="0" sz="1200">
                <a:latin typeface="Times New Roman"/>
                <a:cs typeface="Times New Roman"/>
              </a:rPr>
              <a:t>Grandgrind, sir. </a:t>
            </a:r>
            <a:r>
              <a:rPr dirty="0" sz="1200" spc="-5">
                <a:latin typeface="Times New Roman"/>
                <a:cs typeface="Times New Roman"/>
              </a:rPr>
              <a:t>A man </a:t>
            </a:r>
            <a:r>
              <a:rPr dirty="0" sz="1200">
                <a:latin typeface="Times New Roman"/>
                <a:cs typeface="Times New Roman"/>
              </a:rPr>
              <a:t>of realities.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man of facts and calculations. A man who </a:t>
            </a:r>
            <a:r>
              <a:rPr dirty="0" sz="1200">
                <a:latin typeface="Times New Roman"/>
                <a:cs typeface="Times New Roman"/>
              </a:rPr>
              <a:t> proceeds </a:t>
            </a:r>
            <a:r>
              <a:rPr dirty="0" sz="1200" spc="-5">
                <a:latin typeface="Times New Roman"/>
                <a:cs typeface="Times New Roman"/>
              </a:rPr>
              <a:t>upon </a:t>
            </a:r>
            <a:r>
              <a:rPr dirty="0" sz="1200">
                <a:latin typeface="Times New Roman"/>
                <a:cs typeface="Times New Roman"/>
              </a:rPr>
              <a:t>the principle that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two are </a:t>
            </a:r>
            <a:r>
              <a:rPr dirty="0" sz="1200">
                <a:latin typeface="Times New Roman"/>
                <a:cs typeface="Times New Roman"/>
              </a:rPr>
              <a:t>four, and nothing over, and who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taled into </a:t>
            </a:r>
            <a:r>
              <a:rPr dirty="0" sz="1200" spc="-5">
                <a:latin typeface="Times New Roman"/>
                <a:cs typeface="Times New Roman"/>
              </a:rPr>
              <a:t>allowing </a:t>
            </a:r>
            <a:r>
              <a:rPr dirty="0" sz="1200">
                <a:latin typeface="Times New Roman"/>
                <a:cs typeface="Times New Roman"/>
              </a:rPr>
              <a:t>for anything over. </a:t>
            </a:r>
            <a:r>
              <a:rPr dirty="0" sz="1200" spc="-5">
                <a:latin typeface="Times New Roman"/>
                <a:cs typeface="Times New Roman"/>
              </a:rPr>
              <a:t>Thomas </a:t>
            </a:r>
            <a:r>
              <a:rPr dirty="0" sz="1200">
                <a:latin typeface="Times New Roman"/>
                <a:cs typeface="Times New Roman"/>
              </a:rPr>
              <a:t>Gradgrind, sir-peremptorily </a:t>
            </a:r>
            <a:r>
              <a:rPr dirty="0" sz="1200" spc="-5">
                <a:latin typeface="Times New Roman"/>
                <a:cs typeface="Times New Roman"/>
              </a:rPr>
              <a:t>Thomas-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Thomas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Gradgrind.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a rule and a pair of </a:t>
            </a:r>
            <a:r>
              <a:rPr dirty="0" sz="1200" spc="-5">
                <a:latin typeface="Times New Roman"/>
                <a:cs typeface="Times New Roman"/>
              </a:rPr>
              <a:t>scales,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multiplication </a:t>
            </a:r>
            <a:r>
              <a:rPr dirty="0" sz="1200">
                <a:latin typeface="Times New Roman"/>
                <a:cs typeface="Times New Roman"/>
              </a:rPr>
              <a:t>table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pocket, sir, </a:t>
            </a:r>
            <a:r>
              <a:rPr dirty="0" sz="1200" spc="-5">
                <a:latin typeface="Times New Roman"/>
                <a:cs typeface="Times New Roman"/>
              </a:rPr>
              <a:t>ready </a:t>
            </a:r>
            <a:r>
              <a:rPr dirty="0" sz="1200">
                <a:latin typeface="Times New Roman"/>
                <a:cs typeface="Times New Roman"/>
              </a:rPr>
              <a:t> to weight and </a:t>
            </a:r>
            <a:r>
              <a:rPr dirty="0" sz="1200" spc="-5">
                <a:latin typeface="Times New Roman"/>
                <a:cs typeface="Times New Roman"/>
              </a:rPr>
              <a:t>measure </a:t>
            </a:r>
            <a:r>
              <a:rPr dirty="0" sz="1200">
                <a:latin typeface="Times New Roman"/>
                <a:cs typeface="Times New Roman"/>
              </a:rPr>
              <a:t>any parcel of </a:t>
            </a:r>
            <a:r>
              <a:rPr dirty="0" sz="1200" spc="-5">
                <a:latin typeface="Times New Roman"/>
                <a:cs typeface="Times New Roman"/>
              </a:rPr>
              <a:t>human nature, and </a:t>
            </a:r>
            <a:r>
              <a:rPr dirty="0" sz="1200">
                <a:latin typeface="Times New Roman"/>
                <a:cs typeface="Times New Roman"/>
              </a:rPr>
              <a:t>tell </a:t>
            </a:r>
            <a:r>
              <a:rPr dirty="0" sz="1200" spc="-5">
                <a:latin typeface="Times New Roman"/>
                <a:cs typeface="Times New Roman"/>
              </a:rPr>
              <a:t>you exactly </a:t>
            </a:r>
            <a:r>
              <a:rPr dirty="0" sz="1200">
                <a:latin typeface="Times New Roman"/>
                <a:cs typeface="Times New Roman"/>
              </a:rPr>
              <a:t>what it comes to. 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mere </a:t>
            </a:r>
            <a:r>
              <a:rPr dirty="0" sz="1200">
                <a:latin typeface="Times New Roman"/>
                <a:cs typeface="Times New Roman"/>
              </a:rPr>
              <a:t>question of figures, a case of </a:t>
            </a:r>
            <a:r>
              <a:rPr dirty="0" sz="1200" spc="-5">
                <a:latin typeface="Times New Roman"/>
                <a:cs typeface="Times New Roman"/>
              </a:rPr>
              <a:t>simple arithmetic.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hope to get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nonsensical belief into the head </a:t>
            </a:r>
            <a:r>
              <a:rPr dirty="0" sz="1200" spc="-5">
                <a:latin typeface="Times New Roman"/>
                <a:cs typeface="Times New Roman"/>
              </a:rPr>
              <a:t>of George Gradgrind, or Augustus Gradgrind, or John </a:t>
            </a:r>
            <a:r>
              <a:rPr dirty="0" sz="1200">
                <a:latin typeface="Times New Roman"/>
                <a:cs typeface="Times New Roman"/>
              </a:rPr>
              <a:t> Gradgrind,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Joseph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Gradgrind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(all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suppositious,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non-existent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persons),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Thomas</a:t>
            </a:r>
            <a:r>
              <a:rPr dirty="0" sz="1200">
                <a:latin typeface="Times New Roman"/>
                <a:cs typeface="Times New Roman"/>
              </a:rPr>
              <a:t> Gradgrind-no </a:t>
            </a:r>
            <a:r>
              <a:rPr dirty="0" sz="1200" spc="-5">
                <a:latin typeface="Times New Roman"/>
                <a:cs typeface="Times New Roman"/>
              </a:rPr>
              <a:t>sir!</a:t>
            </a:r>
            <a:endParaRPr sz="1200">
              <a:latin typeface="Times New Roman"/>
              <a:cs typeface="Times New Roman"/>
            </a:endParaRPr>
          </a:p>
          <a:p>
            <a:pPr marL="13843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(CHARLES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DICKENS,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Underline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reinforce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Thomas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Gradgrind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calculations.</a:t>
            </a:r>
            <a:r>
              <a:rPr dirty="0" sz="1200" spc="-5">
                <a:latin typeface="Times New Roman"/>
                <a:cs typeface="Times New Roman"/>
              </a:rPr>
              <a:t> What</a:t>
            </a:r>
            <a:r>
              <a:rPr dirty="0" sz="1200">
                <a:latin typeface="Times New Roman"/>
                <a:cs typeface="Times New Roman"/>
              </a:rPr>
              <a:t> does the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‘sir’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passage?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10"/>
              </a:spcBef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Choice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picking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out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particular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feature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detail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calls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character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vividly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5" b="1">
                <a:latin typeface="Times New Roman"/>
                <a:cs typeface="Times New Roman"/>
              </a:rPr>
              <a:t> mind: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3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taken 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Edward Blishen’s</a:t>
            </a:r>
            <a:r>
              <a:rPr dirty="0" sz="1200" spc="-5">
                <a:latin typeface="Times New Roman"/>
                <a:cs typeface="Times New Roman"/>
              </a:rPr>
              <a:t> ‘A Cackhanded</a:t>
            </a:r>
            <a:r>
              <a:rPr dirty="0" sz="1200">
                <a:latin typeface="Times New Roman"/>
                <a:cs typeface="Times New Roman"/>
              </a:rPr>
              <a:t> War’: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‘He was </a:t>
            </a:r>
            <a:r>
              <a:rPr dirty="0" sz="1200">
                <a:latin typeface="Times New Roman"/>
                <a:cs typeface="Times New Roman"/>
              </a:rPr>
              <a:t>a tiny fellow, with a leathery white </a:t>
            </a:r>
            <a:r>
              <a:rPr dirty="0" sz="1200" spc="-5">
                <a:latin typeface="Times New Roman"/>
                <a:cs typeface="Times New Roman"/>
              </a:rPr>
              <a:t>face </a:t>
            </a:r>
            <a:r>
              <a:rPr dirty="0" sz="1200">
                <a:latin typeface="Times New Roman"/>
                <a:cs typeface="Times New Roman"/>
              </a:rPr>
              <a:t>under black hair, and tied to the case he’d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brought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the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enormous </a:t>
            </a:r>
            <a:r>
              <a:rPr dirty="0" sz="1200">
                <a:latin typeface="Times New Roman"/>
                <a:cs typeface="Times New Roman"/>
              </a:rPr>
              <a:t>gumboots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seen.’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‘Mrs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Goss was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widow,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</a:t>
            </a:r>
            <a:r>
              <a:rPr dirty="0" sz="1200" spc="-5">
                <a:latin typeface="Times New Roman"/>
                <a:cs typeface="Times New Roman"/>
              </a:rPr>
              <a:t> woman</a:t>
            </a:r>
            <a:r>
              <a:rPr dirty="0" sz="1200">
                <a:latin typeface="Times New Roman"/>
                <a:cs typeface="Times New Roman"/>
              </a:rPr>
              <a:t> of over seventy: and witchlike.’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‘He was </a:t>
            </a:r>
            <a:r>
              <a:rPr dirty="0" sz="1200">
                <a:latin typeface="Times New Roman"/>
                <a:cs typeface="Times New Roman"/>
              </a:rPr>
              <a:t>a deeply </a:t>
            </a:r>
            <a:r>
              <a:rPr dirty="0" sz="1200" spc="-5">
                <a:latin typeface="Times New Roman"/>
                <a:cs typeface="Times New Roman"/>
              </a:rPr>
              <a:t>depressed man,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farmer,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wore a white coat and cloth cap,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peppered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white-and-black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bristle.’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‘He was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tall, silent, dark man, very gentle, who would </a:t>
            </a:r>
            <a:r>
              <a:rPr dirty="0" sz="1200">
                <a:latin typeface="Times New Roman"/>
                <a:cs typeface="Times New Roman"/>
              </a:rPr>
              <a:t>tut </a:t>
            </a:r>
            <a:r>
              <a:rPr dirty="0" sz="1200" spc="-5">
                <a:latin typeface="Times New Roman"/>
                <a:cs typeface="Times New Roman"/>
              </a:rPr>
              <a:t>over his machine as </a:t>
            </a:r>
            <a:r>
              <a:rPr dirty="0" sz="1200">
                <a:latin typeface="Times New Roman"/>
                <a:cs typeface="Times New Roman"/>
              </a:rPr>
              <a:t>if it </a:t>
            </a:r>
            <a:r>
              <a:rPr dirty="0" sz="1200" spc="-5">
                <a:latin typeface="Times New Roman"/>
                <a:cs typeface="Times New Roman"/>
              </a:rPr>
              <a:t>were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moody </a:t>
            </a:r>
            <a:r>
              <a:rPr dirty="0" sz="1200" spc="-5">
                <a:latin typeface="Times New Roman"/>
                <a:cs typeface="Times New Roman"/>
              </a:rPr>
              <a:t>woman.’ 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strawstack was </a:t>
            </a:r>
            <a:r>
              <a:rPr dirty="0" sz="1200">
                <a:latin typeface="Times New Roman"/>
                <a:cs typeface="Times New Roman"/>
              </a:rPr>
              <a:t>a boy: a short, stout boy with a kind of naked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pertness about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eyes and a very runny nose.’ Describe five varied characters, using 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alive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giving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particular </a:t>
            </a:r>
            <a:r>
              <a:rPr dirty="0" sz="1200" spc="-5">
                <a:latin typeface="Times New Roman"/>
                <a:cs typeface="Times New Roman"/>
              </a:rPr>
              <a:t>descriptive</a:t>
            </a:r>
            <a:r>
              <a:rPr dirty="0" sz="1200">
                <a:latin typeface="Times New Roman"/>
                <a:cs typeface="Times New Roman"/>
              </a:rPr>
              <a:t> detail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defines </a:t>
            </a:r>
            <a:r>
              <a:rPr dirty="0" sz="1200" spc="-5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6722364"/>
          <a:ext cx="4518025" cy="1277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150"/>
                <a:gridCol w="1714500"/>
                <a:gridCol w="1466850"/>
              </a:tblGrid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example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examples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643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shown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instance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213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instances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096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exemplifies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example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86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cases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643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shows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example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illustration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707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illustrates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exemplified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556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second/third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2118"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such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86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illustrated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by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446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example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etc.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2135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seen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834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namely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326628"/>
            <a:ext cx="562800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Sample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 </a:t>
            </a:r>
            <a:r>
              <a:rPr dirty="0" sz="1200" b="1">
                <a:latin typeface="Times New Roman"/>
                <a:cs typeface="Times New Roman"/>
              </a:rPr>
              <a:t>examples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 </a:t>
            </a:r>
            <a:r>
              <a:rPr dirty="0" sz="1200" b="1">
                <a:latin typeface="Times New Roman"/>
                <a:cs typeface="Times New Roman"/>
              </a:rPr>
              <a:t>italics: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1. The </a:t>
            </a:r>
            <a:r>
              <a:rPr dirty="0" sz="1200" spc="-5">
                <a:latin typeface="Times New Roman"/>
                <a:cs typeface="Times New Roman"/>
              </a:rPr>
              <a:t>switches, </a:t>
            </a:r>
            <a:r>
              <a:rPr dirty="0" sz="1200">
                <a:latin typeface="Times New Roman"/>
                <a:cs typeface="Times New Roman"/>
              </a:rPr>
              <a:t>like the cores, are capable of being in one of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possible </a:t>
            </a:r>
            <a:r>
              <a:rPr dirty="0" sz="1200" spc="-5">
                <a:latin typeface="Times New Roman"/>
                <a:cs typeface="Times New Roman"/>
              </a:rPr>
              <a:t>states </a:t>
            </a:r>
            <a:r>
              <a:rPr dirty="0" sz="1200" spc="-5" i="1">
                <a:latin typeface="Times New Roman"/>
                <a:cs typeface="Times New Roman"/>
              </a:rPr>
              <a:t>that is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off; </a:t>
            </a:r>
            <a:r>
              <a:rPr dirty="0" sz="1200" spc="-5">
                <a:latin typeface="Times New Roman"/>
                <a:cs typeface="Times New Roman"/>
              </a:rPr>
              <a:t>magnetized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unmagnetized. </a:t>
            </a:r>
            <a:r>
              <a:rPr dirty="0" sz="1200">
                <a:latin typeface="Times New Roman"/>
                <a:cs typeface="Times New Roman"/>
              </a:rPr>
              <a:t>2. Computers have circuits for </a:t>
            </a:r>
            <a:r>
              <a:rPr dirty="0" sz="1200" spc="-5">
                <a:latin typeface="Times New Roman"/>
                <a:cs typeface="Times New Roman"/>
              </a:rPr>
              <a:t>performing arithmetic </a:t>
            </a:r>
            <a:r>
              <a:rPr dirty="0" sz="1200">
                <a:latin typeface="Times New Roman"/>
                <a:cs typeface="Times New Roman"/>
              </a:rPr>
              <a:t> operations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such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subtraction,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division,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multiplication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exponentiation.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264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things,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namely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another?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numbers </a:t>
            </a:r>
            <a:r>
              <a:rPr dirty="0" sz="1200">
                <a:latin typeface="Times New Roman"/>
                <a:cs typeface="Times New Roman"/>
              </a:rPr>
              <a:t>equal?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one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greater than another?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 startAt="4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extremely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rapid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rates;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millions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times faster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skilled </a:t>
            </a:r>
            <a:r>
              <a:rPr dirty="0" sz="1200" spc="-5">
                <a:latin typeface="Times New Roman"/>
                <a:cs typeface="Times New Roman"/>
              </a:rPr>
              <a:t>mathematician.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 startAt="4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capabilities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possessed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task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university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payroll,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 instance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be done quite </a:t>
            </a:r>
            <a:r>
              <a:rPr dirty="0" sz="1200">
                <a:latin typeface="Times New Roman"/>
                <a:cs typeface="Times New Roman"/>
              </a:rPr>
              <a:t>easily.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N.B.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markers</a:t>
            </a:r>
            <a:r>
              <a:rPr dirty="0" sz="1200">
                <a:latin typeface="Times New Roman"/>
                <a:cs typeface="Times New Roman"/>
              </a:rPr>
              <a:t> follow the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separated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commas.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all texts present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explicitly, </a:t>
            </a:r>
            <a:r>
              <a:rPr dirty="0" sz="1200" spc="-5">
                <a:latin typeface="Times New Roman"/>
                <a:cs typeface="Times New Roman"/>
              </a:rPr>
              <a:t>some exemplifications are </a:t>
            </a:r>
            <a:r>
              <a:rPr dirty="0" sz="1200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implicitly,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case,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markers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looked at how </a:t>
            </a:r>
            <a:r>
              <a:rPr dirty="0" sz="1200" spc="-5">
                <a:latin typeface="Times New Roman"/>
                <a:cs typeface="Times New Roman"/>
              </a:rPr>
              <a:t>writers use</a:t>
            </a:r>
            <a:r>
              <a:rPr dirty="0" sz="1200">
                <a:latin typeface="Times New Roman"/>
                <a:cs typeface="Times New Roman"/>
              </a:rPr>
              <a:t> characterization in literary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944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-15</a:t>
            </a:r>
            <a:endParaRPr sz="1200">
              <a:latin typeface="Times New Roman"/>
              <a:cs typeface="Times New Roman"/>
            </a:endParaRPr>
          </a:p>
          <a:p>
            <a:pPr marL="12700" marR="3070860">
              <a:lnSpc>
                <a:spcPct val="191700"/>
              </a:lnSpc>
            </a:pPr>
            <a:r>
              <a:rPr dirty="0" sz="1200" b="1">
                <a:latin typeface="Times New Roman"/>
                <a:cs typeface="Times New Roman"/>
              </a:rPr>
              <a:t>Evaluating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Texts: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Interpreting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Visual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Data  </a:t>
            </a:r>
            <a:r>
              <a:rPr dirty="0" sz="1200" spc="-5" b="1">
                <a:latin typeface="Times New Roman"/>
                <a:cs typeface="Times New Roman"/>
              </a:rPr>
              <a:t>Interpreting Visual</a:t>
            </a:r>
            <a:r>
              <a:rPr dirty="0" sz="1200" b="1">
                <a:latin typeface="Times New Roman"/>
                <a:cs typeface="Times New Roman"/>
              </a:rPr>
              <a:t> Data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20"/>
              </a:spcBef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lesson, we will </a:t>
            </a:r>
            <a:r>
              <a:rPr dirty="0" sz="1200">
                <a:latin typeface="Times New Roman"/>
                <a:cs typeface="Times New Roman"/>
              </a:rPr>
              <a:t>first deal with </a:t>
            </a:r>
            <a:r>
              <a:rPr dirty="0" sz="1200" spc="-5">
                <a:latin typeface="Times New Roman"/>
                <a:cs typeface="Times New Roman"/>
              </a:rPr>
              <a:t>interpreting </a:t>
            </a:r>
            <a:r>
              <a:rPr dirty="0" sz="1200">
                <a:latin typeface="Times New Roman"/>
                <a:cs typeface="Times New Roman"/>
              </a:rPr>
              <a:t>visual data </a:t>
            </a:r>
            <a:r>
              <a:rPr dirty="0" sz="1200" spc="-5">
                <a:latin typeface="Times New Roman"/>
                <a:cs typeface="Times New Roman"/>
              </a:rPr>
              <a:t>and second how to make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means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communications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primarily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visual.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are: graphs, charts, </a:t>
            </a:r>
            <a:r>
              <a:rPr dirty="0" sz="1200" spc="-5">
                <a:latin typeface="Times New Roman"/>
                <a:cs typeface="Times New Roman"/>
              </a:rPr>
              <a:t>diagrams, </a:t>
            </a:r>
            <a:r>
              <a:rPr dirty="0" sz="1200">
                <a:latin typeface="Times New Roman"/>
                <a:cs typeface="Times New Roman"/>
              </a:rPr>
              <a:t>tables, and </a:t>
            </a:r>
            <a:r>
              <a:rPr dirty="0" sz="1200" spc="-5">
                <a:latin typeface="Times New Roman"/>
                <a:cs typeface="Times New Roman"/>
              </a:rPr>
              <a:t>maps. Most </a:t>
            </a:r>
            <a:r>
              <a:rPr dirty="0" sz="1200">
                <a:latin typeface="Times New Roman"/>
                <a:cs typeface="Times New Roman"/>
              </a:rPr>
              <a:t>textbooks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 tables, graphs and </a:t>
            </a:r>
            <a:r>
              <a:rPr dirty="0" sz="1200" spc="-5">
                <a:latin typeface="Times New Roman"/>
                <a:cs typeface="Times New Roman"/>
              </a:rPr>
              <a:t>maps, </a:t>
            </a:r>
            <a:r>
              <a:rPr dirty="0" sz="1200">
                <a:latin typeface="Times New Roman"/>
                <a:cs typeface="Times New Roman"/>
              </a:rPr>
              <a:t>etc. They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all aids to help you understand interpret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reading.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Because of the </a:t>
            </a:r>
            <a:r>
              <a:rPr dirty="0" sz="1200" spc="-5">
                <a:latin typeface="Times New Roman"/>
                <a:cs typeface="Times New Roman"/>
              </a:rPr>
              <a:t>importance </a:t>
            </a:r>
            <a:r>
              <a:rPr dirty="0" sz="1200">
                <a:latin typeface="Times New Roman"/>
                <a:cs typeface="Times New Roman"/>
              </a:rPr>
              <a:t>of visuals, and the </a:t>
            </a:r>
            <a:r>
              <a:rPr dirty="0" sz="1200" spc="-5">
                <a:latin typeface="Times New Roman"/>
                <a:cs typeface="Times New Roman"/>
              </a:rPr>
              <a:t>possibility </a:t>
            </a:r>
            <a:r>
              <a:rPr dirty="0" sz="1200">
                <a:latin typeface="Times New Roman"/>
                <a:cs typeface="Times New Roman"/>
              </a:rPr>
              <a:t>of their </a:t>
            </a:r>
            <a:r>
              <a:rPr dirty="0" sz="1200" spc="-5">
                <a:latin typeface="Times New Roman"/>
                <a:cs typeface="Times New Roman"/>
              </a:rPr>
              <a:t>being misinterpreted,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visuals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ii) learn to read </a:t>
            </a:r>
            <a:r>
              <a:rPr dirty="0" sz="1200" spc="-5">
                <a:latin typeface="Times New Roman"/>
                <a:cs typeface="Times New Roman"/>
              </a:rPr>
              <a:t>accurately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common </a:t>
            </a:r>
            <a:r>
              <a:rPr dirty="0" sz="1200">
                <a:latin typeface="Times New Roman"/>
                <a:cs typeface="Times New Roman"/>
              </a:rPr>
              <a:t>aids. The following </a:t>
            </a:r>
            <a:r>
              <a:rPr dirty="0" sz="1200" spc="-5">
                <a:latin typeface="Times New Roman"/>
                <a:cs typeface="Times New Roman"/>
              </a:rPr>
              <a:t>example shows </a:t>
            </a:r>
            <a:r>
              <a:rPr dirty="0" sz="1200">
                <a:latin typeface="Times New Roman"/>
                <a:cs typeface="Times New Roman"/>
              </a:rPr>
              <a:t>you how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consisting of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figures can be converted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visual.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Our experience is that after listening </a:t>
            </a:r>
            <a:r>
              <a:rPr dirty="0" sz="1200">
                <a:latin typeface="Times New Roman"/>
                <a:cs typeface="Times New Roman"/>
              </a:rPr>
              <a:t>to an </a:t>
            </a:r>
            <a:r>
              <a:rPr dirty="0" sz="1200" spc="-5">
                <a:latin typeface="Times New Roman"/>
                <a:cs typeface="Times New Roman"/>
              </a:rPr>
              <a:t>hour’s </a:t>
            </a:r>
            <a:r>
              <a:rPr dirty="0" sz="1200">
                <a:latin typeface="Times New Roman"/>
                <a:cs typeface="Times New Roman"/>
              </a:rPr>
              <a:t>lecture, students </a:t>
            </a:r>
            <a:r>
              <a:rPr dirty="0" sz="1200" spc="-5">
                <a:latin typeface="Times New Roman"/>
                <a:cs typeface="Times New Roman"/>
              </a:rPr>
              <a:t>begin very rapidly to </a:t>
            </a:r>
            <a:r>
              <a:rPr dirty="0" sz="1200">
                <a:latin typeface="Times New Roman"/>
                <a:cs typeface="Times New Roman"/>
              </a:rPr>
              <a:t> forget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given to </a:t>
            </a:r>
            <a:r>
              <a:rPr dirty="0" sz="1200" spc="-5">
                <a:latin typeface="Times New Roman"/>
                <a:cs typeface="Times New Roman"/>
              </a:rPr>
              <a:t>them. Twenty-four </a:t>
            </a:r>
            <a:r>
              <a:rPr dirty="0" sz="1200">
                <a:latin typeface="Times New Roman"/>
                <a:cs typeface="Times New Roman"/>
              </a:rPr>
              <a:t>hours after the lecture,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forgotten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75%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forty-eight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amount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students </a:t>
            </a:r>
            <a:r>
              <a:rPr dirty="0" sz="1200" spc="-5">
                <a:latin typeface="Times New Roman"/>
                <a:cs typeface="Times New Roman"/>
              </a:rPr>
              <a:t>remember has </a:t>
            </a:r>
            <a:r>
              <a:rPr dirty="0" sz="1200">
                <a:latin typeface="Times New Roman"/>
                <a:cs typeface="Times New Roman"/>
              </a:rPr>
              <a:t>usually </a:t>
            </a:r>
            <a:r>
              <a:rPr dirty="0" sz="1200" spc="-5">
                <a:latin typeface="Times New Roman"/>
                <a:cs typeface="Times New Roman"/>
              </a:rPr>
              <a:t>sunk to 15%. Yet, </a:t>
            </a:r>
            <a:r>
              <a:rPr dirty="0" sz="1200">
                <a:latin typeface="Times New Roman"/>
                <a:cs typeface="Times New Roman"/>
              </a:rPr>
              <a:t>if the students review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 by noting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key points in 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place and </a:t>
            </a:r>
            <a:r>
              <a:rPr dirty="0" sz="1200" spc="-5">
                <a:latin typeface="Times New Roman"/>
                <a:cs typeface="Times New Roman"/>
              </a:rPr>
              <a:t>then reading over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discussing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retention levels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high as 70-85%.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 you have been </a:t>
            </a:r>
            <a:r>
              <a:rPr dirty="0" sz="1200">
                <a:latin typeface="Times New Roman"/>
                <a:cs typeface="Times New Roman"/>
              </a:rPr>
              <a:t>presented findings in </a:t>
            </a:r>
            <a:r>
              <a:rPr dirty="0" sz="1200" spc="-5">
                <a:latin typeface="Times New Roman"/>
                <a:cs typeface="Times New Roman"/>
              </a:rPr>
              <a:t>words and numerals. </a:t>
            </a:r>
            <a:r>
              <a:rPr dirty="0" sz="1200">
                <a:latin typeface="Times New Roman"/>
                <a:cs typeface="Times New Roman"/>
              </a:rPr>
              <a:t>Let’s </a:t>
            </a:r>
            <a:r>
              <a:rPr dirty="0" sz="1200" spc="-5">
                <a:latin typeface="Times New Roman"/>
                <a:cs typeface="Times New Roman"/>
              </a:rPr>
              <a:t>put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findings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form, so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‘see’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Tables:</a:t>
            </a:r>
            <a:r>
              <a:rPr dirty="0" sz="1200" spc="17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numerical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glance.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are used to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various kinds of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clear, </a:t>
            </a:r>
            <a:r>
              <a:rPr dirty="0" sz="1200" spc="-5">
                <a:latin typeface="Times New Roman"/>
                <a:cs typeface="Times New Roman"/>
              </a:rPr>
              <a:t>compact columns. You are all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with a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table. You had one in your school and </a:t>
            </a:r>
            <a:r>
              <a:rPr dirty="0" sz="1200" spc="-5">
                <a:latin typeface="Times New Roman"/>
                <a:cs typeface="Times New Roman"/>
              </a:rPr>
              <a:t>college </a:t>
            </a:r>
            <a:r>
              <a:rPr dirty="0" sz="1200">
                <a:latin typeface="Times New Roman"/>
                <a:cs typeface="Times New Roman"/>
              </a:rPr>
              <a:t>–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 plan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 week – how </a:t>
            </a:r>
            <a:r>
              <a:rPr dirty="0" sz="1200" spc="-5">
                <a:latin typeface="Times New Roman"/>
                <a:cs typeface="Times New Roman"/>
              </a:rPr>
              <a:t>classes </a:t>
            </a:r>
            <a:r>
              <a:rPr dirty="0" sz="1200">
                <a:latin typeface="Times New Roman"/>
                <a:cs typeface="Times New Roman"/>
              </a:rPr>
              <a:t>were scheduled. In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way, you are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airline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tables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schedules.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</a:t>
            </a:r>
            <a:r>
              <a:rPr dirty="0" sz="1200">
                <a:latin typeface="Times New Roman"/>
                <a:cs typeface="Times New Roman"/>
              </a:rPr>
              <a:t> 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physics,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chemistry.</a:t>
            </a:r>
            <a:r>
              <a:rPr dirty="0" sz="1200">
                <a:latin typeface="Times New Roman"/>
                <a:cs typeface="Times New Roman"/>
              </a:rPr>
              <a:t> Tables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92200" y="7223252"/>
            <a:ext cx="203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75436" y="6346952"/>
            <a:ext cx="5568950" cy="21361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410209" marR="155575" indent="-3810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 the title of the table first: that will tell you what </a:t>
            </a:r>
            <a:r>
              <a:rPr dirty="0" sz="1200" spc="-5">
                <a:latin typeface="Times New Roman"/>
                <a:cs typeface="Times New Roman"/>
              </a:rPr>
              <a:t>information is shown </a:t>
            </a:r>
            <a:r>
              <a:rPr dirty="0" sz="1200">
                <a:latin typeface="Times New Roman"/>
                <a:cs typeface="Times New Roman"/>
              </a:rPr>
              <a:t>in 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table.</a:t>
            </a:r>
            <a:endParaRPr sz="1200">
              <a:latin typeface="Times New Roman"/>
              <a:cs typeface="Times New Roman"/>
            </a:endParaRPr>
          </a:p>
          <a:p>
            <a:pPr algn="just" marL="410209" marR="5715" indent="-36449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ii)  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footnote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bottom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give </a:t>
            </a:r>
            <a:r>
              <a:rPr dirty="0" sz="1200" spc="-5">
                <a:latin typeface="Times New Roman"/>
                <a:cs typeface="Times New Roman"/>
              </a:rPr>
              <a:t>additional information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 necessary </a:t>
            </a:r>
            <a:r>
              <a:rPr dirty="0" sz="1200">
                <a:latin typeface="Times New Roman"/>
                <a:cs typeface="Times New Roman"/>
              </a:rPr>
              <a:t>for an </a:t>
            </a:r>
            <a:r>
              <a:rPr dirty="0" sz="1200" spc="-5">
                <a:latin typeface="Times New Roman"/>
                <a:cs typeface="Times New Roman"/>
              </a:rPr>
              <a:t>accurate </a:t>
            </a:r>
            <a:r>
              <a:rPr dirty="0" sz="1200">
                <a:latin typeface="Times New Roman"/>
                <a:cs typeface="Times New Roman"/>
              </a:rPr>
              <a:t>interpretation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data.</a:t>
            </a:r>
            <a:endParaRPr sz="1200">
              <a:latin typeface="Times New Roman"/>
              <a:cs typeface="Times New Roman"/>
            </a:endParaRPr>
          </a:p>
          <a:p>
            <a:pPr algn="just" marL="410209" marR="3079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Next, you </a:t>
            </a:r>
            <a:r>
              <a:rPr dirty="0" sz="1200">
                <a:latin typeface="Times New Roman"/>
                <a:cs typeface="Times New Roman"/>
              </a:rPr>
              <a:t>must </a:t>
            </a:r>
            <a:r>
              <a:rPr dirty="0" sz="1200" spc="-5">
                <a:latin typeface="Times New Roman"/>
                <a:cs typeface="Times New Roman"/>
              </a:rPr>
              <a:t>ask yourself </a:t>
            </a:r>
            <a:r>
              <a:rPr dirty="0" sz="1200">
                <a:latin typeface="Times New Roman"/>
                <a:cs typeface="Times New Roman"/>
              </a:rPr>
              <a:t>if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given in the table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reliable.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source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information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table.</a:t>
            </a:r>
            <a:endParaRPr sz="1200">
              <a:latin typeface="Times New Roman"/>
              <a:cs typeface="Times New Roman"/>
            </a:endParaRPr>
          </a:p>
          <a:p>
            <a:pPr algn="just" marL="410209" marR="5080" indent="-398145">
              <a:lnSpc>
                <a:spcPts val="1380"/>
              </a:lnSpc>
              <a:buAutoNum type="romanLcParenR" startAt="4"/>
              <a:tabLst>
                <a:tab pos="410845" algn="l"/>
              </a:tabLst>
            </a:pPr>
            <a:r>
              <a:rPr dirty="0" sz="1200">
                <a:latin typeface="Times New Roman"/>
                <a:cs typeface="Times New Roman"/>
              </a:rPr>
              <a:t>After that, look at the heading of each </a:t>
            </a:r>
            <a:r>
              <a:rPr dirty="0" sz="1200" spc="-5">
                <a:latin typeface="Times New Roman"/>
                <a:cs typeface="Times New Roman"/>
              </a:rPr>
              <a:t>column. </a:t>
            </a:r>
            <a:r>
              <a:rPr dirty="0" sz="1200">
                <a:latin typeface="Times New Roman"/>
                <a:cs typeface="Times New Roman"/>
              </a:rPr>
              <a:t>Be sure you understand exactly what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heading</a:t>
            </a:r>
            <a:r>
              <a:rPr dirty="0" sz="1200">
                <a:latin typeface="Times New Roman"/>
                <a:cs typeface="Times New Roman"/>
              </a:rPr>
              <a:t> refers to what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included in each </a:t>
            </a:r>
            <a:r>
              <a:rPr dirty="0" sz="1200" spc="-5">
                <a:latin typeface="Times New Roman"/>
                <a:cs typeface="Times New Roman"/>
              </a:rPr>
              <a:t>column.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notice the units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used. These could </a:t>
            </a:r>
            <a:r>
              <a:rPr dirty="0" sz="1200">
                <a:latin typeface="Times New Roman"/>
                <a:cs typeface="Times New Roman"/>
              </a:rPr>
              <a:t>be in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numbers, </a:t>
            </a:r>
            <a:r>
              <a:rPr dirty="0" sz="1200">
                <a:latin typeface="Times New Roman"/>
                <a:cs typeface="Times New Roman"/>
              </a:rPr>
              <a:t>money, weights, percentages, dates,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sex,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etc…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units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also vary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column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column.</a:t>
            </a:r>
            <a:endParaRPr sz="1200">
              <a:latin typeface="Times New Roman"/>
              <a:cs typeface="Times New Roman"/>
            </a:endParaRPr>
          </a:p>
          <a:p>
            <a:pPr algn="just" marL="410209" indent="-356235">
              <a:lnSpc>
                <a:spcPts val="1345"/>
              </a:lnSpc>
              <a:buAutoNum type="romanLcParenR" startAt="4"/>
              <a:tabLst>
                <a:tab pos="410845" algn="l"/>
              </a:tabLst>
            </a:pPr>
            <a:r>
              <a:rPr dirty="0" sz="1200">
                <a:latin typeface="Times New Roman"/>
                <a:cs typeface="Times New Roman"/>
              </a:rPr>
              <a:t>Finally,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interpret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accurately.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419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R.C.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Yorkey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‘Study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Skills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229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Students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English’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173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mark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statements as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(F).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percentage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 </a:t>
            </a:r>
            <a:r>
              <a:rPr dirty="0" sz="1200">
                <a:latin typeface="Times New Roman"/>
                <a:cs typeface="Times New Roman"/>
              </a:rPr>
              <a:t>population.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65735" algn="l"/>
                <a:tab pos="5375275" algn="l"/>
              </a:tabLst>
            </a:pPr>
            <a:r>
              <a:rPr dirty="0" sz="1200">
                <a:latin typeface="Times New Roman"/>
                <a:cs typeface="Times New Roman"/>
              </a:rPr>
              <a:t>Judging 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table, the annual death rate ha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slightly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	half 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1900.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Heart</a:t>
            </a:r>
            <a:r>
              <a:rPr dirty="0" sz="1200" spc="-5">
                <a:latin typeface="Times New Roman"/>
                <a:cs typeface="Times New Roman"/>
              </a:rPr>
              <a:t> disease has</a:t>
            </a:r>
            <a:r>
              <a:rPr dirty="0" sz="1200">
                <a:latin typeface="Times New Roman"/>
                <a:cs typeface="Times New Roman"/>
              </a:rPr>
              <a:t> consistently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major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death.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infants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1977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10.7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percent.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Typhoid fever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been </a:t>
            </a:r>
            <a:r>
              <a:rPr dirty="0" sz="1200" spc="-5">
                <a:latin typeface="Times New Roman"/>
                <a:cs typeface="Times New Roman"/>
              </a:rPr>
              <a:t>completely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 cause of death.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90"/>
              </a:lnSpc>
              <a:spcBef>
                <a:spcPts val="55"/>
              </a:spcBef>
              <a:buAutoNum type="arabicPeriod"/>
              <a:tabLst>
                <a:tab pos="171450" algn="l"/>
              </a:tabLst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1940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annual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automobile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-5" b="1">
                <a:latin typeface="Times New Roman"/>
                <a:cs typeface="Times New Roman"/>
              </a:rPr>
              <a:t>.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7005" indent="-154940">
              <a:lnSpc>
                <a:spcPts val="1310"/>
              </a:lnSpc>
              <a:buAutoNum type="arabicPeriod"/>
              <a:tabLst>
                <a:tab pos="16764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1900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tuberculosis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pneumonia.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75"/>
              </a:lnSpc>
              <a:buAutoNum type="arabicPeriod" startAt="8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annual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cancer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1977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1900.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 startAt="8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childhood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disease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twentieth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apparently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typhoid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fever.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15"/>
              </a:lnSpc>
              <a:buAutoNum type="arabicPeriod" startAt="8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abbreviation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n.a.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Applicable.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capital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answers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boxes.)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Graphs: </a:t>
            </a:r>
            <a:r>
              <a:rPr dirty="0" sz="1200" spc="-5">
                <a:latin typeface="Times New Roman"/>
                <a:cs typeface="Times New Roman"/>
              </a:rPr>
              <a:t>Another way of showing information is </a:t>
            </a:r>
            <a:r>
              <a:rPr dirty="0" sz="1200">
                <a:latin typeface="Times New Roman"/>
                <a:cs typeface="Times New Roman"/>
              </a:rPr>
              <a:t>through graphs.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i="1">
                <a:latin typeface="Times New Roman"/>
                <a:cs typeface="Times New Roman"/>
              </a:rPr>
              <a:t>graph </a:t>
            </a:r>
            <a:r>
              <a:rPr dirty="0" sz="1200" spc="-5">
                <a:latin typeface="Times New Roman"/>
                <a:cs typeface="Times New Roman"/>
              </a:rPr>
              <a:t>illustrates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vertical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axis,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other(s)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horizontal axis.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R.C.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Yorkey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‘Study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Skills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English’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177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Answer </a:t>
            </a:r>
            <a:r>
              <a:rPr dirty="0" sz="1200">
                <a:latin typeface="Times New Roman"/>
                <a:cs typeface="Times New Roman"/>
              </a:rPr>
              <a:t>the first five following questions by writing true (T)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false </a:t>
            </a:r>
            <a:r>
              <a:rPr dirty="0" sz="1200" spc="-5">
                <a:latin typeface="Times New Roman"/>
                <a:cs typeface="Times New Roman"/>
              </a:rPr>
              <a:t>(F) </a:t>
            </a:r>
            <a:r>
              <a:rPr dirty="0" sz="1200">
                <a:latin typeface="Times New Roman"/>
                <a:cs typeface="Times New Roman"/>
              </a:rPr>
              <a:t>and the last five 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information.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5821171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200" y="6346952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0491" y="5821171"/>
            <a:ext cx="4712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indicated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vertical axis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88265" marR="216535" indent="-762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legend (explanatory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on a graph, </a:t>
            </a:r>
            <a:r>
              <a:rPr dirty="0" sz="1200" spc="-5">
                <a:latin typeface="Times New Roman"/>
                <a:cs typeface="Times New Roman"/>
              </a:rPr>
              <a:t>map, </a:t>
            </a:r>
            <a:r>
              <a:rPr dirty="0" sz="1200">
                <a:latin typeface="Times New Roman"/>
                <a:cs typeface="Times New Roman"/>
              </a:rPr>
              <a:t>etc…)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 </a:t>
            </a:r>
            <a:r>
              <a:rPr dirty="0" sz="1200">
                <a:latin typeface="Times New Roman"/>
                <a:cs typeface="Times New Roman"/>
              </a:rPr>
              <a:t>finished </a:t>
            </a:r>
            <a:r>
              <a:rPr dirty="0" sz="1200" spc="-5">
                <a:latin typeface="Times New Roman"/>
                <a:cs typeface="Times New Roman"/>
              </a:rPr>
              <a:t>elementary </a:t>
            </a:r>
            <a:r>
              <a:rPr dirty="0" sz="1200">
                <a:latin typeface="Times New Roman"/>
                <a:cs typeface="Times New Roman"/>
              </a:rPr>
              <a:t>school, high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school, and college.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graduates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consistently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6522211"/>
            <a:ext cx="21050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graduates.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200" y="6697471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0430" y="6697471"/>
            <a:ext cx="471106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graduates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3556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female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graduates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money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7047992"/>
            <a:ext cx="5626735" cy="1960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graduates.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2700" marR="5715" indent="457200">
              <a:lnSpc>
                <a:spcPts val="1380"/>
              </a:lnSpc>
              <a:spcBef>
                <a:spcPts val="65"/>
              </a:spcBef>
              <a:buAutoNum type="arabicPeriod" startAt="6"/>
              <a:tabLst>
                <a:tab pos="927100" algn="l"/>
                <a:tab pos="927735" algn="l"/>
                <a:tab pos="1671320" algn="l"/>
                <a:tab pos="307657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1956,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elementary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graduates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1250dollars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927100" indent="-457834">
              <a:lnSpc>
                <a:spcPts val="1315"/>
              </a:lnSpc>
              <a:buAutoNum type="arabicPeriod" startAt="6"/>
              <a:tabLst>
                <a:tab pos="927100" algn="l"/>
                <a:tab pos="927735" algn="l"/>
                <a:tab pos="3724275" algn="l"/>
                <a:tab pos="4791710" algn="l"/>
              </a:tabLst>
            </a:pPr>
            <a:r>
              <a:rPr dirty="0" sz="1200">
                <a:latin typeface="Times New Roman"/>
                <a:cs typeface="Times New Roman"/>
              </a:rPr>
              <a:t>In 1976, this difference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became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1720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927100" indent="-458470">
              <a:lnSpc>
                <a:spcPts val="1380"/>
              </a:lnSpc>
              <a:buAutoNum type="arabicPeriod" startAt="6"/>
              <a:tabLst>
                <a:tab pos="927100" algn="l"/>
                <a:tab pos="927735" algn="l"/>
                <a:tab pos="1200150" algn="l"/>
                <a:tab pos="1689735" algn="l"/>
                <a:tab pos="1903730" algn="l"/>
                <a:tab pos="2490470" algn="l"/>
                <a:tab pos="3161665" algn="l"/>
                <a:tab pos="3715385" algn="l"/>
                <a:tab pos="3929379" algn="l"/>
                <a:tab pos="4405630" algn="l"/>
                <a:tab pos="5000625" algn="l"/>
                <a:tab pos="5274310" algn="l"/>
              </a:tabLst>
            </a:pPr>
            <a:r>
              <a:rPr dirty="0" sz="1200">
                <a:latin typeface="Times New Roman"/>
                <a:cs typeface="Times New Roman"/>
              </a:rPr>
              <a:t>In	1961,	a	college	graduate	earned	a	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ean	inco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	of	about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697865" algn="l"/>
                <a:tab pos="15741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10,000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965200" indent="-495934">
              <a:lnSpc>
                <a:spcPts val="1380"/>
              </a:lnSpc>
              <a:buAutoNum type="arabicPeriod" startAt="9"/>
              <a:tabLst>
                <a:tab pos="965200" algn="l"/>
                <a:tab pos="965835" algn="l"/>
                <a:tab pos="1350010" algn="l"/>
                <a:tab pos="1826260" algn="l"/>
                <a:tab pos="2422525" algn="l"/>
                <a:tab pos="2696845" algn="l"/>
                <a:tab pos="2911475" algn="l"/>
                <a:tab pos="3499485" algn="l"/>
                <a:tab pos="4171950" algn="l"/>
                <a:tab pos="4437380" algn="l"/>
                <a:tab pos="4889500" algn="l"/>
                <a:tab pos="5274310" algn="l"/>
              </a:tabLst>
            </a:pPr>
            <a:r>
              <a:rPr dirty="0" sz="1200">
                <a:latin typeface="Times New Roman"/>
                <a:cs typeface="Times New Roman"/>
              </a:rPr>
              <a:t>The	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ean	inco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	of	a	college	graduate	in	1966	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	about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545465" algn="l"/>
                <a:tab pos="1726564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12,000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 indent="457200">
              <a:lnSpc>
                <a:spcPts val="1380"/>
              </a:lnSpc>
              <a:buAutoNum type="arabicPeriod" startAt="10"/>
              <a:tabLst>
                <a:tab pos="926465" algn="l"/>
                <a:tab pos="927100" algn="l"/>
                <a:tab pos="2014855" algn="l"/>
                <a:tab pos="2928620" algn="l"/>
              </a:tabLst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years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1961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1976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 </a:t>
            </a:r>
            <a:r>
              <a:rPr dirty="0" sz="1200" spc="-5">
                <a:latin typeface="Times New Roman"/>
                <a:cs typeface="Times New Roman"/>
              </a:rPr>
              <a:t>students </a:t>
            </a:r>
            <a:r>
              <a:rPr dirty="0" sz="1200">
                <a:latin typeface="Times New Roman"/>
                <a:cs typeface="Times New Roman"/>
              </a:rPr>
              <a:t>increase?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6500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371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Bar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Graphs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(:)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bar graph </a:t>
            </a:r>
            <a:r>
              <a:rPr dirty="0" sz="1200" spc="-5">
                <a:latin typeface="Times New Roman"/>
                <a:cs typeface="Times New Roman"/>
              </a:rPr>
              <a:t>is similar </a:t>
            </a:r>
            <a:r>
              <a:rPr dirty="0" sz="1200">
                <a:latin typeface="Times New Roman"/>
                <a:cs typeface="Times New Roman"/>
              </a:rPr>
              <a:t>to a </a:t>
            </a:r>
            <a:r>
              <a:rPr dirty="0" sz="1200" spc="-5">
                <a:latin typeface="Times New Roman"/>
                <a:cs typeface="Times New Roman"/>
              </a:rPr>
              <a:t>line </a:t>
            </a:r>
            <a:r>
              <a:rPr dirty="0" sz="1200">
                <a:latin typeface="Times New Roman"/>
                <a:cs typeface="Times New Roman"/>
              </a:rPr>
              <a:t>graph except that the bars (extending from </a:t>
            </a:r>
            <a:r>
              <a:rPr dirty="0" sz="1200" spc="-5">
                <a:latin typeface="Times New Roman"/>
                <a:cs typeface="Times New Roman"/>
              </a:rPr>
              <a:t>either the vertical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the horizontal axis) are used instead of dots and lines. </a:t>
            </a:r>
            <a:r>
              <a:rPr dirty="0" sz="1200" spc="-5">
                <a:latin typeface="Times New Roman"/>
                <a:cs typeface="Times New Roman"/>
              </a:rPr>
              <a:t>Look </a:t>
            </a:r>
            <a:r>
              <a:rPr dirty="0" sz="1200">
                <a:latin typeface="Times New Roman"/>
                <a:cs typeface="Times New Roman"/>
              </a:rPr>
              <a:t>at the following bar graph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taken from R.C.Yorkey p. 178 and which gives data from the world Almanac,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1979,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then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 the questions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follow.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questions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true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false</a:t>
            </a:r>
            <a:r>
              <a:rPr dirty="0" sz="1200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5">
                <a:latin typeface="Times New Roman"/>
                <a:cs typeface="Times New Roman"/>
              </a:rPr>
              <a:t> shows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speakers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important </a:t>
            </a:r>
            <a:r>
              <a:rPr dirty="0" sz="1200">
                <a:latin typeface="Times New Roman"/>
                <a:cs typeface="Times New Roman"/>
              </a:rPr>
              <a:t>languages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shown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vertical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axis.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>
                <a:latin typeface="Times New Roman"/>
                <a:cs typeface="Times New Roman"/>
              </a:rPr>
              <a:t> of speakers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indicated in </a:t>
            </a:r>
            <a:r>
              <a:rPr dirty="0" sz="1200" spc="-5">
                <a:latin typeface="Times New Roman"/>
                <a:cs typeface="Times New Roman"/>
              </a:rPr>
              <a:t>millions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 100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100,000,000.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French.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spoken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 </a:t>
            </a:r>
            <a:r>
              <a:rPr dirty="0" sz="1200">
                <a:latin typeface="Times New Roman"/>
                <a:cs typeface="Times New Roman"/>
              </a:rPr>
              <a:t>speakers.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provided.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4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world?</a:t>
            </a:r>
            <a:endParaRPr sz="1200">
              <a:latin typeface="Times New Roman"/>
              <a:cs typeface="Times New Roman"/>
            </a:endParaRPr>
          </a:p>
          <a:p>
            <a:pPr marL="1003300">
              <a:lnSpc>
                <a:spcPts val="1410"/>
              </a:lnSpc>
              <a:tabLst>
                <a:tab pos="12312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370,000,000</a:t>
            </a:r>
            <a:r>
              <a:rPr dirty="0" u="sng" sz="1200" spc="5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many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Arabic?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41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-5">
                <a:latin typeface="Times New Roman"/>
                <a:cs typeface="Times New Roman"/>
              </a:rPr>
              <a:t>German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Portuguese</a:t>
            </a:r>
            <a:r>
              <a:rPr dirty="0" u="sng" sz="1200" spc="5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dialect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Chinese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most speakers?</a:t>
            </a:r>
            <a:endParaRPr sz="1200">
              <a:latin typeface="Times New Roman"/>
              <a:cs typeface="Times New Roman"/>
            </a:endParaRPr>
          </a:p>
          <a:p>
            <a:pPr marL="1270000">
              <a:lnSpc>
                <a:spcPts val="1410"/>
              </a:lnSpc>
              <a:tabLst>
                <a:tab pos="1497965" algn="l"/>
                <a:tab pos="231965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Mandrain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165100" algn="l"/>
                <a:tab pos="389318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speakers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Hindi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Malay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Indonesian_.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4"/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4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fifth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speakers?</a:t>
            </a:r>
            <a:endParaRPr sz="1200">
              <a:latin typeface="Times New Roman"/>
              <a:cs typeface="Times New Roman"/>
            </a:endParaRPr>
          </a:p>
          <a:p>
            <a:pPr marL="1384300">
              <a:lnSpc>
                <a:spcPts val="141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Urdu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composed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islands.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biggest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island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Honshu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 </a:t>
            </a:r>
            <a:r>
              <a:rPr dirty="0" sz="1200">
                <a:latin typeface="Times New Roman"/>
                <a:cs typeface="Times New Roman"/>
              </a:rPr>
              <a:t>of the other ones?</a:t>
            </a:r>
            <a:endParaRPr sz="1200">
              <a:latin typeface="Times New Roman"/>
              <a:cs typeface="Times New Roman"/>
            </a:endParaRPr>
          </a:p>
          <a:p>
            <a:pPr marL="850900">
              <a:lnSpc>
                <a:spcPts val="1345"/>
              </a:lnSpc>
              <a:tabLst>
                <a:tab pos="10407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Kyushu,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Shikoku,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Hokkaido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6948932"/>
            <a:ext cx="230124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island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Northernmost?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island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Southernmost?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977950" y="6948932"/>
            <a:ext cx="62674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50800" marR="5080" indent="-38735">
              <a:lnSpc>
                <a:spcPts val="1380"/>
              </a:lnSpc>
              <a:spcBef>
                <a:spcPts val="1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Hokkaido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Kyushu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299450"/>
            <a:ext cx="562546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Japan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surrounded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ocean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seas.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ocean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Pacific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Philippines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Sea,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Sea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Japan,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East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China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7649971"/>
            <a:ext cx="227139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 startAt="5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5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 sea is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southeast?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91024" y="7649971"/>
            <a:ext cx="97409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7145" marR="5080" indent="-5080">
              <a:lnSpc>
                <a:spcPts val="1380"/>
              </a:lnSpc>
              <a:spcBef>
                <a:spcPts val="195"/>
              </a:spcBef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 Japan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Philippines</a:t>
            </a:r>
            <a:r>
              <a:rPr dirty="0" u="sng" sz="12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8000490"/>
            <a:ext cx="5626735" cy="12598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AutoNum type="arabicPeriod" startAt="7"/>
              <a:tabLst>
                <a:tab pos="177800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nearest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Japan?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South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Korea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Japan?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Approx.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150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 startAt="7"/>
              <a:tabLst>
                <a:tab pos="165735" algn="l"/>
                <a:tab pos="2932430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other countries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close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Japan?	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Russia,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North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Korea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 startAt="7"/>
              <a:tabLst>
                <a:tab pos="173990" algn="l"/>
              </a:tabLst>
            </a:pPr>
            <a:r>
              <a:rPr dirty="0" sz="1200" spc="-5">
                <a:latin typeface="Times New Roman"/>
                <a:cs typeface="Times New Roman"/>
              </a:rPr>
              <a:t>Approximately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countries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Japan?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Closest: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NK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400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Km,</a:t>
            </a:r>
            <a:r>
              <a:rPr dirty="0" u="sng" sz="12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Russia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300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Km</a:t>
            </a:r>
            <a:endParaRPr sz="1200">
              <a:latin typeface="Times New Roman"/>
              <a:cs typeface="Times New Roman"/>
            </a:endParaRPr>
          </a:p>
          <a:p>
            <a:pPr marL="241935" indent="-229870">
              <a:lnSpc>
                <a:spcPts val="1315"/>
              </a:lnSpc>
              <a:buAutoNum type="arabicPeriod" startAt="7"/>
              <a:tabLst>
                <a:tab pos="242570" algn="l"/>
                <a:tab pos="270319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direction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Tokyo?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East_.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410"/>
              </a:lnSpc>
              <a:buAutoNum type="arabicPeriod" startAt="7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island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Hokkaido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Soviet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Union?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Approx.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300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7370" cy="75711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9235">
              <a:lnSpc>
                <a:spcPts val="1410"/>
              </a:lnSpc>
              <a:spcBef>
                <a:spcPts val="100"/>
              </a:spcBef>
              <a:buAutoNum type="arabicPeriod" startAt="12"/>
              <a:tabLst>
                <a:tab pos="241935" algn="l"/>
                <a:tab pos="3632200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direction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Hokkaido 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Soviet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Union?	_North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80"/>
              </a:lnSpc>
              <a:buAutoNum type="arabicPeriod" startAt="12"/>
              <a:tabLst>
                <a:tab pos="241935" algn="l"/>
                <a:tab pos="4058920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Hokkaido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</a:t>
            </a:r>
            <a:r>
              <a:rPr dirty="0" sz="1200" spc="-5">
                <a:latin typeface="Times New Roman"/>
                <a:cs typeface="Times New Roman"/>
              </a:rPr>
              <a:t>Korea?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u="sng" sz="120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North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West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 startAt="12"/>
              <a:tabLst>
                <a:tab pos="253365" algn="l"/>
              </a:tabLst>
            </a:pP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Hokkaido,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due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west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Kushiro: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Sapporo</a:t>
            </a:r>
            <a:r>
              <a:rPr dirty="0" u="sng" sz="120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Hakodate: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Sapporo</a:t>
            </a:r>
            <a:endParaRPr sz="1200">
              <a:latin typeface="Times New Roman"/>
              <a:cs typeface="Times New Roman"/>
            </a:endParaRPr>
          </a:p>
          <a:p>
            <a:pPr marL="203200" marR="638175" indent="-191135">
              <a:lnSpc>
                <a:spcPts val="1380"/>
              </a:lnSpc>
              <a:buAutoNum type="arabicPeriod" startAt="12"/>
              <a:tabLst>
                <a:tab pos="241300" algn="l"/>
                <a:tab pos="4980940" algn="l"/>
              </a:tabLst>
            </a:pPr>
            <a:r>
              <a:rPr dirty="0" sz="1200" spc="-5">
                <a:latin typeface="Times New Roman"/>
                <a:cs typeface="Times New Roman"/>
              </a:rPr>
              <a:t>How 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cities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Japan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population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1.000.000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more?</a:t>
            </a:r>
            <a:r>
              <a:rPr dirty="0" u="sng" sz="1200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-5">
                <a:latin typeface="Times New Roman"/>
                <a:cs typeface="Times New Roman"/>
              </a:rPr>
              <a:t>6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are their </a:t>
            </a:r>
            <a:r>
              <a:rPr dirty="0" sz="1200" spc="-5">
                <a:latin typeface="Times New Roman"/>
                <a:cs typeface="Times New Roman"/>
              </a:rPr>
              <a:t>names?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Osaka,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Tokayo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Kobe, Kyoto, Nagoya,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Yokohama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ones they are?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Capitalized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15"/>
              </a:lnSpc>
              <a:buAutoNum type="arabicPeriod" startAt="12"/>
              <a:tabLst>
                <a:tab pos="241935" algn="l"/>
              </a:tabLst>
            </a:pPr>
            <a:r>
              <a:rPr dirty="0" sz="1200" spc="-5">
                <a:latin typeface="Times New Roman"/>
                <a:cs typeface="Times New Roman"/>
              </a:rPr>
              <a:t>Approximately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Nagoya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Tokyo?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390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Km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380"/>
              </a:lnSpc>
              <a:tabLst>
                <a:tab pos="3043555" algn="l"/>
              </a:tabLst>
            </a:pPr>
            <a:r>
              <a:rPr dirty="0" sz="1200">
                <a:latin typeface="Times New Roman"/>
                <a:cs typeface="Times New Roman"/>
              </a:rPr>
              <a:t>Nagoya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to the</a:t>
            </a:r>
            <a:r>
              <a:rPr dirty="0" u="sng" sz="1200" spc="2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East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Tokyo and to 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North East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Osaka.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80"/>
              </a:lnSpc>
              <a:buAutoNum type="arabicPeriod" startAt="17"/>
              <a:tabLst>
                <a:tab pos="241935" algn="l"/>
                <a:tab pos="3737610" algn="l"/>
              </a:tabLst>
            </a:pPr>
            <a:r>
              <a:rPr dirty="0" sz="1200">
                <a:latin typeface="Times New Roman"/>
                <a:cs typeface="Times New Roman"/>
              </a:rPr>
              <a:t>The latitude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Tokyo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35.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longitude?	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135</a:t>
            </a:r>
            <a:endParaRPr sz="1200">
              <a:latin typeface="Times New Roman"/>
              <a:cs typeface="Times New Roman"/>
            </a:endParaRPr>
          </a:p>
          <a:p>
            <a:pPr marL="241935" marR="427355" indent="-241935">
              <a:lnSpc>
                <a:spcPts val="1380"/>
              </a:lnSpc>
              <a:spcBef>
                <a:spcPts val="65"/>
              </a:spcBef>
              <a:buAutoNum type="arabicPeriod" startAt="17"/>
              <a:tabLst>
                <a:tab pos="2419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latitude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longitude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northern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island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Hokkaido?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0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&amp; 140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 startAt="17"/>
              <a:tabLst>
                <a:tab pos="265430" algn="l"/>
                <a:tab pos="1101090" algn="l"/>
              </a:tabLst>
            </a:pPr>
            <a:r>
              <a:rPr dirty="0" sz="1200" spc="-5">
                <a:latin typeface="Times New Roman"/>
                <a:cs typeface="Times New Roman"/>
              </a:rPr>
              <a:t>Approximately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southern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tip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Kyushu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northern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tip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Hokkaido?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Approx.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1890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715" indent="266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Mutsu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 spc="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Northern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tip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Honshu.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Nagasaki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Western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Kyushu.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99390" indent="-187325">
              <a:lnSpc>
                <a:spcPts val="1410"/>
              </a:lnSpc>
              <a:buAutoNum type="alphaUcPeriod"/>
              <a:tabLst>
                <a:tab pos="20002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continent/country is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producer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hardwood </a:t>
            </a:r>
            <a:r>
              <a:rPr dirty="0" sz="1200" spc="-5">
                <a:latin typeface="Times New Roman"/>
                <a:cs typeface="Times New Roman"/>
              </a:rPr>
              <a:t>timber?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Asia</a:t>
            </a:r>
            <a:endParaRPr sz="1200">
              <a:latin typeface="Times New Roman"/>
              <a:cs typeface="Times New Roman"/>
            </a:endParaRPr>
          </a:p>
          <a:p>
            <a:pPr marL="192405" indent="-179705">
              <a:lnSpc>
                <a:spcPts val="1385"/>
              </a:lnSpc>
              <a:buAutoNum type="alphaUcPeriod"/>
              <a:tabLst>
                <a:tab pos="19240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continent/country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amount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hardwood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softwood </a:t>
            </a:r>
            <a:r>
              <a:rPr dirty="0" sz="1200">
                <a:latin typeface="Times New Roman"/>
                <a:cs typeface="Times New Roman"/>
              </a:rPr>
              <a:t>timber?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10" b="1">
                <a:latin typeface="Times New Roman"/>
                <a:cs typeface="Times New Roman"/>
              </a:rPr>
              <a:t>Europe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  <a:buAutoNum type="alphaUcPeriod" startAt="3"/>
              <a:tabLst>
                <a:tab pos="20129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percentage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pulp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countries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America,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USSR, Asia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Europe?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 b="1">
                <a:latin typeface="Times New Roman"/>
                <a:cs typeface="Times New Roman"/>
              </a:rPr>
              <a:t>1%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buAutoNum type="alphaUcPeriod" startAt="3"/>
              <a:tabLst>
                <a:tab pos="213360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continent/country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approximately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hardwood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timber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North </a:t>
            </a:r>
            <a:r>
              <a:rPr dirty="0" sz="1200" spc="-5">
                <a:latin typeface="Times New Roman"/>
                <a:cs typeface="Times New Roman"/>
              </a:rPr>
              <a:t>America,</a:t>
            </a:r>
            <a:r>
              <a:rPr dirty="0" sz="1200">
                <a:latin typeface="Times New Roman"/>
                <a:cs typeface="Times New Roman"/>
              </a:rPr>
              <a:t> but only one seventh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softwood? </a:t>
            </a:r>
            <a:r>
              <a:rPr dirty="0" sz="1200" b="1">
                <a:latin typeface="Times New Roman"/>
                <a:cs typeface="Times New Roman"/>
              </a:rPr>
              <a:t>Africa</a:t>
            </a:r>
            <a:endParaRPr sz="1200">
              <a:latin typeface="Times New Roman"/>
              <a:cs typeface="Times New Roman"/>
            </a:endParaRPr>
          </a:p>
          <a:p>
            <a:pPr marL="222885" indent="-210820">
              <a:lnSpc>
                <a:spcPts val="1320"/>
              </a:lnSpc>
              <a:buAutoNum type="alphaUcPeriod" startAt="3"/>
              <a:tabLst>
                <a:tab pos="223520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continent/country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softwood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timber,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hardwood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timber?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spc="-10" b="1">
                <a:latin typeface="Times New Roman"/>
                <a:cs typeface="Times New Roman"/>
              </a:rPr>
              <a:t>USSR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True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False: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charts again and say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 the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True </a:t>
            </a:r>
            <a:r>
              <a:rPr dirty="0" sz="1200">
                <a:latin typeface="Times New Roman"/>
                <a:cs typeface="Times New Roman"/>
              </a:rPr>
              <a:t>or False.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  <a:buAutoNum type="alphaUcPeriod"/>
              <a:tabLst>
                <a:tab pos="22288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Asia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production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softwood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timber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production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hardwood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timber.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89865" indent="-177800">
              <a:lnSpc>
                <a:spcPts val="1315"/>
              </a:lnSpc>
              <a:buAutoNum type="alphaUcPeriod"/>
              <a:tabLst>
                <a:tab pos="1905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?? produces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pulp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Europe.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90500" indent="-178435">
              <a:lnSpc>
                <a:spcPts val="1380"/>
              </a:lnSpc>
              <a:buAutoNum type="alphaUcPeriod"/>
              <a:tabLst>
                <a:tab pos="191135" algn="l"/>
              </a:tabLst>
            </a:pPr>
            <a:r>
              <a:rPr dirty="0" sz="1200" spc="-5">
                <a:latin typeface="Times New Roman"/>
                <a:cs typeface="Times New Roman"/>
              </a:rPr>
              <a:t>Asia </a:t>
            </a:r>
            <a:r>
              <a:rPr dirty="0" sz="1200">
                <a:latin typeface="Times New Roman"/>
                <a:cs typeface="Times New Roman"/>
              </a:rPr>
              <a:t>produces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 </a:t>
            </a:r>
            <a:r>
              <a:rPr dirty="0" sz="1200" spc="-5">
                <a:latin typeface="Times New Roman"/>
                <a:cs typeface="Times New Roman"/>
              </a:rPr>
              <a:t>times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paper pulp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Europe</a:t>
            </a:r>
            <a:r>
              <a:rPr dirty="0" sz="1200" b="1">
                <a:latin typeface="Times New Roman"/>
                <a:cs typeface="Times New Roman"/>
              </a:rPr>
              <a:t>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98755" indent="-186690">
              <a:lnSpc>
                <a:spcPts val="1380"/>
              </a:lnSpc>
              <a:buAutoNum type="alphaUcPeriod"/>
              <a:tabLst>
                <a:tab pos="1993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timber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shown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vertical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axis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lphaUcPeriod"/>
              <a:tabLst>
                <a:tab pos="20447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cubic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meters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wood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millions;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50,000,000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cubic </a:t>
            </a:r>
            <a:r>
              <a:rPr dirty="0" sz="1200" spc="-5">
                <a:latin typeface="Times New Roman"/>
                <a:cs typeface="Times New Roman"/>
              </a:rPr>
              <a:t>meters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Tw</a:t>
            </a:r>
            <a:endParaRPr sz="1200">
              <a:latin typeface="Times New Roman"/>
              <a:cs typeface="Times New Roman"/>
            </a:endParaRPr>
          </a:p>
          <a:p>
            <a:pPr marL="12700" marR="3807460">
              <a:lnSpc>
                <a:spcPts val="1380"/>
              </a:lnSpc>
              <a:spcBef>
                <a:spcPts val="15"/>
              </a:spcBef>
            </a:pPr>
            <a:r>
              <a:rPr dirty="0" sz="1200" b="1">
                <a:latin typeface="Times New Roman"/>
                <a:cs typeface="Times New Roman"/>
              </a:rPr>
              <a:t>ill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move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lesson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Making</a:t>
            </a:r>
            <a:r>
              <a:rPr dirty="0" sz="1200" spc="-10" b="1">
                <a:latin typeface="Times New Roman"/>
                <a:cs typeface="Times New Roman"/>
              </a:rPr>
              <a:t> Comparisons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Formation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There are several </a:t>
            </a:r>
            <a:r>
              <a:rPr dirty="0" sz="1200" spc="-5">
                <a:latin typeface="Times New Roman"/>
                <a:cs typeface="Times New Roman"/>
              </a:rPr>
              <a:t>ways of </a:t>
            </a:r>
            <a:r>
              <a:rPr dirty="0" sz="1200">
                <a:latin typeface="Times New Roman"/>
                <a:cs typeface="Times New Roman"/>
              </a:rPr>
              <a:t>showing </a:t>
            </a:r>
            <a:r>
              <a:rPr dirty="0" sz="1200" spc="-5">
                <a:latin typeface="Times New Roman"/>
                <a:cs typeface="Times New Roman"/>
              </a:rPr>
              <a:t>similarities </a:t>
            </a:r>
            <a:r>
              <a:rPr dirty="0" sz="1200">
                <a:latin typeface="Times New Roman"/>
                <a:cs typeface="Times New Roman"/>
              </a:rPr>
              <a:t>or differences that </a:t>
            </a:r>
            <a:r>
              <a:rPr dirty="0" sz="1200" spc="-5">
                <a:latin typeface="Times New Roman"/>
                <a:cs typeface="Times New Roman"/>
              </a:rPr>
              <a:t>exist </a:t>
            </a:r>
            <a:r>
              <a:rPr dirty="0" sz="1200">
                <a:latin typeface="Times New Roman"/>
                <a:cs typeface="Times New Roman"/>
              </a:rPr>
              <a:t>between or amongst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things. The regular </a:t>
            </a:r>
            <a:r>
              <a:rPr dirty="0" sz="1200" spc="-5">
                <a:latin typeface="Times New Roman"/>
                <a:cs typeface="Times New Roman"/>
              </a:rPr>
              <a:t>comparative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superlative of descriptive words, whether </a:t>
            </a:r>
            <a:r>
              <a:rPr dirty="0" sz="1200">
                <a:latin typeface="Times New Roman"/>
                <a:cs typeface="Times New Roman"/>
              </a:rPr>
              <a:t>these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adjectives</a:t>
            </a:r>
            <a:r>
              <a:rPr dirty="0" sz="1200" spc="-5">
                <a:latin typeface="Times New Roman"/>
                <a:cs typeface="Times New Roman"/>
              </a:rPr>
              <a:t> or </a:t>
            </a:r>
            <a:r>
              <a:rPr dirty="0" sz="1200">
                <a:latin typeface="Times New Roman"/>
                <a:cs typeface="Times New Roman"/>
              </a:rPr>
              <a:t>adverbs, are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follows:</a:t>
            </a:r>
            <a:endParaRPr sz="1200">
              <a:latin typeface="Times New Roman"/>
              <a:cs typeface="Times New Roman"/>
            </a:endParaRPr>
          </a:p>
          <a:p>
            <a:pPr algn="just" marL="12700" marR="1731645">
              <a:lnSpc>
                <a:spcPts val="1380"/>
              </a:lnSpc>
              <a:spcBef>
                <a:spcPts val="10"/>
              </a:spcBef>
            </a:pPr>
            <a:r>
              <a:rPr dirty="0" sz="1200" b="1">
                <a:latin typeface="Times New Roman"/>
                <a:cs typeface="Times New Roman"/>
              </a:rPr>
              <a:t>1. By </a:t>
            </a:r>
            <a:r>
              <a:rPr dirty="0" sz="1200" spc="-5" b="1">
                <a:latin typeface="Times New Roman"/>
                <a:cs typeface="Times New Roman"/>
              </a:rPr>
              <a:t>adding the ending </a:t>
            </a:r>
            <a:r>
              <a:rPr dirty="0" sz="1200" b="1">
                <a:latin typeface="Times New Roman"/>
                <a:cs typeface="Times New Roman"/>
              </a:rPr>
              <a:t>-er </a:t>
            </a:r>
            <a:r>
              <a:rPr dirty="0" sz="1200" spc="-5" b="1">
                <a:latin typeface="Times New Roman"/>
                <a:cs typeface="Times New Roman"/>
              </a:rPr>
              <a:t>and -est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words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one </a:t>
            </a:r>
            <a:r>
              <a:rPr dirty="0" sz="1200" b="1">
                <a:latin typeface="Times New Roman"/>
                <a:cs typeface="Times New Roman"/>
              </a:rPr>
              <a:t>syllable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7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279400">
              <a:lnSpc>
                <a:spcPct val="100000"/>
              </a:lnSpc>
              <a:spcBef>
                <a:spcPts val="107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ABSOLUTE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COMPARATIVE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SUPERLATIVE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09637" y="1235011"/>
          <a:ext cx="3672204" cy="1035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0100"/>
                <a:gridCol w="914400"/>
                <a:gridCol w="800100"/>
                <a:gridCol w="1143000"/>
              </a:tblGrid>
              <a:tr h="568451"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Adjectives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683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9100" marR="229870" indent="3175">
                        <a:lnSpc>
                          <a:spcPts val="1380"/>
                        </a:lnSpc>
                        <a:spcBef>
                          <a:spcPts val="23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new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old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big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 marR="288925">
                        <a:lnSpc>
                          <a:spcPts val="1380"/>
                        </a:lnSpc>
                        <a:spcBef>
                          <a:spcPts val="23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newer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older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bigger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865" marR="123825" indent="-635">
                        <a:lnSpc>
                          <a:spcPts val="1380"/>
                        </a:lnSpc>
                        <a:spcBef>
                          <a:spcPts val="23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newest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oldest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biggest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marL="151765">
                        <a:lnSpc>
                          <a:spcPts val="14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Adverbs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9100" marR="200025" indent="-635">
                        <a:lnSpc>
                          <a:spcPts val="1380"/>
                        </a:lnSpc>
                        <a:spcBef>
                          <a:spcPts val="5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soon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98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 marR="288925" indent="-56515">
                        <a:lnSpc>
                          <a:spcPts val="1380"/>
                        </a:lnSpc>
                        <a:spcBef>
                          <a:spcPts val="5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sooner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98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2135" marR="174625" indent="-69850">
                        <a:lnSpc>
                          <a:spcPts val="1380"/>
                        </a:lnSpc>
                        <a:spcBef>
                          <a:spcPts val="5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soonest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98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2317495"/>
            <a:ext cx="5504180" cy="55753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b="1">
                <a:latin typeface="Times New Roman"/>
                <a:cs typeface="Times New Roman"/>
              </a:rPr>
              <a:t>2.By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placing</a:t>
            </a:r>
            <a:r>
              <a:rPr dirty="0" sz="1200" spc="-5" b="1">
                <a:latin typeface="Times New Roman"/>
                <a:cs typeface="Times New Roman"/>
              </a:rPr>
              <a:t> the words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more</a:t>
            </a:r>
            <a:r>
              <a:rPr dirty="0" sz="1200" spc="-5" b="1">
                <a:latin typeface="Times New Roman"/>
                <a:cs typeface="Times New Roman"/>
              </a:rPr>
              <a:t> and </a:t>
            </a:r>
            <a:r>
              <a:rPr dirty="0" sz="1200" b="1">
                <a:latin typeface="Times New Roman"/>
                <a:cs typeface="Times New Roman"/>
              </a:rPr>
              <a:t>most </a:t>
            </a:r>
            <a:r>
              <a:rPr dirty="0" sz="1200" spc="-5" b="1">
                <a:latin typeface="Times New Roman"/>
                <a:cs typeface="Times New Roman"/>
              </a:rPr>
              <a:t>in </a:t>
            </a:r>
            <a:r>
              <a:rPr dirty="0" sz="1200" b="1">
                <a:latin typeface="Times New Roman"/>
                <a:cs typeface="Times New Roman"/>
              </a:rPr>
              <a:t>front of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b="1">
                <a:latin typeface="Times New Roman"/>
                <a:cs typeface="Times New Roman"/>
              </a:rPr>
              <a:t> three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 more </a:t>
            </a:r>
            <a:r>
              <a:rPr dirty="0" sz="1200" spc="-5" b="1">
                <a:latin typeface="Times New Roman"/>
                <a:cs typeface="Times New Roman"/>
              </a:rPr>
              <a:t>syllables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algn="ctr" marL="224154">
              <a:lnSpc>
                <a:spcPts val="1330"/>
              </a:lnSpc>
              <a:tabLst>
                <a:tab pos="1476375" algn="l"/>
                <a:tab pos="2844800" algn="l"/>
              </a:tabLst>
            </a:pPr>
            <a:r>
              <a:rPr dirty="0" sz="1200" spc="-5">
                <a:latin typeface="Times New Roman"/>
                <a:cs typeface="Times New Roman"/>
              </a:rPr>
              <a:t>ABSOLUTE	COMPARATIVE	SUPERLATIVE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023937" y="2990659"/>
          <a:ext cx="4815205" cy="22129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0100"/>
                <a:gridCol w="1371600"/>
                <a:gridCol w="1371600"/>
                <a:gridCol w="1257300"/>
              </a:tblGrid>
              <a:tr h="1326641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Adjectives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interesting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5720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convenient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beautiful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865" marR="123189" indent="635">
                        <a:lnSpc>
                          <a:spcPts val="1380"/>
                        </a:lnSpc>
                        <a:spcBef>
                          <a:spcPts val="3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more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interesting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more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convenient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70865" marR="250825" indent="63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more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beautiful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6355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419" marR="492125" indent="55244">
                        <a:lnSpc>
                          <a:spcPts val="1380"/>
                        </a:lnSpc>
                        <a:spcBef>
                          <a:spcPts val="3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most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interesting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convenient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83820" marR="623570" indent="-6985">
                        <a:lnSpc>
                          <a:spcPts val="13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beautiful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6355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876300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Adverbs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9220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7200" marR="364490" indent="-635">
                        <a:lnSpc>
                          <a:spcPts val="1380"/>
                        </a:lnSpc>
                        <a:spcBef>
                          <a:spcPts val="9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easily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carefully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1920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00" marR="85090">
                        <a:lnSpc>
                          <a:spcPts val="1380"/>
                        </a:lnSpc>
                        <a:spcBef>
                          <a:spcPts val="9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more easily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more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carefully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1920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3855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easily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343535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carefully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9220">
                    <a:lnL w="952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016000" y="5295391"/>
            <a:ext cx="5629910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two syllables may </a:t>
            </a:r>
            <a:r>
              <a:rPr dirty="0" sz="1200">
                <a:latin typeface="Times New Roman"/>
                <a:cs typeface="Times New Roman"/>
              </a:rPr>
              <a:t>be like 1 or 2 </a:t>
            </a:r>
            <a:r>
              <a:rPr dirty="0" sz="1200" spc="-5">
                <a:latin typeface="Times New Roman"/>
                <a:cs typeface="Times New Roman"/>
              </a:rPr>
              <a:t>above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that they will </a:t>
            </a:r>
            <a:r>
              <a:rPr dirty="0" sz="1200">
                <a:latin typeface="Times New Roman"/>
                <a:cs typeface="Times New Roman"/>
              </a:rPr>
              <a:t>add the ending </a:t>
            </a:r>
            <a:r>
              <a:rPr dirty="0" sz="1200" spc="-5">
                <a:latin typeface="Times New Roman"/>
                <a:cs typeface="Times New Roman"/>
              </a:rPr>
              <a:t>-er </a:t>
            </a:r>
            <a:r>
              <a:rPr dirty="0" sz="1200">
                <a:latin typeface="Times New Roman"/>
                <a:cs typeface="Times New Roman"/>
              </a:rPr>
              <a:t>and 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or-ly,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-ow,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-le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-er.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front of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k1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774700">
              <a:lnSpc>
                <a:spcPct val="100000"/>
              </a:lnSpc>
              <a:tabLst>
                <a:tab pos="1841500" algn="l"/>
                <a:tab pos="3132455" algn="l"/>
              </a:tabLst>
            </a:pPr>
            <a:r>
              <a:rPr dirty="0" sz="1200" spc="-5">
                <a:latin typeface="Times New Roman"/>
                <a:cs typeface="Times New Roman"/>
              </a:rPr>
              <a:t>ABSOLUTE	COMPARATIVE	</a:t>
            </a:r>
            <a:r>
              <a:rPr dirty="0" sz="1200" spc="-10">
                <a:latin typeface="Times New Roman"/>
                <a:cs typeface="Times New Roman"/>
              </a:rPr>
              <a:t>SUPERLATIVE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252537" y="6477571"/>
          <a:ext cx="3900804" cy="22840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1500"/>
                <a:gridCol w="685800"/>
                <a:gridCol w="1143000"/>
                <a:gridCol w="1485900"/>
              </a:tblGrid>
              <a:tr h="504077"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2069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4300" marR="191135" indent="-635">
                        <a:lnSpc>
                          <a:spcPts val="1380"/>
                        </a:lnSpc>
                        <a:spcBef>
                          <a:spcPts val="509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happy  funny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4769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80365" marR="297815" indent="-635">
                        <a:lnSpc>
                          <a:spcPts val="1380"/>
                        </a:lnSpc>
                        <a:spcBef>
                          <a:spcPts val="509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happier  funnier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4769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70230" marR="399415" indent="-635">
                        <a:lnSpc>
                          <a:spcPts val="1380"/>
                        </a:lnSpc>
                        <a:spcBef>
                          <a:spcPts val="509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happiest  funniest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4769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525780"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4300" marR="81280" indent="-635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early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friendly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9565" marR="238125" indent="49530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earlier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friendlier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70865" marR="288925" indent="-635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earliest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friendliest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25780"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4300" marR="88900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shallow 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narrow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42265" marR="199390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shallower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narrower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70865" marR="263525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shallowe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 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narrowest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718932"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 marR="175260" indent="-635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able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gentle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clever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 marR="300990" indent="38100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abler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gentler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cleve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6420" marR="370205" indent="4445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ablest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gentlest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cleverest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1016000" y="8975852"/>
            <a:ext cx="313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N.B.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168" y="8975852"/>
            <a:ext cx="33388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Two-syllable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adverbs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944710"/>
          <a:ext cx="3141980" cy="1045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31850"/>
                <a:gridCol w="1203960"/>
                <a:gridCol w="1105535"/>
              </a:tblGrid>
              <a:tr h="171253">
                <a:tc>
                  <a:txBody>
                    <a:bodyPr/>
                    <a:lstStyle/>
                    <a:p>
                      <a:pPr marL="31750">
                        <a:lnSpc>
                          <a:spcPts val="125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Examples: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4498">
                <a:tc>
                  <a:txBody>
                    <a:bodyPr/>
                    <a:lstStyle/>
                    <a:p>
                      <a:pPr marL="3175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quickly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quickly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130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quickly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slowly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slowly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13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slowly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524059">
                <a:tc>
                  <a:txBody>
                    <a:bodyPr/>
                    <a:lstStyle/>
                    <a:p>
                      <a:pPr marL="3175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badly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60"/>
                        </a:lnSpc>
                        <a:spcBef>
                          <a:spcPts val="5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Examples: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badly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badly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023937" y="2099119"/>
          <a:ext cx="5670549" cy="1426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1371600"/>
                <a:gridCol w="1769745"/>
                <a:gridCol w="1600200"/>
              </a:tblGrid>
              <a:tr h="3154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720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ABSOLUTE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143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5"/>
                        </a:spcBef>
                        <a:tabLst>
                          <a:tab pos="1372235" algn="l"/>
                        </a:tabLst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COMPA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SUPER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143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LATIVE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143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53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3500" marR="285115">
                        <a:lnSpc>
                          <a:spcPct val="95800"/>
                        </a:lnSpc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Re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ining  d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scriptive 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two-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syllable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6565" marR="467359" indent="-75565">
                        <a:lnSpc>
                          <a:spcPct val="95700"/>
                        </a:lnSpc>
                        <a:spcBef>
                          <a:spcPts val="275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careful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careless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boring </a:t>
                      </a:r>
                      <a:r>
                        <a:rPr dirty="0" sz="10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awful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co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plex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49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57860" indent="457200">
                        <a:lnSpc>
                          <a:spcPts val="1150"/>
                        </a:lnSpc>
                        <a:spcBef>
                          <a:spcPts val="300"/>
                        </a:spcBef>
                      </a:pP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ore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care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ul 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careless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57200" marR="48895">
                        <a:lnSpc>
                          <a:spcPts val="1095"/>
                        </a:lnSpc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0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boring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270" marR="721995" indent="455295">
                        <a:lnSpc>
                          <a:spcPts val="1150"/>
                        </a:lnSpc>
                        <a:spcBef>
                          <a:spcPts val="60"/>
                        </a:spcBef>
                      </a:pP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ore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aw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ul 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complex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 marR="387350" indent="457834">
                        <a:lnSpc>
                          <a:spcPts val="1150"/>
                        </a:lnSpc>
                        <a:spcBef>
                          <a:spcPts val="300"/>
                        </a:spcBef>
                      </a:pP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careful 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careless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72135">
                        <a:lnSpc>
                          <a:spcPts val="1095"/>
                        </a:lnSpc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0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boring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15570" marR="451484" indent="455930">
                        <a:lnSpc>
                          <a:spcPts val="1150"/>
                        </a:lnSpc>
                        <a:spcBef>
                          <a:spcPts val="60"/>
                        </a:spcBef>
                      </a:pP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awful 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complex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marL="76200">
                        <a:lnSpc>
                          <a:spcPts val="6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words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1016000" y="3515359"/>
            <a:ext cx="4867910" cy="544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4. Some </a:t>
            </a:r>
            <a:r>
              <a:rPr dirty="0" sz="1200" spc="-5" b="1">
                <a:latin typeface="Times New Roman"/>
                <a:cs typeface="Times New Roman"/>
              </a:rPr>
              <a:t>common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two-syllable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adjectives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 </a:t>
            </a:r>
            <a:r>
              <a:rPr dirty="0" sz="1200" b="1">
                <a:latin typeface="Times New Roman"/>
                <a:cs typeface="Times New Roman"/>
              </a:rPr>
              <a:t>have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either type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 spc="-5" b="1">
                <a:latin typeface="Arial"/>
                <a:cs typeface="Arial"/>
              </a:rPr>
              <a:t>Example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252537" y="4054411"/>
          <a:ext cx="4258308" cy="2524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8245"/>
                <a:gridCol w="1618615"/>
                <a:gridCol w="1426845"/>
              </a:tblGrid>
              <a:tr h="342900"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66700" marR="4889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Absolute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0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ct val="100000"/>
                        </a:lnSpc>
                        <a:tabLst>
                          <a:tab pos="1196340" algn="l"/>
                        </a:tabLst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Comparative	Su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0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1430" marR="48895">
                        <a:lnSpc>
                          <a:spcPct val="10000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perlative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0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86917">
                <a:tc>
                  <a:txBody>
                    <a:bodyPr/>
                    <a:lstStyle/>
                    <a:p>
                      <a:pPr marL="228600" marR="48895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common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4139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7200" marR="416559" indent="-12700">
                        <a:lnSpc>
                          <a:spcPts val="1150"/>
                        </a:lnSpc>
                        <a:spcBef>
                          <a:spcPts val="900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commoner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ore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co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143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8600" marR="128905" indent="476250">
                        <a:lnSpc>
                          <a:spcPts val="1150"/>
                        </a:lnSpc>
                        <a:spcBef>
                          <a:spcPts val="900"/>
                        </a:spcBef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onest 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common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143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25958">
                <a:tc>
                  <a:txBody>
                    <a:bodyPr/>
                    <a:lstStyle/>
                    <a:p>
                      <a:pPr marL="228600" marR="48895">
                        <a:lnSpc>
                          <a:spcPct val="100000"/>
                        </a:lnSpc>
                        <a:spcBef>
                          <a:spcPts val="439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handsome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5879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6565" marR="345440">
                        <a:lnSpc>
                          <a:spcPts val="1150"/>
                        </a:lnSpc>
                        <a:spcBef>
                          <a:spcPts val="520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handsomer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0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handsome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604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785" marR="440055" indent="43180">
                        <a:lnSpc>
                          <a:spcPts val="1150"/>
                        </a:lnSpc>
                        <a:spcBef>
                          <a:spcPts val="520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handsomest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0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handsome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604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38912">
                <a:tc>
                  <a:txBody>
                    <a:bodyPr/>
                    <a:lstStyle/>
                    <a:p>
                      <a:pPr marL="228600" marR="4889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polite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794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6565" marR="571500">
                        <a:lnSpc>
                          <a:spcPts val="1150"/>
                        </a:lnSpc>
                        <a:spcBef>
                          <a:spcPts val="615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politer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po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lite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8600" marR="621665">
                        <a:lnSpc>
                          <a:spcPts val="1150"/>
                        </a:lnSpc>
                        <a:spcBef>
                          <a:spcPts val="615"/>
                        </a:spcBef>
                      </a:pPr>
                      <a:r>
                        <a:rPr dirty="0" sz="1000" spc="-5">
                          <a:latin typeface="Times New Roman"/>
                          <a:cs typeface="Times New Roman"/>
                        </a:rPr>
                        <a:t>politest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po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lite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86739">
                <a:tc>
                  <a:txBody>
                    <a:bodyPr/>
                    <a:lstStyle/>
                    <a:p>
                      <a:pPr marL="228600" marR="48895">
                        <a:lnSpc>
                          <a:spcPct val="100000"/>
                        </a:lnSpc>
                        <a:spcBef>
                          <a:spcPts val="74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quiet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398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7200" marR="497205" indent="-635">
                        <a:lnSpc>
                          <a:spcPts val="1380"/>
                        </a:lnSpc>
                        <a:spcBef>
                          <a:spcPts val="84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quieter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more quiet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668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8600" marR="550545" indent="-635">
                        <a:lnSpc>
                          <a:spcPts val="1380"/>
                        </a:lnSpc>
                        <a:spcBef>
                          <a:spcPts val="84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quietest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most quiet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668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317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ere</a:t>
                      </a:r>
                      <a:r>
                        <a:rPr dirty="0" sz="1200" spc="3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3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3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small</a:t>
                      </a:r>
                      <a:r>
                        <a:rPr dirty="0" sz="1200" spc="3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nu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302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mber</a:t>
                      </a:r>
                      <a:r>
                        <a:rPr dirty="0" sz="12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3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adjectives</a:t>
                      </a:r>
                      <a:r>
                        <a:rPr dirty="0" sz="1200" spc="3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302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adverbs</a:t>
                      </a:r>
                      <a:r>
                        <a:rPr dirty="0" sz="1200" spc="3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3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form</a:t>
                      </a:r>
                      <a:r>
                        <a:rPr dirty="0" sz="1200" spc="3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302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016000" y="6361429"/>
            <a:ext cx="5628640" cy="516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  <a:tabLst>
                <a:tab pos="4408170" algn="l"/>
              </a:tabLst>
            </a:pPr>
            <a:r>
              <a:rPr dirty="0" sz="1200">
                <a:latin typeface="Times New Roman"/>
                <a:cs typeface="Times New Roman"/>
              </a:rPr>
              <a:t>Th	e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comparative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90"/>
              </a:lnSpc>
            </a:pPr>
            <a:r>
              <a:rPr dirty="0" sz="1200">
                <a:latin typeface="Times New Roman"/>
                <a:cs typeface="Times New Roman"/>
              </a:rPr>
              <a:t>superlative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 a different </a:t>
            </a:r>
            <a:r>
              <a:rPr dirty="0" sz="1200" spc="-5">
                <a:latin typeface="Times New Roman"/>
                <a:cs typeface="Times New Roman"/>
              </a:rPr>
              <a:t>stem.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irregular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060"/>
              </a:lnSpc>
            </a:pPr>
            <a:r>
              <a:rPr dirty="0" sz="900" spc="-5" b="1">
                <a:latin typeface="Arial"/>
                <a:cs typeface="Arial"/>
              </a:rPr>
              <a:t>Example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023937" y="7016305"/>
          <a:ext cx="4929505" cy="2188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0100"/>
                <a:gridCol w="914400"/>
                <a:gridCol w="1714500"/>
                <a:gridCol w="1485900"/>
              </a:tblGrid>
              <a:tr h="1943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900">
                          <a:latin typeface="Times New Roman"/>
                          <a:cs typeface="Times New Roman"/>
                        </a:rPr>
                        <a:t>Absolute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143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028700" algn="l"/>
                        </a:tabLst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Comparative	Superlative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143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80466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Adjectives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 marR="539115" indent="-635">
                        <a:lnSpc>
                          <a:spcPct val="95900"/>
                        </a:lnSpc>
                        <a:spcBef>
                          <a:spcPts val="675"/>
                        </a:spcBef>
                      </a:pPr>
                      <a:r>
                        <a:rPr dirty="0" sz="900">
                          <a:latin typeface="Times New Roman"/>
                          <a:cs typeface="Times New Roman"/>
                        </a:rPr>
                        <a:t>bad </a:t>
                      </a:r>
                      <a:r>
                        <a:rPr dirty="0" sz="9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far </a:t>
                      </a:r>
                      <a:r>
                        <a:rPr dirty="0" sz="9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good </a:t>
                      </a:r>
                      <a:r>
                        <a:rPr dirty="0" sz="900" spc="-2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ny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57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865" marR="488315">
                        <a:lnSpc>
                          <a:spcPct val="95800"/>
                        </a:lnSpc>
                        <a:spcBef>
                          <a:spcPts val="675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worse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further/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art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er 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better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7150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more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57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4455" marR="669290" indent="144145">
                        <a:lnSpc>
                          <a:spcPts val="1040"/>
                        </a:lnSpc>
                        <a:spcBef>
                          <a:spcPts val="695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worst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furthest/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arthest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27965">
                        <a:lnSpc>
                          <a:spcPts val="980"/>
                        </a:lnSpc>
                      </a:pPr>
                      <a:r>
                        <a:rPr dirty="0" sz="900">
                          <a:latin typeface="Times New Roman"/>
                          <a:cs typeface="Times New Roman"/>
                        </a:rPr>
                        <a:t>best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28600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most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826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778763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900">
                          <a:latin typeface="Times New Roman"/>
                          <a:cs typeface="Times New Roman"/>
                        </a:rPr>
                        <a:t>Adverbs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 marR="537845">
                        <a:lnSpc>
                          <a:spcPct val="95800"/>
                        </a:lnSpc>
                        <a:spcBef>
                          <a:spcPts val="495"/>
                        </a:spcBef>
                      </a:pPr>
                      <a:r>
                        <a:rPr dirty="0" sz="900">
                          <a:latin typeface="Times New Roman"/>
                          <a:cs typeface="Times New Roman"/>
                        </a:rPr>
                        <a:t>badly 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fair </a:t>
                      </a:r>
                      <a:r>
                        <a:rPr dirty="0" sz="9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little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mu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ch  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well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286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865" marR="488315" indent="635">
                        <a:lnSpc>
                          <a:spcPct val="95800"/>
                        </a:lnSpc>
                        <a:spcBef>
                          <a:spcPts val="495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worse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further/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art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er  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less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71500" marR="874394">
                        <a:lnSpc>
                          <a:spcPts val="1040"/>
                        </a:lnSpc>
                        <a:spcBef>
                          <a:spcPts val="20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more </a:t>
                      </a:r>
                      <a:r>
                        <a:rPr dirty="0" sz="900" spc="-2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bet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er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286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 marR="583565" indent="57785">
                        <a:lnSpc>
                          <a:spcPct val="95800"/>
                        </a:lnSpc>
                        <a:spcBef>
                          <a:spcPts val="495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worst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furt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est/fart</a:t>
                      </a:r>
                      <a:r>
                        <a:rPr dirty="0" sz="900" spc="-10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est  </a:t>
                      </a:r>
                      <a:r>
                        <a:rPr dirty="0" sz="900">
                          <a:latin typeface="Times New Roman"/>
                          <a:cs typeface="Times New Roman"/>
                        </a:rPr>
                        <a:t>least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28600" marR="1028065" indent="-635">
                        <a:lnSpc>
                          <a:spcPts val="1040"/>
                        </a:lnSpc>
                        <a:spcBef>
                          <a:spcPts val="20"/>
                        </a:spcBef>
                      </a:pPr>
                      <a:r>
                        <a:rPr dirty="0" sz="900" spc="-5">
                          <a:latin typeface="Times New Roman"/>
                          <a:cs typeface="Times New Roman"/>
                        </a:rPr>
                        <a:t>most  </a:t>
                      </a:r>
                      <a:r>
                        <a:rPr dirty="0" sz="900" spc="-5">
                          <a:latin typeface="Times New Roman"/>
                          <a:cs typeface="Times New Roman"/>
                        </a:rPr>
                        <a:t>best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286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2501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0891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64465" indent="-152400">
              <a:lnSpc>
                <a:spcPts val="1405"/>
              </a:lnSpc>
              <a:buAutoNum type="arabicPeriod" startAt="2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-10" b="1">
                <a:latin typeface="Times New Roman"/>
                <a:cs typeface="Times New Roman"/>
              </a:rPr>
              <a:t> sentences: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reasons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comparisons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discourse. They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show: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equivalence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non-equivalence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superlative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parallel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(a.)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Equivalence: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equivalence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481137" y="2653283"/>
          <a:ext cx="3895725" cy="172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1668145"/>
                <a:gridCol w="854075"/>
              </a:tblGrid>
              <a:tr h="3897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66065">
                        <a:lnSpc>
                          <a:spcPts val="13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as…as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336550">
                        <a:lnSpc>
                          <a:spcPts val="13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similar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394970">
                        <a:lnSpc>
                          <a:spcPts val="13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75259">
                <a:tc>
                  <a:txBody>
                    <a:bodyPr/>
                    <a:lstStyle/>
                    <a:p>
                      <a:pPr marL="2286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many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equal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49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either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5259">
                <a:tc>
                  <a:txBody>
                    <a:bodyPr/>
                    <a:lstStyle/>
                    <a:p>
                      <a:pPr marL="2286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much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9337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5259">
                <a:tc>
                  <a:txBody>
                    <a:bodyPr/>
                    <a:lstStyle/>
                    <a:p>
                      <a:pPr marL="2286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same…as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895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similar/ly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49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both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5260">
                <a:tc>
                  <a:txBody>
                    <a:bodyPr/>
                    <a:lstStyle/>
                    <a:p>
                      <a:pPr marL="22796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Similar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equal/ly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497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623682">
                <a:tc>
                  <a:txBody>
                    <a:bodyPr/>
                    <a:lstStyle/>
                    <a:p>
                      <a:pPr marL="22860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same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749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compare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to/with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93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4420615"/>
            <a:ext cx="5626735" cy="3011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94310" algn="l"/>
              </a:tabLst>
            </a:pPr>
            <a:r>
              <a:rPr dirty="0" sz="1200">
                <a:latin typeface="Times New Roman"/>
                <a:cs typeface="Times New Roman"/>
              </a:rPr>
              <a:t>Third-generation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2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many</a:t>
            </a:r>
            <a:r>
              <a:rPr dirty="0" sz="1200" spc="2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calculations</a:t>
            </a:r>
            <a:r>
              <a:rPr dirty="0" sz="1200" spc="2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generation</a:t>
            </a:r>
            <a:r>
              <a:rPr dirty="0" sz="1200" spc="-5">
                <a:latin typeface="Times New Roman"/>
                <a:cs typeface="Times New Roman"/>
              </a:rPr>
              <a:t> computers.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Microcomputers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 </a:t>
            </a:r>
            <a:r>
              <a:rPr dirty="0" sz="1200" b="1">
                <a:latin typeface="Times New Roman"/>
                <a:cs typeface="Times New Roman"/>
              </a:rPr>
              <a:t>efficient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same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central</a:t>
            </a:r>
            <a:r>
              <a:rPr dirty="0" sz="1200" spc="-5">
                <a:latin typeface="Times New Roman"/>
                <a:cs typeface="Times New Roman"/>
              </a:rPr>
              <a:t> processing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like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register.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9070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analog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speedometer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similar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calculations.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much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minicomputer.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Both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32K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bytes.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b="1">
                <a:latin typeface="Times New Roman"/>
                <a:cs typeface="Times New Roman"/>
              </a:rPr>
              <a:t> compared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a </a:t>
            </a:r>
            <a:r>
              <a:rPr dirty="0" sz="1200" spc="-5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cash </a:t>
            </a:r>
            <a:r>
              <a:rPr dirty="0" sz="1200" spc="-5">
                <a:latin typeface="Times New Roman"/>
                <a:cs typeface="Times New Roman"/>
              </a:rPr>
              <a:t>register.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same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characteristics.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410"/>
              </a:lnSpc>
              <a:buAutoNum type="arabicPeriod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r>
              <a:rPr dirty="0" sz="1200">
                <a:latin typeface="Times New Roman"/>
                <a:cs typeface="Times New Roman"/>
              </a:rPr>
              <a:t> it takes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solve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problem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equal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months </a:t>
            </a:r>
            <a:r>
              <a:rPr dirty="0" sz="1200">
                <a:latin typeface="Times New Roman"/>
                <a:cs typeface="Times New Roman"/>
              </a:rPr>
              <a:t>of work for </a:t>
            </a:r>
            <a:r>
              <a:rPr dirty="0" sz="1200" spc="-5">
                <a:latin typeface="Times New Roman"/>
                <a:cs typeface="Times New Roman"/>
              </a:rPr>
              <a:t>man.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(b.)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Non-equivalence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and/or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constructions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non-equivalence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same).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366837" y="7450835"/>
          <a:ext cx="4010025" cy="1152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47775"/>
                <a:gridCol w="1491614"/>
                <a:gridCol w="1262380"/>
              </a:tblGrid>
              <a:tr h="324245">
                <a:tc>
                  <a:txBody>
                    <a:bodyPr/>
                    <a:lstStyle/>
                    <a:p>
                      <a:pPr marL="114300">
                        <a:lnSpc>
                          <a:spcPts val="1385"/>
                        </a:lnSpc>
                        <a:spcBef>
                          <a:spcPts val="10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35255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38125">
                        <a:lnSpc>
                          <a:spcPts val="1385"/>
                        </a:lnSpc>
                        <a:spcBef>
                          <a:spcPts val="10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greater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35255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385"/>
                        </a:lnSpc>
                        <a:spcBef>
                          <a:spcPts val="106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unequal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35255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75260">
                <a:tc>
                  <a:txBody>
                    <a:bodyPr/>
                    <a:lstStyle/>
                    <a:p>
                      <a:pPr marL="1143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word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3812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much…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unlike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5260">
                <a:tc>
                  <a:txBody>
                    <a:bodyPr/>
                    <a:lstStyle/>
                    <a:p>
                      <a:pPr marL="1143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more…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387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neither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…nor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same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5260">
                <a:tc>
                  <a:txBody>
                    <a:bodyPr/>
                    <a:lstStyle/>
                    <a:p>
                      <a:pPr marL="1143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fewer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387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many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92974">
                <a:tc>
                  <a:txBody>
                    <a:bodyPr/>
                    <a:lstStyle/>
                    <a:p>
                      <a:pPr marL="11430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less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812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equal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016000" y="8977376"/>
            <a:ext cx="660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5100" indent="-153035">
              <a:lnSpc>
                <a:spcPts val="1410"/>
              </a:lnSpc>
              <a:spcBef>
                <a:spcPts val="107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Learning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language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difficult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seems.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mainframe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bigger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expensive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5" b="1">
                <a:latin typeface="Times New Roman"/>
                <a:cs typeface="Times New Roman"/>
              </a:rPr>
              <a:t>less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$10,000,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ago,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fewer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Neither </a:t>
            </a:r>
            <a:r>
              <a:rPr dirty="0" sz="1200" spc="-5">
                <a:latin typeface="Times New Roman"/>
                <a:cs typeface="Times New Roman"/>
              </a:rPr>
              <a:t>minicomputers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flexible.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Unlike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flexible.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analog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same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digital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computerized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accounting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departments.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(c.)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superlative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and/or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constructions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item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compared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superlative).</a:t>
            </a:r>
            <a:endParaRPr sz="1200">
              <a:latin typeface="Times New Roman"/>
              <a:cs typeface="Times New Roman"/>
            </a:endParaRPr>
          </a:p>
          <a:p>
            <a:pPr marL="88265" marR="4799965" indent="-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word + </a:t>
            </a:r>
            <a:r>
              <a:rPr dirty="0" sz="1200" spc="-5">
                <a:latin typeface="Times New Roman"/>
                <a:cs typeface="Times New Roman"/>
              </a:rPr>
              <a:t>est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fastest </a:t>
            </a:r>
            <a:r>
              <a:rPr dirty="0" sz="1200">
                <a:latin typeface="Times New Roman"/>
                <a:cs typeface="Times New Roman"/>
              </a:rPr>
              <a:t>growing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 today.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02565" algn="l"/>
              </a:tabLst>
            </a:pPr>
            <a:r>
              <a:rPr dirty="0" sz="1200">
                <a:latin typeface="Times New Roman"/>
                <a:cs typeface="Times New Roman"/>
              </a:rPr>
              <a:t>Digital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programming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most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commonly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business.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4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BASIC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probably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least</a:t>
            </a:r>
            <a:r>
              <a:rPr dirty="0" sz="1200" spc="-5" b="1">
                <a:latin typeface="Times New Roman"/>
                <a:cs typeface="Times New Roman"/>
              </a:rPr>
              <a:t> difficult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(d.)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Parallel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increase: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and/or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parallel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comparatives)</a:t>
            </a:r>
            <a:endParaRPr sz="1200">
              <a:latin typeface="Times New Roman"/>
              <a:cs typeface="Times New Roman"/>
            </a:endParaRPr>
          </a:p>
          <a:p>
            <a:pPr marL="12700" marR="3757929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(word + er),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more </a:t>
            </a:r>
            <a:r>
              <a:rPr dirty="0" sz="1200">
                <a:latin typeface="Times New Roman"/>
                <a:cs typeface="Times New Roman"/>
              </a:rPr>
              <a:t>+ word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(word+er),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bigger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computer,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more </a:t>
            </a:r>
            <a:r>
              <a:rPr dirty="0" sz="1200" b="1">
                <a:latin typeface="Times New Roman"/>
                <a:cs typeface="Times New Roman"/>
              </a:rPr>
              <a:t>complex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 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endParaRPr sz="1200">
              <a:latin typeface="Times New Roman"/>
              <a:cs typeface="Times New Roman"/>
            </a:endParaRPr>
          </a:p>
          <a:p>
            <a:pPr marL="12700" marR="75882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The smaller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problem,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less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challenging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equivalence,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non-equivalence,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superlative,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 the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expressing the </a:t>
            </a:r>
            <a:r>
              <a:rPr dirty="0" sz="1200" spc="-5">
                <a:latin typeface="Times New Roman"/>
                <a:cs typeface="Times New Roman"/>
              </a:rPr>
              <a:t>comparison.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…………….1.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performing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comparable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…………….2.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sophisticated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do.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i="1">
                <a:latin typeface="Times New Roman"/>
                <a:cs typeface="Times New Roman"/>
              </a:rPr>
              <a:t>……..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.3.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becoming </a:t>
            </a:r>
            <a:r>
              <a:rPr dirty="0" sz="1200">
                <a:latin typeface="Times New Roman"/>
                <a:cs typeface="Times New Roman"/>
              </a:rPr>
              <a:t>bored, tired or even careless.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…………….4.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example,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 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a skilled </a:t>
            </a:r>
            <a:r>
              <a:rPr dirty="0" sz="1200" spc="-5">
                <a:latin typeface="Times New Roman"/>
                <a:cs typeface="Times New Roman"/>
              </a:rPr>
              <a:t>mathematician.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100</a:t>
            </a:fld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66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……………….5.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important </a:t>
            </a:r>
            <a:r>
              <a:rPr dirty="0" sz="1200" spc="-5">
                <a:latin typeface="Times New Roman"/>
                <a:cs typeface="Times New Roman"/>
              </a:rPr>
              <a:t>reasons </a:t>
            </a:r>
            <a:r>
              <a:rPr dirty="0" sz="1200">
                <a:latin typeface="Times New Roman"/>
                <a:cs typeface="Times New Roman"/>
              </a:rPr>
              <a:t>why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used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widely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every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solving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…………….6.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computer,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being,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intuition.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Answer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equivalence,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non-equivalence,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superlative,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 the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expressing the </a:t>
            </a:r>
            <a:r>
              <a:rPr dirty="0" sz="1200" spc="-5">
                <a:latin typeface="Times New Roman"/>
                <a:cs typeface="Times New Roman"/>
              </a:rPr>
              <a:t>comparison.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 b="1" i="1">
                <a:latin typeface="Times New Roman"/>
                <a:cs typeface="Times New Roman"/>
              </a:rPr>
              <a:t>…equivalence</a:t>
            </a:r>
            <a:r>
              <a:rPr dirty="0" sz="1200" spc="229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performing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comparable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operations.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 b="1" i="1">
                <a:latin typeface="Times New Roman"/>
                <a:cs typeface="Times New Roman"/>
              </a:rPr>
              <a:t>…superlative</a:t>
            </a:r>
            <a:r>
              <a:rPr dirty="0" sz="1200" spc="8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sophisticated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do.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65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b="1" i="1">
                <a:latin typeface="Times New Roman"/>
                <a:cs typeface="Times New Roman"/>
              </a:rPr>
              <a:t>…</a:t>
            </a:r>
            <a:r>
              <a:rPr dirty="0" sz="1200" spc="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equivalence</a:t>
            </a:r>
            <a:r>
              <a:rPr dirty="0" sz="1200" spc="2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becoming </a:t>
            </a:r>
            <a:r>
              <a:rPr dirty="0" sz="1200">
                <a:latin typeface="Times New Roman"/>
                <a:cs typeface="Times New Roman"/>
              </a:rPr>
              <a:t>bored, tired or even careless.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non</a:t>
            </a:r>
            <a:r>
              <a:rPr dirty="0" sz="1200" spc="-5" b="1" i="1">
                <a:latin typeface="Times New Roman"/>
                <a:cs typeface="Times New Roman"/>
              </a:rPr>
              <a:t>equivalence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certain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skilled </a:t>
            </a:r>
            <a:r>
              <a:rPr dirty="0" sz="1200" spc="-5">
                <a:latin typeface="Times New Roman"/>
                <a:cs typeface="Times New Roman"/>
              </a:rPr>
              <a:t>mathematician.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 i="1">
                <a:latin typeface="Times New Roman"/>
                <a:cs typeface="Times New Roman"/>
              </a:rPr>
              <a:t>superlative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5.One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reasons</a:t>
            </a:r>
            <a:r>
              <a:rPr dirty="0" sz="1200">
                <a:latin typeface="Times New Roman"/>
                <a:cs typeface="Times New Roman"/>
              </a:rPr>
              <a:t> why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used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widely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every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solving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non-</a:t>
            </a:r>
            <a:r>
              <a:rPr dirty="0" sz="1200" spc="-5" b="1" i="1">
                <a:latin typeface="Times New Roman"/>
                <a:cs typeface="Times New Roman"/>
              </a:rPr>
              <a:t>equivalence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human</a:t>
            </a:r>
            <a:r>
              <a:rPr dirty="0" sz="1200">
                <a:latin typeface="Times New Roman"/>
                <a:cs typeface="Times New Roman"/>
              </a:rPr>
              <a:t> being,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no intuition.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 marR="26860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‘Microcomputers’,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sentence or that part of the sentence from each paragraph that </a:t>
            </a:r>
            <a:r>
              <a:rPr dirty="0" sz="1200" spc="-5">
                <a:latin typeface="Times New Roman"/>
                <a:cs typeface="Times New Roman"/>
              </a:rPr>
              <a:t>expresses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comparison. </a:t>
            </a:r>
            <a:r>
              <a:rPr dirty="0" sz="1200">
                <a:latin typeface="Times New Roman"/>
                <a:cs typeface="Times New Roman"/>
              </a:rPr>
              <a:t> This text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evolved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 and </a:t>
            </a:r>
            <a:r>
              <a:rPr dirty="0" sz="1200">
                <a:latin typeface="Times New Roman"/>
                <a:cs typeface="Times New Roman"/>
              </a:rPr>
              <a:t>efficient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today.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1- The early 1970s saw the birth of the microcomputer,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micro </a:t>
            </a:r>
            <a:r>
              <a:rPr dirty="0" sz="1200">
                <a:latin typeface="Times New Roman"/>
                <a:cs typeface="Times New Roman"/>
              </a:rPr>
              <a:t>for short. The central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 of the </a:t>
            </a:r>
            <a:r>
              <a:rPr dirty="0" sz="1200" spc="-5">
                <a:latin typeface="Times New Roman"/>
                <a:cs typeface="Times New Roman"/>
              </a:rPr>
              <a:t>micro, </a:t>
            </a:r>
            <a:r>
              <a:rPr dirty="0" sz="1200">
                <a:latin typeface="Times New Roman"/>
                <a:cs typeface="Times New Roman"/>
              </a:rPr>
              <a:t>called </a:t>
            </a:r>
            <a:r>
              <a:rPr dirty="0" sz="1200" spc="-5">
                <a:latin typeface="Times New Roman"/>
                <a:cs typeface="Times New Roman"/>
              </a:rPr>
              <a:t>the microprocessor, is </a:t>
            </a:r>
            <a:r>
              <a:rPr dirty="0" sz="1200">
                <a:latin typeface="Times New Roman"/>
                <a:cs typeface="Times New Roman"/>
              </a:rPr>
              <a:t>built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single </a:t>
            </a:r>
            <a:r>
              <a:rPr dirty="0" sz="1200" spc="-5">
                <a:latin typeface="Times New Roman"/>
                <a:cs typeface="Times New Roman"/>
              </a:rPr>
              <a:t>semiconductor </a:t>
            </a:r>
            <a:r>
              <a:rPr dirty="0" sz="1200">
                <a:latin typeface="Times New Roman"/>
                <a:cs typeface="Times New Roman"/>
              </a:rPr>
              <a:t>device;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the thousands of </a:t>
            </a:r>
            <a:r>
              <a:rPr dirty="0" sz="1200" spc="-5">
                <a:latin typeface="Times New Roman"/>
                <a:cs typeface="Times New Roman"/>
              </a:rPr>
              <a:t>individual </a:t>
            </a:r>
            <a:r>
              <a:rPr dirty="0" sz="1200">
                <a:latin typeface="Times New Roman"/>
                <a:cs typeface="Times New Roman"/>
              </a:rPr>
              <a:t>circuit </a:t>
            </a:r>
            <a:r>
              <a:rPr dirty="0" sz="1200" spc="-5">
                <a:latin typeface="Times New Roman"/>
                <a:cs typeface="Times New Roman"/>
              </a:rPr>
              <a:t>elements </a:t>
            </a:r>
            <a:r>
              <a:rPr dirty="0" sz="1200">
                <a:latin typeface="Times New Roman"/>
                <a:cs typeface="Times New Roman"/>
              </a:rPr>
              <a:t>necessary to perform all the logical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functions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manufactured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chip.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composed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microprocessor,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peripheral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equipment.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processor, memory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electronic </a:t>
            </a:r>
            <a:r>
              <a:rPr dirty="0" sz="1200">
                <a:latin typeface="Times New Roman"/>
                <a:cs typeface="Times New Roman"/>
              </a:rPr>
              <a:t>controls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peripheral equipment </a:t>
            </a:r>
            <a:r>
              <a:rPr dirty="0" sz="1200">
                <a:latin typeface="Times New Roman"/>
                <a:cs typeface="Times New Roman"/>
              </a:rPr>
              <a:t>are usually put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 on a single or on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printed </a:t>
            </a:r>
            <a:r>
              <a:rPr dirty="0" sz="1200" spc="-5">
                <a:latin typeface="Times New Roman"/>
                <a:cs typeface="Times New Roman"/>
              </a:rPr>
              <a:t>circuit boards. </a:t>
            </a:r>
            <a:r>
              <a:rPr dirty="0" sz="1200" spc="-10">
                <a:latin typeface="Times New Roman"/>
                <a:cs typeface="Times New Roman"/>
              </a:rPr>
              <a:t>Systems </a:t>
            </a:r>
            <a:r>
              <a:rPr dirty="0" sz="1200" spc="-5">
                <a:latin typeface="Times New Roman"/>
                <a:cs typeface="Times New Roman"/>
              </a:rPr>
              <a:t>using microprocessors can </a:t>
            </a:r>
            <a:r>
              <a:rPr dirty="0" sz="1200">
                <a:latin typeface="Times New Roman"/>
                <a:cs typeface="Times New Roman"/>
              </a:rPr>
              <a:t> be hooked up together to dot the </a:t>
            </a:r>
            <a:r>
              <a:rPr dirty="0" sz="1200" spc="-5">
                <a:latin typeface="Times New Roman"/>
                <a:cs typeface="Times New Roman"/>
              </a:rPr>
              <a:t>work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until </a:t>
            </a:r>
            <a:r>
              <a:rPr dirty="0" sz="1200">
                <a:latin typeface="Times New Roman"/>
                <a:cs typeface="Times New Roman"/>
              </a:rPr>
              <a:t>recently only </a:t>
            </a:r>
            <a:r>
              <a:rPr dirty="0" sz="1200" spc="-5">
                <a:latin typeface="Times New Roman"/>
                <a:cs typeface="Times New Roman"/>
              </a:rPr>
              <a:t>minicomputer systems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capable of doing. </a:t>
            </a:r>
            <a:r>
              <a:rPr dirty="0" sz="1200" spc="-5">
                <a:latin typeface="Times New Roman"/>
                <a:cs typeface="Times New Roman"/>
              </a:rPr>
              <a:t>Micros </a:t>
            </a:r>
            <a:r>
              <a:rPr dirty="0" sz="1200">
                <a:latin typeface="Times New Roman"/>
                <a:cs typeface="Times New Roman"/>
              </a:rPr>
              <a:t>generally have </a:t>
            </a:r>
            <a:r>
              <a:rPr dirty="0" sz="1200" spc="-5">
                <a:latin typeface="Times New Roman"/>
                <a:cs typeface="Times New Roman"/>
              </a:rPr>
              <a:t>somewhat simpler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flexible instruction </a:t>
            </a:r>
            <a:r>
              <a:rPr dirty="0" sz="1200" spc="-5">
                <a:latin typeface="Times New Roman"/>
                <a:cs typeface="Times New Roman"/>
              </a:rPr>
              <a:t>sets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minis,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typically</a:t>
            </a:r>
            <a:r>
              <a:rPr dirty="0" sz="1200" spc="-5">
                <a:latin typeface="Times New Roman"/>
                <a:cs typeface="Times New Roman"/>
              </a:rPr>
              <a:t> much slower.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100</a:t>
            </a:fld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944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micros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available</a:t>
            </a:r>
            <a:r>
              <a:rPr dirty="0" sz="1200">
                <a:latin typeface="Times New Roman"/>
                <a:cs typeface="Times New Roman"/>
              </a:rPr>
              <a:t> 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4-,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8-,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16-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minis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available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bits.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equipped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larger </a:t>
            </a:r>
            <a:r>
              <a:rPr dirty="0" sz="1200" spc="-5">
                <a:latin typeface="Times New Roman"/>
                <a:cs typeface="Times New Roman"/>
              </a:rPr>
              <a:t>primary memory </a:t>
            </a:r>
            <a:r>
              <a:rPr dirty="0" sz="1200">
                <a:latin typeface="Times New Roman"/>
                <a:cs typeface="Times New Roman"/>
              </a:rPr>
              <a:t>sizes, </a:t>
            </a:r>
            <a:r>
              <a:rPr dirty="0" sz="1200" spc="-5">
                <a:latin typeface="Times New Roman"/>
                <a:cs typeface="Times New Roman"/>
              </a:rPr>
              <a:t>micros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becoming more </a:t>
            </a:r>
            <a:r>
              <a:rPr dirty="0" sz="1200">
                <a:latin typeface="Times New Roman"/>
                <a:cs typeface="Times New Roman"/>
              </a:rPr>
              <a:t>powerful and converging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 </a:t>
            </a:r>
            <a:r>
              <a:rPr dirty="0" sz="1200">
                <a:latin typeface="Times New Roman"/>
                <a:cs typeface="Times New Roman"/>
              </a:rPr>
              <a:t>technology.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lain" startAt="2"/>
              <a:tabLst>
                <a:tab pos="18986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extremely low </a:t>
            </a:r>
            <a:r>
              <a:rPr dirty="0" sz="1200">
                <a:latin typeface="Times New Roman"/>
                <a:cs typeface="Times New Roman"/>
              </a:rPr>
              <a:t>price of </a:t>
            </a:r>
            <a:r>
              <a:rPr dirty="0" sz="1200" spc="-5">
                <a:latin typeface="Times New Roman"/>
                <a:cs typeface="Times New Roman"/>
              </a:rPr>
              <a:t>micros has opened up entirely new areas of application for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 </a:t>
            </a:r>
            <a:r>
              <a:rPr dirty="0" sz="1200">
                <a:latin typeface="Times New Roman"/>
                <a:cs typeface="Times New Roman"/>
              </a:rPr>
              <a:t>Only 20 years or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ago, a central processing unit of </a:t>
            </a:r>
            <a:r>
              <a:rPr dirty="0" sz="1200" spc="-5">
                <a:latin typeface="Times New Roman"/>
                <a:cs typeface="Times New Roman"/>
              </a:rPr>
              <a:t>medium </a:t>
            </a:r>
            <a:r>
              <a:rPr dirty="0" sz="1200">
                <a:latin typeface="Times New Roman"/>
                <a:cs typeface="Times New Roman"/>
              </a:rPr>
              <a:t>capability sold 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hundred thousand dollars </a:t>
            </a:r>
            <a:r>
              <a:rPr dirty="0" sz="1200" spc="-5">
                <a:latin typeface="Times New Roman"/>
                <a:cs typeface="Times New Roman"/>
              </a:rPr>
              <a:t>(U.S.), </a:t>
            </a:r>
            <a:r>
              <a:rPr dirty="0" sz="1200">
                <a:latin typeface="Times New Roman"/>
                <a:cs typeface="Times New Roman"/>
              </a:rPr>
              <a:t>and now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microprocessors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sell for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$10.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course, by the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you have a usable </a:t>
            </a:r>
            <a:r>
              <a:rPr dirty="0" sz="1200" spc="-5">
                <a:latin typeface="Times New Roman"/>
                <a:cs typeface="Times New Roman"/>
              </a:rPr>
              <a:t>microcomputer system, the price will 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somewhere </a:t>
            </a:r>
            <a:r>
              <a:rPr dirty="0" sz="1200">
                <a:latin typeface="Times New Roman"/>
                <a:cs typeface="Times New Roman"/>
              </a:rPr>
              <a:t>between $500 and $10,000 depending on the display unit, secondary storage,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peripherals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needed.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buAutoNum type="arabicPlain" startAt="2"/>
              <a:tabLst>
                <a:tab pos="246379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available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range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evolving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rapidly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minicomputers. </a:t>
            </a:r>
            <a:r>
              <a:rPr dirty="0" sz="1200">
                <a:latin typeface="Times New Roman"/>
                <a:cs typeface="Times New Roman"/>
              </a:rPr>
              <a:t>Because of their incredibly </a:t>
            </a:r>
            <a:r>
              <a:rPr dirty="0" sz="1200" spc="-10">
                <a:latin typeface="Times New Roman"/>
                <a:cs typeface="Times New Roman"/>
              </a:rPr>
              <a:t>low </a:t>
            </a:r>
            <a:r>
              <a:rPr dirty="0" sz="1200" spc="-5">
                <a:latin typeface="Times New Roman"/>
                <a:cs typeface="Times New Roman"/>
              </a:rPr>
              <a:t>price,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now </a:t>
            </a:r>
            <a:r>
              <a:rPr dirty="0" sz="1200">
                <a:latin typeface="Times New Roman"/>
                <a:cs typeface="Times New Roman"/>
              </a:rPr>
              <a:t>possible to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only a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fraction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computer’s capability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particular system application and </a:t>
            </a:r>
            <a:r>
              <a:rPr dirty="0" sz="1200">
                <a:latin typeface="Times New Roman"/>
                <a:cs typeface="Times New Roman"/>
              </a:rPr>
              <a:t>still be </a:t>
            </a:r>
            <a:r>
              <a:rPr dirty="0" sz="1200" spc="-5">
                <a:latin typeface="Times New Roman"/>
                <a:cs typeface="Times New Roman"/>
              </a:rPr>
              <a:t>far </a:t>
            </a:r>
            <a:r>
              <a:rPr dirty="0" sz="1200">
                <a:latin typeface="Times New Roman"/>
                <a:cs typeface="Times New Roman"/>
              </a:rPr>
              <a:t>ahead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financially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way </a:t>
            </a:r>
            <a:r>
              <a:rPr dirty="0" sz="1200">
                <a:latin typeface="Times New Roman"/>
                <a:cs typeface="Times New Roman"/>
              </a:rPr>
              <a:t>of getting the job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For example, </a:t>
            </a:r>
            <a:r>
              <a:rPr dirty="0" sz="1200">
                <a:latin typeface="Times New Roman"/>
                <a:cs typeface="Times New Roman"/>
              </a:rPr>
              <a:t>thousands of industrial robots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today, and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number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growing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rapidly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this relatively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industry improves the price and </a:t>
            </a:r>
            <a:r>
              <a:rPr dirty="0" sz="1200" spc="-5">
                <a:latin typeface="Times New Roman"/>
                <a:cs typeface="Times New Roman"/>
              </a:rPr>
              <a:t>performance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 products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latest </a:t>
            </a:r>
            <a:r>
              <a:rPr dirty="0" sz="1200" spc="-5">
                <a:latin typeface="Times New Roman"/>
                <a:cs typeface="Times New Roman"/>
              </a:rPr>
              <a:t>microcomputers.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lain" startAt="4"/>
              <a:tabLst>
                <a:tab pos="196850" algn="l"/>
              </a:tabLst>
            </a:pPr>
            <a:r>
              <a:rPr dirty="0" sz="1200">
                <a:latin typeface="Times New Roman"/>
                <a:cs typeface="Times New Roman"/>
              </a:rPr>
              <a:t>Even though the software available for </a:t>
            </a:r>
            <a:r>
              <a:rPr dirty="0" sz="1200" spc="-5">
                <a:latin typeface="Times New Roman"/>
                <a:cs typeface="Times New Roman"/>
              </a:rPr>
              <a:t>most microcomputer systems is very-limited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than for </a:t>
            </a:r>
            <a:r>
              <a:rPr dirty="0" sz="1200" spc="-5">
                <a:latin typeface="Times New Roman"/>
                <a:cs typeface="Times New Roman"/>
              </a:rPr>
              <a:t>minis- </a:t>
            </a:r>
            <a:r>
              <a:rPr dirty="0" sz="1200">
                <a:latin typeface="Times New Roman"/>
                <a:cs typeface="Times New Roman"/>
              </a:rPr>
              <a:t>it does not </a:t>
            </a:r>
            <a:r>
              <a:rPr dirty="0" sz="1200" spc="-5">
                <a:latin typeface="Times New Roman"/>
                <a:cs typeface="Times New Roman"/>
              </a:rPr>
              <a:t>discourage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many high-volume, </a:t>
            </a:r>
            <a:r>
              <a:rPr dirty="0" sz="1200">
                <a:latin typeface="Times New Roman"/>
                <a:cs typeface="Times New Roman"/>
              </a:rPr>
              <a:t>fixed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applications for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programming is essentially </a:t>
            </a:r>
            <a:r>
              <a:rPr dirty="0" sz="1200">
                <a:latin typeface="Times New Roman"/>
                <a:cs typeface="Times New Roman"/>
              </a:rPr>
              <a:t>a ‘one </a:t>
            </a:r>
            <a:r>
              <a:rPr dirty="0" sz="1200" spc="-5">
                <a:latin typeface="Times New Roman"/>
                <a:cs typeface="Times New Roman"/>
              </a:rPr>
              <a:t>shot </a:t>
            </a:r>
            <a:r>
              <a:rPr dirty="0" sz="1200">
                <a:latin typeface="Times New Roman"/>
                <a:cs typeface="Times New Roman"/>
              </a:rPr>
              <a:t>deal’ </a:t>
            </a:r>
            <a:r>
              <a:rPr dirty="0" sz="1200" spc="-5">
                <a:latin typeface="Times New Roman"/>
                <a:cs typeface="Times New Roman"/>
              </a:rPr>
              <a:t>as is </a:t>
            </a:r>
            <a:r>
              <a:rPr dirty="0" sz="1200">
                <a:latin typeface="Times New Roman"/>
                <a:cs typeface="Times New Roman"/>
              </a:rPr>
              <a:t>the case 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shuttle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addition to </a:t>
            </a:r>
            <a:r>
              <a:rPr dirty="0" sz="1200" spc="-5">
                <a:latin typeface="Times New Roman"/>
                <a:cs typeface="Times New Roman"/>
              </a:rPr>
              <a:t>their extensive use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control systems </a:t>
            </a:r>
            <a:r>
              <a:rPr dirty="0" sz="1200">
                <a:latin typeface="Times New Roman"/>
                <a:cs typeface="Times New Roman"/>
              </a:rPr>
              <a:t>of all </a:t>
            </a:r>
            <a:r>
              <a:rPr dirty="0" sz="1200" spc="-5">
                <a:latin typeface="Times New Roman"/>
                <a:cs typeface="Times New Roman"/>
              </a:rPr>
              <a:t>types, they are destined for many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 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calculators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automobile</a:t>
            </a:r>
            <a:r>
              <a:rPr dirty="0" sz="1200">
                <a:latin typeface="Times New Roman"/>
                <a:cs typeface="Times New Roman"/>
              </a:rPr>
              <a:t> engine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medical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diagnostics.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already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automobile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emission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many TV </a:t>
            </a:r>
            <a:r>
              <a:rPr dirty="0" sz="1200">
                <a:latin typeface="Times New Roman"/>
                <a:cs typeface="Times New Roman"/>
              </a:rPr>
              <a:t>game </a:t>
            </a:r>
            <a:r>
              <a:rPr dirty="0" sz="1200" spc="-5">
                <a:latin typeface="Times New Roman"/>
                <a:cs typeface="Times New Roman"/>
              </a:rPr>
              <a:t>attachments.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a rapidly growing </a:t>
            </a:r>
            <a:r>
              <a:rPr dirty="0" sz="1200" spc="-5">
                <a:latin typeface="Times New Roman"/>
                <a:cs typeface="Times New Roman"/>
              </a:rPr>
              <a:t>market </a:t>
            </a:r>
            <a:r>
              <a:rPr dirty="0" sz="1200">
                <a:latin typeface="Times New Roman"/>
                <a:cs typeface="Times New Roman"/>
              </a:rPr>
              <a:t>for personal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potential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education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 </a:t>
            </a:r>
            <a:r>
              <a:rPr dirty="0" sz="1200" spc="-5">
                <a:latin typeface="Times New Roman"/>
                <a:cs typeface="Times New Roman"/>
              </a:rPr>
              <a:t>beginning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exploited.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lain" startAt="5"/>
              <a:tabLst>
                <a:tab pos="198120" algn="l"/>
              </a:tabLst>
            </a:pPr>
            <a:r>
              <a:rPr dirty="0" sz="1200">
                <a:latin typeface="Times New Roman"/>
                <a:cs typeface="Times New Roman"/>
              </a:rPr>
              <a:t>It would seem that </a:t>
            </a:r>
            <a:r>
              <a:rPr dirty="0" sz="1200" spc="-5">
                <a:latin typeface="Times New Roman"/>
                <a:cs typeface="Times New Roman"/>
              </a:rPr>
              <a:t>the limits for microcomputer </a:t>
            </a:r>
            <a:r>
              <a:rPr dirty="0" sz="1200">
                <a:latin typeface="Times New Roman"/>
                <a:cs typeface="Times New Roman"/>
              </a:rPr>
              <a:t>applications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by no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been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reached.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>
                <a:latin typeface="Times New Roman"/>
                <a:cs typeface="Times New Roman"/>
              </a:rPr>
              <a:t>are those who predict that the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and hobby </a:t>
            </a:r>
            <a:r>
              <a:rPr dirty="0" sz="1200" spc="-5">
                <a:latin typeface="Times New Roman"/>
                <a:cs typeface="Times New Roman"/>
              </a:rPr>
              <a:t>computer markets will </a:t>
            </a:r>
            <a:r>
              <a:rPr dirty="0" sz="1200">
                <a:latin typeface="Times New Roman"/>
                <a:cs typeface="Times New Roman"/>
              </a:rPr>
              <a:t>grow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multi-billion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dollar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enterprise</a:t>
            </a:r>
            <a:r>
              <a:rPr dirty="0" sz="1200">
                <a:latin typeface="Times New Roman"/>
                <a:cs typeface="Times New Roman"/>
              </a:rPr>
              <a:t> within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so.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 also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performance </a:t>
            </a:r>
            <a:r>
              <a:rPr dirty="0" sz="1200">
                <a:latin typeface="Times New Roman"/>
                <a:cs typeface="Times New Roman"/>
              </a:rPr>
              <a:t>of microprocessors could well </a:t>
            </a:r>
            <a:r>
              <a:rPr dirty="0" sz="1200" spc="-5">
                <a:latin typeface="Times New Roman"/>
                <a:cs typeface="Times New Roman"/>
              </a:rPr>
              <a:t>increase </a:t>
            </a:r>
            <a:r>
              <a:rPr dirty="0" sz="1200">
                <a:latin typeface="Times New Roman"/>
                <a:cs typeface="Times New Roman"/>
              </a:rPr>
              <a:t>ten-fold before 1990 while prices 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micros </a:t>
            </a:r>
            <a:r>
              <a:rPr dirty="0" sz="1200">
                <a:latin typeface="Times New Roman"/>
                <a:cs typeface="Times New Roman"/>
              </a:rPr>
              <a:t>could decrease by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6897623"/>
          <a:ext cx="5221605" cy="2310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3180"/>
                <a:gridCol w="2628899"/>
              </a:tblGrid>
              <a:tr h="531876">
                <a:tc>
                  <a:txBody>
                    <a:bodyPr/>
                    <a:lstStyle/>
                    <a:p>
                      <a:pPr marL="67945" marR="915669">
                        <a:lnSpc>
                          <a:spcPts val="1380"/>
                        </a:lnSpc>
                        <a:spcBef>
                          <a:spcPts val="35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PARA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EQUIVALENCE </a:t>
                      </a:r>
                      <a:r>
                        <a:rPr dirty="0" sz="1200" spc="-29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SUPERLATIVE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NON-EQUIVALENCE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32915">
                <a:tc>
                  <a:txBody>
                    <a:bodyPr/>
                    <a:lstStyle/>
                    <a:p>
                      <a:pPr marL="677545" marR="420370" indent="-534035">
                        <a:lnSpc>
                          <a:spcPts val="1380"/>
                        </a:lnSpc>
                        <a:spcBef>
                          <a:spcPts val="35"/>
                        </a:spcBef>
                        <a:tabLst>
                          <a:tab pos="525145" algn="l"/>
                        </a:tabLst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(1)	1. is built as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single semi </a:t>
                      </a:r>
                      <a:r>
                        <a:rPr dirty="0" sz="1200" spc="-28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conductor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>
                        <a:lnSpc>
                          <a:spcPts val="131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2.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>
                        <a:lnSpc>
                          <a:spcPts val="141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3.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6680">
                        <a:lnSpc>
                          <a:spcPts val="141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2.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0979" marR="1007110" indent="-114300">
                        <a:lnSpc>
                          <a:spcPts val="1380"/>
                        </a:lnSpc>
                        <a:spcBef>
                          <a:spcPts val="65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3.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micros</a:t>
                      </a:r>
                      <a:r>
                        <a:rPr dirty="0" sz="1200" spc="-3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-3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becoming </a:t>
                      </a:r>
                      <a:r>
                        <a:rPr dirty="0" sz="1200" spc="-28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powerful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144145">
                        <a:lnSpc>
                          <a:spcPts val="1385"/>
                        </a:lnSpc>
                        <a:tabLst>
                          <a:tab pos="525145" algn="l"/>
                        </a:tabLst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(2)	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144145">
                        <a:lnSpc>
                          <a:spcPts val="1330"/>
                        </a:lnSpc>
                        <a:tabLst>
                          <a:tab pos="550545" algn="l"/>
                        </a:tabLst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(3)	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100</a:t>
            </a:fld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938783"/>
          <a:ext cx="5221605" cy="1252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3180"/>
                <a:gridCol w="2628899"/>
              </a:tblGrid>
              <a:tr h="18211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707135">
                <a:tc>
                  <a:txBody>
                    <a:bodyPr/>
                    <a:lstStyle/>
                    <a:p>
                      <a:pPr marL="677545" marR="271145" indent="-533400">
                        <a:lnSpc>
                          <a:spcPts val="1380"/>
                        </a:lnSpc>
                        <a:spcBef>
                          <a:spcPts val="35"/>
                        </a:spcBef>
                        <a:tabLst>
                          <a:tab pos="525780" algn="l"/>
                        </a:tabLst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(4)	1.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as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is the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 case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in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the space </a:t>
                      </a:r>
                      <a:r>
                        <a:rPr dirty="0" sz="1200" spc="-28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shuttle program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6045">
                        <a:lnSpc>
                          <a:spcPct val="10000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from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complex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calculators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182245">
                        <a:lnSpc>
                          <a:spcPts val="1380"/>
                        </a:lnSpc>
                        <a:tabLst>
                          <a:tab pos="525145" algn="l"/>
                        </a:tabLst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(5)	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2343404"/>
            <a:ext cx="5765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57072" y="2717292"/>
          <a:ext cx="5221605" cy="3724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3180"/>
                <a:gridCol w="2628899"/>
              </a:tblGrid>
              <a:tr h="531876">
                <a:tc>
                  <a:txBody>
                    <a:bodyPr/>
                    <a:lstStyle/>
                    <a:p>
                      <a:pPr marL="67945" marR="915669">
                        <a:lnSpc>
                          <a:spcPts val="1380"/>
                        </a:lnSpc>
                        <a:spcBef>
                          <a:spcPts val="35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PARA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EQUIVALENCE </a:t>
                      </a:r>
                      <a:r>
                        <a:rPr dirty="0" sz="1200" spc="-29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SUPERLATIVE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NON-EQUIVALENCE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1232915">
                <a:tc>
                  <a:txBody>
                    <a:bodyPr/>
                    <a:lstStyle/>
                    <a:p>
                      <a:pPr marL="525780" marR="478790" indent="-525780">
                        <a:lnSpc>
                          <a:spcPts val="1380"/>
                        </a:lnSpc>
                        <a:spcBef>
                          <a:spcPts val="20"/>
                        </a:spcBef>
                        <a:buAutoNum type="arabicParenBoth"/>
                        <a:tabLst>
                          <a:tab pos="525780" algn="l"/>
                          <a:tab pos="52641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built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single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semi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conductor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lvl="1" marL="678180" indent="-153035">
                        <a:lnSpc>
                          <a:spcPts val="1315"/>
                        </a:lnSpc>
                        <a:buAutoNum type="arabicPeriod" startAt="2"/>
                        <a:tabLst>
                          <a:tab pos="67818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single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chip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lvl="1" marL="677545" marR="979169" indent="-152400">
                        <a:lnSpc>
                          <a:spcPts val="1380"/>
                        </a:lnSpc>
                        <a:spcBef>
                          <a:spcPts val="70"/>
                        </a:spcBef>
                        <a:buAutoNum type="arabicPeriod" startAt="2"/>
                        <a:tabLst>
                          <a:tab pos="67881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similarly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minis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available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 marR="1038225" indent="-152400">
                        <a:lnSpc>
                          <a:spcPts val="1380"/>
                        </a:lnSpc>
                        <a:spcBef>
                          <a:spcPts val="20"/>
                        </a:spcBef>
                        <a:buAutoNum type="arabicPeriod"/>
                        <a:tabLst>
                          <a:tab pos="22161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Simpler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less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flexible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instruction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0979" indent="-153035">
                        <a:lnSpc>
                          <a:spcPts val="1315"/>
                        </a:lnSpc>
                        <a:buAutoNum type="arabicPeriod"/>
                        <a:tabLst>
                          <a:tab pos="22161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typically much slower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0979" marR="1122045" indent="-153035">
                        <a:lnSpc>
                          <a:spcPts val="1380"/>
                        </a:lnSpc>
                        <a:spcBef>
                          <a:spcPts val="70"/>
                        </a:spcBef>
                        <a:buAutoNum type="arabicPeriod"/>
                        <a:tabLst>
                          <a:tab pos="22161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becoming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powerful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144145">
                        <a:lnSpc>
                          <a:spcPts val="1370"/>
                        </a:lnSpc>
                        <a:tabLst>
                          <a:tab pos="52578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(2)	1.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cheaply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as$10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144145">
                        <a:lnSpc>
                          <a:spcPts val="1375"/>
                        </a:lnSpc>
                        <a:tabLst>
                          <a:tab pos="55054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(3)	1.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rapidly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1.using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latest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707135">
                <a:tc>
                  <a:txBody>
                    <a:bodyPr/>
                    <a:lstStyle/>
                    <a:p>
                      <a:pPr marL="677545" marR="347980" indent="-534035">
                        <a:lnSpc>
                          <a:spcPts val="1380"/>
                        </a:lnSpc>
                        <a:spcBef>
                          <a:spcPts val="20"/>
                        </a:spcBef>
                        <a:tabLst>
                          <a:tab pos="52578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(4)	1.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case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space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shuttle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program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3515" indent="-115570">
                        <a:lnSpc>
                          <a:spcPts val="1370"/>
                        </a:lnSpc>
                        <a:buSzPct val="91666"/>
                        <a:buAutoNum type="arabicPeriod"/>
                        <a:tabLst>
                          <a:tab pos="18415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minis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  <a:buFont typeface="Times New Roman"/>
                        <a:buAutoNum type="arabicPeriod"/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20979" indent="-153035">
                        <a:lnSpc>
                          <a:spcPct val="100000"/>
                        </a:lnSpc>
                        <a:buSzPct val="91666"/>
                        <a:buAutoNum type="arabicPeriod"/>
                        <a:tabLst>
                          <a:tab pos="22161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from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more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complex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calculators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  <a:tr h="532638">
                <a:tc>
                  <a:txBody>
                    <a:bodyPr/>
                    <a:lstStyle/>
                    <a:p>
                      <a:pPr marL="182880">
                        <a:lnSpc>
                          <a:spcPts val="1340"/>
                        </a:lnSpc>
                        <a:tabLst>
                          <a:tab pos="52578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(5)	1.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micros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could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39445">
                        <a:lnSpc>
                          <a:spcPts val="141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decrease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much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0000"/>
                      </a:solidFill>
                      <a:prstDash val="solid"/>
                    </a:lnL>
                    <a:lnR w="6350">
                      <a:solidFill>
                        <a:srgbClr val="FF0000"/>
                      </a:solidFill>
                      <a:prstDash val="solid"/>
                    </a:lnR>
                    <a:lnT w="6350">
                      <a:solidFill>
                        <a:srgbClr val="FF0000"/>
                      </a:solidFill>
                      <a:prstDash val="solid"/>
                    </a:lnT>
                    <a:lnB w="6350">
                      <a:solidFill>
                        <a:srgbClr val="FF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6664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-16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13702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 Evaluating Texts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Evaluating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vital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aspect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assess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evaluate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means, </a:t>
            </a:r>
            <a:r>
              <a:rPr dirty="0" sz="1200">
                <a:latin typeface="Times New Roman"/>
                <a:cs typeface="Times New Roman"/>
              </a:rPr>
              <a:t>first of all, that </a:t>
            </a:r>
            <a:r>
              <a:rPr dirty="0" sz="1200" spc="-5">
                <a:latin typeface="Times New Roman"/>
                <a:cs typeface="Times New Roman"/>
              </a:rPr>
              <a:t>the reader should be fully aware of the writer’s </a:t>
            </a:r>
            <a:r>
              <a:rPr dirty="0" sz="1200">
                <a:latin typeface="Times New Roman"/>
                <a:cs typeface="Times New Roman"/>
              </a:rPr>
              <a:t>intention of 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 of view,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possible bias. In order to </a:t>
            </a:r>
            <a:r>
              <a:rPr dirty="0" sz="1200" spc="-5">
                <a:latin typeface="Times New Roman"/>
                <a:cs typeface="Times New Roman"/>
              </a:rPr>
              <a:t>evaluate </a:t>
            </a:r>
            <a:r>
              <a:rPr dirty="0" sz="1200">
                <a:latin typeface="Times New Roman"/>
                <a:cs typeface="Times New Roman"/>
              </a:rPr>
              <a:t>a text, the student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able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discriminate </a:t>
            </a:r>
            <a:r>
              <a:rPr dirty="0" sz="1200">
                <a:latin typeface="Times New Roman"/>
                <a:cs typeface="Times New Roman"/>
              </a:rPr>
              <a:t>facts from opinions.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part of reading </a:t>
            </a:r>
            <a:r>
              <a:rPr dirty="0" sz="1200" spc="-5">
                <a:latin typeface="Times New Roman"/>
                <a:cs typeface="Times New Roman"/>
              </a:rPr>
              <a:t>competence that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be aware of the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judgment is </a:t>
            </a:r>
            <a:r>
              <a:rPr dirty="0" sz="1200">
                <a:latin typeface="Times New Roman"/>
                <a:cs typeface="Times New Roman"/>
              </a:rPr>
              <a:t>influenced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way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distinguishing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opinions.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today's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first have practice in </a:t>
            </a:r>
            <a:r>
              <a:rPr dirty="0" sz="1200" spc="-5">
                <a:latin typeface="Times New Roman"/>
                <a:cs typeface="Times New Roman"/>
              </a:rPr>
              <a:t>distinguishing the writer’s </a:t>
            </a:r>
            <a:r>
              <a:rPr dirty="0" sz="1200">
                <a:latin typeface="Times New Roman"/>
                <a:cs typeface="Times New Roman"/>
              </a:rPr>
              <a:t>Tone, and second,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look 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argumentation </a:t>
            </a:r>
            <a:r>
              <a:rPr dirty="0" sz="1200">
                <a:latin typeface="Times New Roman"/>
                <a:cs typeface="Times New Roman"/>
              </a:rPr>
              <a:t>- 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very central to the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read. </a:t>
            </a:r>
            <a:r>
              <a:rPr dirty="0" sz="1200" spc="-5">
                <a:latin typeface="Times New Roman"/>
                <a:cs typeface="Times New Roman"/>
              </a:rPr>
              <a:t>Writers make </a:t>
            </a:r>
            <a:r>
              <a:rPr dirty="0" sz="1200">
                <a:latin typeface="Times New Roman"/>
                <a:cs typeface="Times New Roman"/>
              </a:rPr>
              <a:t>a point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support the point. You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successful </a:t>
            </a:r>
            <a:r>
              <a:rPr dirty="0" sz="1200">
                <a:latin typeface="Times New Roman"/>
                <a:cs typeface="Times New Roman"/>
              </a:rPr>
              <a:t>reader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learn to </a:t>
            </a:r>
            <a:r>
              <a:rPr dirty="0" sz="1200" spc="-5">
                <a:latin typeface="Times New Roman"/>
                <a:cs typeface="Times New Roman"/>
              </a:rPr>
              <a:t>recognize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point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recognize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support for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point.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TONE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 at the five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expressing different attitudes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‘shabby house.’ </a:t>
            </a:r>
            <a:r>
              <a:rPr dirty="0" sz="1200">
                <a:latin typeface="Times New Roman"/>
                <a:cs typeface="Times New Roman"/>
              </a:rPr>
              <a:t> Label each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>
                <a:latin typeface="Times New Roman"/>
                <a:cs typeface="Times New Roman"/>
              </a:rPr>
              <a:t> by choosing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appropriate</a:t>
            </a:r>
            <a:r>
              <a:rPr dirty="0" sz="1200">
                <a:latin typeface="Times New Roman"/>
                <a:cs typeface="Times New Roman"/>
              </a:rPr>
              <a:t> tone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word bank.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4243832"/>
            <a:ext cx="72834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optimistic </a:t>
            </a:r>
            <a:r>
              <a:rPr dirty="0" sz="1200">
                <a:latin typeface="Times New Roman"/>
                <a:cs typeface="Times New Roman"/>
              </a:rPr>
              <a:t> senti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ental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387213" y="4243832"/>
            <a:ext cx="6350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bitter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orous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01618" y="4243832"/>
            <a:ext cx="7620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tolerant </a:t>
            </a:r>
            <a:r>
              <a:rPr dirty="0" sz="1200">
                <a:latin typeface="Times New Roman"/>
                <a:cs typeface="Times New Roman"/>
              </a:rPr>
              <a:t> sy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pathetic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4769611"/>
            <a:ext cx="562610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AutoNum type="arabicPeriod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shabby,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run-down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looking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house,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lived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childhood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has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special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place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my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heart.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(sentimental)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345"/>
              </a:lnSpc>
              <a:buAutoNum type="arabicPeriod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neighborhood,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really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200" y="5295391"/>
            <a:ext cx="5170170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bad. </a:t>
            </a:r>
            <a:r>
              <a:rPr dirty="0" sz="1200">
                <a:latin typeface="Times New Roman"/>
                <a:cs typeface="Times New Roman"/>
              </a:rPr>
              <a:t>(tolerant)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job,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wouldn’t be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living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ramshackle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dump</a:t>
            </a:r>
            <a:r>
              <a:rPr dirty="0" sz="1200" spc="-5">
                <a:latin typeface="Times New Roman"/>
                <a:cs typeface="Times New Roman"/>
              </a:rPr>
              <a:t>. (bitter)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in need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some</a:t>
            </a:r>
            <a:r>
              <a:rPr dirty="0" sz="1200">
                <a:latin typeface="Times New Roman"/>
                <a:cs typeface="Times New Roman"/>
              </a:rPr>
              <a:t> costly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renovation,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landlord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 day now.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(optimistic)</a:t>
            </a:r>
            <a:endParaRPr sz="1200">
              <a:latin typeface="Times New Roman"/>
              <a:cs typeface="Times New Roman"/>
            </a:endParaRPr>
          </a:p>
          <a:p>
            <a:pPr marL="12700" marR="31432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empty </a:t>
            </a:r>
            <a:r>
              <a:rPr dirty="0" sz="1200">
                <a:latin typeface="Times New Roman"/>
                <a:cs typeface="Times New Roman"/>
              </a:rPr>
              <a:t>rubbish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neighboring flats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so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I found it. </a:t>
            </a:r>
            <a:r>
              <a:rPr dirty="0" sz="1200" spc="-5">
                <a:latin typeface="Times New Roman"/>
                <a:cs typeface="Times New Roman"/>
              </a:rPr>
              <a:t>(humorous)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5470652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5821171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6171691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6522211"/>
            <a:ext cx="5627370" cy="24866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helped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exercise.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next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own.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helped you in this exercise.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 you can do the next one on your own. But before you do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I helped you in this exercise.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 you can do the next one on your own. 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next</a:t>
            </a:r>
            <a:r>
              <a:rPr dirty="0" sz="1200">
                <a:latin typeface="Times New Roman"/>
                <a:cs typeface="Times New Roman"/>
              </a:rPr>
              <a:t> exercise,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tell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IRONY.</a:t>
            </a:r>
            <a:r>
              <a:rPr dirty="0" sz="1200">
                <a:latin typeface="Times New Roman"/>
                <a:cs typeface="Times New Roman"/>
              </a:rPr>
              <a:t> 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commonly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>
                <a:latin typeface="Times New Roman"/>
                <a:cs typeface="Times New Roman"/>
              </a:rPr>
              <a:t>tone and </a:t>
            </a:r>
            <a:r>
              <a:rPr dirty="0" sz="1200" spc="-5">
                <a:latin typeface="Times New Roman"/>
                <a:cs typeface="Times New Roman"/>
              </a:rPr>
              <a:t>one which you may not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with. When writing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</a:t>
            </a:r>
            <a:r>
              <a:rPr dirty="0" sz="1200">
                <a:latin typeface="Times New Roman"/>
                <a:cs typeface="Times New Roman"/>
              </a:rPr>
              <a:t> 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opposite.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found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everyday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conversation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 writing. Irony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involves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i="1">
                <a:latin typeface="Times New Roman"/>
                <a:cs typeface="Times New Roman"/>
              </a:rPr>
              <a:t>discrepancy’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two forms situational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verbal.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ext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must </a:t>
            </a:r>
            <a:r>
              <a:rPr dirty="0" sz="1200">
                <a:latin typeface="Times New Roman"/>
                <a:cs typeface="Times New Roman"/>
              </a:rPr>
              <a:t>tell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something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sz="1200" spc="-5">
                <a:latin typeface="Times New Roman"/>
                <a:cs typeface="Times New Roman"/>
              </a:rPr>
              <a:t> IRONY.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 indent="4572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(I) </a:t>
            </a:r>
            <a:r>
              <a:rPr dirty="0" sz="1200" spc="-5">
                <a:latin typeface="Times New Roman"/>
                <a:cs typeface="Times New Roman"/>
              </a:rPr>
              <a:t>Situational </a:t>
            </a:r>
            <a:r>
              <a:rPr dirty="0" sz="1200">
                <a:latin typeface="Times New Roman"/>
                <a:cs typeface="Times New Roman"/>
              </a:rPr>
              <a:t>irony occurs when the </a:t>
            </a:r>
            <a:r>
              <a:rPr dirty="0" sz="1200" spc="-5">
                <a:latin typeface="Times New Roman"/>
                <a:cs typeface="Times New Roman"/>
              </a:rPr>
              <a:t>discrepancy </a:t>
            </a:r>
            <a:r>
              <a:rPr dirty="0" sz="1200">
                <a:latin typeface="Times New Roman"/>
                <a:cs typeface="Times New Roman"/>
              </a:rPr>
              <a:t>lies in the </a:t>
            </a:r>
            <a:r>
              <a:rPr dirty="0" sz="1200" spc="-5">
                <a:latin typeface="Times New Roman"/>
                <a:cs typeface="Times New Roman"/>
              </a:rPr>
              <a:t>situation itself.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 i="1">
                <a:latin typeface="Times New Roman"/>
                <a:cs typeface="Times New Roman"/>
              </a:rPr>
              <a:t>else </a:t>
            </a:r>
            <a:r>
              <a:rPr dirty="0" sz="1200">
                <a:latin typeface="Times New Roman"/>
                <a:cs typeface="Times New Roman"/>
              </a:rPr>
              <a:t>happens.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a situation calls for an expected response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unexpected happens instead e.g.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house on fire and you expect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 fighter to aim a water hose / pipe at the fire, but instead he </a:t>
            </a:r>
            <a:r>
              <a:rPr dirty="0" sz="1200" spc="-5">
                <a:latin typeface="Times New Roman"/>
                <a:cs typeface="Times New Roman"/>
              </a:rPr>
              <a:t>aims </a:t>
            </a:r>
            <a:r>
              <a:rPr dirty="0" sz="1200">
                <a:latin typeface="Times New Roman"/>
                <a:cs typeface="Times New Roman"/>
              </a:rPr>
              <a:t>a petrol pipe / hose.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ironical.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1407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9875" indent="49530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Or you may have heard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situation 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play by the American playwright,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William </a:t>
            </a:r>
            <a:r>
              <a:rPr dirty="0" sz="1200">
                <a:latin typeface="Times New Roman"/>
                <a:cs typeface="Times New Roman"/>
              </a:rPr>
              <a:t>Inge’s </a:t>
            </a:r>
            <a:r>
              <a:rPr dirty="0" sz="1200" spc="-5">
                <a:latin typeface="Times New Roman"/>
                <a:cs typeface="Times New Roman"/>
              </a:rPr>
              <a:t>‘A </a:t>
            </a:r>
            <a:r>
              <a:rPr dirty="0" sz="1200">
                <a:latin typeface="Times New Roman"/>
                <a:cs typeface="Times New Roman"/>
              </a:rPr>
              <a:t>Social Event’ where the </a:t>
            </a:r>
            <a:r>
              <a:rPr dirty="0" sz="1200" spc="-5">
                <a:latin typeface="Times New Roman"/>
                <a:cs typeface="Times New Roman"/>
              </a:rPr>
              <a:t>proud </a:t>
            </a:r>
            <a:r>
              <a:rPr dirty="0" sz="1200">
                <a:latin typeface="Times New Roman"/>
                <a:cs typeface="Times New Roman"/>
              </a:rPr>
              <a:t>Hollywood couple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be entertained.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Afro-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American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invitation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event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couple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invited: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situation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 indent="6858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(II) Verbal irony occurs when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discrepancy between what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said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5">
                <a:latin typeface="Times New Roman"/>
                <a:cs typeface="Times New Roman"/>
              </a:rPr>
              <a:t>is meant </a:t>
            </a:r>
            <a:r>
              <a:rPr dirty="0" sz="1200">
                <a:latin typeface="Times New Roman"/>
                <a:cs typeface="Times New Roman"/>
              </a:rPr>
              <a:t>e.g. usually the exact opposite, or a near opposite of what </a:t>
            </a:r>
            <a:r>
              <a:rPr dirty="0" sz="1200" spc="-5">
                <a:latin typeface="Times New Roman"/>
                <a:cs typeface="Times New Roman"/>
              </a:rPr>
              <a:t>is meant: </a:t>
            </a:r>
            <a:r>
              <a:rPr dirty="0" sz="1200">
                <a:latin typeface="Times New Roman"/>
                <a:cs typeface="Times New Roman"/>
              </a:rPr>
              <a:t>an eager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cricket player </a:t>
            </a:r>
            <a:r>
              <a:rPr dirty="0" sz="1200">
                <a:latin typeface="Times New Roman"/>
                <a:cs typeface="Times New Roman"/>
              </a:rPr>
              <a:t>looks </a:t>
            </a:r>
            <a:r>
              <a:rPr dirty="0" sz="1200" spc="-5">
                <a:latin typeface="Times New Roman"/>
                <a:cs typeface="Times New Roman"/>
              </a:rPr>
              <a:t>out of the window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sees </a:t>
            </a:r>
            <a:r>
              <a:rPr dirty="0" sz="1200">
                <a:latin typeface="Times New Roman"/>
                <a:cs typeface="Times New Roman"/>
              </a:rPr>
              <a:t>that it </a:t>
            </a:r>
            <a:r>
              <a:rPr dirty="0" sz="1200" spc="-5">
                <a:latin typeface="Times New Roman"/>
                <a:cs typeface="Times New Roman"/>
              </a:rPr>
              <a:t>is raining. “Oh, great!” he </a:t>
            </a:r>
            <a:r>
              <a:rPr dirty="0" sz="1200" spc="-10">
                <a:latin typeface="Times New Roman"/>
                <a:cs typeface="Times New Roman"/>
              </a:rPr>
              <a:t>says, </a:t>
            </a:r>
            <a:r>
              <a:rPr dirty="0" sz="1200" spc="-5">
                <a:latin typeface="Times New Roman"/>
                <a:cs typeface="Times New Roman"/>
              </a:rPr>
              <a:t> meaning </a:t>
            </a:r>
            <a:r>
              <a:rPr dirty="0" sz="1200">
                <a:latin typeface="Times New Roman"/>
                <a:cs typeface="Times New Roman"/>
              </a:rPr>
              <a:t>exactly the </a:t>
            </a:r>
            <a:r>
              <a:rPr dirty="0" sz="1200" spc="-5">
                <a:latin typeface="Times New Roman"/>
                <a:cs typeface="Times New Roman"/>
              </a:rPr>
              <a:t>opposite. </a:t>
            </a:r>
            <a:r>
              <a:rPr dirty="0" sz="1200">
                <a:latin typeface="Times New Roman"/>
                <a:cs typeface="Times New Roman"/>
              </a:rPr>
              <a:t>Another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illustrate this: After </a:t>
            </a:r>
            <a:r>
              <a:rPr dirty="0" sz="1200">
                <a:latin typeface="Times New Roman"/>
                <a:cs typeface="Times New Roman"/>
              </a:rPr>
              <a:t>seeing a </a:t>
            </a:r>
            <a:r>
              <a:rPr dirty="0" sz="1200" spc="-5">
                <a:latin typeface="Times New Roman"/>
                <a:cs typeface="Times New Roman"/>
              </a:rPr>
              <a:t>terrible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performance </a:t>
            </a:r>
            <a:r>
              <a:rPr dirty="0" sz="1200">
                <a:latin typeface="Times New Roman"/>
                <a:cs typeface="Times New Roman"/>
              </a:rPr>
              <a:t>by an actor in a </a:t>
            </a:r>
            <a:r>
              <a:rPr dirty="0" sz="1200" spc="-5">
                <a:latin typeface="Times New Roman"/>
                <a:cs typeface="Times New Roman"/>
              </a:rPr>
              <a:t>movie someone might say “Now </a:t>
            </a:r>
            <a:r>
              <a:rPr dirty="0" sz="1200">
                <a:latin typeface="Times New Roman"/>
                <a:cs typeface="Times New Roman"/>
              </a:rPr>
              <a:t>that’s an actor who </a:t>
            </a:r>
            <a:r>
              <a:rPr dirty="0" sz="1200" spc="-5">
                <a:latin typeface="Times New Roman"/>
                <a:cs typeface="Times New Roman"/>
              </a:rPr>
              <a:t>is sure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 </a:t>
            </a:r>
            <a:r>
              <a:rPr dirty="0" sz="1200">
                <a:latin typeface="Times New Roman"/>
                <a:cs typeface="Times New Roman"/>
              </a:rPr>
              <a:t>the Best Actor </a:t>
            </a:r>
            <a:r>
              <a:rPr dirty="0" sz="1200" spc="-5">
                <a:latin typeface="Times New Roman"/>
                <a:cs typeface="Times New Roman"/>
              </a:rPr>
              <a:t>Award</a:t>
            </a:r>
            <a:r>
              <a:rPr dirty="0" sz="1200">
                <a:latin typeface="Times New Roman"/>
                <a:cs typeface="Times New Roman"/>
              </a:rPr>
              <a:t> for this year!”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examples </a:t>
            </a:r>
            <a:r>
              <a:rPr dirty="0" sz="1200">
                <a:latin typeface="Times New Roman"/>
                <a:cs typeface="Times New Roman"/>
              </a:rPr>
              <a:t>illustrate </a:t>
            </a:r>
            <a:r>
              <a:rPr dirty="0" sz="1200" spc="-5">
                <a:latin typeface="Times New Roman"/>
                <a:cs typeface="Times New Roman"/>
              </a:rPr>
              <a:t>verbal </a:t>
            </a:r>
            <a:r>
              <a:rPr dirty="0" sz="1200">
                <a:latin typeface="Times New Roman"/>
                <a:cs typeface="Times New Roman"/>
              </a:rPr>
              <a:t>irony.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box. Remember the tone reflects the author’s </a:t>
            </a:r>
            <a:r>
              <a:rPr dirty="0" sz="1200" spc="-5">
                <a:latin typeface="Times New Roman"/>
                <a:cs typeface="Times New Roman"/>
              </a:rPr>
              <a:t>attitude. </a:t>
            </a:r>
            <a:r>
              <a:rPr dirty="0" sz="1200">
                <a:latin typeface="Times New Roman"/>
                <a:cs typeface="Times New Roman"/>
              </a:rPr>
              <a:t>To find the tone of a paragraph,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yourself</a:t>
            </a:r>
            <a:r>
              <a:rPr dirty="0" sz="1200">
                <a:latin typeface="Times New Roman"/>
                <a:cs typeface="Times New Roman"/>
              </a:rPr>
              <a:t> what attitude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revealed by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and phrases.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3718052"/>
            <a:ext cx="6356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caring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opti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istic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387334" y="3718052"/>
            <a:ext cx="70358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pessi</a:t>
            </a:r>
            <a:r>
              <a:rPr dirty="0" sz="1200" spc="-1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stic  </a:t>
            </a:r>
            <a:r>
              <a:rPr dirty="0" sz="1200">
                <a:latin typeface="Times New Roman"/>
                <a:cs typeface="Times New Roman"/>
              </a:rPr>
              <a:t>angry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4068571"/>
            <a:ext cx="14636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response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01296" y="3718052"/>
            <a:ext cx="334073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objective</a:t>
            </a:r>
            <a:endParaRPr sz="1200">
              <a:latin typeface="Times New Roman"/>
              <a:cs typeface="Times New Roman"/>
            </a:endParaRPr>
          </a:p>
          <a:p>
            <a:pPr marL="12700" marR="5080" indent="635">
              <a:lnSpc>
                <a:spcPts val="1380"/>
              </a:lnSpc>
              <a:spcBef>
                <a:spcPts val="65"/>
              </a:spcBef>
              <a:tabLst>
                <a:tab pos="2299335" algn="l"/>
                <a:tab pos="2755265" algn="l"/>
                <a:tab pos="3259454" algn="l"/>
              </a:tabLst>
            </a:pPr>
            <a:r>
              <a:rPr dirty="0" sz="1200" spc="-5">
                <a:latin typeface="Times New Roman"/>
                <a:cs typeface="Times New Roman"/>
              </a:rPr>
              <a:t>critical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	expected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unexpected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	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4243832"/>
            <a:ext cx="5628005" cy="4940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house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 indent="38100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55904" algn="l"/>
              </a:tabLst>
            </a:pPr>
            <a:r>
              <a:rPr dirty="0" sz="1200">
                <a:latin typeface="Times New Roman"/>
                <a:cs typeface="Times New Roman"/>
              </a:rPr>
              <a:t>Research on rats </a:t>
            </a:r>
            <a:r>
              <a:rPr dirty="0" sz="1200" spc="-5">
                <a:latin typeface="Times New Roman"/>
                <a:cs typeface="Times New Roman"/>
              </a:rPr>
              <a:t>has shown </a:t>
            </a:r>
            <a:r>
              <a:rPr dirty="0" sz="1200">
                <a:latin typeface="Times New Roman"/>
                <a:cs typeface="Times New Roman"/>
              </a:rPr>
              <a:t>that when </a:t>
            </a:r>
            <a:r>
              <a:rPr dirty="0" sz="1200" spc="-5">
                <a:latin typeface="Times New Roman"/>
                <a:cs typeface="Times New Roman"/>
              </a:rPr>
              <a:t>animals </a:t>
            </a:r>
            <a:r>
              <a:rPr dirty="0" sz="1200">
                <a:latin typeface="Times New Roman"/>
                <a:cs typeface="Times New Roman"/>
              </a:rPr>
              <a:t>live in crowded conditions </a:t>
            </a:r>
            <a:r>
              <a:rPr dirty="0" sz="1200" spc="-5">
                <a:latin typeface="Times New Roman"/>
                <a:cs typeface="Times New Roman"/>
              </a:rPr>
              <a:t>they </a:t>
            </a:r>
            <a:r>
              <a:rPr dirty="0" sz="1200">
                <a:latin typeface="Times New Roman"/>
                <a:cs typeface="Times New Roman"/>
              </a:rPr>
              <a:t>live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disorderly, violent lives.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beings are no exception. </a:t>
            </a:r>
            <a:r>
              <a:rPr dirty="0" sz="1200" spc="-5">
                <a:latin typeface="Times New Roman"/>
                <a:cs typeface="Times New Roman"/>
              </a:rPr>
              <a:t>Crowded </a:t>
            </a:r>
            <a:r>
              <a:rPr dirty="0" sz="1200">
                <a:latin typeface="Times New Roman"/>
                <a:cs typeface="Times New Roman"/>
              </a:rPr>
              <a:t>cities are </a:t>
            </a:r>
            <a:r>
              <a:rPr dirty="0" sz="1200" spc="-5">
                <a:latin typeface="Times New Roman"/>
                <a:cs typeface="Times New Roman"/>
              </a:rPr>
              <a:t>models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lawlessness,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traffic-clogged roads encourage drivers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 aggressive. As urban </a:t>
            </a:r>
            <a:r>
              <a:rPr dirty="0" sz="1200">
                <a:latin typeface="Times New Roman"/>
                <a:cs typeface="Times New Roman"/>
              </a:rPr>
              <a:t> areas </a:t>
            </a:r>
            <a:r>
              <a:rPr dirty="0" sz="1200" spc="-5">
                <a:latin typeface="Times New Roman"/>
                <a:cs typeface="Times New Roman"/>
              </a:rPr>
              <a:t>continue </a:t>
            </a:r>
            <a:r>
              <a:rPr dirty="0" sz="1200">
                <a:latin typeface="Times New Roman"/>
                <a:cs typeface="Times New Roman"/>
              </a:rPr>
              <a:t>to grow in population density, these types of </a:t>
            </a:r>
            <a:r>
              <a:rPr dirty="0" sz="1200" spc="-5">
                <a:latin typeface="Times New Roman"/>
                <a:cs typeface="Times New Roman"/>
              </a:rPr>
              <a:t>problems will </a:t>
            </a:r>
            <a:r>
              <a:rPr dirty="0" sz="1200">
                <a:latin typeface="Times New Roman"/>
                <a:cs typeface="Times New Roman"/>
              </a:rPr>
              <a:t>also grow.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violence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fighting over </a:t>
            </a:r>
            <a:r>
              <a:rPr dirty="0" sz="1200">
                <a:latin typeface="Times New Roman"/>
                <a:cs typeface="Times New Roman"/>
              </a:rPr>
              <a:t>available</a:t>
            </a:r>
            <a:r>
              <a:rPr dirty="0" sz="1200" spc="-5">
                <a:latin typeface="Times New Roman"/>
                <a:cs typeface="Times New Roman"/>
              </a:rPr>
              <a:t> resources.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pi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13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 indent="38100">
              <a:lnSpc>
                <a:spcPts val="1380"/>
              </a:lnSpc>
              <a:spcBef>
                <a:spcPts val="65"/>
              </a:spcBef>
              <a:buAutoNum type="romanLcParenBoth" startAt="2"/>
              <a:tabLst>
                <a:tab pos="302260" algn="l"/>
              </a:tabLst>
            </a:pP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addicted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drugs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terrible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themselves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it, and harsh </a:t>
            </a:r>
            <a:r>
              <a:rPr dirty="0" sz="1200" spc="-5">
                <a:latin typeface="Times New Roman"/>
                <a:cs typeface="Times New Roman"/>
              </a:rPr>
              <a:t>judgments </a:t>
            </a:r>
            <a:r>
              <a:rPr dirty="0" sz="1200">
                <a:latin typeface="Times New Roman"/>
                <a:cs typeface="Times New Roman"/>
              </a:rPr>
              <a:t>only </a:t>
            </a:r>
            <a:r>
              <a:rPr dirty="0" sz="1200" spc="-5">
                <a:latin typeface="Times New Roman"/>
                <a:cs typeface="Times New Roman"/>
              </a:rPr>
              <a:t>worsen their self-image. What </a:t>
            </a:r>
            <a:r>
              <a:rPr dirty="0" sz="1200">
                <a:latin typeface="Times New Roman"/>
                <a:cs typeface="Times New Roman"/>
              </a:rPr>
              <a:t>these people </a:t>
            </a:r>
            <a:r>
              <a:rPr dirty="0" sz="1200" spc="-5">
                <a:latin typeface="Times New Roman"/>
                <a:cs typeface="Times New Roman"/>
              </a:rPr>
              <a:t>need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 </a:t>
            </a:r>
            <a:r>
              <a:rPr dirty="0" sz="1200">
                <a:latin typeface="Times New Roman"/>
                <a:cs typeface="Times New Roman"/>
              </a:rPr>
              <a:t>to rehabilitate them in society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help rid </a:t>
            </a:r>
            <a:r>
              <a:rPr dirty="0" sz="1200" spc="-5">
                <a:latin typeface="Times New Roman"/>
                <a:cs typeface="Times New Roman"/>
              </a:rPr>
              <a:t>themselves </a:t>
            </a:r>
            <a:r>
              <a:rPr dirty="0" sz="1200">
                <a:latin typeface="Times New Roman"/>
                <a:cs typeface="Times New Roman"/>
              </a:rPr>
              <a:t>of their addictions. 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important we </a:t>
            </a:r>
            <a:r>
              <a:rPr dirty="0" sz="1200">
                <a:latin typeface="Times New Roman"/>
                <a:cs typeface="Times New Roman"/>
              </a:rPr>
              <a:t>should take a </a:t>
            </a:r>
            <a:r>
              <a:rPr dirty="0" sz="1200" spc="-5">
                <a:latin typeface="Times New Roman"/>
                <a:cs typeface="Times New Roman"/>
              </a:rPr>
              <a:t>sympathetic </a:t>
            </a:r>
            <a:r>
              <a:rPr dirty="0" sz="1200">
                <a:latin typeface="Times New Roman"/>
                <a:cs typeface="Times New Roman"/>
              </a:rPr>
              <a:t>view of their problem and open our hearts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troubled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5"/>
              </a:spcBef>
              <a:buAutoNum type="romanLcParenBoth" startAt="3"/>
              <a:tabLst>
                <a:tab pos="28194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hired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Mughal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Carpets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install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wall-to-wall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carpet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relied 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company’s reputation for quality </a:t>
            </a:r>
            <a:r>
              <a:rPr dirty="0" sz="1200">
                <a:latin typeface="Times New Roman"/>
                <a:cs typeface="Times New Roman"/>
              </a:rPr>
              <a:t>work. However, I </a:t>
            </a:r>
            <a:r>
              <a:rPr dirty="0" sz="1200" spc="-5">
                <a:latin typeface="Times New Roman"/>
                <a:cs typeface="Times New Roman"/>
              </a:rPr>
              <a:t>was deeply dissatisfied </a:t>
            </a:r>
            <a:r>
              <a:rPr dirty="0" sz="1200">
                <a:latin typeface="Times New Roman"/>
                <a:cs typeface="Times New Roman"/>
              </a:rPr>
              <a:t> with the dreadful job their </a:t>
            </a:r>
            <a:r>
              <a:rPr dirty="0" sz="1200" spc="-5">
                <a:latin typeface="Times New Roman"/>
                <a:cs typeface="Times New Roman"/>
              </a:rPr>
              <a:t>workers </a:t>
            </a:r>
            <a:r>
              <a:rPr dirty="0" sz="1200">
                <a:latin typeface="Times New Roman"/>
                <a:cs typeface="Times New Roman"/>
              </a:rPr>
              <a:t>did in </a:t>
            </a:r>
            <a:r>
              <a:rPr dirty="0" sz="1200" spc="-5">
                <a:latin typeface="Times New Roman"/>
                <a:cs typeface="Times New Roman"/>
              </a:rPr>
              <a:t>my room.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carpet is </a:t>
            </a:r>
            <a:r>
              <a:rPr dirty="0" sz="1200">
                <a:latin typeface="Times New Roman"/>
                <a:cs typeface="Times New Roman"/>
              </a:rPr>
              <a:t>poorly fitted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 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corner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creased while in the other the floor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through. I am exasperated with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Mughal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Carpets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thinking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asking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lawyer to</a:t>
            </a:r>
            <a:r>
              <a:rPr dirty="0" sz="1200" spc="-5">
                <a:latin typeface="Times New Roman"/>
                <a:cs typeface="Times New Roman"/>
              </a:rPr>
              <a:t> sue</a:t>
            </a:r>
            <a:r>
              <a:rPr dirty="0" sz="1200">
                <a:latin typeface="Times New Roman"/>
                <a:cs typeface="Times New Roman"/>
              </a:rPr>
              <a:t> them.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15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ARGUMENT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argument is </a:t>
            </a:r>
            <a:r>
              <a:rPr dirty="0" sz="1200">
                <a:latin typeface="Times New Roman"/>
                <a:cs typeface="Times New Roman"/>
              </a:rPr>
              <a:t>one in which you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point </a:t>
            </a:r>
            <a:r>
              <a:rPr dirty="0" sz="1200">
                <a:latin typeface="Times New Roman"/>
                <a:cs typeface="Times New Roman"/>
              </a:rPr>
              <a:t>and then provide support (persuasive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logical evidence) to back it up. </a:t>
            </a:r>
            <a:r>
              <a:rPr dirty="0" sz="1200" spc="-5">
                <a:latin typeface="Times New Roman"/>
                <a:cs typeface="Times New Roman"/>
              </a:rPr>
              <a:t>For example, </a:t>
            </a:r>
            <a:r>
              <a:rPr dirty="0" sz="1200">
                <a:latin typeface="Times New Roman"/>
                <a:cs typeface="Times New Roman"/>
              </a:rPr>
              <a:t>if you </a:t>
            </a:r>
            <a:r>
              <a:rPr dirty="0" sz="1200" spc="-5">
                <a:latin typeface="Times New Roman"/>
                <a:cs typeface="Times New Roman"/>
              </a:rPr>
              <a:t>make the statement “My neighbors 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inconsiderate.”,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judge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neighbors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inconsiderate or not.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if you added: “They play loud music at night, their children play and scream loudly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outside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house, and their dog barks all day long”. You have provided solid support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earlier</a:t>
            </a:r>
            <a:r>
              <a:rPr dirty="0" sz="1200" spc="-5">
                <a:latin typeface="Times New Roman"/>
                <a:cs typeface="Times New Roman"/>
              </a:rPr>
              <a:t> statement </a:t>
            </a:r>
            <a:r>
              <a:rPr dirty="0" sz="1200">
                <a:latin typeface="Times New Roman"/>
                <a:cs typeface="Times New Roman"/>
              </a:rPr>
              <a:t>“My</a:t>
            </a:r>
            <a:r>
              <a:rPr dirty="0" sz="1200" spc="-5">
                <a:latin typeface="Times New Roman"/>
                <a:cs typeface="Times New Roman"/>
              </a:rPr>
              <a:t> neighbors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inconsiderate”.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9275" cy="809498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6985">
              <a:lnSpc>
                <a:spcPct val="96200"/>
              </a:lnSpc>
              <a:spcBef>
                <a:spcPts val="155"/>
              </a:spcBef>
            </a:pPr>
            <a:r>
              <a:rPr dirty="0" sz="1200">
                <a:latin typeface="Times New Roman"/>
                <a:cs typeface="Times New Roman"/>
              </a:rPr>
              <a:t>In the following groups of </a:t>
            </a:r>
            <a:r>
              <a:rPr dirty="0" sz="1200" spc="-5">
                <a:latin typeface="Times New Roman"/>
                <a:cs typeface="Times New Roman"/>
              </a:rPr>
              <a:t>statements,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statement is </a:t>
            </a:r>
            <a:r>
              <a:rPr dirty="0" sz="1200">
                <a:latin typeface="Times New Roman"/>
                <a:cs typeface="Times New Roman"/>
              </a:rPr>
              <a:t>the point and the others are support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the point. </a:t>
            </a:r>
            <a:r>
              <a:rPr dirty="0" sz="1200" spc="-5" b="1">
                <a:latin typeface="Times New Roman"/>
                <a:cs typeface="Times New Roman"/>
              </a:rPr>
              <a:t>Identify </a:t>
            </a:r>
            <a:r>
              <a:rPr dirty="0" sz="1200" b="1">
                <a:latin typeface="Times New Roman"/>
                <a:cs typeface="Times New Roman"/>
              </a:rPr>
              <a:t>each </a:t>
            </a:r>
            <a:r>
              <a:rPr dirty="0" sz="1200" spc="-5" b="1">
                <a:latin typeface="Times New Roman"/>
                <a:cs typeface="Times New Roman"/>
              </a:rPr>
              <a:t>point with </a:t>
            </a:r>
            <a:r>
              <a:rPr dirty="0" sz="1200" b="1">
                <a:latin typeface="Times New Roman"/>
                <a:cs typeface="Times New Roman"/>
              </a:rPr>
              <a:t>(P) </a:t>
            </a:r>
            <a:r>
              <a:rPr dirty="0" sz="1200" spc="-5" b="1">
                <a:latin typeface="Times New Roman"/>
                <a:cs typeface="Times New Roman"/>
              </a:rPr>
              <a:t>and identify </a:t>
            </a:r>
            <a:r>
              <a:rPr dirty="0" sz="1200" b="1">
                <a:latin typeface="Times New Roman"/>
                <a:cs typeface="Times New Roman"/>
              </a:rPr>
              <a:t>each statement of </a:t>
            </a:r>
            <a:r>
              <a:rPr dirty="0" sz="1200" spc="-5" b="1">
                <a:latin typeface="Times New Roman"/>
                <a:cs typeface="Times New Roman"/>
              </a:rPr>
              <a:t>support with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(S).</a:t>
            </a: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  <a:spcBef>
                <a:spcPts val="20"/>
              </a:spcBef>
            </a:pPr>
            <a:r>
              <a:rPr dirty="0" sz="1200">
                <a:latin typeface="Times New Roman"/>
                <a:cs typeface="Times New Roman"/>
              </a:rPr>
              <a:t>I.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refuse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silly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tricks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amuse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seem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intelligent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dogs. </a:t>
            </a:r>
            <a:r>
              <a:rPr dirty="0" sz="1200" spc="-5">
                <a:latin typeface="Times New Roman"/>
                <a:cs typeface="Times New Roman"/>
              </a:rPr>
              <a:t>Dogs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accept </a:t>
            </a:r>
            <a:r>
              <a:rPr dirty="0" sz="1200" spc="-5">
                <a:latin typeface="Times New Roman"/>
                <a:cs typeface="Times New Roman"/>
              </a:rPr>
              <a:t>mistreatment,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mistreated, </a:t>
            </a:r>
            <a:r>
              <a:rPr dirty="0" sz="1200">
                <a:latin typeface="Times New Roman"/>
                <a:cs typeface="Times New Roman"/>
              </a:rPr>
              <a:t>it runs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spcBef>
                <a:spcPts val="70"/>
              </a:spcBef>
              <a:buAutoNum type="arabicPeriod" startAt="2"/>
              <a:tabLst>
                <a:tab pos="175895" algn="l"/>
              </a:tabLst>
            </a:pP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workers </a:t>
            </a:r>
            <a:r>
              <a:rPr dirty="0" sz="1200">
                <a:latin typeface="Times New Roman"/>
                <a:cs typeface="Times New Roman"/>
              </a:rPr>
              <a:t>go on strike, they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lose </a:t>
            </a:r>
            <a:r>
              <a:rPr dirty="0" sz="1200" spc="-5">
                <a:latin typeface="Times New Roman"/>
                <a:cs typeface="Times New Roman"/>
              </a:rPr>
              <a:t>their </a:t>
            </a:r>
            <a:r>
              <a:rPr dirty="0" sz="1200">
                <a:latin typeface="Times New Roman"/>
                <a:cs typeface="Times New Roman"/>
              </a:rPr>
              <a:t>jobs to </a:t>
            </a:r>
            <a:r>
              <a:rPr dirty="0" sz="1200" spc="-5">
                <a:latin typeface="Times New Roman"/>
                <a:cs typeface="Times New Roman"/>
              </a:rPr>
              <a:t>replacement </a:t>
            </a:r>
            <a:r>
              <a:rPr dirty="0" sz="1200">
                <a:latin typeface="Times New Roman"/>
                <a:cs typeface="Times New Roman"/>
              </a:rPr>
              <a:t>workers. Conditions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factories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tougher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industries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workers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2"/>
            </a:pPr>
            <a:endParaRPr sz="115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  <a:buAutoNum type="arabicPeriod" startAt="2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wait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then three</a:t>
            </a:r>
            <a:r>
              <a:rPr dirty="0" sz="1200" spc="-5">
                <a:latin typeface="Times New Roman"/>
                <a:cs typeface="Times New Roman"/>
              </a:rPr>
              <a:t> will </a:t>
            </a:r>
            <a:r>
              <a:rPr dirty="0" sz="1200">
                <a:latin typeface="Times New Roman"/>
                <a:cs typeface="Times New Roman"/>
              </a:rPr>
              <a:t>turn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at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once.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route no. 5 </a:t>
            </a:r>
            <a:r>
              <a:rPr dirty="0" sz="1200" spc="-5">
                <a:latin typeface="Times New Roman"/>
                <a:cs typeface="Times New Roman"/>
              </a:rPr>
              <a:t>buses will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 past you at a </a:t>
            </a:r>
            <a:r>
              <a:rPr dirty="0" sz="1200" spc="-5">
                <a:latin typeface="Times New Roman"/>
                <a:cs typeface="Times New Roman"/>
              </a:rPr>
              <a:t>bus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stop, even though 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aren’t full. Route no.5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to be assigned the most </a:t>
            </a:r>
            <a:r>
              <a:rPr dirty="0" sz="1200" spc="-5">
                <a:latin typeface="Times New Roman"/>
                <a:cs typeface="Times New Roman"/>
              </a:rPr>
              <a:t>ramshackle buses, </a:t>
            </a:r>
            <a:r>
              <a:rPr dirty="0" sz="1200">
                <a:latin typeface="Times New Roman"/>
                <a:cs typeface="Times New Roman"/>
              </a:rPr>
              <a:t>ones that rattle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broken </a:t>
            </a:r>
            <a:r>
              <a:rPr dirty="0" sz="1200" spc="-5">
                <a:latin typeface="Times New Roman"/>
                <a:cs typeface="Times New Roman"/>
              </a:rPr>
              <a:t>seats. When</a:t>
            </a:r>
            <a:r>
              <a:rPr dirty="0" sz="1200">
                <a:latin typeface="Times New Roman"/>
                <a:cs typeface="Times New Roman"/>
              </a:rPr>
              <a:t> 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not ride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route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no. 5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bus.</a:t>
            </a:r>
            <a:endParaRPr sz="1200">
              <a:latin typeface="Times New Roman"/>
              <a:cs typeface="Times New Roman"/>
            </a:endParaRPr>
          </a:p>
          <a:p>
            <a:pPr marL="12700" marR="545592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type – </a:t>
            </a:r>
            <a:r>
              <a:rPr dirty="0" sz="1200" spc="-5">
                <a:latin typeface="Times New Roman"/>
                <a:cs typeface="Times New Roman"/>
              </a:rPr>
              <a:t>fallacies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ignore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issue you will find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writer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change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subject, or indulge in circular reasoning, or give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to personal attack, or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create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imaginary </a:t>
            </a:r>
            <a:r>
              <a:rPr dirty="0" sz="1200">
                <a:latin typeface="Times New Roman"/>
                <a:cs typeface="Times New Roman"/>
              </a:rPr>
              <a:t>opponent. In the second type – </a:t>
            </a:r>
            <a:r>
              <a:rPr dirty="0" sz="1200" spc="-5">
                <a:latin typeface="Times New Roman"/>
                <a:cs typeface="Times New Roman"/>
              </a:rPr>
              <a:t>FALLACIES </a:t>
            </a:r>
            <a:r>
              <a:rPr dirty="0" sz="1200">
                <a:latin typeface="Times New Roman"/>
                <a:cs typeface="Times New Roman"/>
              </a:rPr>
              <a:t>that over </a:t>
            </a:r>
            <a:r>
              <a:rPr dirty="0" sz="1200" spc="-5">
                <a:latin typeface="Times New Roman"/>
                <a:cs typeface="Times New Roman"/>
              </a:rPr>
              <a:t>generalize/ oversimplify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 </a:t>
            </a:r>
            <a:r>
              <a:rPr dirty="0" sz="1200">
                <a:latin typeface="Times New Roman"/>
                <a:cs typeface="Times New Roman"/>
              </a:rPr>
              <a:t>– the writer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draw hasty conclusions on the </a:t>
            </a:r>
            <a:r>
              <a:rPr dirty="0" sz="1200" spc="-5">
                <a:latin typeface="Times New Roman"/>
                <a:cs typeface="Times New Roman"/>
              </a:rPr>
              <a:t>basis </a:t>
            </a:r>
            <a:r>
              <a:rPr dirty="0" sz="1200">
                <a:latin typeface="Times New Roman"/>
                <a:cs typeface="Times New Roman"/>
              </a:rPr>
              <a:t>of insufficient evidence,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 </a:t>
            </a:r>
            <a:r>
              <a:rPr dirty="0" sz="1200">
                <a:latin typeface="Times New Roman"/>
                <a:cs typeface="Times New Roman"/>
              </a:rPr>
              <a:t>that because a certain event </a:t>
            </a:r>
            <a:r>
              <a:rPr dirty="0" sz="1200" spc="-5">
                <a:latin typeface="Times New Roman"/>
                <a:cs typeface="Times New Roman"/>
              </a:rPr>
              <a:t>follows </a:t>
            </a:r>
            <a:r>
              <a:rPr dirty="0" sz="1200">
                <a:latin typeface="Times New Roman"/>
                <a:cs typeface="Times New Roman"/>
              </a:rPr>
              <a:t>an earlier </a:t>
            </a:r>
            <a:r>
              <a:rPr dirty="0" sz="1200" spc="-5">
                <a:latin typeface="Times New Roman"/>
                <a:cs typeface="Times New Roman"/>
              </a:rPr>
              <a:t>event, </a:t>
            </a:r>
            <a:r>
              <a:rPr dirty="0" sz="1200">
                <a:latin typeface="Times New Roman"/>
                <a:cs typeface="Times New Roman"/>
              </a:rPr>
              <a:t>the subsequent event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 of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earlier </a:t>
            </a:r>
            <a:r>
              <a:rPr dirty="0" sz="1200" spc="-5">
                <a:latin typeface="Times New Roman"/>
                <a:cs typeface="Times New Roman"/>
              </a:rPr>
              <a:t>event,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may make false comparison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analogy, </a:t>
            </a:r>
            <a:r>
              <a:rPr dirty="0" sz="1200">
                <a:latin typeface="Times New Roman"/>
                <a:cs typeface="Times New Roman"/>
              </a:rPr>
              <a:t>or the either-or-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fallacy.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  <a:p>
            <a:pPr marL="12700" marR="7620">
              <a:lnSpc>
                <a:spcPts val="1380"/>
              </a:lnSpc>
              <a:spcBef>
                <a:spcPts val="75"/>
              </a:spcBef>
            </a:pPr>
            <a:r>
              <a:rPr dirty="0" sz="1200" b="1">
                <a:latin typeface="Times New Roman"/>
                <a:cs typeface="Times New Roman"/>
              </a:rPr>
              <a:t>First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</a:t>
            </a:r>
            <a:r>
              <a:rPr dirty="0" sz="1200" spc="20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examples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unsound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reasoning,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will</a:t>
            </a:r>
            <a:r>
              <a:rPr dirty="0" sz="1200" spc="2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20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few</a:t>
            </a:r>
            <a:r>
              <a:rPr dirty="0" sz="1200" spc="20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exercises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will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give</a:t>
            </a:r>
            <a:r>
              <a:rPr dirty="0" sz="1200" b="1">
                <a:latin typeface="Times New Roman"/>
                <a:cs typeface="Times New Roman"/>
              </a:rPr>
              <a:t> you </a:t>
            </a: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spotting</a:t>
            </a:r>
            <a:r>
              <a:rPr dirty="0" sz="1200" b="1">
                <a:latin typeface="Times New Roman"/>
                <a:cs typeface="Times New Roman"/>
              </a:rPr>
              <a:t> them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your reading.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FALALCIES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IGNORE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(3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types)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changing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380"/>
              </a:lnSpc>
              <a:buAutoNum type="alphaLcParenBoth"/>
              <a:tabLst>
                <a:tab pos="228600" algn="l"/>
              </a:tabLst>
            </a:pPr>
            <a:r>
              <a:rPr dirty="0" sz="1200" spc="-5">
                <a:latin typeface="Times New Roman"/>
                <a:cs typeface="Times New Roman"/>
              </a:rPr>
              <a:t>circular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reasoning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410"/>
              </a:lnSpc>
              <a:buAutoNum type="alphaLcParenBoth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personal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attack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a)</a:t>
            </a:r>
            <a:r>
              <a:rPr dirty="0" sz="1200" spc="-5" b="1">
                <a:latin typeface="Times New Roman"/>
                <a:cs typeface="Times New Roman"/>
              </a:rPr>
              <a:t> Changing 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Subject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of argument the </a:t>
            </a:r>
            <a:r>
              <a:rPr dirty="0" sz="1200" spc="-5">
                <a:latin typeface="Times New Roman"/>
                <a:cs typeface="Times New Roman"/>
              </a:rPr>
              <a:t>writer </a:t>
            </a:r>
            <a:r>
              <a:rPr dirty="0" sz="1200">
                <a:latin typeface="Times New Roman"/>
                <a:cs typeface="Times New Roman"/>
              </a:rPr>
              <a:t>tries to divert the </a:t>
            </a:r>
            <a:r>
              <a:rPr dirty="0" sz="1200" spc="-5">
                <a:latin typeface="Times New Roman"/>
                <a:cs typeface="Times New Roman"/>
              </a:rPr>
              <a:t>audience’s </a:t>
            </a:r>
            <a:r>
              <a:rPr dirty="0" sz="1200">
                <a:latin typeface="Times New Roman"/>
                <a:cs typeface="Times New Roman"/>
              </a:rPr>
              <a:t>attention from the true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 </a:t>
            </a:r>
            <a:r>
              <a:rPr dirty="0" sz="1200">
                <a:latin typeface="Times New Roman"/>
                <a:cs typeface="Times New Roman"/>
              </a:rPr>
              <a:t>by presenting evidence </a:t>
            </a:r>
            <a:r>
              <a:rPr dirty="0" sz="1200" spc="-5">
                <a:latin typeface="Times New Roman"/>
                <a:cs typeface="Times New Roman"/>
              </a:rPr>
              <a:t>that has nothing to do with the argument e.g. The honorable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 </a:t>
            </a:r>
            <a:r>
              <a:rPr dirty="0" sz="1200">
                <a:latin typeface="Times New Roman"/>
                <a:cs typeface="Times New Roman"/>
              </a:rPr>
              <a:t>of the National </a:t>
            </a:r>
            <a:r>
              <a:rPr dirty="0" sz="1200" spc="-5">
                <a:latin typeface="Times New Roman"/>
                <a:cs typeface="Times New Roman"/>
              </a:rPr>
              <a:t>Assembly is </a:t>
            </a:r>
            <a:r>
              <a:rPr dirty="0" sz="1200">
                <a:latin typeface="Times New Roman"/>
                <a:cs typeface="Times New Roman"/>
              </a:rPr>
              <a:t>a capable </a:t>
            </a:r>
            <a:r>
              <a:rPr dirty="0" sz="1200" spc="-5">
                <a:latin typeface="Times New Roman"/>
                <a:cs typeface="Times New Roman"/>
              </a:rPr>
              <a:t>leader. He has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busy family life and prays </a:t>
            </a:r>
            <a:r>
              <a:rPr dirty="0" sz="1200">
                <a:latin typeface="Times New Roman"/>
                <a:cs typeface="Times New Roman"/>
              </a:rPr>
              <a:t> daily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5">
                <a:latin typeface="Times New Roman"/>
                <a:cs typeface="Times New Roman"/>
              </a:rPr>
              <a:t> mosque.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22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Mention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member’s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religious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sidesteps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is.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23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proposed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dam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going to be a disaster. The plans were drawn up nearly thirty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 ago, when the </a:t>
            </a:r>
            <a:r>
              <a:rPr dirty="0" sz="1200" spc="-5">
                <a:latin typeface="Times New Roman"/>
                <a:cs typeface="Times New Roman"/>
              </a:rPr>
              <a:t>affected area was </a:t>
            </a:r>
            <a:r>
              <a:rPr dirty="0" sz="1200">
                <a:latin typeface="Times New Roman"/>
                <a:cs typeface="Times New Roman"/>
              </a:rPr>
              <a:t>lightly settled. </a:t>
            </a:r>
            <a:r>
              <a:rPr dirty="0" sz="1200" spc="-5">
                <a:latin typeface="Times New Roman"/>
                <a:cs typeface="Times New Roman"/>
              </a:rPr>
              <a:t>Now,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generation later </a:t>
            </a:r>
            <a:r>
              <a:rPr dirty="0" sz="1200">
                <a:latin typeface="Times New Roman"/>
                <a:cs typeface="Times New Roman"/>
              </a:rPr>
              <a:t>the area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thickly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populated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hundreds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displaced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dam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built.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104</a:t>
            </a:fld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already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forces working for the break up of the </a:t>
            </a:r>
            <a:r>
              <a:rPr dirty="0" sz="1200" spc="-5">
                <a:latin typeface="Times New Roman"/>
                <a:cs typeface="Times New Roman"/>
              </a:rPr>
              <a:t>family </a:t>
            </a:r>
            <a:r>
              <a:rPr dirty="0" sz="1200">
                <a:latin typeface="Times New Roman"/>
                <a:cs typeface="Times New Roman"/>
              </a:rPr>
              <a:t>unit in </a:t>
            </a:r>
            <a:r>
              <a:rPr dirty="0" sz="1200" spc="-5">
                <a:latin typeface="Times New Roman"/>
                <a:cs typeface="Times New Roman"/>
              </a:rPr>
              <a:t>Pakistan these days.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environment will </a:t>
            </a:r>
            <a:r>
              <a:rPr dirty="0" sz="1200">
                <a:latin typeface="Times New Roman"/>
                <a:cs typeface="Times New Roman"/>
              </a:rPr>
              <a:t>also be </a:t>
            </a:r>
            <a:r>
              <a:rPr dirty="0" sz="1200" spc="-5">
                <a:latin typeface="Times New Roman"/>
                <a:cs typeface="Times New Roman"/>
              </a:rPr>
              <a:t>negatively </a:t>
            </a:r>
            <a:r>
              <a:rPr dirty="0" sz="1200">
                <a:latin typeface="Times New Roman"/>
                <a:cs typeface="Times New Roman"/>
              </a:rPr>
              <a:t>affected by the </a:t>
            </a:r>
            <a:r>
              <a:rPr dirty="0" sz="1200" spc="-5">
                <a:latin typeface="Times New Roman"/>
                <a:cs typeface="Times New Roman"/>
              </a:rPr>
              <a:t>construction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dam. </a:t>
            </a:r>
            <a:r>
              <a:rPr dirty="0" sz="1200">
                <a:latin typeface="Times New Roman"/>
                <a:cs typeface="Times New Roman"/>
              </a:rPr>
              <a:t>Hundreds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birds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lose their </a:t>
            </a:r>
            <a:r>
              <a:rPr dirty="0" sz="1200" spc="-5">
                <a:latin typeface="Times New Roman"/>
                <a:cs typeface="Times New Roman"/>
              </a:rPr>
              <a:t>natural</a:t>
            </a:r>
            <a:r>
              <a:rPr dirty="0" sz="1200">
                <a:latin typeface="Times New Roman"/>
                <a:cs typeface="Times New Roman"/>
              </a:rPr>
              <a:t> habitat and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die out.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author’s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conclusion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proposed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dam 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disaster?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b)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Circular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reasoning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 indent="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“Mr.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wonderful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teaching.”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Mr.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great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teacher.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 </a:t>
            </a:r>
            <a:r>
              <a:rPr dirty="0" sz="1200" spc="-5">
                <a:latin typeface="Times New Roman"/>
                <a:cs typeface="Times New Roman"/>
              </a:rPr>
              <a:t>reasons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given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repeats itself.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iound in everyday conversation </a:t>
            </a:r>
            <a:r>
              <a:rPr dirty="0" sz="1200" spc="-5">
                <a:latin typeface="Times New Roman"/>
                <a:cs typeface="Times New Roman"/>
              </a:rPr>
              <a:t>as well as </a:t>
            </a:r>
            <a:r>
              <a:rPr dirty="0" sz="1200">
                <a:latin typeface="Times New Roman"/>
                <a:cs typeface="Times New Roman"/>
              </a:rPr>
              <a:t>in writing. Irony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involves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i="1">
                <a:latin typeface="Times New Roman"/>
                <a:cs typeface="Times New Roman"/>
              </a:rPr>
              <a:t>discrepancy’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Try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spot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circular </a:t>
            </a:r>
            <a:r>
              <a:rPr dirty="0" sz="1200" spc="-5" b="1">
                <a:latin typeface="Times New Roman"/>
                <a:cs typeface="Times New Roman"/>
              </a:rPr>
              <a:t>reasoning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following</a:t>
            </a:r>
            <a:r>
              <a:rPr dirty="0" sz="1200" b="1">
                <a:latin typeface="Times New Roman"/>
                <a:cs typeface="Times New Roman"/>
              </a:rPr>
              <a:t> arguments.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  <a:buAutoNum type="romanLcParenR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vote.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voting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age 18.</a:t>
            </a:r>
            <a:endParaRPr sz="1200">
              <a:latin typeface="Times New Roman"/>
              <a:cs typeface="Times New Roman"/>
            </a:endParaRPr>
          </a:p>
          <a:p>
            <a:pPr marL="186055" indent="-173990">
              <a:lnSpc>
                <a:spcPts val="1345"/>
              </a:lnSpc>
              <a:buAutoNum type="romanLcParenR"/>
              <a:tabLst>
                <a:tab pos="186690" algn="l"/>
              </a:tabLst>
            </a:pP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5">
                <a:latin typeface="Times New Roman"/>
                <a:cs typeface="Times New Roman"/>
              </a:rPr>
              <a:t> vitamin </a:t>
            </a:r>
            <a:r>
              <a:rPr dirty="0" sz="1200">
                <a:latin typeface="Times New Roman"/>
                <a:cs typeface="Times New Roman"/>
              </a:rPr>
              <a:t>C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healthy,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improves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well-being.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 you look closely at these </a:t>
            </a:r>
            <a:r>
              <a:rPr dirty="0" sz="1200" spc="-5">
                <a:latin typeface="Times New Roman"/>
                <a:cs typeface="Times New Roman"/>
              </a:rPr>
              <a:t>arguments, </a:t>
            </a:r>
            <a:r>
              <a:rPr dirty="0" sz="1200">
                <a:latin typeface="Times New Roman"/>
                <a:cs typeface="Times New Roman"/>
              </a:rPr>
              <a:t>you will notice that the reasons </a:t>
            </a:r>
            <a:r>
              <a:rPr dirty="0" sz="1200" spc="-5">
                <a:latin typeface="Times New Roman"/>
                <a:cs typeface="Times New Roman"/>
              </a:rPr>
              <a:t>merely </a:t>
            </a:r>
            <a:r>
              <a:rPr dirty="0" sz="1200">
                <a:latin typeface="Times New Roman"/>
                <a:cs typeface="Times New Roman"/>
              </a:rPr>
              <a:t>repeat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part of the conclusion.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careful reader </a:t>
            </a:r>
            <a:r>
              <a:rPr dirty="0" sz="1200" spc="-5">
                <a:latin typeface="Times New Roman"/>
                <a:cs typeface="Times New Roman"/>
              </a:rPr>
              <a:t>wants </a:t>
            </a:r>
            <a:r>
              <a:rPr dirty="0" sz="1200">
                <a:latin typeface="Times New Roman"/>
                <a:cs typeface="Times New Roman"/>
              </a:rPr>
              <a:t>to know the </a:t>
            </a:r>
            <a:r>
              <a:rPr dirty="0" sz="1200" spc="-5" i="1">
                <a:latin typeface="Times New Roman"/>
                <a:cs typeface="Times New Roman"/>
              </a:rPr>
              <a:t>reason</a:t>
            </a:r>
            <a:r>
              <a:rPr dirty="0" sz="1200" spc="-5">
                <a:latin typeface="Times New Roman"/>
                <a:cs typeface="Times New Roman"/>
              </a:rPr>
              <a:t>, supporting </a:t>
            </a:r>
            <a:r>
              <a:rPr dirty="0" sz="1200">
                <a:latin typeface="Times New Roman"/>
                <a:cs typeface="Times New Roman"/>
              </a:rPr>
              <a:t> evidence,</a:t>
            </a:r>
            <a:r>
              <a:rPr dirty="0" sz="1200" spc="-5">
                <a:latin typeface="Times New Roman"/>
                <a:cs typeface="Times New Roman"/>
              </a:rPr>
              <a:t> not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repetition.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verbal.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o In the first </a:t>
            </a:r>
            <a:r>
              <a:rPr dirty="0" sz="1200" spc="-5">
                <a:latin typeface="Times New Roman"/>
                <a:cs typeface="Times New Roman"/>
              </a:rPr>
              <a:t>argument </a:t>
            </a:r>
            <a:r>
              <a:rPr dirty="0" sz="1200">
                <a:latin typeface="Times New Roman"/>
                <a:cs typeface="Times New Roman"/>
              </a:rPr>
              <a:t>the author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the idea that </a:t>
            </a:r>
            <a:r>
              <a:rPr dirty="0" sz="1200" spc="-5">
                <a:latin typeface="Times New Roman"/>
                <a:cs typeface="Times New Roman"/>
              </a:rPr>
              <a:t>persons </a:t>
            </a:r>
            <a:r>
              <a:rPr dirty="0" sz="1200">
                <a:latin typeface="Times New Roman"/>
                <a:cs typeface="Times New Roman"/>
              </a:rPr>
              <a:t>under </a:t>
            </a:r>
            <a:r>
              <a:rPr dirty="0" sz="1200" spc="-5">
                <a:latin typeface="Times New Roman"/>
                <a:cs typeface="Times New Roman"/>
              </a:rPr>
              <a:t>18 are too young to vote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conclusion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 i="1">
                <a:latin typeface="Times New Roman"/>
                <a:cs typeface="Times New Roman"/>
              </a:rPr>
              <a:t>reason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argument.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>
                <a:latin typeface="Times New Roman"/>
                <a:cs typeface="Times New Roman"/>
              </a:rPr>
              <a:t>real reason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advanced for why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persons </a:t>
            </a:r>
            <a:r>
              <a:rPr dirty="0" sz="1200">
                <a:latin typeface="Times New Roman"/>
                <a:cs typeface="Times New Roman"/>
              </a:rPr>
              <a:t>under 18 are too young to vote. In the second </a:t>
            </a:r>
            <a:r>
              <a:rPr dirty="0" sz="1200" spc="-5">
                <a:latin typeface="Times New Roman"/>
                <a:cs typeface="Times New Roman"/>
              </a:rPr>
              <a:t>argument, </a:t>
            </a:r>
            <a:r>
              <a:rPr dirty="0" sz="1200">
                <a:latin typeface="Times New Roman"/>
                <a:cs typeface="Times New Roman"/>
              </a:rPr>
              <a:t>the word </a:t>
            </a:r>
            <a:r>
              <a:rPr dirty="0" sz="1200" i="1">
                <a:latin typeface="Times New Roman"/>
                <a:cs typeface="Times New Roman"/>
              </a:rPr>
              <a:t>healthy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 in the conclusion conveys the same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wellbeing. </a:t>
            </a:r>
            <a:r>
              <a:rPr dirty="0" sz="1200" spc="-5">
                <a:latin typeface="Times New Roman"/>
                <a:cs typeface="Times New Roman"/>
              </a:rPr>
              <a:t>Conclusion and reason are used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one.</a:t>
            </a: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 </a:t>
            </a:r>
            <a:r>
              <a:rPr dirty="0" sz="1200">
                <a:latin typeface="Times New Roman"/>
                <a:cs typeface="Times New Roman"/>
              </a:rPr>
              <a:t>I helped you in this exercise.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 you can do the next one on your own. But before 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c) </a:t>
            </a:r>
            <a:r>
              <a:rPr dirty="0" sz="1200" spc="-5" b="1">
                <a:latin typeface="Times New Roman"/>
                <a:cs typeface="Times New Roman"/>
              </a:rPr>
              <a:t>Personal Attack</a:t>
            </a:r>
            <a:r>
              <a:rPr dirty="0" sz="1200" spc="-5">
                <a:latin typeface="Times New Roman"/>
                <a:cs typeface="Times New Roman"/>
              </a:rPr>
              <a:t>: This </a:t>
            </a:r>
            <a:r>
              <a:rPr dirty="0" sz="1200">
                <a:latin typeface="Times New Roman"/>
                <a:cs typeface="Times New Roman"/>
              </a:rPr>
              <a:t>kind of </a:t>
            </a:r>
            <a:r>
              <a:rPr dirty="0" sz="1200" spc="-5">
                <a:latin typeface="Times New Roman"/>
                <a:cs typeface="Times New Roman"/>
              </a:rPr>
              <a:t>fallacy often </a:t>
            </a:r>
            <a:r>
              <a:rPr dirty="0" sz="1200">
                <a:latin typeface="Times New Roman"/>
                <a:cs typeface="Times New Roman"/>
              </a:rPr>
              <a:t>occurs in </a:t>
            </a:r>
            <a:r>
              <a:rPr dirty="0" sz="1200" spc="-5">
                <a:latin typeface="Times New Roman"/>
                <a:cs typeface="Times New Roman"/>
              </a:rPr>
              <a:t>political debate. </a:t>
            </a:r>
            <a:r>
              <a:rPr dirty="0" sz="1200">
                <a:latin typeface="Times New Roman"/>
                <a:cs typeface="Times New Roman"/>
              </a:rPr>
              <a:t>Here the </a:t>
            </a:r>
            <a:r>
              <a:rPr dirty="0" sz="1200" spc="-5">
                <a:latin typeface="Times New Roman"/>
                <a:cs typeface="Times New Roman"/>
              </a:rPr>
              <a:t>issue </a:t>
            </a:r>
            <a:r>
              <a:rPr dirty="0" sz="1200">
                <a:latin typeface="Times New Roman"/>
                <a:cs typeface="Times New Roman"/>
              </a:rPr>
              <a:t> under </a:t>
            </a:r>
            <a:r>
              <a:rPr dirty="0" sz="1200" spc="-5">
                <a:latin typeface="Times New Roman"/>
                <a:cs typeface="Times New Roman"/>
              </a:rPr>
              <a:t>discussion is </a:t>
            </a:r>
            <a:r>
              <a:rPr dirty="0" sz="1200">
                <a:latin typeface="Times New Roman"/>
                <a:cs typeface="Times New Roman"/>
              </a:rPr>
              <a:t>ignored and the writer or </a:t>
            </a:r>
            <a:r>
              <a:rPr dirty="0" sz="1200" spc="-5">
                <a:latin typeface="Times New Roman"/>
                <a:cs typeface="Times New Roman"/>
              </a:rPr>
              <a:t>speaker focuses attention 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opponent’s </a:t>
            </a:r>
            <a:r>
              <a:rPr dirty="0" sz="1200">
                <a:latin typeface="Times New Roman"/>
                <a:cs typeface="Times New Roman"/>
              </a:rPr>
              <a:t> character.</a:t>
            </a:r>
            <a:r>
              <a:rPr dirty="0" sz="1200" spc="-5">
                <a:latin typeface="Times New Roman"/>
                <a:cs typeface="Times New Roman"/>
              </a:rPr>
              <a:t> 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“The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Honorable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National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Assembly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worthy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consideration.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father also held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assembly”.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ignores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concentrates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always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attack.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contains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b="1">
                <a:latin typeface="Times New Roman"/>
                <a:cs typeface="Times New Roman"/>
              </a:rPr>
              <a:t> example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personal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attack?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cricket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Cup.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acquired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services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useless </a:t>
            </a:r>
            <a:r>
              <a:rPr dirty="0" sz="1200">
                <a:latin typeface="Times New Roman"/>
                <a:cs typeface="Times New Roman"/>
              </a:rPr>
              <a:t>coach.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rabicPeriod"/>
              <a:tabLst>
                <a:tab pos="19367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Zila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Nazim’s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proposal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collection.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biggest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wealth by 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104</a:t>
            </a:fld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ticketing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concerned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  <a:p>
            <a:pPr marL="12700" marR="2817495">
              <a:lnSpc>
                <a:spcPts val="1380"/>
              </a:lnSpc>
              <a:spcBef>
                <a:spcPts val="70"/>
              </a:spcBef>
            </a:pPr>
            <a:r>
              <a:rPr dirty="0" sz="1200" spc="-5" b="1">
                <a:latin typeface="Times New Roman"/>
                <a:cs typeface="Times New Roman"/>
              </a:rPr>
              <a:t>B. FALLACIES THAT OVERGENERALIZE/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OVER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SIMPLIFY ISSUES (4</a:t>
            </a:r>
            <a:r>
              <a:rPr dirty="0" sz="1200" spc="-10" b="1">
                <a:latin typeface="Times New Roman"/>
                <a:cs typeface="Times New Roman"/>
              </a:rPr>
              <a:t> types)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30"/>
              </a:lnSpc>
            </a:pPr>
            <a:r>
              <a:rPr dirty="0" sz="1200">
                <a:latin typeface="Times New Roman"/>
                <a:cs typeface="Times New Roman"/>
              </a:rPr>
              <a:t>a) </a:t>
            </a:r>
            <a:r>
              <a:rPr dirty="0" sz="1200" spc="-5">
                <a:latin typeface="Times New Roman"/>
                <a:cs typeface="Times New Roman"/>
              </a:rPr>
              <a:t>Hasty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generalization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(b) false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(c) </a:t>
            </a:r>
            <a:r>
              <a:rPr dirty="0" sz="1200">
                <a:latin typeface="Times New Roman"/>
                <a:cs typeface="Times New Roman"/>
              </a:rPr>
              <a:t>false </a:t>
            </a:r>
            <a:r>
              <a:rPr dirty="0" sz="1200" spc="-5">
                <a:latin typeface="Times New Roman"/>
                <a:cs typeface="Times New Roman"/>
              </a:rPr>
              <a:t>comparison</a:t>
            </a:r>
            <a:r>
              <a:rPr dirty="0" sz="1200">
                <a:latin typeface="Times New Roman"/>
                <a:cs typeface="Times New Roman"/>
              </a:rPr>
              <a:t> (d)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either-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fallacy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a)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Hasty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generalization: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fallacy.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person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draws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insufficient evidence </a:t>
            </a:r>
            <a:r>
              <a:rPr dirty="0" sz="1200" spc="-5">
                <a:latin typeface="Times New Roman"/>
                <a:cs typeface="Times New Roman"/>
              </a:rPr>
              <a:t>is making </a:t>
            </a:r>
            <a:r>
              <a:rPr dirty="0" sz="1200">
                <a:latin typeface="Times New Roman"/>
                <a:cs typeface="Times New Roman"/>
              </a:rPr>
              <a:t>a hasty </a:t>
            </a:r>
            <a:r>
              <a:rPr dirty="0" sz="1200" spc="-5">
                <a:latin typeface="Times New Roman"/>
                <a:cs typeface="Times New Roman"/>
              </a:rPr>
              <a:t>generalization. </a:t>
            </a: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example will make </a:t>
            </a:r>
            <a:r>
              <a:rPr dirty="0" sz="1200">
                <a:latin typeface="Times New Roman"/>
                <a:cs typeface="Times New Roman"/>
              </a:rPr>
              <a:t> this</a:t>
            </a:r>
            <a:r>
              <a:rPr dirty="0" sz="1200" spc="-5">
                <a:latin typeface="Times New Roman"/>
                <a:cs typeface="Times New Roman"/>
              </a:rPr>
              <a:t> amply</a:t>
            </a:r>
            <a:r>
              <a:rPr dirty="0" sz="1200">
                <a:latin typeface="Times New Roman"/>
                <a:cs typeface="Times New Roman"/>
              </a:rPr>
              <a:t> clear.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Iranians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stupid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talent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Iranian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bottom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conclusion </a:t>
            </a:r>
            <a:r>
              <a:rPr dirty="0" sz="1200">
                <a:latin typeface="Times New Roman"/>
                <a:cs typeface="Times New Roman"/>
              </a:rPr>
              <a:t>about a whole nation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(boys)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jump. </a:t>
            </a:r>
            <a:r>
              <a:rPr dirty="0" sz="1200">
                <a:latin typeface="Times New Roman"/>
                <a:cs typeface="Times New Roman"/>
              </a:rPr>
              <a:t> ext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IRONY.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commonly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 b="1">
                <a:latin typeface="Times New Roman"/>
                <a:cs typeface="Times New Roman"/>
              </a:rPr>
              <a:t>Exercise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10"/>
              </a:spcBef>
            </a:pPr>
            <a:r>
              <a:rPr dirty="0" sz="1200" b="1">
                <a:latin typeface="Times New Roman"/>
                <a:cs typeface="Times New Roman"/>
              </a:rPr>
              <a:t>Three statements are </a:t>
            </a:r>
            <a:r>
              <a:rPr dirty="0" sz="1200" spc="-5" b="1">
                <a:latin typeface="Times New Roman"/>
                <a:cs typeface="Times New Roman"/>
              </a:rPr>
              <a:t>given followed by </a:t>
            </a:r>
            <a:r>
              <a:rPr dirty="0" sz="1200" b="1">
                <a:latin typeface="Times New Roman"/>
                <a:cs typeface="Times New Roman"/>
              </a:rPr>
              <a:t>four </a:t>
            </a:r>
            <a:r>
              <a:rPr dirty="0" sz="1200" spc="-5" b="1">
                <a:latin typeface="Times New Roman"/>
                <a:cs typeface="Times New Roman"/>
              </a:rPr>
              <a:t>possible conclusions. </a:t>
            </a:r>
            <a:r>
              <a:rPr dirty="0" sz="1200" b="1">
                <a:latin typeface="Times New Roman"/>
                <a:cs typeface="Times New Roman"/>
              </a:rPr>
              <a:t>Three of </a:t>
            </a:r>
            <a:r>
              <a:rPr dirty="0" sz="1200" spc="-5" b="1">
                <a:latin typeface="Times New Roman"/>
                <a:cs typeface="Times New Roman"/>
              </a:rPr>
              <a:t>these </a:t>
            </a:r>
            <a:r>
              <a:rPr dirty="0" sz="1200" b="1">
                <a:latin typeface="Times New Roman"/>
                <a:cs typeface="Times New Roman"/>
              </a:rPr>
              <a:t>are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hasty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generalizations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cannot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logically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drawn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from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evidence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given,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and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fourth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valid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conclusion.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conclusion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think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valid.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5">
                <a:latin typeface="Times New Roman"/>
                <a:cs typeface="Times New Roman"/>
              </a:rPr>
              <a:t> time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sea-side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Karachi,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face got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sun-burnt.</a:t>
            </a:r>
            <a:endParaRPr sz="1200">
              <a:latin typeface="Times New Roman"/>
              <a:cs typeface="Times New Roman"/>
            </a:endParaRPr>
          </a:p>
          <a:p>
            <a:pPr marL="12700" marR="42100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seaside,</a:t>
            </a:r>
            <a:r>
              <a:rPr dirty="0" sz="1200">
                <a:latin typeface="Times New Roman"/>
                <a:cs typeface="Times New Roman"/>
              </a:rPr>
              <a:t> 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couldn’t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swim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water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 </a:t>
            </a:r>
            <a:r>
              <a:rPr dirty="0" sz="1200" spc="-5">
                <a:latin typeface="Times New Roman"/>
                <a:cs typeface="Times New Roman"/>
              </a:rPr>
              <a:t>cold.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eriod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seaside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Karachi;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stepped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fish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hospital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spikes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removed</a:t>
            </a:r>
            <a:r>
              <a:rPr dirty="0" sz="1200">
                <a:latin typeface="Times New Roman"/>
                <a:cs typeface="Times New Roman"/>
              </a:rPr>
              <a:t>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foot.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Out</a:t>
            </a:r>
            <a:r>
              <a:rPr dirty="0" sz="1200" b="1">
                <a:latin typeface="Times New Roman"/>
                <a:cs typeface="Times New Roman"/>
              </a:rPr>
              <a:t> of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four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conclusions</a:t>
            </a:r>
            <a:r>
              <a:rPr dirty="0" sz="1200" b="1">
                <a:latin typeface="Times New Roman"/>
                <a:cs typeface="Times New Roman"/>
              </a:rPr>
              <a:t> given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would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most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valid?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75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seaside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unsafe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public.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AutoNum type="alphaLcParenR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seaside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polluted </a:t>
            </a:r>
            <a:r>
              <a:rPr dirty="0" sz="1200">
                <a:latin typeface="Times New Roman"/>
                <a:cs typeface="Times New Roman"/>
              </a:rPr>
              <a:t>place.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experiences.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AutoNum type="alphaLcParenR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seaside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visit.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did 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choose? </a:t>
            </a:r>
            <a:r>
              <a:rPr dirty="0" sz="1200" spc="-5">
                <a:latin typeface="Times New Roman"/>
                <a:cs typeface="Times New Roman"/>
              </a:rPr>
              <a:t>Obviously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answer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b)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False</a:t>
            </a:r>
            <a:r>
              <a:rPr dirty="0" sz="1200" spc="1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Cause:</a:t>
            </a:r>
            <a:r>
              <a:rPr dirty="0" sz="1200" spc="1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probably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heard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saying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joke,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“I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 to be a dust storm today because I </a:t>
            </a:r>
            <a:r>
              <a:rPr dirty="0" sz="1200" spc="-5">
                <a:latin typeface="Times New Roman"/>
                <a:cs typeface="Times New Roman"/>
              </a:rPr>
              <a:t>washed my </a:t>
            </a:r>
            <a:r>
              <a:rPr dirty="0" sz="1200">
                <a:latin typeface="Times New Roman"/>
                <a:cs typeface="Times New Roman"/>
              </a:rPr>
              <a:t>hair”.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events </a:t>
            </a:r>
            <a:r>
              <a:rPr dirty="0" sz="1200" spc="-5">
                <a:latin typeface="Times New Roman"/>
                <a:cs typeface="Times New Roman"/>
              </a:rPr>
              <a:t>mentioned </a:t>
            </a:r>
            <a:r>
              <a:rPr dirty="0" sz="1200">
                <a:latin typeface="Times New Roman"/>
                <a:cs typeface="Times New Roman"/>
              </a:rPr>
              <a:t> have no connection whatsoever. </a:t>
            </a:r>
            <a:r>
              <a:rPr dirty="0" sz="1200" spc="-5">
                <a:latin typeface="Times New Roman"/>
                <a:cs typeface="Times New Roman"/>
              </a:rPr>
              <a:t>Well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was just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tell you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often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life we make </a:t>
            </a:r>
            <a:r>
              <a:rPr dirty="0" sz="1200">
                <a:latin typeface="Times New Roman"/>
                <a:cs typeface="Times New Roman"/>
              </a:rPr>
              <a:t> such wrong associations –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Cause-and-effect situations are not easy to analyze,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people tend to </a:t>
            </a:r>
            <a:r>
              <a:rPr dirty="0" sz="1200" spc="-5">
                <a:latin typeface="Times New Roman"/>
                <a:cs typeface="Times New Roman"/>
              </a:rPr>
              <a:t>oversimplify </a:t>
            </a:r>
            <a:r>
              <a:rPr dirty="0" sz="1200">
                <a:latin typeface="Times New Roman"/>
                <a:cs typeface="Times New Roman"/>
              </a:rPr>
              <a:t>them by </a:t>
            </a:r>
            <a:r>
              <a:rPr dirty="0" sz="1200" spc="-5">
                <a:latin typeface="Times New Roman"/>
                <a:cs typeface="Times New Roman"/>
              </a:rPr>
              <a:t>ignoring other possible causes. To identify 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 </a:t>
            </a:r>
            <a:r>
              <a:rPr dirty="0" sz="1200">
                <a:latin typeface="Times New Roman"/>
                <a:cs typeface="Times New Roman"/>
              </a:rPr>
              <a:t>using a false cause, 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alternate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causes.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Look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following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argument: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Atlas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prosperous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Mr.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Hamid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chairman.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Clearly,</a:t>
            </a:r>
            <a:r>
              <a:rPr dirty="0" sz="1200" spc="-5">
                <a:latin typeface="Times New Roman"/>
                <a:cs typeface="Times New Roman"/>
              </a:rPr>
              <a:t> 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its</a:t>
            </a:r>
            <a:r>
              <a:rPr dirty="0" sz="1200">
                <a:latin typeface="Times New Roman"/>
                <a:cs typeface="Times New Roman"/>
              </a:rPr>
              <a:t> decline.</a:t>
            </a:r>
            <a:endParaRPr sz="1200">
              <a:latin typeface="Times New Roman"/>
              <a:cs typeface="Times New Roman"/>
            </a:endParaRPr>
          </a:p>
          <a:p>
            <a:pPr marL="12700" marR="286766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Event </a:t>
            </a:r>
            <a:r>
              <a:rPr dirty="0" sz="1200" spc="-5">
                <a:latin typeface="Times New Roman"/>
                <a:cs typeface="Times New Roman"/>
              </a:rPr>
              <a:t>A: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Mr.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Hamid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chairman.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B: The </a:t>
            </a:r>
            <a:r>
              <a:rPr dirty="0" sz="1200" spc="-5">
                <a:latin typeface="Times New Roman"/>
                <a:cs typeface="Times New Roman"/>
              </a:rPr>
              <a:t>Atlas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Tyre Company’s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104</a:t>
            </a:fld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 spc="-5">
                <a:latin typeface="Times New Roman"/>
                <a:cs typeface="Times New Roman"/>
              </a:rPr>
              <a:t>declined.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Well,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responsible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not be </a:t>
            </a:r>
            <a:r>
              <a:rPr dirty="0" sz="1200" spc="-5">
                <a:latin typeface="Times New Roman"/>
                <a:cs typeface="Times New Roman"/>
              </a:rPr>
              <a:t>familiar with. When </a:t>
            </a:r>
            <a:r>
              <a:rPr dirty="0" sz="1200">
                <a:latin typeface="Times New Roman"/>
                <a:cs typeface="Times New Roman"/>
              </a:rPr>
              <a:t>writing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ironic </a:t>
            </a:r>
            <a:r>
              <a:rPr dirty="0" sz="1200">
                <a:latin typeface="Times New Roman"/>
                <a:cs typeface="Times New Roman"/>
              </a:rPr>
              <a:t>tone, it </a:t>
            </a:r>
            <a:r>
              <a:rPr dirty="0" sz="1200" spc="-5">
                <a:latin typeface="Times New Roman"/>
                <a:cs typeface="Times New Roman"/>
              </a:rPr>
              <a:t>says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thing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opposi.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previous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chairman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affect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company, </a:t>
            </a:r>
            <a:r>
              <a:rPr dirty="0" sz="1200">
                <a:latin typeface="Times New Roman"/>
                <a:cs typeface="Times New Roman"/>
              </a:rPr>
              <a:t>or perhaps the </a:t>
            </a:r>
            <a:r>
              <a:rPr dirty="0" sz="1200" spc="-5">
                <a:latin typeface="Times New Roman"/>
                <a:cs typeface="Times New Roman"/>
              </a:rPr>
              <a:t>market </a:t>
            </a:r>
            <a:r>
              <a:rPr dirty="0" sz="1200">
                <a:latin typeface="Times New Roman"/>
                <a:cs typeface="Times New Roman"/>
              </a:rPr>
              <a:t>conditions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changed. </a:t>
            </a:r>
            <a:r>
              <a:rPr dirty="0" sz="1200" spc="-5">
                <a:latin typeface="Times New Roman"/>
                <a:cs typeface="Times New Roman"/>
              </a:rPr>
              <a:t>It’s </a:t>
            </a:r>
            <a:r>
              <a:rPr dirty="0" sz="1200">
                <a:latin typeface="Times New Roman"/>
                <a:cs typeface="Times New Roman"/>
              </a:rPr>
              <a:t>easy but </a:t>
            </a:r>
            <a:r>
              <a:rPr dirty="0" sz="1200" spc="-5">
                <a:latin typeface="Times New Roman"/>
                <a:cs typeface="Times New Roman"/>
              </a:rPr>
              <a:t>incorrect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assume 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 because</a:t>
            </a:r>
            <a:r>
              <a:rPr dirty="0" sz="1200" spc="-5">
                <a:latin typeface="Times New Roman"/>
                <a:cs typeface="Times New Roman"/>
              </a:rPr>
              <a:t> A came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caused B.</a:t>
            </a:r>
            <a:endParaRPr sz="1200">
              <a:latin typeface="Times New Roman"/>
              <a:cs typeface="Times New Roman"/>
            </a:endParaRPr>
          </a:p>
          <a:p>
            <a:pPr marL="12700" marR="5720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36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b="1">
                <a:latin typeface="Times New Roman"/>
                <a:cs typeface="Times New Roman"/>
              </a:rPr>
              <a:t>Exercise: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contains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 cause?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spcBef>
                <a:spcPts val="5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lazy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 off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Murree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terrible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weather.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July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continuously.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buAutoNum type="arabicPeriod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headache.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allergic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Irony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everyday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conversation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Irony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sz="1200" i="1">
                <a:latin typeface="Times New Roman"/>
                <a:cs typeface="Times New Roman"/>
              </a:rPr>
              <a:t>discrepancy’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b="1">
                <a:latin typeface="Times New Roman"/>
                <a:cs typeface="Times New Roman"/>
              </a:rPr>
              <a:t>m</a:t>
            </a:r>
            <a:r>
              <a:rPr dirty="0" sz="1200" spc="-5" b="1">
                <a:latin typeface="Times New Roman"/>
                <a:cs typeface="Times New Roman"/>
              </a:rPr>
              <a:t> 37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(c)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False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Comparison: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error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–when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things are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are.</a:t>
            </a:r>
            <a:r>
              <a:rPr dirty="0" sz="1200" spc="-5">
                <a:latin typeface="Times New Roman"/>
                <a:cs typeface="Times New Roman"/>
              </a:rPr>
              <a:t> For </a:t>
            </a:r>
            <a:r>
              <a:rPr dirty="0" sz="1200">
                <a:latin typeface="Times New Roman"/>
                <a:cs typeface="Times New Roman"/>
              </a:rPr>
              <a:t>instance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following argument: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village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doors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unlocked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think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in the city to have locks on your front door. To judge whether or not the above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 is </a:t>
            </a:r>
            <a:r>
              <a:rPr dirty="0" sz="1200">
                <a:latin typeface="Times New Roman"/>
                <a:cs typeface="Times New Roman"/>
              </a:rPr>
              <a:t>a false </a:t>
            </a:r>
            <a:r>
              <a:rPr dirty="0" sz="1200" spc="-5">
                <a:latin typeface="Times New Roman"/>
                <a:cs typeface="Times New Roman"/>
              </a:rPr>
              <a:t>comparison consider </a:t>
            </a:r>
            <a:r>
              <a:rPr dirty="0" sz="1200">
                <a:latin typeface="Times New Roman"/>
                <a:cs typeface="Times New Roman"/>
              </a:rPr>
              <a:t>if the </a:t>
            </a:r>
            <a:r>
              <a:rPr dirty="0" sz="1200" spc="-5">
                <a:latin typeface="Times New Roman"/>
                <a:cs typeface="Times New Roman"/>
              </a:rPr>
              <a:t>two situations </a:t>
            </a:r>
            <a:r>
              <a:rPr dirty="0" sz="1200">
                <a:latin typeface="Times New Roman"/>
                <a:cs typeface="Times New Roman"/>
              </a:rPr>
              <a:t>are alike. The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situations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alike-one is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city 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a lack of </a:t>
            </a:r>
            <a:r>
              <a:rPr dirty="0" sz="1200" spc="-5">
                <a:latin typeface="Times New Roman"/>
                <a:cs typeface="Times New Roman"/>
              </a:rPr>
              <a:t>security.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b="1">
                <a:latin typeface="Times New Roman"/>
                <a:cs typeface="Times New Roman"/>
              </a:rPr>
              <a:t>Exercise: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Decide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contains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false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comparison.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You’ll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turned </a:t>
            </a:r>
            <a:r>
              <a:rPr dirty="0" sz="1200" spc="-5">
                <a:latin typeface="Times New Roman"/>
                <a:cs typeface="Times New Roman"/>
              </a:rPr>
              <a:t>out.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colleagues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either.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3515" algn="l"/>
              </a:tabLst>
            </a:pP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pillion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riding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countries,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39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(d)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Either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–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fallacy: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sides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Offering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actually </a:t>
            </a:r>
            <a:r>
              <a:rPr dirty="0" sz="1200">
                <a:latin typeface="Times New Roman"/>
                <a:cs typeface="Times New Roman"/>
              </a:rPr>
              <a:t>exist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either-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fallacy.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Consider the following</a:t>
            </a:r>
            <a:r>
              <a:rPr dirty="0" sz="1200" b="1">
                <a:latin typeface="Times New Roman"/>
                <a:cs typeface="Times New Roman"/>
              </a:rPr>
              <a:t> example: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unrestricted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censorship.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ignores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fact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a person can </a:t>
            </a:r>
            <a:r>
              <a:rPr dirty="0" sz="1200" spc="-5">
                <a:latin typeface="Times New Roman"/>
                <a:cs typeface="Times New Roman"/>
              </a:rPr>
              <a:t>believe </a:t>
            </a:r>
            <a:r>
              <a:rPr dirty="0" sz="1200">
                <a:latin typeface="Times New Roman"/>
                <a:cs typeface="Times New Roman"/>
              </a:rPr>
              <a:t>in free speech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the same time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believe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laws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prohibit people from making </a:t>
            </a:r>
            <a:r>
              <a:rPr dirty="0" sz="1200">
                <a:latin typeface="Times New Roman"/>
                <a:cs typeface="Times New Roman"/>
              </a:rPr>
              <a:t>false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damage </a:t>
            </a:r>
            <a:r>
              <a:rPr dirty="0" sz="1200">
                <a:latin typeface="Times New Roman"/>
                <a:cs typeface="Times New Roman"/>
              </a:rPr>
              <a:t>another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person’s reputation-i.e. slander. </a:t>
            </a:r>
            <a:r>
              <a:rPr dirty="0" sz="1200" spc="-5">
                <a:latin typeface="Times New Roman"/>
                <a:cs typeface="Times New Roman"/>
              </a:rPr>
              <a:t>Now remember </a:t>
            </a:r>
            <a:r>
              <a:rPr dirty="0" sz="1200">
                <a:latin typeface="Times New Roman"/>
                <a:cs typeface="Times New Roman"/>
              </a:rPr>
              <a:t>only </a:t>
            </a:r>
            <a:r>
              <a:rPr dirty="0" sz="1200" spc="-5">
                <a:latin typeface="Times New Roman"/>
                <a:cs typeface="Times New Roman"/>
              </a:rPr>
              <a:t>some issues/problems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two sides. </a:t>
            </a:r>
            <a:r>
              <a:rPr dirty="0" sz="1200">
                <a:latin typeface="Times New Roman"/>
                <a:cs typeface="Times New Roman"/>
              </a:rPr>
              <a:t> only- for instance you either </a:t>
            </a:r>
            <a:r>
              <a:rPr dirty="0" sz="1200" spc="-5">
                <a:latin typeface="Times New Roman"/>
                <a:cs typeface="Times New Roman"/>
              </a:rPr>
              <a:t>pass </a:t>
            </a:r>
            <a:r>
              <a:rPr dirty="0" sz="1200">
                <a:latin typeface="Times New Roman"/>
                <a:cs typeface="Times New Roman"/>
              </a:rPr>
              <a:t>the exam or you don’t but </a:t>
            </a:r>
            <a:r>
              <a:rPr dirty="0" sz="1200" spc="-5">
                <a:latin typeface="Times New Roman"/>
                <a:cs typeface="Times New Roman"/>
              </a:rPr>
              <a:t>most issues/problems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facets or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sides.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01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Exercise: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Decide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statements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contains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example</a:t>
            </a:r>
            <a:r>
              <a:rPr dirty="0" sz="1200" spc="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either-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fallacy.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maid-servant </a:t>
            </a:r>
            <a:r>
              <a:rPr dirty="0" sz="1200">
                <a:latin typeface="Times New Roman"/>
                <a:cs typeface="Times New Roman"/>
              </a:rPr>
              <a:t>went off duty early, and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the gold bracelet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discovered missing,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she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have </a:t>
            </a:r>
            <a:r>
              <a:rPr dirty="0" sz="1200" spc="-5">
                <a:latin typeface="Times New Roman"/>
                <a:cs typeface="Times New Roman"/>
              </a:rPr>
              <a:t>stolen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2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strong,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healthy.</a:t>
            </a:r>
            <a:endParaRPr sz="1200">
              <a:latin typeface="Times New Roman"/>
              <a:cs typeface="Times New Roman"/>
            </a:endParaRPr>
          </a:p>
          <a:p>
            <a:pPr marL="12700" marR="577215">
              <a:lnSpc>
                <a:spcPts val="1380"/>
              </a:lnSpc>
              <a:spcBef>
                <a:spcPts val="65"/>
              </a:spcBef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 don’t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ballpoint </a:t>
            </a:r>
            <a:r>
              <a:rPr dirty="0" sz="1200">
                <a:latin typeface="Times New Roman"/>
                <a:cs typeface="Times New Roman"/>
              </a:rPr>
              <a:t>pen to write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it’s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necessary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you to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one either.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41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looked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 </a:t>
            </a:r>
            <a:r>
              <a:rPr dirty="0" sz="1200">
                <a:latin typeface="Times New Roman"/>
                <a:cs typeface="Times New Roman"/>
              </a:rPr>
              <a:t> thinking – and these were: identifying </a:t>
            </a:r>
            <a:r>
              <a:rPr dirty="0" sz="1200" spc="-5">
                <a:latin typeface="Times New Roman"/>
                <a:cs typeface="Times New Roman"/>
              </a:rPr>
              <a:t>purpose </a:t>
            </a:r>
            <a:r>
              <a:rPr dirty="0" sz="1200">
                <a:latin typeface="Times New Roman"/>
                <a:cs typeface="Times New Roman"/>
              </a:rPr>
              <a:t>and tone and evaluating </a:t>
            </a:r>
            <a:r>
              <a:rPr dirty="0" sz="1200" spc="-5">
                <a:latin typeface="Times New Roman"/>
                <a:cs typeface="Times New Roman"/>
              </a:rPr>
              <a:t>arguments.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5">
                <a:latin typeface="Times New Roman"/>
                <a:cs typeface="Times New Roman"/>
              </a:rPr>
              <a:t>aimed </a:t>
            </a:r>
            <a:r>
              <a:rPr dirty="0" sz="1200">
                <a:latin typeface="Times New Roman"/>
                <a:cs typeface="Times New Roman"/>
              </a:rPr>
              <a:t>at developing advanced, critical levels of </a:t>
            </a:r>
            <a:r>
              <a:rPr dirty="0" sz="1200" spc="-5">
                <a:latin typeface="Times New Roman"/>
                <a:cs typeface="Times New Roman"/>
              </a:rPr>
              <a:t>comprehension. </a:t>
            </a:r>
            <a:r>
              <a:rPr dirty="0" sz="1200">
                <a:latin typeface="Times New Roman"/>
                <a:cs typeface="Times New Roman"/>
              </a:rPr>
              <a:t>In the next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5">
                <a:latin typeface="Times New Roman"/>
                <a:cs typeface="Times New Roman"/>
              </a:rPr>
              <a:t> way </a:t>
            </a:r>
            <a:r>
              <a:rPr dirty="0" sz="1200">
                <a:latin typeface="Times New Roman"/>
                <a:cs typeface="Times New Roman"/>
              </a:rPr>
              <a:t>of developing </a:t>
            </a:r>
            <a:r>
              <a:rPr dirty="0" sz="1200" spc="-5">
                <a:latin typeface="Times New Roman"/>
                <a:cs typeface="Times New Roman"/>
              </a:rPr>
              <a:t>comprehension.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eaning that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doesn’t quite fit - and it usually </a:t>
            </a:r>
            <a:r>
              <a:rPr dirty="0" sz="1200" spc="-5">
                <a:latin typeface="Times New Roman"/>
                <a:cs typeface="Times New Roman"/>
              </a:rPr>
              <a:t>takes two forms situational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verbal.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next exercise I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tell you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IRONY.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commonly used tone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one which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not be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with. When writing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ironic </a:t>
            </a:r>
            <a:r>
              <a:rPr dirty="0" sz="1200">
                <a:latin typeface="Times New Roman"/>
                <a:cs typeface="Times New Roman"/>
              </a:rPr>
              <a:t>tone, it </a:t>
            </a:r>
            <a:r>
              <a:rPr dirty="0" sz="1200" spc="-5">
                <a:latin typeface="Times New Roman"/>
                <a:cs typeface="Times New Roman"/>
              </a:rPr>
              <a:t>says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 and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the opposite. Irony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found in </a:t>
            </a:r>
            <a:r>
              <a:rPr dirty="0" sz="1200" spc="-5">
                <a:latin typeface="Times New Roman"/>
                <a:cs typeface="Times New Roman"/>
              </a:rPr>
              <a:t>everyday </a:t>
            </a:r>
            <a:r>
              <a:rPr dirty="0" sz="1200">
                <a:latin typeface="Times New Roman"/>
                <a:cs typeface="Times New Roman"/>
              </a:rPr>
              <a:t>conversation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writing.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Irony always involves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i="1">
                <a:latin typeface="Times New Roman"/>
                <a:cs typeface="Times New Roman"/>
              </a:rPr>
              <a:t>discrepancy’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meaning that something doesn’t quite fit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and it </a:t>
            </a:r>
            <a:r>
              <a:rPr dirty="0" sz="1200">
                <a:latin typeface="Times New Roman"/>
                <a:cs typeface="Times New Roman"/>
              </a:rPr>
              <a:t> usually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forms </a:t>
            </a:r>
            <a:r>
              <a:rPr dirty="0" sz="1200">
                <a:latin typeface="Times New Roman"/>
                <a:cs typeface="Times New Roman"/>
              </a:rPr>
              <a:t>situational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verbal.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-17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Cloze</a:t>
            </a:r>
            <a:r>
              <a:rPr dirty="0" sz="1200" b="1">
                <a:latin typeface="Times New Roman"/>
                <a:cs typeface="Times New Roman"/>
              </a:rPr>
              <a:t> for </a:t>
            </a:r>
            <a:r>
              <a:rPr dirty="0" sz="1200" spc="-5" b="1">
                <a:latin typeface="Times New Roman"/>
                <a:cs typeface="Times New Roman"/>
              </a:rPr>
              <a:t>Comprehension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far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reading activity that you have had practice in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the usual reading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comprehension.</a:t>
            </a:r>
            <a:r>
              <a:rPr dirty="0" sz="1200">
                <a:latin typeface="Times New Roman"/>
                <a:cs typeface="Times New Roman"/>
              </a:rPr>
              <a:t> It required you to concentrate only on certain sections of the reading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 In this </a:t>
            </a:r>
            <a:r>
              <a:rPr dirty="0" sz="1200" spc="-5">
                <a:latin typeface="Times New Roman"/>
                <a:cs typeface="Times New Roman"/>
              </a:rPr>
              <a:t>lesson, you will </a:t>
            </a:r>
            <a:r>
              <a:rPr dirty="0" sz="1200">
                <a:latin typeface="Times New Roman"/>
                <a:cs typeface="Times New Roman"/>
              </a:rPr>
              <a:t>be introduced to another </a:t>
            </a:r>
            <a:r>
              <a:rPr dirty="0" sz="1200" spc="-5">
                <a:latin typeface="Times New Roman"/>
                <a:cs typeface="Times New Roman"/>
              </a:rPr>
              <a:t>procedure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developing </a:t>
            </a:r>
            <a:r>
              <a:rPr dirty="0" sz="1200">
                <a:latin typeface="Times New Roman"/>
                <a:cs typeface="Times New Roman"/>
              </a:rPr>
              <a:t>reading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comprehension, </a:t>
            </a:r>
            <a:r>
              <a:rPr dirty="0" sz="1200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the CLOZE procedure.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this cloze procedure?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selected from which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deleted 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regular intervals. You, the </a:t>
            </a:r>
            <a:r>
              <a:rPr dirty="0" sz="1200" spc="-5">
                <a:latin typeface="Times New Roman"/>
                <a:cs typeface="Times New Roman"/>
              </a:rPr>
              <a:t>reader, have to fill in the missing words. To fill the deletion,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learner </a:t>
            </a:r>
            <a:r>
              <a:rPr dirty="0" sz="1200">
                <a:latin typeface="Times New Roman"/>
                <a:cs typeface="Times New Roman"/>
              </a:rPr>
              <a:t>concentrates on a wider proportion of the text. It also requires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at regular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intervals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ensures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him / her to make </a:t>
            </a:r>
            <a:r>
              <a:rPr dirty="0" sz="1200" spc="-5">
                <a:latin typeface="Times New Roman"/>
                <a:cs typeface="Times New Roman"/>
              </a:rPr>
              <a:t>inferences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deleted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usually </a:t>
            </a:r>
            <a:r>
              <a:rPr dirty="0" sz="1200" spc="-5">
                <a:latin typeface="Times New Roman"/>
                <a:cs typeface="Times New Roman"/>
              </a:rPr>
              <a:t>comprise grammatical </a:t>
            </a:r>
            <a:r>
              <a:rPr dirty="0" sz="1200">
                <a:latin typeface="Times New Roman"/>
                <a:cs typeface="Times New Roman"/>
              </a:rPr>
              <a:t>and lexical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and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student’s </a:t>
            </a:r>
            <a:r>
              <a:rPr dirty="0" sz="1200">
                <a:latin typeface="Times New Roman"/>
                <a:cs typeface="Times New Roman"/>
              </a:rPr>
              <a:t> choice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to fill in the gaps that </a:t>
            </a:r>
            <a:r>
              <a:rPr dirty="0" sz="1200" spc="-5">
                <a:latin typeface="Times New Roman"/>
                <a:cs typeface="Times New Roman"/>
              </a:rPr>
              <a:t>reveals </a:t>
            </a:r>
            <a:r>
              <a:rPr dirty="0" sz="1200">
                <a:latin typeface="Times New Roman"/>
                <a:cs typeface="Times New Roman"/>
              </a:rPr>
              <a:t>his/her understanding of the </a:t>
            </a:r>
            <a:r>
              <a:rPr dirty="0" sz="1200" spc="-5">
                <a:latin typeface="Times New Roman"/>
                <a:cs typeface="Times New Roman"/>
              </a:rPr>
              <a:t>passage 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grasp of </a:t>
            </a:r>
            <a:r>
              <a:rPr dirty="0" sz="1200">
                <a:latin typeface="Times New Roman"/>
                <a:cs typeface="Times New Roman"/>
              </a:rPr>
              <a:t>the language.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favour.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encourages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fluent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 to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range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5">
                <a:latin typeface="Times New Roman"/>
                <a:cs typeface="Times New Roman"/>
              </a:rPr>
              <a:t> skills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complete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task.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provoking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trains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semantic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related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concepts</a:t>
            </a:r>
            <a:endParaRPr sz="1200">
              <a:latin typeface="Times New Roman"/>
              <a:cs typeface="Times New Roman"/>
            </a:endParaRPr>
          </a:p>
          <a:p>
            <a:pPr marL="202565" indent="-190500">
              <a:lnSpc>
                <a:spcPts val="1315"/>
              </a:lnSpc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carefully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structural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clues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Cloze thus helps in </a:t>
            </a:r>
            <a:r>
              <a:rPr dirty="0" sz="1200" spc="-5">
                <a:latin typeface="Times New Roman"/>
                <a:cs typeface="Times New Roman"/>
              </a:rPr>
              <a:t>developing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habit of </a:t>
            </a:r>
            <a:r>
              <a:rPr dirty="0" sz="1200" spc="-5" b="1">
                <a:latin typeface="Times New Roman"/>
                <a:cs typeface="Times New Roman"/>
              </a:rPr>
              <a:t>concentrated </a:t>
            </a:r>
            <a:r>
              <a:rPr dirty="0" sz="1200">
                <a:latin typeface="Times New Roman"/>
                <a:cs typeface="Times New Roman"/>
              </a:rPr>
              <a:t>reading, of going </a:t>
            </a:r>
            <a:r>
              <a:rPr dirty="0" sz="1200" spc="-5" b="1">
                <a:latin typeface="Times New Roman"/>
                <a:cs typeface="Times New Roman"/>
              </a:rPr>
              <a:t>beyond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immediate </a:t>
            </a:r>
            <a:r>
              <a:rPr dirty="0" sz="1200">
                <a:latin typeface="Times New Roman"/>
                <a:cs typeface="Times New Roman"/>
              </a:rPr>
              <a:t>sentence for drawing </a:t>
            </a:r>
            <a:r>
              <a:rPr dirty="0" sz="1200" spc="-5">
                <a:latin typeface="Times New Roman"/>
                <a:cs typeface="Times New Roman"/>
              </a:rPr>
              <a:t>meaning,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 b="1">
                <a:latin typeface="Times New Roman"/>
                <a:cs typeface="Times New Roman"/>
              </a:rPr>
              <a:t>skimming </a:t>
            </a:r>
            <a:r>
              <a:rPr dirty="0" sz="1200">
                <a:latin typeface="Times New Roman"/>
                <a:cs typeface="Times New Roman"/>
              </a:rPr>
              <a:t>to recap on what has </a:t>
            </a:r>
            <a:r>
              <a:rPr dirty="0" sz="1200" spc="-5">
                <a:latin typeface="Times New Roman"/>
                <a:cs typeface="Times New Roman"/>
              </a:rPr>
              <a:t>been </a:t>
            </a:r>
            <a:r>
              <a:rPr dirty="0" sz="1200">
                <a:latin typeface="Times New Roman"/>
                <a:cs typeface="Times New Roman"/>
              </a:rPr>
              <a:t>read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scanning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unspecified</a:t>
            </a:r>
            <a:r>
              <a:rPr dirty="0" sz="1200" spc="-5">
                <a:latin typeface="Times New Roman"/>
                <a:cs typeface="Times New Roman"/>
              </a:rPr>
              <a:t> information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predict.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cloze </a:t>
            </a:r>
            <a:r>
              <a:rPr dirty="0" sz="1200" spc="-5">
                <a:latin typeface="Times New Roman"/>
                <a:cs typeface="Times New Roman"/>
              </a:rPr>
              <a:t>is essentially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cognitive</a:t>
            </a:r>
            <a:r>
              <a:rPr dirty="0" sz="1200" spc="-5">
                <a:latin typeface="Times New Roman"/>
                <a:cs typeface="Times New Roman"/>
              </a:rPr>
              <a:t>/mental </a:t>
            </a:r>
            <a:r>
              <a:rPr dirty="0" sz="1200">
                <a:latin typeface="Times New Roman"/>
                <a:cs typeface="Times New Roman"/>
              </a:rPr>
              <a:t>task which requires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completion of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 based on understanding and reason. It involves the reader in </a:t>
            </a:r>
            <a:r>
              <a:rPr dirty="0" sz="1200" spc="-5">
                <a:latin typeface="Times New Roman"/>
                <a:cs typeface="Times New Roman"/>
              </a:rPr>
              <a:t>active </a:t>
            </a:r>
            <a:r>
              <a:rPr dirty="0" sz="1200">
                <a:latin typeface="Times New Roman"/>
                <a:cs typeface="Times New Roman"/>
              </a:rPr>
              <a:t>interaction </a:t>
            </a:r>
            <a:r>
              <a:rPr dirty="0" sz="1200" spc="-5">
                <a:latin typeface="Times New Roman"/>
                <a:cs typeface="Times New Roman"/>
              </a:rPr>
              <a:t>with the text </a:t>
            </a:r>
            <a:r>
              <a:rPr dirty="0" sz="1200">
                <a:latin typeface="Times New Roman"/>
                <a:cs typeface="Times New Roman"/>
              </a:rPr>
              <a:t> to predict the </a:t>
            </a:r>
            <a:r>
              <a:rPr dirty="0" sz="1200" spc="-5">
                <a:latin typeface="Times New Roman"/>
                <a:cs typeface="Times New Roman"/>
              </a:rPr>
              <a:t>missing </a:t>
            </a:r>
            <a:r>
              <a:rPr dirty="0" sz="1200">
                <a:latin typeface="Times New Roman"/>
                <a:cs typeface="Times New Roman"/>
              </a:rPr>
              <a:t>word while </a:t>
            </a:r>
            <a:r>
              <a:rPr dirty="0" sz="1200" spc="-5">
                <a:latin typeface="Times New Roman"/>
                <a:cs typeface="Times New Roman"/>
              </a:rPr>
              <a:t>making use </a:t>
            </a:r>
            <a:r>
              <a:rPr dirty="0" sz="1200">
                <a:latin typeface="Times New Roman"/>
                <a:cs typeface="Times New Roman"/>
              </a:rPr>
              <a:t>of context clues. Once you have grasped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 techniques you </a:t>
            </a:r>
            <a:r>
              <a:rPr dirty="0" sz="1200" spc="-5">
                <a:latin typeface="Times New Roman"/>
                <a:cs typeface="Times New Roman"/>
              </a:rPr>
              <a:t>will begin </a:t>
            </a:r>
            <a:r>
              <a:rPr dirty="0" sz="1200">
                <a:latin typeface="Times New Roman"/>
                <a:cs typeface="Times New Roman"/>
              </a:rPr>
              <a:t>to enjoy it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guessing </a:t>
            </a:r>
            <a:r>
              <a:rPr dirty="0" sz="1200" spc="-5">
                <a:latin typeface="Times New Roman"/>
                <a:cs typeface="Times New Roman"/>
              </a:rPr>
              <a:t>game </a:t>
            </a:r>
            <a:r>
              <a:rPr dirty="0" sz="1200">
                <a:latin typeface="Times New Roman"/>
                <a:cs typeface="Times New Roman"/>
              </a:rPr>
              <a:t>- not wild </a:t>
            </a:r>
            <a:r>
              <a:rPr dirty="0" sz="1200" spc="-5">
                <a:latin typeface="Times New Roman"/>
                <a:cs typeface="Times New Roman"/>
              </a:rPr>
              <a:t>guesses,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informed guesses. </a:t>
            </a:r>
            <a:r>
              <a:rPr dirty="0" sz="1200">
                <a:latin typeface="Times New Roman"/>
                <a:cs typeface="Times New Roman"/>
              </a:rPr>
              <a:t>Look at the following </a:t>
            </a:r>
            <a:r>
              <a:rPr dirty="0" sz="1200" spc="-5">
                <a:latin typeface="Times New Roman"/>
                <a:cs typeface="Times New Roman"/>
              </a:rPr>
              <a:t>passage so </a:t>
            </a:r>
            <a:r>
              <a:rPr dirty="0" sz="1200">
                <a:latin typeface="Times New Roman"/>
                <a:cs typeface="Times New Roman"/>
              </a:rPr>
              <a:t>that you get a </a:t>
            </a:r>
            <a:r>
              <a:rPr dirty="0" sz="1200" spc="-5">
                <a:latin typeface="Times New Roman"/>
                <a:cs typeface="Times New Roman"/>
              </a:rPr>
              <a:t>rough </a:t>
            </a:r>
            <a:r>
              <a:rPr dirty="0" sz="1200">
                <a:latin typeface="Times New Roman"/>
                <a:cs typeface="Times New Roman"/>
              </a:rPr>
              <a:t>idea of what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Notice the first two sentences and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last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does not have any gaps.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help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 the overall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of the passage.</a:t>
            </a:r>
            <a:endParaRPr sz="1200">
              <a:latin typeface="Times New Roman"/>
              <a:cs typeface="Times New Roman"/>
            </a:endParaRPr>
          </a:p>
          <a:p>
            <a:pPr algn="just" marL="469265" indent="-457200">
              <a:lnSpc>
                <a:spcPts val="1315"/>
              </a:lnSpc>
              <a:buChar char="-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context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endParaRPr sz="1200">
              <a:latin typeface="Times New Roman"/>
              <a:cs typeface="Times New Roman"/>
            </a:endParaRPr>
          </a:p>
          <a:p>
            <a:pPr algn="just" marL="469265" indent="-457200">
              <a:lnSpc>
                <a:spcPts val="1380"/>
              </a:lnSpc>
              <a:buChar char="-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gap</a:t>
            </a:r>
            <a:r>
              <a:rPr dirty="0" sz="1200" spc="-5">
                <a:latin typeface="Times New Roman"/>
                <a:cs typeface="Times New Roman"/>
              </a:rPr>
              <a:t> stands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missing.</a:t>
            </a:r>
            <a:endParaRPr sz="1200">
              <a:latin typeface="Times New Roman"/>
              <a:cs typeface="Times New Roman"/>
            </a:endParaRPr>
          </a:p>
          <a:p>
            <a:pPr algn="just" marL="469265" indent="-457200">
              <a:lnSpc>
                <a:spcPts val="1380"/>
              </a:lnSpc>
              <a:buChar char="-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appropriate.</a:t>
            </a:r>
            <a:endParaRPr sz="1200">
              <a:latin typeface="Times New Roman"/>
              <a:cs typeface="Times New Roman"/>
            </a:endParaRPr>
          </a:p>
          <a:p>
            <a:pPr algn="just" marL="469900" marR="962660" indent="-457200">
              <a:lnSpc>
                <a:spcPts val="1380"/>
              </a:lnSpc>
              <a:spcBef>
                <a:spcPts val="65"/>
              </a:spcBef>
              <a:buChar char="-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context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of the passage.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tabLst>
                <a:tab pos="597535" algn="l"/>
                <a:tab pos="2216785" algn="l"/>
                <a:tab pos="2623820" algn="l"/>
                <a:tab pos="4532630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 1</a:t>
            </a:r>
            <a:r>
              <a:rPr dirty="0" sz="1200" b="1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education should,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other things, </a:t>
            </a:r>
            <a:r>
              <a:rPr dirty="0" sz="1200" spc="-5">
                <a:latin typeface="Times New Roman"/>
                <a:cs typeface="Times New Roman"/>
              </a:rPr>
              <a:t>train you to think </a:t>
            </a:r>
            <a:r>
              <a:rPr dirty="0" sz="1200">
                <a:latin typeface="Times New Roman"/>
                <a:cs typeface="Times New Roman"/>
              </a:rPr>
              <a:t>for yourself.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examination system </a:t>
            </a:r>
            <a:r>
              <a:rPr dirty="0" sz="1200">
                <a:latin typeface="Times New Roman"/>
                <a:cs typeface="Times New Roman"/>
              </a:rPr>
              <a:t>does anything but that. </a:t>
            </a:r>
            <a:r>
              <a:rPr dirty="0" sz="1200" spc="-5">
                <a:latin typeface="Times New Roman"/>
                <a:cs typeface="Times New Roman"/>
              </a:rPr>
              <a:t>What has </a:t>
            </a:r>
            <a:r>
              <a:rPr dirty="0" sz="1200">
                <a:latin typeface="Times New Roman"/>
                <a:cs typeface="Times New Roman"/>
              </a:rPr>
              <a:t>to be learnt 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strictly laid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 by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syllabus, so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student 3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>
                <a:latin typeface="Times New Roman"/>
                <a:cs typeface="Times New Roman"/>
              </a:rPr>
              <a:t>prescribed. </a:t>
            </a:r>
            <a:r>
              <a:rPr dirty="0" sz="1200" spc="-5">
                <a:latin typeface="Times New Roman"/>
                <a:cs typeface="Times New Roman"/>
              </a:rPr>
              <a:t>Examinations </a:t>
            </a:r>
            <a:r>
              <a:rPr dirty="0" sz="1200">
                <a:latin typeface="Times New Roman"/>
                <a:cs typeface="Times New Roman"/>
              </a:rPr>
              <a:t> 4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motivate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widely;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r>
              <a:rPr dirty="0" u="sng" sz="1200" spc="3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encourage him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seek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knowledge;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narrow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  <a:tabLst>
                <a:tab pos="2528570" algn="l"/>
                <a:tab pos="3612515" algn="l"/>
                <a:tab pos="5126355" algn="l"/>
                <a:tab pos="56140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teaching,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deprive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freedom.</a:t>
            </a:r>
            <a:r>
              <a:rPr dirty="0" sz="1200">
                <a:latin typeface="Times New Roman"/>
                <a:cs typeface="Times New Roman"/>
              </a:rPr>
              <a:t> Teachers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themselves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judged</a:t>
            </a:r>
            <a:r>
              <a:rPr dirty="0" sz="1200">
                <a:latin typeface="Times New Roman"/>
                <a:cs typeface="Times New Roman"/>
              </a:rPr>
              <a:t>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14 </a:t>
            </a:r>
            <a:r>
              <a:rPr dirty="0" sz="1200">
                <a:latin typeface="Times New Roman"/>
                <a:cs typeface="Times New Roman"/>
              </a:rPr>
              <a:t> instead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teaching their 15,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reduce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16</a:t>
            </a:r>
            <a:r>
              <a:rPr dirty="0" u="sng" sz="1200" spc="2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17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despise.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successful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the 20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educated. They are </a:t>
            </a:r>
            <a:r>
              <a:rPr dirty="0" sz="1200" spc="-5">
                <a:latin typeface="Times New Roman"/>
                <a:cs typeface="Times New Roman"/>
              </a:rPr>
              <a:t>merely the </a:t>
            </a:r>
            <a:r>
              <a:rPr dirty="0" sz="1200">
                <a:latin typeface="Times New Roman"/>
                <a:cs typeface="Times New Roman"/>
              </a:rPr>
              <a:t>best trained in the technique of working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strain.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 1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education should,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other things, train you to think for yourself.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examination system </a:t>
            </a:r>
            <a:r>
              <a:rPr dirty="0" sz="1200">
                <a:latin typeface="Times New Roman"/>
                <a:cs typeface="Times New Roman"/>
              </a:rPr>
              <a:t>does anything but that. What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learnt 1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strictly </a:t>
            </a:r>
            <a:r>
              <a:rPr dirty="0" sz="1200">
                <a:latin typeface="Times New Roman"/>
                <a:cs typeface="Times New Roman"/>
              </a:rPr>
              <a:t>laid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u="sng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syllabus,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does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learns</a:t>
            </a:r>
            <a:r>
              <a:rPr dirty="0" u="sng" sz="1200" spc="434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4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prescribed.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u="sng" sz="1200" spc="4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4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motivate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student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r>
              <a:rPr dirty="0" u="sng" sz="1200" spc="2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widely;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restrict / </a:t>
            </a:r>
            <a:r>
              <a:rPr dirty="0" sz="1200" spc="-5" b="1">
                <a:latin typeface="Times New Roman"/>
                <a:cs typeface="Times New Roman"/>
              </a:rPr>
              <a:t>curb</a:t>
            </a:r>
            <a:r>
              <a:rPr dirty="0" u="sng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reading. </a:t>
            </a:r>
            <a:r>
              <a:rPr dirty="0" sz="1200" spc="-5">
                <a:latin typeface="Times New Roman"/>
                <a:cs typeface="Times New Roman"/>
              </a:rPr>
              <a:t>They </a:t>
            </a:r>
            <a:r>
              <a:rPr dirty="0" sz="1200">
                <a:latin typeface="Times New Roman"/>
                <a:cs typeface="Times New Roman"/>
              </a:rPr>
              <a:t>do 7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u="sng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encourage him to seek 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further </a:t>
            </a:r>
            <a:r>
              <a:rPr dirty="0" sz="1200" b="1">
                <a:latin typeface="Times New Roman"/>
                <a:cs typeface="Times New Roman"/>
              </a:rPr>
              <a:t>/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more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dirty="0" sz="1200" b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knowledge; they narrow the 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sz="1200" spc="-5" b="1">
                <a:latin typeface="Times New Roman"/>
                <a:cs typeface="Times New Roman"/>
              </a:rPr>
              <a:t>field</a:t>
            </a:r>
            <a:r>
              <a:rPr dirty="0" u="sng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study. They lower 10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standards </a:t>
            </a:r>
            <a:r>
              <a:rPr dirty="0" sz="1200">
                <a:latin typeface="Times New Roman"/>
                <a:cs typeface="Times New Roman"/>
              </a:rPr>
              <a:t>of teaching, for 11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sz="1200" spc="-5" b="1">
                <a:latin typeface="Times New Roman"/>
                <a:cs typeface="Times New Roman"/>
              </a:rPr>
              <a:t>they</a:t>
            </a:r>
            <a:r>
              <a:rPr dirty="0" u="sng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deprive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teacher </a:t>
            </a:r>
            <a:r>
              <a:rPr dirty="0" sz="1200">
                <a:latin typeface="Times New Roman"/>
                <a:cs typeface="Times New Roman"/>
              </a:rPr>
              <a:t>of 12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sz="1200" b="1">
                <a:latin typeface="Times New Roman"/>
                <a:cs typeface="Times New Roman"/>
              </a:rPr>
              <a:t>all / </a:t>
            </a:r>
            <a:r>
              <a:rPr dirty="0" sz="1200" spc="-5" b="1">
                <a:latin typeface="Times New Roman"/>
                <a:cs typeface="Times New Roman"/>
              </a:rPr>
              <a:t>his </a:t>
            </a:r>
            <a:r>
              <a:rPr dirty="0" sz="1200" b="1">
                <a:latin typeface="Times New Roman"/>
                <a:cs typeface="Times New Roman"/>
              </a:rPr>
              <a:t>/ </a:t>
            </a:r>
            <a:r>
              <a:rPr dirty="0" sz="1200" spc="-5" b="1">
                <a:latin typeface="Times New Roman"/>
                <a:cs typeface="Times New Roman"/>
              </a:rPr>
              <a:t>her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freedom. </a:t>
            </a:r>
            <a:r>
              <a:rPr dirty="0" sz="1200">
                <a:latin typeface="Times New Roman"/>
                <a:cs typeface="Times New Roman"/>
              </a:rPr>
              <a:t>Teachers </a:t>
            </a:r>
            <a:r>
              <a:rPr dirty="0" sz="1200" spc="-5">
                <a:latin typeface="Times New Roman"/>
                <a:cs typeface="Times New Roman"/>
              </a:rPr>
              <a:t>themselves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13</a:t>
            </a:r>
            <a:r>
              <a:rPr dirty="0" u="sng" sz="1200" spc="5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often</a:t>
            </a:r>
            <a:r>
              <a:rPr dirty="0" sz="1200" spc="5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judged by </a:t>
            </a:r>
            <a:r>
              <a:rPr dirty="0" sz="1200" spc="-5">
                <a:latin typeface="Times New Roman"/>
                <a:cs typeface="Times New Roman"/>
              </a:rPr>
              <a:t>examination </a:t>
            </a:r>
            <a:r>
              <a:rPr dirty="0" sz="1200">
                <a:latin typeface="Times New Roman"/>
                <a:cs typeface="Times New Roman"/>
              </a:rPr>
              <a:t>by results, 14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 </a:t>
            </a:r>
            <a:r>
              <a:rPr dirty="0" sz="1200" b="1">
                <a:latin typeface="Times New Roman"/>
                <a:cs typeface="Times New Roman"/>
              </a:rPr>
              <a:t>/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and</a:t>
            </a:r>
            <a:r>
              <a:rPr dirty="0" sz="1200" spc="5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instead of teaching their 15,</a:t>
            </a:r>
            <a:r>
              <a:rPr dirty="0" u="sng" sz="1200" spc="5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subjects</a:t>
            </a:r>
            <a:r>
              <a:rPr dirty="0" sz="1200" spc="59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 are reduce to 16</a:t>
            </a:r>
            <a:r>
              <a:rPr dirty="0" u="sng" sz="1200" spc="5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training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 </a:t>
            </a:r>
            <a:r>
              <a:rPr dirty="0" sz="1200">
                <a:latin typeface="Times New Roman"/>
                <a:cs typeface="Times New Roman"/>
              </a:rPr>
              <a:t> students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17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art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technique</a:t>
            </a:r>
            <a:r>
              <a:rPr dirty="0" u="sng" sz="1200" spc="434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4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they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despise. The </a:t>
            </a:r>
            <a:r>
              <a:rPr dirty="0" sz="1200" spc="-5">
                <a:latin typeface="Times New Roman"/>
                <a:cs typeface="Times New Roman"/>
              </a:rPr>
              <a:t>most successful </a:t>
            </a:r>
            <a:r>
              <a:rPr dirty="0" sz="1200">
                <a:latin typeface="Times New Roman"/>
                <a:cs typeface="Times New Roman"/>
              </a:rPr>
              <a:t>19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-5" b="1">
                <a:latin typeface="Times New Roman"/>
                <a:cs typeface="Times New Roman"/>
              </a:rPr>
              <a:t>students</a:t>
            </a:r>
            <a:r>
              <a:rPr dirty="0" u="sng" sz="1200" spc="434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4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not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the 20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-5" b="1">
                <a:latin typeface="Times New Roman"/>
                <a:cs typeface="Times New Roman"/>
              </a:rPr>
              <a:t>best</a:t>
            </a:r>
            <a:r>
              <a:rPr dirty="0" u="sng" sz="1200" spc="2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educated. 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merely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technique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5">
                <a:latin typeface="Times New Roman"/>
                <a:cs typeface="Times New Roman"/>
              </a:rPr>
              <a:t> stress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strain.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tabLst>
                <a:tab pos="909955" algn="l"/>
                <a:tab pos="4371975" algn="l"/>
                <a:tab pos="4986655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9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Global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phenomenon: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creation of Planet Earth </a:t>
            </a:r>
            <a:r>
              <a:rPr dirty="0" sz="1200" spc="-5">
                <a:latin typeface="Times New Roman"/>
                <a:cs typeface="Times New Roman"/>
              </a:rPr>
              <a:t>itself. At </a:t>
            </a:r>
            <a:r>
              <a:rPr dirty="0" sz="1200">
                <a:latin typeface="Times New Roman"/>
                <a:cs typeface="Times New Roman"/>
              </a:rPr>
              <a:t>fist the </a:t>
            </a:r>
            <a:r>
              <a:rPr dirty="0" sz="1200" spc="-5">
                <a:latin typeface="Times New Roman"/>
                <a:cs typeface="Times New Roman"/>
              </a:rPr>
              <a:t>process was beneficial: </a:t>
            </a:r>
            <a:r>
              <a:rPr dirty="0" sz="1200">
                <a:latin typeface="Times New Roman"/>
                <a:cs typeface="Times New Roman"/>
              </a:rPr>
              <a:t>it brought Earth out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ice </a:t>
            </a:r>
            <a:r>
              <a:rPr dirty="0" sz="1200" spc="-5">
                <a:latin typeface="Times New Roman"/>
                <a:cs typeface="Times New Roman"/>
              </a:rPr>
              <a:t>ages </a:t>
            </a:r>
            <a:r>
              <a:rPr dirty="0" sz="1200">
                <a:latin typeface="Times New Roman"/>
                <a:cs typeface="Times New Roman"/>
              </a:rPr>
              <a:t>into a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5">
                <a:latin typeface="Times New Roman"/>
                <a:cs typeface="Times New Roman"/>
              </a:rPr>
              <a:t>humanity could survive </a:t>
            </a:r>
            <a:r>
              <a:rPr dirty="0" sz="1200">
                <a:latin typeface="Times New Roman"/>
                <a:cs typeface="Times New Roman"/>
              </a:rPr>
              <a:t>on it. </a:t>
            </a:r>
            <a:r>
              <a:rPr dirty="0" sz="1200" spc="-5">
                <a:latin typeface="Times New Roman"/>
                <a:cs typeface="Times New Roman"/>
              </a:rPr>
              <a:t>Now, </a:t>
            </a:r>
            <a:r>
              <a:rPr dirty="0" sz="1200">
                <a:latin typeface="Times New Roman"/>
                <a:cs typeface="Times New Roman"/>
              </a:rPr>
              <a:t>however, it </a:t>
            </a:r>
            <a:r>
              <a:rPr dirty="0" sz="1200" spc="-5">
                <a:latin typeface="Times New Roman"/>
                <a:cs typeface="Times New Roman"/>
              </a:rPr>
              <a:t>has become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r>
              <a:rPr dirty="0" sz="1200" spc="6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     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229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  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2 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ways,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‘runway’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3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ozone </a:t>
            </a:r>
            <a:r>
              <a:rPr dirty="0" sz="1200" i="1">
                <a:latin typeface="Times New Roman"/>
                <a:cs typeface="Times New Roman"/>
              </a:rPr>
              <a:t>4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depletion. This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5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greenhouse effect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6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ordinarily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energy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7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reaches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8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27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reflected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9 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2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greenhouse </a:t>
            </a:r>
            <a:r>
              <a:rPr dirty="0" sz="1200" spc="-5">
                <a:latin typeface="Times New Roman"/>
                <a:cs typeface="Times New Roman"/>
              </a:rPr>
              <a:t>gases forming </a:t>
            </a:r>
            <a:r>
              <a:rPr dirty="0" sz="1200">
                <a:latin typeface="Times New Roman"/>
                <a:cs typeface="Times New Roman"/>
              </a:rPr>
              <a:t>layer around the </a:t>
            </a:r>
            <a:r>
              <a:rPr dirty="0" sz="1200" spc="-5">
                <a:latin typeface="Times New Roman"/>
                <a:cs typeface="Times New Roman"/>
              </a:rPr>
              <a:t>planet, </a:t>
            </a:r>
            <a:r>
              <a:rPr dirty="0" sz="1200">
                <a:latin typeface="Times New Roman"/>
                <a:cs typeface="Times New Roman"/>
              </a:rPr>
              <a:t>the reflection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cannot take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>
                <a:latin typeface="Times New Roman"/>
                <a:cs typeface="Times New Roman"/>
              </a:rPr>
              <a:t>energy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trapped,</a:t>
            </a:r>
            <a:r>
              <a:rPr dirty="0" sz="1200" spc="-5">
                <a:latin typeface="Times New Roman"/>
                <a:cs typeface="Times New Roman"/>
              </a:rPr>
              <a:t> heating up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atmosphere.</a:t>
            </a:r>
            <a:endParaRPr sz="1200">
              <a:latin typeface="Times New Roman"/>
              <a:cs typeface="Times New Roman"/>
            </a:endParaRPr>
          </a:p>
          <a:p>
            <a:pPr algn="just" marL="41275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(Saifullah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Ismail)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Global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phenomenon: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creation of Planet Earth </a:t>
            </a:r>
            <a:r>
              <a:rPr dirty="0" sz="1200" spc="-5">
                <a:latin typeface="Times New Roman"/>
                <a:cs typeface="Times New Roman"/>
              </a:rPr>
              <a:t>itself. At first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process was beneficial: </a:t>
            </a:r>
            <a:r>
              <a:rPr dirty="0" sz="1200">
                <a:latin typeface="Times New Roman"/>
                <a:cs typeface="Times New Roman"/>
              </a:rPr>
              <a:t>it brought Earth out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humanity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survive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This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2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two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‘runway’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3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greenhouse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ozone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4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layer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depletion.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5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how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greenhouse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6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works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ordinarily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energy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7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reaches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8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Earth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reflected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9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back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10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greenhouse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gases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layer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planet,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reflection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energy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trapped,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heating up the </a:t>
            </a:r>
            <a:r>
              <a:rPr dirty="0" sz="1200" spc="-5">
                <a:latin typeface="Times New Roman"/>
                <a:cs typeface="Times New Roman"/>
              </a:rPr>
              <a:t>atmosphere.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(Saifullah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Ismail)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These were </a:t>
            </a:r>
            <a:r>
              <a:rPr dirty="0" sz="1200" spc="-5">
                <a:latin typeface="Times New Roman"/>
                <a:cs typeface="Times New Roman"/>
              </a:rPr>
              <a:t>samples </a:t>
            </a:r>
            <a:r>
              <a:rPr dirty="0" sz="1200">
                <a:latin typeface="Times New Roman"/>
                <a:cs typeface="Times New Roman"/>
              </a:rPr>
              <a:t>of regular, standard type of cloze where the gaps / blanks occur after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fixed number </a:t>
            </a:r>
            <a:r>
              <a:rPr dirty="0" sz="1200">
                <a:latin typeface="Times New Roman"/>
                <a:cs typeface="Times New Roman"/>
              </a:rPr>
              <a:t>of words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blanks 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filled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any </a:t>
            </a:r>
            <a:r>
              <a:rPr dirty="0" sz="1200">
                <a:latin typeface="Times New Roman"/>
                <a:cs typeface="Times New Roman"/>
              </a:rPr>
              <a:t>word </a:t>
            </a:r>
            <a:r>
              <a:rPr dirty="0" sz="1200" spc="-5">
                <a:latin typeface="Times New Roman"/>
                <a:cs typeface="Times New Roman"/>
              </a:rPr>
              <a:t>that is appropriate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linguistic and contextual criteria.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variations of the standard cloze.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through some</a:t>
            </a:r>
            <a:r>
              <a:rPr dirty="0" sz="1200">
                <a:latin typeface="Times New Roman"/>
                <a:cs typeface="Times New Roman"/>
              </a:rPr>
              <a:t> alternative </a:t>
            </a:r>
            <a:r>
              <a:rPr dirty="0" sz="1200" spc="-5">
                <a:latin typeface="Times New Roman"/>
                <a:cs typeface="Times New Roman"/>
              </a:rPr>
              <a:t>forms.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398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  <a:tabLst>
                <a:tab pos="926465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sz="1200" b="1">
                <a:latin typeface="Times New Roman"/>
                <a:cs typeface="Times New Roman"/>
              </a:rPr>
              <a:t>	Selected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Deletions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Cloze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-5">
                <a:latin typeface="Times New Roman"/>
                <a:cs typeface="Times New Roman"/>
              </a:rPr>
              <a:t> the blanks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after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My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dear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children,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tabLst>
                <a:tab pos="4794885" algn="l"/>
              </a:tabLst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believe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there’s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as much time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-Mark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Michelle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circus.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  <a:tabLst>
                <a:tab pos="469265" algn="l"/>
              </a:tabLst>
            </a:pP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never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quite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nearest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city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  <a:tabLst>
                <a:tab pos="3258185" algn="l"/>
              </a:tabLst>
            </a:pP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that’s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grandmothers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 6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Susan </a:t>
            </a:r>
            <a:r>
              <a:rPr dirty="0" sz="1200">
                <a:latin typeface="Times New Roman"/>
                <a:cs typeface="Times New Roman"/>
              </a:rPr>
              <a:t>lent </a:t>
            </a:r>
            <a:r>
              <a:rPr dirty="0" sz="1200" spc="-5">
                <a:latin typeface="Times New Roman"/>
                <a:cs typeface="Times New Roman"/>
              </a:rPr>
              <a:t>me </a:t>
            </a:r>
            <a:r>
              <a:rPr dirty="0" sz="1200">
                <a:latin typeface="Times New Roman"/>
                <a:cs typeface="Times New Roman"/>
              </a:rPr>
              <a:t>her car - it’s a brand 7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>
                <a:latin typeface="Times New Roman"/>
                <a:cs typeface="Times New Roman"/>
              </a:rPr>
              <a:t> bright red Mini.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left early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morning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a day of 8</a:t>
            </a:r>
            <a:r>
              <a:rPr dirty="0" u="heavy" sz="120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morning we</a:t>
            </a:r>
            <a:r>
              <a:rPr dirty="0" sz="1200">
                <a:latin typeface="Times New Roman"/>
                <a:cs typeface="Times New Roman"/>
              </a:rPr>
              <a:t> 9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zoo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afternoon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</a:t>
            </a:r>
            <a:r>
              <a:rPr dirty="0" u="heavy" sz="1200" spc="3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u="heavy" sz="1200" spc="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imagine,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excited.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everything.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  <a:tabLst>
                <a:tab pos="1273810" algn="l"/>
              </a:tabLst>
            </a:pP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wild </a:t>
            </a:r>
            <a:r>
              <a:rPr dirty="0" sz="1200" spc="-5">
                <a:latin typeface="Times New Roman"/>
                <a:cs typeface="Times New Roman"/>
              </a:rPr>
              <a:t>animals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exciting and </a:t>
            </a:r>
            <a:r>
              <a:rPr dirty="0" sz="1200" spc="-5">
                <a:latin typeface="Times New Roman"/>
                <a:cs typeface="Times New Roman"/>
              </a:rPr>
              <a:t>Michelle is </a:t>
            </a:r>
            <a:r>
              <a:rPr dirty="0" sz="1200">
                <a:latin typeface="Times New Roman"/>
                <a:cs typeface="Times New Roman"/>
              </a:rPr>
              <a:t>12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be an acrobat when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grows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tabLst>
                <a:tab pos="2580005" algn="l"/>
                <a:tab pos="3831590" algn="l"/>
                <a:tab pos="4454525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we’d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14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announcement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loudspeaker.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Mini,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727V,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15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requested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manager’s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16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Naturally,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17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tabLst>
                <a:tab pos="8509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manager’s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>
                <a:latin typeface="Times New Roman"/>
                <a:cs typeface="Times New Roman"/>
              </a:rPr>
              <a:t> our car.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tabLst>
                <a:tab pos="817244" algn="l"/>
                <a:tab pos="1214120" algn="l"/>
                <a:tab pos="1612900" algn="l"/>
                <a:tab pos="4358640" algn="l"/>
                <a:tab pos="47809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upset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answered  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    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    </a:t>
            </a:r>
            <a:r>
              <a:rPr dirty="0" sz="1200" spc="-5">
                <a:latin typeface="Times New Roman"/>
                <a:cs typeface="Times New Roman"/>
              </a:rPr>
              <a:t>assumed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correctly</a:t>
            </a:r>
            <a:r>
              <a:rPr dirty="0" sz="1200" spc="1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    it    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Susan’s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parked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way,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wasn’t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22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concerned, but I didn’t know why the </a:t>
            </a:r>
            <a:r>
              <a:rPr dirty="0" sz="1200" spc="-5">
                <a:latin typeface="Times New Roman"/>
                <a:cs typeface="Times New Roman"/>
              </a:rPr>
              <a:t>manager </a:t>
            </a:r>
            <a:r>
              <a:rPr dirty="0" sz="1200">
                <a:latin typeface="Times New Roman"/>
                <a:cs typeface="Times New Roman"/>
              </a:rPr>
              <a:t>looked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disturbed.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began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23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  <a:tabLst>
                <a:tab pos="4692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confused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explanation.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25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</a:t>
            </a:r>
            <a:r>
              <a:rPr dirty="0" u="sng" sz="1200" spc="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elephants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boxes.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elephants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26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  <a:tabLst>
                <a:tab pos="774065" algn="l"/>
                <a:tab pos="2990215" algn="l"/>
                <a:tab pos="4742180" algn="l"/>
                <a:tab pos="533781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escaped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27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promptly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!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squashed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still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5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</a:t>
            </a:r>
            <a:r>
              <a:rPr dirty="0" sz="1200" spc="5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assured</a:t>
            </a:r>
            <a:r>
              <a:rPr dirty="0" sz="1200" spc="5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circus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couldn’t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apologetic.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  <a:tabLst>
                <a:tab pos="22663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32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giggled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incident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33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tabLst>
                <a:tab pos="774700" algn="l"/>
                <a:tab pos="1045844" algn="l"/>
                <a:tab pos="2343785" algn="l"/>
                <a:tab pos="3160395" algn="l"/>
                <a:tab pos="469773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34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scene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accident.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mile</a:t>
            </a:r>
            <a:r>
              <a:rPr dirty="0" sz="1200">
                <a:latin typeface="Times New Roman"/>
                <a:cs typeface="Times New Roman"/>
              </a:rPr>
              <a:t> 35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policeman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stopped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we’d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36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involved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accident.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wish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37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  <a:tabLst>
                <a:tab pos="4692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  <a:tabLst>
                <a:tab pos="1431290" algn="l"/>
                <a:tab pos="4811395" algn="l"/>
                <a:tab pos="486537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arrest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drunken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driving!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Fortunately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up.40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me?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42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month.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Mom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(Cloze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Class: Moller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Whiteson)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223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  <a:tabLst>
                <a:tab pos="926465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Selected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Deletion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Cloze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-5">
                <a:latin typeface="Times New Roman"/>
                <a:cs typeface="Times New Roman"/>
              </a:rPr>
              <a:t> the blanks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after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</a:t>
            </a:r>
            <a:r>
              <a:rPr dirty="0" sz="1200" spc="-5">
                <a:latin typeface="Times New Roman"/>
                <a:cs typeface="Times New Roman"/>
              </a:rPr>
              <a:t> number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My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dear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children,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believe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there’s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much </a:t>
            </a:r>
            <a:r>
              <a:rPr dirty="0" sz="1200">
                <a:latin typeface="Times New Roman"/>
                <a:cs typeface="Times New Roman"/>
              </a:rPr>
              <a:t>to do. I’ve </a:t>
            </a:r>
            <a:r>
              <a:rPr dirty="0" sz="1200" spc="-5">
                <a:latin typeface="Times New Roman"/>
                <a:cs typeface="Times New Roman"/>
              </a:rPr>
              <a:t>managed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all the </a:t>
            </a:r>
            <a:r>
              <a:rPr dirty="0" sz="1200" spc="-5">
                <a:latin typeface="Times New Roman"/>
                <a:cs typeface="Times New Roman"/>
              </a:rPr>
              <a:t>members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family. </a:t>
            </a:r>
            <a:r>
              <a:rPr dirty="0" sz="1200">
                <a:latin typeface="Times New Roman"/>
                <a:cs typeface="Times New Roman"/>
              </a:rPr>
              <a:t>I 1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spend</a:t>
            </a:r>
            <a:r>
              <a:rPr dirty="0" sz="1200" spc="3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much time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 can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the children. Last week I 2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took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 and </a:t>
            </a:r>
            <a:r>
              <a:rPr dirty="0" sz="1200" spc="-5">
                <a:latin typeface="Times New Roman"/>
                <a:cs typeface="Times New Roman"/>
              </a:rPr>
              <a:t>Michelle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circus. </a:t>
            </a:r>
            <a:r>
              <a:rPr dirty="0" sz="1200">
                <a:latin typeface="Times New Roman"/>
                <a:cs typeface="Times New Roman"/>
              </a:rPr>
              <a:t>3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They’d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nearest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parents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never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suppose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think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grandmothers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any 6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rate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Susan </a:t>
            </a:r>
            <a:r>
              <a:rPr dirty="0" sz="1200">
                <a:latin typeface="Times New Roman"/>
                <a:cs typeface="Times New Roman"/>
              </a:rPr>
              <a:t>lent </a:t>
            </a:r>
            <a:r>
              <a:rPr dirty="0" sz="1200" spc="-5">
                <a:latin typeface="Times New Roman"/>
                <a:cs typeface="Times New Roman"/>
              </a:rPr>
              <a:t>me </a:t>
            </a:r>
            <a:r>
              <a:rPr dirty="0" sz="1200">
                <a:latin typeface="Times New Roman"/>
                <a:cs typeface="Times New Roman"/>
              </a:rPr>
              <a:t>her car - it’s a brand 7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new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bright red Mini. </a:t>
            </a: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left early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morning</a:t>
            </a:r>
            <a:r>
              <a:rPr dirty="0" sz="1200" spc="-5">
                <a:latin typeface="Times New Roman"/>
                <a:cs typeface="Times New Roman"/>
              </a:rPr>
              <a:t> 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a day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morning we</a:t>
            </a:r>
            <a:r>
              <a:rPr dirty="0" sz="1200">
                <a:latin typeface="Times New Roman"/>
                <a:cs typeface="Times New Roman"/>
              </a:rPr>
              <a:t> 9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went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zoo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afternoon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As 10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imagine, </a:t>
            </a:r>
            <a:r>
              <a:rPr dirty="0" sz="1200">
                <a:latin typeface="Times New Roman"/>
                <a:cs typeface="Times New Roman"/>
              </a:rPr>
              <a:t>the children were very </a:t>
            </a:r>
            <a:r>
              <a:rPr dirty="0" sz="1200" spc="-5">
                <a:latin typeface="Times New Roman"/>
                <a:cs typeface="Times New Roman"/>
              </a:rPr>
              <a:t>excited. They loved everything. Mark 11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found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exciting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Michelle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going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acrobat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grows</a:t>
            </a:r>
            <a:r>
              <a:rPr dirty="0" sz="1200">
                <a:latin typeface="Times New Roman"/>
                <a:cs typeface="Times New Roman"/>
              </a:rPr>
              <a:t> 13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up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we’d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>
                <a:latin typeface="Times New Roman"/>
                <a:cs typeface="Times New Roman"/>
              </a:rPr>
              <a:t> 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hours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14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heard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announcement</a:t>
            </a:r>
            <a:r>
              <a:rPr dirty="0" sz="1200">
                <a:latin typeface="Times New Roman"/>
                <a:cs typeface="Times New Roman"/>
              </a:rPr>
              <a:t> over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loudspeaker. </a:t>
            </a:r>
            <a:r>
              <a:rPr dirty="0" sz="1200" spc="-5">
                <a:latin typeface="Times New Roman"/>
                <a:cs typeface="Times New Roman"/>
              </a:rPr>
              <a:t>The owner </a:t>
            </a:r>
            <a:r>
              <a:rPr dirty="0" sz="1200">
                <a:latin typeface="Times New Roman"/>
                <a:cs typeface="Times New Roman"/>
              </a:rPr>
              <a:t>of the red Mini, </a:t>
            </a:r>
            <a:r>
              <a:rPr dirty="0" sz="1200" spc="-5">
                <a:latin typeface="Times New Roman"/>
                <a:cs typeface="Times New Roman"/>
              </a:rPr>
              <a:t>number PUR 727V, 15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requested to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manager’s </a:t>
            </a:r>
            <a:r>
              <a:rPr dirty="0" sz="1200">
                <a:latin typeface="Times New Roman"/>
                <a:cs typeface="Times New Roman"/>
              </a:rPr>
              <a:t>office </a:t>
            </a:r>
            <a:r>
              <a:rPr dirty="0" sz="1200" spc="-5">
                <a:latin typeface="Times New Roman"/>
                <a:cs typeface="Times New Roman"/>
              </a:rPr>
              <a:t>16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immediately</a:t>
            </a:r>
            <a:r>
              <a:rPr dirty="0" sz="1200">
                <a:latin typeface="Times New Roman"/>
                <a:cs typeface="Times New Roman"/>
              </a:rPr>
              <a:t>. Naturally, I didn’t </a:t>
            </a:r>
            <a:r>
              <a:rPr dirty="0" sz="1200" spc="-5">
                <a:latin typeface="Times New Roman"/>
                <a:cs typeface="Times New Roman"/>
              </a:rPr>
              <a:t>know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17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/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Susan’s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went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manager’s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18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find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manager </a:t>
            </a:r>
            <a:r>
              <a:rPr dirty="0" sz="1200">
                <a:latin typeface="Times New Roman"/>
                <a:cs typeface="Times New Roman"/>
              </a:rPr>
              <a:t>looked very upset and 19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embarrassed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disturbed</a:t>
            </a:r>
            <a:r>
              <a:rPr dirty="0" sz="1200" spc="-5">
                <a:latin typeface="Times New Roman"/>
                <a:cs typeface="Times New Roman"/>
              </a:rPr>
              <a:t>. No </a:t>
            </a:r>
            <a:r>
              <a:rPr dirty="0" sz="1200">
                <a:latin typeface="Times New Roman"/>
                <a:cs typeface="Times New Roman"/>
              </a:rPr>
              <a:t>one else had answered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call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assumed </a:t>
            </a:r>
            <a:r>
              <a:rPr dirty="0" sz="1200">
                <a:latin typeface="Times New Roman"/>
                <a:cs typeface="Times New Roman"/>
              </a:rPr>
              <a:t>correctly that it </a:t>
            </a:r>
            <a:r>
              <a:rPr dirty="0" sz="1200" spc="-5">
                <a:latin typeface="Times New Roman"/>
                <a:cs typeface="Times New Roman"/>
              </a:rPr>
              <a:t>was Susan’s </a:t>
            </a:r>
            <a:r>
              <a:rPr dirty="0" sz="1200">
                <a:latin typeface="Times New Roman"/>
                <a:cs typeface="Times New Roman"/>
              </a:rPr>
              <a:t>car. </a:t>
            </a:r>
            <a:r>
              <a:rPr dirty="0" sz="1200" spc="-5">
                <a:latin typeface="Times New Roman"/>
                <a:cs typeface="Times New Roman"/>
              </a:rPr>
              <a:t>20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Imagining / Thinking / Fearing /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Assuming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I’d left the lights on, or parked in 21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someone’s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way, I </a:t>
            </a:r>
            <a:r>
              <a:rPr dirty="0" sz="1200" spc="-5">
                <a:latin typeface="Times New Roman"/>
                <a:cs typeface="Times New Roman"/>
              </a:rPr>
              <a:t>wasn’t </a:t>
            </a:r>
            <a:r>
              <a:rPr dirty="0" sz="1200">
                <a:latin typeface="Times New Roman"/>
                <a:cs typeface="Times New Roman"/>
              </a:rPr>
              <a:t>22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too / very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concerned, but I didn’t know why the </a:t>
            </a:r>
            <a:r>
              <a:rPr dirty="0" sz="1200" spc="-5">
                <a:latin typeface="Times New Roman"/>
                <a:cs typeface="Times New Roman"/>
              </a:rPr>
              <a:t>manager </a:t>
            </a:r>
            <a:r>
              <a:rPr dirty="0" sz="1200">
                <a:latin typeface="Times New Roman"/>
                <a:cs typeface="Times New Roman"/>
              </a:rPr>
              <a:t>looked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disturbed.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began to 23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explain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happened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took</a:t>
            </a:r>
            <a:r>
              <a:rPr dirty="0" sz="1200" spc="-5">
                <a:latin typeface="Times New Roman"/>
                <a:cs typeface="Times New Roman"/>
              </a:rPr>
              <a:t> 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time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 24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confused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explanation.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25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appears that the elephants are trained to </a:t>
            </a:r>
            <a:r>
              <a:rPr dirty="0" sz="1200" spc="-5">
                <a:latin typeface="Times New Roman"/>
                <a:cs typeface="Times New Roman"/>
              </a:rPr>
              <a:t>sit </a:t>
            </a:r>
            <a:r>
              <a:rPr dirty="0" sz="1200">
                <a:latin typeface="Times New Roman"/>
                <a:cs typeface="Times New Roman"/>
              </a:rPr>
              <a:t>on red </a:t>
            </a:r>
            <a:r>
              <a:rPr dirty="0" sz="1200" spc="-5">
                <a:latin typeface="Times New Roman"/>
                <a:cs typeface="Times New Roman"/>
              </a:rPr>
              <a:t>boxes. One of the elephants 26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escaped and when he </a:t>
            </a:r>
            <a:r>
              <a:rPr dirty="0" sz="1200" spc="-5">
                <a:latin typeface="Times New Roman"/>
                <a:cs typeface="Times New Roman"/>
              </a:rPr>
              <a:t>saw </a:t>
            </a:r>
            <a:r>
              <a:rPr dirty="0" sz="1200">
                <a:latin typeface="Times New Roman"/>
                <a:cs typeface="Times New Roman"/>
              </a:rPr>
              <a:t>the 27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little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red car he promptly sat on 28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! </a:t>
            </a:r>
            <a:r>
              <a:rPr dirty="0" sz="1200" spc="-10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you can </a:t>
            </a:r>
            <a:r>
              <a:rPr dirty="0" sz="1200" spc="-5">
                <a:latin typeface="Times New Roman"/>
                <a:cs typeface="Times New Roman"/>
              </a:rPr>
              <a:t>imagine </a:t>
            </a:r>
            <a:r>
              <a:rPr dirty="0" sz="1200">
                <a:latin typeface="Times New Roman"/>
                <a:cs typeface="Times New Roman"/>
              </a:rPr>
              <a:t> the car </a:t>
            </a:r>
            <a:r>
              <a:rPr dirty="0" sz="1200" spc="-5">
                <a:latin typeface="Times New Roman"/>
                <a:cs typeface="Times New Roman"/>
              </a:rPr>
              <a:t>looked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mess. One </a:t>
            </a:r>
            <a:r>
              <a:rPr dirty="0" sz="1200">
                <a:latin typeface="Times New Roman"/>
                <a:cs typeface="Times New Roman"/>
              </a:rPr>
              <a:t>side </a:t>
            </a:r>
            <a:r>
              <a:rPr dirty="0" sz="1200" spc="-5">
                <a:latin typeface="Times New Roman"/>
                <a:cs typeface="Times New Roman"/>
              </a:rPr>
              <a:t>was squashed </a:t>
            </a:r>
            <a:r>
              <a:rPr dirty="0" sz="1200">
                <a:latin typeface="Times New Roman"/>
                <a:cs typeface="Times New Roman"/>
              </a:rPr>
              <a:t>29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badly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flat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 still possible to </a:t>
            </a:r>
            <a:r>
              <a:rPr dirty="0" sz="1200">
                <a:latin typeface="Times New Roman"/>
                <a:cs typeface="Times New Roman"/>
              </a:rPr>
              <a:t> drive.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assured</a:t>
            </a:r>
            <a:r>
              <a:rPr dirty="0" sz="1200">
                <a:latin typeface="Times New Roman"/>
                <a:cs typeface="Times New Roman"/>
              </a:rPr>
              <a:t> 30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31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damage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been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apologetic.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>
                <a:latin typeface="Times New Roman"/>
                <a:cs typeface="Times New Roman"/>
              </a:rPr>
              <a:t>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32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amused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giggled about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incident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 But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 we got there, we 34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scene of a </a:t>
            </a:r>
            <a:r>
              <a:rPr dirty="0" sz="1200" spc="-5">
                <a:latin typeface="Times New Roman"/>
                <a:cs typeface="Times New Roman"/>
              </a:rPr>
              <a:t>serious accident. </a:t>
            </a:r>
            <a:r>
              <a:rPr dirty="0" sz="1200">
                <a:latin typeface="Times New Roman"/>
                <a:cs typeface="Times New Roman"/>
              </a:rPr>
              <a:t>About a </a:t>
            </a:r>
            <a:r>
              <a:rPr dirty="0" sz="1200" spc="-5">
                <a:latin typeface="Times New Roman"/>
                <a:cs typeface="Times New Roman"/>
              </a:rPr>
              <a:t>mile </a:t>
            </a:r>
            <a:r>
              <a:rPr dirty="0" sz="1200">
                <a:latin typeface="Times New Roman"/>
                <a:cs typeface="Times New Roman"/>
              </a:rPr>
              <a:t>35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further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policeman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stopped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asked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we’d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36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been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involved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accident.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37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picture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his </a:t>
            </a:r>
            <a:r>
              <a:rPr dirty="0" sz="1200">
                <a:latin typeface="Times New Roman"/>
                <a:cs typeface="Times New Roman"/>
              </a:rPr>
              <a:t>face when I </a:t>
            </a:r>
            <a:r>
              <a:rPr dirty="0" sz="1200" spc="-5">
                <a:latin typeface="Times New Roman"/>
                <a:cs typeface="Times New Roman"/>
              </a:rPr>
              <a:t>told </a:t>
            </a:r>
            <a:r>
              <a:rPr dirty="0" sz="1200">
                <a:latin typeface="Times New Roman"/>
                <a:cs typeface="Times New Roman"/>
              </a:rPr>
              <a:t>him what had happened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38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car.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arrest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drunken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driving!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Fortunately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39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children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>
                <a:latin typeface="Times New Roman"/>
                <a:cs typeface="Times New Roman"/>
              </a:rPr>
              <a:t> up.</a:t>
            </a: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How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you managing without me? please don’t 41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forget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water my </a:t>
            </a:r>
            <a:r>
              <a:rPr dirty="0" sz="1200">
                <a:latin typeface="Times New Roman"/>
                <a:cs typeface="Times New Roman"/>
              </a:rPr>
              <a:t>plants. I’m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end of the</a:t>
            </a:r>
            <a:r>
              <a:rPr dirty="0" sz="1200" spc="-5">
                <a:latin typeface="Times New Roman"/>
                <a:cs typeface="Times New Roman"/>
              </a:rPr>
              <a:t> month.</a:t>
            </a:r>
            <a:endParaRPr sz="1200">
              <a:latin typeface="Times New Roman"/>
              <a:cs typeface="Times New Roman"/>
            </a:endParaRPr>
          </a:p>
          <a:p>
            <a:pPr marL="12700" marR="4708525">
              <a:lnSpc>
                <a:spcPts val="2760"/>
              </a:lnSpc>
              <a:spcBef>
                <a:spcPts val="275"/>
              </a:spcBef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all.</a:t>
            </a:r>
            <a:endParaRPr sz="1200">
              <a:latin typeface="Times New Roman"/>
              <a:cs typeface="Times New Roman"/>
            </a:endParaRPr>
          </a:p>
          <a:p>
            <a:pPr marL="12700" marR="4708525">
              <a:lnSpc>
                <a:spcPts val="2760"/>
              </a:lnSpc>
            </a:pPr>
            <a:r>
              <a:rPr dirty="0" sz="1200" spc="-5">
                <a:latin typeface="Times New Roman"/>
                <a:cs typeface="Times New Roman"/>
              </a:rPr>
              <a:t>Mom.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047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  <a:tabLst>
                <a:tab pos="926465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sz="1200" b="1">
                <a:latin typeface="Times New Roman"/>
                <a:cs typeface="Times New Roman"/>
              </a:rPr>
              <a:t>	Multiple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Choice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Cloze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belongs there.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tabLst>
                <a:tab pos="2457450" algn="l"/>
              </a:tabLst>
            </a:pP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world’s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exploding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-----------------,	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growing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pains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---------------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already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tabLst>
                <a:tab pos="4164965" algn="l"/>
              </a:tabLst>
            </a:pPr>
            <a:r>
              <a:rPr dirty="0" sz="1200">
                <a:latin typeface="Times New Roman"/>
                <a:cs typeface="Times New Roman"/>
              </a:rPr>
              <a:t>crowded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---------------new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-------------	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6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6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6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year-----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4007485" algn="l"/>
              </a:tabLst>
            </a:pP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billion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-----------------added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6.5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----------more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troubling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the-----------------number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inhabitants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---------------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estimate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 they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be </a:t>
            </a:r>
            <a:r>
              <a:rPr dirty="0" sz="1200" spc="-5">
                <a:latin typeface="Times New Roman"/>
                <a:cs typeface="Times New Roman"/>
              </a:rPr>
              <a:t>concentrated.</a:t>
            </a:r>
            <a:endParaRPr sz="1200">
              <a:latin typeface="Times New Roman"/>
              <a:cs typeface="Times New Roman"/>
            </a:endParaRPr>
          </a:p>
          <a:p>
            <a:pPr marL="12700" marR="2858770" indent="9144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(Advanced Reading Skills)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aaaOAver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Over </a:t>
            </a:r>
            <a:r>
              <a:rPr dirty="0" sz="1200">
                <a:latin typeface="Times New Roman"/>
                <a:cs typeface="Times New Roman"/>
              </a:rPr>
              <a:t>population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 of the </a:t>
            </a:r>
            <a:r>
              <a:rPr dirty="0" sz="1200" spc="-5">
                <a:latin typeface="Times New Roman"/>
                <a:cs typeface="Times New Roman"/>
              </a:rPr>
              <a:t>most serious problems facing the world today. The </a:t>
            </a:r>
            <a:r>
              <a:rPr dirty="0" sz="1200" spc="-10">
                <a:latin typeface="Times New Roman"/>
                <a:cs typeface="Times New Roman"/>
              </a:rPr>
              <a:t>world’s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exploding population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experiences,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signals, predicts</a:t>
            </a:r>
            <a:r>
              <a:rPr dirty="0" sz="1200" spc="-5">
                <a:latin typeface="Times New Roman"/>
                <a:cs typeface="Times New Roman"/>
              </a:rPr>
              <a:t>, even more growing pains before, now, </a:t>
            </a:r>
            <a:r>
              <a:rPr dirty="0" sz="1200">
                <a:latin typeface="Times New Roman"/>
                <a:cs typeface="Times New Roman"/>
              </a:rPr>
              <a:t> ahead for already crowded areas.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The, Some</a:t>
            </a:r>
            <a:r>
              <a:rPr dirty="0" sz="1200" i="1">
                <a:latin typeface="Times New Roman"/>
                <a:cs typeface="Times New Roman"/>
              </a:rPr>
              <a:t>, A </a:t>
            </a:r>
            <a:r>
              <a:rPr dirty="0" sz="1200" spc="-5">
                <a:latin typeface="Times New Roman"/>
                <a:cs typeface="Times New Roman"/>
              </a:rPr>
              <a:t>new United Nations study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signals, forecasts,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tells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year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2000,</a:t>
            </a:r>
            <a:r>
              <a:rPr dirty="0" u="sng" sz="1200" spc="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2001,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2015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billion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have,</a:t>
            </a:r>
            <a:r>
              <a:rPr dirty="0" u="sng" sz="1200" spc="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be,</a:t>
            </a:r>
            <a:r>
              <a:rPr dirty="0" u="sng" sz="1200" spc="9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u="sng" sz="1200" spc="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6.5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billion, million,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thousand </a:t>
            </a:r>
            <a:r>
              <a:rPr dirty="0" sz="1200">
                <a:latin typeface="Times New Roman"/>
                <a:cs typeface="Times New Roman"/>
              </a:rPr>
              <a:t>in the world </a:t>
            </a:r>
            <a:r>
              <a:rPr dirty="0" sz="1200" spc="-5">
                <a:latin typeface="Times New Roman"/>
                <a:cs typeface="Times New Roman"/>
              </a:rPr>
              <a:t>today.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Even,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Far,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troubling than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big,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small,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increasing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of inhabitants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 marR="2651125">
              <a:lnSpc>
                <a:spcPts val="1380"/>
              </a:lnSpc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an,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estimate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Concentrated.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(Advanced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 </a:t>
            </a:r>
            <a:r>
              <a:rPr dirty="0" sz="1200" spc="-10">
                <a:latin typeface="Times New Roman"/>
                <a:cs typeface="Times New Roman"/>
              </a:rPr>
              <a:t>Skills)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Markstein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Hirasawa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world’s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exploding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Inflectional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Cloze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inflectional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deleted.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nouns,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regular verbs, </a:t>
            </a:r>
            <a:r>
              <a:rPr dirty="0" sz="1200" spc="-5">
                <a:latin typeface="Times New Roman"/>
                <a:cs typeface="Times New Roman"/>
              </a:rPr>
              <a:t>etc…This </a:t>
            </a:r>
            <a:r>
              <a:rPr dirty="0" sz="1200">
                <a:latin typeface="Times New Roman"/>
                <a:cs typeface="Times New Roman"/>
              </a:rPr>
              <a:t>type of cloze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good for practicing grammar in a connected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37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tabLst>
                <a:tab pos="4827905" algn="l"/>
              </a:tabLst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perfect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robot,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like?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Imagine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wax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u="sng" sz="1200" spc="2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u="sng" sz="1200" spc="2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,not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mention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entertain, learn, and perform several other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timesaver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self-ambulatory </a:t>
            </a:r>
            <a:r>
              <a:rPr dirty="0" sz="1200">
                <a:latin typeface="Times New Roman"/>
                <a:cs typeface="Times New Roman"/>
              </a:rPr>
              <a:t> robot would be. </a:t>
            </a:r>
            <a:r>
              <a:rPr dirty="0" sz="1200" spc="-5">
                <a:latin typeface="Times New Roman"/>
                <a:cs typeface="Times New Roman"/>
              </a:rPr>
              <a:t>Who </a:t>
            </a:r>
            <a:r>
              <a:rPr dirty="0" sz="1200">
                <a:latin typeface="Times New Roman"/>
                <a:cs typeface="Times New Roman"/>
              </a:rPr>
              <a:t>wouldn’t </a:t>
            </a:r>
            <a:r>
              <a:rPr dirty="0" sz="1200" spc="-5">
                <a:latin typeface="Times New Roman"/>
                <a:cs typeface="Times New Roman"/>
              </a:rPr>
              <a:t>want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sit </a:t>
            </a:r>
            <a:r>
              <a:rPr dirty="0" sz="1200">
                <a:latin typeface="Times New Roman"/>
                <a:cs typeface="Times New Roman"/>
              </a:rPr>
              <a:t>back and relax while a robot did the house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chores?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aANIf </a:t>
            </a:r>
            <a:r>
              <a:rPr dirty="0" sz="1200">
                <a:latin typeface="Times New Roman"/>
                <a:cs typeface="Times New Roman"/>
              </a:rPr>
              <a:t>there were a perfect </a:t>
            </a:r>
            <a:r>
              <a:rPr dirty="0" sz="1200" spc="-5">
                <a:latin typeface="Times New Roman"/>
                <a:cs typeface="Times New Roman"/>
              </a:rPr>
              <a:t>robot,</a:t>
            </a:r>
            <a:r>
              <a:rPr dirty="0" sz="1200">
                <a:latin typeface="Times New Roman"/>
                <a:cs typeface="Times New Roman"/>
              </a:rPr>
              <a:t> what would it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like? </a:t>
            </a:r>
            <a:r>
              <a:rPr dirty="0" sz="1200" spc="-5">
                <a:latin typeface="Times New Roman"/>
                <a:cs typeface="Times New Roman"/>
              </a:rPr>
              <a:t>Imagine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>
                <a:latin typeface="Times New Roman"/>
                <a:cs typeface="Times New Roman"/>
              </a:rPr>
              <a:t> able to If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If there were a perfect robot,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would it be like? </a:t>
            </a:r>
            <a:r>
              <a:rPr dirty="0" sz="1200" spc="-5">
                <a:latin typeface="Times New Roman"/>
                <a:cs typeface="Times New Roman"/>
              </a:rPr>
              <a:t>Imagine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able to </a:t>
            </a:r>
            <a:r>
              <a:rPr dirty="0" sz="1200" spc="-5">
                <a:latin typeface="Times New Roman"/>
                <a:cs typeface="Times New Roman"/>
              </a:rPr>
              <a:t>wax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wash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dishes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iron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clothes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not to </a:t>
            </a:r>
            <a:r>
              <a:rPr dirty="0" sz="1200" spc="-5">
                <a:latin typeface="Times New Roman"/>
                <a:cs typeface="Times New Roman"/>
              </a:rPr>
              <a:t>mention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fact that </a:t>
            </a:r>
            <a:r>
              <a:rPr dirty="0" sz="1200">
                <a:latin typeface="Times New Roman"/>
                <a:cs typeface="Times New Roman"/>
              </a:rPr>
              <a:t>it would be able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entertain, learn, and perform </a:t>
            </a:r>
            <a:r>
              <a:rPr dirty="0" sz="1200" spc="-5">
                <a:latin typeface="Times New Roman"/>
                <a:cs typeface="Times New Roman"/>
              </a:rPr>
              <a:t>several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jobs</a:t>
            </a:r>
            <a:r>
              <a:rPr dirty="0" sz="1200">
                <a:latin typeface="Times New Roman"/>
                <a:cs typeface="Times New Roman"/>
              </a:rPr>
              <a:t>. What a </a:t>
            </a:r>
            <a:r>
              <a:rPr dirty="0" sz="1200" spc="-5">
                <a:latin typeface="Times New Roman"/>
                <a:cs typeface="Times New Roman"/>
              </a:rPr>
              <a:t>timesaver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self-ambulatory </a:t>
            </a:r>
            <a:r>
              <a:rPr dirty="0" sz="1200">
                <a:latin typeface="Times New Roman"/>
                <a:cs typeface="Times New Roman"/>
              </a:rPr>
              <a:t>robot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chores?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robot,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design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robot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everyday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70"/>
              </a:spcBef>
              <a:tabLst>
                <a:tab pos="97345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dusting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all,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intellectual. It would need to be able to reason, understand, and carry out other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mental </a:t>
            </a:r>
            <a:r>
              <a:rPr dirty="0" sz="1200">
                <a:latin typeface="Times New Roman"/>
                <a:cs typeface="Times New Roman"/>
              </a:rPr>
              <a:t>activity,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helping </a:t>
            </a:r>
            <a:r>
              <a:rPr dirty="0" sz="1200" spc="-5">
                <a:latin typeface="Times New Roman"/>
                <a:cs typeface="Times New Roman"/>
              </a:rPr>
              <a:t>me complete </a:t>
            </a:r>
            <a:r>
              <a:rPr dirty="0" sz="1200">
                <a:latin typeface="Times New Roman"/>
                <a:cs typeface="Times New Roman"/>
              </a:rPr>
              <a:t>difficult </a:t>
            </a:r>
            <a:r>
              <a:rPr dirty="0" sz="1200" spc="-5">
                <a:latin typeface="Times New Roman"/>
                <a:cs typeface="Times New Roman"/>
              </a:rPr>
              <a:t>math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proofreading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 English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for grammatical or spelling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 Intellect would be the key quality of my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personalized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robot.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927100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Cloze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Phrases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This type </a:t>
            </a:r>
            <a:r>
              <a:rPr dirty="0" sz="1200" spc="-5">
                <a:latin typeface="Times New Roman"/>
                <a:cs typeface="Times New Roman"/>
              </a:rPr>
              <a:t>requires phrases instead </a:t>
            </a:r>
            <a:r>
              <a:rPr dirty="0" sz="1200">
                <a:latin typeface="Times New Roman"/>
                <a:cs typeface="Times New Roman"/>
              </a:rPr>
              <a:t>of single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fill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blanks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occur 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random.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difficult exercise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in the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of creativity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filled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Insert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>
                <a:latin typeface="Times New Roman"/>
                <a:cs typeface="Times New Roman"/>
              </a:rPr>
              <a:t> or phrase that </a:t>
            </a:r>
            <a:r>
              <a:rPr dirty="0" sz="1200" spc="-5">
                <a:latin typeface="Times New Roman"/>
                <a:cs typeface="Times New Roman"/>
              </a:rPr>
              <a:t>makes sense </a:t>
            </a: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meaning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tabLst>
                <a:tab pos="2032000" algn="l"/>
                <a:tab pos="2795270" algn="l"/>
                <a:tab pos="4238625" algn="l"/>
                <a:tab pos="4298315" algn="l"/>
                <a:tab pos="4352925" algn="l"/>
                <a:tab pos="5612765" algn="l"/>
              </a:tabLst>
            </a:pPr>
            <a:r>
              <a:rPr dirty="0" sz="1200">
                <a:latin typeface="Times New Roman"/>
                <a:cs typeface="Times New Roman"/>
              </a:rPr>
              <a:t>Oliver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film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orphan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story</a:t>
            </a:r>
            <a:r>
              <a:rPr dirty="0" sz="1200" spc="6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Charles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Dickens,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famous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novelist.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England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Oliver,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    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escapes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workhouse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London.</a:t>
            </a:r>
            <a:r>
              <a:rPr dirty="0" sz="1200" spc="4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villian,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 </a:t>
            </a:r>
            <a:r>
              <a:rPr dirty="0" sz="1200" spc="-5">
                <a:latin typeface="Times New Roman"/>
                <a:cs typeface="Times New Roman"/>
              </a:rPr>
              <a:t>Sykes, </a:t>
            </a:r>
            <a:r>
              <a:rPr dirty="0" sz="1200">
                <a:latin typeface="Times New Roman"/>
                <a:cs typeface="Times New Roman"/>
              </a:rPr>
              <a:t>and Nancy,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girl friend, the </a:t>
            </a:r>
            <a:r>
              <a:rPr dirty="0" sz="1200" spc="-5">
                <a:latin typeface="Times New Roman"/>
                <a:cs typeface="Times New Roman"/>
              </a:rPr>
              <a:t>pickpocket, artful </a:t>
            </a:r>
            <a:r>
              <a:rPr dirty="0" sz="1200">
                <a:latin typeface="Times New Roman"/>
                <a:cs typeface="Times New Roman"/>
              </a:rPr>
              <a:t>Dodger, and Fagin, the old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beggar.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tabLst>
                <a:tab pos="621665" algn="l"/>
                <a:tab pos="926465" algn="l"/>
                <a:tab pos="1155065" algn="l"/>
                <a:tab pos="1466850" algn="l"/>
                <a:tab pos="1487170" algn="l"/>
                <a:tab pos="2842260" algn="l"/>
                <a:tab pos="2911475" algn="l"/>
                <a:tab pos="3274060" algn="l"/>
                <a:tab pos="3867150" algn="l"/>
                <a:tab pos="4337050" algn="l"/>
                <a:tab pos="5273040" algn="l"/>
              </a:tabLst>
            </a:pP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beggar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pickpocket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survive,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judge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Mr.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Brown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Low,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</a:t>
            </a:r>
            <a:r>
              <a:rPr dirty="0" sz="1200" spc="-5">
                <a:latin typeface="Times New Roman"/>
                <a:cs typeface="Times New Roman"/>
              </a:rPr>
              <a:t>man.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Bill  </a:t>
            </a:r>
            <a:r>
              <a:rPr dirty="0" sz="1200" spc="-5">
                <a:latin typeface="Times New Roman"/>
                <a:cs typeface="Times New Roman"/>
              </a:rPr>
              <a:t>Sykes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killed,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 Oliver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14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happily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15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uncle.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16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 </a:t>
            </a:r>
            <a:r>
              <a:rPr dirty="0" sz="1200" spc="-5">
                <a:latin typeface="Times New Roman"/>
                <a:cs typeface="Times New Roman"/>
              </a:rPr>
              <a:t>17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story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boy’s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18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nobody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927735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Cloze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without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Blanks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advanced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level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omitted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line/sentence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blank marked on the page.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are required to first mark the place where you think the </a:t>
            </a:r>
            <a:r>
              <a:rPr dirty="0" sz="1200">
                <a:latin typeface="Times New Roman"/>
                <a:cs typeface="Times New Roman"/>
              </a:rPr>
              <a:t> word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omitted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stroke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(/),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omitted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right hand </a:t>
            </a:r>
            <a:r>
              <a:rPr dirty="0" sz="1200" spc="-5">
                <a:latin typeface="Times New Roman"/>
                <a:cs typeface="Times New Roman"/>
              </a:rPr>
              <a:t>margin. </a:t>
            </a:r>
            <a:r>
              <a:rPr dirty="0" sz="1200">
                <a:latin typeface="Times New Roman"/>
                <a:cs typeface="Times New Roman"/>
              </a:rPr>
              <a:t>The first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have been done for you. There are ten insertions to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robot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designed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tasks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…done...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28700" y="6025726"/>
          <a:ext cx="5867400" cy="3246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8240"/>
                <a:gridCol w="3439795"/>
              </a:tblGrid>
              <a:tr h="172015">
                <a:tc>
                  <a:txBody>
                    <a:bodyPr/>
                    <a:lstStyle/>
                    <a:p>
                      <a:pPr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Robots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already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/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jobs.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ts val="1255"/>
                        </a:lnSpc>
                      </a:pPr>
                      <a:r>
                        <a:rPr dirty="0" sz="1200" spc="-5" i="1">
                          <a:latin typeface="Times New Roman"/>
                          <a:cs typeface="Times New Roman"/>
                        </a:rPr>
                        <a:t>…many...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weld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parts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spray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paint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factories.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dangerous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work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handling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explosives.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even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space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under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ocean.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hard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working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machines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usually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don’t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have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human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shapes.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If</a:t>
                      </a:r>
                      <a:r>
                        <a:rPr dirty="0" sz="1200" spc="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were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design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my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own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robot,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would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need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do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just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household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chores.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robot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masterpiece,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perform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almost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task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agile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precision.</a:t>
                      </a:r>
                      <a:r>
                        <a:rPr dirty="0" sz="1200" spc="2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able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solve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tough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problems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7…..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matter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seconds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would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normally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human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beings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hours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complete.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will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use intelligence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and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agility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perform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numerous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tasks.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0970">
                <a:tc>
                  <a:txBody>
                    <a:bodyPr/>
                    <a:lstStyle/>
                    <a:p>
                      <a:pPr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My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robot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maid,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my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business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212026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partner and my library rolled into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unique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machine.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until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ideal robot is actually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built?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511546" y="1089152"/>
            <a:ext cx="368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10….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Lesson-18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Skimming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Scanning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In this lesson, we will be looking </a:t>
            </a:r>
            <a:r>
              <a:rPr dirty="0" sz="1200">
                <a:latin typeface="Times New Roman"/>
                <a:cs typeface="Times New Roman"/>
              </a:rPr>
              <a:t>at a reading text which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talk about </a:t>
            </a:r>
            <a:r>
              <a:rPr dirty="0" sz="1200" spc="-5">
                <a:latin typeface="Times New Roman"/>
                <a:cs typeface="Times New Roman"/>
              </a:rPr>
              <a:t>primary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computer. </a:t>
            </a:r>
            <a:r>
              <a:rPr dirty="0" sz="1200">
                <a:latin typeface="Times New Roman"/>
                <a:cs typeface="Times New Roman"/>
              </a:rPr>
              <a:t>We are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pattern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established earlier.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are </a:t>
            </a:r>
            <a:r>
              <a:rPr dirty="0" sz="1200" spc="-5">
                <a:latin typeface="Times New Roman"/>
                <a:cs typeface="Times New Roman"/>
              </a:rPr>
              <a:t>required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listen carefully as </a:t>
            </a:r>
            <a:r>
              <a:rPr dirty="0" sz="1200">
                <a:latin typeface="Times New Roman"/>
                <a:cs typeface="Times New Roman"/>
              </a:rPr>
              <a:t>I read the text and then </a:t>
            </a:r>
            <a:r>
              <a:rPr dirty="0" sz="1200" spc="-5">
                <a:latin typeface="Times New Roman"/>
                <a:cs typeface="Times New Roman"/>
              </a:rPr>
              <a:t>together we will </a:t>
            </a:r>
            <a:r>
              <a:rPr dirty="0" sz="1200">
                <a:latin typeface="Times New Roman"/>
                <a:cs typeface="Times New Roman"/>
              </a:rPr>
              <a:t>do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follow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5">
                <a:latin typeface="Times New Roman"/>
                <a:cs typeface="Times New Roman"/>
              </a:rPr>
              <a:t> passage.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Primary </a:t>
            </a:r>
            <a:r>
              <a:rPr dirty="0" sz="1200" spc="-5" b="1">
                <a:latin typeface="Times New Roman"/>
                <a:cs typeface="Times New Roman"/>
              </a:rPr>
              <a:t>and Secondary memory</a:t>
            </a:r>
            <a:r>
              <a:rPr dirty="0" sz="1200" spc="-5">
                <a:latin typeface="Times New Roman"/>
                <a:cs typeface="Times New Roman"/>
              </a:rPr>
              <a:t>[1] </a:t>
            </a:r>
            <a:r>
              <a:rPr dirty="0" sz="1200">
                <a:latin typeface="Times New Roman"/>
                <a:cs typeface="Times New Roman"/>
              </a:rPr>
              <a:t>The term </a:t>
            </a:r>
            <a:r>
              <a:rPr dirty="0" sz="1200" spc="-5">
                <a:latin typeface="Times New Roman"/>
                <a:cs typeface="Times New Roman"/>
              </a:rPr>
              <a:t>‘memory’ is </a:t>
            </a:r>
            <a:r>
              <a:rPr dirty="0" sz="1200">
                <a:latin typeface="Times New Roman"/>
                <a:cs typeface="Times New Roman"/>
              </a:rPr>
              <a:t>usually used to refer 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internal storage </a:t>
            </a:r>
            <a:r>
              <a:rPr dirty="0" sz="1200">
                <a:latin typeface="Times New Roman"/>
                <a:cs typeface="Times New Roman"/>
              </a:rPr>
              <a:t>locations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called </a:t>
            </a:r>
            <a:r>
              <a:rPr dirty="0" sz="1200" b="1">
                <a:latin typeface="Times New Roman"/>
                <a:cs typeface="Times New Roman"/>
              </a:rPr>
              <a:t>real </a:t>
            </a:r>
            <a:r>
              <a:rPr dirty="0" sz="1200" spc="-5" b="1">
                <a:latin typeface="Times New Roman"/>
                <a:cs typeface="Times New Roman"/>
              </a:rPr>
              <a:t>storage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primary memory, 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expressed </a:t>
            </a:r>
            <a:r>
              <a:rPr dirty="0" sz="1200" spc="-5">
                <a:latin typeface="Times New Roman"/>
                <a:cs typeface="Times New Roman"/>
              </a:rPr>
              <a:t>as quantities of K. For example, computers are advertised as having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memories </a:t>
            </a:r>
            <a:r>
              <a:rPr dirty="0" sz="1200">
                <a:latin typeface="Times New Roman"/>
                <a:cs typeface="Times New Roman"/>
              </a:rPr>
              <a:t>of 16K or 152k, depending on their storage capacity. Each k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equal to 1,024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bytes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byte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bits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lain" startAt="2"/>
              <a:tabLst>
                <a:tab pos="229870" algn="l"/>
              </a:tabLst>
            </a:pPr>
            <a:r>
              <a:rPr dirty="0" sz="1200" spc="-5">
                <a:latin typeface="Times New Roman"/>
                <a:cs typeface="Times New Roman"/>
              </a:rPr>
              <a:t>Primary memory is </a:t>
            </a:r>
            <a:r>
              <a:rPr dirty="0" sz="1200">
                <a:latin typeface="Times New Roman"/>
                <a:cs typeface="Times New Roman"/>
              </a:rPr>
              <a:t>closely </a:t>
            </a:r>
            <a:r>
              <a:rPr dirty="0" sz="1200" spc="-5">
                <a:latin typeface="Times New Roman"/>
                <a:cs typeface="Times New Roman"/>
              </a:rPr>
              <a:t>associated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the CPU </a:t>
            </a:r>
            <a:r>
              <a:rPr dirty="0" sz="1200">
                <a:latin typeface="Times New Roman"/>
                <a:cs typeface="Times New Roman"/>
              </a:rPr>
              <a:t>because it </a:t>
            </a:r>
            <a:r>
              <a:rPr dirty="0" sz="1200" spc="-5">
                <a:latin typeface="Times New Roman"/>
                <a:cs typeface="Times New Roman"/>
              </a:rPr>
              <a:t>stores programs </a:t>
            </a:r>
            <a:r>
              <a:rPr dirty="0" sz="1200">
                <a:latin typeface="Times New Roman"/>
                <a:cs typeface="Times New Roman"/>
              </a:rPr>
              <a:t>and data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temporarily,</a:t>
            </a:r>
            <a:r>
              <a:rPr dirty="0" sz="1200">
                <a:latin typeface="Times New Roman"/>
                <a:cs typeface="Times New Roman"/>
              </a:rPr>
              <a:t> thus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them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immediately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available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facilitate processing,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things are needed: </a:t>
            </a:r>
            <a:r>
              <a:rPr dirty="0" sz="1200" b="1">
                <a:latin typeface="Times New Roman"/>
                <a:cs typeface="Times New Roman"/>
              </a:rPr>
              <a:t>random </a:t>
            </a:r>
            <a:r>
              <a:rPr dirty="0" sz="1200" spc="-5" b="1">
                <a:latin typeface="Times New Roman"/>
                <a:cs typeface="Times New Roman"/>
              </a:rPr>
              <a:t>access </a:t>
            </a:r>
            <a:r>
              <a:rPr dirty="0" sz="1200">
                <a:latin typeface="Times New Roman"/>
                <a:cs typeface="Times New Roman"/>
              </a:rPr>
              <a:t>and speed. The </a:t>
            </a:r>
            <a:r>
              <a:rPr dirty="0" sz="1200" spc="-5">
                <a:latin typeface="Times New Roman"/>
                <a:cs typeface="Times New Roman"/>
              </a:rPr>
              <a:t>former means </a:t>
            </a:r>
            <a:r>
              <a:rPr dirty="0" sz="1200">
                <a:latin typeface="Times New Roman"/>
                <a:cs typeface="Times New Roman"/>
              </a:rPr>
              <a:t> that any part of the </a:t>
            </a:r>
            <a:r>
              <a:rPr dirty="0" sz="1200" spc="-5">
                <a:latin typeface="Times New Roman"/>
                <a:cs typeface="Times New Roman"/>
              </a:rPr>
              <a:t>memory may </a:t>
            </a:r>
            <a:r>
              <a:rPr dirty="0" sz="1200">
                <a:latin typeface="Times New Roman"/>
                <a:cs typeface="Times New Roman"/>
              </a:rPr>
              <a:t>be read, or </a:t>
            </a:r>
            <a:r>
              <a:rPr dirty="0" sz="1200" spc="-5" b="1">
                <a:latin typeface="Times New Roman"/>
                <a:cs typeface="Times New Roman"/>
              </a:rPr>
              <a:t>accessed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equally quickly. This </a:t>
            </a:r>
            <a:r>
              <a:rPr dirty="0" sz="1200" spc="-5">
                <a:latin typeface="Times New Roman"/>
                <a:cs typeface="Times New Roman"/>
              </a:rPr>
              <a:t>is made </a:t>
            </a:r>
            <a:r>
              <a:rPr dirty="0" sz="1200">
                <a:latin typeface="Times New Roman"/>
                <a:cs typeface="Times New Roman"/>
              </a:rPr>
              <a:t> possible by the </a:t>
            </a:r>
            <a:r>
              <a:rPr dirty="0" sz="1200" spc="-5">
                <a:latin typeface="Times New Roman"/>
                <a:cs typeface="Times New Roman"/>
              </a:rPr>
              <a:t>system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addresses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>
                <a:latin typeface="Times New Roman"/>
                <a:cs typeface="Times New Roman"/>
              </a:rPr>
              <a:t> where the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locations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series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tiny</a:t>
            </a:r>
            <a:r>
              <a:rPr dirty="0" sz="1200" spc="-5">
                <a:latin typeface="Times New Roman"/>
                <a:cs typeface="Times New Roman"/>
              </a:rPr>
              <a:t> compartments, each having its own address.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 startAt="2"/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These addresses are like the addresses of houses, in that they do not change. Because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always fixed, the control unit knows where to find them at a very high speed.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finds them, </a:t>
            </a:r>
            <a:r>
              <a:rPr dirty="0" sz="1200">
                <a:latin typeface="Times New Roman"/>
                <a:cs typeface="Times New Roman"/>
              </a:rPr>
              <a:t>it puts </a:t>
            </a:r>
            <a:r>
              <a:rPr dirty="0" sz="1200" spc="-5">
                <a:latin typeface="Times New Roman"/>
                <a:cs typeface="Times New Roman"/>
              </a:rPr>
              <a:t>into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compartments whatever must </a:t>
            </a:r>
            <a:r>
              <a:rPr dirty="0" sz="1200">
                <a:latin typeface="Times New Roman"/>
                <a:cs typeface="Times New Roman"/>
              </a:rPr>
              <a:t>go there and </a:t>
            </a:r>
            <a:r>
              <a:rPr dirty="0" sz="1200" spc="-5">
                <a:latin typeface="Times New Roman"/>
                <a:cs typeface="Times New Roman"/>
              </a:rPr>
              <a:t>wipes </a:t>
            </a:r>
            <a:r>
              <a:rPr dirty="0" sz="1200">
                <a:latin typeface="Times New Roman"/>
                <a:cs typeface="Times New Roman"/>
              </a:rPr>
              <a:t>out whatever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stored there.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present in </a:t>
            </a:r>
            <a:r>
              <a:rPr dirty="0" sz="1200" spc="-5">
                <a:latin typeface="Times New Roman"/>
                <a:cs typeface="Times New Roman"/>
              </a:rPr>
              <a:t>these compartments is </a:t>
            </a:r>
            <a:r>
              <a:rPr dirty="0" sz="1200">
                <a:latin typeface="Times New Roman"/>
                <a:cs typeface="Times New Roman"/>
              </a:rPr>
              <a:t>called the </a:t>
            </a:r>
            <a:r>
              <a:rPr dirty="0" sz="1200" spc="-5" b="1">
                <a:latin typeface="Times New Roman"/>
                <a:cs typeface="Times New Roman"/>
              </a:rPr>
              <a:t>contents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memory.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 startAt="3"/>
              <a:tabLst>
                <a:tab pos="233679" algn="l"/>
              </a:tabLst>
            </a:pPr>
            <a:r>
              <a:rPr dirty="0" sz="1200" spc="-5">
                <a:latin typeface="Times New Roman"/>
                <a:cs typeface="Times New Roman"/>
              </a:rPr>
              <a:t>Most primary memory is </a:t>
            </a:r>
            <a:r>
              <a:rPr dirty="0" sz="1200">
                <a:latin typeface="Times New Roman"/>
                <a:cs typeface="Times New Roman"/>
              </a:rPr>
              <a:t>costly, and </a:t>
            </a:r>
            <a:r>
              <a:rPr dirty="0" sz="1200" spc="-5">
                <a:latin typeface="Times New Roman"/>
                <a:cs typeface="Times New Roman"/>
              </a:rPr>
              <a:t>therefore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</a:t>
            </a:r>
            <a:r>
              <a:rPr dirty="0" sz="1200" spc="-5">
                <a:latin typeface="Times New Roman"/>
                <a:cs typeface="Times New Roman"/>
              </a:rPr>
              <a:t>transiently,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that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or parts of it,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kept in internal storage while the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being executed. This,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true for </a:t>
            </a:r>
            <a:r>
              <a:rPr dirty="0" sz="1200" spc="-5">
                <a:latin typeface="Times New Roman"/>
                <a:cs typeface="Times New Roman"/>
              </a:rPr>
              <a:t>mini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micro applications </a:t>
            </a:r>
            <a:r>
              <a:rPr dirty="0" sz="1200">
                <a:latin typeface="Times New Roman"/>
                <a:cs typeface="Times New Roman"/>
              </a:rPr>
              <a:t>where the </a:t>
            </a:r>
            <a:r>
              <a:rPr dirty="0" sz="1200" spc="-5">
                <a:latin typeface="Times New Roman"/>
                <a:cs typeface="Times New Roman"/>
              </a:rPr>
              <a:t>computer performs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 function, referred to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 b="1">
                <a:latin typeface="Times New Roman"/>
                <a:cs typeface="Times New Roman"/>
              </a:rPr>
              <a:t>dedicated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all the time. But since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vast quantities of data and </a:t>
            </a:r>
            <a:r>
              <a:rPr dirty="0" sz="1200" spc="-5">
                <a:latin typeface="Times New Roman"/>
                <a:cs typeface="Times New Roman"/>
              </a:rPr>
              <a:t>programs, </a:t>
            </a:r>
            <a:r>
              <a:rPr dirty="0" sz="1200">
                <a:latin typeface="Times New Roman"/>
                <a:cs typeface="Times New Roman"/>
              </a:rPr>
              <a:t>a lot of </a:t>
            </a:r>
            <a:r>
              <a:rPr dirty="0" sz="1200" spc="-5">
                <a:latin typeface="Times New Roman"/>
                <a:cs typeface="Times New Roman"/>
              </a:rPr>
              <a:t>storage </a:t>
            </a:r>
            <a:r>
              <a:rPr dirty="0" sz="1200">
                <a:latin typeface="Times New Roman"/>
                <a:cs typeface="Times New Roman"/>
              </a:rPr>
              <a:t>space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required.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</a:t>
            </a:r>
            <a:r>
              <a:rPr dirty="0" sz="1200">
                <a:latin typeface="Times New Roman"/>
                <a:cs typeface="Times New Roman"/>
              </a:rPr>
              <a:t> various secondary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technologies</a:t>
            </a:r>
            <a:r>
              <a:rPr dirty="0" sz="1200">
                <a:latin typeface="Times New Roman"/>
                <a:cs typeface="Times New Roman"/>
              </a:rPr>
              <a:t> have 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 startAt="3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 startAt="3"/>
              <a:tabLst>
                <a:tab pos="242570" algn="l"/>
              </a:tabLst>
            </a:pPr>
            <a:r>
              <a:rPr dirty="0" sz="1200">
                <a:latin typeface="Times New Roman"/>
                <a:cs typeface="Times New Roman"/>
              </a:rPr>
              <a:t>Secondary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devices fall into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categories: </a:t>
            </a:r>
            <a:r>
              <a:rPr dirty="0" sz="1200" spc="-5" b="1">
                <a:latin typeface="Times New Roman"/>
                <a:cs typeface="Times New Roman"/>
              </a:rPr>
              <a:t>sequential </a:t>
            </a:r>
            <a:r>
              <a:rPr dirty="0" sz="1200" b="1">
                <a:latin typeface="Times New Roman"/>
                <a:cs typeface="Times New Roman"/>
              </a:rPr>
              <a:t>devices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b="1">
                <a:latin typeface="Times New Roman"/>
                <a:cs typeface="Times New Roman"/>
              </a:rPr>
              <a:t>random-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access </a:t>
            </a:r>
            <a:r>
              <a:rPr dirty="0" sz="1200" spc="-5">
                <a:latin typeface="Times New Roman"/>
                <a:cs typeface="Times New Roman"/>
              </a:rPr>
              <a:t>devices. </a:t>
            </a:r>
            <a:r>
              <a:rPr dirty="0" sz="1200">
                <a:latin typeface="Times New Roman"/>
                <a:cs typeface="Times New Roman"/>
              </a:rPr>
              <a:t>Sequential </a:t>
            </a:r>
            <a:r>
              <a:rPr dirty="0" sz="1200" spc="-5">
                <a:latin typeface="Times New Roman"/>
                <a:cs typeface="Times New Roman"/>
              </a:rPr>
              <a:t>devices permit information </a:t>
            </a:r>
            <a:r>
              <a:rPr dirty="0" sz="1200">
                <a:latin typeface="Times New Roman"/>
                <a:cs typeface="Times New Roman"/>
              </a:rPr>
              <a:t>to be written </a:t>
            </a:r>
            <a:r>
              <a:rPr dirty="0" sz="1200" spc="-5">
                <a:latin typeface="Times New Roman"/>
                <a:cs typeface="Times New Roman"/>
              </a:rPr>
              <a:t>onto </a:t>
            </a:r>
            <a:r>
              <a:rPr dirty="0" sz="1200">
                <a:latin typeface="Times New Roman"/>
                <a:cs typeface="Times New Roman"/>
              </a:rPr>
              <a:t>or read </a:t>
            </a:r>
            <a:r>
              <a:rPr dirty="0" sz="1200" spc="-5">
                <a:latin typeface="Times New Roman"/>
                <a:cs typeface="Times New Roman"/>
              </a:rPr>
              <a:t>off </a:t>
            </a:r>
            <a:r>
              <a:rPr dirty="0" sz="1200">
                <a:latin typeface="Times New Roman"/>
                <a:cs typeface="Times New Roman"/>
              </a:rPr>
              <a:t>some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 </a:t>
            </a:r>
            <a:r>
              <a:rPr dirty="0" sz="1200" spc="-5">
                <a:latin typeface="Times New Roman"/>
                <a:cs typeface="Times New Roman"/>
              </a:rPr>
              <a:t>medium </a:t>
            </a:r>
            <a:r>
              <a:rPr dirty="0" sz="1200">
                <a:latin typeface="Times New Roman"/>
                <a:cs typeface="Times New Roman"/>
              </a:rPr>
              <a:t>in a fixed </a:t>
            </a:r>
            <a:r>
              <a:rPr dirty="0" sz="1200" spc="-5">
                <a:latin typeface="Times New Roman"/>
                <a:cs typeface="Times New Roman"/>
              </a:rPr>
              <a:t>sequence </a:t>
            </a:r>
            <a:r>
              <a:rPr dirty="0" sz="1200">
                <a:latin typeface="Times New Roman"/>
                <a:cs typeface="Times New Roman"/>
              </a:rPr>
              <a:t>only. In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get at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particular data item,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preceding</a:t>
            </a:r>
            <a:r>
              <a:rPr dirty="0" sz="1200">
                <a:latin typeface="Times New Roman"/>
                <a:cs typeface="Times New Roman"/>
              </a:rPr>
              <a:t> it.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example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magnetic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tape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considerable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the other hand, </a:t>
            </a:r>
            <a:r>
              <a:rPr dirty="0" sz="1200" spc="-5">
                <a:latin typeface="Times New Roman"/>
                <a:cs typeface="Times New Roman"/>
              </a:rPr>
              <a:t>random-access devices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designed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permit </a:t>
            </a:r>
            <a:r>
              <a:rPr dirty="0" sz="1200">
                <a:latin typeface="Times New Roman"/>
                <a:cs typeface="Times New Roman"/>
              </a:rPr>
              <a:t>direct, or </a:t>
            </a: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>
                <a:latin typeface="Times New Roman"/>
                <a:cs typeface="Times New Roman"/>
              </a:rPr>
              <a:t>direct,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bypass</a:t>
            </a:r>
            <a:r>
              <a:rPr dirty="0" sz="1200">
                <a:latin typeface="Times New Roman"/>
                <a:cs typeface="Times New Roman"/>
              </a:rPr>
              <a:t> large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quantities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irrelevant</a:t>
            </a:r>
            <a:r>
              <a:rPr dirty="0" sz="1200">
                <a:latin typeface="Times New Roman"/>
                <a:cs typeface="Times New Roman"/>
              </a:rPr>
              <a:t> data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 reduce </a:t>
            </a:r>
            <a:r>
              <a:rPr dirty="0" sz="1200" spc="-5">
                <a:latin typeface="Times New Roman"/>
                <a:cs typeface="Times New Roman"/>
              </a:rPr>
              <a:t>access time considerably. An example </a:t>
            </a:r>
            <a:r>
              <a:rPr dirty="0" sz="1200">
                <a:latin typeface="Times New Roman"/>
                <a:cs typeface="Times New Roman"/>
              </a:rPr>
              <a:t>of this </a:t>
            </a:r>
            <a:r>
              <a:rPr dirty="0" sz="1200" spc="-5">
                <a:latin typeface="Times New Roman"/>
                <a:cs typeface="Times New Roman"/>
              </a:rPr>
              <a:t>technology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magnetic </a:t>
            </a:r>
            <a:r>
              <a:rPr dirty="0" sz="1200">
                <a:latin typeface="Times New Roman"/>
                <a:cs typeface="Times New Roman"/>
              </a:rPr>
              <a:t> disk,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magnetic </a:t>
            </a:r>
            <a:r>
              <a:rPr dirty="0" sz="1200">
                <a:latin typeface="Times New Roman"/>
                <a:cs typeface="Times New Roman"/>
              </a:rPr>
              <a:t>tape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398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5">
                <a:latin typeface="Times New Roman"/>
                <a:cs typeface="Times New Roman"/>
              </a:rPr>
              <a:t>disks </a:t>
            </a:r>
            <a:r>
              <a:rPr dirty="0" sz="1200">
                <a:latin typeface="Times New Roman"/>
                <a:cs typeface="Times New Roman"/>
              </a:rPr>
              <a:t>are hooked up to the </a:t>
            </a:r>
            <a:r>
              <a:rPr dirty="0" sz="1200" spc="-5">
                <a:latin typeface="Times New Roman"/>
                <a:cs typeface="Times New Roman"/>
              </a:rPr>
              <a:t>computer and used as an extension of internal storage in </a:t>
            </a:r>
            <a:r>
              <a:rPr dirty="0" sz="1200">
                <a:latin typeface="Times New Roman"/>
                <a:cs typeface="Times New Roman"/>
              </a:rPr>
              <a:t> 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>
                <a:latin typeface="Times New Roman"/>
                <a:cs typeface="Times New Roman"/>
              </a:rPr>
              <a:t> 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virtual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with 256K bytes of real storage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seem to have 512K bytes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virtual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disks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provide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additional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text?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There are </a:t>
            </a:r>
            <a:r>
              <a:rPr dirty="0" sz="1200" spc="-5" b="1">
                <a:latin typeface="Times New Roman"/>
                <a:cs typeface="Times New Roman"/>
              </a:rPr>
              <a:t>two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types</a:t>
            </a:r>
            <a:r>
              <a:rPr dirty="0" sz="1200" b="1">
                <a:latin typeface="Times New Roman"/>
                <a:cs typeface="Times New Roman"/>
              </a:rPr>
              <a:t> of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memory:</a:t>
            </a:r>
            <a:r>
              <a:rPr dirty="0" sz="1200" b="1">
                <a:latin typeface="Times New Roman"/>
                <a:cs typeface="Times New Roman"/>
              </a:rPr>
              <a:t> primary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secondary.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Primary memory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Secondary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devices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unimportant</a:t>
            </a:r>
            <a:r>
              <a:rPr dirty="0" sz="1200">
                <a:latin typeface="Times New Roman"/>
                <a:cs typeface="Times New Roman"/>
              </a:rPr>
              <a:t> in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Answer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idea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passages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</a:t>
            </a:r>
            <a:r>
              <a:rPr dirty="0" sz="1200" spc="-5">
                <a:latin typeface="Times New Roman"/>
                <a:cs typeface="Times New Roman"/>
              </a:rPr>
              <a:t>mentions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primary 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very costly.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memory;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later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unimportant</a:t>
            </a:r>
            <a:r>
              <a:rPr dirty="0" sz="1200">
                <a:latin typeface="Times New Roman"/>
                <a:cs typeface="Times New Roman"/>
              </a:rPr>
              <a:t> in a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2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passage: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Indicate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(S/NS)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text.</a:t>
            </a:r>
            <a:endParaRPr sz="1200">
              <a:latin typeface="Times New Roman"/>
              <a:cs typeface="Times New Roman"/>
            </a:endParaRPr>
          </a:p>
          <a:p>
            <a:pPr marL="203200">
              <a:lnSpc>
                <a:spcPts val="1380"/>
              </a:lnSpc>
              <a:tabLst>
                <a:tab pos="4692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	</a:t>
            </a:r>
            <a:r>
              <a:rPr dirty="0" sz="1200" spc="-10" b="1">
                <a:latin typeface="Times New Roman"/>
                <a:cs typeface="Times New Roman"/>
              </a:rPr>
              <a:t>NS</a:t>
            </a:r>
            <a:endParaRPr sz="1200">
              <a:latin typeface="Times New Roman"/>
              <a:cs typeface="Times New Roman"/>
            </a:endParaRPr>
          </a:p>
          <a:p>
            <a:pPr marL="1079500" indent="-153035">
              <a:lnSpc>
                <a:spcPts val="1405"/>
              </a:lnSpc>
              <a:buAutoNum type="arabicPeriod"/>
              <a:tabLst>
                <a:tab pos="10801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‘memory’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-5" b="1">
                <a:latin typeface="Times New Roman"/>
                <a:cs typeface="Times New Roman"/>
              </a:rPr>
              <a:t>. 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927100" marR="1236980">
              <a:lnSpc>
                <a:spcPts val="1380"/>
              </a:lnSpc>
              <a:buAutoNum type="arabicPeriod"/>
              <a:tabLst>
                <a:tab pos="10801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often advertised according to </a:t>
            </a:r>
            <a:r>
              <a:rPr dirty="0" sz="1200" spc="-5">
                <a:latin typeface="Times New Roman"/>
                <a:cs typeface="Times New Roman"/>
              </a:rPr>
              <a:t>their memory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079500" indent="-153035">
              <a:lnSpc>
                <a:spcPct val="100000"/>
              </a:lnSpc>
              <a:buAutoNum type="arabicPeriod"/>
              <a:tabLst>
                <a:tab pos="108013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easily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927100" marR="1147445">
              <a:lnSpc>
                <a:spcPts val="1380"/>
              </a:lnSpc>
              <a:buAutoNum type="arabicPeriod"/>
              <a:tabLst>
                <a:tab pos="1080135" algn="l"/>
              </a:tabLst>
            </a:pPr>
            <a:r>
              <a:rPr dirty="0" sz="1200" spc="-5">
                <a:latin typeface="Times New Roman"/>
                <a:cs typeface="Times New Roman"/>
              </a:rPr>
              <a:t>Minicomputers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927100" marR="843280">
              <a:lnSpc>
                <a:spcPts val="1380"/>
              </a:lnSpc>
              <a:buAutoNum type="arabicPeriod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information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needs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stored.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/>
              <a:tabLst>
                <a:tab pos="1079500" algn="l"/>
              </a:tabLst>
            </a:pP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is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</a:t>
            </a:r>
            <a:r>
              <a:rPr dirty="0" sz="1200" spc="-5">
                <a:latin typeface="Times New Roman"/>
                <a:cs typeface="Times New Roman"/>
              </a:rPr>
              <a:t> memory.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/>
              <a:tabLst>
                <a:tab pos="10795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</a:t>
            </a:r>
            <a:r>
              <a:rPr dirty="0" sz="1200" b="1">
                <a:latin typeface="Times New Roman"/>
                <a:cs typeface="Times New Roman"/>
              </a:rPr>
              <a:t>.</a:t>
            </a:r>
            <a:r>
              <a:rPr dirty="0" sz="1200" spc="-5" b="1">
                <a:latin typeface="Times New Roman"/>
                <a:cs typeface="Times New Roman"/>
              </a:rPr>
              <a:t> 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469900" marR="271145" indent="457200">
              <a:lnSpc>
                <a:spcPts val="1380"/>
              </a:lnSpc>
              <a:buAutoNum type="arabicPeriod"/>
              <a:tabLst>
                <a:tab pos="1099185" algn="l"/>
              </a:tabLst>
            </a:pP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magnetic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retrieved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information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on tape</a:t>
            </a:r>
            <a:r>
              <a:rPr dirty="0" sz="1200" b="1">
                <a:latin typeface="Times New Roman"/>
                <a:cs typeface="Times New Roman"/>
              </a:rPr>
              <a:t>.</a:t>
            </a:r>
            <a:r>
              <a:rPr dirty="0" sz="1200" spc="-5" b="1">
                <a:latin typeface="Times New Roman"/>
                <a:cs typeface="Times New Roman"/>
              </a:rPr>
              <a:t> 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078865" indent="-152400">
              <a:lnSpc>
                <a:spcPct val="100000"/>
              </a:lnSpc>
              <a:buAutoNum type="arabicPeriod"/>
              <a:tabLst>
                <a:tab pos="1079500" algn="l"/>
              </a:tabLst>
            </a:pPr>
            <a:r>
              <a:rPr dirty="0" sz="1200" spc="-5">
                <a:latin typeface="Times New Roman"/>
                <a:cs typeface="Times New Roman"/>
              </a:rPr>
              <a:t>Disks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stored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library. </a:t>
            </a:r>
            <a:r>
              <a:rPr dirty="0" sz="1200" spc="-10" b="1">
                <a:latin typeface="Times New Roman"/>
                <a:cs typeface="Times New Roman"/>
              </a:rPr>
              <a:t>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469900" marR="270510" indent="457200">
              <a:lnSpc>
                <a:spcPts val="1380"/>
              </a:lnSpc>
              <a:buAutoNum type="arabicPeriod"/>
              <a:tabLst>
                <a:tab pos="1156335" algn="l"/>
                <a:tab pos="5419090" algn="l"/>
              </a:tabLst>
            </a:pPr>
            <a:r>
              <a:rPr dirty="0" sz="1200">
                <a:latin typeface="Times New Roman"/>
                <a:cs typeface="Times New Roman"/>
              </a:rPr>
              <a:t>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puters can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infor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ation e</a:t>
            </a:r>
            <a:r>
              <a:rPr dirty="0" sz="1200" spc="-5">
                <a:latin typeface="Times New Roman"/>
                <a:cs typeface="Times New Roman"/>
              </a:rPr>
              <a:t>v</a:t>
            </a:r>
            <a:r>
              <a:rPr dirty="0" sz="1200">
                <a:latin typeface="Times New Roman"/>
                <a:cs typeface="Times New Roman"/>
              </a:rPr>
              <a:t>en if 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plete progra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	not 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internal storage.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211580" y="4643628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485900" y="4643628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211580" y="5015484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485900" y="5015484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211580" y="5505450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485900" y="5505450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211580" y="5914644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485900" y="5914644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211580" y="6415278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485900" y="6415278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211580" y="6905243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299"/>
                </a:lnTo>
                <a:lnTo>
                  <a:pt x="114300" y="114299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485900" y="6905243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299"/>
                </a:lnTo>
                <a:lnTo>
                  <a:pt x="114300" y="114299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211580" y="7242809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485900" y="7242809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211580" y="7626095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299"/>
                </a:lnTo>
                <a:lnTo>
                  <a:pt x="114300" y="114299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485900" y="7626095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299"/>
                </a:lnTo>
                <a:lnTo>
                  <a:pt x="114300" y="114299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211580" y="8161781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485900" y="8161781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211580" y="8520683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485900" y="8520683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114300" y="0"/>
                </a:moveTo>
                <a:lnTo>
                  <a:pt x="0" y="0"/>
                </a:lnTo>
                <a:lnTo>
                  <a:pt x="0" y="114300"/>
                </a:lnTo>
                <a:lnTo>
                  <a:pt x="114300" y="114300"/>
                </a:lnTo>
                <a:lnTo>
                  <a:pt x="11430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5" name="object 2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626735" cy="4939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3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Locating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random access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 2 </a:t>
            </a:r>
            <a:r>
              <a:rPr dirty="0" sz="1200" spc="-5">
                <a:latin typeface="Times New Roman"/>
                <a:cs typeface="Times New Roman"/>
              </a:rPr>
              <a:t>Random-access</a:t>
            </a:r>
            <a:r>
              <a:rPr dirty="0" sz="1200">
                <a:latin typeface="Times New Roman"/>
                <a:cs typeface="Times New Roman"/>
              </a:rPr>
              <a:t> devices are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efficient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sequential</a:t>
            </a:r>
            <a:r>
              <a:rPr dirty="0" sz="1200">
                <a:latin typeface="Times New Roman"/>
                <a:cs typeface="Times New Roman"/>
              </a:rPr>
              <a:t> devices.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CPU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primary memory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Virtual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capacity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computer.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primary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 </a:t>
            </a:r>
            <a:r>
              <a:rPr dirty="0" sz="1200" spc="-5">
                <a:latin typeface="Times New Roman"/>
                <a:cs typeface="Times New Roman"/>
              </a:rPr>
              <a:t>Information is</a:t>
            </a:r>
            <a:r>
              <a:rPr dirty="0" sz="1200">
                <a:latin typeface="Times New Roman"/>
                <a:cs typeface="Times New Roman"/>
              </a:rPr>
              <a:t> stored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compartments</a:t>
            </a:r>
            <a:r>
              <a:rPr dirty="0" sz="1200">
                <a:latin typeface="Times New Roman"/>
                <a:cs typeface="Times New Roman"/>
              </a:rPr>
              <a:t> 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specific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</a:t>
            </a:r>
            <a:r>
              <a:rPr dirty="0" sz="1200" spc="-5">
                <a:latin typeface="Times New Roman"/>
                <a:cs typeface="Times New Roman"/>
              </a:rPr>
              <a:t> memory </a:t>
            </a:r>
            <a:r>
              <a:rPr dirty="0" sz="1200">
                <a:latin typeface="Times New Roman"/>
                <a:cs typeface="Times New Roman"/>
              </a:rPr>
              <a:t>device.</a:t>
            </a:r>
            <a:endParaRPr sz="1200">
              <a:latin typeface="Times New Roman"/>
              <a:cs typeface="Times New Roman"/>
            </a:endParaRPr>
          </a:p>
          <a:p>
            <a:pPr marL="927100" marR="5715" indent="-9144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kept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6364" indent="-114300">
              <a:lnSpc>
                <a:spcPts val="1375"/>
              </a:lnSpc>
              <a:buAutoNum type="arabicPlain" startAt="3"/>
              <a:tabLst>
                <a:tab pos="1270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Locating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reference.</a:t>
            </a:r>
            <a:endParaRPr sz="1200">
              <a:latin typeface="Times New Roman"/>
              <a:cs typeface="Times New Roman"/>
            </a:endParaRPr>
          </a:p>
          <a:p>
            <a:pPr algn="just" marL="12700" marR="6985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2…….</a:t>
            </a:r>
            <a:r>
              <a:rPr dirty="0" sz="1200" spc="-5" b="1">
                <a:latin typeface="Times New Roman"/>
                <a:cs typeface="Times New Roman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Speed and random </a:t>
            </a:r>
            <a:r>
              <a:rPr dirty="0" sz="1200">
                <a:latin typeface="Times New Roman"/>
                <a:cs typeface="Times New Roman"/>
              </a:rPr>
              <a:t>access are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processing information.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4…….</a:t>
            </a:r>
            <a:r>
              <a:rPr dirty="0" sz="1200" spc="-5" b="1">
                <a:latin typeface="Times New Roman"/>
                <a:cs typeface="Times New Roman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Random-access devices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efficient than sequential </a:t>
            </a:r>
            <a:r>
              <a:rPr dirty="0" sz="1200" spc="-5">
                <a:latin typeface="Times New Roman"/>
                <a:cs typeface="Times New Roman"/>
              </a:rPr>
              <a:t>devices.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2…….</a:t>
            </a:r>
            <a:r>
              <a:rPr dirty="0" sz="1200" spc="-5" b="1">
                <a:latin typeface="Times New Roman"/>
                <a:cs typeface="Times New Roman"/>
              </a:rPr>
              <a:t>3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work</a:t>
            </a:r>
            <a:r>
              <a:rPr dirty="0" sz="1200">
                <a:latin typeface="Times New Roman"/>
                <a:cs typeface="Times New Roman"/>
              </a:rPr>
              <a:t> closely together.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4…….</a:t>
            </a:r>
            <a:r>
              <a:rPr dirty="0" sz="1200" spc="-5" b="1">
                <a:latin typeface="Times New Roman"/>
                <a:cs typeface="Times New Roman"/>
              </a:rPr>
              <a:t>4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Virtual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memory </a:t>
            </a:r>
            <a:r>
              <a:rPr dirty="0" sz="1200">
                <a:latin typeface="Times New Roman"/>
                <a:cs typeface="Times New Roman"/>
              </a:rPr>
              <a:t>capacity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1…….</a:t>
            </a:r>
            <a:r>
              <a:rPr dirty="0" sz="1200" spc="-5" b="1">
                <a:latin typeface="Times New Roman"/>
                <a:cs typeface="Times New Roman"/>
              </a:rPr>
              <a:t>5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5">
                <a:latin typeface="Times New Roman"/>
                <a:cs typeface="Times New Roman"/>
              </a:rPr>
              <a:t> storage, </a:t>
            </a:r>
            <a:r>
              <a:rPr dirty="0" sz="1200">
                <a:latin typeface="Times New Roman"/>
                <a:cs typeface="Times New Roman"/>
              </a:rPr>
              <a:t>internal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are all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endParaRPr sz="1200">
              <a:latin typeface="Times New Roman"/>
              <a:cs typeface="Times New Roman"/>
            </a:endParaRPr>
          </a:p>
          <a:p>
            <a:pPr algn="just" marL="12700" marR="22987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2…….</a:t>
            </a:r>
            <a:r>
              <a:rPr dirty="0" sz="1200" spc="-5" b="1">
                <a:latin typeface="Times New Roman"/>
                <a:cs typeface="Times New Roman"/>
              </a:rPr>
              <a:t>6 </a:t>
            </a:r>
            <a:r>
              <a:rPr dirty="0" sz="1200" spc="-5">
                <a:latin typeface="Times New Roman"/>
                <a:cs typeface="Times New Roman"/>
              </a:rPr>
              <a:t>Information is </a:t>
            </a:r>
            <a:r>
              <a:rPr dirty="0" sz="1200">
                <a:latin typeface="Times New Roman"/>
                <a:cs typeface="Times New Roman"/>
              </a:rPr>
              <a:t>stored in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compartments </a:t>
            </a:r>
            <a:r>
              <a:rPr dirty="0" sz="1200">
                <a:latin typeface="Times New Roman"/>
                <a:cs typeface="Times New Roman"/>
              </a:rPr>
              <a:t>with a specific location.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</a:t>
            </a:r>
            <a:r>
              <a:rPr dirty="0" sz="1200" spc="-5">
                <a:latin typeface="Times New Roman"/>
                <a:cs typeface="Times New Roman"/>
              </a:rPr>
              <a:t> 4…….</a:t>
            </a:r>
            <a:r>
              <a:rPr dirty="0" sz="1200" spc="-5" b="1">
                <a:latin typeface="Times New Roman"/>
                <a:cs typeface="Times New Roman"/>
              </a:rPr>
              <a:t>7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two classes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</a:t>
            </a:r>
            <a:r>
              <a:rPr dirty="0" sz="1200" spc="-5">
                <a:latin typeface="Times New Roman"/>
                <a:cs typeface="Times New Roman"/>
              </a:rPr>
              <a:t> memory </a:t>
            </a:r>
            <a:r>
              <a:rPr dirty="0" sz="1200">
                <a:latin typeface="Times New Roman"/>
                <a:cs typeface="Times New Roman"/>
              </a:rPr>
              <a:t>device.</a:t>
            </a:r>
            <a:endParaRPr sz="1200">
              <a:latin typeface="Times New Roman"/>
              <a:cs typeface="Times New Roman"/>
            </a:endParaRPr>
          </a:p>
          <a:p>
            <a:pPr algn="just" marL="927100" marR="5080" indent="-9144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Para </a:t>
            </a:r>
            <a:r>
              <a:rPr dirty="0" sz="1200" spc="-5">
                <a:latin typeface="Times New Roman"/>
                <a:cs typeface="Times New Roman"/>
              </a:rPr>
              <a:t>3……</a:t>
            </a:r>
            <a:r>
              <a:rPr dirty="0" sz="1200" spc="-5" b="1">
                <a:latin typeface="Times New Roman"/>
                <a:cs typeface="Times New Roman"/>
              </a:rPr>
              <a:t>8 </a:t>
            </a:r>
            <a:r>
              <a:rPr dirty="0" sz="1200" spc="-5">
                <a:latin typeface="Times New Roman"/>
                <a:cs typeface="Times New Roman"/>
              </a:rPr>
              <a:t>Only </a:t>
            </a:r>
            <a:r>
              <a:rPr dirty="0" sz="1200">
                <a:latin typeface="Times New Roman"/>
                <a:cs typeface="Times New Roman"/>
              </a:rPr>
              <a:t>parts of </a:t>
            </a:r>
            <a:r>
              <a:rPr dirty="0" sz="1200" spc="-5">
                <a:latin typeface="Times New Roman"/>
                <a:cs typeface="Times New Roman"/>
              </a:rPr>
              <a:t>programs </a:t>
            </a:r>
            <a:r>
              <a:rPr dirty="0" sz="1200">
                <a:latin typeface="Times New Roman"/>
                <a:cs typeface="Times New Roman"/>
              </a:rPr>
              <a:t>are kept in </a:t>
            </a:r>
            <a:r>
              <a:rPr dirty="0" sz="1200" spc="-5">
                <a:latin typeface="Times New Roman"/>
                <a:cs typeface="Times New Roman"/>
              </a:rPr>
              <a:t>primary </a:t>
            </a:r>
            <a:r>
              <a:rPr dirty="0" sz="1200">
                <a:latin typeface="Times New Roman"/>
                <a:cs typeface="Times New Roman"/>
              </a:rPr>
              <a:t>storage while a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being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0" indent="-114935">
              <a:lnSpc>
                <a:spcPts val="1405"/>
              </a:lnSpc>
              <a:buAutoNum type="arabicPlain" startAt="4"/>
              <a:tabLst>
                <a:tab pos="1276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Contextual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reference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bold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typeface</a:t>
            </a:r>
            <a:r>
              <a:rPr dirty="0" sz="1200">
                <a:latin typeface="Times New Roman"/>
                <a:cs typeface="Times New Roman"/>
              </a:rPr>
              <a:t> refer to.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5996432"/>
            <a:ext cx="138938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Depending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their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87139" y="5996432"/>
            <a:ext cx="211709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  <a:p>
            <a:pPr marL="470534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………...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6346952"/>
            <a:ext cx="4614545" cy="2136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3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former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3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Where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………..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3"/>
              <a:tabLst>
                <a:tab pos="165100" algn="l"/>
                <a:tab pos="1840230" algn="l"/>
              </a:tabLst>
            </a:pPr>
            <a:r>
              <a:rPr dirty="0" sz="1200" b="1">
                <a:latin typeface="Times New Roman"/>
                <a:cs typeface="Times New Roman"/>
              </a:rPr>
              <a:t>Each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own	………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address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……...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them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……….</a:t>
            </a:r>
            <a:endParaRPr sz="1200">
              <a:latin typeface="Times New Roman"/>
              <a:cs typeface="Times New Roman"/>
            </a:endParaRPr>
          </a:p>
          <a:p>
            <a:pPr marL="165735" indent="-153670">
              <a:lnSpc>
                <a:spcPts val="1380"/>
              </a:lnSpc>
              <a:buAutoNum type="arabicPeriod" startAt="3"/>
              <a:tabLst>
                <a:tab pos="166370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Whatever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there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410"/>
              </a:lnSpc>
              <a:buAutoNum type="arabicPeriod" startAt="3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Contextual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reference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bold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typeface </a:t>
            </a:r>
            <a:r>
              <a:rPr dirty="0" sz="1200">
                <a:latin typeface="Times New Roman"/>
                <a:cs typeface="Times New Roman"/>
              </a:rPr>
              <a:t>refer to.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07859" y="8450071"/>
            <a:ext cx="1016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(p.1)…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8450071"/>
            <a:ext cx="135445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……...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2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depending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their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21227" y="8800592"/>
            <a:ext cx="1798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(p.1)…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Memories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1346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250945" y="1089152"/>
            <a:ext cx="1798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(p.2)…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Memories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439671"/>
            <a:ext cx="16205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former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58261" y="1439671"/>
            <a:ext cx="1450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(p.2)…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Random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1790192"/>
            <a:ext cx="1813560" cy="179133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496570">
              <a:lnSpc>
                <a:spcPts val="1380"/>
              </a:lnSpc>
              <a:spcBef>
                <a:spcPts val="195"/>
              </a:spcBef>
              <a:buFont typeface="Times New Roman"/>
              <a:buAutoNum type="arabicPeriod" startAt="5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Where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locations</a:t>
            </a:r>
            <a:endParaRPr sz="1200">
              <a:latin typeface="Times New Roman"/>
              <a:cs typeface="Times New Roman"/>
            </a:endParaRPr>
          </a:p>
          <a:p>
            <a:pPr marL="12700" marR="284480">
              <a:lnSpc>
                <a:spcPts val="1380"/>
              </a:lnSpc>
              <a:spcBef>
                <a:spcPts val="10"/>
              </a:spcBef>
              <a:buFont typeface="Arial MT"/>
              <a:buAutoNum type="arabicPeriod" startAt="5"/>
              <a:tabLst>
                <a:tab pos="182880" algn="l"/>
              </a:tabLst>
            </a:pPr>
            <a:r>
              <a:rPr dirty="0" sz="1200" b="1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Arial MT"/>
                <a:cs typeface="Arial MT"/>
              </a:rPr>
              <a:t>having its </a:t>
            </a:r>
            <a:r>
              <a:rPr dirty="0" sz="1200" spc="-10">
                <a:latin typeface="Arial MT"/>
                <a:cs typeface="Arial MT"/>
              </a:rPr>
              <a:t>own </a:t>
            </a:r>
            <a:r>
              <a:rPr dirty="0" sz="1200" spc="-320">
                <a:latin typeface="Arial MT"/>
                <a:cs typeface="Arial MT"/>
              </a:rPr>
              <a:t> </a:t>
            </a:r>
            <a:r>
              <a:rPr dirty="0" sz="1200" spc="-10">
                <a:latin typeface="Arial MT"/>
                <a:cs typeface="Arial MT"/>
              </a:rPr>
              <a:t>Address</a:t>
            </a:r>
            <a:endParaRPr sz="1200">
              <a:latin typeface="Arial MT"/>
              <a:cs typeface="Arial MT"/>
            </a:endParaRPr>
          </a:p>
          <a:p>
            <a:pPr marL="12700" marR="411480">
              <a:lnSpc>
                <a:spcPts val="1380"/>
              </a:lnSpc>
              <a:spcBef>
                <a:spcPts val="10"/>
              </a:spcBef>
              <a:buAutoNum type="arabicPeriod" startAt="5"/>
              <a:tabLst>
                <a:tab pos="182245" algn="l"/>
              </a:tabLst>
            </a:pPr>
            <a:r>
              <a:rPr dirty="0" sz="1200">
                <a:latin typeface="Arial MT"/>
                <a:cs typeface="Arial MT"/>
              </a:rPr>
              <a:t>In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that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they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Arial MT"/>
                <a:cs typeface="Arial MT"/>
              </a:rPr>
              <a:t>do</a:t>
            </a:r>
            <a:r>
              <a:rPr dirty="0" sz="1200" spc="-20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not </a:t>
            </a:r>
            <a:r>
              <a:rPr dirty="0" sz="1200" spc="-32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Change</a:t>
            </a:r>
            <a:endParaRPr sz="1200">
              <a:latin typeface="Arial MT"/>
              <a:cs typeface="Arial MT"/>
            </a:endParaRPr>
          </a:p>
          <a:p>
            <a:pPr marL="182245" indent="-170180">
              <a:lnSpc>
                <a:spcPts val="1325"/>
              </a:lnSpc>
              <a:buAutoNum type="arabicPeriod" startAt="5"/>
              <a:tabLst>
                <a:tab pos="182880" algn="l"/>
              </a:tabLst>
            </a:pPr>
            <a:r>
              <a:rPr dirty="0" sz="1200" spc="-5">
                <a:latin typeface="Arial MT"/>
                <a:cs typeface="Arial MT"/>
              </a:rPr>
              <a:t>Where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to</a:t>
            </a:r>
            <a:r>
              <a:rPr dirty="0" sz="1200" spc="-2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find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them</a:t>
            </a:r>
            <a:endParaRPr sz="1200">
              <a:latin typeface="Times New Roman"/>
              <a:cs typeface="Times New Roman"/>
            </a:endParaRPr>
          </a:p>
          <a:p>
            <a:pPr marL="182245" indent="-170180">
              <a:lnSpc>
                <a:spcPts val="1385"/>
              </a:lnSpc>
              <a:buAutoNum type="arabicPeriod" startAt="5"/>
              <a:tabLst>
                <a:tab pos="182880" algn="l"/>
              </a:tabLst>
            </a:pPr>
            <a:r>
              <a:rPr dirty="0" sz="1200">
                <a:latin typeface="Arial MT"/>
                <a:cs typeface="Arial MT"/>
              </a:rPr>
              <a:t>Whatever</a:t>
            </a:r>
            <a:r>
              <a:rPr dirty="0" sz="1200" spc="-30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must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go</a:t>
            </a:r>
            <a:r>
              <a:rPr dirty="0" sz="1200" spc="-35">
                <a:latin typeface="Arial MT"/>
                <a:cs typeface="Arial MT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there</a:t>
            </a:r>
            <a:endParaRPr sz="1200">
              <a:latin typeface="Times New Roman"/>
              <a:cs typeface="Times New Roman"/>
            </a:endParaRPr>
          </a:p>
          <a:p>
            <a:pPr marL="266700" indent="-254635">
              <a:lnSpc>
                <a:spcPts val="1385"/>
              </a:lnSpc>
              <a:buAutoNum type="arabicPeriod" startAt="5"/>
              <a:tabLst>
                <a:tab pos="267335" algn="l"/>
              </a:tabLst>
            </a:pPr>
            <a:r>
              <a:rPr dirty="0" sz="1200">
                <a:latin typeface="Arial MT"/>
                <a:cs typeface="Arial MT"/>
              </a:rPr>
              <a:t>Or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parts</a:t>
            </a:r>
            <a:r>
              <a:rPr dirty="0" sz="1200" spc="-2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of</a:t>
            </a:r>
            <a:r>
              <a:rPr dirty="0" sz="1200" spc="-35">
                <a:latin typeface="Arial MT"/>
                <a:cs typeface="Arial MT"/>
              </a:rPr>
              <a:t> </a:t>
            </a:r>
            <a:r>
              <a:rPr dirty="0" sz="1200" b="1">
                <a:latin typeface="Arial"/>
                <a:cs typeface="Arial"/>
              </a:rPr>
              <a:t>it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415"/>
              </a:lnSpc>
            </a:pPr>
            <a:r>
              <a:rPr dirty="0" sz="1200" spc="-5" b="1">
                <a:latin typeface="Arial"/>
                <a:cs typeface="Arial"/>
              </a:rPr>
              <a:t>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02001" y="1790192"/>
            <a:ext cx="15430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(p.2)…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83437" y="2142235"/>
            <a:ext cx="17608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Arial MT"/>
                <a:cs typeface="Arial MT"/>
              </a:rPr>
              <a:t>(p.2)…</a:t>
            </a:r>
            <a:r>
              <a:rPr dirty="0" sz="1200" spc="-6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Compartment……</a:t>
            </a:r>
            <a:endParaRPr sz="1200">
              <a:latin typeface="Arial MT"/>
              <a:cs typeface="Arial M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83010" y="2493518"/>
            <a:ext cx="20764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Arial MT"/>
                <a:cs typeface="Arial MT"/>
              </a:rPr>
              <a:t>(p.2)…</a:t>
            </a:r>
            <a:r>
              <a:rPr dirty="0" sz="1200" spc="-3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Address</a:t>
            </a:r>
            <a:r>
              <a:rPr dirty="0" sz="1200" spc="-3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of</a:t>
            </a:r>
            <a:r>
              <a:rPr dirty="0" sz="1200" spc="-30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houses…...</a:t>
            </a:r>
            <a:endParaRPr sz="1200">
              <a:latin typeface="Arial MT"/>
              <a:cs typeface="Arial M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00246" y="2844800"/>
            <a:ext cx="1880235" cy="56007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2700" marR="5080" indent="8255">
              <a:lnSpc>
                <a:spcPts val="1390"/>
              </a:lnSpc>
              <a:spcBef>
                <a:spcPts val="185"/>
              </a:spcBef>
            </a:pPr>
            <a:r>
              <a:rPr dirty="0" sz="1200" spc="-5">
                <a:latin typeface="Arial MT"/>
                <a:cs typeface="Arial MT"/>
              </a:rPr>
              <a:t>(p.2)… </a:t>
            </a:r>
            <a:r>
              <a:rPr dirty="0" sz="1200">
                <a:latin typeface="Arial MT"/>
                <a:cs typeface="Arial MT"/>
              </a:rPr>
              <a:t>Addresses……. </a:t>
            </a:r>
            <a:r>
              <a:rPr dirty="0" sz="1200" spc="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(p.2)……</a:t>
            </a:r>
            <a:r>
              <a:rPr dirty="0" sz="1200" spc="-1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Compartments….</a:t>
            </a:r>
            <a:endParaRPr sz="1200">
              <a:latin typeface="Arial MT"/>
              <a:cs typeface="Arial MT"/>
            </a:endParaRPr>
          </a:p>
          <a:p>
            <a:pPr marL="104775">
              <a:lnSpc>
                <a:spcPts val="1340"/>
              </a:lnSpc>
            </a:pPr>
            <a:r>
              <a:rPr dirty="0" sz="1200" spc="-5">
                <a:latin typeface="Arial MT"/>
                <a:cs typeface="Arial MT"/>
              </a:rPr>
              <a:t>(p.3)……</a:t>
            </a:r>
            <a:r>
              <a:rPr dirty="0" sz="1200" spc="-4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Program….</a:t>
            </a:r>
            <a:endParaRPr sz="120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3546602"/>
            <a:ext cx="4055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synonyms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25486" y="3721861"/>
            <a:ext cx="1054735" cy="908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………...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3721861"/>
            <a:ext cx="931544" cy="1085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Represented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7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Erases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Carried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Before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4772659"/>
            <a:ext cx="40601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</a:t>
            </a:r>
            <a:r>
              <a:rPr dirty="0" sz="1200" spc="-5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</a:t>
            </a:r>
            <a:r>
              <a:rPr dirty="0" sz="1200" spc="-5">
                <a:latin typeface="Times New Roman"/>
                <a:cs typeface="Times New Roman"/>
              </a:rPr>
              <a:t>words: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6000" y="4947920"/>
            <a:ext cx="93091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Represented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Erases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Carried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Before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87468" y="4947920"/>
            <a:ext cx="135953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3746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(p.1)… </a:t>
            </a:r>
            <a:r>
              <a:rPr dirty="0" sz="1200">
                <a:latin typeface="Times New Roman"/>
                <a:cs typeface="Times New Roman"/>
              </a:rPr>
              <a:t>Expressed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(p.2)… </a:t>
            </a:r>
            <a:r>
              <a:rPr dirty="0" sz="1200" spc="-5">
                <a:latin typeface="Times New Roman"/>
                <a:cs typeface="Times New Roman"/>
              </a:rPr>
              <a:t>Wipes </a:t>
            </a:r>
            <a:r>
              <a:rPr dirty="0" sz="1200">
                <a:latin typeface="Times New Roman"/>
                <a:cs typeface="Times New Roman"/>
              </a:rPr>
              <a:t>out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(p.3)… Executed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(p.4)… Preceding </a:t>
            </a:r>
            <a:r>
              <a:rPr dirty="0" sz="1200">
                <a:latin typeface="Times New Roman"/>
                <a:cs typeface="Times New Roman"/>
              </a:rPr>
              <a:t> (p.4)…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Considerably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16000" y="6176264"/>
            <a:ext cx="4567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Now </a:t>
            </a:r>
            <a:r>
              <a:rPr dirty="0" sz="1200" b="1">
                <a:latin typeface="Times New Roman"/>
                <a:cs typeface="Times New Roman"/>
              </a:rPr>
              <a:t>refer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back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antonyms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996950" y="6379294"/>
          <a:ext cx="3048635" cy="2272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3005"/>
                <a:gridCol w="963294"/>
                <a:gridCol w="901700"/>
              </a:tblGrid>
              <a:tr h="961447">
                <a:tc>
                  <a:txBody>
                    <a:bodyPr/>
                    <a:lstStyle/>
                    <a:p>
                      <a:pPr marL="183515" indent="-152400">
                        <a:lnSpc>
                          <a:spcPts val="1280"/>
                        </a:lnSpc>
                        <a:buAutoNum type="arabicPeriod" startAt="6"/>
                        <a:tabLst>
                          <a:tab pos="18415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Latter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84150" indent="-153035">
                        <a:lnSpc>
                          <a:spcPts val="1380"/>
                        </a:lnSpc>
                        <a:buAutoNum type="arabicPeriod" startAt="6"/>
                        <a:tabLst>
                          <a:tab pos="18478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Disallow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84150" indent="-153035">
                        <a:lnSpc>
                          <a:spcPts val="1380"/>
                        </a:lnSpc>
                        <a:buAutoNum type="arabicPeriod" startAt="6"/>
                        <a:tabLst>
                          <a:tab pos="18478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Unnecessary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84150" indent="-153035">
                        <a:lnSpc>
                          <a:spcPts val="1380"/>
                        </a:lnSpc>
                        <a:buAutoNum type="arabicPeriod" startAt="6"/>
                        <a:tabLst>
                          <a:tab pos="18478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Go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through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60350" indent="-229235">
                        <a:lnSpc>
                          <a:spcPts val="1410"/>
                        </a:lnSpc>
                        <a:buAutoNum type="arabicPeriod" startAt="6"/>
                        <a:tabLst>
                          <a:tab pos="26098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Imaginary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………...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1971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………...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034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………...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034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………...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19710">
                        <a:lnSpc>
                          <a:spcPts val="141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………...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437388">
                <a:tc>
                  <a:txBody>
                    <a:bodyPr/>
                    <a:lstStyle/>
                    <a:p>
                      <a:pPr marL="31750">
                        <a:lnSpc>
                          <a:spcPts val="1405"/>
                        </a:lnSpc>
                        <a:spcBef>
                          <a:spcPts val="590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Answer: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6.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93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 marL="209550">
                        <a:lnSpc>
                          <a:spcPts val="1385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873055">
                <a:tc>
                  <a:txBody>
                    <a:bodyPr/>
                    <a:lstStyle/>
                    <a:p>
                      <a:pPr marL="184150" indent="-153035">
                        <a:lnSpc>
                          <a:spcPts val="1305"/>
                        </a:lnSpc>
                        <a:buAutoNum type="arabicPeriod" startAt="7"/>
                        <a:tabLst>
                          <a:tab pos="18478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Disallow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84150" indent="-153035">
                        <a:lnSpc>
                          <a:spcPts val="1380"/>
                        </a:lnSpc>
                        <a:buAutoNum type="arabicPeriod" startAt="7"/>
                        <a:tabLst>
                          <a:tab pos="18478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Unnecessary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84150" indent="-152400">
                        <a:lnSpc>
                          <a:spcPts val="1380"/>
                        </a:lnSpc>
                        <a:buAutoNum type="arabicPeriod" startAt="7"/>
                        <a:tabLst>
                          <a:tab pos="18415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Go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through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750" marR="288290">
                        <a:lnSpc>
                          <a:spcPts val="1380"/>
                        </a:lnSpc>
                        <a:buAutoNum type="arabicPeriod" startAt="7"/>
                        <a:tabLst>
                          <a:tab pos="26098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aginary 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permit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081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required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081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bypass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0815">
                        <a:lnSpc>
                          <a:spcPts val="141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…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2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Expression,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expressive,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expressed</a:t>
            </a: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77800" algn="l"/>
              </a:tabLst>
            </a:pP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the…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……….system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airlines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postal</a:t>
            </a:r>
            <a:r>
              <a:rPr dirty="0" sz="1200" spc="-5">
                <a:latin typeface="Times New Roman"/>
                <a:cs typeface="Times New Roman"/>
              </a:rPr>
              <a:t> services.</a:t>
            </a:r>
            <a:endParaRPr sz="1200">
              <a:latin typeface="Times New Roman"/>
              <a:cs typeface="Times New Roman"/>
            </a:endParaRPr>
          </a:p>
          <a:p>
            <a:pPr lvl="1" marL="12700" marR="270510">
              <a:lnSpc>
                <a:spcPts val="1380"/>
              </a:lnSpc>
              <a:buAutoNum type="alphaLcPeriod"/>
              <a:tabLst>
                <a:tab pos="174625" algn="l"/>
              </a:tabLst>
            </a:pPr>
            <a:r>
              <a:rPr dirty="0" sz="1200">
                <a:latin typeface="Times New Roman"/>
                <a:cs typeface="Times New Roman"/>
              </a:rPr>
              <a:t>An……….such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brain’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commands</a:t>
            </a:r>
            <a:r>
              <a:rPr dirty="0" sz="1200" spc="-5">
                <a:latin typeface="Times New Roman"/>
                <a:cs typeface="Times New Roman"/>
              </a:rPr>
              <a:t> ………in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2400">
              <a:lnSpc>
                <a:spcPts val="1405"/>
              </a:lnSpc>
              <a:spcBef>
                <a:spcPts val="5"/>
              </a:spcBef>
              <a:buAutoNum type="arabicPeriod" startAt="2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Equality,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equal,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equally,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equalize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symbol </a:t>
            </a:r>
            <a:r>
              <a:rPr dirty="0" sz="1200">
                <a:latin typeface="Times New Roman"/>
                <a:cs typeface="Times New Roman"/>
              </a:rPr>
              <a:t>#</a:t>
            </a:r>
            <a:r>
              <a:rPr dirty="0" sz="1200" spc="-5">
                <a:latin typeface="Times New Roman"/>
                <a:cs typeface="Times New Roman"/>
              </a:rPr>
              <a:t> means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two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not……………….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 microcomputer</a:t>
            </a:r>
            <a:r>
              <a:rPr dirty="0" sz="1200">
                <a:latin typeface="Times New Roman"/>
                <a:cs typeface="Times New Roman"/>
              </a:rPr>
              <a:t> doesn’t…………….a</a:t>
            </a:r>
            <a:r>
              <a:rPr dirty="0" sz="1200" spc="-5">
                <a:latin typeface="Times New Roman"/>
                <a:cs typeface="Times New Roman"/>
              </a:rPr>
              <a:t> minicomputer </a:t>
            </a:r>
            <a:r>
              <a:rPr dirty="0" sz="1200">
                <a:latin typeface="Times New Roman"/>
                <a:cs typeface="Times New Roman"/>
              </a:rPr>
              <a:t>in flexibility.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two computer </a:t>
            </a:r>
            <a:r>
              <a:rPr dirty="0" sz="1200">
                <a:latin typeface="Times New Roman"/>
                <a:cs typeface="Times New Roman"/>
              </a:rPr>
              <a:t>languages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are…………….difficult.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spcBef>
                <a:spcPts val="5"/>
              </a:spcBef>
              <a:buAutoNum type="arabicPeriod" startAt="3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Consideration,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considerable,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considerably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a………….difference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English.</a:t>
            </a:r>
            <a:endParaRPr sz="1200">
              <a:latin typeface="Times New Roman"/>
              <a:cs typeface="Times New Roman"/>
            </a:endParaRPr>
          </a:p>
          <a:p>
            <a:pPr lvl="1" marL="12700" marR="27241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65100" algn="l"/>
                <a:tab pos="626110" algn="l"/>
                <a:tab pos="2298065" algn="l"/>
              </a:tabLst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to………….the	capabilities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limitations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buying	one.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printers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print results…...…….faster</a:t>
            </a:r>
            <a:r>
              <a:rPr dirty="0" sz="1200">
                <a:latin typeface="Times New Roman"/>
                <a:cs typeface="Times New Roman"/>
              </a:rPr>
              <a:t> than </a:t>
            </a:r>
            <a:r>
              <a:rPr dirty="0" sz="1200" spc="-5">
                <a:latin typeface="Times New Roman"/>
                <a:cs typeface="Times New Roman"/>
              </a:rPr>
              <a:t>previously.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2400">
              <a:lnSpc>
                <a:spcPts val="1405"/>
              </a:lnSpc>
              <a:buAutoNum type="arabicPeriod" startAt="4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Design,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designed,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designation,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designer,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designing</a:t>
            </a:r>
            <a:endParaRPr sz="1200">
              <a:latin typeface="Times New Roman"/>
              <a:cs typeface="Times New Roman"/>
            </a:endParaRPr>
          </a:p>
          <a:p>
            <a:pPr lvl="1" marL="12700" marR="272415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83515" algn="l"/>
              </a:tabLst>
            </a:pPr>
            <a:r>
              <a:rPr dirty="0" sz="1200" spc="-5">
                <a:latin typeface="Times New Roman"/>
                <a:cs typeface="Times New Roman"/>
              </a:rPr>
              <a:t>Due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advances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technology,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computer………..is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challenging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15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are…………to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accurately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quickly.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architects are constantly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trying to </a:t>
            </a:r>
            <a:r>
              <a:rPr dirty="0" sz="1200" spc="-5">
                <a:latin typeface="Times New Roman"/>
                <a:cs typeface="Times New Roman"/>
              </a:rPr>
              <a:t>improve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the…………..of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spcBef>
                <a:spcPts val="5"/>
              </a:spcBef>
              <a:buAutoNum type="arabicPeriod" startAt="5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Advertisement,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advertise,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advertised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computer-related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jobs…………..in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York</a:t>
            </a:r>
            <a:r>
              <a:rPr dirty="0" sz="1200" spc="-5">
                <a:latin typeface="Times New Roman"/>
                <a:cs typeface="Times New Roman"/>
              </a:rPr>
              <a:t> Times.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Computers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soon………..for</a:t>
            </a:r>
            <a:r>
              <a:rPr dirty="0" sz="1200">
                <a:latin typeface="Times New Roman"/>
                <a:cs typeface="Times New Roman"/>
              </a:rPr>
              <a:t> more operators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programmers.</a:t>
            </a:r>
            <a:endParaRPr sz="1200">
              <a:latin typeface="Times New Roman"/>
              <a:cs typeface="Times New Roman"/>
            </a:endParaRPr>
          </a:p>
          <a:p>
            <a:pPr lvl="1" marL="12700" marR="27114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87960" algn="l"/>
              </a:tabLst>
            </a:pPr>
            <a:r>
              <a:rPr dirty="0" sz="1200" spc="-5">
                <a:latin typeface="Times New Roman"/>
                <a:cs typeface="Times New Roman"/>
              </a:rPr>
              <a:t>Career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opportunities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fields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the………….section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newspapers.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(Answers)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20"/>
              </a:lnSpc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Expression,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expressive,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express,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expressed</a:t>
            </a: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via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the…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</a:t>
            </a:r>
            <a:r>
              <a:rPr dirty="0" sz="1200" spc="-5">
                <a:latin typeface="Times New Roman"/>
                <a:cs typeface="Times New Roman"/>
              </a:rPr>
              <a:t>……….system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airlines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services.</a:t>
            </a:r>
            <a:endParaRPr sz="1200">
              <a:latin typeface="Times New Roman"/>
              <a:cs typeface="Times New Roman"/>
            </a:endParaRPr>
          </a:p>
          <a:p>
            <a:pPr lvl="1" marL="12700" marR="267970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expression</a:t>
            </a:r>
            <a:r>
              <a:rPr dirty="0" sz="1200" spc="-5">
                <a:latin typeface="Times New Roman"/>
                <a:cs typeface="Times New Roman"/>
              </a:rPr>
              <a:t>……….such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brain’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fast-thinking person.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  <a:tab pos="1840864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	commands…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expressed</a:t>
            </a:r>
            <a:r>
              <a:rPr dirty="0" sz="1200" spc="-5">
                <a:latin typeface="Times New Roman"/>
                <a:cs typeface="Times New Roman"/>
              </a:rPr>
              <a:t>………in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2400">
              <a:lnSpc>
                <a:spcPts val="1405"/>
              </a:lnSpc>
              <a:buAutoNum type="arabicPeriod" startAt="2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Equality,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equal,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equally,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equalize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symbol</a:t>
            </a:r>
            <a:r>
              <a:rPr dirty="0" sz="1200">
                <a:latin typeface="Times New Roman"/>
                <a:cs typeface="Times New Roman"/>
              </a:rPr>
              <a:t> #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things are </a:t>
            </a:r>
            <a:r>
              <a:rPr dirty="0" sz="1200" spc="-5">
                <a:latin typeface="Times New Roman"/>
                <a:cs typeface="Times New Roman"/>
              </a:rPr>
              <a:t>not……</a:t>
            </a:r>
            <a:r>
              <a:rPr dirty="0" sz="1200" spc="-5" b="1">
                <a:latin typeface="Times New Roman"/>
                <a:cs typeface="Times New Roman"/>
              </a:rPr>
              <a:t>equal</a:t>
            </a:r>
            <a:r>
              <a:rPr dirty="0" sz="1200" spc="-5">
                <a:latin typeface="Times New Roman"/>
                <a:cs typeface="Times New Roman"/>
              </a:rPr>
              <a:t>…………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doesn’t…</a:t>
            </a:r>
            <a:r>
              <a:rPr dirty="0" sz="1200" spc="-5" b="1">
                <a:latin typeface="Times New Roman"/>
                <a:cs typeface="Times New Roman"/>
              </a:rPr>
              <a:t>…equal</a:t>
            </a:r>
            <a:r>
              <a:rPr dirty="0" sz="1200" spc="-5">
                <a:latin typeface="Times New Roman"/>
                <a:cs typeface="Times New Roman"/>
              </a:rPr>
              <a:t>……….a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flexibility.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languages </a:t>
            </a:r>
            <a:r>
              <a:rPr dirty="0" sz="1200" spc="-5">
                <a:latin typeface="Times New Roman"/>
                <a:cs typeface="Times New Roman"/>
              </a:rPr>
              <a:t>Pascal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PL1 </a:t>
            </a:r>
            <a:r>
              <a:rPr dirty="0" sz="1200" spc="-5">
                <a:latin typeface="Times New Roman"/>
                <a:cs typeface="Times New Roman"/>
              </a:rPr>
              <a:t>are…</a:t>
            </a:r>
            <a:r>
              <a:rPr dirty="0" sz="1200" spc="-5" b="1">
                <a:latin typeface="Times New Roman"/>
                <a:cs typeface="Times New Roman"/>
              </a:rPr>
              <a:t>equally………….</a:t>
            </a:r>
            <a:r>
              <a:rPr dirty="0" sz="1200" spc="-5">
                <a:latin typeface="Times New Roman"/>
                <a:cs typeface="Times New Roman"/>
              </a:rPr>
              <a:t>difficult.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6735" cy="4239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AutoNum type="arabicPeriod" startAt="3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Consideration,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considerable,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considerably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a…</a:t>
            </a:r>
            <a:r>
              <a:rPr dirty="0" sz="1200" spc="-5" b="1">
                <a:latin typeface="Times New Roman"/>
                <a:cs typeface="Times New Roman"/>
              </a:rPr>
              <a:t>considerable</a:t>
            </a:r>
            <a:r>
              <a:rPr dirty="0" sz="1200" spc="-5">
                <a:latin typeface="Times New Roman"/>
                <a:cs typeface="Times New Roman"/>
              </a:rPr>
              <a:t>……….difference</a:t>
            </a:r>
            <a:r>
              <a:rPr dirty="0" sz="1200">
                <a:latin typeface="Times New Roman"/>
                <a:cs typeface="Times New Roman"/>
              </a:rPr>
              <a:t> between written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 English.</a:t>
            </a:r>
            <a:endParaRPr sz="1200">
              <a:latin typeface="Times New Roman"/>
              <a:cs typeface="Times New Roman"/>
            </a:endParaRPr>
          </a:p>
          <a:p>
            <a:pPr lvl="1" marL="12700" marR="635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65735" algn="l"/>
                <a:tab pos="1053465" algn="l"/>
                <a:tab pos="27559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5" b="1">
                <a:latin typeface="Times New Roman"/>
                <a:cs typeface="Times New Roman"/>
              </a:rPr>
              <a:t>…consider</a:t>
            </a:r>
            <a:r>
              <a:rPr dirty="0" sz="1200" spc="-5">
                <a:latin typeface="Times New Roman"/>
                <a:cs typeface="Times New Roman"/>
              </a:rPr>
              <a:t>……….the	</a:t>
            </a:r>
            <a:r>
              <a:rPr dirty="0" sz="1200">
                <a:latin typeface="Times New Roman"/>
                <a:cs typeface="Times New Roman"/>
              </a:rPr>
              <a:t>capabilities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limitations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 buying	one.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printers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print results…</a:t>
            </a:r>
            <a:r>
              <a:rPr dirty="0" sz="1200" spc="-5" b="1">
                <a:latin typeface="Times New Roman"/>
                <a:cs typeface="Times New Roman"/>
              </a:rPr>
              <a:t>considerably...…….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previously.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2400">
              <a:lnSpc>
                <a:spcPts val="1405"/>
              </a:lnSpc>
              <a:buAutoNum type="arabicPeriod" startAt="4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Design,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designed,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designation,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designer,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designing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60655" algn="l"/>
              </a:tabLst>
            </a:pPr>
            <a:r>
              <a:rPr dirty="0" sz="1200" spc="-5">
                <a:latin typeface="Times New Roman"/>
                <a:cs typeface="Times New Roman"/>
              </a:rPr>
              <a:t>Due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advances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computer…</a:t>
            </a:r>
            <a:r>
              <a:rPr dirty="0" sz="1200" spc="-5" b="1">
                <a:latin typeface="Times New Roman"/>
                <a:cs typeface="Times New Roman"/>
              </a:rPr>
              <a:t>designers……..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challenging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15"/>
              </a:lnSpc>
              <a:buAutoNum type="alphaLcPeriod"/>
              <a:tabLst>
                <a:tab pos="165735" algn="l"/>
                <a:tab pos="321246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are…</a:t>
            </a:r>
            <a:r>
              <a:rPr dirty="0" sz="1200" spc="-5" b="1">
                <a:latin typeface="Times New Roman"/>
                <a:cs typeface="Times New Roman"/>
              </a:rPr>
              <a:t>designed</a:t>
            </a:r>
            <a:r>
              <a:rPr dirty="0" sz="1200" spc="-5">
                <a:latin typeface="Times New Roman"/>
                <a:cs typeface="Times New Roman"/>
              </a:rPr>
              <a:t>………to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	information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accurately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22288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architects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constantly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improve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the…</a:t>
            </a:r>
            <a:r>
              <a:rPr dirty="0" sz="1200" spc="-5" b="1">
                <a:latin typeface="Times New Roman"/>
                <a:cs typeface="Times New Roman"/>
              </a:rPr>
              <a:t>design</a:t>
            </a:r>
            <a:r>
              <a:rPr dirty="0" sz="1200" spc="-5">
                <a:latin typeface="Times New Roman"/>
                <a:cs typeface="Times New Roman"/>
              </a:rPr>
              <a:t>………..of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 startAt="5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Advertisement,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advertise,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advertised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many </a:t>
            </a:r>
            <a:r>
              <a:rPr dirty="0" sz="1200">
                <a:latin typeface="Times New Roman"/>
                <a:cs typeface="Times New Roman"/>
              </a:rPr>
              <a:t>computer-related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jobs…</a:t>
            </a:r>
            <a:r>
              <a:rPr dirty="0" sz="1200" spc="-5" b="1">
                <a:latin typeface="Times New Roman"/>
                <a:cs typeface="Times New Roman"/>
              </a:rPr>
              <a:t>advertised</a:t>
            </a:r>
            <a:r>
              <a:rPr dirty="0" sz="1200" spc="-5">
                <a:latin typeface="Times New Roman"/>
                <a:cs typeface="Times New Roman"/>
              </a:rPr>
              <a:t>………..in The New York Times.</a:t>
            </a:r>
            <a:endParaRPr sz="1200">
              <a:latin typeface="Times New Roman"/>
              <a:cs typeface="Times New Roman"/>
            </a:endParaRPr>
          </a:p>
          <a:p>
            <a:pPr lvl="1" marL="12700" marR="5715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25146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soon…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advertise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……..for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operators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programmers.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buAutoNum type="alphaLcPeriod"/>
              <a:tabLst>
                <a:tab pos="187960" algn="l"/>
              </a:tabLst>
            </a:pPr>
            <a:r>
              <a:rPr dirty="0" sz="1200" spc="-5">
                <a:latin typeface="Times New Roman"/>
                <a:cs typeface="Times New Roman"/>
              </a:rPr>
              <a:t>Career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opportunities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fields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the…</a:t>
            </a:r>
            <a:r>
              <a:rPr dirty="0" sz="1200" spc="-5" b="1">
                <a:latin typeface="Times New Roman"/>
                <a:cs typeface="Times New Roman"/>
              </a:rPr>
              <a:t>advertisement</a:t>
            </a:r>
            <a:r>
              <a:rPr dirty="0" sz="1200" spc="-5">
                <a:latin typeface="Times New Roman"/>
                <a:cs typeface="Times New Roman"/>
              </a:rPr>
              <a:t>……….section of </a:t>
            </a:r>
            <a:r>
              <a:rPr dirty="0" sz="1200" spc="-10">
                <a:latin typeface="Times New Roman"/>
                <a:cs typeface="Times New Roman"/>
              </a:rPr>
              <a:t>newspapers.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Match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words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column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statements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column </a:t>
            </a: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57072" y="5565647"/>
          <a:ext cx="5633085" cy="32111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960"/>
                <a:gridCol w="1337310"/>
                <a:gridCol w="3590289"/>
              </a:tblGrid>
              <a:tr h="181355"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Answers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Column</a:t>
                      </a:r>
                      <a:r>
                        <a:rPr dirty="0" sz="1200" spc="-4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Column</a:t>
                      </a:r>
                      <a:r>
                        <a:rPr dirty="0" sz="1200" spc="-5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Internal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storage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508634">
                        <a:lnSpc>
                          <a:spcPts val="1380"/>
                        </a:lnSpc>
                        <a:spcBef>
                          <a:spcPts val="25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means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any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part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memory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read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equally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quickly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Real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storage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information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contained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storage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locations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Random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access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storage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locations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internal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storage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addresses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refers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contained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storage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locations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6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Contents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28905">
                        <a:lnSpc>
                          <a:spcPts val="1380"/>
                        </a:lnSpc>
                        <a:spcBef>
                          <a:spcPts val="25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hooking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up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secondary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devices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onto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increase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their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capacity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7"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6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.Sequential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access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sometimes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called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primary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Virtual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storage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88925">
                        <a:lnSpc>
                          <a:spcPts val="1380"/>
                        </a:lnSpc>
                        <a:spcBef>
                          <a:spcPts val="25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.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information must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 read from secondary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devices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 a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fixed pattern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8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Focus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earlier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given text. It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to learn to </a:t>
            </a:r>
            <a:r>
              <a:rPr dirty="0" sz="1200" spc="-5">
                <a:latin typeface="Times New Roman"/>
                <a:cs typeface="Times New Roman"/>
              </a:rPr>
              <a:t>differentiate </a:t>
            </a:r>
            <a:r>
              <a:rPr dirty="0" sz="1200">
                <a:latin typeface="Times New Roman"/>
                <a:cs typeface="Times New Roman"/>
              </a:rPr>
              <a:t>between the idea and the </a:t>
            </a:r>
            <a:r>
              <a:rPr dirty="0" sz="1200" spc="-5">
                <a:latin typeface="Times New Roman"/>
                <a:cs typeface="Times New Roman"/>
              </a:rPr>
              <a:t>illustration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idea with </a:t>
            </a:r>
            <a:r>
              <a:rPr dirty="0" sz="1200" spc="-5">
                <a:latin typeface="Times New Roman"/>
                <a:cs typeface="Times New Roman"/>
              </a:rPr>
              <a:t>examples. Writers </a:t>
            </a:r>
            <a:r>
              <a:rPr dirty="0" sz="1200">
                <a:latin typeface="Times New Roman"/>
                <a:cs typeface="Times New Roman"/>
              </a:rPr>
              <a:t>often </a:t>
            </a:r>
            <a:r>
              <a:rPr dirty="0" sz="1200" spc="-5">
                <a:latin typeface="Times New Roman"/>
                <a:cs typeface="Times New Roman"/>
              </a:rPr>
              <a:t>say explicitly </a:t>
            </a:r>
            <a:r>
              <a:rPr dirty="0" sz="1200">
                <a:latin typeface="Times New Roman"/>
                <a:cs typeface="Times New Roman"/>
              </a:rPr>
              <a:t>which things are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by using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such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etc</a:t>
            </a:r>
            <a:r>
              <a:rPr dirty="0" sz="1200">
                <a:latin typeface="Times New Roman"/>
                <a:cs typeface="Times New Roman"/>
              </a:rPr>
              <a:t>...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Complete the following </a:t>
            </a:r>
            <a:r>
              <a:rPr dirty="0" sz="1200">
                <a:latin typeface="Times New Roman"/>
                <a:cs typeface="Times New Roman"/>
              </a:rPr>
              <a:t>table </a:t>
            </a:r>
            <a:r>
              <a:rPr dirty="0" sz="1200" spc="-5">
                <a:latin typeface="Times New Roman"/>
                <a:cs typeface="Times New Roman"/>
              </a:rPr>
              <a:t>by referring back to the text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‘Primary </a:t>
            </a:r>
            <a:r>
              <a:rPr dirty="0" sz="1200">
                <a:latin typeface="Times New Roman"/>
                <a:cs typeface="Times New Roman"/>
              </a:rPr>
              <a:t>and Secondary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Memory’,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illustrations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examples.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9.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Adding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There are many </a:t>
            </a:r>
            <a:r>
              <a:rPr dirty="0" sz="1200" spc="-5">
                <a:latin typeface="Times New Roman"/>
                <a:cs typeface="Times New Roman"/>
              </a:rPr>
              <a:t>reasons </a:t>
            </a:r>
            <a:r>
              <a:rPr dirty="0" sz="1200">
                <a:latin typeface="Times New Roman"/>
                <a:cs typeface="Times New Roman"/>
              </a:rPr>
              <a:t>why people read, but in an </a:t>
            </a:r>
            <a:r>
              <a:rPr dirty="0" sz="1200" spc="-5">
                <a:latin typeface="Times New Roman"/>
                <a:cs typeface="Times New Roman"/>
              </a:rPr>
              <a:t>academic </a:t>
            </a:r>
            <a:r>
              <a:rPr dirty="0" sz="1200">
                <a:latin typeface="Times New Roman"/>
                <a:cs typeface="Times New Roman"/>
              </a:rPr>
              <a:t>setting, reading </a:t>
            </a:r>
            <a:r>
              <a:rPr dirty="0" sz="1200" spc="-5">
                <a:latin typeface="Times New Roman"/>
                <a:cs typeface="Times New Roman"/>
              </a:rPr>
              <a:t>is primarily </a:t>
            </a:r>
            <a:r>
              <a:rPr dirty="0" sz="1200">
                <a:latin typeface="Times New Roman"/>
                <a:cs typeface="Times New Roman"/>
              </a:rPr>
              <a:t> done to get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on a particular subject .It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for the reader to understand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relationship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 and the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preceded it.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 information is presented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such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way as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suggest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REINFORCEMENT of what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 said, or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SIMILARITY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what has 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said before.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give explanations about </a:t>
            </a:r>
            <a:r>
              <a:rPr dirty="0" sz="1200" spc="-5">
                <a:latin typeface="Times New Roman"/>
                <a:cs typeface="Times New Roman"/>
              </a:rPr>
              <a:t>something, </a:t>
            </a:r>
            <a:r>
              <a:rPr dirty="0" sz="1200">
                <a:latin typeface="Times New Roman"/>
                <a:cs typeface="Times New Roman"/>
              </a:rPr>
              <a:t>they usually offer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to support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viewpoint.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DEDUCTIVELY, </a:t>
            </a:r>
            <a:r>
              <a:rPr dirty="0" sz="1200">
                <a:latin typeface="Times New Roman"/>
                <a:cs typeface="Times New Roman"/>
              </a:rPr>
              <a:t>in which case a generalization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given first and then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are given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support of the general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or principle .Other prefer to provide </a:t>
            </a:r>
            <a:r>
              <a:rPr dirty="0" sz="1200" spc="-5">
                <a:latin typeface="Times New Roman"/>
                <a:cs typeface="Times New Roman"/>
              </a:rPr>
              <a:t>examples first,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generalization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.This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presentation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INDUCTIVE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Reinforcement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buFont typeface="Times New Roman"/>
              <a:buAutoNum type="arabicPeriod"/>
              <a:tabLst>
                <a:tab pos="171450" algn="l"/>
                <a:tab pos="649605" algn="l"/>
                <a:tab pos="1337945" algn="l"/>
                <a:tab pos="2085975" algn="l"/>
                <a:tab pos="2969260" algn="l"/>
                <a:tab pos="3986529" algn="l"/>
                <a:tab pos="4683125" algn="l"/>
                <a:tab pos="52273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In addition </a:t>
            </a:r>
            <a:r>
              <a:rPr dirty="0" sz="1200">
                <a:latin typeface="Times New Roman"/>
                <a:cs typeface="Times New Roman"/>
              </a:rPr>
              <a:t>to their speed,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accurate </a:t>
            </a:r>
            <a:r>
              <a:rPr dirty="0" sz="1200">
                <a:latin typeface="Times New Roman"/>
                <a:cs typeface="Times New Roman"/>
              </a:rPr>
              <a:t>and can do repetitive operations over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	over	again	without	</a:t>
            </a:r>
            <a:r>
              <a:rPr dirty="0" sz="1200" spc="-5">
                <a:latin typeface="Times New Roman"/>
                <a:cs typeface="Times New Roman"/>
              </a:rPr>
              <a:t>beco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g	</a:t>
            </a:r>
            <a:r>
              <a:rPr dirty="0" sz="1200" spc="-5">
                <a:latin typeface="Times New Roman"/>
                <a:cs typeface="Times New Roman"/>
              </a:rPr>
              <a:t>tire</a:t>
            </a:r>
            <a:r>
              <a:rPr dirty="0" sz="1200">
                <a:latin typeface="Times New Roman"/>
                <a:cs typeface="Times New Roman"/>
              </a:rPr>
              <a:t>d	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r	</a:t>
            </a:r>
            <a:r>
              <a:rPr dirty="0" sz="1200" spc="-5">
                <a:latin typeface="Times New Roman"/>
                <a:cs typeface="Times New Roman"/>
              </a:rPr>
              <a:t>bored.</a:t>
            </a:r>
            <a:endParaRPr sz="1200">
              <a:latin typeface="Times New Roman"/>
              <a:cs typeface="Times New Roman"/>
            </a:endParaRPr>
          </a:p>
          <a:p>
            <a:pPr algn="just" marL="180975" indent="-168910">
              <a:lnSpc>
                <a:spcPts val="1320"/>
              </a:lnSpc>
              <a:buAutoNum type="arabicPeriod"/>
              <a:tabLst>
                <a:tab pos="181610" algn="l"/>
              </a:tabLst>
            </a:pP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cheaper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mainframes,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well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13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compact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portable.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Similarity</a:t>
            </a:r>
            <a:endParaRPr sz="1200">
              <a:latin typeface="Times New Roman"/>
              <a:cs typeface="Times New Roman"/>
            </a:endParaRPr>
          </a:p>
          <a:p>
            <a:pPr algn="just" marL="196215" indent="-184150">
              <a:lnSpc>
                <a:spcPts val="1375"/>
              </a:lnSpc>
              <a:buAutoNum type="arabicPeriod"/>
              <a:tabLst>
                <a:tab pos="196850" algn="l"/>
              </a:tabLst>
            </a:pP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32k,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likewise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0815" algn="l"/>
              </a:tabLst>
            </a:pPr>
            <a:r>
              <a:rPr dirty="0" sz="1200">
                <a:latin typeface="Times New Roman"/>
                <a:cs typeface="Times New Roman"/>
              </a:rPr>
              <a:t>Many </a:t>
            </a:r>
            <a:r>
              <a:rPr dirty="0" sz="1200" spc="-5">
                <a:latin typeface="Times New Roman"/>
                <a:cs typeface="Times New Roman"/>
              </a:rPr>
              <a:t>minicomputers </a:t>
            </a:r>
            <a:r>
              <a:rPr dirty="0" sz="1200" spc="-5" b="1">
                <a:latin typeface="Times New Roman"/>
                <a:cs typeface="Times New Roman"/>
              </a:rPr>
              <a:t>much the </a:t>
            </a:r>
            <a:r>
              <a:rPr dirty="0" sz="1200" b="1">
                <a:latin typeface="Times New Roman"/>
                <a:cs typeface="Times New Roman"/>
              </a:rPr>
              <a:t>same </a:t>
            </a:r>
            <a:r>
              <a:rPr dirty="0" sz="1200" spc="-5" b="1">
                <a:latin typeface="Times New Roman"/>
                <a:cs typeface="Times New Roman"/>
              </a:rPr>
              <a:t>way </a:t>
            </a:r>
            <a:r>
              <a:rPr dirty="0" sz="1200" spc="-5">
                <a:latin typeface="Times New Roman"/>
                <a:cs typeface="Times New Roman"/>
              </a:rPr>
              <a:t>as is </a:t>
            </a:r>
            <a:r>
              <a:rPr dirty="0" sz="1200">
                <a:latin typeface="Times New Roman"/>
                <a:cs typeface="Times New Roman"/>
              </a:rPr>
              <a:t>the case in </a:t>
            </a:r>
            <a:r>
              <a:rPr dirty="0" sz="1200" spc="-5">
                <a:latin typeface="Times New Roman"/>
                <a:cs typeface="Times New Roman"/>
              </a:rPr>
              <a:t>automobile emission </a:t>
            </a:r>
            <a:r>
              <a:rPr dirty="0" sz="1200">
                <a:latin typeface="Times New Roman"/>
                <a:cs typeface="Times New Roman"/>
              </a:rPr>
              <a:t>control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used merely </a:t>
            </a:r>
            <a:r>
              <a:rPr dirty="0" sz="1200">
                <a:latin typeface="Times New Roman"/>
                <a:cs typeface="Times New Roman"/>
              </a:rPr>
              <a:t>for a fixed </a:t>
            </a:r>
            <a:r>
              <a:rPr dirty="0" sz="1200" spc="-5">
                <a:latin typeface="Times New Roman"/>
                <a:cs typeface="Times New Roman"/>
              </a:rPr>
              <a:t>application and run only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single program</a:t>
            </a:r>
            <a:r>
              <a:rPr dirty="0" sz="1200" spc="-5" b="1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Microcomputers </a:t>
            </a:r>
            <a:r>
              <a:rPr dirty="0" sz="1200">
                <a:latin typeface="Times New Roman"/>
                <a:cs typeface="Times New Roman"/>
              </a:rPr>
              <a:t> operate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78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-19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Reading: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Scanning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Language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Functions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are going to read about types of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to be found in a </a:t>
            </a:r>
            <a:r>
              <a:rPr dirty="0" sz="1200" spc="-5">
                <a:latin typeface="Times New Roman"/>
                <a:cs typeface="Times New Roman"/>
              </a:rPr>
              <a:t>computer.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will follow </a:t>
            </a:r>
            <a:r>
              <a:rPr dirty="0" sz="1200">
                <a:latin typeface="Times New Roman"/>
                <a:cs typeface="Times New Roman"/>
              </a:rPr>
              <a:t>the usual </a:t>
            </a:r>
            <a:r>
              <a:rPr dirty="0" sz="1200" spc="-5">
                <a:latin typeface="Times New Roman"/>
                <a:cs typeface="Times New Roman"/>
              </a:rPr>
              <a:t>pattern </a:t>
            </a:r>
            <a:r>
              <a:rPr dirty="0" sz="1200">
                <a:latin typeface="Times New Roman"/>
                <a:cs typeface="Times New Roman"/>
              </a:rPr>
              <a:t>of reading </a:t>
            </a:r>
            <a:r>
              <a:rPr dirty="0" sz="1200" spc="-5">
                <a:latin typeface="Times New Roman"/>
                <a:cs typeface="Times New Roman"/>
              </a:rPr>
              <a:t>followed </a:t>
            </a:r>
            <a:r>
              <a:rPr dirty="0" sz="1200">
                <a:latin typeface="Times New Roman"/>
                <a:cs typeface="Times New Roman"/>
              </a:rPr>
              <a:t>by comprehension </a:t>
            </a:r>
            <a:r>
              <a:rPr dirty="0" sz="1200" spc="-5">
                <a:latin typeface="Times New Roman"/>
                <a:cs typeface="Times New Roman"/>
              </a:rPr>
              <a:t>exercises, scanning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information vocabulary exercise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content </a:t>
            </a:r>
            <a:r>
              <a:rPr dirty="0" sz="1200">
                <a:latin typeface="Times New Roman"/>
                <a:cs typeface="Times New Roman"/>
              </a:rPr>
              <a:t>review </a:t>
            </a:r>
            <a:r>
              <a:rPr dirty="0" sz="1200" spc="-5">
                <a:latin typeface="Times New Roman"/>
                <a:cs typeface="Times New Roman"/>
              </a:rPr>
              <a:t>exercises. This 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followed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how language functions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 in </a:t>
            </a:r>
            <a:r>
              <a:rPr dirty="0" sz="1200" spc="-5">
                <a:latin typeface="Times New Roman"/>
                <a:cs typeface="Times New Roman"/>
              </a:rPr>
              <a:t>English.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Types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memory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(1) </a:t>
            </a:r>
            <a:r>
              <a:rPr dirty="0" sz="1200" spc="-5">
                <a:latin typeface="Times New Roman"/>
                <a:cs typeface="Times New Roman"/>
              </a:rPr>
              <a:t>As mentioned </a:t>
            </a:r>
            <a:r>
              <a:rPr dirty="0" sz="1200">
                <a:latin typeface="Times New Roman"/>
                <a:cs typeface="Times New Roman"/>
              </a:rPr>
              <a:t>previously, one of the </a:t>
            </a:r>
            <a:r>
              <a:rPr dirty="0" sz="1200" spc="-5">
                <a:latin typeface="Times New Roman"/>
                <a:cs typeface="Times New Roman"/>
              </a:rPr>
              <a:t>most important characteristics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computer is its </a:t>
            </a:r>
            <a:r>
              <a:rPr dirty="0" sz="1200">
                <a:latin typeface="Times New Roman"/>
                <a:cs typeface="Times New Roman"/>
              </a:rPr>
              <a:t> capability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storing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long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enough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it.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have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type of </a:t>
            </a:r>
            <a:r>
              <a:rPr dirty="0" sz="1200" spc="-5">
                <a:latin typeface="Times New Roman"/>
                <a:cs typeface="Times New Roman"/>
              </a:rPr>
              <a:t>memory.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>
                <a:latin typeface="Times New Roman"/>
                <a:cs typeface="Times New Roman"/>
              </a:rPr>
              <a:t>section, three </a:t>
            </a:r>
            <a:r>
              <a:rPr dirty="0" sz="1200" spc="-5">
                <a:latin typeface="Times New Roman"/>
                <a:cs typeface="Times New Roman"/>
              </a:rPr>
              <a:t>types of memory </a:t>
            </a:r>
            <a:r>
              <a:rPr dirty="0" sz="1200">
                <a:latin typeface="Times New Roman"/>
                <a:cs typeface="Times New Roman"/>
              </a:rPr>
              <a:t>will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discussed:</a:t>
            </a:r>
            <a:r>
              <a:rPr dirty="0" sz="1200">
                <a:latin typeface="Times New Roman"/>
                <a:cs typeface="Times New Roman"/>
              </a:rPr>
              <a:t> core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semiconductor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(or chip),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bubble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94005">
              <a:lnSpc>
                <a:spcPts val="1380"/>
              </a:lnSpc>
              <a:buAutoNum type="arabicPlain" startAt="2"/>
              <a:tabLst>
                <a:tab pos="469900" algn="l"/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memory</a:t>
            </a:r>
            <a:r>
              <a:rPr dirty="0" sz="1200">
                <a:latin typeface="Times New Roman"/>
                <a:cs typeface="Times New Roman"/>
              </a:rPr>
              <a:t> of the first </a:t>
            </a:r>
            <a:r>
              <a:rPr dirty="0" sz="1200" spc="-5">
                <a:latin typeface="Times New Roman"/>
                <a:cs typeface="Times New Roman"/>
              </a:rPr>
              <a:t>computers 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up of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 of grid of fine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vertical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horizontal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wires.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each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intersection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wires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crossed, there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ferrite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ring called a core (hence the </a:t>
            </a:r>
            <a:r>
              <a:rPr dirty="0" sz="1200" spc="-5">
                <a:latin typeface="Times New Roman"/>
                <a:cs typeface="Times New Roman"/>
              </a:rPr>
              <a:t>name </a:t>
            </a:r>
            <a:r>
              <a:rPr dirty="0" sz="1200">
                <a:latin typeface="Times New Roman"/>
                <a:cs typeface="Times New Roman"/>
              </a:rPr>
              <a:t>‘core </a:t>
            </a:r>
            <a:r>
              <a:rPr dirty="0" sz="1200" spc="-5">
                <a:latin typeface="Times New Roman"/>
                <a:cs typeface="Times New Roman"/>
              </a:rPr>
              <a:t>memory’)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capable of being either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magnetized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demagnetized.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intersection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unique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address;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consequently, </a:t>
            </a:r>
            <a:r>
              <a:rPr dirty="0" sz="1200">
                <a:latin typeface="Times New Roman"/>
                <a:cs typeface="Times New Roman"/>
              </a:rPr>
              <a:t> 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electrical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current </a:t>
            </a:r>
            <a:r>
              <a:rPr dirty="0" sz="1200" spc="-5">
                <a:latin typeface="Times New Roman"/>
                <a:cs typeface="Times New Roman"/>
              </a:rPr>
              <a:t>was passed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through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wires,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magnetized as</a:t>
            </a:r>
            <a:r>
              <a:rPr dirty="0" sz="1200">
                <a:latin typeface="Times New Roman"/>
                <a:cs typeface="Times New Roman"/>
              </a:rPr>
              <a:t> well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unmagnetized </a:t>
            </a:r>
            <a:r>
              <a:rPr dirty="0" sz="1200">
                <a:latin typeface="Times New Roman"/>
                <a:cs typeface="Times New Roman"/>
              </a:rPr>
              <a:t>cores were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identified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respective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addresses.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 startAt="2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(2a].Each core </a:t>
            </a:r>
            <a:r>
              <a:rPr dirty="0" sz="1200" spc="-5">
                <a:latin typeface="Times New Roman"/>
                <a:cs typeface="Times New Roman"/>
              </a:rPr>
              <a:t>represented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binary </a:t>
            </a:r>
            <a:r>
              <a:rPr dirty="0" sz="1200">
                <a:latin typeface="Times New Roman"/>
                <a:cs typeface="Times New Roman"/>
              </a:rPr>
              <a:t>digit of either 0 or 1, depending on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state. Early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had a capacity of around 80,000 bits; </a:t>
            </a:r>
            <a:r>
              <a:rPr dirty="0" sz="1200" spc="-5">
                <a:latin typeface="Times New Roman"/>
                <a:cs typeface="Times New Roman"/>
              </a:rPr>
              <a:t>whereas </a:t>
            </a:r>
            <a:r>
              <a:rPr dirty="0" sz="1200">
                <a:latin typeface="Times New Roman"/>
                <a:cs typeface="Times New Roman"/>
              </a:rPr>
              <a:t>now,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surprising to hear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millions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transistors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advances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manufacture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miniaturized </a:t>
            </a:r>
            <a:r>
              <a:rPr dirty="0" sz="1200">
                <a:latin typeface="Times New Roman"/>
                <a:cs typeface="Times New Roman"/>
              </a:rPr>
              <a:t> circuitry.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result, </a:t>
            </a:r>
            <a:r>
              <a:rPr dirty="0" sz="1200" spc="-5">
                <a:latin typeface="Times New Roman"/>
                <a:cs typeface="Times New Roman"/>
              </a:rPr>
              <a:t>mainframes </a:t>
            </a:r>
            <a:r>
              <a:rPr dirty="0" sz="1200">
                <a:latin typeface="Times New Roman"/>
                <a:cs typeface="Times New Roman"/>
              </a:rPr>
              <a:t>have been </a:t>
            </a:r>
            <a:r>
              <a:rPr dirty="0" sz="1200" spc="-5">
                <a:latin typeface="Times New Roman"/>
                <a:cs typeface="Times New Roman"/>
              </a:rPr>
              <a:t>reduced in both size and cost. Throughout the </a:t>
            </a:r>
            <a:r>
              <a:rPr dirty="0" sz="1200">
                <a:latin typeface="Times New Roman"/>
                <a:cs typeface="Times New Roman"/>
              </a:rPr>
              <a:t> 1950s, 1960s and up to the </a:t>
            </a:r>
            <a:r>
              <a:rPr dirty="0" sz="1200" spc="-5">
                <a:latin typeface="Times New Roman"/>
                <a:cs typeface="Times New Roman"/>
              </a:rPr>
              <a:t>mid-1970s,</a:t>
            </a:r>
            <a:r>
              <a:rPr dirty="0" sz="1200">
                <a:latin typeface="Times New Roman"/>
                <a:cs typeface="Times New Roman"/>
              </a:rPr>
              <a:t> core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dominated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market.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 startAt="3"/>
              <a:tabLst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In the 1970s, there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 further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which revolutionized the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 field. This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the ability to etch </a:t>
            </a:r>
            <a:r>
              <a:rPr dirty="0" sz="1200" spc="-5">
                <a:latin typeface="Times New Roman"/>
                <a:cs typeface="Times New Roman"/>
              </a:rPr>
              <a:t>thousands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integrated </a:t>
            </a:r>
            <a:r>
              <a:rPr dirty="0" sz="1200">
                <a:latin typeface="Times New Roman"/>
                <a:cs typeface="Times New Roman"/>
              </a:rPr>
              <a:t>circuits </a:t>
            </a:r>
            <a:r>
              <a:rPr dirty="0" sz="1200" spc="-5">
                <a:latin typeface="Times New Roman"/>
                <a:cs typeface="Times New Roman"/>
              </a:rPr>
              <a:t>onto </a:t>
            </a:r>
            <a:r>
              <a:rPr dirty="0" sz="1200">
                <a:latin typeface="Times New Roman"/>
                <a:cs typeface="Times New Roman"/>
              </a:rPr>
              <a:t>a tiny piece </a:t>
            </a:r>
            <a:r>
              <a:rPr dirty="0" sz="1200" spc="-5">
                <a:latin typeface="Times New Roman"/>
                <a:cs typeface="Times New Roman"/>
              </a:rPr>
              <a:t>(chip)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silicon, 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non-metallic element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semiconductor </a:t>
            </a:r>
            <a:r>
              <a:rPr dirty="0" sz="1200">
                <a:latin typeface="Times New Roman"/>
                <a:cs typeface="Times New Roman"/>
              </a:rPr>
              <a:t>characteristics. Chips have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thousands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identical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circuits,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capable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chip,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consequently of the </a:t>
            </a:r>
            <a:r>
              <a:rPr dirty="0" sz="1200" spc="-5">
                <a:latin typeface="Times New Roman"/>
                <a:cs typeface="Times New Roman"/>
              </a:rPr>
              <a:t>circuits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etched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[3a].Moreover,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circuitry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considerably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reduced,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introduction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micros.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smaller,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faster,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cheaper.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semiconductor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however: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removed,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information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lost-unlike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>
                <a:latin typeface="Times New Roman"/>
                <a:cs typeface="Times New Roman"/>
              </a:rPr>
              <a:t> which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capable of retaining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 failure.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4]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memories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concept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metallic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alloys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board.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magnetized,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magnetic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absence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bit of information. These bubbles are </a:t>
            </a:r>
            <a:r>
              <a:rPr dirty="0" sz="1200" spc="-5">
                <a:latin typeface="Times New Roman"/>
                <a:cs typeface="Times New Roman"/>
              </a:rPr>
              <a:t>extremely </a:t>
            </a:r>
            <a:r>
              <a:rPr dirty="0" sz="1200">
                <a:latin typeface="Times New Roman"/>
                <a:cs typeface="Times New Roman"/>
              </a:rPr>
              <a:t>tiny, about 0.1 </a:t>
            </a:r>
            <a:r>
              <a:rPr dirty="0" sz="1200" spc="-5">
                <a:latin typeface="Times New Roman"/>
                <a:cs typeface="Times New Roman"/>
              </a:rPr>
              <a:t>micrometers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diameter.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[4a].Therefore,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magnetic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bubble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existing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memories,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suitable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micros.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memories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107</a:t>
            </a:fld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944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expensive; consume </a:t>
            </a:r>
            <a:r>
              <a:rPr dirty="0" sz="1200">
                <a:latin typeface="Times New Roman"/>
                <a:cs typeface="Times New Roman"/>
              </a:rPr>
              <a:t>little power, small in </a:t>
            </a:r>
            <a:r>
              <a:rPr dirty="0" sz="1200" spc="-5">
                <a:latin typeface="Times New Roman"/>
                <a:cs typeface="Times New Roman"/>
              </a:rPr>
              <a:t>size, and </a:t>
            </a:r>
            <a:r>
              <a:rPr dirty="0" sz="1200">
                <a:latin typeface="Times New Roman"/>
                <a:cs typeface="Times New Roman"/>
              </a:rPr>
              <a:t>highly </a:t>
            </a:r>
            <a:r>
              <a:rPr dirty="0" sz="1200" spc="-5">
                <a:latin typeface="Times New Roman"/>
                <a:cs typeface="Times New Roman"/>
              </a:rPr>
              <a:t>reliable.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probably a lot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learn about them,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research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field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idea: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statement</a:t>
            </a:r>
            <a:r>
              <a:rPr dirty="0" sz="1200">
                <a:latin typeface="Times New Roman"/>
                <a:cs typeface="Times New Roman"/>
              </a:rPr>
              <a:t> does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>
                <a:latin typeface="Times New Roman"/>
                <a:cs typeface="Times New Roman"/>
              </a:rPr>
              <a:t> idea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text?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was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developed.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kinds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Bubble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latest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Understanding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passage: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</a:t>
            </a:r>
            <a:r>
              <a:rPr dirty="0" sz="1200">
                <a:latin typeface="Times New Roman"/>
                <a:cs typeface="Times New Roman"/>
              </a:rPr>
              <a:t> (T/F)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referring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the text. Then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necessary </a:t>
            </a:r>
            <a:r>
              <a:rPr dirty="0" sz="1200">
                <a:latin typeface="Times New Roman"/>
                <a:cs typeface="Times New Roman"/>
              </a:rPr>
              <a:t>changes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that the false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168910" algn="l"/>
                <a:tab pos="458406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	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Minicomputers,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mainframes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algn="r" marR="7499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Semiconductor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developed before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4584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Core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metal</a:t>
            </a:r>
            <a:r>
              <a:rPr dirty="0" sz="1200">
                <a:latin typeface="Times New Roman"/>
                <a:cs typeface="Times New Roman"/>
              </a:rPr>
              <a:t> rings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be </a:t>
            </a:r>
            <a:r>
              <a:rPr dirty="0" sz="1200" spc="-5">
                <a:latin typeface="Times New Roman"/>
                <a:cs typeface="Times New Roman"/>
              </a:rPr>
              <a:t>magnetized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unmagnetized.</a:t>
            </a:r>
            <a:endParaRPr sz="1200">
              <a:latin typeface="Times New Roman"/>
              <a:cs typeface="Times New Roman"/>
            </a:endParaRPr>
          </a:p>
          <a:p>
            <a:pPr marL="4584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5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algn="ctr" marL="154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5">
                <a:latin typeface="Times New Roman"/>
                <a:cs typeface="Times New Roman"/>
              </a:rPr>
              <a:t> memories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less storage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capacity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ones.</a:t>
            </a:r>
            <a:endParaRPr sz="1200">
              <a:latin typeface="Times New Roman"/>
              <a:cs typeface="Times New Roman"/>
            </a:endParaRPr>
          </a:p>
          <a:p>
            <a:pPr algn="ctr" marL="154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7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 transistor </a:t>
            </a:r>
            <a:r>
              <a:rPr dirty="0" sz="1200">
                <a:latin typeface="Times New Roman"/>
                <a:cs typeface="Times New Roman"/>
              </a:rPr>
              <a:t>and a</a:t>
            </a:r>
            <a:r>
              <a:rPr dirty="0" sz="1200" spc="-5">
                <a:latin typeface="Times New Roman"/>
                <a:cs typeface="Times New Roman"/>
              </a:rPr>
              <a:t> chip </a:t>
            </a:r>
            <a:r>
              <a:rPr dirty="0" sz="1200">
                <a:latin typeface="Times New Roman"/>
                <a:cs typeface="Times New Roman"/>
              </a:rPr>
              <a:t>are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kind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7"/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 startAt="7"/>
              <a:tabLst>
                <a:tab pos="179070" algn="l"/>
                <a:tab pos="458406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minicomputers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microcomputers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invented.	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45"/>
              </a:lnSpc>
              <a:buAutoNum type="arabicPeriod" startAt="7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Bubble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5588000" y="6346952"/>
            <a:ext cx="11874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 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6522211"/>
            <a:ext cx="3492500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advantages.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Locating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6872730"/>
            <a:ext cx="5626735" cy="23114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…p1……….1.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…p3……….2.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Further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evolved.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……p1…….3.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board.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……p3…….4.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consists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film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 a</a:t>
            </a:r>
            <a:r>
              <a:rPr dirty="0" sz="1200" spc="-5">
                <a:latin typeface="Times New Roman"/>
                <a:cs typeface="Times New Roman"/>
              </a:rPr>
              <a:t> memory </a:t>
            </a:r>
            <a:r>
              <a:rPr dirty="0" sz="1200">
                <a:latin typeface="Times New Roman"/>
                <a:cs typeface="Times New Roman"/>
              </a:rPr>
              <a:t>board.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……p4…….5.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semiconductor memory </a:t>
            </a:r>
            <a:r>
              <a:rPr dirty="0" sz="1200">
                <a:latin typeface="Times New Roman"/>
                <a:cs typeface="Times New Roman"/>
              </a:rPr>
              <a:t>was developed.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……p4…….6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……p2…….7.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wires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rings.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……p4…….8.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Contextual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reference: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bold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typeface</a:t>
            </a:r>
            <a:r>
              <a:rPr dirty="0" sz="1200">
                <a:latin typeface="Times New Roman"/>
                <a:cs typeface="Times New Roman"/>
              </a:rPr>
              <a:t> refer to.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process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34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(1.3)……….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62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5100" indent="-152400">
              <a:lnSpc>
                <a:spcPts val="1410"/>
              </a:lnSpc>
              <a:spcBef>
                <a:spcPts val="1070"/>
              </a:spcBef>
              <a:buFont typeface="Times New Roman"/>
              <a:buAutoNum type="arabicPeriod" startAt="2"/>
              <a:tabLst>
                <a:tab pos="165100" algn="l"/>
                <a:tab pos="1879600" algn="l"/>
              </a:tabLst>
            </a:pPr>
            <a:r>
              <a:rPr dirty="0" sz="1200" b="1">
                <a:latin typeface="Times New Roman"/>
                <a:cs typeface="Times New Roman"/>
              </a:rPr>
              <a:t>Where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wires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crossed	</a:t>
            </a:r>
            <a:r>
              <a:rPr dirty="0" sz="1200">
                <a:latin typeface="Times New Roman"/>
                <a:cs typeface="Times New Roman"/>
              </a:rPr>
              <a:t>(1.7)……….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2"/>
              <a:tabLst>
                <a:tab pos="165735" algn="l"/>
                <a:tab pos="233616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	(1.9)……….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264411"/>
            <a:ext cx="193865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 startAt="4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their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receptive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addresses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 startAt="4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This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126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0833" y="1264411"/>
            <a:ext cx="814069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(1.12)……...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(1.6)………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614931"/>
            <a:ext cx="367093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6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revolutionized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(1.21)……….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6"/>
              <a:tabLst>
                <a:tab pos="165100" algn="l"/>
                <a:tab pos="27940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Eac</a:t>
            </a:r>
            <a:r>
              <a:rPr dirty="0" sz="1200" b="1">
                <a:latin typeface="Times New Roman"/>
                <a:cs typeface="Times New Roman"/>
              </a:rPr>
              <a:t>h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on</a:t>
            </a: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capable of storing one bit	(1.25)……….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 startAt="6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etched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(1.26)……….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01401" y="2140711"/>
            <a:ext cx="8134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(1.37)……...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0702" y="2315971"/>
            <a:ext cx="889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(1.38)……….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2140711"/>
            <a:ext cx="1985010" cy="560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 startAt="9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bubbles</a:t>
            </a:r>
            <a:endParaRPr sz="1200">
              <a:latin typeface="Times New Roman"/>
              <a:cs typeface="Times New Roman"/>
            </a:endParaRPr>
          </a:p>
          <a:p>
            <a:pPr marL="241300" indent="-228600">
              <a:lnSpc>
                <a:spcPts val="1385"/>
              </a:lnSpc>
              <a:buFont typeface="Times New Roman"/>
              <a:buAutoNum type="arabicPeriod" startAt="9"/>
              <a:tabLst>
                <a:tab pos="241300" algn="l"/>
              </a:tabLst>
            </a:pP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Understanding words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2666492"/>
            <a:ext cx="4055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synonyms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3017011"/>
            <a:ext cx="91440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Said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Own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10">
                <a:latin typeface="Times New Roman"/>
                <a:cs typeface="Times New Roman"/>
              </a:rPr>
              <a:t>Progress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Keeping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Appropriate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387272" y="3017011"/>
            <a:ext cx="1866264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(1.1)…………mentioned... </a:t>
            </a:r>
            <a:r>
              <a:rPr dirty="0" sz="1200">
                <a:latin typeface="Times New Roman"/>
                <a:cs typeface="Times New Roman"/>
              </a:rPr>
              <a:t> (1.2)…………...respective…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(1.17)…………...advances….  </a:t>
            </a:r>
            <a:r>
              <a:rPr dirty="0" sz="1200">
                <a:latin typeface="Times New Roman"/>
                <a:cs typeface="Times New Roman"/>
              </a:rPr>
              <a:t>(1.33)…………...retaining….  </a:t>
            </a:r>
            <a:r>
              <a:rPr dirty="0" sz="1200" spc="-5">
                <a:latin typeface="Times New Roman"/>
                <a:cs typeface="Times New Roman"/>
              </a:rPr>
              <a:t>(1.42)…………...suitable…..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4068571"/>
            <a:ext cx="4313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refer 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 find</a:t>
            </a:r>
            <a:r>
              <a:rPr dirty="0" sz="1200" spc="-5">
                <a:latin typeface="Times New Roman"/>
                <a:cs typeface="Times New Roman"/>
              </a:rPr>
              <a:t> antonyms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4419091"/>
            <a:ext cx="106616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6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Bypassed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Increased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producing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410"/>
              </a:lnSpc>
              <a:buAutoNum type="arabicPeriod" startAt="6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86694" y="4419091"/>
            <a:ext cx="226631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(1.1)…………...either or…..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(1.2)…………...passed through……  </a:t>
            </a:r>
            <a:r>
              <a:rPr dirty="0" sz="1200" spc="-5">
                <a:latin typeface="Times New Roman"/>
                <a:cs typeface="Times New Roman"/>
              </a:rPr>
              <a:t>(1.17)…………...reduced…..</a:t>
            </a:r>
            <a:endParaRPr sz="1200">
              <a:latin typeface="Times New Roman"/>
              <a:cs typeface="Times New Roman"/>
            </a:endParaRPr>
          </a:p>
          <a:p>
            <a:pPr marL="52069" marR="395605" indent="-127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(1.33)…………...creating…..  </a:t>
            </a:r>
            <a:r>
              <a:rPr dirty="0" sz="1200" spc="-5">
                <a:latin typeface="Times New Roman"/>
                <a:cs typeface="Times New Roman"/>
              </a:rPr>
              <a:t>(1.42)…………...consume…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5472176"/>
            <a:ext cx="5628640" cy="3712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Alteration,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alter,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altered</a:t>
            </a:r>
            <a:endParaRPr sz="1200">
              <a:latin typeface="Times New Roman"/>
              <a:cs typeface="Times New Roman"/>
            </a:endParaRPr>
          </a:p>
          <a:p>
            <a:pPr lvl="1" marL="12700" marR="635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7018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properly,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make…alteration…..to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15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omission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can……alter…….its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drastically.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business </a:t>
            </a:r>
            <a:r>
              <a:rPr dirty="0" sz="1200">
                <a:latin typeface="Times New Roman"/>
                <a:cs typeface="Times New Roman"/>
              </a:rPr>
              <a:t>has……altered…..the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workload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many </a:t>
            </a:r>
            <a:r>
              <a:rPr dirty="0" sz="1200">
                <a:latin typeface="Times New Roman"/>
                <a:cs typeface="Times New Roman"/>
              </a:rPr>
              <a:t>people.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ts val="1405"/>
              </a:lnSpc>
              <a:spcBef>
                <a:spcPts val="5"/>
              </a:spcBef>
              <a:buAutoNum type="arabicPeriod" startAt="2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electricity,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electric,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electrical,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electrically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of……electricity…….is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Alexander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Graham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invented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the……electric………light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bulb.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studying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become…electrical…………engineers.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spcBef>
                <a:spcPts val="5"/>
              </a:spcBef>
              <a:buAutoNum type="arabicPeriod" startAt="3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reduction,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reduce,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reduced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581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workplace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has…reduced………..the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workload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people.</a:t>
            </a:r>
            <a:endParaRPr sz="1200">
              <a:latin typeface="Times New Roman"/>
              <a:cs typeface="Times New Roman"/>
            </a:endParaRPr>
          </a:p>
          <a:p>
            <a:pPr lvl="1" marL="12700" marR="5715">
              <a:lnSpc>
                <a:spcPts val="1380"/>
              </a:lnSpc>
              <a:buAutoNum type="alphaLcPeriod"/>
              <a:tabLst>
                <a:tab pos="16700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great………reduction…….in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consumption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oil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computer </a:t>
            </a:r>
            <a:r>
              <a:rPr dirty="0" sz="1200">
                <a:latin typeface="Times New Roman"/>
                <a:cs typeface="Times New Roman"/>
              </a:rPr>
              <a:t>technology.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126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57072" y="6060948"/>
          <a:ext cx="5939155" cy="32067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4520"/>
                <a:gridCol w="1874520"/>
                <a:gridCol w="1874519"/>
                <a:gridCol w="312420"/>
              </a:tblGrid>
              <a:tr h="182118">
                <a:tc>
                  <a:txBody>
                    <a:bodyPr/>
                    <a:lstStyle/>
                    <a:p>
                      <a:pPr marL="5251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Para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Sequence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Marker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Information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70713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[2]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67945" marR="60325" indent="635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had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memories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up of a kind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 grid of fine vertical and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horizontal wires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[2]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99085" indent="-63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had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capacity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around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80,000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bits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8315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[2]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whereas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35585">
                        <a:lnSpc>
                          <a:spcPts val="1380"/>
                        </a:lnSpc>
                        <a:spcBef>
                          <a:spcPts val="3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surprising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hear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about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 a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capacity of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millions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bits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[2]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60325" indent="-635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core</a:t>
                      </a:r>
                      <a:r>
                        <a:rPr dirty="0" sz="12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memory</a:t>
                      </a:r>
                      <a:r>
                        <a:rPr dirty="0" sz="12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dominated</a:t>
                      </a:r>
                      <a:r>
                        <a:rPr dirty="0" sz="12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market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5781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[3]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30416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there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was further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development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which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revolutionized</a:t>
                      </a:r>
                      <a:r>
                        <a:rPr dirty="0" sz="1200" spc="-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016000" y="1090676"/>
            <a:ext cx="5627370" cy="160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05"/>
              </a:lnSpc>
              <a:spcBef>
                <a:spcPts val="100"/>
              </a:spcBef>
              <a:buAutoNum type="arabicPeriod" startAt="4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creation,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create,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created,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creative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 usually has a…creative……….as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-5">
                <a:latin typeface="Times New Roman"/>
                <a:cs typeface="Times New Roman"/>
              </a:rPr>
              <a:t> mind.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5"/>
              </a:spcBef>
              <a:buAutoNum type="alphaLcPeriod"/>
              <a:tabLst>
                <a:tab pos="182245" algn="l"/>
              </a:tabLst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inspiration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new……creation…….in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technology.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have certainly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………created…….few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opportunities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fraud.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7.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the text on</a:t>
            </a:r>
            <a:r>
              <a:rPr dirty="0" sz="1200" spc="-5">
                <a:latin typeface="Times New Roman"/>
                <a:cs typeface="Times New Roman"/>
              </a:rPr>
              <a:t> ‘Types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Memory’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the table.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57072" y="2866644"/>
          <a:ext cx="5633085" cy="17932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0850"/>
                <a:gridCol w="1217295"/>
                <a:gridCol w="913765"/>
                <a:gridCol w="1914525"/>
                <a:gridCol w="1125219"/>
              </a:tblGrid>
              <a:tr h="357378"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Type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Developed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Size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451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Composition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1465" marR="282575" indent="825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ory  Capacity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68629"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Large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80,000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bits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6"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 marR="302895" indent="-1905">
                        <a:lnSpc>
                          <a:spcPts val="1380"/>
                        </a:lnSpc>
                        <a:spcBef>
                          <a:spcPts val="2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Integrated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circuits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on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non-metallic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element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29006"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1016000" y="4986782"/>
            <a:ext cx="5010150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8.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Focus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Focus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	Time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referring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Memory’.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938783"/>
          <a:ext cx="5633085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4520"/>
                <a:gridCol w="1874520"/>
                <a:gridCol w="1874519"/>
              </a:tblGrid>
              <a:tr h="3573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field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126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1629409"/>
            <a:ext cx="5627370" cy="35369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Focus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Adding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referring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 to the text on ‘Types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Memory’.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/>
              <a:tabLst>
                <a:tab pos="16827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1970s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………further………….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revolutionized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field. (Para. </a:t>
            </a:r>
            <a:r>
              <a:rPr dirty="0" sz="1200" spc="-5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buAutoNum type="arabicPeriod"/>
              <a:tabLst>
                <a:tab pos="180340" algn="l"/>
              </a:tabLst>
            </a:pPr>
            <a:r>
              <a:rPr dirty="0" sz="1200" spc="-5">
                <a:latin typeface="Times New Roman"/>
                <a:cs typeface="Times New Roman"/>
              </a:rPr>
              <a:t>……moreover…………….,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circuitry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considerably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reduced…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(Para.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/>
              <a:tabLst>
                <a:tab pos="208915" algn="l"/>
              </a:tabLst>
            </a:pPr>
            <a:r>
              <a:rPr dirty="0" sz="1200" spc="-5">
                <a:latin typeface="Times New Roman"/>
                <a:cs typeface="Times New Roman"/>
              </a:rPr>
              <a:t>…………another……….development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memories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bubble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 </a:t>
            </a:r>
            <a:r>
              <a:rPr dirty="0" sz="1200">
                <a:latin typeface="Times New Roman"/>
                <a:cs typeface="Times New Roman"/>
              </a:rPr>
              <a:t>(Para. 4)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FOCUS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Giving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explanation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texts </a:t>
            </a:r>
            <a:r>
              <a:rPr dirty="0" sz="1200" spc="-5">
                <a:latin typeface="Times New Roman"/>
                <a:cs typeface="Times New Roman"/>
              </a:rPr>
              <a:t>similar </a:t>
            </a:r>
            <a:r>
              <a:rPr dirty="0" sz="1200">
                <a:latin typeface="Times New Roman"/>
                <a:cs typeface="Times New Roman"/>
              </a:rPr>
              <a:t>to those in this book, authors often give </a:t>
            </a:r>
            <a:r>
              <a:rPr dirty="0" sz="1200" i="1">
                <a:latin typeface="Times New Roman"/>
                <a:cs typeface="Times New Roman"/>
              </a:rPr>
              <a:t>definitions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unfamiliar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terms, </a:t>
            </a:r>
            <a:r>
              <a:rPr dirty="0" sz="1200">
                <a:latin typeface="Times New Roman"/>
                <a:cs typeface="Times New Roman"/>
              </a:rPr>
              <a:t>or vocabulary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>
                <a:latin typeface="Times New Roman"/>
                <a:cs typeface="Times New Roman"/>
              </a:rPr>
              <a:t>and concepts, or ideas specific to the subject being </a:t>
            </a:r>
            <a:r>
              <a:rPr dirty="0" sz="1200" spc="-5">
                <a:latin typeface="Times New Roman"/>
                <a:cs typeface="Times New Roman"/>
              </a:rPr>
              <a:t>discussed.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only are definitions given, but explanations </a:t>
            </a:r>
            <a:r>
              <a:rPr dirty="0" sz="1200">
                <a:latin typeface="Times New Roman"/>
                <a:cs typeface="Times New Roman"/>
              </a:rPr>
              <a:t>are often supplied, either </a:t>
            </a:r>
            <a:r>
              <a:rPr dirty="0" sz="1200" spc="-5">
                <a:latin typeface="Times New Roman"/>
                <a:cs typeface="Times New Roman"/>
              </a:rPr>
              <a:t>implicitly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explicitly,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avoid confusion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mind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explicitly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57072" y="5333238"/>
          <a:ext cx="5633085" cy="732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11780"/>
                <a:gridCol w="2811780"/>
              </a:tblGrid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  <a:tabLst>
                          <a:tab pos="982980" algn="l"/>
                        </a:tabLst>
                      </a:pPr>
                      <a:r>
                        <a:rPr dirty="0" sz="1200" spc="-5">
                          <a:latin typeface="Arial MT"/>
                          <a:cs typeface="Arial MT"/>
                        </a:rPr>
                        <a:t>‘Means’	by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>
                          <a:latin typeface="Arial MT"/>
                          <a:cs typeface="Arial MT"/>
                        </a:rPr>
                        <a:t>We</a:t>
                      </a:r>
                      <a:r>
                        <a:rPr dirty="0" sz="1200" spc="-3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mean*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  <a:tabLst>
                          <a:tab pos="1439545" algn="l"/>
                        </a:tabLst>
                      </a:pPr>
                      <a:r>
                        <a:rPr dirty="0" sz="1200" spc="-5">
                          <a:latin typeface="Arial MT"/>
                          <a:cs typeface="Arial MT"/>
                        </a:rPr>
                        <a:t>‘Is</a:t>
                      </a:r>
                      <a:r>
                        <a:rPr dirty="0" sz="1200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taken</a:t>
                      </a:r>
                      <a:r>
                        <a:rPr dirty="0" sz="1200" spc="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to</a:t>
                      </a:r>
                      <a:r>
                        <a:rPr dirty="0" sz="1200" spc="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be’	</a:t>
                      </a:r>
                      <a:r>
                        <a:rPr dirty="0" sz="1200" spc="-10">
                          <a:latin typeface="Arial MT"/>
                          <a:cs typeface="Arial MT"/>
                        </a:rPr>
                        <a:t>by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Arial MT"/>
                          <a:cs typeface="Arial MT"/>
                        </a:rPr>
                        <a:t>Is</a:t>
                      </a:r>
                      <a:r>
                        <a:rPr dirty="0" sz="1200" spc="-30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10">
                          <a:latin typeface="Arial MT"/>
                          <a:cs typeface="Arial MT"/>
                        </a:rPr>
                        <a:t>meant*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 spc="-5">
                          <a:latin typeface="Arial MT"/>
                          <a:cs typeface="Arial MT"/>
                        </a:rPr>
                        <a:t>‘Denotes’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Arial MT"/>
                          <a:cs typeface="Arial MT"/>
                        </a:rPr>
                        <a:t>In</a:t>
                      </a:r>
                      <a:r>
                        <a:rPr dirty="0" sz="1200" spc="-20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other</a:t>
                      </a:r>
                      <a:r>
                        <a:rPr dirty="0" sz="1200" spc="-20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words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1356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Arial MT"/>
                          <a:cs typeface="Arial MT"/>
                        </a:rPr>
                        <a:t>‘Refers’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to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is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defined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10">
                          <a:latin typeface="Arial MT"/>
                          <a:cs typeface="Arial MT"/>
                        </a:rPr>
                        <a:t>as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Arial MT"/>
                          <a:cs typeface="Arial MT"/>
                        </a:rPr>
                        <a:t>That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is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5">
                          <a:latin typeface="Arial MT"/>
                          <a:cs typeface="Arial MT"/>
                        </a:rPr>
                        <a:t>(to</a:t>
                      </a:r>
                      <a:r>
                        <a:rPr dirty="0" sz="1200" spc="-15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1200" spc="-10">
                          <a:latin typeface="Arial MT"/>
                          <a:cs typeface="Arial MT"/>
                        </a:rPr>
                        <a:t>say)*</a:t>
                      </a:r>
                      <a:endParaRPr sz="1200">
                        <a:latin typeface="Arial MT"/>
                        <a:cs typeface="Arial MT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016000" y="6040628"/>
            <a:ext cx="5627370" cy="3201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6364" marR="4001770" indent="-127000">
              <a:lnSpc>
                <a:spcPct val="100000"/>
              </a:lnSpc>
              <a:spcBef>
                <a:spcPts val="100"/>
              </a:spcBef>
              <a:buChar char="*"/>
              <a:tabLst>
                <a:tab pos="127000" algn="l"/>
              </a:tabLst>
            </a:pPr>
            <a:r>
              <a:rPr dirty="0" sz="1200">
                <a:latin typeface="Times New Roman"/>
                <a:cs typeface="Times New Roman"/>
              </a:rPr>
              <a:t>occurs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initial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position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Times New Roman"/>
              <a:buChar char="*"/>
            </a:pPr>
            <a:endParaRPr sz="1150">
              <a:latin typeface="Times New Roman"/>
              <a:cs typeface="Times New Roman"/>
            </a:endParaRPr>
          </a:p>
          <a:p>
            <a:pPr algn="ctr" marR="4044315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processor </a:t>
            </a:r>
            <a:r>
              <a:rPr dirty="0" sz="1200">
                <a:latin typeface="Times New Roman"/>
                <a:cs typeface="Times New Roman"/>
              </a:rPr>
              <a:t>plus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</a:t>
            </a:r>
            <a:r>
              <a:rPr dirty="0" sz="1200" spc="-5">
                <a:latin typeface="Times New Roman"/>
                <a:cs typeface="Times New Roman"/>
              </a:rPr>
              <a:t> memory.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Times New Roman"/>
              <a:cs typeface="Times New Roman"/>
            </a:endParaRPr>
          </a:p>
          <a:p>
            <a:pPr algn="just" lvl="1" marL="469900" marR="5715" indent="-228600">
              <a:lnSpc>
                <a:spcPts val="138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chip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defined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tiny square piece of </a:t>
            </a:r>
            <a:r>
              <a:rPr dirty="0" sz="1200" spc="-5">
                <a:latin typeface="Times New Roman"/>
                <a:cs typeface="Times New Roman"/>
              </a:rPr>
              <a:t>silicon </a:t>
            </a:r>
            <a:r>
              <a:rPr dirty="0" sz="1200">
                <a:latin typeface="Times New Roman"/>
                <a:cs typeface="Times New Roman"/>
              </a:rPr>
              <a:t>upon which several layers of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integrated circuit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etched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imprinted, after </a:t>
            </a:r>
            <a:r>
              <a:rPr dirty="0" sz="1200">
                <a:latin typeface="Times New Roman"/>
                <a:cs typeface="Times New Roman"/>
              </a:rPr>
              <a:t>which the circuit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encapsulated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plastic,</a:t>
            </a:r>
            <a:r>
              <a:rPr dirty="0" sz="1200" spc="-5">
                <a:latin typeface="Times New Roman"/>
                <a:cs typeface="Times New Roman"/>
              </a:rPr>
              <a:t> ceramic,</a:t>
            </a:r>
            <a:r>
              <a:rPr dirty="0" sz="1200">
                <a:latin typeface="Times New Roman"/>
                <a:cs typeface="Times New Roman"/>
              </a:rPr>
              <a:t> or </a:t>
            </a:r>
            <a:r>
              <a:rPr dirty="0" sz="1200" spc="-5">
                <a:latin typeface="Times New Roman"/>
                <a:cs typeface="Times New Roman"/>
              </a:rPr>
              <a:t>metal.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peripherals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</a:t>
            </a:r>
            <a:r>
              <a:rPr dirty="0" sz="1200">
                <a:latin typeface="Times New Roman"/>
                <a:cs typeface="Times New Roman"/>
              </a:rPr>
              <a:t> those devices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attached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5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Font typeface="Times New Roman"/>
              <a:buAutoNum type="arabicPeriod" startAt="2"/>
              <a:tabLst>
                <a:tab pos="166370" algn="l"/>
              </a:tabLst>
            </a:pPr>
            <a:r>
              <a:rPr dirty="0" sz="1200">
                <a:latin typeface="Times New Roman"/>
                <a:cs typeface="Times New Roman"/>
              </a:rPr>
              <a:t>There are other </a:t>
            </a:r>
            <a:r>
              <a:rPr dirty="0" sz="1200" spc="-5">
                <a:latin typeface="Times New Roman"/>
                <a:cs typeface="Times New Roman"/>
              </a:rPr>
              <a:t>methods </a:t>
            </a:r>
            <a:r>
              <a:rPr dirty="0" sz="1200">
                <a:latin typeface="Times New Roman"/>
                <a:cs typeface="Times New Roman"/>
              </a:rPr>
              <a:t>used to define or explain, </a:t>
            </a:r>
            <a:r>
              <a:rPr dirty="0" sz="1200" spc="-5">
                <a:latin typeface="Times New Roman"/>
                <a:cs typeface="Times New Roman"/>
              </a:rPr>
              <a:t>depending 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style used. One very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 </a:t>
            </a:r>
            <a:r>
              <a:rPr dirty="0" sz="1200" spc="-5">
                <a:latin typeface="Times New Roman"/>
                <a:cs typeface="Times New Roman"/>
              </a:rPr>
              <a:t>method is </a:t>
            </a:r>
            <a:r>
              <a:rPr dirty="0" sz="1200">
                <a:latin typeface="Times New Roman"/>
                <a:cs typeface="Times New Roman"/>
              </a:rPr>
              <a:t>to give the term being </a:t>
            </a:r>
            <a:r>
              <a:rPr dirty="0" sz="1200" spc="-5">
                <a:latin typeface="Times New Roman"/>
                <a:cs typeface="Times New Roman"/>
              </a:rPr>
              <a:t>defined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say what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without repeating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term, </a:t>
            </a:r>
            <a:r>
              <a:rPr dirty="0" sz="1200">
                <a:latin typeface="Times New Roman"/>
                <a:cs typeface="Times New Roman"/>
              </a:rPr>
              <a:t>i.e. 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 is/are </a:t>
            </a:r>
            <a:r>
              <a:rPr dirty="0" sz="1200" spc="-5">
                <a:latin typeface="Times New Roman"/>
                <a:cs typeface="Times New Roman"/>
              </a:rPr>
              <a:t>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rabicPeriod" startAt="2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lvl="1" marL="6985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 </a:t>
            </a:r>
            <a:r>
              <a:rPr dirty="0" sz="1200" b="1">
                <a:latin typeface="Times New Roman"/>
                <a:cs typeface="Times New Roman"/>
              </a:rPr>
              <a:t>electronic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device.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731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marL="698500" indent="-228600">
              <a:lnSpc>
                <a:spcPct val="100000"/>
              </a:lnSpc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dirty="0" sz="1200">
                <a:latin typeface="Times New Roman"/>
                <a:cs typeface="Times New Roman"/>
              </a:rPr>
              <a:t>Tapes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disks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memory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devices.</a:t>
            </a:r>
            <a:endParaRPr sz="1200">
              <a:latin typeface="Times New Roman"/>
              <a:cs typeface="Times New Roman"/>
            </a:endParaRPr>
          </a:p>
          <a:p>
            <a:pPr marL="698500" indent="-228600">
              <a:lnSpc>
                <a:spcPct val="100000"/>
              </a:lnSpc>
              <a:spcBef>
                <a:spcPts val="30"/>
              </a:spcBef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Printers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output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devices.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Font typeface="Times New Roman"/>
              <a:buAutoNum type="arabicPeriod" startAt="3"/>
              <a:tabLst>
                <a:tab pos="184150" algn="l"/>
              </a:tabLst>
            </a:pP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pattern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above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distinguishing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characteristics.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rabicPeriod" startAt="3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lvl="1" marL="698500" indent="-228600">
              <a:lnSpc>
                <a:spcPct val="100000"/>
              </a:lnSpc>
              <a:spcBef>
                <a:spcPts val="15"/>
              </a:spcBef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electronic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which/that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processes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 lvl="1" marL="698500" marR="271780" indent="-228600">
              <a:lnSpc>
                <a:spcPts val="1390"/>
              </a:lnSpc>
              <a:spcBef>
                <a:spcPts val="115"/>
              </a:spcBef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dirty="0" sz="1200">
                <a:latin typeface="Times New Roman"/>
                <a:cs typeface="Times New Roman"/>
              </a:rPr>
              <a:t>Tapes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disks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which/that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stored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away</a:t>
            </a:r>
            <a:r>
              <a:rPr dirty="0" sz="1200" spc="30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future use.</a:t>
            </a:r>
            <a:endParaRPr sz="1200">
              <a:latin typeface="Times New Roman"/>
              <a:cs typeface="Times New Roman"/>
            </a:endParaRPr>
          </a:p>
          <a:p>
            <a:pPr lvl="1" marL="698500" indent="-228600">
              <a:lnSpc>
                <a:spcPts val="1420"/>
              </a:lnSpc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person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who prepares programs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 solve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lvl="1" marL="12700" marR="271145">
              <a:lnSpc>
                <a:spcPts val="1380"/>
              </a:lnSpc>
              <a:spcBef>
                <a:spcPts val="1180"/>
              </a:spcBef>
              <a:buAutoNum type="alphaUcPeriod" startAt="2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who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for a period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time, </a:t>
            </a:r>
            <a:r>
              <a:rPr dirty="0" sz="1200" spc="-5" b="1">
                <a:latin typeface="Times New Roman"/>
                <a:cs typeface="Times New Roman"/>
              </a:rPr>
              <a:t>where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place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location, 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 b="1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Times New Roman"/>
              <a:buAutoNum type="alphaUcPeriod" startAt="2"/>
            </a:pPr>
            <a:endParaRPr sz="1250">
              <a:latin typeface="Times New Roman"/>
              <a:cs typeface="Times New Roman"/>
            </a:endParaRPr>
          </a:p>
          <a:p>
            <a:pPr lvl="2" marL="469900" marR="271145" indent="-228600">
              <a:lnSpc>
                <a:spcPts val="1370"/>
              </a:lnSpc>
              <a:buFont typeface="Symbol"/>
              <a:buChar char=""/>
              <a:tabLst>
                <a:tab pos="507365" algn="l"/>
                <a:tab pos="508000" algn="l"/>
              </a:tabLst>
            </a:pPr>
            <a:r>
              <a:rPr dirty="0"/>
              <a:t>	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explanation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phrases) in apposition,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separated by commas.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661408"/>
            <a:ext cx="5626735" cy="2167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469900" marR="5080" indent="-228600">
              <a:lnSpc>
                <a:spcPts val="1370"/>
              </a:lnSpc>
              <a:spcBef>
                <a:spcPts val="12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information,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practically every</a:t>
            </a:r>
            <a:r>
              <a:rPr dirty="0" sz="1200">
                <a:latin typeface="Times New Roman"/>
                <a:cs typeface="Times New Roman"/>
              </a:rPr>
              <a:t> aspect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>
                <a:latin typeface="Times New Roman"/>
                <a:cs typeface="Times New Roman"/>
              </a:rPr>
              <a:t> software,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programs,</a:t>
            </a:r>
            <a:r>
              <a:rPr dirty="0" sz="1200">
                <a:latin typeface="Times New Roman"/>
                <a:cs typeface="Times New Roman"/>
              </a:rPr>
              <a:t> directs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perform</a:t>
            </a:r>
            <a:r>
              <a:rPr dirty="0" sz="1200" spc="-5">
                <a:latin typeface="Times New Roman"/>
                <a:cs typeface="Times New Roman"/>
              </a:rPr>
              <a:t> tasks.</a:t>
            </a:r>
            <a:endParaRPr sz="1200">
              <a:latin typeface="Times New Roman"/>
              <a:cs typeface="Times New Roman"/>
            </a:endParaRPr>
          </a:p>
          <a:p>
            <a:pPr marL="469900" marR="5080" indent="-228600">
              <a:lnSpc>
                <a:spcPts val="1370"/>
              </a:lnSpc>
              <a:spcBef>
                <a:spcPts val="13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Turnkey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hardware/software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products,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provided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hardware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systems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supplier.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Exercise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Study the following definitions.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definition </a:t>
            </a:r>
            <a:r>
              <a:rPr dirty="0" sz="1200" spc="-5">
                <a:latin typeface="Times New Roman"/>
                <a:cs typeface="Times New Roman"/>
              </a:rPr>
              <a:t>usually </a:t>
            </a:r>
            <a:r>
              <a:rPr dirty="0" sz="1200">
                <a:latin typeface="Times New Roman"/>
                <a:cs typeface="Times New Roman"/>
              </a:rPr>
              <a:t>includes all three parts: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term to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defined, the group it belongs to, and the characteristics which distinguish it form 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members </a:t>
            </a:r>
            <a:r>
              <a:rPr dirty="0" sz="1200">
                <a:latin typeface="Times New Roman"/>
                <a:cs typeface="Times New Roman"/>
              </a:rPr>
              <a:t>of the group.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126</a:t>
            </a:fld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57072" y="7171181"/>
          <a:ext cx="5633085" cy="1252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4520"/>
                <a:gridCol w="1874520"/>
                <a:gridCol w="1874519"/>
              </a:tblGrid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TERM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GROUP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CHARACTERISTICS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638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ferrite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40029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which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capable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being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either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magnetized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demagnetized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Silicon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nonmetallic element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59055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semiconductor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characteristics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1016000" y="8748776"/>
            <a:ext cx="562737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analyze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definitions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highlighting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 </a:t>
            </a:r>
            <a:r>
              <a:rPr dirty="0" sz="1200">
                <a:latin typeface="Times New Roman"/>
                <a:cs typeface="Times New Roman"/>
              </a:rPr>
              <a:t>twice.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264411"/>
            <a:ext cx="5627370" cy="47650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  <a:buAutoNum type="arabicPeriod"/>
              <a:tabLst>
                <a:tab pos="184150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</a:t>
            </a:r>
            <a:r>
              <a:rPr dirty="0" sz="1200" b="1">
                <a:latin typeface="Times New Roman"/>
                <a:cs typeface="Times New Roman"/>
              </a:rPr>
              <a:t>omputer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machine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an </a:t>
            </a:r>
            <a:r>
              <a:rPr dirty="0" sz="1200" spc="-5">
                <a:latin typeface="Times New Roman"/>
                <a:cs typeface="Times New Roman"/>
              </a:rPr>
              <a:t>intricate network </a:t>
            </a:r>
            <a:r>
              <a:rPr dirty="0" sz="1200">
                <a:latin typeface="Times New Roman"/>
                <a:cs typeface="Times New Roman"/>
              </a:rPr>
              <a:t>of electronic circuits </a:t>
            </a:r>
            <a:r>
              <a:rPr dirty="0" sz="1200" spc="-5">
                <a:latin typeface="Times New Roman"/>
                <a:cs typeface="Times New Roman"/>
              </a:rPr>
              <a:t>that operate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switches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magnetize</a:t>
            </a:r>
            <a:r>
              <a:rPr dirty="0" sz="1200">
                <a:latin typeface="Times New Roman"/>
                <a:cs typeface="Times New Roman"/>
              </a:rPr>
              <a:t> tiny </a:t>
            </a:r>
            <a:r>
              <a:rPr dirty="0" sz="1200" spc="-5">
                <a:latin typeface="Times New Roman"/>
                <a:cs typeface="Times New Roman"/>
              </a:rPr>
              <a:t>metal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algn="just" marL="164465" indent="-152400">
              <a:lnSpc>
                <a:spcPct val="10000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abacus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bead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frame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the beads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moved</a:t>
            </a:r>
            <a:r>
              <a:rPr dirty="0" sz="1200">
                <a:latin typeface="Times New Roman"/>
                <a:cs typeface="Times New Roman"/>
              </a:rPr>
              <a:t> 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 to right.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algn="just" marL="165100" indent="-152400">
              <a:lnSpc>
                <a:spcPct val="10000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Input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/>
              <a:tabLst>
                <a:tab pos="179070" algn="l"/>
              </a:tabLst>
            </a:pPr>
            <a:r>
              <a:rPr dirty="0" sz="1200">
                <a:latin typeface="Times New Roman"/>
                <a:cs typeface="Times New Roman"/>
              </a:rPr>
              <a:t>The term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b="1">
                <a:latin typeface="Times New Roman"/>
                <a:cs typeface="Times New Roman"/>
              </a:rPr>
              <a:t>computer’ </a:t>
            </a:r>
            <a:r>
              <a:rPr dirty="0" sz="1200">
                <a:latin typeface="Times New Roman"/>
                <a:cs typeface="Times New Roman"/>
              </a:rPr>
              <a:t>includes those parts of hardware </a:t>
            </a:r>
            <a:r>
              <a:rPr dirty="0" sz="1200" spc="-5">
                <a:latin typeface="Times New Roman"/>
                <a:cs typeface="Times New Roman"/>
              </a:rPr>
              <a:t>in which calculations and other </a:t>
            </a:r>
            <a:r>
              <a:rPr dirty="0" sz="1200">
                <a:latin typeface="Times New Roman"/>
                <a:cs typeface="Times New Roman"/>
              </a:rPr>
              <a:t> data </a:t>
            </a:r>
            <a:r>
              <a:rPr dirty="0" sz="1200" spc="-5">
                <a:latin typeface="Times New Roman"/>
                <a:cs typeface="Times New Roman"/>
              </a:rPr>
              <a:t>manipulations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performed, </a:t>
            </a:r>
            <a:r>
              <a:rPr dirty="0" sz="1200">
                <a:latin typeface="Times New Roman"/>
                <a:cs typeface="Times New Roman"/>
              </a:rPr>
              <a:t>and he high-speed </a:t>
            </a:r>
            <a:r>
              <a:rPr dirty="0" sz="1200" spc="-5">
                <a:latin typeface="Times New Roman"/>
                <a:cs typeface="Times New Roman"/>
              </a:rPr>
              <a:t>interval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memory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which data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calculations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stored during actual</a:t>
            </a:r>
            <a:r>
              <a:rPr dirty="0" sz="1200">
                <a:latin typeface="Times New Roman"/>
                <a:cs typeface="Times New Roman"/>
              </a:rPr>
              <a:t> executions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programs.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buAutoNum type="arabicPeriod"/>
              <a:tabLst>
                <a:tab pos="19304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b="1">
                <a:latin typeface="Times New Roman"/>
                <a:cs typeface="Times New Roman"/>
              </a:rPr>
              <a:t>system’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good</a:t>
            </a:r>
            <a:r>
              <a:rPr dirty="0" u="sng" sz="1200" spc="2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mixture</a:t>
            </a:r>
            <a:r>
              <a:rPr dirty="0" u="sng" sz="1200" spc="2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2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integrated</a:t>
            </a:r>
            <a:r>
              <a:rPr dirty="0" u="sng" sz="1200" spc="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parts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working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together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useful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buAutoNum type="arabicPeriod"/>
              <a:tabLst>
                <a:tab pos="16891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Large computer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systems</a:t>
            </a:r>
            <a:r>
              <a:rPr dirty="0" sz="1200" spc="-1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b="1">
                <a:latin typeface="Times New Roman"/>
                <a:cs typeface="Times New Roman"/>
              </a:rPr>
              <a:t>mainframes,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they are referred to in the field of computer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science, are those computer </a:t>
            </a:r>
            <a:r>
              <a:rPr dirty="0" sz="1200" spc="-10">
                <a:latin typeface="Times New Roman"/>
                <a:cs typeface="Times New Roman"/>
              </a:rPr>
              <a:t>systems </a:t>
            </a:r>
            <a:r>
              <a:rPr dirty="0" sz="1200" spc="-5">
                <a:latin typeface="Times New Roman"/>
                <a:cs typeface="Times New Roman"/>
              </a:rPr>
              <a:t>fund in computer installations processing immense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amounts </a:t>
            </a:r>
            <a:r>
              <a:rPr dirty="0" sz="1200">
                <a:latin typeface="Times New Roman"/>
                <a:cs typeface="Times New Roman"/>
              </a:rPr>
              <a:t>of data.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buAutoNum type="arabicPeriod"/>
              <a:tabLst>
                <a:tab pos="175895" algn="l"/>
              </a:tabLst>
            </a:pPr>
            <a:r>
              <a:rPr dirty="0" sz="1200">
                <a:latin typeface="Times New Roman"/>
                <a:cs typeface="Times New Roman"/>
              </a:rPr>
              <a:t>Although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exact definition for a </a:t>
            </a:r>
            <a:r>
              <a:rPr dirty="0" sz="1200" b="1">
                <a:latin typeface="Times New Roman"/>
                <a:cs typeface="Times New Roman"/>
              </a:rPr>
              <a:t>minicomputer,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generally understood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 to a to 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computer</a:t>
            </a:r>
            <a:r>
              <a:rPr dirty="0" sz="1200" spc="-5">
                <a:latin typeface="Times New Roman"/>
                <a:cs typeface="Times New Roman"/>
              </a:rPr>
              <a:t> whose mainframe is </a:t>
            </a:r>
            <a:r>
              <a:rPr dirty="0" sz="1200">
                <a:latin typeface="Times New Roman"/>
                <a:cs typeface="Times New Roman"/>
              </a:rPr>
              <a:t>physically </a:t>
            </a:r>
            <a:r>
              <a:rPr dirty="0" sz="1200" spc="-5">
                <a:latin typeface="Times New Roman"/>
                <a:cs typeface="Times New Roman"/>
              </a:rPr>
              <a:t>small, has </a:t>
            </a:r>
            <a:r>
              <a:rPr dirty="0" sz="1200">
                <a:latin typeface="Times New Roman"/>
                <a:cs typeface="Times New Roman"/>
              </a:rPr>
              <a:t>a fixed word length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 and 32 bits,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$100,00 for the central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 indent="3810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we </a:t>
            </a:r>
            <a:r>
              <a:rPr dirty="0" sz="1200">
                <a:latin typeface="Times New Roman"/>
                <a:cs typeface="Times New Roman"/>
              </a:rPr>
              <a:t>read about types </a:t>
            </a:r>
            <a:r>
              <a:rPr dirty="0" sz="1200" spc="-5">
                <a:latin typeface="Times New Roman"/>
                <a:cs typeface="Times New Roman"/>
              </a:rPr>
              <a:t>of memory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found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computer. We did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 </a:t>
            </a:r>
            <a:r>
              <a:rPr dirty="0" sz="1200">
                <a:latin typeface="Times New Roman"/>
                <a:cs typeface="Times New Roman"/>
              </a:rPr>
              <a:t>exercises, scanning for </a:t>
            </a:r>
            <a:r>
              <a:rPr dirty="0" sz="1200" spc="-5">
                <a:latin typeface="Times New Roman"/>
                <a:cs typeface="Times New Roman"/>
              </a:rPr>
              <a:t>information vocabulary exercise </a:t>
            </a:r>
            <a:r>
              <a:rPr dirty="0" sz="1200">
                <a:latin typeface="Times New Roman"/>
                <a:cs typeface="Times New Roman"/>
              </a:rPr>
              <a:t>and content review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 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we come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lesson.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126</a:t>
            </a:fld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50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Classifying,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Cause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Effect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Relationship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559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 to 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Steps </a:t>
            </a:r>
            <a:r>
              <a:rPr dirty="0" sz="1200">
                <a:latin typeface="Times New Roman"/>
                <a:cs typeface="Times New Roman"/>
              </a:rPr>
              <a:t>in 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Solving.  We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follow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 pattern of reading followed by </a:t>
            </a:r>
            <a:r>
              <a:rPr dirty="0" sz="1200" spc="-5">
                <a:latin typeface="Times New Roman"/>
                <a:cs typeface="Times New Roman"/>
              </a:rPr>
              <a:t>comprehension </a:t>
            </a:r>
            <a:r>
              <a:rPr dirty="0" sz="1200">
                <a:latin typeface="Times New Roman"/>
                <a:cs typeface="Times New Roman"/>
              </a:rPr>
              <a:t>exercises, scanning for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vocabulary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exercise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review </a:t>
            </a:r>
            <a:r>
              <a:rPr dirty="0" sz="1200" spc="-5">
                <a:latin typeface="Times New Roman"/>
                <a:cs typeface="Times New Roman"/>
              </a:rPr>
              <a:t>exercises.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exploring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 Effect Relationship between texts and </a:t>
            </a:r>
            <a:r>
              <a:rPr dirty="0" sz="1200" spc="-5">
                <a:latin typeface="Times New Roman"/>
                <a:cs typeface="Times New Roman"/>
              </a:rPr>
              <a:t>working with </a:t>
            </a:r>
            <a:r>
              <a:rPr dirty="0" sz="1200">
                <a:latin typeface="Times New Roman"/>
                <a:cs typeface="Times New Roman"/>
              </a:rPr>
              <a:t>language </a:t>
            </a:r>
            <a:r>
              <a:rPr dirty="0" sz="1200" spc="-5">
                <a:latin typeface="Times New Roman"/>
                <a:cs typeface="Times New Roman"/>
              </a:rPr>
              <a:t>for Classifying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Steps 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Problem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Solving: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problems?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that carries out the procedures which the </a:t>
            </a:r>
            <a:r>
              <a:rPr dirty="0" sz="1200" spc="-5">
                <a:latin typeface="Times New Roman"/>
                <a:cs typeface="Times New Roman"/>
              </a:rPr>
              <a:t>programmer </a:t>
            </a:r>
            <a:r>
              <a:rPr dirty="0" sz="1200">
                <a:latin typeface="Times New Roman"/>
                <a:cs typeface="Times New Roman"/>
              </a:rPr>
              <a:t>gives it.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 </a:t>
            </a:r>
            <a:r>
              <a:rPr dirty="0" sz="1200">
                <a:latin typeface="Times New Roman"/>
                <a:cs typeface="Times New Roman"/>
              </a:rPr>
              <a:t>then who </a:t>
            </a:r>
            <a:r>
              <a:rPr dirty="0" sz="1200" spc="-5">
                <a:latin typeface="Times New Roman"/>
                <a:cs typeface="Times New Roman"/>
              </a:rPr>
              <a:t>solves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problems. </a:t>
            </a:r>
            <a:r>
              <a:rPr dirty="0" sz="1200">
                <a:latin typeface="Times New Roman"/>
                <a:cs typeface="Times New Roman"/>
              </a:rPr>
              <a:t>There are a </a:t>
            </a:r>
            <a:r>
              <a:rPr dirty="0" sz="1200" spc="-5">
                <a:latin typeface="Times New Roman"/>
                <a:cs typeface="Times New Roman"/>
              </a:rPr>
              <a:t>few steps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one has </a:t>
            </a:r>
            <a:r>
              <a:rPr dirty="0" sz="1200">
                <a:latin typeface="Times New Roman"/>
                <a:cs typeface="Times New Roman"/>
              </a:rPr>
              <a:t>to follow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: The </a:t>
            </a:r>
            <a:r>
              <a:rPr dirty="0" sz="1200" spc="-5">
                <a:latin typeface="Times New Roman"/>
                <a:cs typeface="Times New Roman"/>
              </a:rPr>
              <a:t>programmer must </a:t>
            </a:r>
            <a:r>
              <a:rPr dirty="0" sz="1200">
                <a:latin typeface="Times New Roman"/>
                <a:cs typeface="Times New Roman"/>
              </a:rPr>
              <a:t>define the problem </a:t>
            </a:r>
            <a:r>
              <a:rPr dirty="0" sz="1200" spc="-5">
                <a:latin typeface="Times New Roman"/>
                <a:cs typeface="Times New Roman"/>
              </a:rPr>
              <a:t>clearly. This means </a:t>
            </a:r>
            <a:r>
              <a:rPr dirty="0" sz="1200">
                <a:latin typeface="Times New Roman"/>
                <a:cs typeface="Times New Roman"/>
              </a:rPr>
              <a:t>that he or </a:t>
            </a:r>
            <a:r>
              <a:rPr dirty="0" sz="1200" spc="-5">
                <a:latin typeface="Times New Roman"/>
                <a:cs typeface="Times New Roman"/>
              </a:rPr>
              <a:t>she has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determine, </a:t>
            </a:r>
            <a:r>
              <a:rPr dirty="0" sz="1200">
                <a:latin typeface="Times New Roman"/>
                <a:cs typeface="Times New Roman"/>
              </a:rPr>
              <a:t>in a general way, how to </a:t>
            </a:r>
            <a:r>
              <a:rPr dirty="0" sz="1200" spc="-5">
                <a:latin typeface="Times New Roman"/>
                <a:cs typeface="Times New Roman"/>
              </a:rPr>
              <a:t>solve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problem. Some </a:t>
            </a:r>
            <a:r>
              <a:rPr dirty="0" sz="1200">
                <a:latin typeface="Times New Roman"/>
                <a:cs typeface="Times New Roman"/>
              </a:rPr>
              <a:t>problems are easy, while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asking: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‘Do</a:t>
            </a:r>
            <a:r>
              <a:rPr dirty="0" sz="1200">
                <a:latin typeface="Times New Roman"/>
                <a:cs typeface="Times New Roman"/>
              </a:rPr>
              <a:t> I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problem’.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2: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programmer must formulate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algorithm,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straightforward sequence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steps </a:t>
            </a:r>
            <a:r>
              <a:rPr dirty="0" sz="1200">
                <a:latin typeface="Times New Roman"/>
                <a:cs typeface="Times New Roman"/>
              </a:rPr>
              <a:t>of instructions used to solve the problem. </a:t>
            </a:r>
            <a:r>
              <a:rPr dirty="0" sz="1200" spc="-5">
                <a:latin typeface="Times New Roman"/>
                <a:cs typeface="Times New Roman"/>
              </a:rPr>
              <a:t>Constructing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algorithm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part of problem solving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</a:t>
            </a:r>
            <a:r>
              <a:rPr dirty="0" sz="1200" spc="-5">
                <a:latin typeface="Times New Roman"/>
                <a:cs typeface="Times New Roman"/>
              </a:rPr>
              <a:t>time-consuming. An </a:t>
            </a:r>
            <a:r>
              <a:rPr dirty="0" sz="1200">
                <a:latin typeface="Times New Roman"/>
                <a:cs typeface="Times New Roman"/>
              </a:rPr>
              <a:t>algorithm 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described by a flowchart, </a:t>
            </a:r>
            <a:r>
              <a:rPr dirty="0" sz="1200" spc="-5">
                <a:latin typeface="Times New Roman"/>
                <a:cs typeface="Times New Roman"/>
              </a:rPr>
              <a:t>which may </a:t>
            </a:r>
            <a:r>
              <a:rPr dirty="0" sz="1200">
                <a:latin typeface="Times New Roman"/>
                <a:cs typeface="Times New Roman"/>
              </a:rPr>
              <a:t>be stated in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a sequence of </a:t>
            </a:r>
            <a:r>
              <a:rPr dirty="0" sz="1200" spc="-5">
                <a:latin typeface="Times New Roman"/>
                <a:cs typeface="Times New Roman"/>
              </a:rPr>
              <a:t>precise sentences, </a:t>
            </a:r>
            <a:r>
              <a:rPr dirty="0" sz="1200">
                <a:latin typeface="Times New Roman"/>
                <a:cs typeface="Times New Roman"/>
              </a:rPr>
              <a:t> or a </a:t>
            </a:r>
            <a:r>
              <a:rPr dirty="0" sz="1200" spc="-5">
                <a:latin typeface="Times New Roman"/>
                <a:cs typeface="Times New Roman"/>
              </a:rPr>
              <a:t>block diagram. </a:t>
            </a:r>
            <a:r>
              <a:rPr dirty="0" sz="1200">
                <a:latin typeface="Times New Roman"/>
                <a:cs typeface="Times New Roman"/>
              </a:rPr>
              <a:t>The latter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diagrammatic representation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sequence </a:t>
            </a:r>
            <a:r>
              <a:rPr dirty="0" sz="1200">
                <a:latin typeface="Times New Roman"/>
                <a:cs typeface="Times New Roman"/>
              </a:rPr>
              <a:t>of events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followed in solving the </a:t>
            </a:r>
            <a:r>
              <a:rPr dirty="0" sz="1200" spc="-5">
                <a:latin typeface="Times New Roman"/>
                <a:cs typeface="Times New Roman"/>
              </a:rPr>
              <a:t>problem.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relationship </a:t>
            </a:r>
            <a:r>
              <a:rPr dirty="0" sz="1200">
                <a:latin typeface="Times New Roman"/>
                <a:cs typeface="Times New Roman"/>
              </a:rPr>
              <a:t>between the events </a:t>
            </a:r>
            <a:r>
              <a:rPr dirty="0" sz="1200" spc="-5">
                <a:latin typeface="Times New Roman"/>
                <a:cs typeface="Times New Roman"/>
              </a:rPr>
              <a:t>is shown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 connecting arrow.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block diagram can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if a </a:t>
            </a:r>
            <a:r>
              <a:rPr dirty="0" sz="1200" spc="-5">
                <a:latin typeface="Times New Roman"/>
                <a:cs typeface="Times New Roman"/>
              </a:rPr>
              <a:t>process has </a:t>
            </a:r>
            <a:r>
              <a:rPr dirty="0" sz="1200">
                <a:latin typeface="Times New Roman"/>
                <a:cs typeface="Times New Roman"/>
              </a:rPr>
              <a:t>to be </a:t>
            </a:r>
            <a:r>
              <a:rPr dirty="0" sz="1200" spc="-5">
                <a:latin typeface="Times New Roman"/>
                <a:cs typeface="Times New Roman"/>
              </a:rPr>
              <a:t>repeated or </a:t>
            </a:r>
            <a:r>
              <a:rPr dirty="0" sz="1200">
                <a:latin typeface="Times New Roman"/>
                <a:cs typeface="Times New Roman"/>
              </a:rPr>
              <a:t>if there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alternative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routes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b="1">
                <a:latin typeface="Times New Roman"/>
                <a:cs typeface="Times New Roman"/>
              </a:rPr>
              <a:t> 3: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translate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program. </a:t>
            </a:r>
            <a:r>
              <a:rPr dirty="0" sz="1200">
                <a:latin typeface="Times New Roman"/>
                <a:cs typeface="Times New Roman"/>
              </a:rPr>
              <a:t>To do </a:t>
            </a:r>
            <a:r>
              <a:rPr dirty="0" sz="1200" spc="-5">
                <a:latin typeface="Times New Roman"/>
                <a:cs typeface="Times New Roman"/>
              </a:rPr>
              <a:t>so, </a:t>
            </a:r>
            <a:r>
              <a:rPr dirty="0" sz="1200">
                <a:latin typeface="Times New Roman"/>
                <a:cs typeface="Times New Roman"/>
              </a:rPr>
              <a:t>he or </a:t>
            </a:r>
            <a:r>
              <a:rPr dirty="0" sz="1200" spc="-5">
                <a:latin typeface="Times New Roman"/>
                <a:cs typeface="Times New Roman"/>
              </a:rPr>
              <a:t>she writes </a:t>
            </a:r>
            <a:r>
              <a:rPr dirty="0" sz="1200">
                <a:latin typeface="Times New Roman"/>
                <a:cs typeface="Times New Roman"/>
              </a:rPr>
              <a:t>detailed </a:t>
            </a:r>
            <a:r>
              <a:rPr dirty="0" sz="1200" spc="-5">
                <a:latin typeface="Times New Roman"/>
                <a:cs typeface="Times New Roman"/>
              </a:rPr>
              <a:t>instructions </a:t>
            </a:r>
            <a:r>
              <a:rPr dirty="0" sz="1200">
                <a:latin typeface="Times New Roman"/>
                <a:cs typeface="Times New Roman"/>
              </a:rPr>
              <a:t>for the </a:t>
            </a:r>
            <a:r>
              <a:rPr dirty="0" sz="1200" spc="-5">
                <a:latin typeface="Times New Roman"/>
                <a:cs typeface="Times New Roman"/>
              </a:rPr>
              <a:t>computer, </a:t>
            </a:r>
            <a:r>
              <a:rPr dirty="0" sz="1200">
                <a:latin typeface="Times New Roman"/>
                <a:cs typeface="Times New Roman"/>
              </a:rPr>
              <a:t>using one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available</a:t>
            </a:r>
            <a:r>
              <a:rPr dirty="0" sz="1200">
                <a:latin typeface="Times New Roman"/>
                <a:cs typeface="Times New Roman"/>
              </a:rPr>
              <a:t> 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algorithm. </a:t>
            </a:r>
            <a:r>
              <a:rPr dirty="0" sz="1200">
                <a:latin typeface="Times New Roman"/>
                <a:cs typeface="Times New Roman"/>
              </a:rPr>
              <a:t>The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written on coding </a:t>
            </a:r>
            <a:r>
              <a:rPr dirty="0" sz="1200" spc="-5">
                <a:latin typeface="Times New Roman"/>
                <a:cs typeface="Times New Roman"/>
              </a:rPr>
              <a:t>sheets </a:t>
            </a:r>
            <a:r>
              <a:rPr dirty="0" sz="1200">
                <a:latin typeface="Times New Roman"/>
                <a:cs typeface="Times New Roman"/>
              </a:rPr>
              <a:t>which have a specific </a:t>
            </a:r>
            <a:r>
              <a:rPr dirty="0" sz="1200" spc="-5">
                <a:latin typeface="Times New Roman"/>
                <a:cs typeface="Times New Roman"/>
              </a:rPr>
              <a:t>format </a:t>
            </a:r>
            <a:r>
              <a:rPr dirty="0" sz="1200">
                <a:latin typeface="Times New Roman"/>
                <a:cs typeface="Times New Roman"/>
              </a:rPr>
              <a:t> drawn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4: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programmer must </a:t>
            </a:r>
            <a:r>
              <a:rPr dirty="0" sz="1200">
                <a:latin typeface="Times New Roman"/>
                <a:cs typeface="Times New Roman"/>
              </a:rPr>
              <a:t>then keypunch the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or give the </a:t>
            </a:r>
            <a:r>
              <a:rPr dirty="0" sz="1200" spc="-5">
                <a:latin typeface="Times New Roman"/>
                <a:cs typeface="Times New Roman"/>
              </a:rPr>
              <a:t>coding sheets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keypunch Operator to do it. The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either punched on cards or entered into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at a </a:t>
            </a:r>
            <a:r>
              <a:rPr dirty="0" sz="1200" spc="-5">
                <a:latin typeface="Times New Roman"/>
                <a:cs typeface="Times New Roman"/>
              </a:rPr>
              <a:t>terminal</a:t>
            </a:r>
            <a:r>
              <a:rPr dirty="0" sz="1200">
                <a:latin typeface="Times New Roman"/>
                <a:cs typeface="Times New Roman"/>
              </a:rPr>
              <a:t> with a </a:t>
            </a:r>
            <a:r>
              <a:rPr dirty="0" sz="1200" spc="-5">
                <a:latin typeface="Times New Roman"/>
                <a:cs typeface="Times New Roman"/>
              </a:rPr>
              <a:t>visual</a:t>
            </a:r>
            <a:r>
              <a:rPr dirty="0" sz="1200">
                <a:latin typeface="Times New Roman"/>
                <a:cs typeface="Times New Roman"/>
              </a:rPr>
              <a:t> display </a:t>
            </a:r>
            <a:r>
              <a:rPr dirty="0" sz="1200" spc="-5">
                <a:latin typeface="Times New Roman"/>
                <a:cs typeface="Times New Roman"/>
              </a:rPr>
              <a:t>unit.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5: </a:t>
            </a:r>
            <a:r>
              <a:rPr dirty="0" sz="1200">
                <a:latin typeface="Times New Roman"/>
                <a:cs typeface="Times New Roman"/>
              </a:rPr>
              <a:t>The program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then be tested. To do </a:t>
            </a:r>
            <a:r>
              <a:rPr dirty="0" sz="1200" spc="-5">
                <a:latin typeface="Times New Roman"/>
                <a:cs typeface="Times New Roman"/>
              </a:rPr>
              <a:t>so, </a:t>
            </a:r>
            <a:r>
              <a:rPr dirty="0" sz="1200">
                <a:latin typeface="Times New Roman"/>
                <a:cs typeface="Times New Roman"/>
              </a:rPr>
              <a:t>the computer operator puts the deck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cards in the card reader and presses the ‘read’ button. This </a:t>
            </a:r>
            <a:r>
              <a:rPr dirty="0" sz="1200" spc="-5">
                <a:latin typeface="Times New Roman"/>
                <a:cs typeface="Times New Roman"/>
              </a:rPr>
              <a:t>transfers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computer. </a:t>
            </a:r>
            <a:r>
              <a:rPr dirty="0" sz="1200">
                <a:latin typeface="Times New Roman"/>
                <a:cs typeface="Times New Roman"/>
              </a:rPr>
              <a:t>Next, a printout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if the program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or if 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errors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bugs).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terminal</a:t>
            </a:r>
            <a:r>
              <a:rPr dirty="0" sz="1200">
                <a:latin typeface="Times New Roman"/>
                <a:cs typeface="Times New Roman"/>
              </a:rPr>
              <a:t> instead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possible, </a:t>
            </a:r>
            <a:r>
              <a:rPr dirty="0" sz="1200">
                <a:latin typeface="Times New Roman"/>
                <a:cs typeface="Times New Roman"/>
              </a:rPr>
              <a:t>with the aid of a </a:t>
            </a:r>
            <a:r>
              <a:rPr dirty="0" sz="1200" spc="-5">
                <a:latin typeface="Times New Roman"/>
                <a:cs typeface="Times New Roman"/>
              </a:rPr>
              <a:t>few commands, </a:t>
            </a:r>
            <a:r>
              <a:rPr dirty="0" sz="1200">
                <a:latin typeface="Times New Roman"/>
                <a:cs typeface="Times New Roman"/>
              </a:rPr>
              <a:t>to store the program 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and 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printout.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6: </a:t>
            </a:r>
            <a:r>
              <a:rPr dirty="0" sz="1200">
                <a:latin typeface="Times New Roman"/>
                <a:cs typeface="Times New Roman"/>
              </a:rPr>
              <a:t>The last step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add the data to the program and run the job </a:t>
            </a:r>
            <a:r>
              <a:rPr dirty="0" sz="1200" spc="-5">
                <a:latin typeface="Times New Roman"/>
                <a:cs typeface="Times New Roman"/>
              </a:rPr>
              <a:t>completely.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will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-5">
                <a:latin typeface="Times New Roman"/>
                <a:cs typeface="Times New Roman"/>
              </a:rPr>
              <a:t>perform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calculations necessary </a:t>
            </a:r>
            <a:r>
              <a:rPr dirty="0" sz="1200">
                <a:latin typeface="Times New Roman"/>
                <a:cs typeface="Times New Roman"/>
              </a:rPr>
              <a:t>to solve the </a:t>
            </a:r>
            <a:r>
              <a:rPr dirty="0" sz="1200" spc="-5">
                <a:latin typeface="Times New Roman"/>
                <a:cs typeface="Times New Roman"/>
              </a:rPr>
              <a:t>problem.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will follow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instructions </a:t>
            </a:r>
            <a:r>
              <a:rPr dirty="0" sz="1200">
                <a:latin typeface="Times New Roman"/>
                <a:cs typeface="Times New Roman"/>
              </a:rPr>
              <a:t>in the program to the </a:t>
            </a:r>
            <a:r>
              <a:rPr dirty="0" sz="1200" spc="-5">
                <a:latin typeface="Times New Roman"/>
                <a:cs typeface="Times New Roman"/>
              </a:rPr>
              <a:t>minutest details. </a:t>
            </a:r>
            <a:r>
              <a:rPr dirty="0" sz="1200">
                <a:latin typeface="Times New Roman"/>
                <a:cs typeface="Times New Roman"/>
              </a:rPr>
              <a:t>Therefore, </a:t>
            </a:r>
            <a:r>
              <a:rPr dirty="0" sz="1200" spc="-5">
                <a:latin typeface="Times New Roman"/>
                <a:cs typeface="Times New Roman"/>
              </a:rPr>
              <a:t>one can say </a:t>
            </a:r>
            <a:r>
              <a:rPr dirty="0" sz="1200">
                <a:latin typeface="Times New Roman"/>
                <a:cs typeface="Times New Roman"/>
              </a:rPr>
              <a:t>that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robot.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simply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told.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5"/>
              </a:lnSpc>
            </a:pPr>
            <a:r>
              <a:rPr dirty="0" sz="1200" b="1">
                <a:latin typeface="Times New Roman"/>
                <a:cs typeface="Times New Roman"/>
              </a:rPr>
              <a:t>Exercises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126</a:t>
            </a:fld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243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241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best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of the text? Why did you </a:t>
            </a:r>
            <a:r>
              <a:rPr dirty="0" sz="1200" spc="-5">
                <a:latin typeface="Times New Roman"/>
                <a:cs typeface="Times New Roman"/>
              </a:rPr>
              <a:t>eliminate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 marL="927100" indent="-457200">
              <a:lnSpc>
                <a:spcPts val="1345"/>
              </a:lnSpc>
              <a:buAutoNum type="arabicPeriod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Constructing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algorithm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927100" indent="-457834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927100" algn="l"/>
                <a:tab pos="927735" algn="l"/>
              </a:tabLst>
            </a:pPr>
            <a:r>
              <a:rPr dirty="0" sz="1200">
                <a:latin typeface="Times New Roman"/>
                <a:cs typeface="Times New Roman"/>
              </a:rPr>
              <a:t>Solving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becomes</a:t>
            </a:r>
            <a:r>
              <a:rPr dirty="0" sz="1200">
                <a:latin typeface="Times New Roman"/>
                <a:cs typeface="Times New Roman"/>
              </a:rPr>
              <a:t> easier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certain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followed.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927100" indent="-45720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does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the</a:t>
            </a:r>
            <a:r>
              <a:rPr dirty="0" sz="1200" spc="-5">
                <a:latin typeface="Times New Roman"/>
                <a:cs typeface="Times New Roman"/>
              </a:rPr>
              <a:t> programmer</a:t>
            </a:r>
            <a:r>
              <a:rPr dirty="0" sz="1200">
                <a:latin typeface="Times New Roman"/>
                <a:cs typeface="Times New Roman"/>
              </a:rPr>
              <a:t> tells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Understanding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passage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</a:t>
            </a:r>
            <a:r>
              <a:rPr dirty="0" sz="1200">
                <a:latin typeface="Times New Roman"/>
                <a:cs typeface="Times New Roman"/>
              </a:rPr>
              <a:t> (T/F)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referring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the text. Then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necessary </a:t>
            </a:r>
            <a:r>
              <a:rPr dirty="0" sz="1200">
                <a:latin typeface="Times New Roman"/>
                <a:cs typeface="Times New Roman"/>
              </a:rPr>
              <a:t>changes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that the false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 marL="202565" indent="-190500">
              <a:lnSpc>
                <a:spcPts val="1315"/>
              </a:lnSpc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great help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it </a:t>
            </a:r>
            <a:r>
              <a:rPr dirty="0" sz="1200" spc="-5">
                <a:latin typeface="Times New Roman"/>
                <a:cs typeface="Times New Roman"/>
              </a:rPr>
              <a:t>solves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problems.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/>
              <a:tabLst>
                <a:tab pos="20383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difficult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solve.</a:t>
            </a:r>
            <a:r>
              <a:rPr dirty="0" sz="1200" spc="-5">
                <a:latin typeface="Times New Roman"/>
                <a:cs typeface="Times New Roman"/>
              </a:rPr>
              <a:t> F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/>
              <a:tabLst>
                <a:tab pos="203835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algorithm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sequences of </a:t>
            </a:r>
            <a:r>
              <a:rPr dirty="0" sz="1200" spc="-5">
                <a:latin typeface="Times New Roman"/>
                <a:cs typeface="Times New Roman"/>
              </a:rPr>
              <a:t>instructions</a:t>
            </a:r>
            <a:r>
              <a:rPr dirty="0" sz="1200">
                <a:latin typeface="Times New Roman"/>
                <a:cs typeface="Times New Roman"/>
              </a:rPr>
              <a:t> used to solve a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r>
              <a:rPr dirty="0" sz="1200">
                <a:latin typeface="Times New Roman"/>
                <a:cs typeface="Times New Roman"/>
              </a:rPr>
              <a:t> T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part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problem-solving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defining the problem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clearly.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Block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diagrams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relationships.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Coding</a:t>
            </a:r>
            <a:r>
              <a:rPr dirty="0" sz="1200" spc="-5">
                <a:latin typeface="Times New Roman"/>
                <a:cs typeface="Times New Roman"/>
              </a:rPr>
              <a:t> sheets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programs.</a:t>
            </a:r>
            <a:r>
              <a:rPr dirty="0" sz="1200">
                <a:latin typeface="Times New Roman"/>
                <a:cs typeface="Times New Roman"/>
              </a:rPr>
              <a:t> T</a:t>
            </a:r>
            <a:endParaRPr sz="1200">
              <a:latin typeface="Times New Roman"/>
              <a:cs typeface="Times New Roman"/>
            </a:endParaRPr>
          </a:p>
          <a:p>
            <a:pPr marL="229870" indent="-217804">
              <a:lnSpc>
                <a:spcPts val="1380"/>
              </a:lnSpc>
              <a:buAutoNum type="arabicPeriod"/>
              <a:tabLst>
                <a:tab pos="230504" algn="l"/>
              </a:tabLst>
            </a:pPr>
            <a:r>
              <a:rPr dirty="0" sz="1200">
                <a:latin typeface="Times New Roman"/>
                <a:cs typeface="Times New Roman"/>
              </a:rPr>
              <a:t>Punched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transferring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algn="r" marR="75819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202565" indent="-190500">
              <a:lnSpc>
                <a:spcPts val="1380"/>
              </a:lnSpc>
              <a:buAutoNum type="arabicPeriod" startAt="8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the computer</a:t>
            </a:r>
            <a:r>
              <a:rPr dirty="0" sz="1200" spc="-5">
                <a:latin typeface="Times New Roman"/>
                <a:cs typeface="Times New Roman"/>
              </a:rPr>
              <a:t> cannot</a:t>
            </a:r>
            <a:r>
              <a:rPr dirty="0" sz="1200">
                <a:latin typeface="Times New Roman"/>
                <a:cs typeface="Times New Roman"/>
              </a:rPr>
              <a:t> perform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calculations. 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202565" indent="-190500">
              <a:lnSpc>
                <a:spcPts val="1380"/>
              </a:lnSpc>
              <a:buAutoNum type="arabicPeriod" startAt="8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 before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data.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410"/>
              </a:lnSpc>
              <a:buAutoNum type="arabicPeriod" startAt="8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intelligent. 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capable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thinking.</a:t>
            </a:r>
            <a:r>
              <a:rPr dirty="0" sz="1200" spc="-5">
                <a:latin typeface="Times New Roman"/>
                <a:cs typeface="Times New Roman"/>
              </a:rPr>
              <a:t> 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Locating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Find the passages in the text where the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ideas are expressed. Give the paragraph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references.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5645911"/>
            <a:ext cx="79692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…P4…..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…P3…… 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…P1…… 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…P6…… 4.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992444"/>
            <a:ext cx="14478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43045" y="8992444"/>
            <a:ext cx="3407410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684655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(l.42)………computer…….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6522211"/>
            <a:ext cx="758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…P2……5.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0400" y="5645911"/>
            <a:ext cx="471360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lined</a:t>
            </a:r>
            <a:r>
              <a:rPr dirty="0" sz="1200" spc="-5">
                <a:latin typeface="Times New Roman"/>
                <a:cs typeface="Times New Roman"/>
              </a:rPr>
              <a:t> forms.</a:t>
            </a:r>
            <a:endParaRPr sz="1200">
              <a:latin typeface="Times New Roman"/>
              <a:cs typeface="Times New Roman"/>
            </a:endParaRPr>
          </a:p>
          <a:p>
            <a:pPr marL="12700" marR="655320" indent="-6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block diagram can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decisions with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different </a:t>
            </a:r>
            <a:r>
              <a:rPr dirty="0" sz="1200" spc="-5">
                <a:latin typeface="Times New Roman"/>
                <a:cs typeface="Times New Roman"/>
              </a:rPr>
              <a:t>outcomes.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one who</a:t>
            </a:r>
            <a:r>
              <a:rPr dirty="0" sz="1200" spc="-5">
                <a:latin typeface="Times New Roman"/>
                <a:cs typeface="Times New Roman"/>
              </a:rPr>
              <a:t> solves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 marL="12700" marR="5080" indent="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terminal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instead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cards,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5">
                <a:latin typeface="Times New Roman"/>
                <a:cs typeface="Times New Roman"/>
              </a:rPr>
              <a:t> permanent</a:t>
            </a:r>
            <a:r>
              <a:rPr dirty="0" sz="1200">
                <a:latin typeface="Times New Roman"/>
                <a:cs typeface="Times New Roman"/>
              </a:rPr>
              <a:t> copy of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problems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difficulty.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6698995"/>
            <a:ext cx="459740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  <a:tabLst>
                <a:tab pos="355600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4.	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Contextual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Reference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 bold</a:t>
            </a:r>
            <a:r>
              <a:rPr dirty="0" sz="1200" spc="-5">
                <a:latin typeface="Times New Roman"/>
                <a:cs typeface="Times New Roman"/>
              </a:rPr>
              <a:t> typeface </a:t>
            </a:r>
            <a:r>
              <a:rPr dirty="0" sz="1200">
                <a:latin typeface="Times New Roman"/>
                <a:cs typeface="Times New Roman"/>
              </a:rPr>
              <a:t>refer to.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7223250"/>
            <a:ext cx="2830830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2400">
              <a:lnSpc>
                <a:spcPts val="1410"/>
              </a:lnSpc>
              <a:spcBef>
                <a:spcPts val="10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problems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latter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diagrammatic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representation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Operate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2700" marR="824230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This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errors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follow the</a:t>
            </a:r>
            <a:r>
              <a:rPr dirty="0" sz="1200" spc="-5">
                <a:latin typeface="Times New Roman"/>
                <a:cs typeface="Times New Roman"/>
              </a:rPr>
              <a:t> instructions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16035" y="7223250"/>
            <a:ext cx="2142490" cy="12598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(l.1)…computer………..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(l.2)…procedure…..…. </a:t>
            </a:r>
            <a:r>
              <a:rPr dirty="0" sz="1200">
                <a:latin typeface="Times New Roman"/>
                <a:cs typeface="Times New Roman"/>
              </a:rPr>
              <a:t> (l.3)…programmer.…..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(l.14)…flow chart…….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(l.15)…blocked diagram…….…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(l.27)…key punch the program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(l.32)…reading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216400" y="8625330"/>
            <a:ext cx="1736089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3335" marR="5080" indent="-127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(l.33)…………program….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(l.40)………computer…….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405574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5.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Understanding Words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synonyms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1384300" algn="l"/>
              </a:tabLst>
            </a:pPr>
            <a:r>
              <a:rPr dirty="0" sz="1200">
                <a:latin typeface="Times New Roman"/>
                <a:cs typeface="Times New Roman"/>
              </a:rPr>
              <a:t>Construct	</a:t>
            </a:r>
            <a:r>
              <a:rPr dirty="0" sz="1200" spc="-5">
                <a:latin typeface="Times New Roman"/>
                <a:cs typeface="Times New Roman"/>
              </a:rPr>
              <a:t>(l.10)……formulate………………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Takes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(l.13)…………time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consuming…………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992446"/>
            <a:ext cx="3420745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…………print………………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address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73321" y="8992446"/>
            <a:ext cx="968375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block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132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1790192"/>
            <a:ext cx="72834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 startAt="3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Exact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3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Mistakes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Help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87167" y="1790192"/>
            <a:ext cx="204470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(1.15)…………precise…………  </a:t>
            </a:r>
            <a:r>
              <a:rPr dirty="0" sz="1200">
                <a:latin typeface="Times New Roman"/>
                <a:cs typeface="Times New Roman"/>
              </a:rPr>
              <a:t>(l.34) ………………bugs……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(l.35)………………aids…….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491231"/>
            <a:ext cx="4313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refer 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 find</a:t>
            </a:r>
            <a:r>
              <a:rPr dirty="0" sz="1200" spc="-5">
                <a:latin typeface="Times New Roman"/>
                <a:cs typeface="Times New Roman"/>
              </a:rPr>
              <a:t> antonyms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2841752"/>
            <a:ext cx="100711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 startAt="6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Ambiguously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Specific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6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Partially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86121" y="2841752"/>
            <a:ext cx="210566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3970" marR="5080" indent="-190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(l.5)………clearly…………..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(l.6)……general……………..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(l.39)………completely…………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3544315"/>
            <a:ext cx="5628005" cy="5466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Procedure,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proceed,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proceeding</a:t>
            </a:r>
            <a:endParaRPr sz="1200">
              <a:latin typeface="Times New Roman"/>
              <a:cs typeface="Times New Roman"/>
            </a:endParaRPr>
          </a:p>
          <a:p>
            <a:pPr marL="12700" marR="6985">
              <a:lnSpc>
                <a:spcPts val="1380"/>
              </a:lnSpc>
              <a:spcBef>
                <a:spcPts val="65"/>
              </a:spcBef>
              <a:buAutoNum type="alphaLcParenR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the……procedure………………….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15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…………………proceed…………….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calculator.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programmed,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……program……………in </a:t>
            </a:r>
            <a:r>
              <a:rPr dirty="0" sz="1200">
                <a:latin typeface="Times New Roman"/>
                <a:cs typeface="Times New Roman"/>
              </a:rPr>
              <a:t>COBOL.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my……………program…………..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calculator</a:t>
            </a:r>
            <a:r>
              <a:rPr dirty="0" sz="1200" spc="-5">
                <a:latin typeface="Times New Roman"/>
                <a:cs typeface="Times New Roman"/>
              </a:rPr>
              <a:t> is ……………programmed……….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lphaLcParenR"/>
              <a:tabLst>
                <a:tab pos="193675" algn="l"/>
              </a:tabLst>
            </a:pPr>
            <a:r>
              <a:rPr dirty="0" sz="1200">
                <a:latin typeface="Times New Roman"/>
                <a:cs typeface="Times New Roman"/>
              </a:rPr>
              <a:t>Fortran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……………programming…………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available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market.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15"/>
              </a:lnSpc>
              <a:buAutoNum type="alphaLcParenR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Computer…………programming……… 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field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study at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university.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65"/>
              </a:spcBef>
              <a:buAutoNum type="alphaLcParenR"/>
              <a:tabLst>
                <a:tab pos="16065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……………programmer…………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algorithm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 startAt="3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Relationships,</a:t>
            </a:r>
            <a:r>
              <a:rPr dirty="0" sz="1200" b="1">
                <a:latin typeface="Times New Roman"/>
                <a:cs typeface="Times New Roman"/>
              </a:rPr>
              <a:t> Relate, </a:t>
            </a:r>
            <a:r>
              <a:rPr dirty="0" sz="1200" spc="-5" b="1">
                <a:latin typeface="Times New Roman"/>
                <a:cs typeface="Times New Roman"/>
              </a:rPr>
              <a:t>Related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program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……related………………….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different.</a:t>
            </a:r>
            <a:endParaRPr sz="1200">
              <a:latin typeface="Times New Roman"/>
              <a:cs typeface="Times New Roman"/>
            </a:endParaRPr>
          </a:p>
          <a:p>
            <a:pPr lvl="1" marL="12700" marR="6350">
              <a:lnSpc>
                <a:spcPts val="1380"/>
              </a:lnSpc>
              <a:buAutoNum type="alphaLcPeriod"/>
              <a:tabLst>
                <a:tab pos="218440" algn="l"/>
              </a:tabLst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the………relationship…………………between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connecting</a:t>
            </a:r>
            <a:r>
              <a:rPr dirty="0" sz="1200" spc="-5">
                <a:latin typeface="Times New Roman"/>
                <a:cs typeface="Times New Roman"/>
              </a:rPr>
              <a:t> arrows.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Assembler is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example of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machine……………………………….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4.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Code,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coding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…coding………………………..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Sheet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……………code…………….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Assembler is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machine……code…………………………..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Printer,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Printing,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Print,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Printed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439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5100" indent="-153035">
              <a:lnSpc>
                <a:spcPts val="1410"/>
              </a:lnSpc>
              <a:spcBef>
                <a:spcPts val="1070"/>
              </a:spcBef>
              <a:buAutoNum type="alphaL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………………printing………….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Gutenberg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Germany.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70"/>
              </a:spcBef>
              <a:buAutoNum type="alphaLcPeriod" startAt="2"/>
              <a:tabLst>
                <a:tab pos="1822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quality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…………printed……………..output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daisy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wheel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superior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dot</a:t>
            </a:r>
            <a:r>
              <a:rPr dirty="0" sz="1200" spc="-5">
                <a:latin typeface="Times New Roman"/>
                <a:cs typeface="Times New Roman"/>
              </a:rPr>
              <a:t> matrix.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lphaLcPeriod" startAt="2"/>
              <a:tabLst>
                <a:tab pos="184785" algn="l"/>
              </a:tabLst>
            </a:pPr>
            <a:r>
              <a:rPr dirty="0" sz="1200">
                <a:latin typeface="Times New Roman"/>
                <a:cs typeface="Times New Roman"/>
              </a:rPr>
              <a:t>…………printers………………provided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copy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7a.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Try to think of a definition for each of these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>
                <a:latin typeface="Times New Roman"/>
                <a:cs typeface="Times New Roman"/>
              </a:rPr>
              <a:t>before checking them in the </a:t>
            </a:r>
            <a:r>
              <a:rPr dirty="0" sz="1200" spc="-5">
                <a:latin typeface="Times New Roman"/>
                <a:cs typeface="Times New Roman"/>
              </a:rPr>
              <a:t>Glossary. </a:t>
            </a:r>
            <a:r>
              <a:rPr dirty="0" sz="1200">
                <a:latin typeface="Times New Roman"/>
                <a:cs typeface="Times New Roman"/>
              </a:rPr>
              <a:t> Then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with the appropriate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Make sure you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form, i.e. singular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3046306"/>
          <a:ext cx="3390265" cy="344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34415"/>
                <a:gridCol w="1466215"/>
                <a:gridCol w="888365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Algorithm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coding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sheets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flowchart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Robot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830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printout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bugs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016000" y="3542791"/>
            <a:ext cx="5627370" cy="23114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AutoNum type="arabicPeriod"/>
              <a:tabLst>
                <a:tab pos="217170" algn="l"/>
              </a:tabLst>
            </a:pP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coding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sheets</a:t>
            </a:r>
            <a:r>
              <a:rPr dirty="0" sz="1200" spc="-5">
                <a:latin typeface="Times New Roman"/>
                <a:cs typeface="Times New Roman"/>
              </a:rPr>
              <a:t>…………….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is…………</a:t>
            </a:r>
            <a:r>
              <a:rPr dirty="0" sz="1200" spc="-5" b="1">
                <a:latin typeface="Times New Roman"/>
                <a:cs typeface="Times New Roman"/>
              </a:rPr>
              <a:t>bugs</a:t>
            </a:r>
            <a:r>
              <a:rPr dirty="0" sz="1200" spc="-5">
                <a:latin typeface="Times New Roman"/>
                <a:cs typeface="Times New Roman"/>
              </a:rPr>
              <a:t>…..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>
                <a:latin typeface="Times New Roman"/>
                <a:cs typeface="Times New Roman"/>
              </a:rPr>
              <a:t> 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program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called a</a:t>
            </a:r>
            <a:r>
              <a:rPr dirty="0" sz="1200" spc="-5">
                <a:latin typeface="Times New Roman"/>
                <a:cs typeface="Times New Roman"/>
              </a:rPr>
              <a:t> …algorithms………………..</a:t>
            </a:r>
            <a:endParaRPr sz="1200">
              <a:latin typeface="Times New Roman"/>
              <a:cs typeface="Times New Roman"/>
            </a:endParaRPr>
          </a:p>
          <a:p>
            <a:pPr marL="224790" indent="-212090">
              <a:lnSpc>
                <a:spcPts val="1380"/>
              </a:lnSpc>
              <a:buAutoNum type="arabicPeriod"/>
              <a:tabLst>
                <a:tab pos="22479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incapable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thinking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follows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instructions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</a:t>
            </a:r>
            <a:r>
              <a:rPr dirty="0" sz="1200" b="1">
                <a:latin typeface="Times New Roman"/>
                <a:cs typeface="Times New Roman"/>
              </a:rPr>
              <a:t>robot</a:t>
            </a:r>
            <a:r>
              <a:rPr dirty="0" sz="1200">
                <a:latin typeface="Times New Roman"/>
                <a:cs typeface="Times New Roman"/>
              </a:rPr>
              <a:t>…………..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  <a:buAutoNum type="arabicPeriod" startAt="5"/>
              <a:tabLst>
                <a:tab pos="18986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</a:t>
            </a:r>
            <a:r>
              <a:rPr dirty="0" sz="1200" b="1">
                <a:latin typeface="Times New Roman"/>
                <a:cs typeface="Times New Roman"/>
              </a:rPr>
              <a:t>flow</a:t>
            </a:r>
            <a:r>
              <a:rPr dirty="0" sz="1200" spc="1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chart</a:t>
            </a:r>
            <a:r>
              <a:rPr dirty="0" sz="1200">
                <a:latin typeface="Times New Roman"/>
                <a:cs typeface="Times New Roman"/>
              </a:rPr>
              <a:t>……………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exact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a block </a:t>
            </a:r>
            <a:r>
              <a:rPr dirty="0" sz="1200" spc="-5">
                <a:latin typeface="Times New Roman"/>
                <a:cs typeface="Times New Roman"/>
              </a:rPr>
              <a:t>diagram.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7b.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Control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Solving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various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diagram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the sequence of these </a:t>
            </a:r>
            <a:r>
              <a:rPr dirty="0" sz="1200" spc="-5">
                <a:latin typeface="Times New Roman"/>
                <a:cs typeface="Times New Roman"/>
              </a:rPr>
              <a:t>steps. </a:t>
            </a:r>
            <a:r>
              <a:rPr dirty="0" sz="1200" spc="-5" b="1">
                <a:latin typeface="Times New Roman"/>
                <a:cs typeface="Times New Roman"/>
              </a:rPr>
              <a:t>Copy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slide</a:t>
            </a:r>
            <a:r>
              <a:rPr dirty="0" sz="1200" b="1">
                <a:latin typeface="Times New Roman"/>
                <a:cs typeface="Times New Roman"/>
              </a:rPr>
              <a:t> 44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996432"/>
            <a:ext cx="66421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Ccccccc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the  </a:t>
            </a:r>
            <a:r>
              <a:rPr dirty="0" sz="1200">
                <a:latin typeface="Times New Roman"/>
                <a:cs typeface="Times New Roman"/>
              </a:rPr>
              <a:t>Problem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51835" y="6346950"/>
            <a:ext cx="2052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formulate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algorithm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236190" y="6346950"/>
            <a:ext cx="7664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translate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7049514"/>
            <a:ext cx="5627370" cy="2136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1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8.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Focus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Focus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On: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Cause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effect/result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following sentences were taken from the text on </a:t>
            </a:r>
            <a:r>
              <a:rPr dirty="0" sz="1200" spc="-5">
                <a:latin typeface="Times New Roman"/>
                <a:cs typeface="Times New Roman"/>
              </a:rPr>
              <a:t>‘Steps </a:t>
            </a:r>
            <a:r>
              <a:rPr dirty="0" sz="1200">
                <a:latin typeface="Times New Roman"/>
                <a:cs typeface="Times New Roman"/>
              </a:rPr>
              <a:t>in Problem Solving’. </a:t>
            </a:r>
            <a:r>
              <a:rPr dirty="0" sz="1200" spc="-5">
                <a:latin typeface="Times New Roman"/>
                <a:cs typeface="Times New Roman"/>
              </a:rPr>
              <a:t>While </a:t>
            </a:r>
            <a:r>
              <a:rPr dirty="0" sz="1200">
                <a:latin typeface="Times New Roman"/>
                <a:cs typeface="Times New Roman"/>
              </a:rPr>
              <a:t> reading these sentences underline the cause once, the </a:t>
            </a:r>
            <a:r>
              <a:rPr dirty="0" sz="1200" spc="-5">
                <a:latin typeface="Times New Roman"/>
                <a:cs typeface="Times New Roman"/>
              </a:rPr>
              <a:t>effect/result </a:t>
            </a:r>
            <a:r>
              <a:rPr dirty="0" sz="1200">
                <a:latin typeface="Times New Roman"/>
                <a:cs typeface="Times New Roman"/>
              </a:rPr>
              <a:t>twice, then circle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causal-effect/result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marker.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buFont typeface="Times New Roman"/>
              <a:buAutoNum type="arabicPeriod"/>
              <a:tabLst>
                <a:tab pos="1778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programmer is </a:t>
            </a:r>
            <a:r>
              <a:rPr dirty="0" sz="1200">
                <a:latin typeface="Times New Roman"/>
                <a:cs typeface="Times New Roman"/>
              </a:rPr>
              <a:t>using a </a:t>
            </a:r>
            <a:r>
              <a:rPr dirty="0" sz="1200" spc="-5">
                <a:latin typeface="Times New Roman"/>
                <a:cs typeface="Times New Roman"/>
              </a:rPr>
              <a:t>terminal instead </a:t>
            </a:r>
            <a:r>
              <a:rPr dirty="0" sz="1200">
                <a:latin typeface="Times New Roman"/>
                <a:cs typeface="Times New Roman"/>
              </a:rPr>
              <a:t>of cards to enter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instructions, he can,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commands,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printout.</a:t>
            </a:r>
            <a:endParaRPr sz="1200">
              <a:latin typeface="Times New Roman"/>
              <a:cs typeface="Times New Roman"/>
            </a:endParaRPr>
          </a:p>
          <a:p>
            <a:pPr algn="just" marL="208279" indent="-196215">
              <a:lnSpc>
                <a:spcPts val="1315"/>
              </a:lnSpc>
              <a:buAutoNum type="arabicPeriod"/>
              <a:tabLst>
                <a:tab pos="2089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instructions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minutest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Therefore,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computer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robot.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Classifying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714500" y="6432803"/>
            <a:ext cx="990600" cy="76200"/>
          </a:xfrm>
          <a:custGeom>
            <a:avLst/>
            <a:gdLst/>
            <a:ahLst/>
            <a:cxnLst/>
            <a:rect l="l" t="t" r="r" b="b"/>
            <a:pathLst>
              <a:path w="990600" h="76200">
                <a:moveTo>
                  <a:pt x="914400" y="0"/>
                </a:moveTo>
                <a:lnTo>
                  <a:pt x="914400" y="76200"/>
                </a:lnTo>
                <a:lnTo>
                  <a:pt x="979931" y="43434"/>
                </a:lnTo>
                <a:lnTo>
                  <a:pt x="927353" y="43434"/>
                </a:lnTo>
                <a:lnTo>
                  <a:pt x="927353" y="33528"/>
                </a:lnTo>
                <a:lnTo>
                  <a:pt x="981456" y="33528"/>
                </a:lnTo>
                <a:lnTo>
                  <a:pt x="914400" y="0"/>
                </a:lnTo>
                <a:close/>
              </a:path>
              <a:path w="990600" h="76200">
                <a:moveTo>
                  <a:pt x="914400" y="33528"/>
                </a:moveTo>
                <a:lnTo>
                  <a:pt x="0" y="33528"/>
                </a:lnTo>
                <a:lnTo>
                  <a:pt x="0" y="43434"/>
                </a:lnTo>
                <a:lnTo>
                  <a:pt x="914400" y="43434"/>
                </a:lnTo>
                <a:lnTo>
                  <a:pt x="914400" y="33528"/>
                </a:lnTo>
                <a:close/>
              </a:path>
              <a:path w="990600" h="76200">
                <a:moveTo>
                  <a:pt x="981456" y="33528"/>
                </a:moveTo>
                <a:lnTo>
                  <a:pt x="927353" y="33528"/>
                </a:lnTo>
                <a:lnTo>
                  <a:pt x="927353" y="43434"/>
                </a:lnTo>
                <a:lnTo>
                  <a:pt x="979931" y="43434"/>
                </a:lnTo>
                <a:lnTo>
                  <a:pt x="990600" y="38100"/>
                </a:lnTo>
                <a:lnTo>
                  <a:pt x="981456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133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965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‘classification’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separate</a:t>
            </a:r>
            <a:r>
              <a:rPr dirty="0" sz="1200">
                <a:latin typeface="Times New Roman"/>
                <a:cs typeface="Times New Roman"/>
              </a:rPr>
              <a:t> objects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simplest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classification divides </a:t>
            </a:r>
            <a:r>
              <a:rPr dirty="0" sz="1200" spc="-5">
                <a:latin typeface="Times New Roman"/>
                <a:cs typeface="Times New Roman"/>
              </a:rPr>
              <a:t>things </a:t>
            </a:r>
            <a:r>
              <a:rPr dirty="0" sz="1200">
                <a:latin typeface="Times New Roman"/>
                <a:cs typeface="Times New Roman"/>
              </a:rPr>
              <a:t>into those that </a:t>
            </a:r>
            <a:r>
              <a:rPr dirty="0" sz="1200" spc="-5">
                <a:latin typeface="Times New Roman"/>
                <a:cs typeface="Times New Roman"/>
              </a:rPr>
              <a:t>show groups of </a:t>
            </a:r>
            <a:r>
              <a:rPr dirty="0" sz="1200">
                <a:latin typeface="Times New Roman"/>
                <a:cs typeface="Times New Roman"/>
              </a:rPr>
              <a:t>characteristics that are shared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those that are not. </a:t>
            </a:r>
            <a:r>
              <a:rPr dirty="0" sz="1200" spc="-5">
                <a:latin typeface="Times New Roman"/>
                <a:cs typeface="Times New Roman"/>
              </a:rPr>
              <a:t>For example, </a:t>
            </a:r>
            <a:r>
              <a:rPr dirty="0" sz="1200">
                <a:latin typeface="Times New Roman"/>
                <a:cs typeface="Times New Roman"/>
              </a:rPr>
              <a:t>one would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place fish and birds </a:t>
            </a:r>
            <a:r>
              <a:rPr dirty="0" sz="1200" spc="-5">
                <a:latin typeface="Times New Roman"/>
                <a:cs typeface="Times New Roman"/>
              </a:rPr>
              <a:t>together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with trees. </a:t>
            </a:r>
            <a:r>
              <a:rPr dirty="0" sz="1200" spc="-5">
                <a:latin typeface="Times New Roman"/>
                <a:cs typeface="Times New Roman"/>
              </a:rPr>
              <a:t>Classification usually goes from </a:t>
            </a:r>
            <a:r>
              <a:rPr dirty="0" sz="1200">
                <a:latin typeface="Times New Roman"/>
                <a:cs typeface="Times New Roman"/>
              </a:rPr>
              <a:t>general to </a:t>
            </a:r>
            <a:r>
              <a:rPr dirty="0" sz="1200" spc="-5">
                <a:latin typeface="Times New Roman"/>
                <a:cs typeface="Times New Roman"/>
              </a:rPr>
              <a:t>specific and is essential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attempting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sense</a:t>
            </a:r>
            <a:r>
              <a:rPr dirty="0" sz="1200">
                <a:latin typeface="Times New Roman"/>
                <a:cs typeface="Times New Roman"/>
              </a:rPr>
              <a:t> out of things around </a:t>
            </a:r>
            <a:r>
              <a:rPr dirty="0" sz="1200" spc="-5">
                <a:latin typeface="Times New Roman"/>
                <a:cs typeface="Times New Roman"/>
              </a:rPr>
              <a:t>us.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Classification, </a:t>
            </a:r>
            <a:r>
              <a:rPr dirty="0" sz="1200">
                <a:latin typeface="Times New Roman"/>
                <a:cs typeface="Times New Roman"/>
              </a:rPr>
              <a:t>then,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process of bringing order out of confusion by breaking down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 </a:t>
            </a:r>
            <a:r>
              <a:rPr dirty="0" sz="1200">
                <a:latin typeface="Times New Roman"/>
                <a:cs typeface="Times New Roman"/>
              </a:rPr>
              <a:t>topic into </a:t>
            </a:r>
            <a:r>
              <a:rPr dirty="0" sz="1200" spc="-5">
                <a:latin typeface="Times New Roman"/>
                <a:cs typeface="Times New Roman"/>
              </a:rPr>
              <a:t>its related parts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logical </a:t>
            </a:r>
            <a:r>
              <a:rPr dirty="0" sz="1200">
                <a:latin typeface="Times New Roman"/>
                <a:cs typeface="Times New Roman"/>
              </a:rPr>
              <a:t>way. Outlining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closely related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classification, </a:t>
            </a:r>
            <a:r>
              <a:rPr dirty="0" sz="1200">
                <a:latin typeface="Times New Roman"/>
                <a:cs typeface="Times New Roman"/>
              </a:rPr>
              <a:t>because it </a:t>
            </a:r>
            <a:r>
              <a:rPr dirty="0" sz="1200" spc="-5">
                <a:latin typeface="Times New Roman"/>
                <a:cs typeface="Times New Roman"/>
              </a:rPr>
              <a:t>organizes information </a:t>
            </a:r>
            <a:r>
              <a:rPr dirty="0" sz="1200">
                <a:latin typeface="Times New Roman"/>
                <a:cs typeface="Times New Roman"/>
              </a:rPr>
              <a:t>in a logical </a:t>
            </a:r>
            <a:r>
              <a:rPr dirty="0" sz="1200" spc="-5">
                <a:latin typeface="Times New Roman"/>
                <a:cs typeface="Times New Roman"/>
              </a:rPr>
              <a:t>fashion, going </a:t>
            </a:r>
            <a:r>
              <a:rPr dirty="0" sz="1200">
                <a:latin typeface="Times New Roman"/>
                <a:cs typeface="Times New Roman"/>
              </a:rPr>
              <a:t>from general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 important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-5">
                <a:latin typeface="Times New Roman"/>
                <a:cs typeface="Times New Roman"/>
              </a:rPr>
              <a:t> important,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1: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From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general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specific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focusing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high-level category and talking about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parts, that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from general to specific,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>
                <a:latin typeface="Times New Roman"/>
                <a:cs typeface="Times New Roman"/>
              </a:rPr>
              <a:t> can </a:t>
            </a:r>
            <a:r>
              <a:rPr dirty="0" sz="1200" spc="-5">
                <a:latin typeface="Times New Roman"/>
                <a:cs typeface="Times New Roman"/>
              </a:rPr>
              <a:t>be used: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666494" y="3567684"/>
          <a:ext cx="4086225" cy="9918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83080"/>
                <a:gridCol w="2293620"/>
              </a:tblGrid>
              <a:tr h="196595"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made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up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5834"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can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divided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composed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comprises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6240">
                <a:tc>
                  <a:txBody>
                    <a:bodyPr/>
                    <a:lstStyle/>
                    <a:p>
                      <a:pPr marL="68580" marR="1199515">
                        <a:lnSpc>
                          <a:spcPts val="1380"/>
                        </a:lnSpc>
                        <a:spcBef>
                          <a:spcPts val="2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has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includes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consists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4884673"/>
            <a:ext cx="5629275" cy="371347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825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classification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singular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verbs,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unless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5">
                <a:latin typeface="Times New Roman"/>
                <a:cs typeface="Times New Roman"/>
              </a:rPr>
              <a:t> analyzed simultaneously.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469900" marR="7620" indent="-228600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ts val="1315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r>
              <a:rPr dirty="0" sz="1200">
                <a:latin typeface="Times New Roman"/>
                <a:cs typeface="Times New Roman"/>
              </a:rPr>
              <a:t> the control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>
                <a:latin typeface="Times New Roman"/>
                <a:cs typeface="Times New Roman"/>
              </a:rPr>
              <a:t> unit,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469900" marR="5080" indent="-22860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469900" marR="635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parts: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 marL="469900" marR="6985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composed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memory.</a:t>
            </a:r>
            <a:endParaRPr sz="1200">
              <a:latin typeface="Times New Roman"/>
              <a:cs typeface="Times New Roman"/>
            </a:endParaRPr>
          </a:p>
          <a:p>
            <a:pPr marL="469900" marR="6985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From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specific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general: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98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classification,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(or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lower-level)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73200" y="8565133"/>
            <a:ext cx="567690" cy="5581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080">
              <a:lnSpc>
                <a:spcPct val="9560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are…. of 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up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44325" y="8565133"/>
            <a:ext cx="619125" cy="5581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>
              <a:lnSpc>
                <a:spcPct val="9560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constitute 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classification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lower-level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categories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focus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classification.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469900" marR="271145" indent="-22860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CPU.</a:t>
            </a:r>
            <a:endParaRPr sz="1200">
              <a:latin typeface="Times New Roman"/>
              <a:cs typeface="Times New Roman"/>
            </a:endParaRPr>
          </a:p>
          <a:p>
            <a:pPr marL="469900" marR="27051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up the </a:t>
            </a:r>
            <a:r>
              <a:rPr dirty="0" sz="1200" spc="-5">
                <a:latin typeface="Times New Roman"/>
                <a:cs typeface="Times New Roman"/>
              </a:rPr>
              <a:t>CPU.</a:t>
            </a:r>
            <a:endParaRPr sz="1200">
              <a:latin typeface="Times New Roman"/>
              <a:cs typeface="Times New Roman"/>
            </a:endParaRPr>
          </a:p>
          <a:p>
            <a:pPr marL="469900" marR="27051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CPU.</a:t>
            </a:r>
            <a:endParaRPr sz="1200">
              <a:latin typeface="Times New Roman"/>
              <a:cs typeface="Times New Roman"/>
            </a:endParaRPr>
          </a:p>
          <a:p>
            <a:pPr marL="469900" marR="27051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-logical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constitute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CPU.</a:t>
            </a:r>
            <a:endParaRPr sz="1200">
              <a:latin typeface="Times New Roman"/>
              <a:cs typeface="Times New Roman"/>
            </a:endParaRPr>
          </a:p>
          <a:p>
            <a:pPr marL="469900" marR="269875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CPU.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N.B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active/passive</a:t>
            </a:r>
            <a:r>
              <a:rPr dirty="0" sz="1200">
                <a:latin typeface="Times New Roman"/>
                <a:cs typeface="Times New Roman"/>
              </a:rPr>
              <a:t> pairs such </a:t>
            </a:r>
            <a:r>
              <a:rPr dirty="0" sz="1200" spc="-5">
                <a:latin typeface="Times New Roman"/>
                <a:cs typeface="Times New Roman"/>
              </a:rPr>
              <a:t>as made </a:t>
            </a:r>
            <a:r>
              <a:rPr dirty="0" sz="1200">
                <a:latin typeface="Times New Roman"/>
                <a:cs typeface="Times New Roman"/>
              </a:rPr>
              <a:t>up and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up are not interchangeable.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2103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CPU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 unit,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(from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specific).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Not: </a:t>
            </a:r>
            <a:r>
              <a:rPr dirty="0" sz="1200" spc="-5">
                <a:latin typeface="Times New Roman"/>
                <a:cs typeface="Times New Roman"/>
              </a:rPr>
              <a:t>‘The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CPU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control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</a:t>
            </a:r>
            <a:r>
              <a:rPr dirty="0" sz="1200">
                <a:latin typeface="Times New Roman"/>
                <a:cs typeface="Times New Roman"/>
              </a:rPr>
              <a:t> unit,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memory.’</a:t>
            </a:r>
            <a:endParaRPr sz="1200">
              <a:latin typeface="Times New Roman"/>
              <a:cs typeface="Times New Roman"/>
            </a:endParaRPr>
          </a:p>
          <a:p>
            <a:pPr marL="12700" marR="285115">
              <a:lnSpc>
                <a:spcPts val="1380"/>
              </a:lnSpc>
              <a:spcBef>
                <a:spcPts val="70"/>
              </a:spcBef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Not:	</a:t>
            </a:r>
            <a:r>
              <a:rPr dirty="0" sz="1200" spc="-5">
                <a:latin typeface="Times New Roman"/>
                <a:cs typeface="Times New Roman"/>
              </a:rPr>
              <a:t>‘The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arithmetic-logical </a:t>
            </a:r>
            <a:r>
              <a:rPr dirty="0" sz="1200">
                <a:latin typeface="Times New Roman"/>
                <a:cs typeface="Times New Roman"/>
              </a:rPr>
              <a:t>unit,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>
                <a:latin typeface="Times New Roman"/>
                <a:cs typeface="Times New Roman"/>
              </a:rPr>
              <a:t> of the </a:t>
            </a:r>
            <a:r>
              <a:rPr dirty="0" sz="1200" spc="-5">
                <a:latin typeface="Times New Roman"/>
                <a:cs typeface="Times New Roman"/>
              </a:rPr>
              <a:t>CPU.’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Finally, understanding classification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for understanding and recognizing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42100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four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 </a:t>
            </a:r>
            <a:r>
              <a:rPr dirty="0" sz="1200" spc="-5">
                <a:latin typeface="Times New Roman"/>
                <a:cs typeface="Times New Roman"/>
              </a:rPr>
              <a:t>components: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processor, </a:t>
            </a:r>
            <a:r>
              <a:rPr dirty="0" sz="1200" spc="-5">
                <a:latin typeface="Times New Roman"/>
                <a:cs typeface="Times New Roman"/>
              </a:rPr>
              <a:t>memory,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output.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CPU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parts: the …………control unit…………. which directs and controls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commands inside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processor,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………arithmetic-logical…………...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 which does the </a:t>
            </a:r>
            <a:r>
              <a:rPr dirty="0" sz="1200" spc="-5">
                <a:latin typeface="Times New Roman"/>
                <a:cs typeface="Times New Roman"/>
              </a:rPr>
              <a:t>arithmetic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 and the </a:t>
            </a:r>
            <a:r>
              <a:rPr dirty="0" sz="1200" spc="-5">
                <a:latin typeface="Times New Roman"/>
                <a:cs typeface="Times New Roman"/>
              </a:rPr>
              <a:t>decision-making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operations. </a:t>
            </a:r>
            <a:r>
              <a:rPr dirty="0" sz="1200" spc="-5">
                <a:latin typeface="Times New Roman"/>
                <a:cs typeface="Times New Roman"/>
              </a:rPr>
              <a:t>While</a:t>
            </a:r>
            <a:r>
              <a:rPr dirty="0" sz="1200">
                <a:latin typeface="Times New Roman"/>
                <a:cs typeface="Times New Roman"/>
              </a:rPr>
              <a:t> the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…control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unit………….….……is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made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………register…….…….,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 marR="3219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………decoder………….,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a……counter……………….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a…………clock……………,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…ALU………………….. is </a:t>
            </a:r>
            <a:r>
              <a:rPr dirty="0" sz="1200">
                <a:latin typeface="Times New Roman"/>
                <a:cs typeface="Times New Roman"/>
              </a:rPr>
              <a:t>composed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……registers………….., a………binary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adders………….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…circuitry……………..,which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compares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results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comparisons.</a:t>
            </a:r>
            <a:endParaRPr sz="1200">
              <a:latin typeface="Times New Roman"/>
              <a:cs typeface="Times New Roman"/>
            </a:endParaRPr>
          </a:p>
          <a:p>
            <a:pPr marL="12700" marR="28130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……primary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memory………………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 location inside the </a:t>
            </a:r>
            <a:r>
              <a:rPr dirty="0" sz="1200" spc="-5">
                <a:latin typeface="Times New Roman"/>
                <a:cs typeface="Times New Roman"/>
              </a:rPr>
              <a:t>computer, </a:t>
            </a:r>
            <a:r>
              <a:rPr dirty="0" sz="1200">
                <a:latin typeface="Times New Roman"/>
                <a:cs typeface="Times New Roman"/>
              </a:rPr>
              <a:t>whereas………secondary </a:t>
            </a:r>
            <a:r>
              <a:rPr dirty="0" sz="1200" spc="-5">
                <a:latin typeface="Times New Roman"/>
                <a:cs typeface="Times New Roman"/>
              </a:rPr>
              <a:t>memory……………. </a:t>
            </a:r>
            <a:r>
              <a:rPr dirty="0" sz="1200">
                <a:latin typeface="Times New Roman"/>
                <a:cs typeface="Times New Roman"/>
              </a:rPr>
              <a:t>refers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embodied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peripherals…………core……….. </a:t>
            </a:r>
            <a:r>
              <a:rPr dirty="0" sz="1200">
                <a:latin typeface="Times New Roman"/>
                <a:cs typeface="Times New Roman"/>
              </a:rPr>
              <a:t>can 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 into three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types:……chip……………………., ………………… and ………bubble………… on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grouped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……secondary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memory…………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(………………) or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……sequential……………..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(…………….).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…………tape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access……….,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 marR="30099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…………disk………,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a……input……….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…card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reader………………..These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 </a:t>
            </a:r>
            <a:r>
              <a:rPr dirty="0" sz="1200" spc="-5">
                <a:latin typeface="Times New Roman"/>
                <a:cs typeface="Times New Roman"/>
              </a:rPr>
              <a:t>has operated </a:t>
            </a:r>
            <a:r>
              <a:rPr dirty="0" sz="1200">
                <a:latin typeface="Times New Roman"/>
                <a:cs typeface="Times New Roman"/>
              </a:rPr>
              <a:t>on it,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…tape </a:t>
            </a:r>
            <a:r>
              <a:rPr dirty="0" sz="1200">
                <a:latin typeface="Times New Roman"/>
                <a:cs typeface="Times New Roman"/>
              </a:rPr>
              <a:t> drive………………….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display the</a:t>
            </a:r>
            <a:r>
              <a:rPr dirty="0" sz="1200" spc="-5">
                <a:latin typeface="Times New Roman"/>
                <a:cs typeface="Times New Roman"/>
              </a:rPr>
              <a:t> results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computations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either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 marR="66230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……………disk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drive………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……terminal…...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 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tape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future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134</a:t>
            </a:fld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9275" cy="63423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71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devices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it,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……………output………. devices </a:t>
            </a:r>
            <a:r>
              <a:rPr dirty="0" sz="1200" spc="-5">
                <a:latin typeface="Times New Roman"/>
                <a:cs typeface="Times New Roman"/>
              </a:rPr>
              <a:t>display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either 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………printer……………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…terminal…...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-5">
                <a:latin typeface="Times New Roman"/>
                <a:cs typeface="Times New Roman"/>
              </a:rPr>
              <a:t> 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tape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 use.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>
                <a:latin typeface="Times New Roman"/>
                <a:cs typeface="Times New Roman"/>
              </a:rPr>
              <a:t>the diagram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below,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the paragraph that follows.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Copy</a:t>
            </a:r>
            <a:r>
              <a:rPr dirty="0" sz="1200" b="1">
                <a:latin typeface="Times New Roman"/>
                <a:cs typeface="Times New Roman"/>
              </a:rPr>
              <a:t> from </a:t>
            </a:r>
            <a:r>
              <a:rPr dirty="0" sz="1200" spc="-5" b="1">
                <a:latin typeface="Times New Roman"/>
                <a:cs typeface="Times New Roman"/>
              </a:rPr>
              <a:t>slide</a:t>
            </a:r>
            <a:r>
              <a:rPr dirty="0" sz="1200" b="1">
                <a:latin typeface="Times New Roman"/>
                <a:cs typeface="Times New Roman"/>
              </a:rPr>
              <a:t> 64</a:t>
            </a:r>
            <a:endParaRPr sz="1200">
              <a:latin typeface="Times New Roman"/>
              <a:cs typeface="Times New Roman"/>
            </a:endParaRPr>
          </a:p>
          <a:p>
            <a:pPr marL="1689100">
              <a:lnSpc>
                <a:spcPts val="1385"/>
              </a:lnSpc>
            </a:pPr>
            <a:r>
              <a:rPr dirty="0" sz="1200" spc="-5" b="1">
                <a:latin typeface="Times New Roman"/>
                <a:cs typeface="Times New Roman"/>
              </a:rPr>
              <a:t>A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computer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system</a:t>
            </a:r>
            <a:endParaRPr sz="1200">
              <a:latin typeface="Times New Roman"/>
              <a:cs typeface="Times New Roman"/>
            </a:endParaRPr>
          </a:p>
          <a:p>
            <a:pPr algn="ctr" marR="710565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CPU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tabLst>
                <a:tab pos="2787015" algn="l"/>
                <a:tab pos="3053715" algn="l"/>
                <a:tab pos="5465445" algn="l"/>
              </a:tabLst>
            </a:pPr>
            <a:r>
              <a:rPr dirty="0" sz="1200" spc="-5">
                <a:latin typeface="Times New Roman"/>
                <a:cs typeface="Times New Roman"/>
              </a:rPr>
              <a:t>A computer has </a:t>
            </a:r>
            <a:r>
              <a:rPr dirty="0" sz="1200">
                <a:latin typeface="Times New Roman"/>
                <a:cs typeface="Times New Roman"/>
              </a:rPr>
              <a:t>four basic </a:t>
            </a:r>
            <a:r>
              <a:rPr dirty="0" sz="1200" spc="-5">
                <a:latin typeface="Times New Roman"/>
                <a:cs typeface="Times New Roman"/>
              </a:rPr>
              <a:t>Components: </a:t>
            </a:r>
            <a:r>
              <a:rPr dirty="0" sz="1200">
                <a:latin typeface="Times New Roman"/>
                <a:cs typeface="Times New Roman"/>
              </a:rPr>
              <a:t>input, processor, </a:t>
            </a:r>
            <a:r>
              <a:rPr dirty="0" sz="1200" spc="-5">
                <a:latin typeface="Times New Roman"/>
                <a:cs typeface="Times New Roman"/>
              </a:rPr>
              <a:t>memory, </a:t>
            </a:r>
            <a:r>
              <a:rPr dirty="0" sz="1200">
                <a:latin typeface="Times New Roman"/>
                <a:cs typeface="Times New Roman"/>
              </a:rPr>
              <a:t>and output. The </a:t>
            </a:r>
            <a:r>
              <a:rPr dirty="0" sz="1200" spc="-5">
                <a:latin typeface="Times New Roman"/>
                <a:cs typeface="Times New Roman"/>
              </a:rPr>
              <a:t>CPU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parts: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commands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processor,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unit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arithmetic </a:t>
            </a:r>
            <a:r>
              <a:rPr dirty="0" sz="1200">
                <a:latin typeface="Times New Roman"/>
                <a:cs typeface="Times New Roman"/>
              </a:rPr>
              <a:t>operations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  <a:tabLst>
                <a:tab pos="622300" algn="l"/>
                <a:tab pos="2256155" algn="l"/>
                <a:tab pos="3242310" algn="l"/>
                <a:tab pos="537591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,  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 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composed  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 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380"/>
              </a:lnSpc>
              <a:spcBef>
                <a:spcPts val="65"/>
              </a:spcBef>
              <a:tabLst>
                <a:tab pos="546100" algn="l"/>
                <a:tab pos="137604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 which compares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decisions based on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comparisons.</a:t>
            </a: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  <a:tabLst>
                <a:tab pos="1700530" algn="l"/>
                <a:tab pos="2873375" algn="l"/>
                <a:tab pos="2898775" algn="l"/>
                <a:tab pos="4054475" algn="l"/>
                <a:tab pos="5455920" algn="l"/>
                <a:tab pos="561276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internal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locations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whereas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storage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embodied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peripherals  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types: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  <a:tabLst>
                <a:tab pos="546100" algn="l"/>
                <a:tab pos="3872865" algn="l"/>
                <a:tab pos="4575175" algn="l"/>
                <a:tab pos="552259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)    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  <a:tabLst>
                <a:tab pos="6223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  <a:tabLst>
                <a:tab pos="1111250" algn="l"/>
                <a:tab pos="3620770" algn="l"/>
                <a:tab pos="4382770" algn="l"/>
                <a:tab pos="52203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10788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6985">
              <a:lnSpc>
                <a:spcPts val="1380"/>
              </a:lnSpc>
              <a:spcBef>
                <a:spcPts val="65"/>
              </a:spcBef>
              <a:tabLst>
                <a:tab pos="911860" algn="l"/>
                <a:tab pos="5284470" algn="l"/>
              </a:tabLst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Devices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it,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devices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display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computations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tabLst>
                <a:tab pos="7747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tape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Answer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four basic</a:t>
            </a:r>
            <a:r>
              <a:rPr dirty="0" sz="1200" spc="-5">
                <a:latin typeface="Times New Roman"/>
                <a:cs typeface="Times New Roman"/>
              </a:rPr>
              <a:t> components: </a:t>
            </a:r>
            <a:r>
              <a:rPr dirty="0" sz="1200">
                <a:latin typeface="Times New Roman"/>
                <a:cs typeface="Times New Roman"/>
              </a:rPr>
              <a:t>input,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Processor, memory, </a:t>
            </a:r>
            <a:r>
              <a:rPr dirty="0" sz="1200">
                <a:latin typeface="Times New Roman"/>
                <a:cs typeface="Times New Roman"/>
              </a:rPr>
              <a:t>and output. The </a:t>
            </a:r>
            <a:r>
              <a:rPr dirty="0" sz="1200" spc="-5">
                <a:latin typeface="Times New Roman"/>
                <a:cs typeface="Times New Roman"/>
              </a:rPr>
              <a:t>CPU consists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parts: 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Control unit</a:t>
            </a:r>
            <a:r>
              <a:rPr dirty="0" sz="1200">
                <a:latin typeface="Times New Roman"/>
                <a:cs typeface="Times New Roman"/>
              </a:rPr>
              <a:t>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directs and controls the </a:t>
            </a:r>
            <a:r>
              <a:rPr dirty="0" sz="1200" spc="-5">
                <a:latin typeface="Times New Roman"/>
                <a:cs typeface="Times New Roman"/>
              </a:rPr>
              <a:t>signals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commands inside the processor,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arithmetic-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logical</a:t>
            </a:r>
            <a:r>
              <a:rPr dirty="0" sz="1200" spc="-5">
                <a:latin typeface="Times New Roman"/>
                <a:cs typeface="Times New Roman"/>
              </a:rPr>
              <a:t> which </a:t>
            </a:r>
            <a:r>
              <a:rPr dirty="0" sz="1200">
                <a:latin typeface="Times New Roman"/>
                <a:cs typeface="Times New Roman"/>
              </a:rPr>
              <a:t>does the </a:t>
            </a:r>
            <a:r>
              <a:rPr dirty="0" sz="1200" spc="-5">
                <a:latin typeface="Times New Roman"/>
                <a:cs typeface="Times New Roman"/>
              </a:rPr>
              <a:t>arithmetic operations and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decision making operations. While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Control unit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made </a:t>
            </a:r>
            <a:r>
              <a:rPr dirty="0" sz="1200">
                <a:latin typeface="Times New Roman"/>
                <a:cs typeface="Times New Roman"/>
              </a:rPr>
              <a:t>up of 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register,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decoder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counter</a:t>
            </a:r>
            <a:r>
              <a:rPr dirty="0" sz="1200">
                <a:latin typeface="Times New Roman"/>
                <a:cs typeface="Times New Roman"/>
              </a:rPr>
              <a:t>, and 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clock</a:t>
            </a:r>
            <a:r>
              <a:rPr dirty="0" sz="1200">
                <a:latin typeface="Times New Roman"/>
                <a:cs typeface="Times New Roman"/>
              </a:rPr>
              <a:t>, the_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ALU</a:t>
            </a:r>
            <a:r>
              <a:rPr dirty="0" sz="1200" spc="-5">
                <a:latin typeface="Times New Roman"/>
                <a:cs typeface="Times New Roman"/>
              </a:rPr>
              <a:t>_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composed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registers</a:t>
            </a:r>
            <a:r>
              <a:rPr dirty="0" sz="1200">
                <a:latin typeface="Times New Roman"/>
                <a:cs typeface="Times New Roman"/>
              </a:rPr>
              <a:t>, a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binary adder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Circuitry</a:t>
            </a:r>
            <a:r>
              <a:rPr dirty="0" sz="1200">
                <a:latin typeface="Times New Roman"/>
                <a:cs typeface="Times New Roman"/>
              </a:rPr>
              <a:t>, which </a:t>
            </a:r>
            <a:r>
              <a:rPr dirty="0" sz="1200" spc="-5">
                <a:latin typeface="Times New Roman"/>
                <a:cs typeface="Times New Roman"/>
              </a:rPr>
              <a:t>compares information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decisions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comparisons.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computer,</a:t>
            </a:r>
            <a:r>
              <a:rPr dirty="0" sz="1200">
                <a:latin typeface="Times New Roman"/>
                <a:cs typeface="Times New Roman"/>
              </a:rPr>
              <a:t> internal </a:t>
            </a:r>
            <a:r>
              <a:rPr dirty="0" sz="1200" spc="-5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or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locations </a:t>
            </a:r>
            <a:r>
              <a:rPr dirty="0" sz="1200" spc="-5">
                <a:latin typeface="Times New Roman"/>
                <a:cs typeface="Times New Roman"/>
              </a:rPr>
              <a:t>inside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computer, </a:t>
            </a:r>
            <a:r>
              <a:rPr dirty="0" sz="1200">
                <a:latin typeface="Times New Roman"/>
                <a:cs typeface="Times New Roman"/>
              </a:rPr>
              <a:t>whereas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secondary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memory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refers</a:t>
            </a:r>
            <a:r>
              <a:rPr dirty="0" sz="1200">
                <a:latin typeface="Times New Roman"/>
                <a:cs typeface="Times New Roman"/>
              </a:rPr>
              <a:t> to the storage </a:t>
            </a:r>
            <a:r>
              <a:rPr dirty="0" sz="1200" spc="-5">
                <a:latin typeface="Times New Roman"/>
                <a:cs typeface="Times New Roman"/>
              </a:rPr>
              <a:t>embodied </a:t>
            </a:r>
            <a:r>
              <a:rPr dirty="0" sz="1200">
                <a:latin typeface="Times New Roman"/>
                <a:cs typeface="Times New Roman"/>
              </a:rPr>
              <a:t>in the peripherals.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Primary memory</a:t>
            </a:r>
            <a:r>
              <a:rPr dirty="0" sz="1200">
                <a:latin typeface="Times New Roman"/>
                <a:cs typeface="Times New Roman"/>
              </a:rPr>
              <a:t> can be divided 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core, chip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bubble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6488644" y="7398511"/>
            <a:ext cx="153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398511"/>
            <a:ext cx="518604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38100">
              <a:lnSpc>
                <a:spcPts val="1380"/>
              </a:lnSpc>
              <a:spcBef>
                <a:spcPts val="1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Secondary</a:t>
            </a:r>
            <a:r>
              <a:rPr dirty="0" u="sng" sz="120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memory,</a:t>
            </a:r>
            <a:r>
              <a:rPr dirty="0" u="sng" sz="1200" spc="1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hand,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grouped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sequential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 spc="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tape</a:t>
            </a:r>
            <a:r>
              <a:rPr dirty="0" u="sng" sz="1200" spc="1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random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access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input </a:t>
            </a:r>
            <a:r>
              <a:rPr dirty="0" sz="1200">
                <a:latin typeface="Times New Roman"/>
                <a:cs typeface="Times New Roman"/>
              </a:rPr>
              <a:t>devices 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either a </a:t>
            </a:r>
            <a:r>
              <a:rPr dirty="0" sz="1200" spc="-5">
                <a:latin typeface="Times New Roman"/>
                <a:cs typeface="Times New Roman"/>
              </a:rPr>
              <a:t>card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reader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tape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drive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disk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drive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terminal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7924290"/>
            <a:ext cx="5626735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devices enter information </a:t>
            </a:r>
            <a:r>
              <a:rPr dirty="0" sz="1200">
                <a:latin typeface="Times New Roman"/>
                <a:cs typeface="Times New Roman"/>
              </a:rPr>
              <a:t>into the </a:t>
            </a:r>
            <a:r>
              <a:rPr dirty="0" sz="1200" spc="-5">
                <a:latin typeface="Times New Roman"/>
                <a:cs typeface="Times New Roman"/>
              </a:rPr>
              <a:t>computer. </a:t>
            </a:r>
            <a:r>
              <a:rPr dirty="0" sz="1200">
                <a:latin typeface="Times New Roman"/>
                <a:cs typeface="Times New Roman"/>
              </a:rPr>
              <a:t>After the processor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operated on it,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output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devices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display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computations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printer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terminal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 them on tape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disk for future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pattern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followed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scanning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vocabulary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62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exercise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content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review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exploring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texts</a:t>
            </a:r>
            <a:r>
              <a:rPr dirty="0" sz="1200">
                <a:latin typeface="Times New Roman"/>
                <a:cs typeface="Times New Roman"/>
              </a:rPr>
              <a:t> and working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English.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134</a:t>
            </a:fld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Reading: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Presenting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Information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Graphically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graphically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through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do exercises based on flow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read about </a:t>
            </a:r>
            <a:r>
              <a:rPr dirty="0" sz="1200" spc="-5">
                <a:latin typeface="Times New Roman"/>
                <a:cs typeface="Times New Roman"/>
              </a:rPr>
              <a:t>constructing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 </a:t>
            </a:r>
            <a:r>
              <a:rPr dirty="0" sz="1200">
                <a:latin typeface="Times New Roman"/>
                <a:cs typeface="Times New Roman"/>
              </a:rPr>
              <a:t>charts.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Flowcharting: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mainly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imperative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written.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activities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computers,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 is </a:t>
            </a:r>
            <a:r>
              <a:rPr dirty="0" sz="1200">
                <a:latin typeface="Times New Roman"/>
                <a:cs typeface="Times New Roman"/>
              </a:rPr>
              <a:t>aware of what the </a:t>
            </a:r>
            <a:r>
              <a:rPr dirty="0" sz="1200" spc="-5">
                <a:latin typeface="Times New Roman"/>
                <a:cs typeface="Times New Roman"/>
              </a:rPr>
              <a:t>machine is </a:t>
            </a:r>
            <a:r>
              <a:rPr dirty="0" sz="1200">
                <a:latin typeface="Times New Roman"/>
                <a:cs typeface="Times New Roman"/>
              </a:rPr>
              <a:t>doing and what a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supposed to do.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previously </a:t>
            </a:r>
            <a:r>
              <a:rPr dirty="0" sz="1200" spc="-5">
                <a:latin typeface="Times New Roman"/>
                <a:cs typeface="Times New Roman"/>
              </a:rPr>
              <a:t>mentioned </a:t>
            </a:r>
            <a:r>
              <a:rPr dirty="0" sz="1200">
                <a:latin typeface="Times New Roman"/>
                <a:cs typeface="Times New Roman"/>
              </a:rPr>
              <a:t>flowcharting, one </a:t>
            </a:r>
            <a:r>
              <a:rPr dirty="0" sz="1200" spc="-5">
                <a:latin typeface="Times New Roman"/>
                <a:cs typeface="Times New Roman"/>
              </a:rPr>
              <a:t>of the steps in programming, indicates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</a:t>
            </a:r>
            <a:r>
              <a:rPr dirty="0" sz="1200">
                <a:latin typeface="Times New Roman"/>
                <a:cs typeface="Times New Roman"/>
              </a:rPr>
              <a:t> path the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</a:t>
            </a:r>
            <a:r>
              <a:rPr dirty="0" sz="1200">
                <a:latin typeface="Times New Roman"/>
                <a:cs typeface="Times New Roman"/>
              </a:rPr>
              <a:t> in executing a </a:t>
            </a:r>
            <a:r>
              <a:rPr dirty="0" sz="1200" spc="-5">
                <a:latin typeface="Times New Roman"/>
                <a:cs typeface="Times New Roman"/>
              </a:rPr>
              <a:t>program;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drawing very much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 a road </a:t>
            </a:r>
            <a:r>
              <a:rPr dirty="0" sz="1200" spc="-5">
                <a:latin typeface="Times New Roman"/>
                <a:cs typeface="Times New Roman"/>
              </a:rPr>
              <a:t>map. </a:t>
            </a:r>
            <a:r>
              <a:rPr dirty="0" sz="1200">
                <a:latin typeface="Times New Roman"/>
                <a:cs typeface="Times New Roman"/>
              </a:rPr>
              <a:t>Flowcharting </a:t>
            </a:r>
            <a:r>
              <a:rPr dirty="0" sz="1200" spc="-5">
                <a:latin typeface="Times New Roman"/>
                <a:cs typeface="Times New Roman"/>
              </a:rPr>
              <a:t>is not </a:t>
            </a:r>
            <a:r>
              <a:rPr dirty="0" sz="1200">
                <a:latin typeface="Times New Roman"/>
                <a:cs typeface="Times New Roman"/>
              </a:rPr>
              <a:t>restricted to the </a:t>
            </a:r>
            <a:r>
              <a:rPr dirty="0" sz="1200" spc="-5">
                <a:latin typeface="Times New Roman"/>
                <a:cs typeface="Times New Roman"/>
              </a:rPr>
              <a:t>preparation </a:t>
            </a:r>
            <a:r>
              <a:rPr dirty="0" sz="1200">
                <a:latin typeface="Times New Roman"/>
                <a:cs typeface="Times New Roman"/>
              </a:rPr>
              <a:t>of program </a:t>
            </a:r>
            <a:r>
              <a:rPr dirty="0" sz="1200" spc="-5">
                <a:latin typeface="Times New Roman"/>
                <a:cs typeface="Times New Roman"/>
              </a:rPr>
              <a:t>sin </a:t>
            </a:r>
            <a:r>
              <a:rPr dirty="0" sz="1200">
                <a:latin typeface="Times New Roman"/>
                <a:cs typeface="Times New Roman"/>
              </a:rPr>
              <a:t>a particular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should be done for each </a:t>
            </a:r>
            <a:r>
              <a:rPr dirty="0" sz="1200" spc="-5">
                <a:latin typeface="Times New Roman"/>
                <a:cs typeface="Times New Roman"/>
              </a:rPr>
              <a:t>major problem </a:t>
            </a:r>
            <a:r>
              <a:rPr dirty="0" sz="1200">
                <a:latin typeface="Times New Roman"/>
                <a:cs typeface="Times New Roman"/>
              </a:rPr>
              <a:t>before the writing of the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attempted.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 the finished program does not run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should, the errors are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easily detected on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in the maze of </a:t>
            </a:r>
            <a:r>
              <a:rPr dirty="0" sz="1200" spc="-5">
                <a:latin typeface="Times New Roman"/>
                <a:cs typeface="Times New Roman"/>
              </a:rPr>
              <a:t>words, characters,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numbers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up the computer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successfully,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aware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 of steps needed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obtain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problem.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two ways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a flowchart: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freehand version and the neater,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readable version. In the former </a:t>
            </a:r>
            <a:r>
              <a:rPr dirty="0" sz="1200">
                <a:latin typeface="Times New Roman"/>
                <a:cs typeface="Times New Roman"/>
              </a:rPr>
              <a:t>version, the graphic outlines are </a:t>
            </a:r>
            <a:r>
              <a:rPr dirty="0" sz="1200" spc="-5">
                <a:latin typeface="Times New Roman"/>
                <a:cs typeface="Times New Roman"/>
              </a:rPr>
              <a:t>simply </a:t>
            </a:r>
            <a:r>
              <a:rPr dirty="0" sz="1200">
                <a:latin typeface="Times New Roman"/>
                <a:cs typeface="Times New Roman"/>
              </a:rPr>
              <a:t>jotted down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 </a:t>
            </a:r>
            <a:r>
              <a:rPr dirty="0" sz="1200">
                <a:latin typeface="Times New Roman"/>
                <a:cs typeface="Times New Roman"/>
              </a:rPr>
              <a:t>of the program are worked </a:t>
            </a:r>
            <a:r>
              <a:rPr dirty="0" sz="1200" spc="-5">
                <a:latin typeface="Times New Roman"/>
                <a:cs typeface="Times New Roman"/>
              </a:rPr>
              <a:t>out.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quite satisfactory if the flowchart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intended to be kept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permanent </a:t>
            </a:r>
            <a:r>
              <a:rPr dirty="0" sz="1200">
                <a:latin typeface="Times New Roman"/>
                <a:cs typeface="Times New Roman"/>
              </a:rPr>
              <a:t>record. However, if a </a:t>
            </a:r>
            <a:r>
              <a:rPr dirty="0" sz="1200" spc="-5">
                <a:latin typeface="Times New Roman"/>
                <a:cs typeface="Times New Roman"/>
              </a:rPr>
              <a:t>permanent, </a:t>
            </a:r>
            <a:r>
              <a:rPr dirty="0" sz="1200">
                <a:latin typeface="Times New Roman"/>
                <a:cs typeface="Times New Roman"/>
              </a:rPr>
              <a:t>neater and more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readable flowchart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needed, the latter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whereby a </a:t>
            </a:r>
            <a:r>
              <a:rPr dirty="0" sz="1200" spc="-5">
                <a:latin typeface="Times New Roman"/>
                <a:cs typeface="Times New Roman"/>
              </a:rPr>
              <a:t>template, </a:t>
            </a:r>
            <a:r>
              <a:rPr dirty="0" sz="1200">
                <a:latin typeface="Times New Roman"/>
                <a:cs typeface="Times New Roman"/>
              </a:rPr>
              <a:t>a sheet of plastic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flowcharting </a:t>
            </a:r>
            <a:r>
              <a:rPr dirty="0" sz="1200">
                <a:latin typeface="Times New Roman"/>
                <a:cs typeface="Times New Roman"/>
              </a:rPr>
              <a:t>symbols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used.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symbols </a:t>
            </a:r>
            <a:r>
              <a:rPr dirty="0" sz="1200">
                <a:latin typeface="Times New Roman"/>
                <a:cs typeface="Times New Roman"/>
              </a:rPr>
              <a:t>should be used for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purpose of </a:t>
            </a:r>
            <a:r>
              <a:rPr dirty="0" sz="1200" spc="-5">
                <a:latin typeface="Times New Roman"/>
                <a:cs typeface="Times New Roman"/>
              </a:rPr>
              <a:t>uniformity. </a:t>
            </a:r>
            <a:r>
              <a:rPr dirty="0" sz="1200">
                <a:latin typeface="Times New Roman"/>
                <a:cs typeface="Times New Roman"/>
              </a:rPr>
              <a:t>The first and last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 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</a:t>
            </a:r>
            <a:r>
              <a:rPr dirty="0" sz="1200">
                <a:latin typeface="Times New Roman"/>
                <a:cs typeface="Times New Roman"/>
              </a:rPr>
              <a:t> which indicates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 of a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word ‘START’ must be inserted inside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figure if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beginning of the program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‘STOP’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end of the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tabLst>
                <a:tab pos="1231265" algn="l"/>
                <a:tab pos="3240405" algn="l"/>
                <a:tab pos="354012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parallelogram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input/output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 that </a:t>
            </a:r>
            <a:r>
              <a:rPr dirty="0" sz="1200" spc="-5">
                <a:latin typeface="Times New Roman"/>
                <a:cs typeface="Times New Roman"/>
              </a:rPr>
              <a:t>something is either brought to or taken form the program. The rectangular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stands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 </a:t>
            </a:r>
            <a:r>
              <a:rPr dirty="0" sz="1200" spc="-5">
                <a:latin typeface="Times New Roman"/>
                <a:cs typeface="Times New Roman"/>
              </a:rPr>
              <a:t>action is </a:t>
            </a:r>
            <a:r>
              <a:rPr dirty="0" sz="1200">
                <a:latin typeface="Times New Roman"/>
                <a:cs typeface="Times New Roman"/>
              </a:rPr>
              <a:t>taken. In a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to indicate that a </a:t>
            </a:r>
            <a:r>
              <a:rPr dirty="0" sz="1200" spc="-5">
                <a:latin typeface="Times New Roman"/>
                <a:cs typeface="Times New Roman"/>
              </a:rPr>
              <a:t>decision has </a:t>
            </a:r>
            <a:r>
              <a:rPr dirty="0" sz="1200">
                <a:latin typeface="Times New Roman"/>
                <a:cs typeface="Times New Roman"/>
              </a:rPr>
              <a:t>to be </a:t>
            </a:r>
            <a:r>
              <a:rPr dirty="0" sz="1200" spc="-5">
                <a:latin typeface="Times New Roman"/>
                <a:cs typeface="Times New Roman"/>
              </a:rPr>
              <a:t>made,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diamond </a:t>
            </a:r>
            <a:r>
              <a:rPr dirty="0" sz="1200">
                <a:latin typeface="Times New Roman"/>
                <a:cs typeface="Times New Roman"/>
              </a:rPr>
              <a:t> shaped </a:t>
            </a:r>
            <a:r>
              <a:rPr dirty="0" sz="1200" spc="-5">
                <a:latin typeface="Times New Roman"/>
                <a:cs typeface="Times New Roman"/>
              </a:rPr>
              <a:t>symbol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dirty="0" sz="1200" spc="290">
                <a:latin typeface="Times New Roman"/>
                <a:cs typeface="Times New Roman"/>
              </a:rPr>
              <a:t> 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used. The decision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in the form of a question that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‘yes’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‘no’.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Finally,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arrows</a:t>
            </a:r>
            <a:r>
              <a:rPr dirty="0" u="sng" sz="1200" spc="3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program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performed.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 should be noted that </a:t>
            </a:r>
            <a:r>
              <a:rPr dirty="0" sz="1200" spc="-5">
                <a:latin typeface="Times New Roman"/>
                <a:cs typeface="Times New Roman"/>
              </a:rPr>
              <a:t>flowchart is not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but only a step in </a:t>
            </a:r>
            <a:r>
              <a:rPr dirty="0" sz="1200" spc="-5">
                <a:latin typeface="Times New Roman"/>
                <a:cs typeface="Times New Roman"/>
              </a:rPr>
              <a:t>the preparation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in </a:t>
            </a:r>
            <a:r>
              <a:rPr dirty="0" sz="1200" spc="-5">
                <a:latin typeface="Times New Roman"/>
                <a:cs typeface="Times New Roman"/>
              </a:rPr>
              <a:t>determining </a:t>
            </a:r>
            <a:r>
              <a:rPr dirty="0" sz="1200">
                <a:latin typeface="Times New Roman"/>
                <a:cs typeface="Times New Roman"/>
              </a:rPr>
              <a:t>how to step up and write the program. However, if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understood,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neither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correctly.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possible for two programmers </a:t>
            </a:r>
            <a:r>
              <a:rPr dirty="0" sz="1200">
                <a:latin typeface="Times New Roman"/>
                <a:cs typeface="Times New Roman"/>
              </a:rPr>
              <a:t>working </a:t>
            </a:r>
            <a:r>
              <a:rPr dirty="0" sz="1200" spc="-5">
                <a:latin typeface="Times New Roman"/>
                <a:cs typeface="Times New Roman"/>
              </a:rPr>
              <a:t>separately; </a:t>
            </a:r>
            <a:r>
              <a:rPr dirty="0" sz="1200">
                <a:latin typeface="Times New Roman"/>
                <a:cs typeface="Times New Roman"/>
              </a:rPr>
              <a:t>to write </a:t>
            </a:r>
            <a:r>
              <a:rPr dirty="0" sz="1200" spc="-5">
                <a:latin typeface="Times New Roman"/>
                <a:cs typeface="Times New Roman"/>
              </a:rPr>
              <a:t>programs </a:t>
            </a:r>
            <a:r>
              <a:rPr dirty="0" sz="1200">
                <a:latin typeface="Times New Roman"/>
                <a:cs typeface="Times New Roman"/>
              </a:rPr>
              <a:t>to solve </a:t>
            </a:r>
            <a:r>
              <a:rPr dirty="0" sz="1200" spc="-5">
                <a:latin typeface="Times New Roman"/>
                <a:cs typeface="Times New Roman"/>
              </a:rPr>
              <a:t>the same </a:t>
            </a:r>
            <a:r>
              <a:rPr dirty="0" sz="1200">
                <a:latin typeface="Times New Roman"/>
                <a:cs typeface="Times New Roman"/>
              </a:rPr>
              <a:t> 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up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flowcharts and</a:t>
            </a:r>
            <a:r>
              <a:rPr dirty="0" sz="1200" spc="-5">
                <a:latin typeface="Times New Roman"/>
                <a:cs typeface="Times New Roman"/>
              </a:rPr>
              <a:t> programs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altogether different.</a:t>
            </a: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>
                <a:latin typeface="Times New Roman"/>
                <a:cs typeface="Times New Roman"/>
              </a:rPr>
              <a:t>a program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worked out,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written </a:t>
            </a:r>
            <a:r>
              <a:rPr dirty="0" sz="1200" spc="-5">
                <a:latin typeface="Times New Roman"/>
                <a:cs typeface="Times New Roman"/>
              </a:rPr>
              <a:t>down </a:t>
            </a:r>
            <a:r>
              <a:rPr dirty="0" sz="1200">
                <a:latin typeface="Times New Roman"/>
                <a:cs typeface="Times New Roman"/>
              </a:rPr>
              <a:t>and kept with a copy of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 along with detailed instructions for the used and interpretation of the </a:t>
            </a:r>
            <a:r>
              <a:rPr dirty="0" sz="1200" spc="-5">
                <a:latin typeface="Times New Roman"/>
                <a:cs typeface="Times New Roman"/>
              </a:rPr>
              <a:t>program. </a:t>
            </a:r>
            <a:r>
              <a:rPr dirty="0" sz="1200">
                <a:latin typeface="Times New Roman"/>
                <a:cs typeface="Times New Roman"/>
              </a:rPr>
              <a:t> This procedure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part of what </a:t>
            </a:r>
            <a:r>
              <a:rPr dirty="0" sz="1200" spc="-5">
                <a:latin typeface="Times New Roman"/>
                <a:cs typeface="Times New Roman"/>
              </a:rPr>
              <a:t>is referred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program </a:t>
            </a:r>
            <a:r>
              <a:rPr dirty="0" sz="1200" spc="-5">
                <a:latin typeface="Times New Roman"/>
                <a:cs typeface="Times New Roman"/>
              </a:rPr>
              <a:t>documentation.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documentation </a:t>
            </a:r>
            <a:r>
              <a:rPr dirty="0" sz="1200">
                <a:latin typeface="Times New Roman"/>
                <a:cs typeface="Times New Roman"/>
              </a:rPr>
              <a:t> isn’t </a:t>
            </a:r>
            <a:r>
              <a:rPr dirty="0" sz="1200" spc="-5">
                <a:latin typeface="Times New Roman"/>
                <a:cs typeface="Times New Roman"/>
              </a:rPr>
              <a:t>available,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always possible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work </a:t>
            </a:r>
            <a:r>
              <a:rPr dirty="0" sz="1200">
                <a:latin typeface="Times New Roman"/>
                <a:cs typeface="Times New Roman"/>
              </a:rPr>
              <a:t>backwards </a:t>
            </a:r>
            <a:r>
              <a:rPr dirty="0" sz="1200" spc="-5">
                <a:latin typeface="Times New Roman"/>
                <a:cs typeface="Times New Roman"/>
              </a:rPr>
              <a:t>and make </a:t>
            </a:r>
            <a:r>
              <a:rPr dirty="0" sz="1200">
                <a:latin typeface="Times New Roman"/>
                <a:cs typeface="Times New Roman"/>
              </a:rPr>
              <a:t>a flowchart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original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134</a:t>
            </a:fld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missing,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preparatory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Flowcharting is </a:t>
            </a:r>
            <a:r>
              <a:rPr dirty="0" sz="1200">
                <a:latin typeface="Times New Roman"/>
                <a:cs typeface="Times New Roman"/>
              </a:rPr>
              <a:t>one of the first </a:t>
            </a:r>
            <a:r>
              <a:rPr dirty="0" sz="1200" spc="-5">
                <a:latin typeface="Times New Roman"/>
                <a:cs typeface="Times New Roman"/>
              </a:rPr>
              <a:t>things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student programmer is taught, because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flowchart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 how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person </a:t>
            </a:r>
            <a:r>
              <a:rPr dirty="0" sz="1200">
                <a:latin typeface="Times New Roman"/>
                <a:cs typeface="Times New Roman"/>
              </a:rPr>
              <a:t>thinks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problem. </a:t>
            </a:r>
            <a:r>
              <a:rPr dirty="0" sz="1200">
                <a:latin typeface="Times New Roman"/>
                <a:cs typeface="Times New Roman"/>
              </a:rPr>
              <a:t>In other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through this that a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reveals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</a:t>
            </a:r>
            <a:r>
              <a:rPr dirty="0" sz="1200">
                <a:latin typeface="Times New Roman"/>
                <a:cs typeface="Times New Roman"/>
              </a:rPr>
              <a:t> 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analytical</a:t>
            </a:r>
            <a:r>
              <a:rPr dirty="0" sz="1200">
                <a:latin typeface="Times New Roman"/>
                <a:cs typeface="Times New Roman"/>
              </a:rPr>
              <a:t> ability,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>
                <a:latin typeface="Times New Roman"/>
                <a:cs typeface="Times New Roman"/>
              </a:rPr>
              <a:t>Exercises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arabicPeriod"/>
              <a:tabLst>
                <a:tab pos="203835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text?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choices?</a:t>
            </a:r>
            <a:endParaRPr sz="1200">
              <a:latin typeface="Times New Roman"/>
              <a:cs typeface="Times New Roman"/>
            </a:endParaRPr>
          </a:p>
          <a:p>
            <a:pPr lvl="1" marL="622300" indent="-152400">
              <a:lnSpc>
                <a:spcPts val="1315"/>
              </a:lnSpc>
              <a:buAutoNum type="arabicPeriod"/>
              <a:tabLst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flowchart.</a:t>
            </a:r>
            <a:endParaRPr sz="1200">
              <a:latin typeface="Times New Roman"/>
              <a:cs typeface="Times New Roman"/>
            </a:endParaRPr>
          </a:p>
          <a:p>
            <a:pPr lvl="1" marL="622300" indent="-153035">
              <a:lnSpc>
                <a:spcPts val="1380"/>
              </a:lnSpc>
              <a:buAutoNum type="arabicPeriod"/>
              <a:tabLst>
                <a:tab pos="622935" algn="l"/>
              </a:tabLst>
            </a:pP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documentation </a:t>
            </a:r>
            <a:r>
              <a:rPr dirty="0" sz="1200">
                <a:latin typeface="Times New Roman"/>
                <a:cs typeface="Times New Roman"/>
              </a:rPr>
              <a:t>specifies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supposed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endParaRPr sz="1200">
              <a:latin typeface="Times New Roman"/>
              <a:cs typeface="Times New Roman"/>
            </a:endParaRPr>
          </a:p>
          <a:p>
            <a:pPr lvl="1" marL="622300" indent="-153035">
              <a:lnSpc>
                <a:spcPts val="1410"/>
              </a:lnSpc>
              <a:buAutoNum type="arabicPeriod"/>
              <a:tabLst>
                <a:tab pos="622935" algn="l"/>
              </a:tabLst>
            </a:pP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basic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Understanding the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Passage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</a:t>
            </a:r>
            <a:r>
              <a:rPr dirty="0" sz="1200">
                <a:latin typeface="Times New Roman"/>
                <a:cs typeface="Times New Roman"/>
              </a:rPr>
              <a:t> (T/F)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referring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in the text. Then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necessary </a:t>
            </a:r>
            <a:r>
              <a:rPr dirty="0" sz="1200">
                <a:latin typeface="Times New Roman"/>
                <a:cs typeface="Times New Roman"/>
              </a:rPr>
              <a:t>changes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that the false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account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steps </a:t>
            </a:r>
            <a:r>
              <a:rPr dirty="0" sz="1200">
                <a:latin typeface="Times New Roman"/>
                <a:cs typeface="Times New Roman"/>
              </a:rPr>
              <a:t>which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solve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template.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</a:t>
            </a:r>
            <a:r>
              <a:rPr dirty="0" sz="1200" spc="-5">
                <a:latin typeface="Times New Roman"/>
                <a:cs typeface="Times New Roman"/>
              </a:rPr>
              <a:t> must</a:t>
            </a:r>
            <a:r>
              <a:rPr dirty="0" sz="1200">
                <a:latin typeface="Times New Roman"/>
                <a:cs typeface="Times New Roman"/>
              </a:rPr>
              <a:t> learn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realize</a:t>
            </a:r>
            <a:r>
              <a:rPr dirty="0" sz="1200" spc="-5">
                <a:latin typeface="Times New Roman"/>
                <a:cs typeface="Times New Roman"/>
              </a:rPr>
              <a:t> its importance.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method </a:t>
            </a:r>
            <a:r>
              <a:rPr dirty="0" sz="1200">
                <a:latin typeface="Times New Roman"/>
                <a:cs typeface="Times New Roman"/>
              </a:rPr>
              <a:t>of flowcharting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programming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Flowcharts show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solve</a:t>
            </a:r>
            <a:r>
              <a:rPr dirty="0" sz="1200" spc="-5">
                <a:latin typeface="Times New Roman"/>
                <a:cs typeface="Times New Roman"/>
              </a:rPr>
              <a:t> 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241300" marR="1360170" indent="-228600">
              <a:lnSpc>
                <a:spcPts val="1380"/>
              </a:lnSpc>
              <a:buAutoNum type="arabicPeriod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Documenting</a:t>
            </a:r>
            <a:r>
              <a:rPr dirty="0" sz="1200">
                <a:latin typeface="Times New Roman"/>
                <a:cs typeface="Times New Roman"/>
              </a:rPr>
              <a:t> a program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essential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explaining</a:t>
            </a:r>
            <a:r>
              <a:rPr dirty="0" sz="1200">
                <a:latin typeface="Times New Roman"/>
                <a:cs typeface="Times New Roman"/>
              </a:rPr>
              <a:t> what the program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If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symbol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-5">
                <a:latin typeface="Times New Roman"/>
                <a:cs typeface="Times New Roman"/>
              </a:rPr>
              <a:t> meaning.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2700" marR="2705100">
              <a:lnSpc>
                <a:spcPts val="1380"/>
              </a:lnSpc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Answer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ts val="1415"/>
              </a:lnSpc>
              <a:buAutoNum type="arabicPeriod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account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solve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415"/>
              </a:lnSpc>
            </a:pP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eriod" startAt="2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template.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139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7370" cy="6342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100"/>
              </a:spcBef>
              <a:buFont typeface="Times New Roman"/>
              <a:buAutoNum type="arabicPeriod" startAt="3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AutoNum type="arabicPeriod" startAt="3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 startAt="3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</a:t>
            </a:r>
            <a:r>
              <a:rPr dirty="0" sz="1200" spc="-5">
                <a:latin typeface="Times New Roman"/>
                <a:cs typeface="Times New Roman"/>
              </a:rPr>
              <a:t> must</a:t>
            </a:r>
            <a:r>
              <a:rPr dirty="0" sz="1200">
                <a:latin typeface="Times New Roman"/>
                <a:cs typeface="Times New Roman"/>
              </a:rPr>
              <a:t> learn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realize</a:t>
            </a:r>
            <a:r>
              <a:rPr dirty="0" sz="1200" spc="-5">
                <a:latin typeface="Times New Roman"/>
                <a:cs typeface="Times New Roman"/>
              </a:rPr>
              <a:t>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importance.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AutoNum type="arabicPeriod" startAt="3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ts val="1415"/>
              </a:lnSpc>
              <a:buAutoNum type="arabicPeriod" startAt="3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method </a:t>
            </a:r>
            <a:r>
              <a:rPr dirty="0" sz="1200">
                <a:latin typeface="Times New Roman"/>
                <a:cs typeface="Times New Roman"/>
              </a:rPr>
              <a:t>of flowcharting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the</a:t>
            </a:r>
            <a:r>
              <a:rPr dirty="0" sz="1200" spc="-5">
                <a:latin typeface="Times New Roman"/>
                <a:cs typeface="Times New Roman"/>
              </a:rPr>
              <a:t> programming</a:t>
            </a:r>
            <a:r>
              <a:rPr dirty="0" sz="1200">
                <a:latin typeface="Times New Roman"/>
                <a:cs typeface="Times New Roman"/>
              </a:rPr>
              <a:t> 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 algn="r" marR="941705">
              <a:lnSpc>
                <a:spcPts val="1415"/>
              </a:lnSpc>
            </a:pP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 startAt="6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Flowcharts show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solve</a:t>
            </a:r>
            <a:r>
              <a:rPr dirty="0" sz="1200" spc="-5">
                <a:latin typeface="Times New Roman"/>
                <a:cs typeface="Times New Roman"/>
              </a:rPr>
              <a:t> problem.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AutoNum type="arabicPeriod" startAt="6"/>
            </a:pPr>
            <a:endParaRPr sz="1200">
              <a:latin typeface="Times New Roman"/>
              <a:cs typeface="Times New Roman"/>
            </a:endParaRPr>
          </a:p>
          <a:p>
            <a:pPr marL="241300" marR="5715" indent="-228600">
              <a:lnSpc>
                <a:spcPts val="1380"/>
              </a:lnSpc>
              <a:spcBef>
                <a:spcPts val="5"/>
              </a:spcBef>
              <a:buAutoNum type="arabicPeriod" startAt="6"/>
              <a:tabLst>
                <a:tab pos="241300" algn="l"/>
                <a:tab pos="1217295" algn="l"/>
                <a:tab pos="1431925" algn="l"/>
                <a:tab pos="2094864" algn="l"/>
                <a:tab pos="2343785" algn="l"/>
                <a:tab pos="3016885" algn="l"/>
                <a:tab pos="3282315" algn="l"/>
                <a:tab pos="4073525" algn="l"/>
                <a:tab pos="4516755" algn="l"/>
                <a:tab pos="4849495" algn="l"/>
                <a:tab pos="5511800" algn="l"/>
              </a:tabLst>
            </a:pPr>
            <a:r>
              <a:rPr dirty="0" sz="1200">
                <a:latin typeface="Times New Roman"/>
                <a:cs typeface="Times New Roman"/>
              </a:rPr>
              <a:t>Docu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enting	a	program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	essential	in	expla</a:t>
            </a:r>
            <a:r>
              <a:rPr dirty="0" sz="1200" spc="-5">
                <a:latin typeface="Times New Roman"/>
                <a:cs typeface="Times New Roman"/>
              </a:rPr>
              <a:t>inin</a:t>
            </a:r>
            <a:r>
              <a:rPr dirty="0" sz="1200">
                <a:latin typeface="Times New Roman"/>
                <a:cs typeface="Times New Roman"/>
              </a:rPr>
              <a:t>g	</a:t>
            </a:r>
            <a:r>
              <a:rPr dirty="0" sz="1200" spc="-5">
                <a:latin typeface="Times New Roman"/>
                <a:cs typeface="Times New Roman"/>
              </a:rPr>
              <a:t>wha</a:t>
            </a:r>
            <a:r>
              <a:rPr dirty="0" sz="1200">
                <a:latin typeface="Times New Roman"/>
                <a:cs typeface="Times New Roman"/>
              </a:rPr>
              <a:t>t	the	</a:t>
            </a:r>
            <a:r>
              <a:rPr dirty="0" sz="1200" spc="-5">
                <a:latin typeface="Times New Roman"/>
                <a:cs typeface="Times New Roman"/>
              </a:rPr>
              <a:t>progra</a:t>
            </a:r>
            <a:r>
              <a:rPr dirty="0" sz="1200">
                <a:latin typeface="Times New Roman"/>
                <a:cs typeface="Times New Roman"/>
              </a:rPr>
              <a:t>m	</a:t>
            </a:r>
            <a:r>
              <a:rPr dirty="0" sz="1200" spc="-5">
                <a:latin typeface="Times New Roman"/>
                <a:cs typeface="Times New Roman"/>
              </a:rPr>
              <a:t>is  </a:t>
            </a:r>
            <a:r>
              <a:rPr dirty="0" sz="1200" spc="-5">
                <a:latin typeface="Times New Roman"/>
                <a:cs typeface="Times New Roman"/>
              </a:rPr>
              <a:t>supposed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AutoNum type="arabicPeriod" startAt="6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 startAt="6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If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flowchart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 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AutoNum type="arabicPeriod" startAt="6"/>
            </a:pPr>
            <a:endParaRPr sz="115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 startAt="6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symbol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AutoNum type="arabicPeriod" startAt="6"/>
            </a:pPr>
            <a:endParaRPr sz="1100">
              <a:latin typeface="Times New Roman"/>
              <a:cs typeface="Times New Roman"/>
            </a:endParaRPr>
          </a:p>
          <a:p>
            <a:pPr marL="241300" indent="-228600">
              <a:lnSpc>
                <a:spcPts val="1410"/>
              </a:lnSpc>
              <a:buAutoNum type="arabicPeriod" startAt="6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processes,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decision.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/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Locating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document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………..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resembles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map.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………..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flowcharting.</a:t>
            </a:r>
            <a:endParaRPr sz="1200">
              <a:latin typeface="Times New Roman"/>
              <a:cs typeface="Times New Roman"/>
            </a:endParaRPr>
          </a:p>
          <a:p>
            <a:pPr marL="469900" marR="6985" indent="-4572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………..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certain symbol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‘yes’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‘no’.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P5</a:t>
            </a:r>
            <a:r>
              <a:rPr dirty="0" sz="1200" spc="-5">
                <a:latin typeface="Times New Roman"/>
                <a:cs typeface="Times New Roman"/>
              </a:rPr>
              <a:t>...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document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P1</a:t>
            </a:r>
            <a:r>
              <a:rPr dirty="0" sz="1200" spc="-5">
                <a:latin typeface="Times New Roman"/>
                <a:cs typeface="Times New Roman"/>
              </a:rPr>
              <a:t>...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resembles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map.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P6</a:t>
            </a:r>
            <a:r>
              <a:rPr dirty="0" sz="1200" spc="-5">
                <a:latin typeface="Times New Roman"/>
                <a:cs typeface="Times New Roman"/>
              </a:rPr>
              <a:t>... </a:t>
            </a:r>
            <a:r>
              <a:rPr dirty="0" sz="1200">
                <a:latin typeface="Times New Roman"/>
                <a:cs typeface="Times New Roman"/>
              </a:rPr>
              <a:t>3Flowcharting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the logical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ability of a </a:t>
            </a:r>
            <a:r>
              <a:rPr dirty="0" sz="1200" spc="-5">
                <a:latin typeface="Times New Roman"/>
                <a:cs typeface="Times New Roman"/>
              </a:rPr>
              <a:t>programmer.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P2</a:t>
            </a:r>
            <a:r>
              <a:rPr dirty="0" sz="1200" spc="-5">
                <a:latin typeface="Times New Roman"/>
                <a:cs typeface="Times New Roman"/>
              </a:rPr>
              <a:t>... </a:t>
            </a: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is more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way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flowcharting.</a:t>
            </a:r>
            <a:endParaRPr sz="1200">
              <a:latin typeface="Times New Roman"/>
              <a:cs typeface="Times New Roman"/>
            </a:endParaRPr>
          </a:p>
          <a:p>
            <a:pPr marL="469900" marR="7620" indent="-457200">
              <a:lnSpc>
                <a:spcPts val="1380"/>
              </a:lnSpc>
              <a:spcBef>
                <a:spcPts val="65"/>
              </a:spcBef>
              <a:tabLst>
                <a:tab pos="3212465" algn="l"/>
              </a:tabLst>
            </a:pPr>
            <a:r>
              <a:rPr dirty="0" sz="1200" spc="-5">
                <a:latin typeface="Times New Roman"/>
                <a:cs typeface="Times New Roman"/>
              </a:rPr>
              <a:t>…</a:t>
            </a:r>
            <a:r>
              <a:rPr dirty="0" sz="1200" spc="-5" b="1">
                <a:latin typeface="Times New Roman"/>
                <a:cs typeface="Times New Roman"/>
              </a:rPr>
              <a:t>P3</a:t>
            </a:r>
            <a:r>
              <a:rPr dirty="0" sz="1200" spc="-5">
                <a:latin typeface="Times New Roman"/>
                <a:cs typeface="Times New Roman"/>
              </a:rPr>
              <a:t>...</a:t>
            </a:r>
            <a:r>
              <a:rPr dirty="0" sz="1200">
                <a:latin typeface="Times New Roman"/>
                <a:cs typeface="Times New Roman"/>
              </a:rPr>
              <a:t> 5.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	</a:t>
            </a:r>
            <a:r>
              <a:rPr dirty="0" sz="1200" spc="-5">
                <a:latin typeface="Times New Roman"/>
                <a:cs typeface="Times New Roman"/>
              </a:rPr>
              <a:t>question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‘yes’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‘no’.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101076"/>
            <a:ext cx="4597400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4.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Contextual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 bold</a:t>
            </a:r>
            <a:r>
              <a:rPr dirty="0" sz="1200" spc="-5">
                <a:latin typeface="Times New Roman"/>
                <a:cs typeface="Times New Roman"/>
              </a:rPr>
              <a:t> typeface </a:t>
            </a:r>
            <a:r>
              <a:rPr dirty="0" sz="1200">
                <a:latin typeface="Times New Roman"/>
                <a:cs typeface="Times New Roman"/>
              </a:rPr>
              <a:t>refer to.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8625332"/>
            <a:ext cx="1697989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version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satisfactory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01367" y="8625332"/>
            <a:ext cx="131381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(l.10)……………….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(l.16)……………….</a:t>
            </a:r>
            <a:endParaRPr sz="1200">
              <a:latin typeface="Times New Roman"/>
              <a:cs typeface="Times New Roman"/>
            </a:endParaRPr>
          </a:p>
          <a:p>
            <a:pPr marL="13335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(l.18)……………….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215963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 startAt="4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altogether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original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1057" y="913892"/>
            <a:ext cx="1838960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3335" marR="5080" indent="-127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(l.20)…….…………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(l.21)………………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(l.23)………………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(l.27)……………….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(l.40)……………….different  (l.48)………………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965452"/>
            <a:ext cx="35604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spc="-5">
                <a:latin typeface="Times New Roman"/>
                <a:cs typeface="Times New Roman"/>
              </a:rPr>
              <a:t> Which 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must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programming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(l.53)………………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317495"/>
            <a:ext cx="2160270" cy="1784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version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satisfactory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altogether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original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1077" y="2491231"/>
            <a:ext cx="3180080" cy="16103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1004569" indent="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(l.10)………program….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(l.16)…………freehand version….</a:t>
            </a:r>
            <a:endParaRPr sz="1200">
              <a:latin typeface="Times New Roman"/>
              <a:cs typeface="Times New Roman"/>
            </a:endParaRPr>
          </a:p>
          <a:p>
            <a:pPr marL="12700" marR="5080" indent="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(l.18)………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(l.20)…….…neater readable version… </a:t>
            </a:r>
            <a:r>
              <a:rPr dirty="0" sz="1200">
                <a:latin typeface="Times New Roman"/>
                <a:cs typeface="Times New Roman"/>
              </a:rPr>
              <a:t> (l.21)………………sheet of plastic used….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(l.23)…………symbol… </a:t>
            </a:r>
            <a:r>
              <a:rPr dirty="0" sz="1200">
                <a:latin typeface="Times New Roman"/>
                <a:cs typeface="Times New Roman"/>
              </a:rPr>
              <a:t> (l.27)……………….figure….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(l.40)……………….flow chart and program…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(l.48)……………flowchart…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4068571"/>
            <a:ext cx="484441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10.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(l.53)………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analytical</a:t>
            </a:r>
            <a:r>
              <a:rPr dirty="0" sz="1200">
                <a:latin typeface="Times New Roman"/>
                <a:cs typeface="Times New Roman"/>
              </a:rPr>
              <a:t> ability …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5.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Understanding Words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4769611"/>
            <a:ext cx="65214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Route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Try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Answer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Put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Show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87280" y="4769611"/>
            <a:ext cx="1541780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(l.6) ……………………  (1.9)……………………  </a:t>
            </a:r>
            <a:r>
              <a:rPr dirty="0" sz="1200">
                <a:latin typeface="Times New Roman"/>
                <a:cs typeface="Times New Roman"/>
              </a:rPr>
              <a:t>(l.14)…………………..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(l.25)…………………..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(l.52)…………………..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5821171"/>
            <a:ext cx="4313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refer 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 and find</a:t>
            </a:r>
            <a:r>
              <a:rPr dirty="0" sz="1200" spc="-5">
                <a:latin typeface="Times New Roman"/>
                <a:cs typeface="Times New Roman"/>
              </a:rPr>
              <a:t> antonyms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5996432"/>
            <a:ext cx="102425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 startAt="6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Unlimited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Undiscovered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6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Temporary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6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Inaccessible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410"/>
              </a:lnSpc>
              <a:buAutoNum type="arabicPeriod" startAt="6"/>
              <a:tabLst>
                <a:tab pos="241300" algn="l"/>
              </a:tabLst>
            </a:pPr>
            <a:r>
              <a:rPr dirty="0" sz="1200" spc="-5">
                <a:latin typeface="Times New Roman"/>
                <a:cs typeface="Times New Roman"/>
              </a:rPr>
              <a:t>Illogical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87113" y="5996432"/>
            <a:ext cx="1612900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(l.7) ……………………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(1.11)……………………  </a:t>
            </a:r>
            <a:r>
              <a:rPr dirty="0" sz="1200">
                <a:latin typeface="Times New Roman"/>
                <a:cs typeface="Times New Roman"/>
              </a:rPr>
              <a:t>(l.19)…………………..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(l.45)…………………..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(l.53)…………………..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7049516"/>
            <a:ext cx="5626735" cy="1960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6.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20"/>
              </a:lnSpc>
              <a:buAutoNum type="arabicPeriod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Involvement,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involve,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involved,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involving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spcBef>
                <a:spcPts val="60"/>
              </a:spcBef>
              <a:buAutoNum type="alphaLcPeriod"/>
              <a:tabLst>
                <a:tab pos="184150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……………………..calculations,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 </a:t>
            </a:r>
            <a:r>
              <a:rPr dirty="0" sz="1200" spc="-5">
                <a:latin typeface="Times New Roman"/>
                <a:cs typeface="Times New Roman"/>
              </a:rPr>
              <a:t>man.</a:t>
            </a:r>
            <a:endParaRPr sz="1200">
              <a:latin typeface="Times New Roman"/>
              <a:cs typeface="Times New Roman"/>
            </a:endParaRPr>
          </a:p>
          <a:p>
            <a:pPr lvl="1" marL="12700" marR="5715">
              <a:lnSpc>
                <a:spcPts val="1380"/>
              </a:lnSpc>
              <a:buAutoNum type="alphaLcPeriod"/>
              <a:tabLst>
                <a:tab pos="172720" algn="l"/>
              </a:tabLst>
            </a:pP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diagrammatic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sequence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events to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followed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solving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buAutoNum type="alphaLcPeriod"/>
              <a:tabLst>
                <a:tab pos="16891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user’s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appreciated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manager.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Correction,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correct,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corrected,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corrective,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correcting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944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  <a:buAutoNum type="alphaLcPeriod"/>
              <a:tabLst>
                <a:tab pos="186690" algn="l"/>
              </a:tabLst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………………….the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lphaLcPeriod"/>
              <a:tabLst>
                <a:tab pos="171450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 </a:t>
            </a:r>
            <a:r>
              <a:rPr dirty="0" sz="1200">
                <a:latin typeface="Times New Roman"/>
                <a:cs typeface="Times New Roman"/>
              </a:rPr>
              <a:t>needed to obtain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problem.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submitted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………………………..version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program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be keypunched.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ts val="1405"/>
              </a:lnSpc>
              <a:buAutoNum type="arabicPeriod" startAt="3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Process,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processed, processing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7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Central ……………………….. Unit </a:t>
            </a:r>
            <a:r>
              <a:rPr dirty="0" sz="1200" spc="-5">
                <a:latin typeface="Times New Roman"/>
                <a:cs typeface="Times New Roman"/>
              </a:rPr>
              <a:t>is responsible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executing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programs.</a:t>
            </a: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spcBef>
                <a:spcPts val="70"/>
              </a:spcBef>
              <a:buAutoNum type="alphaLcPeriod"/>
              <a:tabLst>
                <a:tab pos="18859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block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diagram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…………………..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alternative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routes to be taken.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applications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-5" b="1">
                <a:latin typeface="Times New Roman"/>
                <a:cs typeface="Times New Roman"/>
              </a:rPr>
              <a:t> Performance, </a:t>
            </a:r>
            <a:r>
              <a:rPr dirty="0" sz="1200" b="1">
                <a:latin typeface="Times New Roman"/>
                <a:cs typeface="Times New Roman"/>
              </a:rPr>
              <a:t>perform, </a:t>
            </a:r>
            <a:r>
              <a:rPr dirty="0" sz="1200" spc="-5" b="1">
                <a:latin typeface="Times New Roman"/>
                <a:cs typeface="Times New Roman"/>
              </a:rPr>
              <a:t>performed,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performing,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performer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a………………………..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COBOL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programming.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……………………..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derive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order 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files.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salesman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05"/>
              </a:lnSpc>
              <a:buAutoNum type="arabicPeriod" startAt="5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Documentation, </a:t>
            </a:r>
            <a:r>
              <a:rPr dirty="0" sz="1200" spc="-5" b="1">
                <a:latin typeface="Times New Roman"/>
                <a:cs typeface="Times New Roman"/>
              </a:rPr>
              <a:t>document, documented, </a:t>
            </a:r>
            <a:r>
              <a:rPr dirty="0" sz="1200" spc="-10" b="1">
                <a:latin typeface="Times New Roman"/>
                <a:cs typeface="Times New Roman"/>
              </a:rPr>
              <a:t>documenting</a:t>
            </a: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spcBef>
                <a:spcPts val="60"/>
              </a:spcBef>
              <a:buSzPct val="91666"/>
              <a:buAutoNum type="alphaLcPeriod"/>
              <a:tabLst>
                <a:tab pos="119380" algn="l"/>
              </a:tabLst>
            </a:pPr>
            <a:r>
              <a:rPr dirty="0" sz="1200">
                <a:latin typeface="Times New Roman"/>
                <a:cs typeface="Times New Roman"/>
              </a:rPr>
              <a:t>……………………….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essential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lvl="1" marL="12700" marR="271145">
              <a:lnSpc>
                <a:spcPts val="1380"/>
              </a:lnSpc>
              <a:buSzPct val="91666"/>
              <a:buAutoNum type="alphaLcPeriod"/>
              <a:tabLst>
                <a:tab pos="16700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programmer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45"/>
              </a:lnSpc>
              <a:buSzPct val="91666"/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payroll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purchased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well…………………………….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7a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Try to think of a definition for each of these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>
                <a:latin typeface="Times New Roman"/>
                <a:cs typeface="Times New Roman"/>
              </a:rPr>
              <a:t>before checking them in the </a:t>
            </a:r>
            <a:r>
              <a:rPr dirty="0" sz="1200" spc="-5">
                <a:latin typeface="Times New Roman"/>
                <a:cs typeface="Times New Roman"/>
              </a:rPr>
              <a:t>Glossary. </a:t>
            </a:r>
            <a:r>
              <a:rPr dirty="0" sz="1200">
                <a:latin typeface="Times New Roman"/>
                <a:cs typeface="Times New Roman"/>
              </a:rPr>
              <a:t> Then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with the appropriate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Make sure you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form, i.e. singular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454150" y="6551506"/>
          <a:ext cx="3416935" cy="519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7450"/>
                <a:gridCol w="1329689"/>
                <a:gridCol w="90043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Executing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Terminal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78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Rectangle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Template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Parallelogram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Diamond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Documentation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7223252"/>
            <a:ext cx="5626735" cy="178562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AutoNum type="arabicPeriod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results</a:t>
            </a:r>
            <a:r>
              <a:rPr dirty="0" sz="1200">
                <a:latin typeface="Times New Roman"/>
                <a:cs typeface="Times New Roman"/>
              </a:rPr>
              <a:t> mean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referred to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……………..……………..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advisable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………………………..…it.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piece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plastic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different</a:t>
            </a:r>
            <a:r>
              <a:rPr dirty="0" sz="1200" spc="-5">
                <a:latin typeface="Times New Roman"/>
                <a:cs typeface="Times New Roman"/>
              </a:rPr>
              <a:t> shapes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input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………………………………….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symbol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marks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called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……..symbol.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7b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.Content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Problem</a:t>
            </a:r>
            <a:r>
              <a:rPr dirty="0" u="sng" sz="1200" spc="-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1407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procedure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followed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calculating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employee’s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salary.</a:t>
            </a: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following paragraph based on the </a:t>
            </a:r>
            <a:r>
              <a:rPr dirty="0" sz="1200" spc="-5">
                <a:latin typeface="Times New Roman"/>
                <a:cs typeface="Times New Roman"/>
              </a:rPr>
              <a:t>flowchart </a:t>
            </a:r>
            <a:r>
              <a:rPr dirty="0" sz="1200">
                <a:latin typeface="Times New Roman"/>
                <a:cs typeface="Times New Roman"/>
              </a:rPr>
              <a:t>above, fill in the blanks with the proper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connectives.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words: </a:t>
            </a:r>
            <a:r>
              <a:rPr dirty="0" sz="1200">
                <a:latin typeface="Times New Roman"/>
                <a:cs typeface="Times New Roman"/>
              </a:rPr>
              <a:t>but, that </a:t>
            </a:r>
            <a:r>
              <a:rPr dirty="0" sz="1200" spc="-5">
                <a:latin typeface="Times New Roman"/>
                <a:cs typeface="Times New Roman"/>
              </a:rPr>
              <a:t>is, then, if, </a:t>
            </a:r>
            <a:r>
              <a:rPr dirty="0" sz="1200">
                <a:latin typeface="Times New Roman"/>
                <a:cs typeface="Times New Roman"/>
              </a:rPr>
              <a:t>to begin with, after, </a:t>
            </a:r>
            <a:r>
              <a:rPr dirty="0" sz="1200" spc="-5">
                <a:latin typeface="Times New Roman"/>
                <a:cs typeface="Times New Roman"/>
              </a:rPr>
              <a:t>first, finally, next, </a:t>
            </a:r>
            <a:r>
              <a:rPr dirty="0" sz="1200">
                <a:latin typeface="Times New Roman"/>
                <a:cs typeface="Times New Roman"/>
              </a:rPr>
              <a:t> before,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other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employee’s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salary,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logical </a:t>
            </a:r>
            <a:r>
              <a:rPr dirty="0" sz="1200" spc="-5">
                <a:latin typeface="Times New Roman"/>
                <a:cs typeface="Times New Roman"/>
              </a:rPr>
              <a:t>manner. </a:t>
            </a:r>
            <a:r>
              <a:rPr dirty="0" sz="1200">
                <a:latin typeface="Times New Roman"/>
                <a:cs typeface="Times New Roman"/>
              </a:rPr>
              <a:t>………………..it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read the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hours worked and the rate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worked.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…………………………..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gross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salary;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…………………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multiply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hours</a:t>
            </a:r>
            <a:r>
              <a:rPr dirty="0" sz="1200">
                <a:latin typeface="Times New Roman"/>
                <a:cs typeface="Times New Roman"/>
              </a:rPr>
              <a:t> work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worked…………...doing these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operations it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find out whether the </a:t>
            </a:r>
            <a:r>
              <a:rPr dirty="0" sz="1200" spc="-5">
                <a:latin typeface="Times New Roman"/>
                <a:cs typeface="Times New Roman"/>
              </a:rPr>
              <a:t>employee has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worked overtime</a:t>
            </a:r>
            <a:r>
              <a:rPr dirty="0" sz="1200">
                <a:latin typeface="Times New Roman"/>
                <a:cs typeface="Times New Roman"/>
              </a:rPr>
              <a:t> or not.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8.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Focus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Focus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‘Flowcharting’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816850"/>
            <a:ext cx="5628005" cy="1258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Making predictions: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 prediction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statement about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particular subject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related </a:t>
            </a:r>
            <a:r>
              <a:rPr dirty="0" sz="1200">
                <a:latin typeface="Times New Roman"/>
                <a:cs typeface="Times New Roman"/>
              </a:rPr>
              <a:t>to a </a:t>
            </a:r>
            <a:r>
              <a:rPr dirty="0" sz="1200" spc="-5">
                <a:latin typeface="Times New Roman"/>
                <a:cs typeface="Times New Roman"/>
              </a:rPr>
              <a:t>prior condition </a:t>
            </a:r>
            <a:r>
              <a:rPr dirty="0" sz="1200">
                <a:latin typeface="Times New Roman"/>
                <a:cs typeface="Times New Roman"/>
              </a:rPr>
              <a:t> being fulfilled.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special kind </a:t>
            </a:r>
            <a:r>
              <a:rPr dirty="0" sz="1200" spc="-5">
                <a:latin typeface="Times New Roman"/>
                <a:cs typeface="Times New Roman"/>
              </a:rPr>
              <a:t>of inference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tell in </a:t>
            </a:r>
            <a:r>
              <a:rPr dirty="0" sz="1200" spc="-5">
                <a:latin typeface="Times New Roman"/>
                <a:cs typeface="Times New Roman"/>
              </a:rPr>
              <a:t>advance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think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happen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therefore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impossible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predict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an existing condition.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examining </a:t>
            </a:r>
            <a:r>
              <a:rPr dirty="0" sz="1200">
                <a:latin typeface="Times New Roman"/>
                <a:cs typeface="Times New Roman"/>
              </a:rPr>
              <a:t>existing data, a logical conclusion can often be </a:t>
            </a:r>
            <a:r>
              <a:rPr dirty="0" sz="1200" spc="-5">
                <a:latin typeface="Times New Roman"/>
                <a:cs typeface="Times New Roman"/>
              </a:rPr>
              <a:t>logically </a:t>
            </a:r>
            <a:r>
              <a:rPr dirty="0" sz="1200">
                <a:latin typeface="Times New Roman"/>
                <a:cs typeface="Times New Roman"/>
              </a:rPr>
              <a:t>drawn about what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likely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next.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Predictions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existing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conditions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81532" y="3720338"/>
            <a:ext cx="122047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9935" algn="l"/>
              </a:tabLst>
            </a:pPr>
            <a:r>
              <a:rPr dirty="0" sz="1100" spc="-5">
                <a:latin typeface="Times New Roman"/>
                <a:cs typeface="Times New Roman"/>
              </a:rPr>
              <a:t>PARA</a:t>
            </a:r>
            <a:r>
              <a:rPr dirty="0" sz="1100" spc="-5">
                <a:latin typeface="Times New Roman"/>
                <a:cs typeface="Times New Roman"/>
              </a:rPr>
              <a:t>	</a:t>
            </a:r>
            <a:r>
              <a:rPr dirty="0" sz="1100" spc="-5">
                <a:latin typeface="Times New Roman"/>
                <a:cs typeface="Times New Roman"/>
              </a:rPr>
              <a:t>CAUSE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124197" y="3655129"/>
            <a:ext cx="3246755" cy="49339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59055">
              <a:lnSpc>
                <a:spcPct val="100000"/>
              </a:lnSpc>
              <a:spcBef>
                <a:spcPts val="540"/>
              </a:spcBef>
            </a:pPr>
            <a:r>
              <a:rPr dirty="0" sz="1100" spc="-5">
                <a:latin typeface="Times New Roman"/>
                <a:cs typeface="Times New Roman"/>
              </a:rPr>
              <a:t>EFFECT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errors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easily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detected</a:t>
            </a:r>
            <a:r>
              <a:rPr dirty="0" sz="1200" spc="-5">
                <a:latin typeface="Times New Roman"/>
                <a:cs typeface="Times New Roman"/>
              </a:rPr>
              <a:t> 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17924" y="4033519"/>
            <a:ext cx="1885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Times New Roman"/>
                <a:cs typeface="Times New Roman"/>
              </a:rPr>
              <a:t>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72666" y="4015238"/>
            <a:ext cx="2098040" cy="110998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59055" marR="5080">
              <a:lnSpc>
                <a:spcPts val="1270"/>
              </a:lnSpc>
              <a:spcBef>
                <a:spcPts val="180"/>
              </a:spcBef>
            </a:pPr>
            <a:r>
              <a:rPr dirty="0" sz="1100" spc="-5" i="1">
                <a:latin typeface="Times New Roman"/>
                <a:cs typeface="Times New Roman"/>
              </a:rPr>
              <a:t>If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the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finished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program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does</a:t>
            </a:r>
            <a:r>
              <a:rPr dirty="0" sz="1100" spc="5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not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run </a:t>
            </a:r>
            <a:r>
              <a:rPr dirty="0" sz="1100" spc="-26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as it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should</a:t>
            </a:r>
            <a:endParaRPr sz="1100">
              <a:latin typeface="Times New Roman"/>
              <a:cs typeface="Times New Roman"/>
            </a:endParaRPr>
          </a:p>
          <a:p>
            <a:pPr marL="12700" marR="37465">
              <a:lnSpc>
                <a:spcPts val="1380"/>
              </a:lnSpc>
              <a:spcBef>
                <a:spcPts val="15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intended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kept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permanent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</a:t>
            </a:r>
            <a:endParaRPr sz="1200">
              <a:latin typeface="Times New Roman"/>
              <a:cs typeface="Times New Roman"/>
            </a:endParaRPr>
          </a:p>
          <a:p>
            <a:pPr marL="12700" marR="262255">
              <a:lnSpc>
                <a:spcPts val="1260"/>
              </a:lnSpc>
              <a:spcBef>
                <a:spcPts val="515"/>
              </a:spcBef>
            </a:pPr>
            <a:r>
              <a:rPr dirty="0" sz="1100" spc="-5" i="1">
                <a:latin typeface="Times New Roman"/>
                <a:cs typeface="Times New Roman"/>
              </a:rPr>
              <a:t>If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a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permanent,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neater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and more </a:t>
            </a:r>
            <a:r>
              <a:rPr dirty="0" sz="1100" spc="-26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readable flowchart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is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needed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20211" y="4494541"/>
            <a:ext cx="1885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Times New Roman"/>
                <a:cs typeface="Times New Roman"/>
              </a:rPr>
              <a:t>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170679" y="4448817"/>
            <a:ext cx="13957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i="1">
                <a:latin typeface="Times New Roman"/>
                <a:cs typeface="Times New Roman"/>
              </a:rPr>
              <a:t>This is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quite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satisfactory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220225" y="5277865"/>
            <a:ext cx="1885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Times New Roman"/>
                <a:cs typeface="Times New Roman"/>
              </a:rPr>
              <a:t>(3)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24201" y="5233675"/>
            <a:ext cx="193928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i="1">
                <a:latin typeface="Times New Roman"/>
                <a:cs typeface="Times New Roman"/>
              </a:rPr>
              <a:t>The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word</a:t>
            </a:r>
            <a:r>
              <a:rPr dirty="0" sz="1100" spc="5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‘start’</a:t>
            </a:r>
            <a:r>
              <a:rPr dirty="0" sz="1100" spc="5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must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be</a:t>
            </a:r>
            <a:r>
              <a:rPr dirty="0" sz="1100" spc="5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inserting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72668" y="5740394"/>
            <a:ext cx="166623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i="1">
                <a:latin typeface="Times New Roman"/>
                <a:cs typeface="Times New Roman"/>
              </a:rPr>
              <a:t>If it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is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the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end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of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the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program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20225" y="6200635"/>
            <a:ext cx="1885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Times New Roman"/>
                <a:cs typeface="Times New Roman"/>
              </a:rPr>
              <a:t>(4)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124201" y="6109201"/>
            <a:ext cx="1764030" cy="35306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0"/>
              </a:spcBef>
            </a:pPr>
            <a:r>
              <a:rPr dirty="0" sz="1100" spc="-5" i="1">
                <a:latin typeface="Times New Roman"/>
                <a:cs typeface="Times New Roman"/>
              </a:rPr>
              <a:t>Neither the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flowchart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nor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the 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program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can be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done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correctly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20216" y="6707376"/>
            <a:ext cx="1885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Times New Roman"/>
                <a:cs typeface="Times New Roman"/>
              </a:rPr>
              <a:t>(5)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72659" y="6672319"/>
            <a:ext cx="18141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i="1">
                <a:latin typeface="Times New Roman"/>
                <a:cs typeface="Times New Roman"/>
              </a:rPr>
              <a:t>If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documentation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isn’t</a:t>
            </a:r>
            <a:r>
              <a:rPr dirty="0" sz="110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available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20216" y="7223243"/>
            <a:ext cx="1885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Times New Roman"/>
                <a:cs typeface="Times New Roman"/>
              </a:rPr>
              <a:t>(6)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170684" y="7031225"/>
            <a:ext cx="1779270" cy="51371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700"/>
              </a:lnSpc>
              <a:spcBef>
                <a:spcPts val="155"/>
              </a:spcBef>
            </a:pPr>
            <a:r>
              <a:rPr dirty="0" sz="1100" spc="-5" i="1">
                <a:latin typeface="Times New Roman"/>
                <a:cs typeface="Times New Roman"/>
              </a:rPr>
              <a:t>Flowcharting is one of the first </a:t>
            </a:r>
            <a:r>
              <a:rPr dirty="0" sz="1100" spc="-26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things a student programmer is </a:t>
            </a:r>
            <a:r>
              <a:rPr dirty="0" sz="1100" spc="-26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taught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124197" y="4779517"/>
            <a:ext cx="15659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737614" y="5231384"/>
            <a:ext cx="2205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124201" y="5316018"/>
            <a:ext cx="2564130" cy="538480"/>
          </a:xfrm>
          <a:prstGeom prst="rect">
            <a:avLst/>
          </a:prstGeom>
        </p:spPr>
        <p:txBody>
          <a:bodyPr wrap="square" lIns="0" tIns="901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1100" spc="-5" i="1">
                <a:latin typeface="Times New Roman"/>
                <a:cs typeface="Times New Roman"/>
              </a:rPr>
              <a:t>inside</a:t>
            </a:r>
            <a:r>
              <a:rPr dirty="0" sz="1100" spc="-15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the</a:t>
            </a:r>
            <a:r>
              <a:rPr dirty="0" sz="1100" spc="-10" i="1">
                <a:latin typeface="Times New Roman"/>
                <a:cs typeface="Times New Roman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figure</a:t>
            </a:r>
            <a:endParaRPr sz="1100">
              <a:latin typeface="Times New Roman"/>
              <a:cs typeface="Times New Roman"/>
            </a:endParaRPr>
          </a:p>
          <a:p>
            <a:pPr marL="104775">
              <a:lnSpc>
                <a:spcPct val="100000"/>
              </a:lnSpc>
              <a:spcBef>
                <a:spcPts val="665"/>
              </a:spcBef>
            </a:pPr>
            <a:r>
              <a:rPr dirty="0" sz="1200">
                <a:latin typeface="Times New Roman"/>
                <a:cs typeface="Times New Roman"/>
              </a:rPr>
              <a:t>‘Stop’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inserted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819148" y="6106921"/>
            <a:ext cx="19856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understood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041902" y="6567932"/>
            <a:ext cx="25203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background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37614" y="7083806"/>
            <a:ext cx="208661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5315521"/>
            <a:ext cx="7772400" cy="9525"/>
          </a:xfrm>
          <a:custGeom>
            <a:avLst/>
            <a:gdLst/>
            <a:ahLst/>
            <a:cxnLst/>
            <a:rect l="l" t="t" r="r" b="b"/>
            <a:pathLst>
              <a:path w="7772400" h="9525">
                <a:moveTo>
                  <a:pt x="0" y="0"/>
                </a:moveTo>
                <a:lnTo>
                  <a:pt x="0" y="9525"/>
                </a:lnTo>
                <a:lnTo>
                  <a:pt x="7772400" y="9525"/>
                </a:lnTo>
                <a:lnTo>
                  <a:pt x="777240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295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certainty.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absolute,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context.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example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469900" indent="-228600">
              <a:lnSpc>
                <a:spcPct val="10000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Certainly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(100%)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926465" marR="335280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(definitely,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certainly)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doubt,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469900" marR="2652395" indent="-469900">
              <a:lnSpc>
                <a:spcPts val="1380"/>
              </a:lnSpc>
              <a:buAutoNum type="arabicPeriod" startAt="2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(75%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90%)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(75%)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Like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(75%)</a:t>
            </a:r>
            <a:endParaRPr sz="1200">
              <a:latin typeface="Times New Roman"/>
              <a:cs typeface="Times New Roman"/>
            </a:endParaRPr>
          </a:p>
          <a:p>
            <a:pPr marL="927100" marR="308292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Highly probable,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likely,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-5">
                <a:latin typeface="Times New Roman"/>
                <a:cs typeface="Times New Roman"/>
              </a:rPr>
              <a:t> (90%)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393065" indent="-229235">
              <a:lnSpc>
                <a:spcPts val="1410"/>
              </a:lnSpc>
              <a:buAutoNum type="arabicPeriod" startAt="3"/>
              <a:tabLst>
                <a:tab pos="393700" algn="l"/>
              </a:tabLst>
            </a:pP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by:</a:t>
            </a:r>
            <a:endParaRPr sz="1200">
              <a:latin typeface="Times New Roman"/>
              <a:cs typeface="Times New Roman"/>
            </a:endParaRPr>
          </a:p>
          <a:p>
            <a:pPr marL="927100" marR="3291204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(not),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(not)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Could, possible, possibly,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Perhaps</a:t>
            </a:r>
            <a:endParaRPr sz="1200">
              <a:latin typeface="Times New Roman"/>
              <a:cs typeface="Times New Roman"/>
            </a:endParaRPr>
          </a:p>
          <a:p>
            <a:pPr marL="469900" marR="2449195" indent="-469900">
              <a:lnSpc>
                <a:spcPts val="1380"/>
              </a:lnSpc>
              <a:buAutoNum type="arabicPeriod" startAt="4"/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Improbability</a:t>
            </a:r>
            <a:r>
              <a:rPr dirty="0" sz="1200">
                <a:latin typeface="Times New Roman"/>
                <a:cs typeface="Times New Roman"/>
              </a:rPr>
              <a:t> (25%), </a:t>
            </a:r>
            <a:r>
              <a:rPr dirty="0" sz="1200" spc="-5">
                <a:latin typeface="Times New Roman"/>
                <a:cs typeface="Times New Roman"/>
              </a:rPr>
              <a:t>10%)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Improbable, </a:t>
            </a:r>
            <a:r>
              <a:rPr dirty="0" sz="1200">
                <a:latin typeface="Times New Roman"/>
                <a:cs typeface="Times New Roman"/>
              </a:rPr>
              <a:t>unlikely (25%)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Doubtful,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questionable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(25%)</a:t>
            </a:r>
            <a:endParaRPr sz="1200">
              <a:latin typeface="Times New Roman"/>
              <a:cs typeface="Times New Roman"/>
            </a:endParaRPr>
          </a:p>
          <a:p>
            <a:pPr marL="926465" marR="34804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Probably not (25%) </a:t>
            </a:r>
            <a:r>
              <a:rPr dirty="0" sz="1200">
                <a:latin typeface="Times New Roman"/>
                <a:cs typeface="Times New Roman"/>
              </a:rPr>
              <a:t> Most/highly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improbable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Unlikely </a:t>
            </a:r>
            <a:r>
              <a:rPr dirty="0" sz="1200" spc="-5">
                <a:latin typeface="Times New Roman"/>
                <a:cs typeface="Times New Roman"/>
              </a:rPr>
              <a:t>(10%) </a:t>
            </a:r>
            <a:r>
              <a:rPr dirty="0" sz="1200">
                <a:latin typeface="Times New Roman"/>
                <a:cs typeface="Times New Roman"/>
              </a:rPr>
              <a:t> Most/highly doubtful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Questionable (10%)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10%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ts val="1315"/>
              </a:lnSpc>
              <a:buAutoNum type="arabicPeriod" startAt="5"/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Impossibility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(0%)</a:t>
            </a:r>
            <a:r>
              <a:rPr dirty="0" sz="1200" spc="-5">
                <a:latin typeface="Times New Roman"/>
                <a:cs typeface="Times New Roman"/>
              </a:rPr>
              <a:t> can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expressed </a:t>
            </a:r>
            <a:r>
              <a:rPr dirty="0" sz="1200">
                <a:latin typeface="Times New Roman"/>
                <a:cs typeface="Times New Roman"/>
              </a:rPr>
              <a:t>by: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Cannot,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impossible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6697471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369" y="6697471"/>
            <a:ext cx="152971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902969" indent="-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past </a:t>
            </a:r>
            <a:r>
              <a:rPr dirty="0" sz="1200">
                <a:latin typeface="Times New Roman"/>
                <a:cs typeface="Times New Roman"/>
              </a:rPr>
              <a:t> Could not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impossible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749032"/>
            <a:ext cx="5627370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When a necessary condition</a:t>
            </a:r>
            <a:r>
              <a:rPr dirty="0" sz="1200" spc="-5">
                <a:latin typeface="Times New Roman"/>
                <a:cs typeface="Times New Roman"/>
              </a:rPr>
              <a:t> exists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>
                <a:latin typeface="Times New Roman"/>
                <a:cs typeface="Times New Roman"/>
              </a:rPr>
              <a:t> are used: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For Y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occur/happen/take </a:t>
            </a:r>
            <a:r>
              <a:rPr dirty="0" sz="1200">
                <a:latin typeface="Times New Roman"/>
                <a:cs typeface="Times New Roman"/>
              </a:rPr>
              <a:t>place {x must be </a:t>
            </a:r>
            <a:r>
              <a:rPr dirty="0" sz="1200" spc="-5">
                <a:latin typeface="Times New Roman"/>
                <a:cs typeface="Times New Roman"/>
              </a:rPr>
              <a:t>present </a:t>
            </a:r>
            <a:r>
              <a:rPr dirty="0" sz="1200">
                <a:latin typeface="Times New Roman"/>
                <a:cs typeface="Times New Roman"/>
              </a:rPr>
              <a:t>or there must be </a:t>
            </a:r>
            <a:r>
              <a:rPr dirty="0" sz="1200" spc="-5">
                <a:latin typeface="Times New Roman"/>
                <a:cs typeface="Times New Roman"/>
              </a:rPr>
              <a:t>Y ,Y </a:t>
            </a:r>
            <a:r>
              <a:rPr dirty="0" sz="1200">
                <a:latin typeface="Times New Roman"/>
                <a:cs typeface="Times New Roman"/>
              </a:rPr>
              <a:t>depends on </a:t>
            </a:r>
            <a:r>
              <a:rPr dirty="0" sz="1200" spc="-5">
                <a:latin typeface="Times New Roman"/>
                <a:cs typeface="Times New Roman"/>
              </a:rPr>
              <a:t>X} 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condition-prediction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preceded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‘if’;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>
                <a:latin typeface="Times New Roman"/>
                <a:cs typeface="Times New Roman"/>
              </a:rPr>
              <a:t>to what degree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prediction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>
                <a:latin typeface="Times New Roman"/>
                <a:cs typeface="Times New Roman"/>
              </a:rPr>
              <a:t>the verb </a:t>
            </a:r>
            <a:r>
              <a:rPr dirty="0" sz="1200" spc="-5">
                <a:latin typeface="Times New Roman"/>
                <a:cs typeface="Times New Roman"/>
              </a:rPr>
              <a:t>tenses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to note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a distinction between the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prediction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future.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241300" marR="271145" indent="-22860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growing,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obsolete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2005and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certainly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2010.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833372" y="1639824"/>
          <a:ext cx="3758565" cy="720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4520"/>
                <a:gridCol w="1874520"/>
              </a:tblGrid>
              <a:tr h="182117"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CONDITION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PREDICTION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6">
                <a:tc>
                  <a:txBody>
                    <a:bodyPr/>
                    <a:lstStyle/>
                    <a:p>
                      <a:pPr marL="67945" marR="435609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At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 rate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technology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growing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67945" marR="28321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today’s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might </a:t>
                      </a:r>
                      <a:r>
                        <a:rPr dirty="0" sz="1200" spc="-2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 obsolete by 2005 and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most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certainly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2010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3211321"/>
            <a:ext cx="56261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couldn’t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wouldn’t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833372" y="3761994"/>
          <a:ext cx="3758565" cy="720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4520"/>
                <a:gridCol w="1874520"/>
              </a:tblGrid>
              <a:tr h="181355"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CONDITION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PREDICTION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638">
                <a:tc>
                  <a:txBody>
                    <a:bodyPr/>
                    <a:lstStyle/>
                    <a:p>
                      <a:pPr marL="67945" marR="43815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If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couldn’t feed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information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get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results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back,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27965">
                        <a:lnSpc>
                          <a:spcPts val="1380"/>
                        </a:lnSpc>
                        <a:spcBef>
                          <a:spcPts val="3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wouldn’t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much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1016000" y="5158232"/>
            <a:ext cx="562737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hammer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drum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printers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hits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little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late,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slightly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833372" y="5708903"/>
          <a:ext cx="3758565" cy="720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4520"/>
                <a:gridCol w="1874520"/>
              </a:tblGrid>
              <a:tr h="181356">
                <a:tc>
                  <a:txBody>
                    <a:bodyPr/>
                    <a:lstStyle/>
                    <a:p>
                      <a:pPr marL="68580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CONDITION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3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PREDICTION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637">
                <a:tc>
                  <a:txBody>
                    <a:bodyPr/>
                    <a:lstStyle/>
                    <a:p>
                      <a:pPr marL="67945" marR="13462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If the hammer in drum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Printers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hits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little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early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late,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67945" marR="59690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characters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appear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slightly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above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below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1016000" y="6754620"/>
            <a:ext cx="5627370" cy="2311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Exercise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Read the following sentences and underline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part that expresses a </a:t>
            </a:r>
            <a:r>
              <a:rPr dirty="0" sz="1200" spc="-5">
                <a:latin typeface="Times New Roman"/>
                <a:cs typeface="Times New Roman"/>
              </a:rPr>
              <a:t>condition, once; and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 expressing a prediction,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/>
              <a:tabLst>
                <a:tab pos="199390" algn="l"/>
              </a:tabLst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said </a:t>
            </a:r>
            <a:r>
              <a:rPr dirty="0" sz="1200" spc="-5">
                <a:latin typeface="Times New Roman"/>
                <a:cs typeface="Times New Roman"/>
              </a:rPr>
              <a:t>that if transport technology had developed as rapidly as computer </a:t>
            </a:r>
            <a:r>
              <a:rPr dirty="0" sz="1200">
                <a:latin typeface="Times New Roman"/>
                <a:cs typeface="Times New Roman"/>
              </a:rPr>
              <a:t> technology,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trip</a:t>
            </a:r>
            <a:r>
              <a:rPr dirty="0" sz="1200" spc="-5">
                <a:latin typeface="Times New Roman"/>
                <a:cs typeface="Times New Roman"/>
              </a:rPr>
              <a:t> across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Atlantic Ocean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few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seconds.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Working </a:t>
            </a:r>
            <a:r>
              <a:rPr dirty="0" sz="1200">
                <a:latin typeface="Times New Roman"/>
                <a:cs typeface="Times New Roman"/>
              </a:rPr>
              <a:t>for the </a:t>
            </a:r>
            <a:r>
              <a:rPr dirty="0" sz="1200" spc="-5">
                <a:latin typeface="Times New Roman"/>
                <a:cs typeface="Times New Roman"/>
              </a:rPr>
              <a:t>U.S. Census </a:t>
            </a:r>
            <a:r>
              <a:rPr dirty="0" sz="1200">
                <a:latin typeface="Times New Roman"/>
                <a:cs typeface="Times New Roman"/>
              </a:rPr>
              <a:t>Bureau, </a:t>
            </a:r>
            <a:r>
              <a:rPr dirty="0" sz="1200" spc="-5">
                <a:latin typeface="Times New Roman"/>
                <a:cs typeface="Times New Roman"/>
              </a:rPr>
              <a:t>Dr. Hollerith realized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unless some means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speeding up the analyses of </a:t>
            </a:r>
            <a:r>
              <a:rPr dirty="0" sz="1200" spc="-5">
                <a:latin typeface="Times New Roman"/>
                <a:cs typeface="Times New Roman"/>
              </a:rPr>
              <a:t>census </a:t>
            </a:r>
            <a:r>
              <a:rPr dirty="0" sz="1200">
                <a:latin typeface="Times New Roman"/>
                <a:cs typeface="Times New Roman"/>
              </a:rPr>
              <a:t>data were found, it would take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than ten years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/>
              <a:tabLst>
                <a:tab pos="170815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hammer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printers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hits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late,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slightly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its </a:t>
            </a:r>
            <a:r>
              <a:rPr dirty="0" sz="1200">
                <a:latin typeface="Times New Roman"/>
                <a:cs typeface="Times New Roman"/>
              </a:rPr>
              <a:t>proper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1355090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Mainframes would still be </a:t>
            </a:r>
            <a:r>
              <a:rPr dirty="0" sz="1200" spc="-5">
                <a:latin typeface="Times New Roman"/>
                <a:cs typeface="Times New Roman"/>
              </a:rPr>
              <a:t>occupying </a:t>
            </a:r>
            <a:r>
              <a:rPr dirty="0" sz="1200">
                <a:latin typeface="Times New Roman"/>
                <a:cs typeface="Times New Roman"/>
              </a:rPr>
              <a:t>a lot of </a:t>
            </a:r>
            <a:r>
              <a:rPr dirty="0" sz="1200" spc="-5">
                <a:latin typeface="Times New Roman"/>
                <a:cs typeface="Times New Roman"/>
              </a:rPr>
              <a:t>space </a:t>
            </a:r>
            <a:r>
              <a:rPr dirty="0" sz="1200">
                <a:latin typeface="Times New Roman"/>
                <a:cs typeface="Times New Roman"/>
              </a:rPr>
              <a:t>if it weren’t for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microminiaturization.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138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5. If </a:t>
            </a:r>
            <a:r>
              <a:rPr dirty="0" sz="1200" spc="-5">
                <a:latin typeface="Times New Roman"/>
                <a:cs typeface="Times New Roman"/>
              </a:rPr>
              <a:t>computer technology continues </a:t>
            </a:r>
            <a:r>
              <a:rPr dirty="0" sz="1200">
                <a:latin typeface="Times New Roman"/>
                <a:cs typeface="Times New Roman"/>
              </a:rPr>
              <a:t>growing at the rate it has, bubble </a:t>
            </a:r>
            <a:r>
              <a:rPr dirty="0" sz="1200" spc="-5">
                <a:latin typeface="Times New Roman"/>
                <a:cs typeface="Times New Roman"/>
              </a:rPr>
              <a:t>memory will </a:t>
            </a:r>
            <a:r>
              <a:rPr dirty="0" sz="1200">
                <a:latin typeface="Times New Roman"/>
                <a:cs typeface="Times New Roman"/>
              </a:rPr>
              <a:t>soon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chip.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read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flowcharting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</a:t>
            </a:r>
            <a:r>
              <a:rPr dirty="0" sz="1200">
                <a:latin typeface="Times New Roman"/>
                <a:cs typeface="Times New Roman"/>
              </a:rPr>
              <a:t> exercises,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scanning for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vocabulary exercise </a:t>
            </a:r>
            <a:r>
              <a:rPr dirty="0" sz="1200" spc="-5">
                <a:latin typeface="Times New Roman"/>
                <a:cs typeface="Times New Roman"/>
              </a:rPr>
              <a:t>and content </a:t>
            </a:r>
            <a:r>
              <a:rPr dirty="0" sz="1200">
                <a:latin typeface="Times New Roman"/>
                <a:cs typeface="Times New Roman"/>
              </a:rPr>
              <a:t>review exercises.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explored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 exercises the relationship between </a:t>
            </a:r>
            <a:r>
              <a:rPr dirty="0" sz="1200" spc="-5">
                <a:latin typeface="Times New Roman"/>
                <a:cs typeface="Times New Roman"/>
              </a:rPr>
              <a:t>Cause </a:t>
            </a:r>
            <a:r>
              <a:rPr dirty="0" sz="1200">
                <a:latin typeface="Times New Roman"/>
                <a:cs typeface="Times New Roman"/>
              </a:rPr>
              <a:t>and Effect. Finally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looked at how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predictions,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 to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making </a:t>
            </a:r>
            <a:r>
              <a:rPr dirty="0" sz="1200">
                <a:latin typeface="Times New Roman"/>
                <a:cs typeface="Times New Roman"/>
              </a:rPr>
              <a:t>predictions.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COMPOUND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-</a:t>
            </a:r>
            <a:r>
              <a:rPr dirty="0" sz="1200" spc="-5" b="1">
                <a:latin typeface="Times New Roman"/>
                <a:cs typeface="Times New Roman"/>
              </a:rPr>
              <a:t> COMPLEX</a:t>
            </a:r>
            <a:r>
              <a:rPr dirty="0" sz="1200" b="1">
                <a:latin typeface="Times New Roman"/>
                <a:cs typeface="Times New Roman"/>
              </a:rPr>
              <a:t> Writing: </a:t>
            </a:r>
            <a:r>
              <a:rPr dirty="0" sz="1200" spc="-5" b="1">
                <a:latin typeface="Times New Roman"/>
                <a:cs typeface="Times New Roman"/>
              </a:rPr>
              <a:t>Sentence Types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Until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focus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been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comprehension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skills</a:t>
            </a:r>
            <a:r>
              <a:rPr dirty="0" sz="1200">
                <a:latin typeface="Times New Roman"/>
                <a:cs typeface="Times New Roman"/>
              </a:rPr>
              <a:t> but now the focus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shift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writing of sentences and </a:t>
            </a:r>
            <a:r>
              <a:rPr dirty="0" sz="1200" spc="-5">
                <a:latin typeface="Times New Roman"/>
                <a:cs typeface="Times New Roman"/>
              </a:rPr>
              <a:t>paragraphs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grammar.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today’s lesson we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 at</a:t>
            </a:r>
            <a:r>
              <a:rPr dirty="0" sz="1200" spc="-5">
                <a:latin typeface="Times New Roman"/>
                <a:cs typeface="Times New Roman"/>
              </a:rPr>
              <a:t> different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Types: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Despite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availability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computers,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processors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 devices,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still communicate with one another by exchanging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 and spoken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naturally want to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ourselves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possible.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want to be able to </a:t>
            </a:r>
            <a:r>
              <a:rPr dirty="0" sz="1200" spc="-5">
                <a:latin typeface="Times New Roman"/>
                <a:cs typeface="Times New Roman"/>
              </a:rPr>
              <a:t>communicate </a:t>
            </a:r>
            <a:r>
              <a:rPr dirty="0" sz="1200">
                <a:latin typeface="Times New Roman"/>
                <a:cs typeface="Times New Roman"/>
              </a:rPr>
              <a:t>our thoughts to others </a:t>
            </a:r>
            <a:r>
              <a:rPr dirty="0" sz="1200" spc="-5">
                <a:latin typeface="Times New Roman"/>
                <a:cs typeface="Times New Roman"/>
              </a:rPr>
              <a:t>accurately, </a:t>
            </a:r>
            <a:r>
              <a:rPr dirty="0" sz="1200">
                <a:latin typeface="Times New Roman"/>
                <a:cs typeface="Times New Roman"/>
              </a:rPr>
              <a:t>convincingly, and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gracefully.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 indent="3429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Thinking, </a:t>
            </a:r>
            <a:r>
              <a:rPr dirty="0" sz="1200" spc="-5">
                <a:latin typeface="Times New Roman"/>
                <a:cs typeface="Times New Roman"/>
              </a:rPr>
              <a:t>speaking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closely </a:t>
            </a:r>
            <a:r>
              <a:rPr dirty="0" sz="1200">
                <a:latin typeface="Times New Roman"/>
                <a:cs typeface="Times New Roman"/>
              </a:rPr>
              <a:t>related to each </a:t>
            </a:r>
            <a:r>
              <a:rPr dirty="0" sz="1200" spc="-5">
                <a:latin typeface="Times New Roman"/>
                <a:cs typeface="Times New Roman"/>
              </a:rPr>
              <a:t>other. </a:t>
            </a:r>
            <a:r>
              <a:rPr dirty="0" sz="1200">
                <a:latin typeface="Times New Roman"/>
                <a:cs typeface="Times New Roman"/>
              </a:rPr>
              <a:t>If you are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 with the </a:t>
            </a:r>
            <a:r>
              <a:rPr dirty="0" sz="1200" spc="-5">
                <a:latin typeface="Times New Roman"/>
                <a:cs typeface="Times New Roman"/>
              </a:rPr>
              <a:t>essential rules </a:t>
            </a:r>
            <a:r>
              <a:rPr dirty="0" sz="1200">
                <a:latin typeface="Times New Roman"/>
                <a:cs typeface="Times New Roman"/>
              </a:rPr>
              <a:t>of good English and </a:t>
            </a:r>
            <a:r>
              <a:rPr dirty="0" sz="1200" spc="-5">
                <a:latin typeface="Times New Roman"/>
                <a:cs typeface="Times New Roman"/>
              </a:rPr>
              <a:t>think </a:t>
            </a:r>
            <a:r>
              <a:rPr dirty="0" sz="1200">
                <a:latin typeface="Times New Roman"/>
                <a:cs typeface="Times New Roman"/>
              </a:rPr>
              <a:t>clearly,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speak and write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 - the </a:t>
            </a:r>
            <a:r>
              <a:rPr dirty="0" sz="1200" spc="-5">
                <a:latin typeface="Times New Roman"/>
                <a:cs typeface="Times New Roman"/>
              </a:rPr>
              <a:t>confidence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from a </a:t>
            </a:r>
            <a:r>
              <a:rPr dirty="0" sz="1200" spc="-5">
                <a:latin typeface="Times New Roman"/>
                <a:cs typeface="Times New Roman"/>
              </a:rPr>
              <a:t>sense </a:t>
            </a:r>
            <a:r>
              <a:rPr dirty="0" sz="1200">
                <a:latin typeface="Times New Roman"/>
                <a:cs typeface="Times New Roman"/>
              </a:rPr>
              <a:t>of having </a:t>
            </a:r>
            <a:r>
              <a:rPr dirty="0" sz="1200" spc="-5">
                <a:latin typeface="Times New Roman"/>
                <a:cs typeface="Times New Roman"/>
              </a:rPr>
              <a:t>mastered </a:t>
            </a:r>
            <a:r>
              <a:rPr dirty="0" sz="1200">
                <a:latin typeface="Times New Roman"/>
                <a:cs typeface="Times New Roman"/>
              </a:rPr>
              <a:t>the rules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conventions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be followed in all </a:t>
            </a:r>
            <a:r>
              <a:rPr dirty="0" sz="1200" spc="-5">
                <a:latin typeface="Times New Roman"/>
                <a:cs typeface="Times New Roman"/>
              </a:rPr>
              <a:t>acceptable</a:t>
            </a:r>
            <a:r>
              <a:rPr dirty="0" sz="1200">
                <a:latin typeface="Times New Roman"/>
                <a:cs typeface="Times New Roman"/>
              </a:rPr>
              <a:t> writing.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2You as </a:t>
            </a:r>
            <a:r>
              <a:rPr dirty="0" sz="1200">
                <a:latin typeface="Times New Roman"/>
                <a:cs typeface="Times New Roman"/>
              </a:rPr>
              <a:t>a student </a:t>
            </a:r>
            <a:r>
              <a:rPr dirty="0" sz="1200" spc="-5">
                <a:latin typeface="Times New Roman"/>
                <a:cs typeface="Times New Roman"/>
              </a:rPr>
              <a:t>interested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English will </a:t>
            </a:r>
            <a:r>
              <a:rPr dirty="0" sz="1200">
                <a:latin typeface="Times New Roman"/>
                <a:cs typeface="Times New Roman"/>
              </a:rPr>
              <a:t>have to learn and </a:t>
            </a:r>
            <a:r>
              <a:rPr dirty="0" sz="1200" spc="-5">
                <a:latin typeface="Times New Roman"/>
                <a:cs typeface="Times New Roman"/>
              </a:rPr>
              <a:t>master </a:t>
            </a:r>
            <a:r>
              <a:rPr dirty="0" sz="1200">
                <a:latin typeface="Times New Roman"/>
                <a:cs typeface="Times New Roman"/>
              </a:rPr>
              <a:t>these rules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conventions if you are to communicate </a:t>
            </a: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thoughts </a:t>
            </a:r>
            <a:r>
              <a:rPr dirty="0" sz="1200" spc="-5">
                <a:latin typeface="Times New Roman"/>
                <a:cs typeface="Times New Roman"/>
              </a:rPr>
              <a:t>successfully. These rules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standards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important. </a:t>
            </a:r>
            <a:r>
              <a:rPr dirty="0" sz="1200">
                <a:latin typeface="Times New Roman"/>
                <a:cs typeface="Times New Roman"/>
              </a:rPr>
              <a:t>Until you have grasped them well, you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handicapped,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lack the </a:t>
            </a:r>
            <a:r>
              <a:rPr dirty="0" sz="1200" spc="-5">
                <a:latin typeface="Times New Roman"/>
                <a:cs typeface="Times New Roman"/>
              </a:rPr>
              <a:t>tools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craft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Remember,</a:t>
            </a:r>
            <a:r>
              <a:rPr dirty="0" sz="1200">
                <a:latin typeface="Times New Roman"/>
                <a:cs typeface="Times New Roman"/>
              </a:rPr>
              <a:t> writing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itself.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skill, a </a:t>
            </a:r>
            <a:r>
              <a:rPr dirty="0" sz="1200" spc="-5">
                <a:latin typeface="Times New Roman"/>
                <a:cs typeface="Times New Roman"/>
              </a:rPr>
              <a:t>learned skill. It’s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specialized </a:t>
            </a:r>
            <a:r>
              <a:rPr dirty="0" sz="1200">
                <a:latin typeface="Times New Roman"/>
                <a:cs typeface="Times New Roman"/>
              </a:rPr>
              <a:t> skill which needs a lot of practice.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in a foreign </a:t>
            </a:r>
            <a:r>
              <a:rPr dirty="0" sz="1200" spc="-5">
                <a:latin typeface="Times New Roman"/>
                <a:cs typeface="Times New Roman"/>
              </a:rPr>
              <a:t>language is not easy, even native </a:t>
            </a:r>
            <a:r>
              <a:rPr dirty="0" sz="1200">
                <a:latin typeface="Times New Roman"/>
                <a:cs typeface="Times New Roman"/>
              </a:rPr>
              <a:t> speakers found it </a:t>
            </a:r>
            <a:r>
              <a:rPr dirty="0" sz="1200" spc="-5">
                <a:latin typeface="Times New Roman"/>
                <a:cs typeface="Times New Roman"/>
              </a:rPr>
              <a:t>extremely </a:t>
            </a:r>
            <a:r>
              <a:rPr dirty="0" sz="1200">
                <a:latin typeface="Times New Roman"/>
                <a:cs typeface="Times New Roman"/>
              </a:rPr>
              <a:t>difficult to </a:t>
            </a:r>
            <a:r>
              <a:rPr dirty="0" sz="1200" spc="-5">
                <a:latin typeface="Times New Roman"/>
                <a:cs typeface="Times New Roman"/>
              </a:rPr>
              <a:t>express themselves, </a:t>
            </a:r>
            <a:r>
              <a:rPr dirty="0" sz="1200">
                <a:latin typeface="Times New Roman"/>
                <a:cs typeface="Times New Roman"/>
              </a:rPr>
              <a:t>and for foreign learners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 like you and me, it </a:t>
            </a:r>
            <a:r>
              <a:rPr dirty="0" sz="1200" spc="-5">
                <a:latin typeface="Times New Roman"/>
                <a:cs typeface="Times New Roman"/>
              </a:rPr>
              <a:t>is all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difficult. But with knowledge and practice 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writing </a:t>
            </a:r>
            <a:r>
              <a:rPr dirty="0" sz="1200">
                <a:latin typeface="Times New Roman"/>
                <a:cs typeface="Times New Roman"/>
              </a:rPr>
              <a:t>depends</a:t>
            </a:r>
            <a:r>
              <a:rPr dirty="0" sz="1200" spc="-5">
                <a:latin typeface="Times New Roman"/>
                <a:cs typeface="Times New Roman"/>
              </a:rPr>
              <a:t> on</a:t>
            </a:r>
            <a:r>
              <a:rPr dirty="0" sz="1200">
                <a:latin typeface="Times New Roman"/>
                <a:cs typeface="Times New Roman"/>
              </a:rPr>
              <a:t> knowledge of three</a:t>
            </a:r>
            <a:r>
              <a:rPr dirty="0" sz="1200" spc="-5">
                <a:latin typeface="Times New Roman"/>
                <a:cs typeface="Times New Roman"/>
              </a:rPr>
              <a:t> things:</a:t>
            </a:r>
            <a:endParaRPr sz="1200">
              <a:latin typeface="Times New Roman"/>
              <a:cs typeface="Times New Roman"/>
            </a:endParaRPr>
          </a:p>
          <a:p>
            <a:pPr marL="143510" indent="-131445">
              <a:lnSpc>
                <a:spcPts val="1315"/>
              </a:lnSpc>
              <a:buAutoNum type="romanLcParenR"/>
              <a:tabLst>
                <a:tab pos="144145" algn="l"/>
              </a:tabLst>
            </a:pPr>
            <a:r>
              <a:rPr dirty="0" sz="1200">
                <a:latin typeface="Times New Roman"/>
                <a:cs typeface="Times New Roman"/>
              </a:rPr>
              <a:t>Rules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grammar-syntax</a:t>
            </a:r>
            <a:endParaRPr sz="1200">
              <a:latin typeface="Times New Roman"/>
              <a:cs typeface="Times New Roman"/>
            </a:endParaRPr>
          </a:p>
          <a:p>
            <a:pPr marL="12700" marR="4868545">
              <a:lnSpc>
                <a:spcPts val="1380"/>
              </a:lnSpc>
              <a:spcBef>
                <a:spcPts val="65"/>
              </a:spcBef>
              <a:buAutoNum type="romanLcParenR"/>
              <a:tabLst>
                <a:tab pos="186055" algn="l"/>
              </a:tabLst>
            </a:pPr>
            <a:r>
              <a:rPr dirty="0" sz="1200">
                <a:latin typeface="Times New Roman"/>
                <a:cs typeface="Times New Roman"/>
              </a:rPr>
              <a:t>Rhetoric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iii)Co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position.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Grammar: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parts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speech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variations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form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words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constructions,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relationship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 (syntax).</a:t>
            </a:r>
            <a:r>
              <a:rPr dirty="0" sz="1200">
                <a:latin typeface="Times New Roman"/>
                <a:cs typeface="Times New Roman"/>
              </a:rPr>
              <a:t> You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>
                <a:latin typeface="Times New Roman"/>
                <a:cs typeface="Times New Roman"/>
              </a:rPr>
              <a:t>discover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rules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grammar </a:t>
            </a:r>
            <a:r>
              <a:rPr dirty="0" sz="1200">
                <a:latin typeface="Times New Roman"/>
                <a:cs typeface="Times New Roman"/>
              </a:rPr>
              <a:t>are quite </a:t>
            </a:r>
            <a:r>
              <a:rPr dirty="0" sz="1200" spc="-5">
                <a:latin typeface="Times New Roman"/>
                <a:cs typeface="Times New Roman"/>
              </a:rPr>
              <a:t>definite </a:t>
            </a:r>
            <a:r>
              <a:rPr dirty="0" sz="1200">
                <a:latin typeface="Times New Roman"/>
                <a:cs typeface="Times New Roman"/>
              </a:rPr>
              <a:t> and at the </a:t>
            </a:r>
            <a:r>
              <a:rPr dirty="0" sz="1200" spc="-5">
                <a:latin typeface="Times New Roman"/>
                <a:cs typeface="Times New Roman"/>
              </a:rPr>
              <a:t>same time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find that under certain </a:t>
            </a:r>
            <a:r>
              <a:rPr dirty="0" sz="1200" spc="-5">
                <a:latin typeface="Times New Roman"/>
                <a:cs typeface="Times New Roman"/>
              </a:rPr>
              <a:t>circumstances, </a:t>
            </a:r>
            <a:r>
              <a:rPr dirty="0" sz="1200">
                <a:latin typeface="Times New Roman"/>
                <a:cs typeface="Times New Roman"/>
              </a:rPr>
              <a:t>a form of a word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correct and other </a:t>
            </a:r>
            <a:r>
              <a:rPr dirty="0" sz="1200" spc="-5">
                <a:latin typeface="Times New Roman"/>
                <a:cs typeface="Times New Roman"/>
              </a:rPr>
              <a:t>forms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incorrect grammar. </a:t>
            </a:r>
            <a:r>
              <a:rPr dirty="0" sz="1200">
                <a:latin typeface="Times New Roman"/>
                <a:cs typeface="Times New Roman"/>
              </a:rPr>
              <a:t>Grammar </a:t>
            </a:r>
            <a:r>
              <a:rPr dirty="0" sz="1200" spc="-5">
                <a:latin typeface="Times New Roman"/>
                <a:cs typeface="Times New Roman"/>
              </a:rPr>
              <a:t>concerns </a:t>
            </a:r>
            <a:r>
              <a:rPr dirty="0" sz="1200">
                <a:latin typeface="Times New Roman"/>
                <a:cs typeface="Times New Roman"/>
              </a:rPr>
              <a:t>all the rules of language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 It </a:t>
            </a:r>
            <a:r>
              <a:rPr dirty="0" sz="1200" spc="-5">
                <a:latin typeface="Times New Roman"/>
                <a:cs typeface="Times New Roman"/>
              </a:rPr>
              <a:t>classifies words </a:t>
            </a:r>
            <a:r>
              <a:rPr dirty="0" sz="1200">
                <a:latin typeface="Times New Roman"/>
                <a:cs typeface="Times New Roman"/>
              </a:rPr>
              <a:t>into all </a:t>
            </a:r>
            <a:r>
              <a:rPr dirty="0" sz="1200" spc="-5">
                <a:latin typeface="Times New Roman"/>
                <a:cs typeface="Times New Roman"/>
              </a:rPr>
              <a:t>sorts </a:t>
            </a:r>
            <a:r>
              <a:rPr dirty="0" sz="1200">
                <a:latin typeface="Times New Roman"/>
                <a:cs typeface="Times New Roman"/>
              </a:rPr>
              <a:t>of categories and </a:t>
            </a:r>
            <a:r>
              <a:rPr dirty="0" sz="1200" spc="-5">
                <a:latin typeface="Times New Roman"/>
                <a:cs typeface="Times New Roman"/>
              </a:rPr>
              <a:t>describes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peculiarities of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category. </a:t>
            </a:r>
            <a:r>
              <a:rPr dirty="0" sz="1200" spc="-5">
                <a:latin typeface="Times New Roman"/>
                <a:cs typeface="Times New Roman"/>
              </a:rPr>
              <a:t>Grammar has many </a:t>
            </a:r>
            <a:r>
              <a:rPr dirty="0" sz="1200">
                <a:latin typeface="Times New Roman"/>
                <a:cs typeface="Times New Roman"/>
              </a:rPr>
              <a:t>categories and specifies each </a:t>
            </a:r>
            <a:r>
              <a:rPr dirty="0" sz="1200" spc="-5">
                <a:latin typeface="Times New Roman"/>
                <a:cs typeface="Times New Roman"/>
              </a:rPr>
              <a:t>category </a:t>
            </a:r>
            <a:r>
              <a:rPr dirty="0" sz="1200">
                <a:latin typeface="Times New Roman"/>
                <a:cs typeface="Times New Roman"/>
              </a:rPr>
              <a:t>by a </a:t>
            </a:r>
            <a:r>
              <a:rPr dirty="0" sz="1200" spc="-5">
                <a:latin typeface="Times New Roman"/>
                <a:cs typeface="Times New Roman"/>
              </a:rPr>
              <a:t>term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name </a:t>
            </a:r>
            <a:r>
              <a:rPr dirty="0" sz="1200">
                <a:latin typeface="Times New Roman"/>
                <a:cs typeface="Times New Roman"/>
              </a:rPr>
              <a:t> which enables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to recognize it. The English language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8 parts of speech – the </a:t>
            </a:r>
            <a:r>
              <a:rPr dirty="0" sz="1200" spc="-5">
                <a:latin typeface="Times New Roman"/>
                <a:cs typeface="Times New Roman"/>
              </a:rPr>
              <a:t>different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English speech – </a:t>
            </a:r>
            <a:r>
              <a:rPr dirty="0" sz="1200" spc="-5">
                <a:latin typeface="Times New Roman"/>
                <a:cs typeface="Times New Roman"/>
              </a:rPr>
              <a:t>Noun </a:t>
            </a:r>
            <a:r>
              <a:rPr dirty="0" sz="1200">
                <a:latin typeface="Times New Roman"/>
                <a:cs typeface="Times New Roman"/>
              </a:rPr>
              <a:t>Verb </a:t>
            </a:r>
            <a:r>
              <a:rPr dirty="0" sz="1200" spc="-5">
                <a:latin typeface="Times New Roman"/>
                <a:cs typeface="Times New Roman"/>
              </a:rPr>
              <a:t>Pronoun, Adjective, </a:t>
            </a:r>
            <a:r>
              <a:rPr dirty="0" sz="1200">
                <a:latin typeface="Times New Roman"/>
                <a:cs typeface="Times New Roman"/>
              </a:rPr>
              <a:t>Adverb, Proposition, </a:t>
            </a:r>
            <a:r>
              <a:rPr dirty="0" sz="1200" spc="-5">
                <a:latin typeface="Times New Roman"/>
                <a:cs typeface="Times New Roman"/>
              </a:rPr>
              <a:t>Conjunction,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Interjection. In addition to the 8 </a:t>
            </a:r>
            <a:r>
              <a:rPr dirty="0" sz="1200" spc="-5">
                <a:latin typeface="Times New Roman"/>
                <a:cs typeface="Times New Roman"/>
              </a:rPr>
              <a:t>parts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speech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other terms </a:t>
            </a:r>
            <a:r>
              <a:rPr dirty="0" sz="1200">
                <a:latin typeface="Times New Roman"/>
                <a:cs typeface="Times New Roman"/>
              </a:rPr>
              <a:t>that you </a:t>
            </a:r>
            <a:r>
              <a:rPr dirty="0" sz="1200" spc="-5">
                <a:latin typeface="Times New Roman"/>
                <a:cs typeface="Times New Roman"/>
              </a:rPr>
              <a:t>must become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 </a:t>
            </a:r>
            <a:r>
              <a:rPr dirty="0" sz="1200">
                <a:latin typeface="Times New Roman"/>
                <a:cs typeface="Times New Roman"/>
              </a:rPr>
              <a:t>with in order to </a:t>
            </a:r>
            <a:r>
              <a:rPr dirty="0" sz="1200" spc="-5">
                <a:latin typeface="Times New Roman"/>
                <a:cs typeface="Times New Roman"/>
              </a:rPr>
              <a:t>understand </a:t>
            </a:r>
            <a:r>
              <a:rPr dirty="0" sz="1200">
                <a:latin typeface="Times New Roman"/>
                <a:cs typeface="Times New Roman"/>
              </a:rPr>
              <a:t>and write effective sentences. There are 4 kinds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parts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participle,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gerund,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relative</a:t>
            </a:r>
            <a:r>
              <a:rPr dirty="0" sz="1200" spc="-5">
                <a:latin typeface="Times New Roman"/>
                <a:cs typeface="Times New Roman"/>
              </a:rPr>
              <a:t> adverb.most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us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-5">
                <a:latin typeface="Times New Roman"/>
                <a:cs typeface="Times New Roman"/>
              </a:rPr>
              <a:t> communicate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exchanging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140</a:t>
            </a:fld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Participle: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 verb and </a:t>
            </a:r>
            <a:r>
              <a:rPr dirty="0" sz="1200" spc="-5">
                <a:latin typeface="Times New Roman"/>
                <a:cs typeface="Times New Roman"/>
              </a:rPr>
              <a:t>adjective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</a:t>
            </a:r>
            <a:r>
              <a:rPr dirty="0" sz="1200">
                <a:latin typeface="Times New Roman"/>
                <a:cs typeface="Times New Roman"/>
              </a:rPr>
              <a:t> e.g.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retired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headmaster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distributed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prizes.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Gerund: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noun</a:t>
            </a:r>
            <a:r>
              <a:rPr dirty="0" sz="1200" spc="-5">
                <a:latin typeface="Times New Roman"/>
                <a:cs typeface="Times New Roman"/>
              </a:rPr>
              <a:t> combined;</a:t>
            </a:r>
            <a:r>
              <a:rPr dirty="0" sz="1200">
                <a:latin typeface="Times New Roman"/>
                <a:cs typeface="Times New Roman"/>
              </a:rPr>
              <a:t> e.g.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 is </a:t>
            </a:r>
            <a:r>
              <a:rPr dirty="0" sz="1200" i="1">
                <a:latin typeface="Times New Roman"/>
                <a:cs typeface="Times New Roman"/>
              </a:rPr>
              <a:t>thinking</a:t>
            </a:r>
            <a:r>
              <a:rPr dirty="0" sz="1200" spc="-5" i="1">
                <a:latin typeface="Times New Roman"/>
                <a:cs typeface="Times New Roman"/>
              </a:rPr>
              <a:t> of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leaving</a:t>
            </a:r>
            <a:r>
              <a:rPr dirty="0" sz="1200" spc="-5" i="1">
                <a:latin typeface="Times New Roman"/>
                <a:cs typeface="Times New Roman"/>
              </a:rPr>
              <a:t> her </a:t>
            </a:r>
            <a:r>
              <a:rPr dirty="0" sz="1200" i="1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Infinitive: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r>
              <a:rPr dirty="0" sz="1200" spc="-5">
                <a:latin typeface="Times New Roman"/>
                <a:cs typeface="Times New Roman"/>
              </a:rPr>
              <a:t> combined.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She </a:t>
            </a:r>
            <a:r>
              <a:rPr dirty="0" sz="1200" spc="-5" i="1">
                <a:latin typeface="Times New Roman"/>
                <a:cs typeface="Times New Roman"/>
              </a:rPr>
              <a:t>wishes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 deposit</a:t>
            </a:r>
            <a:r>
              <a:rPr dirty="0" sz="1200" i="1">
                <a:latin typeface="Times New Roman"/>
                <a:cs typeface="Times New Roman"/>
              </a:rPr>
              <a:t> 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money.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Relative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Adverb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partly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adverb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partly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conjunction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relieved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when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program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ended.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Besides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grammar,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Rhetoric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‘putting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together’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whole: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longer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units.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arrangement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essential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writing.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rules of rhetoric and </a:t>
            </a:r>
            <a:r>
              <a:rPr dirty="0" sz="1200" spc="-5">
                <a:latin typeface="Times New Roman"/>
                <a:cs typeface="Times New Roman"/>
              </a:rPr>
              <a:t>composition,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are less </a:t>
            </a:r>
            <a:r>
              <a:rPr dirty="0" sz="1200">
                <a:latin typeface="Times New Roman"/>
                <a:cs typeface="Times New Roman"/>
              </a:rPr>
              <a:t>rigid than the rules of grammar,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provide </a:t>
            </a:r>
            <a:r>
              <a:rPr dirty="0" sz="1200" spc="-5">
                <a:latin typeface="Times New Roman"/>
                <a:cs typeface="Times New Roman"/>
              </a:rPr>
              <a:t>the standards </a:t>
            </a:r>
            <a:r>
              <a:rPr dirty="0" sz="1200">
                <a:latin typeface="Times New Roman"/>
                <a:cs typeface="Times New Roman"/>
              </a:rPr>
              <a:t>of good </a:t>
            </a:r>
            <a:r>
              <a:rPr dirty="0" sz="1200" spc="-5">
                <a:latin typeface="Times New Roman"/>
                <a:cs typeface="Times New Roman"/>
              </a:rPr>
              <a:t>writing. Remember </a:t>
            </a:r>
            <a:r>
              <a:rPr dirty="0" sz="1200">
                <a:latin typeface="Times New Roman"/>
                <a:cs typeface="Times New Roman"/>
              </a:rPr>
              <a:t>these rules of good English are the result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generations of </a:t>
            </a:r>
            <a:r>
              <a:rPr dirty="0" sz="1200" spc="-5">
                <a:latin typeface="Times New Roman"/>
                <a:cs typeface="Times New Roman"/>
              </a:rPr>
              <a:t>experiments</a:t>
            </a:r>
            <a:r>
              <a:rPr dirty="0" sz="1200">
                <a:latin typeface="Times New Roman"/>
                <a:cs typeface="Times New Roman"/>
              </a:rPr>
              <a:t> in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Even </a:t>
            </a:r>
            <a:r>
              <a:rPr dirty="0" sz="1200" spc="-5">
                <a:latin typeface="Times New Roman"/>
                <a:cs typeface="Times New Roman"/>
              </a:rPr>
              <a:t>messages composed </a:t>
            </a:r>
            <a:r>
              <a:rPr dirty="0" sz="1200">
                <a:latin typeface="Times New Roman"/>
                <a:cs typeface="Times New Roman"/>
              </a:rPr>
              <a:t>on word </a:t>
            </a:r>
            <a:r>
              <a:rPr dirty="0" sz="1200" spc="-5">
                <a:latin typeface="Times New Roman"/>
                <a:cs typeface="Times New Roman"/>
              </a:rPr>
              <a:t>processors,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instance, </a:t>
            </a:r>
            <a:r>
              <a:rPr dirty="0" sz="1200">
                <a:latin typeface="Times New Roman"/>
                <a:cs typeface="Times New Roman"/>
              </a:rPr>
              <a:t>are texts </a:t>
            </a:r>
            <a:r>
              <a:rPr dirty="0" sz="1200" spc="-5">
                <a:latin typeface="Times New Roman"/>
                <a:cs typeface="Times New Roman"/>
              </a:rPr>
              <a:t>constructed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usages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grammar,</a:t>
            </a:r>
            <a:r>
              <a:rPr dirty="0" sz="1200">
                <a:latin typeface="Times New Roman"/>
                <a:cs typeface="Times New Roman"/>
              </a:rPr>
              <a:t> spelling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punctuation.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>
                <a:latin typeface="Times New Roman"/>
                <a:cs typeface="Times New Roman"/>
              </a:rPr>
              <a:t> then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of communication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well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self</a:t>
            </a:r>
            <a:r>
              <a:rPr dirty="0" sz="1200">
                <a:latin typeface="Times New Roman"/>
                <a:cs typeface="Times New Roman"/>
              </a:rPr>
              <a:t> expression. In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students </a:t>
            </a:r>
            <a:r>
              <a:rPr dirty="0" sz="1200">
                <a:latin typeface="Times New Roman"/>
                <a:cs typeface="Times New Roman"/>
              </a:rPr>
              <a:t>are capable of communicating their ideas, </a:t>
            </a:r>
            <a:r>
              <a:rPr dirty="0" sz="1200" spc="-5">
                <a:latin typeface="Times New Roman"/>
                <a:cs typeface="Times New Roman"/>
              </a:rPr>
              <a:t>knowledge, </a:t>
            </a:r>
            <a:r>
              <a:rPr dirty="0" sz="1200">
                <a:latin typeface="Times New Roman"/>
                <a:cs typeface="Times New Roman"/>
              </a:rPr>
              <a:t>experiences and </a:t>
            </a:r>
            <a:r>
              <a:rPr dirty="0" sz="1200" spc="-5">
                <a:latin typeface="Times New Roman"/>
                <a:cs typeface="Times New Roman"/>
              </a:rPr>
              <a:t>opinions. </a:t>
            </a:r>
            <a:r>
              <a:rPr dirty="0" sz="1200">
                <a:latin typeface="Times New Roman"/>
                <a:cs typeface="Times New Roman"/>
              </a:rPr>
              <a:t> But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everyone,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accomplished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communicating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benefit from help or advice in </a:t>
            </a:r>
            <a:r>
              <a:rPr dirty="0" sz="1200" spc="-5">
                <a:latin typeface="Times New Roman"/>
                <a:cs typeface="Times New Roman"/>
              </a:rPr>
              <a:t>improving</a:t>
            </a:r>
            <a:r>
              <a:rPr dirty="0" sz="1200">
                <a:latin typeface="Times New Roman"/>
                <a:cs typeface="Times New Roman"/>
              </a:rPr>
              <a:t> his/her </a:t>
            </a:r>
            <a:r>
              <a:rPr dirty="0" sz="1200" spc="-5">
                <a:latin typeface="Times New Roman"/>
                <a:cs typeface="Times New Roman"/>
              </a:rPr>
              <a:t>communication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tools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80"/>
              </a:lnSpc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grammar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syntax,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usage,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vocabulary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conventions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Having said that I would like to </a:t>
            </a:r>
            <a:r>
              <a:rPr dirty="0" sz="1200" spc="-5">
                <a:latin typeface="Times New Roman"/>
                <a:cs typeface="Times New Roman"/>
              </a:rPr>
              <a:t>remind </a:t>
            </a:r>
            <a:r>
              <a:rPr dirty="0" sz="1200">
                <a:latin typeface="Times New Roman"/>
                <a:cs typeface="Times New Roman"/>
              </a:rPr>
              <a:t>you that good writing depends upon more than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correctness,</a:t>
            </a:r>
            <a:r>
              <a:rPr dirty="0" sz="1200">
                <a:latin typeface="Times New Roman"/>
                <a:cs typeface="Times New Roman"/>
              </a:rPr>
              <a:t> Sentences,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follow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grammatical </a:t>
            </a:r>
            <a:r>
              <a:rPr dirty="0" sz="1200">
                <a:latin typeface="Times New Roman"/>
                <a:cs typeface="Times New Roman"/>
              </a:rPr>
              <a:t>rules </a:t>
            </a:r>
            <a:r>
              <a:rPr dirty="0" sz="1200" spc="-5">
                <a:latin typeface="Times New Roman"/>
                <a:cs typeface="Times New Roman"/>
              </a:rPr>
              <a:t>accurately </a:t>
            </a:r>
            <a:r>
              <a:rPr dirty="0" sz="1200">
                <a:latin typeface="Times New Roman"/>
                <a:cs typeface="Times New Roman"/>
              </a:rPr>
              <a:t>and may still not be effective. Ability to write </a:t>
            </a:r>
            <a:r>
              <a:rPr dirty="0" sz="1200" spc="-5">
                <a:latin typeface="Times New Roman"/>
                <a:cs typeface="Times New Roman"/>
              </a:rPr>
              <a:t>well comes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how well you construct sentences. You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cleverest of ideas but if you 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 control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 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 will 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disappointing.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Control over sentences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the ability to </a:t>
            </a:r>
            <a:r>
              <a:rPr dirty="0" sz="1200" spc="-5">
                <a:latin typeface="Times New Roman"/>
                <a:cs typeface="Times New Roman"/>
              </a:rPr>
              <a:t>employ </a:t>
            </a:r>
            <a:r>
              <a:rPr dirty="0" sz="1200">
                <a:latin typeface="Times New Roman"/>
                <a:cs typeface="Times New Roman"/>
              </a:rPr>
              <a:t>different kinds of sentence patterns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generally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weak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structure.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 have practice in sentence construction.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group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containing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 (Noun or Noun equivalent) and a verb </a:t>
            </a:r>
            <a:r>
              <a:rPr dirty="0" sz="1200" spc="-5">
                <a:latin typeface="Times New Roman"/>
                <a:cs typeface="Times New Roman"/>
              </a:rPr>
              <a:t>(action </a:t>
            </a:r>
            <a:r>
              <a:rPr dirty="0" sz="1200">
                <a:latin typeface="Times New Roman"/>
                <a:cs typeface="Times New Roman"/>
              </a:rPr>
              <a:t>or state of being) in which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expressed about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else.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equivalent in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of the complete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 from your </a:t>
            </a:r>
            <a:r>
              <a:rPr dirty="0" sz="1200" spc="-5">
                <a:latin typeface="Times New Roman"/>
                <a:cs typeface="Times New Roman"/>
              </a:rPr>
              <a:t>mind, </a:t>
            </a:r>
            <a:r>
              <a:rPr dirty="0" sz="1200">
                <a:latin typeface="Times New Roman"/>
                <a:cs typeface="Times New Roman"/>
              </a:rPr>
              <a:t>and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with sentences i.e. complete thoughts that </a:t>
            </a:r>
            <a:r>
              <a:rPr dirty="0" sz="1200" spc="-5">
                <a:latin typeface="Times New Roman"/>
                <a:cs typeface="Times New Roman"/>
              </a:rPr>
              <a:t>we compose </a:t>
            </a:r>
            <a:r>
              <a:rPr dirty="0" sz="1200">
                <a:latin typeface="Times New Roman"/>
                <a:cs typeface="Times New Roman"/>
              </a:rPr>
              <a:t> paragraphs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we</a:t>
            </a:r>
            <a:r>
              <a:rPr dirty="0" sz="1200">
                <a:latin typeface="Times New Roman"/>
                <a:cs typeface="Times New Roman"/>
              </a:rPr>
              <a:t> construct </a:t>
            </a:r>
            <a:r>
              <a:rPr dirty="0" sz="1200" spc="-5">
                <a:latin typeface="Times New Roman"/>
                <a:cs typeface="Times New Roman"/>
              </a:rPr>
              <a:t>essays,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letters, </a:t>
            </a:r>
            <a:r>
              <a:rPr dirty="0" sz="1200" spc="-5">
                <a:latin typeface="Times New Roman"/>
                <a:cs typeface="Times New Roman"/>
              </a:rPr>
              <a:t>reports,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books, etc….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order to write well 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able to construct </a:t>
            </a:r>
            <a:r>
              <a:rPr dirty="0" sz="1200" spc="-5">
                <a:latin typeface="Times New Roman"/>
                <a:cs typeface="Times New Roman"/>
              </a:rPr>
              <a:t>good, effective sentences. In today’s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about types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sentences and have practice in all types of </a:t>
            </a:r>
            <a:r>
              <a:rPr dirty="0" sz="1200" spc="-5">
                <a:latin typeface="Times New Roman"/>
                <a:cs typeface="Times New Roman"/>
              </a:rPr>
              <a:t>sentences. </a:t>
            </a:r>
            <a:r>
              <a:rPr dirty="0" sz="1200">
                <a:latin typeface="Times New Roman"/>
                <a:cs typeface="Times New Roman"/>
              </a:rPr>
              <a:t> Sentences can be classified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are constructed and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purpose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meaning.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first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>
                <a:latin typeface="Times New Roman"/>
                <a:cs typeface="Times New Roman"/>
              </a:rPr>
              <a:t>sentences </a:t>
            </a:r>
            <a:r>
              <a:rPr dirty="0" sz="1200" spc="-5">
                <a:latin typeface="Times New Roman"/>
                <a:cs typeface="Times New Roman"/>
              </a:rPr>
              <a:t>according </a:t>
            </a:r>
            <a:r>
              <a:rPr dirty="0" sz="1200">
                <a:latin typeface="Times New Roman"/>
                <a:cs typeface="Times New Roman"/>
              </a:rPr>
              <a:t>to their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assertion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declaration: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teacher.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cloudy.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day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992446"/>
            <a:ext cx="3869054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issue commands.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</a:t>
            </a:r>
            <a:r>
              <a:rPr dirty="0" sz="1200" i="1">
                <a:latin typeface="Times New Roman"/>
                <a:cs typeface="Times New Roman"/>
              </a:rPr>
              <a:t> in</a:t>
            </a:r>
            <a:endParaRPr sz="1200">
              <a:latin typeface="Times New Roman"/>
              <a:cs typeface="Times New Roman"/>
            </a:endParaRPr>
          </a:p>
          <a:p>
            <a:pPr marL="153924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148</a:t>
            </a:fld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181282" y="7593481"/>
            <a:ext cx="838835" cy="0"/>
          </a:xfrm>
          <a:custGeom>
            <a:avLst/>
            <a:gdLst/>
            <a:ahLst/>
            <a:cxnLst/>
            <a:rect l="l" t="t" r="r" b="b"/>
            <a:pathLst>
              <a:path w="838835" h="0">
                <a:moveTo>
                  <a:pt x="0" y="0"/>
                </a:moveTo>
                <a:lnTo>
                  <a:pt x="838367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2001622" y="7768741"/>
            <a:ext cx="762635" cy="0"/>
          </a:xfrm>
          <a:custGeom>
            <a:avLst/>
            <a:gdLst/>
            <a:ahLst/>
            <a:cxnLst/>
            <a:rect l="l" t="t" r="r" b="b"/>
            <a:pathLst>
              <a:path w="762635" h="0">
                <a:moveTo>
                  <a:pt x="0" y="0"/>
                </a:moveTo>
                <a:lnTo>
                  <a:pt x="762457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utter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exclamations.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would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stop raining!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greetings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forms:</a:t>
            </a:r>
            <a:r>
              <a:rPr dirty="0" sz="1200">
                <a:latin typeface="Times New Roman"/>
                <a:cs typeface="Times New Roman"/>
              </a:rPr>
              <a:t> e.g.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Good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morning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Hello. Shut-up.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II </a:t>
            </a:r>
            <a:r>
              <a:rPr dirty="0" sz="1200" spc="-5">
                <a:latin typeface="Times New Roman"/>
                <a:cs typeface="Times New Roman"/>
              </a:rPr>
              <a:t>Sentences may </a:t>
            </a:r>
            <a:r>
              <a:rPr dirty="0" sz="1200">
                <a:latin typeface="Times New Roman"/>
                <a:cs typeface="Times New Roman"/>
              </a:rPr>
              <a:t>be also </a:t>
            </a:r>
            <a:r>
              <a:rPr dirty="0" sz="1200" spc="-5">
                <a:latin typeface="Times New Roman"/>
                <a:cs typeface="Times New Roman"/>
              </a:rPr>
              <a:t>classified </a:t>
            </a:r>
            <a:r>
              <a:rPr dirty="0" sz="1200">
                <a:latin typeface="Times New Roman"/>
                <a:cs typeface="Times New Roman"/>
              </a:rPr>
              <a:t>according to their </a:t>
            </a:r>
            <a:r>
              <a:rPr dirty="0" sz="1200" spc="-5">
                <a:latin typeface="Times New Roman"/>
                <a:cs typeface="Times New Roman"/>
              </a:rPr>
              <a:t>structure, which is determined </a:t>
            </a:r>
            <a:r>
              <a:rPr dirty="0" sz="1200">
                <a:latin typeface="Times New Roman"/>
                <a:cs typeface="Times New Roman"/>
              </a:rPr>
              <a:t>by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 and number of </a:t>
            </a:r>
            <a:r>
              <a:rPr dirty="0" sz="1200" spc="-5">
                <a:latin typeface="Times New Roman"/>
                <a:cs typeface="Times New Roman"/>
              </a:rPr>
              <a:t>clauses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in them. Depending upon how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constructed,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 in English are either </a:t>
            </a:r>
            <a:r>
              <a:rPr dirty="0" sz="1200" spc="-5">
                <a:latin typeface="Times New Roman"/>
                <a:cs typeface="Times New Roman"/>
              </a:rPr>
              <a:t>simple, compound, complex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compound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complex. So we </a:t>
            </a:r>
            <a:r>
              <a:rPr dirty="0" sz="1200">
                <a:latin typeface="Times New Roman"/>
                <a:cs typeface="Times New Roman"/>
              </a:rPr>
              <a:t> can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these are the four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basic kinds of sentences in </a:t>
            </a:r>
            <a:r>
              <a:rPr dirty="0" sz="1200" spc="-5">
                <a:latin typeface="Times New Roman"/>
                <a:cs typeface="Times New Roman"/>
              </a:rPr>
              <a:t>English.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need to distinguish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 kinds of 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other.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Simple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Sentence: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(a) Any </a:t>
            </a:r>
            <a:r>
              <a:rPr dirty="0" sz="1200" spc="-5">
                <a:latin typeface="Times New Roman"/>
                <a:cs typeface="Times New Roman"/>
              </a:rPr>
              <a:t>sentence, however </a:t>
            </a:r>
            <a:r>
              <a:rPr dirty="0" sz="1200">
                <a:latin typeface="Times New Roman"/>
                <a:cs typeface="Times New Roman"/>
              </a:rPr>
              <a:t>long </a:t>
            </a:r>
            <a:r>
              <a:rPr dirty="0" sz="1200" spc="-5">
                <a:latin typeface="Times New Roman"/>
                <a:cs typeface="Times New Roman"/>
              </a:rPr>
              <a:t>or short,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has only one subject </a:t>
            </a:r>
            <a:r>
              <a:rPr dirty="0" sz="1200">
                <a:latin typeface="Times New Roman"/>
                <a:cs typeface="Times New Roman"/>
              </a:rPr>
              <a:t>- verb </a:t>
            </a:r>
            <a:r>
              <a:rPr dirty="0" sz="1200" spc="-5">
                <a:latin typeface="Times New Roman"/>
                <a:cs typeface="Times New Roman"/>
              </a:rPr>
              <a:t>combination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thought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consisting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and one verb.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0"/>
              </a:lnSpc>
            </a:pPr>
            <a:r>
              <a:rPr dirty="0" sz="1200" i="1">
                <a:latin typeface="Times New Roman"/>
                <a:cs typeface="Times New Roman"/>
              </a:rPr>
              <a:t>a)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Sparks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upwards.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(3)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70"/>
              </a:lnSpc>
              <a:spcBef>
                <a:spcPts val="75"/>
              </a:spcBef>
            </a:pPr>
            <a:r>
              <a:rPr dirty="0" sz="1200" i="1">
                <a:latin typeface="Times New Roman"/>
                <a:cs typeface="Times New Roman"/>
              </a:rPr>
              <a:t>- The tired, dirty and </a:t>
            </a:r>
            <a:r>
              <a:rPr dirty="0" sz="1200" spc="-5" i="1">
                <a:latin typeface="Times New Roman"/>
                <a:cs typeface="Times New Roman"/>
              </a:rPr>
              <a:t>footsore tourists, </a:t>
            </a:r>
            <a:r>
              <a:rPr dirty="0" sz="1200" i="1">
                <a:latin typeface="Times New Roman"/>
                <a:cs typeface="Times New Roman"/>
              </a:rPr>
              <a:t>straggled wearily </a:t>
            </a:r>
            <a:r>
              <a:rPr dirty="0" sz="1200" spc="-5" i="1">
                <a:latin typeface="Times New Roman"/>
                <a:cs typeface="Times New Roman"/>
              </a:rPr>
              <a:t>across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bridge, </a:t>
            </a:r>
            <a:r>
              <a:rPr dirty="0" sz="1200" i="1">
                <a:latin typeface="Times New Roman"/>
                <a:cs typeface="Times New Roman"/>
              </a:rPr>
              <a:t>up the hill, and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finally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 the </a:t>
            </a:r>
            <a:r>
              <a:rPr dirty="0" sz="1200" spc="-5" i="1">
                <a:latin typeface="Times New Roman"/>
                <a:cs typeface="Times New Roman"/>
              </a:rPr>
              <a:t>rest</a:t>
            </a:r>
            <a:r>
              <a:rPr dirty="0" sz="1200" i="1">
                <a:latin typeface="Times New Roman"/>
                <a:cs typeface="Times New Roman"/>
              </a:rPr>
              <a:t> house.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(20)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second sentence contains 20 </a:t>
            </a:r>
            <a:r>
              <a:rPr dirty="0" sz="1200" spc="-5">
                <a:latin typeface="Times New Roman"/>
                <a:cs typeface="Times New Roman"/>
              </a:rPr>
              <a:t>words, </a:t>
            </a:r>
            <a:r>
              <a:rPr dirty="0" sz="1200">
                <a:latin typeface="Times New Roman"/>
                <a:cs typeface="Times New Roman"/>
              </a:rPr>
              <a:t>but,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subject (tourists) and one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finite verb (straggled),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-5">
                <a:latin typeface="Times New Roman"/>
                <a:cs typeface="Times New Roman"/>
              </a:rPr>
              <a:t> is classified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simple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-5">
                <a:latin typeface="Times New Roman"/>
                <a:cs typeface="Times New Roman"/>
              </a:rPr>
              <a:t> A simple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Lamb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Hazlitt wrote </a:t>
            </a:r>
            <a:r>
              <a:rPr dirty="0" sz="1200" i="1">
                <a:latin typeface="Times New Roman"/>
                <a:cs typeface="Times New Roman"/>
              </a:rPr>
              <a:t>charming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essays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5"/>
              </a:lnSpc>
            </a:pPr>
            <a:r>
              <a:rPr dirty="0" sz="1200" spc="-5" i="1">
                <a:latin typeface="Times New Roman"/>
                <a:cs typeface="Times New Roman"/>
              </a:rPr>
              <a:t>-Towels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sheets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sway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clothesline.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Simple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a)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e.g.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Sparks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upwards.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(3)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70"/>
              </a:lnSpc>
              <a:spcBef>
                <a:spcPts val="75"/>
              </a:spcBef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tired,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dirty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footsore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tourists,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straggled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wearily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across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bridge,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hill,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finally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 the </a:t>
            </a:r>
            <a:r>
              <a:rPr dirty="0" sz="1200" spc="-5" i="1">
                <a:latin typeface="Times New Roman"/>
                <a:cs typeface="Times New Roman"/>
              </a:rPr>
              <a:t>rest</a:t>
            </a:r>
            <a:r>
              <a:rPr dirty="0" sz="1200" i="1">
                <a:latin typeface="Times New Roman"/>
                <a:cs typeface="Times New Roman"/>
              </a:rPr>
              <a:t> house.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(20)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25"/>
              </a:lnSpc>
              <a:buAutoNum type="alphaLcParenR" startAt="2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Lamb</a:t>
            </a:r>
            <a:r>
              <a:rPr dirty="0" sz="1200" i="1">
                <a:latin typeface="Times New Roman"/>
                <a:cs typeface="Times New Roman"/>
              </a:rPr>
              <a:t> and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Hazlitt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wrote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charming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essays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-Towels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sheets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sway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clothesline.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75"/>
              </a:lnSpc>
              <a:buAutoNum type="alphaLcParenR" startAt="3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children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splashed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squealed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stream.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born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same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year,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1950,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attended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same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university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wrote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same </a:t>
            </a:r>
            <a:r>
              <a:rPr dirty="0" sz="1200" i="1">
                <a:latin typeface="Times New Roman"/>
                <a:cs typeface="Times New Roman"/>
              </a:rPr>
              <a:t>newspaper.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d)</a:t>
            </a:r>
            <a:r>
              <a:rPr dirty="0" sz="1200" spc="-5">
                <a:latin typeface="Times New Roman"/>
                <a:cs typeface="Times New Roman"/>
              </a:rPr>
              <a:t> A simple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70"/>
              </a:lnSpc>
              <a:spcBef>
                <a:spcPts val="80"/>
              </a:spcBef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Every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Saturday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night,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Shama,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Salman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Minko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movies,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eat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Chinese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restaurant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 play</a:t>
            </a:r>
            <a:r>
              <a:rPr dirty="0" sz="1200" spc="-5" i="1">
                <a:latin typeface="Times New Roman"/>
                <a:cs typeface="Times New Roman"/>
              </a:rPr>
              <a:t> cards</a:t>
            </a:r>
            <a:r>
              <a:rPr dirty="0" sz="1200" i="1">
                <a:latin typeface="Times New Roman"/>
                <a:cs typeface="Times New Roman"/>
              </a:rPr>
              <a:t> at 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gymkhana club.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simple</a:t>
            </a:r>
            <a:r>
              <a:rPr dirty="0" sz="1200">
                <a:latin typeface="Times New Roman"/>
                <a:cs typeface="Times New Roman"/>
              </a:rPr>
              <a:t> sentences 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filling in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more </a:t>
            </a:r>
            <a:r>
              <a:rPr dirty="0" sz="1200">
                <a:latin typeface="Times New Roman"/>
                <a:cs typeface="Times New Roman"/>
              </a:rPr>
              <a:t>verbs.</a:t>
            </a:r>
            <a:endParaRPr sz="1200">
              <a:latin typeface="Times New Roman"/>
              <a:cs typeface="Times New Roman"/>
            </a:endParaRPr>
          </a:p>
          <a:p>
            <a:pPr marL="1041400" indent="-1029335">
              <a:lnSpc>
                <a:spcPts val="1380"/>
              </a:lnSpc>
              <a:buAutoNum type="arabicPeriod"/>
              <a:tabLst>
                <a:tab pos="1041400" algn="l"/>
                <a:tab pos="1042035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favourite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sport.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178562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batsman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ball.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127952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gave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1518920" algn="l"/>
                <a:tab pos="319913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suitcase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off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van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ditch.</a:t>
            </a:r>
            <a:endParaRPr sz="1200">
              <a:latin typeface="Times New Roman"/>
              <a:cs typeface="Times New Roman"/>
            </a:endParaRPr>
          </a:p>
          <a:p>
            <a:pPr marL="12700" marR="467359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100" algn="l"/>
                <a:tab pos="2763520" algn="l"/>
                <a:tab pos="4394200" algn="l"/>
              </a:tabLst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raining the children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indoors and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cartoons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TV.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Compound</a:t>
            </a:r>
            <a:r>
              <a:rPr dirty="0" sz="1200">
                <a:latin typeface="Times New Roman"/>
                <a:cs typeface="Times New Roman"/>
              </a:rPr>
              <a:t> Sentence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up of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>
                <a:latin typeface="Times New Roman"/>
                <a:cs typeface="Times New Roman"/>
              </a:rPr>
              <a:t> or more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thoughts 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Saima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biryani</a:t>
            </a:r>
            <a:r>
              <a:rPr dirty="0" sz="1200" spc="-5" i="1">
                <a:latin typeface="Times New Roman"/>
                <a:cs typeface="Times New Roman"/>
              </a:rPr>
              <a:t> for </a:t>
            </a:r>
            <a:r>
              <a:rPr dirty="0" sz="1200" i="1">
                <a:latin typeface="Times New Roman"/>
                <a:cs typeface="Times New Roman"/>
              </a:rPr>
              <a:t>dinner,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forgot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meat.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life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easy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one,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eventful.</a:t>
            </a:r>
            <a:endParaRPr sz="1200">
              <a:latin typeface="Times New Roman"/>
              <a:cs typeface="Times New Roman"/>
            </a:endParaRPr>
          </a:p>
          <a:p>
            <a:pPr marL="12700" marR="1790700">
              <a:lnSpc>
                <a:spcPts val="1380"/>
              </a:lnSpc>
              <a:spcBef>
                <a:spcPts val="70"/>
              </a:spcBef>
              <a:tabLst>
                <a:tab pos="1841500" algn="l"/>
              </a:tabLst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Joining Words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 table explains all the </a:t>
            </a:r>
            <a:r>
              <a:rPr dirty="0" sz="1200" spc="-5">
                <a:latin typeface="Times New Roman"/>
                <a:cs typeface="Times New Roman"/>
              </a:rPr>
              <a:t>joining words.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	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addition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149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229235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but 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 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610" y="913892"/>
            <a:ext cx="768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44281" y="913892"/>
            <a:ext cx="2705100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2049145">
              <a:lnSpc>
                <a:spcPts val="1380"/>
              </a:lnSpc>
              <a:spcBef>
                <a:spcPts val="195"/>
              </a:spcBef>
            </a:pPr>
            <a:r>
              <a:rPr dirty="0" sz="1200" i="1">
                <a:latin typeface="Times New Roman"/>
                <a:cs typeface="Times New Roman"/>
              </a:rPr>
              <a:t>however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result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because </a:t>
            </a:r>
            <a:r>
              <a:rPr dirty="0" sz="1200" spc="-5" i="1">
                <a:latin typeface="Times New Roman"/>
                <a:cs typeface="Times New Roman"/>
              </a:rPr>
              <a:t> however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alternatives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negative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140711"/>
            <a:ext cx="5627370" cy="7043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co-coordinating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90"/>
              </a:lnSpc>
              <a:spcBef>
                <a:spcPts val="55"/>
              </a:spcBef>
              <a:buFont typeface="Times New Roman"/>
              <a:buChar char="-"/>
              <a:tabLst>
                <a:tab pos="11176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driver </a:t>
            </a:r>
            <a:r>
              <a:rPr dirty="0" sz="1200" i="1">
                <a:latin typeface="Times New Roman"/>
                <a:cs typeface="Times New Roman"/>
              </a:rPr>
              <a:t>failed to </a:t>
            </a:r>
            <a:r>
              <a:rPr dirty="0" sz="1200" spc="-5" i="1">
                <a:latin typeface="Times New Roman"/>
                <a:cs typeface="Times New Roman"/>
              </a:rPr>
              <a:t>signal, and he went through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stop sign.</a:t>
            </a:r>
            <a:r>
              <a:rPr dirty="0" sz="1200" spc="-5">
                <a:latin typeface="Times New Roman"/>
                <a:cs typeface="Times New Roman"/>
              </a:rPr>
              <a:t>- </a:t>
            </a:r>
            <a:r>
              <a:rPr dirty="0" sz="1200" i="1">
                <a:latin typeface="Times New Roman"/>
                <a:cs typeface="Times New Roman"/>
              </a:rPr>
              <a:t>I </a:t>
            </a:r>
            <a:r>
              <a:rPr dirty="0" sz="1200" spc="-5" i="1">
                <a:latin typeface="Times New Roman"/>
                <a:cs typeface="Times New Roman"/>
              </a:rPr>
              <a:t>was very tired, but </a:t>
            </a:r>
            <a:r>
              <a:rPr dirty="0" sz="1200" i="1">
                <a:latin typeface="Times New Roman"/>
                <a:cs typeface="Times New Roman"/>
              </a:rPr>
              <a:t>I </a:t>
            </a:r>
            <a:r>
              <a:rPr dirty="0" sz="1200" spc="-5" i="1">
                <a:latin typeface="Times New Roman"/>
                <a:cs typeface="Times New Roman"/>
              </a:rPr>
              <a:t>still </a:t>
            </a:r>
            <a:r>
              <a:rPr dirty="0" sz="1200" i="1">
                <a:latin typeface="Times New Roman"/>
                <a:cs typeface="Times New Roman"/>
              </a:rPr>
              <a:t> 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two </a:t>
            </a:r>
            <a:r>
              <a:rPr dirty="0" sz="1200" spc="-5" i="1">
                <a:latin typeface="Times New Roman"/>
                <a:cs typeface="Times New Roman"/>
              </a:rPr>
              <a:t>hours</a:t>
            </a:r>
            <a:r>
              <a:rPr dirty="0" sz="1200" i="1">
                <a:latin typeface="Times New Roman"/>
                <a:cs typeface="Times New Roman"/>
              </a:rPr>
              <a:t> of assigned reading.</a:t>
            </a:r>
            <a:endParaRPr sz="1200">
              <a:latin typeface="Times New Roman"/>
              <a:cs typeface="Times New Roman"/>
            </a:endParaRPr>
          </a:p>
          <a:p>
            <a:pPr algn="just" marL="101600" indent="-89535">
              <a:lnSpc>
                <a:spcPts val="130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cooked,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sent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back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kitchen.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70"/>
              </a:spcBef>
            </a:pPr>
            <a:r>
              <a:rPr dirty="0" sz="1200" i="1">
                <a:latin typeface="Times New Roman"/>
                <a:cs typeface="Times New Roman"/>
              </a:rPr>
              <a:t>- </a:t>
            </a:r>
            <a:r>
              <a:rPr dirty="0" sz="1200" spc="-5" i="1">
                <a:latin typeface="Times New Roman"/>
                <a:cs typeface="Times New Roman"/>
              </a:rPr>
              <a:t>She works at home, for she wants to be with her </a:t>
            </a:r>
            <a:r>
              <a:rPr dirty="0" sz="1200" i="1">
                <a:latin typeface="Times New Roman"/>
                <a:cs typeface="Times New Roman"/>
              </a:rPr>
              <a:t>two </a:t>
            </a:r>
            <a:r>
              <a:rPr dirty="0" sz="1200" spc="-5" i="1">
                <a:latin typeface="Times New Roman"/>
                <a:cs typeface="Times New Roman"/>
              </a:rPr>
              <a:t>young children- My </a:t>
            </a:r>
            <a:r>
              <a:rPr dirty="0" sz="1200" i="1">
                <a:latin typeface="Times New Roman"/>
                <a:cs typeface="Times New Roman"/>
              </a:rPr>
              <a:t>friend loves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sewing, yet </a:t>
            </a:r>
            <a:r>
              <a:rPr dirty="0" sz="1200" spc="-5" i="1">
                <a:latin typeface="Times New Roman"/>
                <a:cs typeface="Times New Roman"/>
              </a:rPr>
              <a:t>she </a:t>
            </a:r>
            <a:r>
              <a:rPr dirty="0" sz="1200" i="1">
                <a:latin typeface="Times New Roman"/>
                <a:cs typeface="Times New Roman"/>
              </a:rPr>
              <a:t>decided to take to take </a:t>
            </a:r>
            <a:r>
              <a:rPr dirty="0" sz="1200" spc="-5" i="1">
                <a:latin typeface="Times New Roman"/>
                <a:cs typeface="Times New Roman"/>
              </a:rPr>
              <a:t>up science </a:t>
            </a:r>
            <a:r>
              <a:rPr dirty="0" sz="1200" i="1">
                <a:latin typeface="Times New Roman"/>
                <a:cs typeface="Times New Roman"/>
              </a:rPr>
              <a:t>in college.- </a:t>
            </a:r>
            <a:r>
              <a:rPr dirty="0" sz="1200" spc="-10" i="1">
                <a:latin typeface="Times New Roman"/>
                <a:cs typeface="Times New Roman"/>
              </a:rPr>
              <a:t>You </a:t>
            </a:r>
            <a:r>
              <a:rPr dirty="0" sz="1200" spc="-5" i="1">
                <a:latin typeface="Times New Roman"/>
                <a:cs typeface="Times New Roman"/>
              </a:rPr>
              <a:t>can ride with us to the </a:t>
            </a:r>
            <a:r>
              <a:rPr dirty="0" sz="1200" i="1">
                <a:latin typeface="Times New Roman"/>
                <a:cs typeface="Times New Roman"/>
              </a:rPr>
              <a:t> stadium,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or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someone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else.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Saad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meat,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fish.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suitable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joining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compound </a:t>
            </a:r>
            <a:r>
              <a:rPr dirty="0" sz="1200">
                <a:latin typeface="Times New Roman"/>
                <a:cs typeface="Times New Roman"/>
              </a:rPr>
              <a:t>sentence. Choose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 joining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tabLst>
                <a:tab pos="617220" algn="l"/>
                <a:tab pos="1154430" algn="l"/>
              </a:tabLst>
            </a:pPr>
            <a:r>
              <a:rPr dirty="0" sz="1200" spc="-5">
                <a:latin typeface="Times New Roman"/>
                <a:cs typeface="Times New Roman"/>
              </a:rPr>
              <a:t>And	but	</a:t>
            </a:r>
            <a:r>
              <a:rPr dirty="0" sz="1200" spc="-10">
                <a:latin typeface="Times New Roman"/>
                <a:cs typeface="Times New Roman"/>
              </a:rPr>
              <a:t>so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5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city sanitary</a:t>
            </a:r>
            <a:r>
              <a:rPr dirty="0" sz="1200" spc="-5" i="1">
                <a:latin typeface="Times New Roman"/>
                <a:cs typeface="Times New Roman"/>
              </a:rPr>
              <a:t> workers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on strike.</a:t>
            </a:r>
            <a:r>
              <a:rPr dirty="0" sz="1200" spc="-5" i="1">
                <a:latin typeface="Times New Roman"/>
                <a:cs typeface="Times New Roman"/>
              </a:rPr>
              <a:t> 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streets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littered with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garbage.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computer</a:t>
            </a:r>
            <a:r>
              <a:rPr dirty="0" sz="1200" spc="-5" i="1">
                <a:latin typeface="Times New Roman"/>
                <a:cs typeface="Times New Roman"/>
              </a:rPr>
              <a:t> was </a:t>
            </a:r>
            <a:r>
              <a:rPr dirty="0" sz="1200" i="1">
                <a:latin typeface="Times New Roman"/>
                <a:cs typeface="Times New Roman"/>
              </a:rPr>
              <a:t>on.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one</a:t>
            </a:r>
            <a:r>
              <a:rPr dirty="0" sz="1200" spc="-5" i="1">
                <a:latin typeface="Times New Roman"/>
                <a:cs typeface="Times New Roman"/>
              </a:rPr>
              <a:t> was </a:t>
            </a:r>
            <a:r>
              <a:rPr dirty="0" sz="1200" i="1">
                <a:latin typeface="Times New Roman"/>
                <a:cs typeface="Times New Roman"/>
              </a:rPr>
              <a:t>working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75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storm was approaching,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quickly. The mountain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climber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found </a:t>
            </a:r>
            <a:r>
              <a:rPr dirty="0" sz="1200" spc="-5" i="1">
                <a:latin typeface="Times New Roman"/>
                <a:cs typeface="Times New Roman"/>
              </a:rPr>
              <a:t>shelter</a:t>
            </a:r>
            <a:r>
              <a:rPr dirty="0" sz="1200" i="1">
                <a:latin typeface="Times New Roman"/>
                <a:cs typeface="Times New Roman"/>
              </a:rPr>
              <a:t> in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cave.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Dad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likes coffee</a:t>
            </a:r>
            <a:r>
              <a:rPr dirty="0" sz="1200" spc="-5" i="1">
                <a:latin typeface="Times New Roman"/>
                <a:cs typeface="Times New Roman"/>
              </a:rPr>
              <a:t> for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breakfast.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Mom prefers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tea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independent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(clause)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dependent </a:t>
            </a:r>
            <a:r>
              <a:rPr dirty="0" sz="1200" spc="-5">
                <a:latin typeface="Times New Roman"/>
                <a:cs typeface="Times New Roman"/>
              </a:rPr>
              <a:t>statement,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 stand alone, 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When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century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began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 were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noun coffee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city</a:t>
            </a:r>
            <a:r>
              <a:rPr dirty="0" sz="1200" spc="-5" i="1">
                <a:latin typeface="Times New Roman"/>
                <a:cs typeface="Times New Roman"/>
              </a:rPr>
              <a:t> (adverbial).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wanted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meet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friends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visited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these</a:t>
            </a:r>
            <a:r>
              <a:rPr dirty="0" sz="1200" spc="-5" i="1">
                <a:latin typeface="Times New Roman"/>
                <a:cs typeface="Times New Roman"/>
              </a:rPr>
              <a:t> shops </a:t>
            </a:r>
            <a:r>
              <a:rPr dirty="0" sz="1200" i="1">
                <a:latin typeface="Times New Roman"/>
                <a:cs typeface="Times New Roman"/>
              </a:rPr>
              <a:t>(adjectival)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-We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that</a:t>
            </a:r>
            <a:r>
              <a:rPr dirty="0" u="sng" sz="1200" spc="1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these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gatherings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led</a:t>
            </a:r>
            <a:r>
              <a:rPr dirty="0" u="sng" sz="1200" spc="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eventually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1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formation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1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new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political</a:t>
            </a:r>
            <a:r>
              <a:rPr dirty="0" u="sng" sz="1200" spc="1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party.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(Noun).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independent.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stand</a:t>
            </a:r>
            <a:r>
              <a:rPr dirty="0" sz="1200">
                <a:latin typeface="Times New Roman"/>
                <a:cs typeface="Times New Roman"/>
              </a:rPr>
              <a:t> alone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sentence: there were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coffee </a:t>
            </a:r>
            <a:r>
              <a:rPr dirty="0" sz="1200" spc="-5">
                <a:latin typeface="Times New Roman"/>
                <a:cs typeface="Times New Roman"/>
              </a:rPr>
              <a:t>houses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city. The first </a:t>
            </a:r>
            <a:r>
              <a:rPr dirty="0" sz="1200" spc="-5">
                <a:latin typeface="Times New Roman"/>
                <a:cs typeface="Times New Roman"/>
              </a:rPr>
              <a:t>statement, </a:t>
            </a:r>
            <a:r>
              <a:rPr dirty="0" sz="1200">
                <a:latin typeface="Times New Roman"/>
                <a:cs typeface="Times New Roman"/>
              </a:rPr>
              <a:t>however, cannot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 alone.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dependent - it depends on the </a:t>
            </a:r>
            <a:r>
              <a:rPr dirty="0" sz="1200" spc="-5">
                <a:latin typeface="Times New Roman"/>
                <a:cs typeface="Times New Roman"/>
              </a:rPr>
              <a:t>rest </a:t>
            </a:r>
            <a:r>
              <a:rPr dirty="0" sz="1200">
                <a:latin typeface="Times New Roman"/>
                <a:cs typeface="Times New Roman"/>
              </a:rPr>
              <a:t>of the sentence to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the thought.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are several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in which a dependent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(clause)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used in a sentence 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adverbial,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adjectival, noun.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century began,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 many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coffee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city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(adverbial).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meet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friends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visited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these </a:t>
            </a:r>
            <a:r>
              <a:rPr dirty="0" sz="1200" spc="-5" i="1">
                <a:latin typeface="Times New Roman"/>
                <a:cs typeface="Times New Roman"/>
              </a:rPr>
              <a:t>shops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(adjectival).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-We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these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gatherings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led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eventually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formation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new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political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party.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(Noun)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century began,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 many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coffee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city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(adverbial).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meet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friends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visited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these </a:t>
            </a:r>
            <a:r>
              <a:rPr dirty="0" sz="1200" spc="-5" i="1">
                <a:latin typeface="Times New Roman"/>
                <a:cs typeface="Times New Roman"/>
              </a:rPr>
              <a:t>shops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(adjectival).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-We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these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gatherings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eventually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formation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political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party.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(Noun).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dependent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although.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subject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verb. </a:t>
            </a:r>
            <a:r>
              <a:rPr dirty="0" sz="1200">
                <a:latin typeface="Times New Roman"/>
                <a:cs typeface="Times New Roman"/>
              </a:rPr>
              <a:t>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sentence: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243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many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nearby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trees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were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uprooted,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our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escaped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storm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trees,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“were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uprooted”).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spc="-5" i="1">
                <a:latin typeface="Times New Roman"/>
                <a:cs typeface="Times New Roman"/>
              </a:rPr>
              <a:t>-As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demands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phone,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surrounded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building.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-Although</a:t>
            </a:r>
            <a:r>
              <a:rPr dirty="0" sz="1200" spc="-5" i="1">
                <a:latin typeface="Times New Roman"/>
                <a:cs typeface="Times New Roman"/>
              </a:rPr>
              <a:t> many</a:t>
            </a:r>
            <a:r>
              <a:rPr dirty="0" sz="1200" i="1">
                <a:latin typeface="Times New Roman"/>
                <a:cs typeface="Times New Roman"/>
              </a:rPr>
              <a:t> nearby</a:t>
            </a:r>
            <a:r>
              <a:rPr dirty="0" sz="1200" spc="-5" i="1">
                <a:latin typeface="Times New Roman"/>
                <a:cs typeface="Times New Roman"/>
              </a:rPr>
              <a:t> trees</a:t>
            </a:r>
            <a:r>
              <a:rPr dirty="0" sz="1200" i="1">
                <a:latin typeface="Times New Roman"/>
                <a:cs typeface="Times New Roman"/>
              </a:rPr>
              <a:t> were uprooted,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our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escaped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storm.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i="1">
                <a:latin typeface="Times New Roman"/>
                <a:cs typeface="Times New Roman"/>
              </a:rPr>
              <a:t>-As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demands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phone,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surrounded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building.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1145">
              <a:lnSpc>
                <a:spcPct val="96000"/>
              </a:lnSpc>
            </a:pP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a </a:t>
            </a:r>
            <a:r>
              <a:rPr dirty="0" sz="1200" spc="-5">
                <a:latin typeface="Times New Roman"/>
                <a:cs typeface="Times New Roman"/>
              </a:rPr>
              <a:t>complex </a:t>
            </a:r>
            <a:r>
              <a:rPr dirty="0" sz="1200">
                <a:latin typeface="Times New Roman"/>
                <a:cs typeface="Times New Roman"/>
              </a:rPr>
              <a:t>sentence: one part can stand independently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simple sentence: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surrounded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building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 word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alone: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made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demands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phone.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30"/>
              </a:spcBef>
            </a:pPr>
            <a:r>
              <a:rPr dirty="0" sz="1200" spc="-5">
                <a:latin typeface="Times New Roman"/>
                <a:cs typeface="Times New Roman"/>
              </a:rPr>
              <a:t>Here’s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independent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marL="12700" marR="555625">
              <a:lnSpc>
                <a:spcPts val="1380"/>
              </a:lnSpc>
              <a:spcBef>
                <a:spcPts val="10"/>
              </a:spcBef>
            </a:pPr>
            <a:r>
              <a:rPr dirty="0" sz="1200" i="1">
                <a:latin typeface="Times New Roman"/>
                <a:cs typeface="Times New Roman"/>
              </a:rPr>
              <a:t>- Ghazala will </a:t>
            </a:r>
            <a:r>
              <a:rPr dirty="0" sz="1200" spc="-5" i="1">
                <a:latin typeface="Times New Roman"/>
                <a:cs typeface="Times New Roman"/>
              </a:rPr>
              <a:t>not </a:t>
            </a:r>
            <a:r>
              <a:rPr dirty="0" sz="1200" i="1">
                <a:latin typeface="Times New Roman"/>
                <a:cs typeface="Times New Roman"/>
              </a:rPr>
              <a:t>sell </a:t>
            </a:r>
            <a:r>
              <a:rPr dirty="0" sz="1200" spc="-5" i="1">
                <a:latin typeface="Times New Roman"/>
                <a:cs typeface="Times New Roman"/>
              </a:rPr>
              <a:t>her </a:t>
            </a:r>
            <a:r>
              <a:rPr dirty="0" sz="1200" i="1">
                <a:latin typeface="Times New Roman"/>
                <a:cs typeface="Times New Roman"/>
              </a:rPr>
              <a:t>old </a:t>
            </a:r>
            <a:r>
              <a:rPr dirty="0" sz="1200" spc="-5" i="1">
                <a:latin typeface="Times New Roman"/>
                <a:cs typeface="Times New Roman"/>
              </a:rPr>
              <a:t>gramophone </a:t>
            </a:r>
            <a:r>
              <a:rPr dirty="0" sz="1200" i="1">
                <a:latin typeface="Times New Roman"/>
                <a:cs typeface="Times New Roman"/>
              </a:rPr>
              <a:t>even if </a:t>
            </a:r>
            <a:r>
              <a:rPr dirty="0" sz="1200" spc="-5" i="1">
                <a:latin typeface="Times New Roman"/>
                <a:cs typeface="Times New Roman"/>
              </a:rPr>
              <a:t>she is </a:t>
            </a:r>
            <a:r>
              <a:rPr dirty="0" sz="1200" i="1">
                <a:latin typeface="Times New Roman"/>
                <a:cs typeface="Times New Roman"/>
              </a:rPr>
              <a:t>offered a large </a:t>
            </a:r>
            <a:r>
              <a:rPr dirty="0" sz="1200" spc="-5" i="1">
                <a:latin typeface="Times New Roman"/>
                <a:cs typeface="Times New Roman"/>
              </a:rPr>
              <a:t>sum </a:t>
            </a:r>
            <a:r>
              <a:rPr dirty="0" sz="1200" i="1">
                <a:latin typeface="Times New Roman"/>
                <a:cs typeface="Times New Roman"/>
              </a:rPr>
              <a:t>of money.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Ghazala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will 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sell her 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gramophone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offered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large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sum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money.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35242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DEPENDENT WORDS: </a:t>
            </a:r>
            <a:r>
              <a:rPr dirty="0" sz="1200">
                <a:latin typeface="Times New Roman"/>
                <a:cs typeface="Times New Roman"/>
              </a:rPr>
              <a:t>In the example you have seen, </a:t>
            </a:r>
            <a:r>
              <a:rPr dirty="0" sz="1200" spc="-5">
                <a:latin typeface="Times New Roman"/>
                <a:cs typeface="Times New Roman"/>
              </a:rPr>
              <a:t>the words </a:t>
            </a:r>
            <a:r>
              <a:rPr dirty="0" sz="1200">
                <a:latin typeface="Times New Roman"/>
                <a:cs typeface="Times New Roman"/>
              </a:rPr>
              <a:t>although, </a:t>
            </a:r>
            <a:r>
              <a:rPr dirty="0" sz="1200" spc="-5">
                <a:latin typeface="Times New Roman"/>
                <a:cs typeface="Times New Roman"/>
              </a:rPr>
              <a:t>as, </a:t>
            </a:r>
            <a:r>
              <a:rPr dirty="0" sz="1200">
                <a:latin typeface="Times New Roman"/>
                <a:cs typeface="Times New Roman"/>
              </a:rPr>
              <a:t>and even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introduce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that are dependent. There are various other dependent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subordinating conjunctions. Look at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previous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again to understand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punctuate</a:t>
            </a:r>
            <a:r>
              <a:rPr dirty="0" sz="1200" spc="-5">
                <a:latin typeface="Times New Roman"/>
                <a:cs typeface="Times New Roman"/>
              </a:rPr>
              <a:t> complex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1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 man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demands 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phone,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surrounded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building.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 i="1">
                <a:latin typeface="Times New Roman"/>
                <a:cs typeface="Times New Roman"/>
              </a:rPr>
              <a:t>-Ghazala</a:t>
            </a:r>
            <a:r>
              <a:rPr dirty="0" sz="1200" i="1">
                <a:latin typeface="Times New Roman"/>
                <a:cs typeface="Times New Roman"/>
              </a:rPr>
              <a:t> will not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sell her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old </a:t>
            </a:r>
            <a:r>
              <a:rPr dirty="0" sz="1200" spc="-5" i="1">
                <a:latin typeface="Times New Roman"/>
                <a:cs typeface="Times New Roman"/>
              </a:rPr>
              <a:t>gramophone</a:t>
            </a:r>
            <a:r>
              <a:rPr dirty="0" sz="1200" i="1">
                <a:latin typeface="Times New Roman"/>
                <a:cs typeface="Times New Roman"/>
              </a:rPr>
              <a:t> even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if she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offered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large </a:t>
            </a:r>
            <a:r>
              <a:rPr dirty="0" sz="1200" spc="-5" i="1">
                <a:latin typeface="Times New Roman"/>
                <a:cs typeface="Times New Roman"/>
              </a:rPr>
              <a:t>sum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 money.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Punctuate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7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 man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demands 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phone,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surrounded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building.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-Ghazala</a:t>
            </a:r>
            <a:r>
              <a:rPr dirty="0" sz="1200" i="1">
                <a:latin typeface="Times New Roman"/>
                <a:cs typeface="Times New Roman"/>
              </a:rPr>
              <a:t> will not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sell her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old </a:t>
            </a:r>
            <a:r>
              <a:rPr dirty="0" sz="1200" spc="-5" i="1">
                <a:latin typeface="Times New Roman"/>
                <a:cs typeface="Times New Roman"/>
              </a:rPr>
              <a:t>gramophone</a:t>
            </a:r>
            <a:r>
              <a:rPr dirty="0" sz="1200" i="1">
                <a:latin typeface="Times New Roman"/>
                <a:cs typeface="Times New Roman"/>
              </a:rPr>
              <a:t> even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if she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offered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large </a:t>
            </a:r>
            <a:r>
              <a:rPr dirty="0" sz="1200" spc="-5" i="1">
                <a:latin typeface="Times New Roman"/>
                <a:cs typeface="Times New Roman"/>
              </a:rPr>
              <a:t>sum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 money.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List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5675206"/>
          <a:ext cx="4998720" cy="1570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1590"/>
                <a:gridCol w="2095500"/>
                <a:gridCol w="161163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After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unless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880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where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Although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until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880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wherever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88060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Whether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Because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8742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whenever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While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32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though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7750556"/>
            <a:ext cx="5626735" cy="1258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underline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statement/clause.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 </a:t>
            </a:r>
            <a:r>
              <a:rPr dirty="0" sz="1200">
                <a:latin typeface="Times New Roman"/>
                <a:cs typeface="Times New Roman"/>
              </a:rPr>
              <a:t>every dependent should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subject and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  <a:tab pos="2568575" algn="l"/>
              </a:tabLst>
            </a:pPr>
            <a:r>
              <a:rPr dirty="0" sz="1200">
                <a:latin typeface="Times New Roman"/>
                <a:cs typeface="Times New Roman"/>
              </a:rPr>
              <a:t>Didi cried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Font typeface="Times New Roman"/>
              <a:buAutoNum type="arabicPeriod"/>
              <a:tabLst>
                <a:tab pos="165735" algn="l"/>
                <a:tab pos="2303145" algn="l"/>
              </a:tabLst>
            </a:pP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swim.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159000" algn="l"/>
              </a:tabLst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a.m.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  <a:tab pos="4629785" algn="l"/>
              </a:tabLst>
            </a:pPr>
            <a:r>
              <a:rPr dirty="0" sz="1200" spc="-5">
                <a:latin typeface="Times New Roman"/>
                <a:cs typeface="Times New Roman"/>
              </a:rPr>
              <a:t>Asim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research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library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Practice </a:t>
            </a:r>
            <a:r>
              <a:rPr dirty="0" sz="1200" spc="-5">
                <a:latin typeface="Times New Roman"/>
                <a:cs typeface="Times New Roman"/>
              </a:rPr>
              <a:t>4: Combine </a:t>
            </a:r>
            <a:r>
              <a:rPr dirty="0" sz="1200">
                <a:latin typeface="Times New Roman"/>
                <a:cs typeface="Times New Roman"/>
              </a:rPr>
              <a:t>the first two </a:t>
            </a:r>
            <a:r>
              <a:rPr dirty="0" sz="1200" spc="-5">
                <a:latin typeface="Times New Roman"/>
                <a:cs typeface="Times New Roman"/>
              </a:rPr>
              <a:t>sentences into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sentence,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combine </a:t>
            </a:r>
            <a:r>
              <a:rPr dirty="0" sz="1200">
                <a:latin typeface="Times New Roman"/>
                <a:cs typeface="Times New Roman"/>
              </a:rPr>
              <a:t>the last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into another sentence.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any of </a:t>
            </a:r>
            <a:r>
              <a:rPr dirty="0" sz="1200" spc="-5">
                <a:latin typeface="Times New Roman"/>
                <a:cs typeface="Times New Roman"/>
              </a:rPr>
              <a:t>the following joining words and dependent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614931"/>
            <a:ext cx="117221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Joining </a:t>
            </a:r>
            <a:r>
              <a:rPr dirty="0" sz="1200" spc="-5">
                <a:latin typeface="Times New Roman"/>
                <a:cs typeface="Times New Roman"/>
              </a:rPr>
              <a:t>Words: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387600" y="1614931"/>
            <a:ext cx="193484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 i="1">
                <a:latin typeface="Times New Roman"/>
                <a:cs typeface="Times New Roman"/>
              </a:rPr>
              <a:t>and,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but,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so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</a:pPr>
            <a:r>
              <a:rPr dirty="0" sz="1200" i="1">
                <a:latin typeface="Times New Roman"/>
                <a:cs typeface="Times New Roman"/>
              </a:rPr>
              <a:t>after,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although,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because,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965452"/>
            <a:ext cx="229044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469265" marR="5080" indent="-457200">
              <a:lnSpc>
                <a:spcPts val="1380"/>
              </a:lnSpc>
              <a:spcBef>
                <a:spcPts val="195"/>
              </a:spcBef>
              <a:tabLst>
                <a:tab pos="508000" algn="l"/>
              </a:tabLst>
            </a:pPr>
            <a:r>
              <a:rPr dirty="0" sz="1200">
                <a:latin typeface="Times New Roman"/>
                <a:cs typeface="Times New Roman"/>
              </a:rPr>
              <a:t>1.		It had rained for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days.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sum finally </a:t>
            </a:r>
            <a:r>
              <a:rPr dirty="0" sz="1200" spc="-5">
                <a:latin typeface="Times New Roman"/>
                <a:cs typeface="Times New Roman"/>
              </a:rPr>
              <a:t>came </a:t>
            </a:r>
            <a:r>
              <a:rPr dirty="0" sz="1200">
                <a:latin typeface="Times New Roman"/>
                <a:cs typeface="Times New Roman"/>
              </a:rPr>
              <a:t>out.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picnic.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ground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666492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139" y="2666492"/>
            <a:ext cx="271780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67437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class.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classroom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anyway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students were </a:t>
            </a:r>
            <a:r>
              <a:rPr dirty="0" sz="1200" spc="-5">
                <a:latin typeface="Times New Roman"/>
                <a:cs typeface="Times New Roman"/>
              </a:rPr>
              <a:t>reading </a:t>
            </a:r>
            <a:r>
              <a:rPr dirty="0" sz="1200">
                <a:latin typeface="Times New Roman"/>
                <a:cs typeface="Times New Roman"/>
              </a:rPr>
              <a:t>their text </a:t>
            </a:r>
            <a:r>
              <a:rPr dirty="0" sz="1200" spc="-5">
                <a:latin typeface="Times New Roman"/>
                <a:cs typeface="Times New Roman"/>
              </a:rPr>
              <a:t>books 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368293"/>
            <a:ext cx="5627370" cy="581596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715">
              <a:lnSpc>
                <a:spcPts val="1380"/>
              </a:lnSpc>
              <a:spcBef>
                <a:spcPts val="195"/>
              </a:spcBef>
              <a:buAutoNum type="arabicPeriod"/>
              <a:tabLst>
                <a:tab pos="17145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Rawal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Lake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impressive,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but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Shahid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thought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Lake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Saiful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Malook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really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beautiful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 any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-5" i="1">
                <a:latin typeface="Times New Roman"/>
                <a:cs typeface="Times New Roman"/>
              </a:rPr>
              <a:t> lake he</a:t>
            </a:r>
            <a:r>
              <a:rPr dirty="0" sz="1200" i="1">
                <a:latin typeface="Times New Roman"/>
                <a:cs typeface="Times New Roman"/>
              </a:rPr>
              <a:t> 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ever seen.</a:t>
            </a:r>
            <a:endParaRPr sz="1200">
              <a:latin typeface="Times New Roman"/>
              <a:cs typeface="Times New Roman"/>
            </a:endParaRPr>
          </a:p>
          <a:p>
            <a:pPr marL="182245" indent="-170180">
              <a:lnSpc>
                <a:spcPts val="1310"/>
              </a:lnSpc>
              <a:buFont typeface="Times New Roman"/>
              <a:buAutoNum type="arabicPeriod"/>
              <a:tabLst>
                <a:tab pos="18288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crowd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labourers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standing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patiently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water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three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hours,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great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relief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arose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rescuers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finally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appeared.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49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5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Didi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cried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when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graduated.</a:t>
            </a:r>
            <a:endParaRPr sz="1200">
              <a:latin typeface="Times New Roman"/>
              <a:cs typeface="Times New Roman"/>
            </a:endParaRPr>
          </a:p>
          <a:p>
            <a:pPr marL="12700" marR="28244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finished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too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tired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</a:t>
            </a:r>
            <a:r>
              <a:rPr dirty="0" sz="1200" spc="-5" i="1">
                <a:latin typeface="Times New Roman"/>
                <a:cs typeface="Times New Roman"/>
              </a:rPr>
              <a:t> 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swim.</a:t>
            </a:r>
            <a:endParaRPr sz="1200">
              <a:latin typeface="Times New Roman"/>
              <a:cs typeface="Times New Roman"/>
            </a:endParaRPr>
          </a:p>
          <a:p>
            <a:pPr marL="12700" marR="288036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Because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Sialkot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next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day,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set my alarm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4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a.m.</a:t>
            </a:r>
            <a:endParaRPr sz="1200">
              <a:latin typeface="Times New Roman"/>
              <a:cs typeface="Times New Roman"/>
            </a:endParaRPr>
          </a:p>
          <a:p>
            <a:pPr marL="12700" marR="272351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Asim</a:t>
            </a:r>
            <a:r>
              <a:rPr dirty="0" sz="1200" i="1">
                <a:latin typeface="Times New Roman"/>
                <a:cs typeface="Times New Roman"/>
              </a:rPr>
              <a:t> did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some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research</a:t>
            </a:r>
            <a:r>
              <a:rPr dirty="0" sz="1200" i="1">
                <a:latin typeface="Times New Roman"/>
                <a:cs typeface="Times New Roman"/>
              </a:rPr>
              <a:t> in 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library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before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wrote his term paper.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50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2568575" algn="l"/>
              </a:tabLst>
            </a:pPr>
            <a:r>
              <a:rPr dirty="0" sz="1200" spc="-5">
                <a:latin typeface="Times New Roman"/>
                <a:cs typeface="Times New Roman"/>
              </a:rPr>
              <a:t>Didi cried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2913380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65735" algn="l"/>
                <a:tab pos="2303145" algn="l"/>
              </a:tabLst>
            </a:pP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swim.</a:t>
            </a:r>
            <a:endParaRPr sz="1200">
              <a:latin typeface="Times New Roman"/>
              <a:cs typeface="Times New Roman"/>
            </a:endParaRPr>
          </a:p>
          <a:p>
            <a:pPr marL="12700" marR="2893060">
              <a:lnSpc>
                <a:spcPts val="1380"/>
              </a:lnSpc>
              <a:buAutoNum type="arabicPeriod"/>
              <a:tabLst>
                <a:tab pos="165735" algn="l"/>
                <a:tab pos="2159000" algn="l"/>
              </a:tabLst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4</a:t>
            </a:r>
            <a:r>
              <a:rPr dirty="0" sz="1200" spc="-5">
                <a:latin typeface="Times New Roman"/>
                <a:cs typeface="Times New Roman"/>
              </a:rPr>
              <a:t> a.m.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Asim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research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library</a:t>
            </a:r>
            <a:endParaRPr sz="1200">
              <a:latin typeface="Times New Roman"/>
              <a:cs typeface="Times New Roman"/>
            </a:endParaRPr>
          </a:p>
          <a:p>
            <a:pPr marL="12700" marR="3434715">
              <a:lnSpc>
                <a:spcPts val="1380"/>
              </a:lnSpc>
              <a:spcBef>
                <a:spcPts val="70"/>
              </a:spcBef>
              <a:tabLst>
                <a:tab pos="21456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.  </a:t>
            </a:r>
            <a:r>
              <a:rPr dirty="0" sz="1200">
                <a:latin typeface="Times New Roman"/>
                <a:cs typeface="Times New Roman"/>
              </a:rPr>
              <a:t>51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Practice </a:t>
            </a:r>
            <a:r>
              <a:rPr dirty="0" sz="1200" spc="-5">
                <a:latin typeface="Times New Roman"/>
                <a:cs typeface="Times New Roman"/>
              </a:rPr>
              <a:t>4: Combine </a:t>
            </a:r>
            <a:r>
              <a:rPr dirty="0" sz="1200">
                <a:latin typeface="Times New Roman"/>
                <a:cs typeface="Times New Roman"/>
              </a:rPr>
              <a:t>the first two </a:t>
            </a:r>
            <a:r>
              <a:rPr dirty="0" sz="1200" spc="-5">
                <a:latin typeface="Times New Roman"/>
                <a:cs typeface="Times New Roman"/>
              </a:rPr>
              <a:t>sentences into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sentence,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combine </a:t>
            </a:r>
            <a:r>
              <a:rPr dirty="0" sz="1200">
                <a:latin typeface="Times New Roman"/>
                <a:cs typeface="Times New Roman"/>
              </a:rPr>
              <a:t>the last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into another sentence.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any of </a:t>
            </a:r>
            <a:r>
              <a:rPr dirty="0" sz="1200" spc="-5">
                <a:latin typeface="Times New Roman"/>
                <a:cs typeface="Times New Roman"/>
              </a:rPr>
              <a:t>the following joining words and dependent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although,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endParaRPr sz="1200">
              <a:latin typeface="Times New Roman"/>
              <a:cs typeface="Times New Roman"/>
            </a:endParaRPr>
          </a:p>
          <a:p>
            <a:pPr marL="12700" marR="3735704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children </a:t>
            </a:r>
            <a:r>
              <a:rPr dirty="0" sz="1200">
                <a:latin typeface="Times New Roman"/>
                <a:cs typeface="Times New Roman"/>
              </a:rPr>
              <a:t>wanted a picnic.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ground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after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</a:t>
            </a:r>
            <a:r>
              <a:rPr dirty="0" sz="1200">
                <a:latin typeface="Times New Roman"/>
                <a:cs typeface="Times New Roman"/>
              </a:rPr>
              <a:t> the first 2 </a:t>
            </a:r>
            <a:r>
              <a:rPr dirty="0" sz="1200" spc="-5">
                <a:latin typeface="Times New Roman"/>
                <a:cs typeface="Times New Roman"/>
              </a:rPr>
              <a:t>sentences.)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buAutoNum type="arabi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teacher was </a:t>
            </a:r>
            <a:r>
              <a:rPr dirty="0" sz="1200">
                <a:latin typeface="Times New Roman"/>
                <a:cs typeface="Times New Roman"/>
              </a:rPr>
              <a:t>late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class.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classroom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anyway.</a:t>
            </a:r>
            <a:endParaRPr sz="1200">
              <a:latin typeface="Times New Roman"/>
              <a:cs typeface="Times New Roman"/>
            </a:endParaRPr>
          </a:p>
          <a:p>
            <a:pPr marL="12700" marR="295973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The students were </a:t>
            </a:r>
            <a:r>
              <a:rPr dirty="0" sz="1200" spc="-5">
                <a:latin typeface="Times New Roman"/>
                <a:cs typeface="Times New Roman"/>
              </a:rPr>
              <a:t>reading </a:t>
            </a:r>
            <a:r>
              <a:rPr dirty="0" sz="1200">
                <a:latin typeface="Times New Roman"/>
                <a:cs typeface="Times New Roman"/>
              </a:rPr>
              <a:t>their text </a:t>
            </a:r>
            <a:r>
              <a:rPr dirty="0" sz="1200" spc="-5">
                <a:latin typeface="Times New Roman"/>
                <a:cs typeface="Times New Roman"/>
              </a:rPr>
              <a:t>books. </a:t>
            </a:r>
            <a:r>
              <a:rPr dirty="0" sz="1200">
                <a:latin typeface="Times New Roman"/>
                <a:cs typeface="Times New Roman"/>
              </a:rPr>
              <a:t> They were taking an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test that day.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although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sentences.)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combine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last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sentences.)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10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Compound Complex </a:t>
            </a:r>
            <a:r>
              <a:rPr dirty="0" sz="1200">
                <a:latin typeface="Times New Roman"/>
                <a:cs typeface="Times New Roman"/>
              </a:rPr>
              <a:t>sentences </a:t>
            </a:r>
            <a:r>
              <a:rPr dirty="0" sz="1200" spc="-5">
                <a:latin typeface="Times New Roman"/>
                <a:cs typeface="Times New Roman"/>
              </a:rPr>
              <a:t>consist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compound </a:t>
            </a:r>
            <a:r>
              <a:rPr dirty="0" sz="1200">
                <a:latin typeface="Times New Roman"/>
                <a:cs typeface="Times New Roman"/>
              </a:rPr>
              <a:t>sentence (two or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independent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statements/clauses) </a:t>
            </a:r>
            <a:r>
              <a:rPr dirty="0" sz="1200">
                <a:latin typeface="Times New Roman"/>
                <a:cs typeface="Times New Roman"/>
              </a:rPr>
              <a:t>and at </a:t>
            </a:r>
            <a:r>
              <a:rPr dirty="0" sz="1200" spc="-5">
                <a:latin typeface="Times New Roman"/>
                <a:cs typeface="Times New Roman"/>
              </a:rPr>
              <a:t>least </a:t>
            </a:r>
            <a:r>
              <a:rPr dirty="0" sz="1200">
                <a:latin typeface="Times New Roman"/>
                <a:cs typeface="Times New Roman"/>
              </a:rPr>
              <a:t>one dependent </a:t>
            </a:r>
            <a:r>
              <a:rPr dirty="0" sz="1200" spc="-5">
                <a:latin typeface="Times New Roman"/>
                <a:cs typeface="Times New Roman"/>
              </a:rPr>
              <a:t>statement /clause.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following sentences 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5">
                <a:latin typeface="Times New Roman"/>
                <a:cs typeface="Times New Roman"/>
              </a:rPr>
              <a:t> samples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compound</a:t>
            </a:r>
            <a:r>
              <a:rPr dirty="0" sz="1200">
                <a:latin typeface="Times New Roman"/>
                <a:cs typeface="Times New Roman"/>
              </a:rPr>
              <a:t> -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>
                <a:latin typeface="Times New Roman"/>
                <a:cs typeface="Times New Roman"/>
              </a:rPr>
              <a:t> sentences: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7145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Rawal Lake was impressive, but Shahid </a:t>
            </a:r>
            <a:r>
              <a:rPr dirty="0" sz="1200" i="1">
                <a:latin typeface="Times New Roman"/>
                <a:cs typeface="Times New Roman"/>
              </a:rPr>
              <a:t>thought that </a:t>
            </a:r>
            <a:r>
              <a:rPr dirty="0" sz="1200" spc="-5" i="1">
                <a:latin typeface="Times New Roman"/>
                <a:cs typeface="Times New Roman"/>
              </a:rPr>
              <a:t>Lake Saiful Malook was really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beautiful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 any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-5" i="1">
                <a:latin typeface="Times New Roman"/>
                <a:cs typeface="Times New Roman"/>
              </a:rPr>
              <a:t> lake he</a:t>
            </a:r>
            <a:r>
              <a:rPr dirty="0" sz="1200" i="1">
                <a:latin typeface="Times New Roman"/>
                <a:cs typeface="Times New Roman"/>
              </a:rPr>
              <a:t> 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 seen.</a:t>
            </a:r>
            <a:endParaRPr sz="1200">
              <a:latin typeface="Times New Roman"/>
              <a:cs typeface="Times New Roman"/>
            </a:endParaRPr>
          </a:p>
          <a:p>
            <a:pPr algn="just" marL="187960" indent="-175260">
              <a:lnSpc>
                <a:spcPts val="1310"/>
              </a:lnSpc>
              <a:buFont typeface="Times New Roman"/>
              <a:buAutoNum type="arabicPeriod"/>
              <a:tabLst>
                <a:tab pos="18796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crowd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laborers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been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standing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patiently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water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three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hours,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great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relief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arose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rescuers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finally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appeared.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Lesson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compound</a:t>
            </a:r>
            <a:r>
              <a:rPr dirty="0" sz="1200">
                <a:latin typeface="Times New Roman"/>
                <a:cs typeface="Times New Roman"/>
              </a:rPr>
              <a:t> sentence the </a:t>
            </a:r>
            <a:r>
              <a:rPr dirty="0" sz="1200" spc="-5">
                <a:latin typeface="Times New Roman"/>
                <a:cs typeface="Times New Roman"/>
              </a:rPr>
              <a:t>statements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clauses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semicolon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spcBef>
                <a:spcPts val="5"/>
              </a:spcBef>
              <a:buAutoNum type="arabicPeriod" startAt="2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semicolon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5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sentence?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fire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alarm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sounded.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75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sounded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evacuated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5"/>
              </a:lnSpc>
              <a:buAutoNum type="arabicPeriod" startAt="4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compound </a:t>
            </a:r>
            <a:r>
              <a:rPr dirty="0" sz="1200">
                <a:latin typeface="Times New Roman"/>
                <a:cs typeface="Times New Roman"/>
              </a:rPr>
              <a:t>sentence?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room is </a:t>
            </a:r>
            <a:r>
              <a:rPr dirty="0" sz="1200" i="1">
                <a:latin typeface="Times New Roman"/>
                <a:cs typeface="Times New Roman"/>
              </a:rPr>
              <a:t>painted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yellow 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has </a:t>
            </a:r>
            <a:r>
              <a:rPr dirty="0" sz="1200" i="1">
                <a:latin typeface="Times New Roman"/>
                <a:cs typeface="Times New Roman"/>
              </a:rPr>
              <a:t>big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windows.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75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expensive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Terry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unfriendly.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sentence?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sounded.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sounded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alarm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evacuated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4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compound </a:t>
            </a:r>
            <a:r>
              <a:rPr dirty="0" sz="1200">
                <a:latin typeface="Times New Roman"/>
                <a:cs typeface="Times New Roman"/>
              </a:rPr>
              <a:t>sentence?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painted yellow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big</a:t>
            </a:r>
            <a:r>
              <a:rPr dirty="0" sz="1200" spc="-5">
                <a:latin typeface="Times New Roman"/>
                <a:cs typeface="Times New Roman"/>
              </a:rPr>
              <a:t> windows.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expensive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Terry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unfriendly.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complex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153</a:t>
            </a:fld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965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56210" indent="-144145">
              <a:lnSpc>
                <a:spcPts val="1410"/>
              </a:lnSpc>
              <a:spcBef>
                <a:spcPts val="1070"/>
              </a:spcBef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Jack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U-turn.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U-turn,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skidded.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Jack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U-turn,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bike.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6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compound-complex</a:t>
            </a:r>
            <a:r>
              <a:rPr dirty="0" sz="1200">
                <a:latin typeface="Times New Roman"/>
                <a:cs typeface="Times New Roman"/>
              </a:rPr>
              <a:t> sentence?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raindrops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slowly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window.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answered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scream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outside,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41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Bobby</a:t>
            </a:r>
            <a:r>
              <a:rPr dirty="0" sz="1200" spc="-5">
                <a:latin typeface="Times New Roman"/>
                <a:cs typeface="Times New Roman"/>
              </a:rPr>
              <a:t> saw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rainbow 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 </a:t>
            </a:r>
            <a:r>
              <a:rPr dirty="0" sz="1200" spc="-5">
                <a:latin typeface="Times New Roman"/>
                <a:cs typeface="Times New Roman"/>
              </a:rPr>
              <a:t>his camera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rainbow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disappeared.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we </a:t>
            </a:r>
            <a:r>
              <a:rPr dirty="0" sz="1200">
                <a:latin typeface="Times New Roman"/>
                <a:cs typeface="Times New Roman"/>
              </a:rPr>
              <a:t>worked on different sentence types. We looked at different kinds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 and what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them different. I </a:t>
            </a:r>
            <a:r>
              <a:rPr dirty="0" sz="1200" spc="-5">
                <a:latin typeface="Times New Roman"/>
                <a:cs typeface="Times New Roman"/>
              </a:rPr>
              <a:t>hope you would be able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recognize sentences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compound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 Moreover, that it will help you construct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 </a:t>
            </a:r>
            <a:r>
              <a:rPr dirty="0" sz="1200" spc="-5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153</a:t>
            </a:fld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4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Writing: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Effective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Sentences: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Unity,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Coherence,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And Emphasis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kinds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compound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complex. </a:t>
            </a: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lesson, we will </a:t>
            </a:r>
            <a:r>
              <a:rPr dirty="0" sz="1200">
                <a:latin typeface="Times New Roman"/>
                <a:cs typeface="Times New Roman"/>
              </a:rPr>
              <a:t>focus on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effective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by looking at </a:t>
            </a:r>
            <a:r>
              <a:rPr dirty="0" sz="1200" spc="-5">
                <a:latin typeface="Times New Roman"/>
                <a:cs typeface="Times New Roman"/>
              </a:rPr>
              <a:t>issues </a:t>
            </a:r>
            <a:r>
              <a:rPr dirty="0" sz="1200">
                <a:latin typeface="Times New Roman"/>
                <a:cs typeface="Times New Roman"/>
              </a:rPr>
              <a:t> 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unity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the emphasis in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Effective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effective?</a:t>
            </a:r>
            <a:endParaRPr sz="1200">
              <a:latin typeface="Times New Roman"/>
              <a:cs typeface="Times New Roman"/>
            </a:endParaRPr>
          </a:p>
          <a:p>
            <a:pPr algn="just" marL="469900" marR="27241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effectiveness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unity,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coherence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emphasis.</a:t>
            </a:r>
            <a:endParaRPr sz="1200">
              <a:latin typeface="Times New Roman"/>
              <a:cs typeface="Times New Roman"/>
            </a:endParaRPr>
          </a:p>
          <a:p>
            <a:pPr algn="just" marL="469900" marR="271145" indent="-228600">
              <a:lnSpc>
                <a:spcPts val="1380"/>
              </a:lnSpc>
              <a:buAutoNum type="arabicPlain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By unity </a:t>
            </a:r>
            <a:r>
              <a:rPr dirty="0" sz="1200" spc="-5">
                <a:latin typeface="Times New Roman"/>
                <a:cs typeface="Times New Roman"/>
              </a:rPr>
              <a:t>we mean </a:t>
            </a:r>
            <a:r>
              <a:rPr dirty="0" sz="1200">
                <a:latin typeface="Times New Roman"/>
                <a:cs typeface="Times New Roman"/>
              </a:rPr>
              <a:t>that every part of a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composition must </a:t>
            </a:r>
            <a:r>
              <a:rPr dirty="0" sz="1200">
                <a:latin typeface="Times New Roman"/>
                <a:cs typeface="Times New Roman"/>
              </a:rPr>
              <a:t>contribute to one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unifying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thought.</a:t>
            </a:r>
            <a:endParaRPr sz="1200">
              <a:latin typeface="Times New Roman"/>
              <a:cs typeface="Times New Roman"/>
            </a:endParaRPr>
          </a:p>
          <a:p>
            <a:pPr algn="just" marL="469900" marR="271780" indent="-228600">
              <a:lnSpc>
                <a:spcPts val="1380"/>
              </a:lnSpc>
              <a:buAutoNum type="arabicPlain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coherence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</a:t>
            </a:r>
            <a:r>
              <a:rPr dirty="0" sz="1200">
                <a:latin typeface="Times New Roman"/>
                <a:cs typeface="Times New Roman"/>
              </a:rPr>
              <a:t> that the </a:t>
            </a:r>
            <a:r>
              <a:rPr dirty="0" sz="1200" spc="-5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</a:t>
            </a:r>
            <a:r>
              <a:rPr dirty="0" sz="1200">
                <a:latin typeface="Times New Roman"/>
                <a:cs typeface="Times New Roman"/>
              </a:rPr>
              <a:t> of a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composition must </a:t>
            </a:r>
            <a:r>
              <a:rPr dirty="0" sz="1200">
                <a:latin typeface="Times New Roman"/>
                <a:cs typeface="Times New Roman"/>
              </a:rPr>
              <a:t> follow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clear.</a:t>
            </a:r>
            <a:endParaRPr sz="1200">
              <a:latin typeface="Times New Roman"/>
              <a:cs typeface="Times New Roman"/>
            </a:endParaRPr>
          </a:p>
          <a:p>
            <a:pPr algn="just" marL="469900" marR="269875" indent="-228600">
              <a:lnSpc>
                <a:spcPts val="1380"/>
              </a:lnSpc>
              <a:buAutoNum type="arabicPlain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 be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placed that </a:t>
            </a:r>
            <a:r>
              <a:rPr dirty="0" sz="1200" spc="-5">
                <a:latin typeface="Times New Roman"/>
                <a:cs typeface="Times New Roman"/>
              </a:rPr>
              <a:t>attention is </a:t>
            </a:r>
            <a:r>
              <a:rPr dirty="0" sz="1200">
                <a:latin typeface="Times New Roman"/>
                <a:cs typeface="Times New Roman"/>
              </a:rPr>
              <a:t>directed </a:t>
            </a:r>
            <a:r>
              <a:rPr dirty="0" sz="1200" spc="-5">
                <a:latin typeface="Times New Roman"/>
                <a:cs typeface="Times New Roman"/>
              </a:rPr>
              <a:t>toward </a:t>
            </a:r>
            <a:r>
              <a:rPr dirty="0" sz="1200">
                <a:latin typeface="Times New Roman"/>
                <a:cs typeface="Times New Roman"/>
              </a:rPr>
              <a:t>them rather than toward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I. Unity: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sentence should have unity, that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must express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Although a sentence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contain more than one </a:t>
            </a:r>
            <a:r>
              <a:rPr dirty="0" sz="1200" spc="-5">
                <a:latin typeface="Times New Roman"/>
                <a:cs typeface="Times New Roman"/>
              </a:rPr>
              <a:t>fact, </a:t>
            </a:r>
            <a:r>
              <a:rPr dirty="0" sz="1200">
                <a:latin typeface="Times New Roman"/>
                <a:cs typeface="Times New Roman"/>
              </a:rPr>
              <a:t>all the facts </a:t>
            </a:r>
            <a:r>
              <a:rPr dirty="0" sz="1200" spc="-5">
                <a:latin typeface="Times New Roman"/>
                <a:cs typeface="Times New Roman"/>
              </a:rPr>
              <a:t>must relate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 idea.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models</a:t>
            </a:r>
            <a:r>
              <a:rPr dirty="0" sz="1200" i="1">
                <a:latin typeface="Times New Roman"/>
                <a:cs typeface="Times New Roman"/>
              </a:rPr>
              <a:t> were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dressed</a:t>
            </a:r>
            <a:r>
              <a:rPr dirty="0" sz="1200" i="1">
                <a:latin typeface="Times New Roman"/>
                <a:cs typeface="Times New Roman"/>
              </a:rPr>
              <a:t> in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latest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fashions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unemployed. </a:t>
            </a:r>
            <a:r>
              <a:rPr dirty="0" sz="1200">
                <a:latin typeface="Times New Roman"/>
                <a:cs typeface="Times New Roman"/>
              </a:rPr>
              <a:t>This sentence does not have unity. 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clause tells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about the model’s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clothing, e.g.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models </a:t>
            </a:r>
            <a:r>
              <a:rPr dirty="0" sz="1200" i="1">
                <a:latin typeface="Times New Roman"/>
                <a:cs typeface="Times New Roman"/>
              </a:rPr>
              <a:t>were all </a:t>
            </a:r>
            <a:r>
              <a:rPr dirty="0" sz="1200" spc="-5" i="1">
                <a:latin typeface="Times New Roman"/>
                <a:cs typeface="Times New Roman"/>
              </a:rPr>
              <a:t>dressed </a:t>
            </a:r>
            <a:r>
              <a:rPr dirty="0" sz="1200" i="1">
                <a:latin typeface="Times New Roman"/>
                <a:cs typeface="Times New Roman"/>
              </a:rPr>
              <a:t>in the </a:t>
            </a:r>
            <a:r>
              <a:rPr dirty="0" sz="1200" spc="-5" i="1">
                <a:latin typeface="Times New Roman"/>
                <a:cs typeface="Times New Roman"/>
              </a:rPr>
              <a:t>latest </a:t>
            </a:r>
            <a:r>
              <a:rPr dirty="0" sz="1200" i="1">
                <a:latin typeface="Times New Roman"/>
                <a:cs typeface="Times New Roman"/>
              </a:rPr>
              <a:t>fashions and many of them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unemployed. </a:t>
            </a:r>
            <a:r>
              <a:rPr dirty="0" sz="1200" spc="-5">
                <a:latin typeface="Times New Roman"/>
                <a:cs typeface="Times New Roman"/>
              </a:rPr>
              <a:t>While </a:t>
            </a:r>
            <a:r>
              <a:rPr dirty="0" sz="1200">
                <a:latin typeface="Times New Roman"/>
                <a:cs typeface="Times New Roman"/>
              </a:rPr>
              <a:t>the second one </a:t>
            </a:r>
            <a:r>
              <a:rPr dirty="0" sz="1200" spc="-5">
                <a:latin typeface="Times New Roman"/>
                <a:cs typeface="Times New Roman"/>
              </a:rPr>
              <a:t>mentions unemployment;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two different </a:t>
            </a:r>
            <a:r>
              <a:rPr dirty="0" sz="1200">
                <a:latin typeface="Times New Roman"/>
                <a:cs typeface="Times New Roman"/>
              </a:rPr>
              <a:t>ideas don’t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separate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sample</a:t>
            </a:r>
            <a:r>
              <a:rPr dirty="0" sz="1200">
                <a:latin typeface="Times New Roman"/>
                <a:cs typeface="Times New Roman"/>
              </a:rPr>
              <a:t> of a sentence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lacks </a:t>
            </a:r>
            <a:r>
              <a:rPr dirty="0" sz="1200" spc="-5">
                <a:latin typeface="Times New Roman"/>
                <a:cs typeface="Times New Roman"/>
              </a:rPr>
              <a:t>unity. Unity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violated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five </a:t>
            </a:r>
            <a:r>
              <a:rPr dirty="0" sz="1200" spc="-10">
                <a:latin typeface="Times New Roman"/>
                <a:cs typeface="Times New Roman"/>
              </a:rPr>
              <a:t>ways:</a:t>
            </a:r>
            <a:endParaRPr sz="1200">
              <a:latin typeface="Times New Roman"/>
              <a:cs typeface="Times New Roman"/>
            </a:endParaRPr>
          </a:p>
          <a:p>
            <a:pPr algn="just" marL="469900" indent="-457834">
              <a:lnSpc>
                <a:spcPts val="1315"/>
              </a:lnSpc>
              <a:buAutoNum type="romanLcParenBoth"/>
              <a:tabLst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unrelated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endParaRPr sz="1200">
              <a:latin typeface="Times New Roman"/>
              <a:cs typeface="Times New Roman"/>
            </a:endParaRPr>
          </a:p>
          <a:p>
            <a:pPr algn="just" marL="469900" indent="-457834">
              <a:lnSpc>
                <a:spcPts val="1380"/>
              </a:lnSpc>
              <a:buAutoNum type="romanLcParenBoth"/>
              <a:tabLst>
                <a:tab pos="470534" algn="l"/>
              </a:tabLst>
            </a:pP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algn="just" marL="469900" indent="-457834">
              <a:lnSpc>
                <a:spcPts val="1380"/>
              </a:lnSpc>
              <a:buAutoNum type="romanLcParenBoth"/>
              <a:tabLst>
                <a:tab pos="470534" algn="l"/>
              </a:tabLst>
            </a:pPr>
            <a:r>
              <a:rPr dirty="0" sz="1200" spc="-5">
                <a:latin typeface="Times New Roman"/>
                <a:cs typeface="Times New Roman"/>
              </a:rPr>
              <a:t>Failure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grammatical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construction</a:t>
            </a:r>
            <a:endParaRPr sz="1200">
              <a:latin typeface="Times New Roman"/>
              <a:cs typeface="Times New Roman"/>
            </a:endParaRPr>
          </a:p>
          <a:p>
            <a:pPr algn="just" marL="469265" indent="-457200">
              <a:lnSpc>
                <a:spcPts val="1380"/>
              </a:lnSpc>
              <a:buAutoNum type="romanLcParenBoth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Subordination</a:t>
            </a:r>
            <a:endParaRPr sz="1200">
              <a:latin typeface="Times New Roman"/>
              <a:cs typeface="Times New Roman"/>
            </a:endParaRPr>
          </a:p>
          <a:p>
            <a:pPr algn="just" marL="469265" indent="-457200">
              <a:lnSpc>
                <a:spcPts val="1410"/>
              </a:lnSpc>
              <a:buAutoNum type="romanLcParenBoth"/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Parallelism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90"/>
              </a:lnSpc>
              <a:buAutoNum type="romanLcParenBoth"/>
              <a:tabLst>
                <a:tab pos="194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Combining unrelated ideas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students at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college use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great deal of abusive </a:t>
            </a:r>
            <a:r>
              <a:rPr dirty="0" sz="1200" i="1">
                <a:latin typeface="Times New Roman"/>
                <a:cs typeface="Times New Roman"/>
              </a:rPr>
              <a:t> language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5" i="1">
                <a:latin typeface="Times New Roman"/>
                <a:cs typeface="Times New Roman"/>
              </a:rPr>
              <a:t> are from </a:t>
            </a:r>
            <a:r>
              <a:rPr dirty="0" sz="1200" i="1">
                <a:latin typeface="Times New Roman"/>
                <a:cs typeface="Times New Roman"/>
              </a:rPr>
              <a:t>all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parts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country.</a:t>
            </a:r>
            <a:endParaRPr sz="1200">
              <a:latin typeface="Times New Roman"/>
              <a:cs typeface="Times New Roman"/>
            </a:endParaRPr>
          </a:p>
          <a:p>
            <a:pPr algn="just" marL="199390" indent="-187325">
              <a:lnSpc>
                <a:spcPts val="1300"/>
              </a:lnSpc>
              <a:buAutoNum type="romanLcParenBoth"/>
              <a:tabLst>
                <a:tab pos="200025" algn="l"/>
              </a:tabLst>
            </a:pPr>
            <a:r>
              <a:rPr dirty="0" sz="1200" b="1">
                <a:latin typeface="Times New Roman"/>
                <a:cs typeface="Times New Roman"/>
              </a:rPr>
              <a:t>Too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many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ideas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or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details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put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single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10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distract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ct val="9600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thought of the sentence e.g. </a:t>
            </a:r>
            <a:r>
              <a:rPr dirty="0" sz="1200" i="1">
                <a:latin typeface="Times New Roman"/>
                <a:cs typeface="Times New Roman"/>
              </a:rPr>
              <a:t>Reading </a:t>
            </a:r>
            <a:r>
              <a:rPr dirty="0" sz="1200" spc="-5" i="1">
                <a:latin typeface="Times New Roman"/>
                <a:cs typeface="Times New Roman"/>
              </a:rPr>
              <a:t>his </a:t>
            </a:r>
            <a:r>
              <a:rPr dirty="0" sz="1200" i="1">
                <a:latin typeface="Times New Roman"/>
                <a:cs typeface="Times New Roman"/>
              </a:rPr>
              <a:t>daily newspaper that morning, standing at the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crowded </a:t>
            </a:r>
            <a:r>
              <a:rPr dirty="0" sz="1200" spc="-5" i="1">
                <a:latin typeface="Times New Roman"/>
                <a:cs typeface="Times New Roman"/>
              </a:rPr>
              <a:t>bus </a:t>
            </a:r>
            <a:r>
              <a:rPr dirty="0" sz="1200" i="1">
                <a:latin typeface="Times New Roman"/>
                <a:cs typeface="Times New Roman"/>
              </a:rPr>
              <a:t>stop, the morning </a:t>
            </a:r>
            <a:r>
              <a:rPr dirty="0" sz="1200" spc="-5" i="1">
                <a:latin typeface="Times New Roman"/>
                <a:cs typeface="Times New Roman"/>
              </a:rPr>
              <a:t>sun </a:t>
            </a:r>
            <a:r>
              <a:rPr dirty="0" sz="1200" i="1">
                <a:latin typeface="Times New Roman"/>
                <a:cs typeface="Times New Roman"/>
              </a:rPr>
              <a:t>just lighting up the tops of the high buildings and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making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sleepy-eyed</a:t>
            </a:r>
            <a:r>
              <a:rPr dirty="0" sz="1200" spc="-5" i="1">
                <a:latin typeface="Times New Roman"/>
                <a:cs typeface="Times New Roman"/>
              </a:rPr>
              <a:t> people </a:t>
            </a:r>
            <a:r>
              <a:rPr dirty="0" sz="1200" i="1">
                <a:latin typeface="Times New Roman"/>
                <a:cs typeface="Times New Roman"/>
              </a:rPr>
              <a:t>shade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eyes,</a:t>
            </a:r>
            <a:r>
              <a:rPr dirty="0" sz="1200" spc="-5" i="1">
                <a:latin typeface="Times New Roman"/>
                <a:cs typeface="Times New Roman"/>
              </a:rPr>
              <a:t> made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great</a:t>
            </a:r>
            <a:r>
              <a:rPr dirty="0" sz="1200" spc="-5" i="1">
                <a:latin typeface="Times New Roman"/>
                <a:cs typeface="Times New Roman"/>
              </a:rPr>
              <a:t> impression on 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90"/>
              </a:lnSpc>
            </a:pPr>
            <a:r>
              <a:rPr dirty="0" sz="1200">
                <a:latin typeface="Times New Roman"/>
                <a:cs typeface="Times New Roman"/>
              </a:rPr>
              <a:t>i. </a:t>
            </a: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students at the college </a:t>
            </a:r>
            <a:r>
              <a:rPr dirty="0" sz="1200" spc="-5" i="1">
                <a:latin typeface="Times New Roman"/>
                <a:cs typeface="Times New Roman"/>
              </a:rPr>
              <a:t>use </a:t>
            </a:r>
            <a:r>
              <a:rPr dirty="0" sz="1200" i="1">
                <a:latin typeface="Times New Roman"/>
                <a:cs typeface="Times New Roman"/>
              </a:rPr>
              <a:t>a great deal of abusive language and they </a:t>
            </a:r>
            <a:r>
              <a:rPr dirty="0" sz="1200" spc="-5" i="1">
                <a:latin typeface="Times New Roman"/>
                <a:cs typeface="Times New Roman"/>
              </a:rPr>
              <a:t>are from </a:t>
            </a:r>
            <a:r>
              <a:rPr dirty="0" sz="1200" i="1">
                <a:latin typeface="Times New Roman"/>
                <a:cs typeface="Times New Roman"/>
              </a:rPr>
              <a:t>all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country.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153</a:t>
            </a:fld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82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just" marL="12700" marR="269875">
              <a:lnSpc>
                <a:spcPct val="96000"/>
              </a:lnSpc>
            </a:pPr>
            <a:r>
              <a:rPr dirty="0" sz="1200" spc="-5">
                <a:latin typeface="Times New Roman"/>
                <a:cs typeface="Times New Roman"/>
              </a:rPr>
              <a:t>ii.</a:t>
            </a:r>
            <a:r>
              <a:rPr dirty="0" sz="1200" spc="-5" i="1">
                <a:latin typeface="Times New Roman"/>
                <a:cs typeface="Times New Roman"/>
              </a:rPr>
              <a:t>Reading his </a:t>
            </a:r>
            <a:r>
              <a:rPr dirty="0" sz="1200" i="1">
                <a:latin typeface="Times New Roman"/>
                <a:cs typeface="Times New Roman"/>
              </a:rPr>
              <a:t>daily </a:t>
            </a:r>
            <a:r>
              <a:rPr dirty="0" sz="1200" spc="-5" i="1">
                <a:latin typeface="Times New Roman"/>
                <a:cs typeface="Times New Roman"/>
              </a:rPr>
              <a:t>newspaper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morning,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standing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crowded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stop,</a:t>
            </a:r>
            <a:r>
              <a:rPr dirty="0" sz="1200" spc="3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morning sun just </a:t>
            </a:r>
            <a:r>
              <a:rPr dirty="0" sz="1200" spc="-5" i="1">
                <a:latin typeface="Times New Roman"/>
                <a:cs typeface="Times New Roman"/>
              </a:rPr>
              <a:t>lighting </a:t>
            </a:r>
            <a:r>
              <a:rPr dirty="0" sz="1200" i="1">
                <a:latin typeface="Times New Roman"/>
                <a:cs typeface="Times New Roman"/>
              </a:rPr>
              <a:t>up the tops of the high </a:t>
            </a:r>
            <a:r>
              <a:rPr dirty="0" sz="1200" spc="-5" i="1">
                <a:latin typeface="Times New Roman"/>
                <a:cs typeface="Times New Roman"/>
              </a:rPr>
              <a:t>buildings </a:t>
            </a:r>
            <a:r>
              <a:rPr dirty="0" sz="1200" i="1">
                <a:latin typeface="Times New Roman"/>
                <a:cs typeface="Times New Roman"/>
              </a:rPr>
              <a:t>and making the </a:t>
            </a:r>
            <a:r>
              <a:rPr dirty="0" sz="1200" spc="-5" i="1">
                <a:latin typeface="Times New Roman"/>
                <a:cs typeface="Times New Roman"/>
              </a:rPr>
              <a:t>sleepy-eyed </a:t>
            </a:r>
            <a:r>
              <a:rPr dirty="0" sz="1200" i="1">
                <a:latin typeface="Times New Roman"/>
                <a:cs typeface="Times New Roman"/>
              </a:rPr>
              <a:t> people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shade</a:t>
            </a:r>
            <a:r>
              <a:rPr dirty="0" sz="1200" i="1">
                <a:latin typeface="Times New Roman"/>
                <a:cs typeface="Times New Roman"/>
              </a:rPr>
              <a:t> their eyes, 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great</a:t>
            </a:r>
            <a:r>
              <a:rPr dirty="0" sz="1200" spc="-5" i="1">
                <a:latin typeface="Times New Roman"/>
                <a:cs typeface="Times New Roman"/>
              </a:rPr>
              <a:t> impression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romanLcParenBoth" startAt="3"/>
              <a:tabLst>
                <a:tab pos="2870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Failure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5" b="1">
                <a:latin typeface="Times New Roman"/>
                <a:cs typeface="Times New Roman"/>
              </a:rPr>
              <a:t>complete an </a:t>
            </a:r>
            <a:r>
              <a:rPr dirty="0" sz="1200" b="1">
                <a:latin typeface="Times New Roman"/>
                <a:cs typeface="Times New Roman"/>
              </a:rPr>
              <a:t>idea </a:t>
            </a:r>
            <a:r>
              <a:rPr dirty="0" sz="1200" spc="-5" b="1">
                <a:latin typeface="Times New Roman"/>
                <a:cs typeface="Times New Roman"/>
              </a:rPr>
              <a:t>or </a:t>
            </a:r>
            <a:r>
              <a:rPr dirty="0" sz="1200" b="1">
                <a:latin typeface="Times New Roman"/>
                <a:cs typeface="Times New Roman"/>
              </a:rPr>
              <a:t>a grammatical </a:t>
            </a:r>
            <a:r>
              <a:rPr dirty="0" sz="1200" spc="-5" b="1">
                <a:latin typeface="Times New Roman"/>
                <a:cs typeface="Times New Roman"/>
              </a:rPr>
              <a:t>construction: </a:t>
            </a:r>
            <a:r>
              <a:rPr dirty="0" sz="1200" spc="-5">
                <a:latin typeface="Times New Roman"/>
                <a:cs typeface="Times New Roman"/>
              </a:rPr>
              <a:t>Such sentences are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 of carelessness 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part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writer </a:t>
            </a:r>
            <a:r>
              <a:rPr dirty="0" sz="1200">
                <a:latin typeface="Times New Roman"/>
                <a:cs typeface="Times New Roman"/>
              </a:rPr>
              <a:t>who thinks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reader will </a:t>
            </a:r>
            <a:r>
              <a:rPr dirty="0" sz="1200">
                <a:latin typeface="Times New Roman"/>
                <a:cs typeface="Times New Roman"/>
              </a:rPr>
              <a:t>not object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filling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gaps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35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heavy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chair.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spcBef>
                <a:spcPts val="3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letter.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05"/>
              </a:lnSpc>
              <a:spcBef>
                <a:spcPts val="2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wonderful.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improved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clause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substituting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and too. e.g.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50165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heavy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chair</a:t>
            </a:r>
            <a:r>
              <a:rPr dirty="0" sz="1200" spc="-5">
                <a:latin typeface="Times New Roman"/>
                <a:cs typeface="Times New Roman"/>
              </a:rPr>
              <a:t> that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not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 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mother.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news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wonderful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believed.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news is </a:t>
            </a:r>
            <a:r>
              <a:rPr dirty="0" sz="1200">
                <a:latin typeface="Times New Roman"/>
                <a:cs typeface="Times New Roman"/>
              </a:rPr>
              <a:t>indeed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wonderful.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clauses express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thoughts and others do not. Those that express complete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thoughts are </a:t>
            </a:r>
            <a:r>
              <a:rPr dirty="0" sz="1200" spc="-5" b="1">
                <a:latin typeface="Times New Roman"/>
                <a:cs typeface="Times New Roman"/>
              </a:rPr>
              <a:t>independent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 b="1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clauses, </a:t>
            </a:r>
            <a:r>
              <a:rPr dirty="0" sz="1200" spc="-5">
                <a:latin typeface="Times New Roman"/>
                <a:cs typeface="Times New Roman"/>
              </a:rPr>
              <a:t>others </a:t>
            </a:r>
            <a:r>
              <a:rPr dirty="0" sz="1200">
                <a:latin typeface="Times New Roman"/>
                <a:cs typeface="Times New Roman"/>
              </a:rPr>
              <a:t>are called </a:t>
            </a:r>
            <a:r>
              <a:rPr dirty="0" sz="1200" spc="-5" b="1">
                <a:latin typeface="Times New Roman"/>
                <a:cs typeface="Times New Roman"/>
              </a:rPr>
              <a:t>dependent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10" b="1">
                <a:latin typeface="Times New Roman"/>
                <a:cs typeface="Times New Roman"/>
              </a:rPr>
              <a:t>subordinate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thought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constituent </a:t>
            </a:r>
            <a:r>
              <a:rPr dirty="0" sz="1200">
                <a:latin typeface="Times New Roman"/>
                <a:cs typeface="Times New Roman"/>
              </a:rPr>
              <a:t>thoughts, then you have to decide which of the several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ideas are subordinate </a:t>
            </a:r>
            <a:r>
              <a:rPr dirty="0" sz="1200">
                <a:latin typeface="Times New Roman"/>
                <a:cs typeface="Times New Roman"/>
              </a:rPr>
              <a:t>and then </a:t>
            </a:r>
            <a:r>
              <a:rPr dirty="0" sz="1200" spc="-5">
                <a:latin typeface="Times New Roman"/>
                <a:cs typeface="Times New Roman"/>
              </a:rPr>
              <a:t>so construct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 that the </a:t>
            </a:r>
            <a:r>
              <a:rPr dirty="0" sz="1200" spc="-5">
                <a:latin typeface="Times New Roman"/>
                <a:cs typeface="Times New Roman"/>
              </a:rPr>
              <a:t>subordinate thoughts will give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thought.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principal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thought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subordinate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unity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destroyed.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(Faulty)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fielder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slips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dropped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third </a:t>
            </a:r>
            <a:r>
              <a:rPr dirty="0" sz="1200" i="1">
                <a:latin typeface="Times New Roman"/>
                <a:cs typeface="Times New Roman"/>
              </a:rPr>
              <a:t>catch,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match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definitely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lost.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90"/>
              </a:lnSpc>
              <a:spcBef>
                <a:spcPts val="55"/>
              </a:spcBef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(Improved)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fielder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slips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dropped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third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catch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match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definitely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30"/>
              </a:lnSpc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fielder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slips </a:t>
            </a:r>
            <a:r>
              <a:rPr dirty="0" sz="1200" i="1">
                <a:latin typeface="Times New Roman"/>
                <a:cs typeface="Times New Roman"/>
              </a:rPr>
              <a:t>dropped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third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catch,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match</a:t>
            </a:r>
            <a:r>
              <a:rPr dirty="0" sz="1200" spc="-5" i="1">
                <a:latin typeface="Times New Roman"/>
                <a:cs typeface="Times New Roman"/>
              </a:rPr>
              <a:t> 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definitely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(Faulty)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statements:</a:t>
            </a:r>
            <a:endParaRPr sz="1200">
              <a:latin typeface="Times New Roman"/>
              <a:cs typeface="Times New Roman"/>
            </a:endParaRPr>
          </a:p>
          <a:p>
            <a:pPr marL="12700" marR="1056640">
              <a:lnSpc>
                <a:spcPts val="1380"/>
              </a:lnSpc>
              <a:spcBef>
                <a:spcPts val="70"/>
              </a:spcBef>
            </a:pPr>
            <a:r>
              <a:rPr dirty="0" sz="1200" spc="-5" i="1">
                <a:latin typeface="Times New Roman"/>
                <a:cs typeface="Times New Roman"/>
              </a:rPr>
              <a:t>He was </a:t>
            </a:r>
            <a:r>
              <a:rPr dirty="0" sz="1200" i="1">
                <a:latin typeface="Times New Roman"/>
                <a:cs typeface="Times New Roman"/>
              </a:rPr>
              <a:t>born of poor parents. </a:t>
            </a:r>
            <a:r>
              <a:rPr dirty="0" sz="1200" spc="-5" i="1">
                <a:latin typeface="Times New Roman"/>
                <a:cs typeface="Times New Roman"/>
              </a:rPr>
              <a:t>He was </a:t>
            </a:r>
            <a:r>
              <a:rPr dirty="0" sz="1200" i="1">
                <a:latin typeface="Times New Roman"/>
                <a:cs typeface="Times New Roman"/>
              </a:rPr>
              <a:t>obliged to </a:t>
            </a:r>
            <a:r>
              <a:rPr dirty="0" sz="1200" spc="-5" i="1">
                <a:latin typeface="Times New Roman"/>
                <a:cs typeface="Times New Roman"/>
              </a:rPr>
              <a:t>work his way </a:t>
            </a:r>
            <a:r>
              <a:rPr dirty="0" sz="1200" i="1">
                <a:latin typeface="Times New Roman"/>
                <a:cs typeface="Times New Roman"/>
              </a:rPr>
              <a:t>through college.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 </a:t>
            </a:r>
            <a:r>
              <a:rPr dirty="0" sz="1200" i="1">
                <a:latin typeface="Times New Roman"/>
                <a:cs typeface="Times New Roman"/>
              </a:rPr>
              <a:t>graduated with </a:t>
            </a:r>
            <a:r>
              <a:rPr dirty="0" sz="1200" spc="-5" i="1">
                <a:latin typeface="Times New Roman"/>
                <a:cs typeface="Times New Roman"/>
              </a:rPr>
              <a:t>honors</a:t>
            </a:r>
            <a:r>
              <a:rPr dirty="0" sz="1200" i="1">
                <a:latin typeface="Times New Roman"/>
                <a:cs typeface="Times New Roman"/>
              </a:rPr>
              <a:t> at the heads of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statements may 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subordinated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born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poor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parents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obliged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way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through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college,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graduated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honours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 marL="12700" marR="105664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He was </a:t>
            </a:r>
            <a:r>
              <a:rPr dirty="0" sz="1200" i="1">
                <a:latin typeface="Times New Roman"/>
                <a:cs typeface="Times New Roman"/>
              </a:rPr>
              <a:t>born of poor parents. </a:t>
            </a:r>
            <a:r>
              <a:rPr dirty="0" sz="1200" spc="-5" i="1">
                <a:latin typeface="Times New Roman"/>
                <a:cs typeface="Times New Roman"/>
              </a:rPr>
              <a:t>He was </a:t>
            </a:r>
            <a:r>
              <a:rPr dirty="0" sz="1200" i="1">
                <a:latin typeface="Times New Roman"/>
                <a:cs typeface="Times New Roman"/>
              </a:rPr>
              <a:t>obliged to </a:t>
            </a:r>
            <a:r>
              <a:rPr dirty="0" sz="1200" spc="-5" i="1">
                <a:latin typeface="Times New Roman"/>
                <a:cs typeface="Times New Roman"/>
              </a:rPr>
              <a:t>work his way </a:t>
            </a:r>
            <a:r>
              <a:rPr dirty="0" sz="1200" i="1">
                <a:latin typeface="Times New Roman"/>
                <a:cs typeface="Times New Roman"/>
              </a:rPr>
              <a:t>through college.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 </a:t>
            </a:r>
            <a:r>
              <a:rPr dirty="0" sz="1200" i="1">
                <a:latin typeface="Times New Roman"/>
                <a:cs typeface="Times New Roman"/>
              </a:rPr>
              <a:t>graduated with honours at 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heads of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improved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connectives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subordinate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emphasis</a:t>
            </a:r>
            <a:r>
              <a:rPr dirty="0" sz="1200">
                <a:latin typeface="Times New Roman"/>
                <a:cs typeface="Times New Roman"/>
              </a:rPr>
              <a:t> to 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>
                <a:latin typeface="Times New Roman"/>
                <a:cs typeface="Times New Roman"/>
              </a:rPr>
              <a:t> thought.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2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was</a:t>
            </a:r>
            <a:r>
              <a:rPr dirty="0" sz="1200" i="1">
                <a:latin typeface="Times New Roman"/>
                <a:cs typeface="Times New Roman"/>
              </a:rPr>
              <a:t> reaching down to pick up </a:t>
            </a:r>
            <a:r>
              <a:rPr dirty="0" sz="1200" spc="-10" i="1">
                <a:latin typeface="Times New Roman"/>
                <a:cs typeface="Times New Roman"/>
              </a:rPr>
              <a:t>my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cap just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i="1">
                <a:latin typeface="Times New Roman"/>
                <a:cs typeface="Times New Roman"/>
              </a:rPr>
              <a:t> I </a:t>
            </a:r>
            <a:r>
              <a:rPr dirty="0" sz="1200" spc="-5" i="1">
                <a:latin typeface="Times New Roman"/>
                <a:cs typeface="Times New Roman"/>
              </a:rPr>
              <a:t>saw</a:t>
            </a:r>
            <a:r>
              <a:rPr dirty="0" sz="1200" i="1">
                <a:latin typeface="Times New Roman"/>
                <a:cs typeface="Times New Roman"/>
              </a:rPr>
              <a:t> the </a:t>
            </a:r>
            <a:r>
              <a:rPr dirty="0" sz="1200" spc="-5" i="1">
                <a:latin typeface="Times New Roman"/>
                <a:cs typeface="Times New Roman"/>
              </a:rPr>
              <a:t>two snakes.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within sight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village when</a:t>
            </a:r>
            <a:r>
              <a:rPr dirty="0" sz="1200" spc="-5" i="1">
                <a:latin typeface="Times New Roman"/>
                <a:cs typeface="Times New Roman"/>
              </a:rPr>
              <a:t> our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 </a:t>
            </a:r>
            <a:r>
              <a:rPr dirty="0" sz="1200" i="1">
                <a:latin typeface="Times New Roman"/>
                <a:cs typeface="Times New Roman"/>
              </a:rPr>
              <a:t>suddenly caught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fire.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Because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college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sign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cultured.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main</a:t>
            </a:r>
            <a:r>
              <a:rPr dirty="0" sz="1200" spc="-5" i="1">
                <a:latin typeface="Times New Roman"/>
                <a:cs typeface="Times New Roman"/>
              </a:rPr>
              <a:t> reason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left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early</a:t>
            </a:r>
            <a:r>
              <a:rPr dirty="0" sz="1200" spc="-5" i="1">
                <a:latin typeface="Times New Roman"/>
                <a:cs typeface="Times New Roman"/>
              </a:rPr>
              <a:t> 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 </a:t>
            </a:r>
            <a:r>
              <a:rPr dirty="0" sz="1200" i="1">
                <a:latin typeface="Times New Roman"/>
                <a:cs typeface="Times New Roman"/>
              </a:rPr>
              <a:t>bored.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Mr.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Jamshed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Vice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President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while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Saeed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Secretary.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153</a:t>
            </a:fld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627370" cy="80937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lacking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unity.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where </a:t>
            </a:r>
            <a:r>
              <a:rPr dirty="0" sz="1200" spc="-5">
                <a:latin typeface="Times New Roman"/>
                <a:cs typeface="Times New Roman"/>
              </a:rPr>
              <a:t>necessary.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2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librarian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discouraged </a:t>
            </a:r>
            <a:r>
              <a:rPr dirty="0" sz="1200" i="1">
                <a:latin typeface="Times New Roman"/>
                <a:cs typeface="Times New Roman"/>
              </a:rPr>
              <a:t>about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lack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</a:t>
            </a:r>
            <a:r>
              <a:rPr dirty="0" sz="1200" i="1">
                <a:latin typeface="Times New Roman"/>
                <a:cs typeface="Times New Roman"/>
              </a:rPr>
              <a:t>funds.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Our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situation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too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wonderful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Trying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my </a:t>
            </a:r>
            <a:r>
              <a:rPr dirty="0" sz="1200" i="1">
                <a:latin typeface="Times New Roman"/>
                <a:cs typeface="Times New Roman"/>
              </a:rPr>
              <a:t>neighbour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playing 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drum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such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problem.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bright</a:t>
            </a:r>
            <a:r>
              <a:rPr dirty="0" sz="1200" spc="-5" i="1">
                <a:latin typeface="Times New Roman"/>
                <a:cs typeface="Times New Roman"/>
              </a:rPr>
              <a:t> coloured socks</a:t>
            </a:r>
            <a:r>
              <a:rPr dirty="0" sz="1200" i="1">
                <a:latin typeface="Times New Roman"/>
                <a:cs typeface="Times New Roman"/>
              </a:rPr>
              <a:t> 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 kind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hearted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She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talented.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Computer</a:t>
            </a:r>
            <a:r>
              <a:rPr dirty="0" sz="1200" spc="-5" i="1">
                <a:latin typeface="Times New Roman"/>
                <a:cs typeface="Times New Roman"/>
              </a:rPr>
              <a:t> courses </a:t>
            </a:r>
            <a:r>
              <a:rPr dirty="0" sz="1200" i="1">
                <a:latin typeface="Times New Roman"/>
                <a:cs typeface="Times New Roman"/>
              </a:rPr>
              <a:t>have </a:t>
            </a:r>
            <a:r>
              <a:rPr dirty="0" sz="1200" spc="-5" i="1">
                <a:latin typeface="Times New Roman"/>
                <a:cs typeface="Times New Roman"/>
              </a:rPr>
              <a:t>more </a:t>
            </a:r>
            <a:r>
              <a:rPr dirty="0" sz="1200" i="1">
                <a:latin typeface="Times New Roman"/>
                <a:cs typeface="Times New Roman"/>
              </a:rPr>
              <a:t>appeal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college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student today.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 have seen that </a:t>
            </a:r>
            <a:r>
              <a:rPr dirty="0" sz="1200" spc="-5">
                <a:latin typeface="Times New Roman"/>
                <a:cs typeface="Times New Roman"/>
              </a:rPr>
              <a:t>less important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subordinate to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of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 However, if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ideas are </a:t>
            </a:r>
            <a:r>
              <a:rPr dirty="0" sz="1200" spc="-5">
                <a:latin typeface="Times New Roman"/>
                <a:cs typeface="Times New Roman"/>
              </a:rPr>
              <a:t>co-ordinate,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given equal rank 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 </a:t>
            </a:r>
            <a:r>
              <a:rPr dirty="0" sz="1200" spc="-5">
                <a:latin typeface="Times New Roman"/>
                <a:cs typeface="Times New Roman"/>
              </a:rPr>
              <a:t>This is known as </a:t>
            </a:r>
            <a:r>
              <a:rPr dirty="0" sz="1200" spc="-5" b="1">
                <a:latin typeface="Times New Roman"/>
                <a:cs typeface="Times New Roman"/>
              </a:rPr>
              <a:t>parallelism</a:t>
            </a:r>
            <a:r>
              <a:rPr dirty="0" sz="1200" spc="-5">
                <a:latin typeface="Times New Roman"/>
                <a:cs typeface="Times New Roman"/>
              </a:rPr>
              <a:t>. Students very often use faulty parallelism. </a:t>
            </a:r>
            <a:r>
              <a:rPr dirty="0" sz="1200">
                <a:latin typeface="Times New Roman"/>
                <a:cs typeface="Times New Roman"/>
              </a:rPr>
              <a:t>Great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used in the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>
                <a:latin typeface="Times New Roman"/>
                <a:cs typeface="Times New Roman"/>
              </a:rPr>
              <a:t>of parallel </a:t>
            </a:r>
            <a:r>
              <a:rPr dirty="0" sz="1200" spc="-5">
                <a:latin typeface="Times New Roman"/>
                <a:cs typeface="Times New Roman"/>
              </a:rPr>
              <a:t>structure. Nouns </a:t>
            </a:r>
            <a:r>
              <a:rPr dirty="0" sz="1200">
                <a:latin typeface="Times New Roman"/>
                <a:cs typeface="Times New Roman"/>
              </a:rPr>
              <a:t>must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parallel to nouns, verbs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verbs, subordinate </a:t>
            </a:r>
            <a:r>
              <a:rPr dirty="0" sz="1200" spc="-5">
                <a:latin typeface="Times New Roman"/>
                <a:cs typeface="Times New Roman"/>
              </a:rPr>
              <a:t>clauses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subordinate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clauses</a:t>
            </a:r>
            <a:r>
              <a:rPr dirty="0" sz="1200">
                <a:latin typeface="Times New Roman"/>
                <a:cs typeface="Times New Roman"/>
              </a:rPr>
              <a:t> gerunds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gerunds,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etc…..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The following</a:t>
            </a:r>
            <a:r>
              <a:rPr dirty="0" sz="1200" b="1">
                <a:latin typeface="Times New Roman"/>
                <a:cs typeface="Times New Roman"/>
              </a:rPr>
              <a:t> sentences are </a:t>
            </a:r>
            <a:r>
              <a:rPr dirty="0" sz="1200" spc="-5" b="1">
                <a:latin typeface="Times New Roman"/>
                <a:cs typeface="Times New Roman"/>
              </a:rPr>
              <a:t>examples</a:t>
            </a:r>
            <a:r>
              <a:rPr dirty="0" sz="1200" b="1">
                <a:latin typeface="Times New Roman"/>
                <a:cs typeface="Times New Roman"/>
              </a:rPr>
              <a:t> of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faulty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constructions.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220345" indent="-208279">
              <a:lnSpc>
                <a:spcPts val="1410"/>
              </a:lnSpc>
              <a:spcBef>
                <a:spcPts val="5"/>
              </a:spcBef>
              <a:buFont typeface="Times New Roman"/>
              <a:buAutoNum type="alphaLcParenBoth"/>
              <a:tabLst>
                <a:tab pos="220979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look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on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table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should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found.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Font typeface="Times New Roman"/>
              <a:buAutoNum type="alphaLcParenBoth"/>
              <a:tabLst>
                <a:tab pos="229235" algn="l"/>
              </a:tabLst>
            </a:pPr>
            <a:r>
              <a:rPr dirty="0" sz="1200" i="1">
                <a:latin typeface="Times New Roman"/>
                <a:cs typeface="Times New Roman"/>
              </a:rPr>
              <a:t>Seema’s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books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book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reviews.</a:t>
            </a:r>
            <a:endParaRPr sz="1200">
              <a:latin typeface="Times New Roman"/>
              <a:cs typeface="Times New Roman"/>
            </a:endParaRPr>
          </a:p>
          <a:p>
            <a:pPr marL="220345" indent="-208279">
              <a:lnSpc>
                <a:spcPts val="1380"/>
              </a:lnSpc>
              <a:buFont typeface="Times New Roman"/>
              <a:buAutoNum type="alphaLcParenBoth"/>
              <a:tabLst>
                <a:tab pos="220979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He was </a:t>
            </a:r>
            <a:r>
              <a:rPr dirty="0" sz="1200" i="1">
                <a:latin typeface="Times New Roman"/>
                <a:cs typeface="Times New Roman"/>
              </a:rPr>
              <a:t>considerate,</a:t>
            </a:r>
            <a:r>
              <a:rPr dirty="0" sz="1200" spc="-5" i="1">
                <a:latin typeface="Times New Roman"/>
                <a:cs typeface="Times New Roman"/>
              </a:rPr>
              <a:t> friendly,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people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respected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5"/>
              </a:lnSpc>
              <a:buFont typeface="Times New Roman"/>
              <a:buAutoNum type="alphaLcParenBoth"/>
              <a:tabLst>
                <a:tab pos="229235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couple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travel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extensively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new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experiences.</a:t>
            </a:r>
            <a:endParaRPr sz="1200">
              <a:latin typeface="Times New Roman"/>
              <a:cs typeface="Times New Roman"/>
            </a:endParaRPr>
          </a:p>
          <a:p>
            <a:pPr marL="219075" indent="-207010">
              <a:lnSpc>
                <a:spcPts val="1385"/>
              </a:lnSpc>
              <a:buAutoNum type="alphaLcParenBoth"/>
              <a:tabLst>
                <a:tab pos="21971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professor </a:t>
            </a:r>
            <a:r>
              <a:rPr dirty="0" sz="1200" i="1">
                <a:latin typeface="Times New Roman"/>
                <a:cs typeface="Times New Roman"/>
              </a:rPr>
              <a:t>drew attention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beginning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revolution 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how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ended.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70"/>
              </a:lnSpc>
              <a:spcBef>
                <a:spcPts val="70"/>
              </a:spcBef>
              <a:buAutoNum type="alphaLcParenBoth"/>
              <a:tabLst>
                <a:tab pos="213360" algn="l"/>
              </a:tabLst>
            </a:pPr>
            <a:r>
              <a:rPr dirty="0" sz="1200" i="1">
                <a:latin typeface="Times New Roman"/>
                <a:cs typeface="Times New Roman"/>
              </a:rPr>
              <a:t>Getting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groceries,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taking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children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school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feed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dog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daily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tasks.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1: e.g.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lunch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had an apple pie and banana.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 spc="-5" b="1" i="1">
                <a:latin typeface="Times New Roman"/>
                <a:cs typeface="Times New Roman"/>
              </a:rPr>
              <a:t>NOTE :(1) </a:t>
            </a:r>
            <a:r>
              <a:rPr dirty="0" sz="1200" i="1">
                <a:latin typeface="Times New Roman"/>
                <a:cs typeface="Times New Roman"/>
              </a:rPr>
              <a:t>It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often </a:t>
            </a:r>
            <a:r>
              <a:rPr dirty="0" sz="1200" spc="-5" i="1">
                <a:latin typeface="Times New Roman"/>
                <a:cs typeface="Times New Roman"/>
              </a:rPr>
              <a:t>necessary </a:t>
            </a:r>
            <a:r>
              <a:rPr dirty="0" sz="1200" i="1">
                <a:latin typeface="Times New Roman"/>
                <a:cs typeface="Times New Roman"/>
              </a:rPr>
              <a:t>to repeat </a:t>
            </a:r>
            <a:r>
              <a:rPr dirty="0" sz="1200" spc="-5" i="1">
                <a:latin typeface="Times New Roman"/>
                <a:cs typeface="Times New Roman"/>
              </a:rPr>
              <a:t>preposition or </a:t>
            </a:r>
            <a:r>
              <a:rPr dirty="0" sz="1200" i="1">
                <a:latin typeface="Times New Roman"/>
                <a:cs typeface="Times New Roman"/>
              </a:rPr>
              <a:t>other </a:t>
            </a:r>
            <a:r>
              <a:rPr dirty="0" sz="1200" spc="-5" i="1">
                <a:latin typeface="Times New Roman"/>
                <a:cs typeface="Times New Roman"/>
              </a:rPr>
              <a:t>words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order </a:t>
            </a:r>
            <a:r>
              <a:rPr dirty="0" sz="1200" i="1">
                <a:latin typeface="Times New Roman"/>
                <a:cs typeface="Times New Roman"/>
              </a:rPr>
              <a:t>to make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parallelism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clear.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e.g.</a:t>
            </a:r>
            <a:r>
              <a:rPr dirty="0" sz="1200" spc="-5" i="1">
                <a:latin typeface="Times New Roman"/>
                <a:cs typeface="Times New Roman"/>
              </a:rPr>
              <a:t> For </a:t>
            </a:r>
            <a:r>
              <a:rPr dirty="0" sz="1200" i="1">
                <a:latin typeface="Times New Roman"/>
                <a:cs typeface="Times New Roman"/>
              </a:rPr>
              <a:t>lunch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apple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pie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banana.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i="1">
                <a:latin typeface="Times New Roman"/>
                <a:cs typeface="Times New Roman"/>
              </a:rPr>
              <a:t>(Improved)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lunch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apple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pie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banana.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184150">
              <a:lnSpc>
                <a:spcPts val="1380"/>
              </a:lnSpc>
            </a:pPr>
            <a:r>
              <a:rPr dirty="0" sz="1200" b="1" i="1">
                <a:latin typeface="Times New Roman"/>
                <a:cs typeface="Times New Roman"/>
              </a:rPr>
              <a:t>(2) </a:t>
            </a:r>
            <a:r>
              <a:rPr dirty="0" sz="1200" spc="-5" b="1" i="1">
                <a:latin typeface="Times New Roman"/>
                <a:cs typeface="Times New Roman"/>
              </a:rPr>
              <a:t>Correlatives </a:t>
            </a:r>
            <a:r>
              <a:rPr dirty="0" sz="1200" i="1">
                <a:latin typeface="Times New Roman"/>
                <a:cs typeface="Times New Roman"/>
              </a:rPr>
              <a:t>(either…or / not only…also) should </a:t>
            </a:r>
            <a:r>
              <a:rPr dirty="0" sz="1200" spc="-5" i="1">
                <a:latin typeface="Times New Roman"/>
                <a:cs typeface="Times New Roman"/>
              </a:rPr>
              <a:t>be used only with parallel </a:t>
            </a:r>
            <a:r>
              <a:rPr dirty="0" sz="1200" i="1">
                <a:latin typeface="Times New Roman"/>
                <a:cs typeface="Times New Roman"/>
              </a:rPr>
              <a:t>elements.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likes</a:t>
            </a:r>
            <a:r>
              <a:rPr dirty="0" sz="1200" spc="-5" i="1">
                <a:latin typeface="Times New Roman"/>
                <a:cs typeface="Times New Roman"/>
              </a:rPr>
              <a:t> tennis but also golf.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i="1">
                <a:latin typeface="Times New Roman"/>
                <a:cs typeface="Times New Roman"/>
              </a:rPr>
              <a:t>(Improved)</a:t>
            </a:r>
            <a:r>
              <a:rPr dirty="0" sz="1200" spc="2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tennis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also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golf.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bear in </a:t>
            </a:r>
            <a:r>
              <a:rPr dirty="0" sz="1200" spc="-5">
                <a:latin typeface="Times New Roman"/>
                <a:cs typeface="Times New Roman"/>
              </a:rPr>
              <a:t>mind</a:t>
            </a:r>
            <a:r>
              <a:rPr dirty="0" sz="1200">
                <a:latin typeface="Times New Roman"/>
                <a:cs typeface="Times New Roman"/>
              </a:rPr>
              <a:t> that faulty </a:t>
            </a:r>
            <a:r>
              <a:rPr dirty="0" sz="1200" spc="-5">
                <a:latin typeface="Times New Roman"/>
                <a:cs typeface="Times New Roman"/>
              </a:rPr>
              <a:t>parallelism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worse than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5">
                <a:latin typeface="Times New Roman"/>
                <a:cs typeface="Times New Roman"/>
              </a:rPr>
              <a:t>parallelism </a:t>
            </a:r>
            <a:r>
              <a:rPr dirty="0" sz="1200">
                <a:latin typeface="Times New Roman"/>
                <a:cs typeface="Times New Roman"/>
              </a:rPr>
              <a:t>at all.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parallelism freely in your sentences but should </a:t>
            </a:r>
            <a:r>
              <a:rPr dirty="0" sz="1200" spc="-5">
                <a:latin typeface="Times New Roman"/>
                <a:cs typeface="Times New Roman"/>
              </a:rPr>
              <a:t>resist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-5">
                <a:latin typeface="Times New Roman"/>
                <a:cs typeface="Times New Roman"/>
              </a:rPr>
              <a:t>temptation </a:t>
            </a:r>
            <a:r>
              <a:rPr dirty="0" sz="1200">
                <a:latin typeface="Times New Roman"/>
                <a:cs typeface="Times New Roman"/>
              </a:rPr>
              <a:t>to force into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parallel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structure</a:t>
            </a:r>
            <a:r>
              <a:rPr dirty="0" sz="1200" spc="-5">
                <a:latin typeface="Times New Roman"/>
                <a:cs typeface="Times New Roman"/>
              </a:rPr>
              <a:t> clauses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parallel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5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parallelism.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Swimming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fishing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favourite </a:t>
            </a:r>
            <a:r>
              <a:rPr dirty="0" sz="1200" spc="-5">
                <a:latin typeface="Times New Roman"/>
                <a:cs typeface="Times New Roman"/>
              </a:rPr>
              <a:t>sports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amused.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offered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tomorrow.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disappointed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angry.</a:t>
            </a:r>
            <a:endParaRPr sz="1200">
              <a:latin typeface="Times New Roman"/>
              <a:cs typeface="Times New Roman"/>
            </a:endParaRPr>
          </a:p>
          <a:p>
            <a:pPr marL="12700" marR="10477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unfamiliar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approaching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darkness,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ask</a:t>
            </a:r>
            <a:r>
              <a:rPr dirty="0" sz="1200">
                <a:latin typeface="Times New Roman"/>
                <a:cs typeface="Times New Roman"/>
              </a:rPr>
              <a:t> for </a:t>
            </a:r>
            <a:r>
              <a:rPr dirty="0" sz="1200" spc="-5">
                <a:latin typeface="Times New Roman"/>
                <a:cs typeface="Times New Roman"/>
              </a:rPr>
              <a:t>advice.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157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1729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streaked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muddy.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302895">
              <a:lnSpc>
                <a:spcPts val="1380"/>
              </a:lnSpc>
              <a:spcBef>
                <a:spcPts val="5"/>
              </a:spcBef>
              <a:buFont typeface="Times New Roman"/>
              <a:buAutoNum type="romanUcPeriod" startAt="2"/>
              <a:tabLst>
                <a:tab pos="208279" algn="l"/>
              </a:tabLst>
            </a:pP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far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looked at how the unity of sentences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destroyed. </a:t>
            </a:r>
            <a:r>
              <a:rPr dirty="0" sz="1200" spc="-5">
                <a:latin typeface="Times New Roman"/>
                <a:cs typeface="Times New Roman"/>
              </a:rPr>
              <a:t>Now we </a:t>
            </a:r>
            <a:r>
              <a:rPr dirty="0" sz="1200">
                <a:latin typeface="Times New Roman"/>
                <a:cs typeface="Times New Roman"/>
              </a:rPr>
              <a:t>shall turn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second </a:t>
            </a:r>
            <a:r>
              <a:rPr dirty="0" sz="1200" spc="-5">
                <a:latin typeface="Times New Roman"/>
                <a:cs typeface="Times New Roman"/>
              </a:rPr>
              <a:t>element, </a:t>
            </a:r>
            <a:r>
              <a:rPr dirty="0" sz="1200" b="1">
                <a:latin typeface="Times New Roman"/>
                <a:cs typeface="Times New Roman"/>
              </a:rPr>
              <a:t>coherence</a:t>
            </a:r>
            <a:r>
              <a:rPr dirty="0" sz="1200">
                <a:latin typeface="Times New Roman"/>
                <a:cs typeface="Times New Roman"/>
              </a:rPr>
              <a:t>, which helps to create an effective </a:t>
            </a:r>
            <a:r>
              <a:rPr dirty="0" sz="1200" spc="-5">
                <a:latin typeface="Times New Roman"/>
                <a:cs typeface="Times New Roman"/>
              </a:rPr>
              <a:t>sentence. A sentence 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coherence when the various parts follow one another in an order which makes 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clear.</a:t>
            </a:r>
            <a:endParaRPr sz="1200">
              <a:latin typeface="Times New Roman"/>
              <a:cs typeface="Times New Roman"/>
            </a:endParaRPr>
          </a:p>
          <a:p>
            <a:pPr marL="12700" marR="2952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Correct handling of matters of unity, parallelism </a:t>
            </a:r>
            <a:r>
              <a:rPr dirty="0" sz="1200">
                <a:latin typeface="Times New Roman"/>
                <a:cs typeface="Times New Roman"/>
              </a:rPr>
              <a:t>and subordination contributes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coherence. When working for coherence there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4 pitfalls which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avoided at all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costs.</a:t>
            </a:r>
            <a:r>
              <a:rPr dirty="0" sz="1200">
                <a:latin typeface="Times New Roman"/>
                <a:cs typeface="Times New Roman"/>
              </a:rPr>
              <a:t> These are weak, general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ambiguous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reference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pronouns, split </a:t>
            </a:r>
            <a:r>
              <a:rPr dirty="0" sz="1200">
                <a:latin typeface="Times New Roman"/>
                <a:cs typeface="Times New Roman"/>
              </a:rPr>
              <a:t>constructions,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mixed </a:t>
            </a:r>
            <a:r>
              <a:rPr dirty="0" sz="1200">
                <a:latin typeface="Times New Roman"/>
                <a:cs typeface="Times New Roman"/>
              </a:rPr>
              <a:t>constructions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mixed </a:t>
            </a:r>
            <a:r>
              <a:rPr dirty="0" sz="1200">
                <a:latin typeface="Times New Roman"/>
                <a:cs typeface="Times New Roman"/>
              </a:rPr>
              <a:t>figures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needless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shifting</a:t>
            </a:r>
            <a:r>
              <a:rPr dirty="0" sz="1200" spc="-5">
                <a:latin typeface="Times New Roman"/>
                <a:cs typeface="Times New Roman"/>
              </a:rPr>
              <a:t> 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another – all these </a:t>
            </a:r>
            <a:r>
              <a:rPr dirty="0" sz="1200" spc="-5">
                <a:latin typeface="Times New Roman"/>
                <a:cs typeface="Times New Roman"/>
              </a:rPr>
              <a:t>destroy </a:t>
            </a:r>
            <a:r>
              <a:rPr dirty="0" sz="1200">
                <a:latin typeface="Times New Roman"/>
                <a:cs typeface="Times New Roman"/>
              </a:rPr>
              <a:t>coherence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164465" indent="-152400">
              <a:lnSpc>
                <a:spcPct val="100000"/>
              </a:lnSpc>
              <a:buAutoNum type="arabicPeriod"/>
              <a:tabLst>
                <a:tab pos="165100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Reference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Pronouns: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Ahmed saw</a:t>
            </a:r>
            <a:r>
              <a:rPr dirty="0" sz="1200">
                <a:latin typeface="Times New Roman"/>
                <a:cs typeface="Times New Roman"/>
              </a:rPr>
              <a:t> Basit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Zahid yesterday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money. (ambig)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aunt’s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crippled;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she was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again.</a:t>
            </a:r>
            <a:r>
              <a:rPr dirty="0" sz="1200" spc="-5">
                <a:latin typeface="Times New Roman"/>
                <a:cs typeface="Times New Roman"/>
              </a:rPr>
              <a:t> (Ambiguous </a:t>
            </a:r>
            <a:r>
              <a:rPr dirty="0" sz="1200">
                <a:latin typeface="Times New Roman"/>
                <a:cs typeface="Times New Roman"/>
              </a:rPr>
              <a:t>aunt,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cat?)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410"/>
              </a:lnSpc>
              <a:buAutoNum type="romanLcParenBoth"/>
              <a:tabLst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table,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 sister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bought.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Note: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antecedent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then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plural. e.g.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80"/>
              </a:lnSpc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Guard </a:t>
            </a:r>
            <a:r>
              <a:rPr dirty="0" sz="1200" spc="-5">
                <a:latin typeface="Times New Roman"/>
                <a:cs typeface="Times New Roman"/>
              </a:rPr>
              <a:t>Company is </a:t>
            </a:r>
            <a:r>
              <a:rPr dirty="0" sz="1200">
                <a:latin typeface="Times New Roman"/>
                <a:cs typeface="Times New Roman"/>
              </a:rPr>
              <a:t>now using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furnaces</a:t>
            </a:r>
            <a:r>
              <a:rPr dirty="0" sz="1200" spc="-5">
                <a:latin typeface="Times New Roman"/>
                <a:cs typeface="Times New Roman"/>
              </a:rPr>
              <a:t> instead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oil.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5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club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5">
                <a:latin typeface="Times New Roman"/>
                <a:cs typeface="Times New Roman"/>
              </a:rPr>
              <a:t> 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money.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Split Constructions: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spcBef>
                <a:spcPts val="5"/>
              </a:spcBef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viciously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stumps.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5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we</a:t>
            </a:r>
            <a:r>
              <a:rPr dirty="0" sz="1200">
                <a:latin typeface="Times New Roman"/>
                <a:cs typeface="Times New Roman"/>
              </a:rPr>
              <a:t> had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time, we</a:t>
            </a:r>
            <a:r>
              <a:rPr dirty="0" sz="1200">
                <a:latin typeface="Times New Roman"/>
                <a:cs typeface="Times New Roman"/>
              </a:rPr>
              <a:t> could </a:t>
            </a:r>
            <a:r>
              <a:rPr dirty="0" sz="1200" spc="-5">
                <a:latin typeface="Times New Roman"/>
                <a:cs typeface="Times New Roman"/>
              </a:rPr>
              <a:t>make some</a:t>
            </a:r>
            <a:r>
              <a:rPr dirty="0" sz="1200">
                <a:latin typeface="Times New Roman"/>
                <a:cs typeface="Times New Roman"/>
              </a:rPr>
              <a:t> changes,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wanted to.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3(a).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Bad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construction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referring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(b).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Mixture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figures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speech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castles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tumbling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bottomless </a:t>
            </a:r>
            <a:r>
              <a:rPr dirty="0" sz="1200">
                <a:latin typeface="Times New Roman"/>
                <a:cs typeface="Times New Roman"/>
              </a:rPr>
              <a:t>heap.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Aimless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shifting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destroy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coherence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be due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needless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shift</a:t>
            </a:r>
            <a:r>
              <a:rPr dirty="0" sz="1200" spc="-5">
                <a:latin typeface="Times New Roman"/>
                <a:cs typeface="Times New Roman"/>
              </a:rPr>
              <a:t> from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Active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passive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380"/>
              </a:lnSpc>
              <a:buAutoNum type="alphaLcParenBoth"/>
              <a:tabLst>
                <a:tab pos="228600" algn="l"/>
              </a:tabLst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410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7749030"/>
            <a:ext cx="338899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4310" indent="-182245">
              <a:lnSpc>
                <a:spcPts val="1410"/>
              </a:lnSpc>
              <a:spcBef>
                <a:spcPts val="100"/>
              </a:spcBef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410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hard,</a:t>
            </a:r>
            <a:r>
              <a:rPr dirty="0" sz="1200" spc="-5">
                <a:latin typeface="Times New Roman"/>
                <a:cs typeface="Times New Roman"/>
              </a:rPr>
              <a:t> 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accomplish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158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5129955" y="7749030"/>
            <a:ext cx="11944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(Active to </a:t>
            </a:r>
            <a:r>
              <a:rPr dirty="0" sz="1200" spc="-5">
                <a:latin typeface="Times New Roman"/>
                <a:cs typeface="Times New Roman"/>
              </a:rPr>
              <a:t>passive)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(Singular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8099550"/>
            <a:ext cx="513143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only words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distinguish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‘horse’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‘cart’.</a:t>
            </a:r>
            <a:endParaRPr sz="1200">
              <a:latin typeface="Times New Roman"/>
              <a:cs typeface="Times New Roman"/>
            </a:endParaRPr>
          </a:p>
          <a:p>
            <a:pPr marL="41275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(Past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lack</a:t>
            </a:r>
            <a:r>
              <a:rPr dirty="0" sz="1200" spc="-5">
                <a:latin typeface="Times New Roman"/>
                <a:cs typeface="Times New Roman"/>
              </a:rPr>
              <a:t> coherence.</a:t>
            </a:r>
            <a:r>
              <a:rPr dirty="0" sz="1200">
                <a:latin typeface="Times New Roman"/>
                <a:cs typeface="Times New Roman"/>
              </a:rPr>
              <a:t> Try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make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2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5100" indent="-153035">
              <a:lnSpc>
                <a:spcPts val="1410"/>
              </a:lnSpc>
              <a:spcBef>
                <a:spcPts val="1070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Susan</a:t>
            </a:r>
            <a:r>
              <a:rPr dirty="0" sz="1200">
                <a:latin typeface="Times New Roman"/>
                <a:cs typeface="Times New Roman"/>
              </a:rPr>
              <a:t> and her </a:t>
            </a:r>
            <a:r>
              <a:rPr dirty="0" sz="1200" spc="-5">
                <a:latin typeface="Times New Roman"/>
                <a:cs typeface="Times New Roman"/>
              </a:rPr>
              <a:t>sister</a:t>
            </a:r>
            <a:r>
              <a:rPr dirty="0" sz="1200">
                <a:latin typeface="Times New Roman"/>
                <a:cs typeface="Times New Roman"/>
              </a:rPr>
              <a:t> 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film,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disappointed.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5">
                <a:latin typeface="Times New Roman"/>
                <a:cs typeface="Times New Roman"/>
              </a:rPr>
              <a:t> me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oath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never,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happened,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reveal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secrets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organization.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Henry.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will again</a:t>
            </a:r>
            <a:r>
              <a:rPr dirty="0" sz="1200">
                <a:latin typeface="Times New Roman"/>
                <a:cs typeface="Times New Roman"/>
              </a:rPr>
              <a:t> talk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plans.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5895" algn="l"/>
              </a:tabLst>
            </a:pPr>
            <a:r>
              <a:rPr dirty="0" sz="1200">
                <a:latin typeface="Times New Roman"/>
                <a:cs typeface="Times New Roman"/>
              </a:rPr>
              <a:t>She,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steadily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sewing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finished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stitching </a:t>
            </a:r>
            <a:r>
              <a:rPr dirty="0" sz="1200" spc="-5">
                <a:latin typeface="Times New Roman"/>
                <a:cs typeface="Times New Roman"/>
              </a:rPr>
              <a:t>five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dresses,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wearily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the armchair.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III.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Emphasis.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Position: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95580" indent="-182880">
              <a:lnSpc>
                <a:spcPts val="1380"/>
              </a:lnSpc>
              <a:buFont typeface="Times New Roman"/>
              <a:buAutoNum type="romanLcParenBoth"/>
              <a:tabLst>
                <a:tab pos="19558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graduated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honours,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told.</a:t>
            </a:r>
            <a:endParaRPr sz="1200">
              <a:latin typeface="Times New Roman"/>
              <a:cs typeface="Times New Roman"/>
            </a:endParaRPr>
          </a:p>
          <a:p>
            <a:pPr marL="235585" indent="-223520">
              <a:lnSpc>
                <a:spcPts val="1385"/>
              </a:lnSpc>
              <a:buAutoNum type="romanLcParenBoth"/>
              <a:tabLst>
                <a:tab pos="236220" algn="l"/>
              </a:tabLst>
            </a:pP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shall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called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liar,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probability.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(Weak)</a:t>
            </a:r>
            <a:endParaRPr sz="1200">
              <a:latin typeface="Times New Roman"/>
              <a:cs typeface="Times New Roman"/>
            </a:endParaRPr>
          </a:p>
          <a:p>
            <a:pPr marL="278130" indent="-266065">
              <a:lnSpc>
                <a:spcPts val="1380"/>
              </a:lnSpc>
              <a:buAutoNum type="romanLcParenBoth"/>
              <a:tabLst>
                <a:tab pos="278765" algn="l"/>
              </a:tabLst>
            </a:pPr>
            <a:r>
              <a:rPr dirty="0" sz="1200" i="1">
                <a:latin typeface="Times New Roman"/>
                <a:cs typeface="Times New Roman"/>
              </a:rPr>
              <a:t>She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flatly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refused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see </a:t>
            </a:r>
            <a:r>
              <a:rPr dirty="0" sz="1200" i="1">
                <a:latin typeface="Times New Roman"/>
                <a:cs typeface="Times New Roman"/>
              </a:rPr>
              <a:t>him,</a:t>
            </a:r>
            <a:r>
              <a:rPr dirty="0" sz="1200" spc="-5" i="1">
                <a:latin typeface="Times New Roman"/>
                <a:cs typeface="Times New Roman"/>
              </a:rPr>
              <a:t> 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some </a:t>
            </a:r>
            <a:r>
              <a:rPr dirty="0" sz="1200" i="1">
                <a:latin typeface="Times New Roman"/>
                <a:cs typeface="Times New Roman"/>
              </a:rPr>
              <a:t>unknown</a:t>
            </a:r>
            <a:r>
              <a:rPr dirty="0" sz="1200" spc="-5" i="1">
                <a:latin typeface="Times New Roman"/>
                <a:cs typeface="Times New Roman"/>
              </a:rPr>
              <a:t> reason.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alphaLcParenBoth" startAt="2"/>
              <a:tabLst>
                <a:tab pos="237490" algn="l"/>
              </a:tabLst>
            </a:pPr>
            <a:r>
              <a:rPr dirty="0" sz="1200" b="1">
                <a:latin typeface="Times New Roman"/>
                <a:cs typeface="Times New Roman"/>
              </a:rPr>
              <a:t>Order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Climax: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 i="1">
                <a:latin typeface="Times New Roman"/>
                <a:cs typeface="Times New Roman"/>
              </a:rPr>
              <a:t>During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long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stay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club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served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president,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secretary,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treasurer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vice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president.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10"/>
              </a:lnSpc>
              <a:buAutoNum type="alphaLcParenBoth" startAt="3"/>
              <a:tabLst>
                <a:tab pos="220345" algn="l"/>
              </a:tabLst>
            </a:pPr>
            <a:r>
              <a:rPr dirty="0" sz="1200" b="1">
                <a:latin typeface="Times New Roman"/>
                <a:cs typeface="Times New Roman"/>
              </a:rPr>
              <a:t>Repetition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43510" indent="-131445">
              <a:lnSpc>
                <a:spcPts val="1380"/>
              </a:lnSpc>
              <a:buAutoNum type="romanLcParenR"/>
              <a:tabLst>
                <a:tab pos="1441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dog</a:t>
            </a:r>
            <a:r>
              <a:rPr dirty="0" sz="1200" spc="-5">
                <a:latin typeface="Times New Roman"/>
                <a:cs typeface="Times New Roman"/>
              </a:rPr>
              <a:t> was his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friend,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companion, his</a:t>
            </a:r>
            <a:r>
              <a:rPr dirty="0" sz="1200">
                <a:latin typeface="Times New Roman"/>
                <a:cs typeface="Times New Roman"/>
              </a:rPr>
              <a:t> 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confidant,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his only heir.</a:t>
            </a:r>
            <a:endParaRPr sz="1200">
              <a:latin typeface="Times New Roman"/>
              <a:cs typeface="Times New Roman"/>
            </a:endParaRPr>
          </a:p>
          <a:p>
            <a:pPr marL="186055" indent="-173990">
              <a:lnSpc>
                <a:spcPts val="1380"/>
              </a:lnSpc>
              <a:buAutoNum type="romanLcParenR"/>
              <a:tabLst>
                <a:tab pos="18669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believe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believe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lazy.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(Natural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made more emphatic.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>
                <a:latin typeface="Times New Roman"/>
                <a:cs typeface="Times New Roman"/>
              </a:rPr>
              <a:t> testified that he had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passed</a:t>
            </a:r>
            <a:r>
              <a:rPr dirty="0" sz="1200">
                <a:latin typeface="Times New Roman"/>
                <a:cs typeface="Times New Roman"/>
              </a:rPr>
              <a:t> college,</a:t>
            </a:r>
            <a:r>
              <a:rPr dirty="0" sz="1200" spc="-5">
                <a:latin typeface="Times New Roman"/>
                <a:cs typeface="Times New Roman"/>
              </a:rPr>
              <a:t> middle </a:t>
            </a:r>
            <a:r>
              <a:rPr dirty="0" sz="1200">
                <a:latin typeface="Times New Roman"/>
                <a:cs typeface="Times New Roman"/>
              </a:rPr>
              <a:t>school,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high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5">
                <a:latin typeface="Times New Roman"/>
                <a:cs typeface="Times New Roman"/>
              </a:rPr>
              <a:t> examinations.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1450" algn="l"/>
              </a:tabLst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doctor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girl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told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mother’s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him.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mother is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sister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happy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worthy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today's lesson we </a:t>
            </a:r>
            <a:r>
              <a:rPr dirty="0" sz="1200">
                <a:latin typeface="Times New Roman"/>
                <a:cs typeface="Times New Roman"/>
              </a:rPr>
              <a:t>considered the general </a:t>
            </a:r>
            <a:r>
              <a:rPr dirty="0" sz="1200" spc="-5">
                <a:latin typeface="Times New Roman"/>
                <a:cs typeface="Times New Roman"/>
              </a:rPr>
              <a:t>elements </a:t>
            </a:r>
            <a:r>
              <a:rPr dirty="0" sz="1200">
                <a:latin typeface="Times New Roman"/>
                <a:cs typeface="Times New Roman"/>
              </a:rPr>
              <a:t>- unity coherence and </a:t>
            </a:r>
            <a:r>
              <a:rPr dirty="0" sz="1200" spc="-5">
                <a:latin typeface="Times New Roman"/>
                <a:cs typeface="Times New Roman"/>
              </a:rPr>
              <a:t>emphasis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effectiveness </a:t>
            </a:r>
            <a:r>
              <a:rPr dirty="0" sz="1200">
                <a:latin typeface="Times New Roman"/>
                <a:cs typeface="Times New Roman"/>
              </a:rPr>
              <a:t>in sentences.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shall </a:t>
            </a:r>
            <a:r>
              <a:rPr dirty="0" sz="1200">
                <a:latin typeface="Times New Roman"/>
                <a:cs typeface="Times New Roman"/>
              </a:rPr>
              <a:t>continue with sentence </a:t>
            </a:r>
            <a:r>
              <a:rPr dirty="0" sz="1200" spc="-5">
                <a:latin typeface="Times New Roman"/>
                <a:cs typeface="Times New Roman"/>
              </a:rPr>
              <a:t>construction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next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 lessons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158</a:t>
            </a:fld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Writing: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Identifying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Sentence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Errors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In earlier lessons we have been </a:t>
            </a:r>
            <a:r>
              <a:rPr dirty="0" sz="1200">
                <a:latin typeface="Times New Roman"/>
                <a:cs typeface="Times New Roman"/>
              </a:rPr>
              <a:t>exploring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writing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effective </a:t>
            </a:r>
            <a:r>
              <a:rPr dirty="0" sz="1200" spc="-5">
                <a:latin typeface="Times New Roman"/>
                <a:cs typeface="Times New Roman"/>
              </a:rPr>
              <a:t>sentences.</a:t>
            </a:r>
            <a:r>
              <a:rPr dirty="0" sz="1200">
                <a:latin typeface="Times New Roman"/>
                <a:cs typeface="Times New Roman"/>
              </a:rPr>
              <a:t> In 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 we will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errors we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and 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revise these </a:t>
            </a:r>
            <a:r>
              <a:rPr dirty="0" sz="1200">
                <a:latin typeface="Times New Roman"/>
                <a:cs typeface="Times New Roman"/>
              </a:rPr>
              <a:t>errors.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Errors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 Avoided: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Having </a:t>
            </a:r>
            <a:r>
              <a:rPr dirty="0" sz="1200" spc="-5">
                <a:latin typeface="Times New Roman"/>
                <a:cs typeface="Times New Roman"/>
              </a:rPr>
              <a:t>considered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general elements </a:t>
            </a:r>
            <a:r>
              <a:rPr dirty="0" sz="1200">
                <a:latin typeface="Times New Roman"/>
                <a:cs typeface="Times New Roman"/>
              </a:rPr>
              <a:t>which make for effectiveness in </a:t>
            </a:r>
            <a:r>
              <a:rPr dirty="0" sz="1200" spc="-5">
                <a:latin typeface="Times New Roman"/>
                <a:cs typeface="Times New Roman"/>
              </a:rPr>
              <a:t>sentences, we will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take up four common errors in sentence construction.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errors should be avoided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 marL="12700" marR="448500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Run-on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 marL="12700" marR="35693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(a) </a:t>
            </a:r>
            <a:r>
              <a:rPr dirty="0" sz="1200" spc="-5">
                <a:latin typeface="Times New Roman"/>
                <a:cs typeface="Times New Roman"/>
              </a:rPr>
              <a:t>Fused sentences </a:t>
            </a:r>
            <a:r>
              <a:rPr dirty="0" sz="1200">
                <a:latin typeface="Times New Roman"/>
                <a:cs typeface="Times New Roman"/>
              </a:rPr>
              <a:t>(b) </a:t>
            </a:r>
            <a:r>
              <a:rPr dirty="0" sz="1200" spc="-5">
                <a:latin typeface="Times New Roman"/>
                <a:cs typeface="Times New Roman"/>
              </a:rPr>
              <a:t>comma </a:t>
            </a:r>
            <a:r>
              <a:rPr dirty="0" sz="1200">
                <a:latin typeface="Times New Roman"/>
                <a:cs typeface="Times New Roman"/>
              </a:rPr>
              <a:t>splice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Misplaced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Dangling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Fragments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We said that a sentence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group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must contain a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and a </a:t>
            </a:r>
            <a:r>
              <a:rPr dirty="0" sz="1200" spc="-5">
                <a:latin typeface="Times New Roman"/>
                <a:cs typeface="Times New Roman"/>
              </a:rPr>
              <a:t>verb. It must </a:t>
            </a:r>
            <a:r>
              <a:rPr dirty="0" sz="1200">
                <a:latin typeface="Times New Roman"/>
                <a:cs typeface="Times New Roman"/>
              </a:rPr>
              <a:t> also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thought. Therefore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ideas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not be huddled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 in a </a:t>
            </a:r>
            <a:r>
              <a:rPr dirty="0" sz="1200" spc="-5">
                <a:latin typeface="Times New Roman"/>
                <a:cs typeface="Times New Roman"/>
              </a:rPr>
              <a:t>simple </a:t>
            </a:r>
            <a:r>
              <a:rPr dirty="0" sz="1200">
                <a:latin typeface="Times New Roman"/>
                <a:cs typeface="Times New Roman"/>
              </a:rPr>
              <a:t>unit.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a sentence </a:t>
            </a:r>
            <a:r>
              <a:rPr dirty="0" sz="1200" spc="-5">
                <a:latin typeface="Times New Roman"/>
                <a:cs typeface="Times New Roman"/>
              </a:rPr>
              <a:t>fragment, as </a:t>
            </a:r>
            <a:r>
              <a:rPr dirty="0" sz="1200">
                <a:latin typeface="Times New Roman"/>
                <a:cs typeface="Times New Roman"/>
              </a:rPr>
              <a:t>the phrase tells you,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" i="1">
                <a:latin typeface="Times New Roman"/>
                <a:cs typeface="Times New Roman"/>
              </a:rPr>
              <a:t>less </a:t>
            </a:r>
            <a:r>
              <a:rPr dirty="0" sz="1200" i="1">
                <a:latin typeface="Times New Roman"/>
                <a:cs typeface="Times New Roman"/>
              </a:rPr>
              <a:t>than a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sentence -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fragment because </a:t>
            </a:r>
            <a:r>
              <a:rPr dirty="0" sz="1200">
                <a:latin typeface="Times New Roman"/>
                <a:cs typeface="Times New Roman"/>
              </a:rPr>
              <a:t>it lacks a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or a verb or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it does not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complete</a:t>
            </a:r>
            <a:r>
              <a:rPr dirty="0" sz="1200">
                <a:latin typeface="Times New Roman"/>
                <a:cs typeface="Times New Roman"/>
              </a:rPr>
              <a:t> thought. The following are </a:t>
            </a:r>
            <a:r>
              <a:rPr dirty="0" sz="1200" spc="-5">
                <a:latin typeface="Times New Roman"/>
                <a:cs typeface="Times New Roman"/>
              </a:rPr>
              <a:t>samples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fragments.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i="1">
                <a:latin typeface="Times New Roman"/>
                <a:cs typeface="Times New Roman"/>
              </a:rPr>
              <a:t>My neighbour being 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typical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businessman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prides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himself</a:t>
            </a:r>
            <a:r>
              <a:rPr dirty="0" sz="1200" i="1">
                <a:latin typeface="Times New Roman"/>
                <a:cs typeface="Times New Roman"/>
              </a:rPr>
              <a:t> on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efficiency.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Because</a:t>
            </a:r>
            <a:r>
              <a:rPr dirty="0" sz="1200" spc="-5" i="1">
                <a:latin typeface="Times New Roman"/>
                <a:cs typeface="Times New Roman"/>
              </a:rPr>
              <a:t> there are </a:t>
            </a:r>
            <a:r>
              <a:rPr dirty="0" sz="1200" i="1">
                <a:latin typeface="Times New Roman"/>
                <a:cs typeface="Times New Roman"/>
              </a:rPr>
              <a:t>two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computers</a:t>
            </a:r>
            <a:r>
              <a:rPr dirty="0" sz="1200" i="1">
                <a:latin typeface="Times New Roman"/>
                <a:cs typeface="Times New Roman"/>
              </a:rPr>
              <a:t> on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 desk.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writer of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incomplete statements apparently forgot </a:t>
            </a:r>
            <a:r>
              <a:rPr dirty="0" sz="1200">
                <a:latin typeface="Times New Roman"/>
                <a:cs typeface="Times New Roman"/>
              </a:rPr>
              <a:t>that a </a:t>
            </a:r>
            <a:r>
              <a:rPr dirty="0" sz="1200" spc="-5">
                <a:latin typeface="Times New Roman"/>
                <a:cs typeface="Times New Roman"/>
              </a:rPr>
              <a:t>sentence must express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thought. You </a:t>
            </a:r>
            <a:r>
              <a:rPr dirty="0" sz="1200" spc="-5">
                <a:latin typeface="Times New Roman"/>
                <a:cs typeface="Times New Roman"/>
              </a:rPr>
              <a:t>might say </a:t>
            </a:r>
            <a:r>
              <a:rPr dirty="0" sz="1200">
                <a:latin typeface="Times New Roman"/>
                <a:cs typeface="Times New Roman"/>
              </a:rPr>
              <a:t>that professional writers-novelists, short story </a:t>
            </a:r>
            <a:r>
              <a:rPr dirty="0" sz="1200" spc="-5">
                <a:latin typeface="Times New Roman"/>
                <a:cs typeface="Times New Roman"/>
              </a:rPr>
              <a:t>writers use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incomplete </a:t>
            </a:r>
            <a:r>
              <a:rPr dirty="0" sz="1200">
                <a:latin typeface="Times New Roman"/>
                <a:cs typeface="Times New Roman"/>
              </a:rPr>
              <a:t>sentences, but if you look </a:t>
            </a:r>
            <a:r>
              <a:rPr dirty="0" sz="1200" spc="-5">
                <a:latin typeface="Times New Roman"/>
                <a:cs typeface="Times New Roman"/>
              </a:rPr>
              <a:t>closely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see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their fragments </a:t>
            </a:r>
            <a:r>
              <a:rPr dirty="0" sz="1200">
                <a:latin typeface="Times New Roman"/>
                <a:cs typeface="Times New Roman"/>
              </a:rPr>
              <a:t>convey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thoughts and they convey 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immediately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Arial MT"/>
                <a:cs typeface="Arial MT"/>
              </a:rPr>
              <a:t>I.</a:t>
            </a:r>
            <a:r>
              <a:rPr dirty="0" sz="1200" spc="-20">
                <a:latin typeface="Arial MT"/>
                <a:cs typeface="Arial MT"/>
              </a:rPr>
              <a:t> </a:t>
            </a:r>
            <a:r>
              <a:rPr dirty="0" sz="1200" spc="-5" b="1">
                <a:latin typeface="Arial"/>
                <a:cs typeface="Arial"/>
              </a:rPr>
              <a:t>Dependent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5" b="1">
                <a:latin typeface="Arial"/>
                <a:cs typeface="Arial"/>
              </a:rPr>
              <a:t>Word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5" b="1">
                <a:latin typeface="Arial"/>
                <a:cs typeface="Arial"/>
              </a:rPr>
              <a:t>Fragments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fragments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20"/>
              </a:lnSpc>
              <a:buChar char="-"/>
              <a:tabLst>
                <a:tab pos="101600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Since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Ami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tired.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When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postman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arrived.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After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switched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light.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Since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Ami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tired,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u="heavy" sz="1200" spc="-1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took</a:t>
            </a:r>
            <a:r>
              <a:rPr dirty="0" u="heavy" sz="1200" spc="-1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heavy" sz="1200" spc="-2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nap.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postman arrived,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handed him the</a:t>
            </a:r>
            <a:r>
              <a:rPr dirty="0" u="heavy" sz="1200" spc="-1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letters.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There was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loud knocking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front 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door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after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switched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light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Practice1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50165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158</a:t>
            </a:fld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4465" indent="-152400">
              <a:lnSpc>
                <a:spcPts val="1410"/>
              </a:lnSpc>
              <a:spcBef>
                <a:spcPts val="108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After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new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department </a:t>
            </a:r>
            <a:r>
              <a:rPr dirty="0" sz="1200" spc="-5" i="1">
                <a:latin typeface="Times New Roman"/>
                <a:cs typeface="Times New Roman"/>
              </a:rPr>
              <a:t>store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opened. Several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small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shops </a:t>
            </a:r>
            <a:r>
              <a:rPr dirty="0" sz="1200" i="1">
                <a:latin typeface="Times New Roman"/>
                <a:cs typeface="Times New Roman"/>
              </a:rPr>
              <a:t>went out of</a:t>
            </a:r>
            <a:r>
              <a:rPr dirty="0" sz="1200" spc="-5" i="1">
                <a:latin typeface="Times New Roman"/>
                <a:cs typeface="Times New Roman"/>
              </a:rPr>
              <a:t> business.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nurse</a:t>
            </a:r>
            <a:r>
              <a:rPr dirty="0" sz="1200" i="1">
                <a:latin typeface="Times New Roman"/>
                <a:cs typeface="Times New Roman"/>
              </a:rPr>
              <a:t> pierced</a:t>
            </a:r>
            <a:r>
              <a:rPr dirty="0" sz="1200" spc="-5" i="1">
                <a:latin typeface="Times New Roman"/>
                <a:cs typeface="Times New Roman"/>
              </a:rPr>
              <a:t> my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arm </a:t>
            </a:r>
            <a:r>
              <a:rPr dirty="0" sz="1200" i="1">
                <a:latin typeface="Times New Roman"/>
                <a:cs typeface="Times New Roman"/>
              </a:rPr>
              <a:t>four </a:t>
            </a:r>
            <a:r>
              <a:rPr dirty="0" sz="1200" spc="-5" i="1">
                <a:latin typeface="Times New Roman"/>
                <a:cs typeface="Times New Roman"/>
              </a:rPr>
              <a:t>times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syringe.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Trying</a:t>
            </a:r>
            <a:r>
              <a:rPr dirty="0" sz="1200" i="1">
                <a:latin typeface="Times New Roman"/>
                <a:cs typeface="Times New Roman"/>
              </a:rPr>
              <a:t> to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 a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blood </a:t>
            </a:r>
            <a:r>
              <a:rPr dirty="0" sz="1200" spc="-5" i="1">
                <a:latin typeface="Times New Roman"/>
                <a:cs typeface="Times New Roman"/>
              </a:rPr>
              <a:t>sample.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lady</a:t>
            </a:r>
            <a:r>
              <a:rPr dirty="0" sz="1200" spc="-5" i="1">
                <a:latin typeface="Times New Roman"/>
                <a:cs typeface="Times New Roman"/>
              </a:rPr>
              <a:t> was </a:t>
            </a:r>
            <a:r>
              <a:rPr dirty="0" sz="1200" i="1">
                <a:latin typeface="Times New Roman"/>
                <a:cs typeface="Times New Roman"/>
              </a:rPr>
              <a:t>trembling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excitement.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was her first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airplane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ride.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cordoned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area. </a:t>
            </a:r>
            <a:r>
              <a:rPr dirty="0" sz="1200" i="1">
                <a:latin typeface="Times New Roman"/>
                <a:cs typeface="Times New Roman"/>
              </a:rPr>
              <a:t>Because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leak.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small </a:t>
            </a:r>
            <a:r>
              <a:rPr dirty="0" sz="1200" i="1">
                <a:latin typeface="Times New Roman"/>
                <a:cs typeface="Times New Roman"/>
              </a:rPr>
              <a:t>child </a:t>
            </a:r>
            <a:r>
              <a:rPr dirty="0" sz="1200" spc="-5" i="1">
                <a:latin typeface="Times New Roman"/>
                <a:cs typeface="Times New Roman"/>
              </a:rPr>
              <a:t>was always active. </a:t>
            </a:r>
            <a:r>
              <a:rPr dirty="0" sz="1200" i="1">
                <a:latin typeface="Times New Roman"/>
                <a:cs typeface="Times New Roman"/>
              </a:rPr>
              <a:t>Running, jumping, </a:t>
            </a:r>
            <a:r>
              <a:rPr dirty="0" sz="1200" spc="-5" i="1">
                <a:latin typeface="Times New Roman"/>
                <a:cs typeface="Times New Roman"/>
              </a:rPr>
              <a:t>climbing </a:t>
            </a:r>
            <a:r>
              <a:rPr dirty="0" sz="1200" i="1">
                <a:latin typeface="Times New Roman"/>
                <a:cs typeface="Times New Roman"/>
              </a:rPr>
              <a:t>on </a:t>
            </a:r>
            <a:r>
              <a:rPr dirty="0" sz="1200" spc="-5" i="1">
                <a:latin typeface="Times New Roman"/>
                <a:cs typeface="Times New Roman"/>
              </a:rPr>
              <a:t>chairs, </a:t>
            </a:r>
            <a:r>
              <a:rPr dirty="0" sz="1200" i="1">
                <a:latin typeface="Times New Roman"/>
                <a:cs typeface="Times New Roman"/>
              </a:rPr>
              <a:t>dashing in and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</a:t>
            </a:r>
            <a:r>
              <a:rPr dirty="0" sz="1200" spc="-10" i="1">
                <a:latin typeface="Times New Roman"/>
                <a:cs typeface="Times New Roman"/>
              </a:rPr>
              <a:t>rooms.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Sarah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mess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children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left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verandah.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passed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chemistry which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expected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fail.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Yesterday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</a:t>
            </a:r>
            <a:r>
              <a:rPr dirty="0" sz="1200" spc="-5" i="1">
                <a:latin typeface="Times New Roman"/>
                <a:cs typeface="Times New Roman"/>
              </a:rPr>
              <a:t> my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friend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school.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Sarah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mess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children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left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verandah.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passed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chemistry which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expected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fail.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Yesterday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rant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</a:t>
            </a:r>
            <a:r>
              <a:rPr dirty="0" sz="1200" spc="-5" i="1">
                <a:latin typeface="Times New Roman"/>
                <a:cs typeface="Times New Roman"/>
              </a:rPr>
              <a:t> my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friend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school.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 practice will give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a sense of the difference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dependent-word fragment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complete sentence. </a:t>
            </a:r>
            <a:r>
              <a:rPr dirty="0" sz="1200">
                <a:latin typeface="Times New Roman"/>
                <a:cs typeface="Times New Roman"/>
              </a:rPr>
              <a:t>Turn each </a:t>
            </a:r>
            <a:r>
              <a:rPr dirty="0" sz="1200" spc="-5">
                <a:latin typeface="Times New Roman"/>
                <a:cs typeface="Times New Roman"/>
              </a:rPr>
              <a:t>fragment </a:t>
            </a:r>
            <a:r>
              <a:rPr dirty="0" sz="1200">
                <a:latin typeface="Times New Roman"/>
                <a:cs typeface="Times New Roman"/>
              </a:rPr>
              <a:t>into a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by adding a statement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20"/>
              </a:lnSpc>
              <a:buAutoNum type="arabicPeriod"/>
              <a:tabLst>
                <a:tab pos="165735" algn="l"/>
                <a:tab pos="2849245" algn="l"/>
              </a:tabLst>
            </a:pPr>
            <a:r>
              <a:rPr dirty="0" sz="1200" i="1">
                <a:latin typeface="Times New Roman"/>
                <a:cs typeface="Times New Roman"/>
              </a:rPr>
              <a:t>When I rang the doorbell,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3500754" algn="l"/>
              </a:tabLst>
            </a:pPr>
            <a:r>
              <a:rPr dirty="0" sz="1200" i="1">
                <a:latin typeface="Times New Roman"/>
                <a:cs typeface="Times New Roman"/>
              </a:rPr>
              <a:t>Since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forgotten </a:t>
            </a:r>
            <a:r>
              <a:rPr dirty="0" sz="1200" spc="-5" i="1">
                <a:latin typeface="Times New Roman"/>
                <a:cs typeface="Times New Roman"/>
              </a:rPr>
              <a:t>my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keys,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348742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walked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classroom,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36068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Unless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temperature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goes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down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soon,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  <a:tab pos="2861945" algn="l"/>
              </a:tabLst>
            </a:pPr>
            <a:r>
              <a:rPr dirty="0" sz="1200" i="1">
                <a:latin typeface="Times New Roman"/>
                <a:cs typeface="Times New Roman"/>
              </a:rPr>
              <a:t>Schools were closed yesterday,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rang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doorbell,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lights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house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went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Since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forgotten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keys,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break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door.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walked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classroom,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alarm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rang.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Unless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temperature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goes down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soon,</a:t>
            </a:r>
            <a:r>
              <a:rPr dirty="0" sz="1200" spc="5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 will</a:t>
            </a:r>
            <a:r>
              <a:rPr dirty="0" u="sng" sz="12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 to</a:t>
            </a:r>
            <a:r>
              <a:rPr dirty="0" u="sng" sz="12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consult a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specialist.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Schools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closed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yesterday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political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rally.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II.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-Ing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Fragments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9339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-ing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beginning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fragment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result. e.g.</a:t>
            </a:r>
            <a:endParaRPr sz="1200">
              <a:latin typeface="Times New Roman"/>
              <a:cs typeface="Times New Roman"/>
            </a:endParaRPr>
          </a:p>
          <a:p>
            <a:pPr marL="12700" marR="39179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Hoping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cheaply.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Sunday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bazaars.Here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sentence. But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group of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lacks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verb,</a:t>
            </a:r>
            <a:r>
              <a:rPr dirty="0" sz="1200" spc="-5">
                <a:latin typeface="Times New Roman"/>
                <a:cs typeface="Times New Roman"/>
              </a:rPr>
              <a:t> so</a:t>
            </a:r>
            <a:r>
              <a:rPr dirty="0" sz="1200">
                <a:latin typeface="Times New Roman"/>
                <a:cs typeface="Times New Roman"/>
              </a:rPr>
              <a:t> 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fragment.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-5">
                <a:latin typeface="Times New Roman"/>
                <a:cs typeface="Times New Roman"/>
              </a:rPr>
              <a:t> example </a:t>
            </a:r>
            <a:r>
              <a:rPr dirty="0" sz="1200">
                <a:latin typeface="Times New Roman"/>
                <a:cs typeface="Times New Roman"/>
              </a:rPr>
              <a:t>of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‘to’</a:t>
            </a:r>
            <a:r>
              <a:rPr dirty="0" sz="1200" spc="-5">
                <a:latin typeface="Times New Roman"/>
                <a:cs typeface="Times New Roman"/>
              </a:rPr>
              <a:t> fragment.</a:t>
            </a:r>
            <a:endParaRPr sz="1200">
              <a:latin typeface="Times New Roman"/>
              <a:cs typeface="Times New Roman"/>
            </a:endParaRPr>
          </a:p>
          <a:p>
            <a:pPr marL="12700" marR="263398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ladies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jogged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park.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weight.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correct</a:t>
            </a:r>
            <a:r>
              <a:rPr dirty="0" sz="1200">
                <a:latin typeface="Times New Roman"/>
                <a:cs typeface="Times New Roman"/>
              </a:rPr>
              <a:t> -ing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fragments.</a:t>
            </a:r>
            <a:endParaRPr sz="1200">
              <a:latin typeface="Times New Roman"/>
              <a:cs typeface="Times New Roman"/>
            </a:endParaRPr>
          </a:p>
          <a:p>
            <a:pPr marL="12700" marR="37909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Connect the </a:t>
            </a:r>
            <a:r>
              <a:rPr dirty="0" sz="1200" spc="-5">
                <a:latin typeface="Times New Roman"/>
                <a:cs typeface="Times New Roman"/>
              </a:rPr>
              <a:t>fragment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explains.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i="1">
                <a:latin typeface="Times New Roman"/>
                <a:cs typeface="Times New Roman"/>
              </a:rPr>
              <a:t>- </a:t>
            </a:r>
            <a:r>
              <a:rPr dirty="0" sz="1200" spc="-5" i="1">
                <a:latin typeface="Times New Roman"/>
                <a:cs typeface="Times New Roman"/>
              </a:rPr>
              <a:t>Hoping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buy </a:t>
            </a:r>
            <a:r>
              <a:rPr dirty="0" sz="1200" i="1">
                <a:latin typeface="Times New Roman"/>
                <a:cs typeface="Times New Roman"/>
              </a:rPr>
              <a:t>things cheaply,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poor people often go to the Sunday </a:t>
            </a:r>
            <a:r>
              <a:rPr dirty="0" sz="1200" spc="-5" i="1">
                <a:latin typeface="Times New Roman"/>
                <a:cs typeface="Times New Roman"/>
              </a:rPr>
              <a:t>bazaar</a:t>
            </a:r>
            <a:r>
              <a:rPr dirty="0" sz="1200" spc="-5">
                <a:latin typeface="Times New Roman"/>
                <a:cs typeface="Times New Roman"/>
              </a:rPr>
              <a:t>. Remember </a:t>
            </a:r>
            <a:r>
              <a:rPr dirty="0" sz="1200">
                <a:latin typeface="Times New Roman"/>
                <a:cs typeface="Times New Roman"/>
              </a:rPr>
              <a:t>to put a </a:t>
            </a:r>
            <a:r>
              <a:rPr dirty="0" sz="1200" spc="-5">
                <a:latin typeface="Times New Roman"/>
                <a:cs typeface="Times New Roman"/>
              </a:rPr>
              <a:t>comma </a:t>
            </a:r>
            <a:r>
              <a:rPr dirty="0" sz="1200">
                <a:latin typeface="Times New Roman"/>
                <a:cs typeface="Times New Roman"/>
              </a:rPr>
              <a:t>after an-ing or a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starts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 marR="299085">
              <a:lnSpc>
                <a:spcPts val="1380"/>
              </a:lnSpc>
              <a:buAutoNum type="alphaLcParenR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Create a </a:t>
            </a:r>
            <a:r>
              <a:rPr dirty="0" sz="1200" spc="-5">
                <a:latin typeface="Times New Roman"/>
                <a:cs typeface="Times New Roman"/>
              </a:rPr>
              <a:t>complete sentence </a:t>
            </a:r>
            <a:r>
              <a:rPr dirty="0" sz="1200">
                <a:latin typeface="Times New Roman"/>
                <a:cs typeface="Times New Roman"/>
              </a:rPr>
              <a:t>by adding a subject and a verb to the </a:t>
            </a:r>
            <a:r>
              <a:rPr dirty="0" sz="1200" spc="-5">
                <a:latin typeface="Times New Roman"/>
                <a:cs typeface="Times New Roman"/>
              </a:rPr>
              <a:t>fragment </a:t>
            </a:r>
            <a:r>
              <a:rPr dirty="0" sz="1200">
                <a:latin typeface="Times New Roman"/>
                <a:cs typeface="Times New Roman"/>
              </a:rPr>
              <a:t>and revise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 </a:t>
            </a:r>
            <a:r>
              <a:rPr dirty="0" sz="1200" i="1">
                <a:latin typeface="Times New Roman"/>
                <a:cs typeface="Times New Roman"/>
              </a:rPr>
              <a:t>-Poor people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often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Sunday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bazaar.</a:t>
            </a:r>
            <a:r>
              <a:rPr dirty="0" sz="1200" i="1">
                <a:latin typeface="Times New Roman"/>
                <a:cs typeface="Times New Roman"/>
              </a:rPr>
              <a:t> They hope to buy</a:t>
            </a:r>
            <a:endParaRPr sz="1200">
              <a:latin typeface="Times New Roman"/>
              <a:cs typeface="Times New Roman"/>
            </a:endParaRPr>
          </a:p>
          <a:p>
            <a:pPr marL="12700" marR="942340">
              <a:lnSpc>
                <a:spcPts val="1370"/>
              </a:lnSpc>
              <a:spcBef>
                <a:spcPts val="10"/>
              </a:spcBef>
            </a:pPr>
            <a:r>
              <a:rPr dirty="0" sz="1200" i="1">
                <a:latin typeface="Times New Roman"/>
                <a:cs typeface="Times New Roman"/>
              </a:rPr>
              <a:t>things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cheaply.-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jogged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through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park.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weight.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Hoping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things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cheaply,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poor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people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often go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Sunday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bazaar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161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80"/>
              </a:spcBef>
            </a:pPr>
            <a:r>
              <a:rPr dirty="0" sz="1200" i="1">
                <a:latin typeface="Times New Roman"/>
                <a:cs typeface="Times New Roman"/>
              </a:rPr>
              <a:t>-Poor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people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often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Sunday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bazaar.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hope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things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cheaply.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jogged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through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park.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wanted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lose</a:t>
            </a:r>
            <a:r>
              <a:rPr dirty="0" sz="1200" spc="-5" i="1">
                <a:latin typeface="Times New Roman"/>
                <a:cs typeface="Times New Roman"/>
              </a:rPr>
              <a:t> weight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identify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-ing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items.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rewrite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version using one of </a:t>
            </a:r>
            <a:r>
              <a:rPr dirty="0" sz="1200" spc="-5">
                <a:latin typeface="Times New Roman"/>
                <a:cs typeface="Times New Roman"/>
              </a:rPr>
              <a:t>the two methods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5">
                <a:latin typeface="Times New Roman"/>
                <a:cs typeface="Times New Roman"/>
              </a:rPr>
              <a:t> discussed.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traffic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Rising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yellow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miles.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2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Sarah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painted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landscape.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contest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diving board.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swimmer </a:t>
            </a:r>
            <a:r>
              <a:rPr dirty="0" sz="1200">
                <a:latin typeface="Times New Roman"/>
                <a:cs typeface="Times New Roman"/>
              </a:rPr>
              <a:t>did a</a:t>
            </a:r>
            <a:r>
              <a:rPr dirty="0" sz="1200" spc="-5">
                <a:latin typeface="Times New Roman"/>
                <a:cs typeface="Times New Roman"/>
              </a:rPr>
              <a:t> somersault.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traffic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stood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yellow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miles.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</a:t>
            </a:r>
            <a:r>
              <a:rPr dirty="0" sz="1200" spc="-5">
                <a:latin typeface="Times New Roman"/>
                <a:cs typeface="Times New Roman"/>
              </a:rPr>
              <a:t> yellow kite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 be seen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miles.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Sarah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painted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landscape.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contest.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Sarah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landscape.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contest.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diving board.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swimmer </a:t>
            </a:r>
            <a:r>
              <a:rPr dirty="0" sz="1200">
                <a:latin typeface="Times New Roman"/>
                <a:cs typeface="Times New Roman"/>
              </a:rPr>
              <a:t>did a</a:t>
            </a:r>
            <a:r>
              <a:rPr dirty="0" sz="1200" spc="-5">
                <a:latin typeface="Times New Roman"/>
                <a:cs typeface="Times New Roman"/>
              </a:rPr>
              <a:t> somersault.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swimmer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diving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board.</a:t>
            </a:r>
            <a:r>
              <a:rPr dirty="0" sz="1200" spc="-5">
                <a:latin typeface="Times New Roman"/>
                <a:cs typeface="Times New Roman"/>
              </a:rPr>
              <a:t> 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somersault.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III.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Added-Detail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Fragment</a:t>
            </a:r>
            <a:r>
              <a:rPr dirty="0" sz="1200" spc="-5" i="1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Another common kind of </a:t>
            </a:r>
            <a:r>
              <a:rPr dirty="0" sz="1200" spc="-5" i="1">
                <a:latin typeface="Times New Roman"/>
                <a:cs typeface="Times New Roman"/>
              </a:rPr>
              <a:t>fragment </a:t>
            </a:r>
            <a:r>
              <a:rPr dirty="0" sz="1200" i="1">
                <a:latin typeface="Times New Roman"/>
                <a:cs typeface="Times New Roman"/>
              </a:rPr>
              <a:t>begins with one of the </a:t>
            </a:r>
            <a:r>
              <a:rPr dirty="0" sz="1200" spc="-5" i="1">
                <a:latin typeface="Times New Roman"/>
                <a:cs typeface="Times New Roman"/>
              </a:rPr>
              <a:t>following words: </a:t>
            </a:r>
            <a:r>
              <a:rPr dirty="0" sz="1200" b="1" i="1">
                <a:latin typeface="Times New Roman"/>
                <a:cs typeface="Times New Roman"/>
              </a:rPr>
              <a:t>like, </a:t>
            </a:r>
            <a:r>
              <a:rPr dirty="0" sz="1200" spc="-5" b="1" i="1">
                <a:latin typeface="Times New Roman"/>
                <a:cs typeface="Times New Roman"/>
              </a:rPr>
              <a:t>including, 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such as, for </a:t>
            </a:r>
            <a:r>
              <a:rPr dirty="0" sz="1200" b="1" i="1">
                <a:latin typeface="Times New Roman"/>
                <a:cs typeface="Times New Roman"/>
              </a:rPr>
              <a:t>example, </a:t>
            </a:r>
            <a:r>
              <a:rPr dirty="0" sz="1200" spc="-5" b="1" i="1">
                <a:latin typeface="Times New Roman"/>
                <a:cs typeface="Times New Roman"/>
              </a:rPr>
              <a:t>for instance, </a:t>
            </a:r>
            <a:r>
              <a:rPr dirty="0" sz="1200" b="1" i="1">
                <a:latin typeface="Times New Roman"/>
                <a:cs typeface="Times New Roman"/>
              </a:rPr>
              <a:t>except, </a:t>
            </a:r>
            <a:r>
              <a:rPr dirty="0" sz="1200" spc="-5" b="1" i="1">
                <a:latin typeface="Times New Roman"/>
                <a:cs typeface="Times New Roman"/>
              </a:rPr>
              <a:t>without, especially</a:t>
            </a:r>
            <a:r>
              <a:rPr dirty="0" sz="1200" spc="-5" i="1">
                <a:latin typeface="Times New Roman"/>
                <a:cs typeface="Times New Roman"/>
              </a:rPr>
              <a:t>, </a:t>
            </a:r>
            <a:r>
              <a:rPr dirty="0" sz="1200" i="1">
                <a:latin typeface="Times New Roman"/>
                <a:cs typeface="Times New Roman"/>
              </a:rPr>
              <a:t>and </a:t>
            </a:r>
            <a:r>
              <a:rPr dirty="0" sz="1200" spc="-5" b="1" i="1">
                <a:latin typeface="Times New Roman"/>
                <a:cs typeface="Times New Roman"/>
              </a:rPr>
              <a:t>also. </a:t>
            </a:r>
            <a:r>
              <a:rPr dirty="0" sz="1200" i="1">
                <a:latin typeface="Times New Roman"/>
                <a:cs typeface="Times New Roman"/>
              </a:rPr>
              <a:t>All </a:t>
            </a:r>
            <a:r>
              <a:rPr dirty="0" sz="1200" spc="-5" i="1">
                <a:latin typeface="Times New Roman"/>
                <a:cs typeface="Times New Roman"/>
              </a:rPr>
              <a:t>these words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introduce</a:t>
            </a:r>
            <a:r>
              <a:rPr dirty="0" sz="1200" i="1">
                <a:latin typeface="Times New Roman"/>
                <a:cs typeface="Times New Roman"/>
              </a:rPr>
              <a:t> 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additional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point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or</a:t>
            </a:r>
            <a:r>
              <a:rPr dirty="0" sz="1200" i="1">
                <a:latin typeface="Times New Roman"/>
                <a:cs typeface="Times New Roman"/>
              </a:rPr>
              <a:t> example 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what</a:t>
            </a:r>
            <a:r>
              <a:rPr dirty="0" sz="1200" spc="-5" i="1">
                <a:latin typeface="Times New Roman"/>
                <a:cs typeface="Times New Roman"/>
              </a:rPr>
              <a:t> has </a:t>
            </a:r>
            <a:r>
              <a:rPr dirty="0" sz="1200" i="1">
                <a:latin typeface="Times New Roman"/>
                <a:cs typeface="Times New Roman"/>
              </a:rPr>
              <a:t>already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 </a:t>
            </a:r>
            <a:r>
              <a:rPr dirty="0" sz="1200" spc="-5" i="1">
                <a:latin typeface="Times New Roman"/>
                <a:cs typeface="Times New Roman"/>
              </a:rPr>
              <a:t>stated. </a:t>
            </a:r>
            <a:r>
              <a:rPr dirty="0" sz="1200" i="1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Everyone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enjoyed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feast.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Except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fish.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several </a:t>
            </a:r>
            <a:r>
              <a:rPr dirty="0" sz="1200" i="1">
                <a:latin typeface="Times New Roman"/>
                <a:cs typeface="Times New Roman"/>
              </a:rPr>
              <a:t>novels.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Including </a:t>
            </a:r>
            <a:r>
              <a:rPr dirty="0" sz="1200" i="1">
                <a:latin typeface="Times New Roman"/>
                <a:cs typeface="Times New Roman"/>
              </a:rPr>
              <a:t>‘The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Age’.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Arial MT"/>
                <a:cs typeface="Arial MT"/>
              </a:rPr>
              <a:t>In each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of these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examples,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the second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word group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lacks</a:t>
            </a:r>
            <a:r>
              <a:rPr dirty="0" sz="1200" spc="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both a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subject and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verb. </a:t>
            </a:r>
            <a:r>
              <a:rPr dirty="0" sz="1200" spc="-32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Note that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each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of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these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fragments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begins</a:t>
            </a:r>
            <a:r>
              <a:rPr dirty="0" sz="1200" spc="-1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with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an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Added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Detail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word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or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10">
                <a:latin typeface="Arial MT"/>
                <a:cs typeface="Arial MT"/>
              </a:rPr>
              <a:t>phrase: </a:t>
            </a:r>
            <a:r>
              <a:rPr dirty="0" sz="1200" spc="-5">
                <a:latin typeface="Arial MT"/>
                <a:cs typeface="Arial MT"/>
              </a:rPr>
              <a:t> except and including.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To</a:t>
            </a:r>
            <a:r>
              <a:rPr dirty="0" sz="1200" spc="-1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correct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an Added Detail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fragment</a:t>
            </a:r>
            <a:r>
              <a:rPr dirty="0" sz="1200" spc="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you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follow the same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two </a:t>
            </a:r>
            <a:r>
              <a:rPr dirty="0" sz="1200" spc="-32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methods as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used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for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the last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type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of fragment -ing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and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to</a:t>
            </a:r>
            <a:r>
              <a:rPr dirty="0" sz="1200">
                <a:latin typeface="Arial MT"/>
                <a:cs typeface="Arial MT"/>
              </a:rPr>
              <a:t> fragments.</a:t>
            </a:r>
            <a:endParaRPr sz="1200">
              <a:latin typeface="Arial MT"/>
              <a:cs typeface="Arial MT"/>
            </a:endParaRPr>
          </a:p>
          <a:p>
            <a:pPr marL="207010" indent="-194945">
              <a:lnSpc>
                <a:spcPts val="1315"/>
              </a:lnSpc>
              <a:buFont typeface="Arial"/>
              <a:buAutoNum type="alphaUcPeriod"/>
              <a:tabLst>
                <a:tab pos="207645" algn="l"/>
              </a:tabLst>
            </a:pPr>
            <a:r>
              <a:rPr dirty="0" sz="1200" spc="-5">
                <a:latin typeface="Arial MT"/>
                <a:cs typeface="Arial MT"/>
              </a:rPr>
              <a:t>Add </a:t>
            </a:r>
            <a:r>
              <a:rPr dirty="0" sz="1200">
                <a:latin typeface="Arial MT"/>
                <a:cs typeface="Arial MT"/>
              </a:rPr>
              <a:t>the</a:t>
            </a:r>
            <a:r>
              <a:rPr dirty="0" sz="1200" spc="-5">
                <a:latin typeface="Arial MT"/>
                <a:cs typeface="Arial MT"/>
              </a:rPr>
              <a:t> </a:t>
            </a:r>
            <a:r>
              <a:rPr dirty="0" sz="1200">
                <a:latin typeface="Arial MT"/>
                <a:cs typeface="Arial MT"/>
              </a:rPr>
              <a:t>fragment to</a:t>
            </a:r>
            <a:r>
              <a:rPr dirty="0" sz="1200" spc="-5">
                <a:latin typeface="Arial MT"/>
                <a:cs typeface="Arial MT"/>
              </a:rPr>
              <a:t> the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sentence it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10">
                <a:latin typeface="Arial MT"/>
                <a:cs typeface="Arial MT"/>
              </a:rPr>
              <a:t>explains.</a:t>
            </a:r>
            <a:endParaRPr sz="1200">
              <a:latin typeface="Arial MT"/>
              <a:cs typeface="Arial MT"/>
            </a:endParaRPr>
          </a:p>
          <a:p>
            <a:pPr marL="12700" marR="304800">
              <a:lnSpc>
                <a:spcPts val="1380"/>
              </a:lnSpc>
              <a:spcBef>
                <a:spcPts val="65"/>
              </a:spcBef>
              <a:buFont typeface="Arial"/>
              <a:buAutoNum type="alphaUcPeriod"/>
              <a:tabLst>
                <a:tab pos="207645" algn="l"/>
              </a:tabLst>
            </a:pPr>
            <a:r>
              <a:rPr dirty="0" sz="1200" spc="-5">
                <a:latin typeface="Arial MT"/>
                <a:cs typeface="Arial MT"/>
              </a:rPr>
              <a:t>Create a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new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sentence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by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adding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subject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and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verb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to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the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fragment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and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10">
                <a:latin typeface="Arial MT"/>
                <a:cs typeface="Arial MT"/>
              </a:rPr>
              <a:t>revise </a:t>
            </a:r>
            <a:r>
              <a:rPr dirty="0" sz="1200" spc="-315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the material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as</a:t>
            </a:r>
            <a:r>
              <a:rPr dirty="0" sz="1200">
                <a:latin typeface="Arial MT"/>
                <a:cs typeface="Arial MT"/>
              </a:rPr>
              <a:t> </a:t>
            </a:r>
            <a:r>
              <a:rPr dirty="0" sz="1200" spc="-5">
                <a:latin typeface="Arial MT"/>
                <a:cs typeface="Arial MT"/>
              </a:rPr>
              <a:t>necessary.</a:t>
            </a:r>
            <a:endParaRPr sz="12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Arial"/>
              <a:buAutoNum type="alphaUcPeriod"/>
            </a:pPr>
            <a:endParaRPr sz="11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 one of the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 </a:t>
            </a:r>
            <a:r>
              <a:rPr dirty="0" sz="1200">
                <a:latin typeface="Times New Roman"/>
                <a:cs typeface="Times New Roman"/>
              </a:rPr>
              <a:t>earlier.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32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former</a:t>
            </a:r>
            <a:r>
              <a:rPr dirty="0" sz="1200" i="1">
                <a:latin typeface="Times New Roman"/>
                <a:cs typeface="Times New Roman"/>
              </a:rPr>
              <a:t> playmates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walked</a:t>
            </a:r>
            <a:r>
              <a:rPr dirty="0" sz="1200" spc="-5" i="1">
                <a:latin typeface="Times New Roman"/>
                <a:cs typeface="Times New Roman"/>
              </a:rPr>
              <a:t> passed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another.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Without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saying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a main dish, I often </a:t>
            </a:r>
            <a:r>
              <a:rPr dirty="0" sz="1200" spc="-5" i="1">
                <a:latin typeface="Times New Roman"/>
                <a:cs typeface="Times New Roman"/>
              </a:rPr>
              <a:t>serve</a:t>
            </a:r>
            <a:r>
              <a:rPr dirty="0" sz="1200" i="1">
                <a:latin typeface="Times New Roman"/>
                <a:cs typeface="Times New Roman"/>
              </a:rPr>
              <a:t> meat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vegetables.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example,</a:t>
            </a:r>
            <a:r>
              <a:rPr dirty="0" sz="1200" i="1">
                <a:latin typeface="Times New Roman"/>
                <a:cs typeface="Times New Roman"/>
              </a:rPr>
              <a:t> fish and spinach.</a:t>
            </a:r>
            <a:endParaRPr sz="1200">
              <a:latin typeface="Times New Roman"/>
              <a:cs typeface="Times New Roman"/>
            </a:endParaRPr>
          </a:p>
          <a:p>
            <a:pPr lvl="1" marL="12700" marR="2717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764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policeman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searched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room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clues.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Such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old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photographs,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old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letters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and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old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receipts.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345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Oranges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full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nutrients.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Especially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vitamin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i="1">
                <a:latin typeface="Times New Roman"/>
                <a:cs typeface="Times New Roman"/>
              </a:rPr>
              <a:t>1-The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former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playmates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walked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another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without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saying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2-For a main dish, I often </a:t>
            </a:r>
            <a:r>
              <a:rPr dirty="0" sz="1200" spc="-5" i="1">
                <a:latin typeface="Times New Roman"/>
                <a:cs typeface="Times New Roman"/>
              </a:rPr>
              <a:t>serve </a:t>
            </a:r>
            <a:r>
              <a:rPr dirty="0" sz="1200" i="1">
                <a:latin typeface="Times New Roman"/>
                <a:cs typeface="Times New Roman"/>
              </a:rPr>
              <a:t>meat and vegetables.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example, I </a:t>
            </a:r>
            <a:r>
              <a:rPr dirty="0" sz="1200" spc="-5" b="1" i="1">
                <a:latin typeface="Times New Roman"/>
                <a:cs typeface="Times New Roman"/>
              </a:rPr>
              <a:t>mix </a:t>
            </a:r>
            <a:r>
              <a:rPr dirty="0" sz="1200" i="1">
                <a:latin typeface="Times New Roman"/>
                <a:cs typeface="Times New Roman"/>
              </a:rPr>
              <a:t>fish </a:t>
            </a:r>
            <a:r>
              <a:rPr dirty="0" sz="1200" spc="-5" i="1">
                <a:latin typeface="Times New Roman"/>
                <a:cs typeface="Times New Roman"/>
              </a:rPr>
              <a:t>with spinach.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3- </a:t>
            </a: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policeman searched the </a:t>
            </a:r>
            <a:r>
              <a:rPr dirty="0" sz="1200" spc="-5" i="1">
                <a:latin typeface="Times New Roman"/>
                <a:cs typeface="Times New Roman"/>
              </a:rPr>
              <a:t>room for clues </a:t>
            </a:r>
            <a:r>
              <a:rPr dirty="0" sz="1200" i="1">
                <a:latin typeface="Times New Roman"/>
                <a:cs typeface="Times New Roman"/>
              </a:rPr>
              <a:t>such </a:t>
            </a:r>
            <a:r>
              <a:rPr dirty="0" sz="1200" spc="-5" i="1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old photographs, old </a:t>
            </a:r>
            <a:r>
              <a:rPr dirty="0" sz="1200" spc="-5" i="1">
                <a:latin typeface="Times New Roman"/>
                <a:cs typeface="Times New Roman"/>
              </a:rPr>
              <a:t>letters </a:t>
            </a:r>
            <a:r>
              <a:rPr dirty="0" sz="1200" i="1">
                <a:latin typeface="Times New Roman"/>
                <a:cs typeface="Times New Roman"/>
              </a:rPr>
              <a:t>and old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receipts.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i="1">
                <a:latin typeface="Times New Roman"/>
                <a:cs typeface="Times New Roman"/>
              </a:rPr>
              <a:t>4-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Oranges are </a:t>
            </a:r>
            <a:r>
              <a:rPr dirty="0" sz="1200" i="1">
                <a:latin typeface="Times New Roman"/>
                <a:cs typeface="Times New Roman"/>
              </a:rPr>
              <a:t>full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nutrients especially vitamin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IV. Missing </a:t>
            </a:r>
            <a:r>
              <a:rPr dirty="0" sz="1200" b="1">
                <a:latin typeface="Times New Roman"/>
                <a:cs typeface="Times New Roman"/>
              </a:rPr>
              <a:t>- </a:t>
            </a:r>
            <a:r>
              <a:rPr dirty="0" sz="1200" spc="-5" b="1">
                <a:latin typeface="Times New Roman"/>
                <a:cs typeface="Times New Roman"/>
              </a:rPr>
              <a:t>Subject </a:t>
            </a:r>
            <a:r>
              <a:rPr dirty="0" sz="1200" b="1">
                <a:latin typeface="Times New Roman"/>
                <a:cs typeface="Times New Roman"/>
              </a:rPr>
              <a:t>Fragments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lack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i="1">
                <a:latin typeface="Times New Roman"/>
                <a:cs typeface="Times New Roman"/>
              </a:rPr>
              <a:t>-The</a:t>
            </a:r>
            <a:r>
              <a:rPr dirty="0" sz="1200" spc="-5" i="1">
                <a:latin typeface="Times New Roman"/>
                <a:cs typeface="Times New Roman"/>
              </a:rPr>
              <a:t> poor woman </a:t>
            </a:r>
            <a:r>
              <a:rPr dirty="0" sz="1200" i="1">
                <a:latin typeface="Times New Roman"/>
                <a:cs typeface="Times New Roman"/>
              </a:rPr>
              <a:t>paid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all her</a:t>
            </a:r>
            <a:r>
              <a:rPr dirty="0" sz="1200" spc="-5" i="1">
                <a:latin typeface="Times New Roman"/>
                <a:cs typeface="Times New Roman"/>
              </a:rPr>
              <a:t> utility</a:t>
            </a:r>
            <a:r>
              <a:rPr dirty="0" sz="1200" i="1">
                <a:latin typeface="Times New Roman"/>
                <a:cs typeface="Times New Roman"/>
              </a:rPr>
              <a:t> bills.</a:t>
            </a:r>
            <a:r>
              <a:rPr dirty="0" sz="1200" spc="-5" i="1">
                <a:latin typeface="Times New Roman"/>
                <a:cs typeface="Times New Roman"/>
              </a:rPr>
              <a:t> But</a:t>
            </a:r>
            <a:r>
              <a:rPr dirty="0" sz="1200" i="1">
                <a:latin typeface="Times New Roman"/>
                <a:cs typeface="Times New Roman"/>
              </a:rPr>
              <a:t> then</a:t>
            </a:r>
            <a:r>
              <a:rPr dirty="0" sz="1200" spc="-5" i="1">
                <a:latin typeface="Times New Roman"/>
                <a:cs typeface="Times New Roman"/>
              </a:rPr>
              <a:t> had </a:t>
            </a:r>
            <a:r>
              <a:rPr dirty="0" sz="1200" i="1">
                <a:latin typeface="Times New Roman"/>
                <a:cs typeface="Times New Roman"/>
              </a:rPr>
              <a:t>little</a:t>
            </a:r>
            <a:r>
              <a:rPr dirty="0" sz="1200" spc="-5" i="1">
                <a:latin typeface="Times New Roman"/>
                <a:cs typeface="Times New Roman"/>
              </a:rPr>
              <a:t> money</a:t>
            </a:r>
            <a:r>
              <a:rPr dirty="0" sz="1200" i="1">
                <a:latin typeface="Times New Roman"/>
                <a:cs typeface="Times New Roman"/>
              </a:rPr>
              <a:t> left</a:t>
            </a:r>
            <a:r>
              <a:rPr dirty="0" sz="1200" spc="-5" i="1">
                <a:latin typeface="Times New Roman"/>
                <a:cs typeface="Times New Roman"/>
              </a:rPr>
              <a:t> over </a:t>
            </a: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food.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nurse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smiling </a:t>
            </a:r>
            <a:r>
              <a:rPr dirty="0" sz="1200" i="1">
                <a:latin typeface="Times New Roman"/>
                <a:cs typeface="Times New Roman"/>
              </a:rPr>
              <a:t>baby.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posed</a:t>
            </a:r>
            <a:r>
              <a:rPr dirty="0" sz="1200" spc="-5" i="1">
                <a:latin typeface="Times New Roman"/>
                <a:cs typeface="Times New Roman"/>
              </a:rPr>
              <a:t> 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photographers.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fragment.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Note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fragment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 </a:t>
            </a:r>
            <a:r>
              <a:rPr dirty="0" sz="1200" spc="-5" b="1">
                <a:latin typeface="Times New Roman"/>
                <a:cs typeface="Times New Roman"/>
              </a:rPr>
              <a:t>had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second </a:t>
            </a:r>
            <a:r>
              <a:rPr dirty="0" sz="1200" spc="-5">
                <a:latin typeface="Times New Roman"/>
                <a:cs typeface="Times New Roman"/>
              </a:rPr>
              <a:t>fragment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omits</a:t>
            </a:r>
            <a:r>
              <a:rPr dirty="0" sz="1200">
                <a:latin typeface="Times New Roman"/>
                <a:cs typeface="Times New Roman"/>
              </a:rPr>
              <a:t> the 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verb </a:t>
            </a:r>
            <a:r>
              <a:rPr dirty="0" sz="1200" spc="-10" b="1">
                <a:latin typeface="Times New Roman"/>
                <a:cs typeface="Times New Roman"/>
              </a:rPr>
              <a:t>posed.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missing-subject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fragment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correction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earlier types of </a:t>
            </a:r>
            <a:r>
              <a:rPr dirty="0" sz="1200" spc="-5">
                <a:latin typeface="Times New Roman"/>
                <a:cs typeface="Times New Roman"/>
              </a:rPr>
              <a:t>fragments.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missing-subject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 if needed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a </a:t>
            </a:r>
            <a:r>
              <a:rPr dirty="0" sz="1200" spc="-5">
                <a:latin typeface="Times New Roman"/>
                <a:cs typeface="Times New Roman"/>
              </a:rPr>
              <a:t>smooth </a:t>
            </a:r>
            <a:r>
              <a:rPr dirty="0" sz="1200">
                <a:latin typeface="Times New Roman"/>
                <a:cs typeface="Times New Roman"/>
              </a:rPr>
              <a:t>connection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examples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follow.</a:t>
            </a:r>
            <a:endParaRPr sz="1200">
              <a:latin typeface="Times New Roman"/>
              <a:cs typeface="Times New Roman"/>
            </a:endParaRPr>
          </a:p>
          <a:p>
            <a:pPr marL="227329" indent="-215265">
              <a:lnSpc>
                <a:spcPts val="1315"/>
              </a:lnSpc>
              <a:buAutoNum type="alphaLcParenBoth"/>
              <a:tabLst>
                <a:tab pos="227965" algn="l"/>
              </a:tabLst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poor woman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paid all </a:t>
            </a:r>
            <a:r>
              <a:rPr dirty="0" sz="1200" spc="-5" i="1">
                <a:latin typeface="Times New Roman"/>
                <a:cs typeface="Times New Roman"/>
              </a:rPr>
              <a:t>her </a:t>
            </a:r>
            <a:r>
              <a:rPr dirty="0" sz="1200" i="1">
                <a:latin typeface="Times New Roman"/>
                <a:cs typeface="Times New Roman"/>
              </a:rPr>
              <a:t>utility</a:t>
            </a:r>
            <a:r>
              <a:rPr dirty="0" sz="1200" spc="-5" i="1">
                <a:latin typeface="Times New Roman"/>
                <a:cs typeface="Times New Roman"/>
              </a:rPr>
              <a:t> bills but had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little </a:t>
            </a:r>
            <a:r>
              <a:rPr dirty="0" sz="1200" spc="-5" i="1">
                <a:latin typeface="Times New Roman"/>
                <a:cs typeface="Times New Roman"/>
              </a:rPr>
              <a:t>money </a:t>
            </a:r>
            <a:r>
              <a:rPr dirty="0" sz="1200" i="1">
                <a:latin typeface="Times New Roman"/>
                <a:cs typeface="Times New Roman"/>
              </a:rPr>
              <a:t>left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 her </a:t>
            </a:r>
            <a:r>
              <a:rPr dirty="0" sz="1200" i="1">
                <a:latin typeface="Times New Roman"/>
                <a:cs typeface="Times New Roman"/>
              </a:rPr>
              <a:t>food..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nurse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held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smiling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baby and</a:t>
            </a:r>
            <a:r>
              <a:rPr dirty="0" sz="1200" spc="-5" b="1" i="1">
                <a:latin typeface="Times New Roman"/>
                <a:cs typeface="Times New Roman"/>
              </a:rPr>
              <a:t> then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posed</a:t>
            </a:r>
            <a:r>
              <a:rPr dirty="0" sz="1200" spc="-5" i="1">
                <a:latin typeface="Times New Roman"/>
                <a:cs typeface="Times New Roman"/>
              </a:rPr>
              <a:t> for</a:t>
            </a:r>
            <a:r>
              <a:rPr dirty="0" sz="1200" i="1">
                <a:latin typeface="Times New Roman"/>
                <a:cs typeface="Times New Roman"/>
              </a:rPr>
              <a:t> 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photographers.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lphaLcParenBoth" startAt="2"/>
              <a:tabLst>
                <a:tab pos="254000" algn="l"/>
              </a:tabLst>
            </a:pPr>
            <a:r>
              <a:rPr dirty="0" sz="1200">
                <a:latin typeface="Times New Roman"/>
                <a:cs typeface="Times New Roman"/>
              </a:rPr>
              <a:t>Create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Normally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stands</a:t>
            </a:r>
            <a:r>
              <a:rPr dirty="0" sz="1200">
                <a:latin typeface="Times New Roman"/>
                <a:cs typeface="Times New Roman"/>
              </a:rPr>
              <a:t> for the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previous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(b) </a:t>
            </a:r>
            <a:r>
              <a:rPr dirty="0" sz="1200" i="1">
                <a:latin typeface="Times New Roman"/>
                <a:cs typeface="Times New Roman"/>
              </a:rPr>
              <a:t>- The </a:t>
            </a:r>
            <a:r>
              <a:rPr dirty="0" sz="1200" spc="-5" i="1">
                <a:latin typeface="Times New Roman"/>
                <a:cs typeface="Times New Roman"/>
              </a:rPr>
              <a:t>poor</a:t>
            </a:r>
            <a:r>
              <a:rPr dirty="0" sz="1200" i="1">
                <a:latin typeface="Times New Roman"/>
                <a:cs typeface="Times New Roman"/>
              </a:rPr>
              <a:t> woman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paid all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utility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bills. </a:t>
            </a:r>
            <a:r>
              <a:rPr dirty="0" sz="1200" spc="-10" b="1" i="1">
                <a:latin typeface="Times New Roman"/>
                <a:cs typeface="Times New Roman"/>
              </a:rPr>
              <a:t>But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she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had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little money left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i="1">
                <a:latin typeface="Times New Roman"/>
                <a:cs typeface="Times New Roman"/>
              </a:rPr>
              <a:t> food..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nurse </a:t>
            </a:r>
            <a:r>
              <a:rPr dirty="0" sz="1200" i="1">
                <a:latin typeface="Times New Roman"/>
                <a:cs typeface="Times New Roman"/>
              </a:rPr>
              <a:t>held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smiling </a:t>
            </a:r>
            <a:r>
              <a:rPr dirty="0" sz="1200" i="1">
                <a:latin typeface="Times New Roman"/>
                <a:cs typeface="Times New Roman"/>
              </a:rPr>
              <a:t>baby.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 </a:t>
            </a:r>
            <a:r>
              <a:rPr dirty="0" sz="1200" spc="-5" b="1" i="1">
                <a:latin typeface="Times New Roman"/>
                <a:cs typeface="Times New Roman"/>
              </a:rPr>
              <a:t>she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posed</a:t>
            </a:r>
            <a:r>
              <a:rPr dirty="0" sz="1200" spc="-5" i="1">
                <a:latin typeface="Times New Roman"/>
                <a:cs typeface="Times New Roman"/>
              </a:rPr>
              <a:t> for</a:t>
            </a:r>
            <a:r>
              <a:rPr dirty="0" sz="1200" i="1">
                <a:latin typeface="Times New Roman"/>
                <a:cs typeface="Times New Roman"/>
              </a:rPr>
              <a:t> the photographers.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subject-fragment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 one of the </a:t>
            </a:r>
            <a:r>
              <a:rPr dirty="0" sz="1200" spc="-5">
                <a:latin typeface="Times New Roman"/>
                <a:cs typeface="Times New Roman"/>
              </a:rPr>
              <a:t>two methods</a:t>
            </a:r>
            <a:r>
              <a:rPr dirty="0" sz="1200">
                <a:latin typeface="Times New Roman"/>
                <a:cs typeface="Times New Roman"/>
              </a:rPr>
              <a:t> you have learned.</a:t>
            </a:r>
            <a:endParaRPr sz="1200">
              <a:latin typeface="Times New Roman"/>
              <a:cs typeface="Times New Roman"/>
            </a:endParaRPr>
          </a:p>
          <a:p>
            <a:pPr marL="12700" marR="489584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sleeping </a:t>
            </a:r>
            <a:r>
              <a:rPr dirty="0" sz="1200" i="1">
                <a:latin typeface="Times New Roman"/>
                <a:cs typeface="Times New Roman"/>
              </a:rPr>
              <a:t>dog opened one eye to look at the </a:t>
            </a:r>
            <a:r>
              <a:rPr dirty="0" sz="1200" spc="-5" i="1">
                <a:latin typeface="Times New Roman"/>
                <a:cs typeface="Times New Roman"/>
              </a:rPr>
              <a:t>postman. </a:t>
            </a:r>
            <a:r>
              <a:rPr dirty="0" sz="1200" i="1">
                <a:latin typeface="Times New Roman"/>
                <a:cs typeface="Times New Roman"/>
              </a:rPr>
              <a:t>And then </a:t>
            </a:r>
            <a:r>
              <a:rPr dirty="0" sz="1200" spc="-5" i="1">
                <a:latin typeface="Times New Roman"/>
                <a:cs typeface="Times New Roman"/>
              </a:rPr>
              <a:t>went back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sleep.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sleeping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dog opened one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eye to look at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postman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went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back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sleep.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183515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morning,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secretary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checks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answering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machine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messages.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opens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mail.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-Each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morning,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secretary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checks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answering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machine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messages.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opens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mail.</a:t>
            </a:r>
            <a:endParaRPr sz="1200">
              <a:latin typeface="Times New Roman"/>
              <a:cs typeface="Times New Roman"/>
            </a:endParaRPr>
          </a:p>
          <a:p>
            <a:pPr marL="12700" marR="374650">
              <a:lnSpc>
                <a:spcPts val="1380"/>
              </a:lnSpc>
              <a:buAutoNum type="arabicPeriod" startAt="3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Maryam skipped </a:t>
            </a:r>
            <a:r>
              <a:rPr dirty="0" sz="1200" spc="-5" i="1">
                <a:latin typeface="Times New Roman"/>
                <a:cs typeface="Times New Roman"/>
              </a:rPr>
              <a:t>her </a:t>
            </a:r>
            <a:r>
              <a:rPr dirty="0" sz="1200" i="1">
                <a:latin typeface="Times New Roman"/>
                <a:cs typeface="Times New Roman"/>
              </a:rPr>
              <a:t>afternoon </a:t>
            </a:r>
            <a:r>
              <a:rPr dirty="0" sz="1200" spc="-5" i="1">
                <a:latin typeface="Times New Roman"/>
                <a:cs typeface="Times New Roman"/>
              </a:rPr>
              <a:t>classes. And worked on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paper due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next morning. </a:t>
            </a:r>
            <a:r>
              <a:rPr dirty="0" sz="1200" i="1">
                <a:latin typeface="Times New Roman"/>
                <a:cs typeface="Times New Roman"/>
              </a:rPr>
              <a:t> Maryam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skipped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 </a:t>
            </a:r>
            <a:r>
              <a:rPr dirty="0" sz="1200" i="1">
                <a:latin typeface="Times New Roman"/>
                <a:cs typeface="Times New Roman"/>
              </a:rPr>
              <a:t>afternoon.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Classes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paper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due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next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morning.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70"/>
              </a:lnSpc>
              <a:spcBef>
                <a:spcPts val="5"/>
              </a:spcBef>
              <a:buAutoNum type="arabicPeriod" startAt="3"/>
              <a:tabLst>
                <a:tab pos="18224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movie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melodious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music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popular</a:t>
            </a:r>
            <a:r>
              <a:rPr dirty="0" sz="1200" spc="1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actors.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Yet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little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money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1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box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office.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Melodious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popular Yet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little money at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box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movie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 melodious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 popular</a:t>
            </a:r>
            <a:r>
              <a:rPr dirty="0" sz="1200" spc="-5" i="1">
                <a:latin typeface="Times New Roman"/>
                <a:cs typeface="Times New Roman"/>
              </a:rPr>
              <a:t> actors.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Yet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 little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money 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box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office.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Answer each</a:t>
            </a:r>
            <a:r>
              <a:rPr dirty="0" sz="1200">
                <a:latin typeface="Times New Roman"/>
                <a:cs typeface="Times New Roman"/>
              </a:rPr>
              <a:t> question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word/words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 </a:t>
            </a:r>
            <a:r>
              <a:rPr dirty="0" sz="1200" spc="-5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72085" algn="l"/>
                <a:tab pos="2222500" algn="l"/>
                <a:tab pos="492188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eriod"/>
              <a:tabLst>
                <a:tab pos="172085" algn="l"/>
                <a:tab pos="3896995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because,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until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while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 with 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5">
                <a:latin typeface="Times New Roman"/>
                <a:cs typeface="Times New Roman"/>
              </a:rPr>
              <a:t> statement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the thought.</a:t>
            </a:r>
            <a:endParaRPr sz="1200">
              <a:latin typeface="Times New Roman"/>
              <a:cs typeface="Times New Roman"/>
            </a:endParaRPr>
          </a:p>
          <a:p>
            <a:pPr marL="172720" indent="-160020">
              <a:lnSpc>
                <a:spcPts val="1315"/>
              </a:lnSpc>
              <a:buAutoNum type="arabicPeriod"/>
              <a:tabLst>
                <a:tab pos="172720" algn="l"/>
              </a:tabLst>
            </a:pPr>
            <a:r>
              <a:rPr dirty="0" sz="1200" spc="-5">
                <a:latin typeface="Times New Roman"/>
                <a:cs typeface="Times New Roman"/>
              </a:rPr>
              <a:t>Fragments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especially,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example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698500" algn="l"/>
              </a:tabLst>
            </a:pP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fragments.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 startAt="4"/>
              <a:tabLst>
                <a:tab pos="184150" algn="l"/>
                <a:tab pos="1426845" algn="l"/>
                <a:tab pos="4806950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added-detail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fragment.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45"/>
              </a:lnSpc>
              <a:buAutoNum type="arabicPeriod" startAt="4"/>
              <a:tabLst>
                <a:tab pos="165735" algn="l"/>
                <a:tab pos="4249420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missing-subject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TEST: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Fragments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fragments.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385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 to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Murree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Hills</a:t>
            </a:r>
            <a:r>
              <a:rPr dirty="0" sz="1200" i="1">
                <a:latin typeface="Times New Roman"/>
                <a:cs typeface="Times New Roman"/>
              </a:rPr>
              <a:t> during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summer</a:t>
            </a:r>
            <a:r>
              <a:rPr dirty="0" sz="1200" i="1">
                <a:latin typeface="Times New Roman"/>
                <a:cs typeface="Times New Roman"/>
              </a:rPr>
              <a:t> vacations. </a:t>
            </a:r>
            <a:r>
              <a:rPr dirty="0" sz="1200" spc="-5" i="1">
                <a:latin typeface="Times New Roman"/>
                <a:cs typeface="Times New Roman"/>
              </a:rPr>
              <a:t>Whenever</a:t>
            </a:r>
            <a:r>
              <a:rPr dirty="0" sz="1200" i="1">
                <a:latin typeface="Times New Roman"/>
                <a:cs typeface="Times New Roman"/>
              </a:rPr>
              <a:t> we</a:t>
            </a:r>
            <a:r>
              <a:rPr dirty="0" sz="1200" spc="-5" i="1">
                <a:latin typeface="Times New Roman"/>
                <a:cs typeface="Times New Roman"/>
              </a:rPr>
              <a:t> can,</a:t>
            </a:r>
            <a:r>
              <a:rPr dirty="0" sz="1200" i="1">
                <a:latin typeface="Times New Roman"/>
                <a:cs typeface="Times New Roman"/>
              </a:rPr>
              <a:t> of </a:t>
            </a:r>
            <a:r>
              <a:rPr dirty="0" sz="1200" spc="-5" i="1">
                <a:latin typeface="Times New Roman"/>
                <a:cs typeface="Times New Roman"/>
              </a:rPr>
              <a:t>course.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700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Our </a:t>
            </a:r>
            <a:r>
              <a:rPr dirty="0" sz="1200" i="1">
                <a:latin typeface="Times New Roman"/>
                <a:cs typeface="Times New Roman"/>
              </a:rPr>
              <a:t>literary circle </a:t>
            </a:r>
            <a:r>
              <a:rPr dirty="0" sz="1200" spc="-5" i="1">
                <a:latin typeface="Times New Roman"/>
                <a:cs typeface="Times New Roman"/>
              </a:rPr>
              <a:t>has </a:t>
            </a:r>
            <a:r>
              <a:rPr dirty="0" sz="1200" i="1">
                <a:latin typeface="Times New Roman"/>
                <a:cs typeface="Times New Roman"/>
              </a:rPr>
              <a:t>only two officers. </a:t>
            </a:r>
            <a:r>
              <a:rPr dirty="0" sz="1200" spc="-5" i="1">
                <a:latin typeface="Times New Roman"/>
                <a:cs typeface="Times New Roman"/>
              </a:rPr>
              <a:t>Miss </a:t>
            </a:r>
            <a:r>
              <a:rPr dirty="0" sz="1200" i="1">
                <a:latin typeface="Times New Roman"/>
                <a:cs typeface="Times New Roman"/>
              </a:rPr>
              <a:t>Niazi being </a:t>
            </a:r>
            <a:r>
              <a:rPr dirty="0" sz="1200" spc="-5" i="1">
                <a:latin typeface="Times New Roman"/>
                <a:cs typeface="Times New Roman"/>
              </a:rPr>
              <a:t>president </a:t>
            </a:r>
            <a:r>
              <a:rPr dirty="0" sz="1200" i="1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Mr. </a:t>
            </a:r>
            <a:r>
              <a:rPr dirty="0" sz="1200" i="1">
                <a:latin typeface="Times New Roman"/>
                <a:cs typeface="Times New Roman"/>
              </a:rPr>
              <a:t>Awan being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secretary treasure.</a:t>
            </a:r>
            <a:endParaRPr sz="12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Living </a:t>
            </a:r>
            <a:r>
              <a:rPr dirty="0" sz="1200" i="1">
                <a:latin typeface="Times New Roman"/>
                <a:cs typeface="Times New Roman"/>
              </a:rPr>
              <a:t>in 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city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 always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pleasant.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During</a:t>
            </a:r>
            <a:r>
              <a:rPr dirty="0" sz="1200" i="1">
                <a:latin typeface="Times New Roman"/>
                <a:cs typeface="Times New Roman"/>
              </a:rPr>
              <a:t> 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summer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months</a:t>
            </a:r>
            <a:r>
              <a:rPr dirty="0" sz="1200" i="1">
                <a:latin typeface="Times New Roman"/>
                <a:cs typeface="Times New Roman"/>
              </a:rPr>
              <a:t> particularly.</a:t>
            </a:r>
            <a:endParaRPr sz="12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learning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foreign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languages.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Latin,</a:t>
            </a:r>
            <a:r>
              <a:rPr dirty="0" sz="1200" spc="-5" i="1">
                <a:latin typeface="Times New Roman"/>
                <a:cs typeface="Times New Roman"/>
              </a:rPr>
              <a:t> French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German </a:t>
            </a:r>
            <a:r>
              <a:rPr dirty="0" sz="1200" i="1">
                <a:latin typeface="Times New Roman"/>
                <a:cs typeface="Times New Roman"/>
              </a:rPr>
              <a:t>especially.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67005" algn="l"/>
              </a:tabLst>
            </a:pPr>
            <a:r>
              <a:rPr dirty="0" sz="1200" i="1">
                <a:latin typeface="Times New Roman"/>
                <a:cs typeface="Times New Roman"/>
              </a:rPr>
              <a:t>Moving up the mountain at a fast pace. </a:t>
            </a:r>
            <a:r>
              <a:rPr dirty="0" sz="1200" spc="-5" i="1">
                <a:latin typeface="Times New Roman"/>
                <a:cs typeface="Times New Roman"/>
              </a:rPr>
              <a:t>The soldiers </a:t>
            </a:r>
            <a:r>
              <a:rPr dirty="0" sz="1200" i="1">
                <a:latin typeface="Times New Roman"/>
                <a:cs typeface="Times New Roman"/>
              </a:rPr>
              <a:t>were soon exhausted. They were not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climbing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high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altitudes.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air was </a:t>
            </a:r>
            <a:r>
              <a:rPr dirty="0" sz="1200" i="1">
                <a:latin typeface="Times New Roman"/>
                <a:cs typeface="Times New Roman"/>
              </a:rPr>
              <a:t>thinner.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eriod"/>
              <a:tabLst>
                <a:tab pos="171450" algn="l"/>
              </a:tabLst>
            </a:pP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people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scared.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hair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bodies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really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“stand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end”.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hair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attached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tiny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muscle.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This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pull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hair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straight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up.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muscles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react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together </a:t>
            </a:r>
            <a:r>
              <a:rPr dirty="0" sz="1200" spc="-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response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great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word groups beginning with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&amp;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are dependent – word </a:t>
            </a:r>
            <a:r>
              <a:rPr dirty="0" sz="1200" spc="-5">
                <a:latin typeface="Times New Roman"/>
                <a:cs typeface="Times New Roman"/>
              </a:rPr>
              <a:t>fragment, so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needs to be added to the sentence </a:t>
            </a:r>
            <a:r>
              <a:rPr dirty="0" sz="1200" spc="-5">
                <a:latin typeface="Times New Roman"/>
                <a:cs typeface="Times New Roman"/>
              </a:rPr>
              <a:t>that comes </a:t>
            </a:r>
            <a:r>
              <a:rPr dirty="0" sz="1200">
                <a:latin typeface="Times New Roman"/>
                <a:cs typeface="Times New Roman"/>
              </a:rPr>
              <a:t>before or after it.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people are scared,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hair on their bodies really can “stand on end”. Each hair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attached to a tiny </a:t>
            </a:r>
            <a:r>
              <a:rPr dirty="0" sz="1200" spc="-5">
                <a:latin typeface="Times New Roman"/>
                <a:cs typeface="Times New Roman"/>
              </a:rPr>
              <a:t>muscle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straight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muscles react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response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fright.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WRITING: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REVISING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ERRORS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 earlier </a:t>
            </a:r>
            <a:r>
              <a:rPr dirty="0" sz="1200" spc="-5">
                <a:latin typeface="Times New Roman"/>
                <a:cs typeface="Times New Roman"/>
              </a:rPr>
              <a:t>lessons we </a:t>
            </a:r>
            <a:r>
              <a:rPr dirty="0" sz="1200">
                <a:latin typeface="Times New Roman"/>
                <a:cs typeface="Times New Roman"/>
              </a:rPr>
              <a:t>have been exploring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writing more </a:t>
            </a:r>
            <a:r>
              <a:rPr dirty="0" sz="1200" spc="-5">
                <a:latin typeface="Times New Roman"/>
                <a:cs typeface="Times New Roman"/>
              </a:rPr>
              <a:t>effective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 </a:t>
            </a:r>
            <a:r>
              <a:rPr dirty="0" sz="1200" spc="-5">
                <a:latin typeface="Times New Roman"/>
                <a:cs typeface="Times New Roman"/>
              </a:rPr>
              <a:t>lesson we </a:t>
            </a:r>
            <a:r>
              <a:rPr dirty="0" sz="1200">
                <a:latin typeface="Times New Roman"/>
                <a:cs typeface="Times New Roman"/>
              </a:rPr>
              <a:t>did sentence </a:t>
            </a:r>
            <a:r>
              <a:rPr dirty="0" sz="1200" spc="-5">
                <a:latin typeface="Times New Roman"/>
                <a:cs typeface="Times New Roman"/>
              </a:rPr>
              <a:t>errors </a:t>
            </a:r>
            <a:r>
              <a:rPr dirty="0" sz="1200">
                <a:latin typeface="Times New Roman"/>
                <a:cs typeface="Times New Roman"/>
              </a:rPr>
              <a:t>and in </a:t>
            </a:r>
            <a:r>
              <a:rPr dirty="0" sz="1200" spc="-5">
                <a:latin typeface="Times New Roman"/>
                <a:cs typeface="Times New Roman"/>
              </a:rPr>
              <a:t>today’s lesson we will continue </a:t>
            </a:r>
            <a:r>
              <a:rPr dirty="0" sz="1200">
                <a:latin typeface="Times New Roman"/>
                <a:cs typeface="Times New Roman"/>
              </a:rPr>
              <a:t>to look at sentence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how to revise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errors.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last </a:t>
            </a:r>
            <a:r>
              <a:rPr dirty="0" sz="1200" spc="-5">
                <a:latin typeface="Times New Roman"/>
                <a:cs typeface="Times New Roman"/>
              </a:rPr>
              <a:t>lesson we </a:t>
            </a:r>
            <a:r>
              <a:rPr dirty="0" sz="1200">
                <a:latin typeface="Times New Roman"/>
                <a:cs typeface="Times New Roman"/>
              </a:rPr>
              <a:t>looked at 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common type of sentence error - the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fragment. </a:t>
            </a:r>
            <a:r>
              <a:rPr dirty="0" sz="1200">
                <a:latin typeface="Times New Roman"/>
                <a:cs typeface="Times New Roman"/>
              </a:rPr>
              <a:t>Today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shall </a:t>
            </a:r>
            <a:r>
              <a:rPr dirty="0" sz="1200" spc="-5">
                <a:latin typeface="Times New Roman"/>
                <a:cs typeface="Times New Roman"/>
              </a:rPr>
              <a:t>examine </a:t>
            </a:r>
            <a:r>
              <a:rPr dirty="0" sz="1200">
                <a:latin typeface="Times New Roman"/>
                <a:cs typeface="Times New Roman"/>
              </a:rPr>
              <a:t>the next </a:t>
            </a:r>
            <a:r>
              <a:rPr dirty="0" sz="1200" spc="-5">
                <a:latin typeface="Times New Roman"/>
                <a:cs typeface="Times New Roman"/>
              </a:rPr>
              <a:t>two most </a:t>
            </a:r>
            <a:r>
              <a:rPr dirty="0" sz="1200">
                <a:latin typeface="Times New Roman"/>
                <a:cs typeface="Times New Roman"/>
              </a:rPr>
              <a:t>common types of sentence errors,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run-on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dangling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modifiers.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look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run-on sentence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sentence that </a:t>
            </a:r>
            <a:r>
              <a:rPr dirty="0" sz="1200" spc="-5">
                <a:latin typeface="Times New Roman"/>
                <a:cs typeface="Times New Roman"/>
              </a:rPr>
              <a:t>is made </a:t>
            </a:r>
            <a:r>
              <a:rPr dirty="0" sz="1200">
                <a:latin typeface="Times New Roman"/>
                <a:cs typeface="Times New Roman"/>
              </a:rPr>
              <a:t>up of </a:t>
            </a:r>
            <a:r>
              <a:rPr dirty="0" sz="1200" spc="-5">
                <a:latin typeface="Times New Roman"/>
                <a:cs typeface="Times New Roman"/>
              </a:rPr>
              <a:t>two complete </a:t>
            </a:r>
            <a:r>
              <a:rPr dirty="0" sz="1200">
                <a:latin typeface="Times New Roman"/>
                <a:cs typeface="Times New Roman"/>
              </a:rPr>
              <a:t>thoughts that have no clear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r>
              <a:rPr dirty="0" sz="1200">
                <a:latin typeface="Times New Roman"/>
                <a:cs typeface="Times New Roman"/>
              </a:rPr>
              <a:t> 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run-on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splice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(i)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Fused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Sentences: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sentences that run together </a:t>
            </a:r>
            <a:r>
              <a:rPr dirty="0" sz="1200" spc="-5">
                <a:latin typeface="Times New Roman"/>
                <a:cs typeface="Times New Roman"/>
              </a:rPr>
              <a:t>with no marks </a:t>
            </a:r>
            <a:r>
              <a:rPr dirty="0" sz="1200">
                <a:latin typeface="Times New Roman"/>
                <a:cs typeface="Times New Roman"/>
              </a:rPr>
              <a:t>of punctuation </a:t>
            </a:r>
            <a:r>
              <a:rPr dirty="0" sz="1200" spc="-5">
                <a:latin typeface="Times New Roman"/>
                <a:cs typeface="Times New Roman"/>
              </a:rPr>
              <a:t>between them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 to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fused. </a:t>
            </a:r>
            <a:r>
              <a:rPr dirty="0" sz="1200" spc="-5">
                <a:latin typeface="Times New Roman"/>
                <a:cs typeface="Times New Roman"/>
              </a:rPr>
              <a:t>The two </a:t>
            </a:r>
            <a:r>
              <a:rPr dirty="0" sz="1200">
                <a:latin typeface="Times New Roman"/>
                <a:cs typeface="Times New Roman"/>
              </a:rPr>
              <a:t>sentences or </a:t>
            </a:r>
            <a:r>
              <a:rPr dirty="0" sz="1200" spc="-5">
                <a:latin typeface="Times New Roman"/>
                <a:cs typeface="Times New Roman"/>
              </a:rPr>
              <a:t>two complete statements </a:t>
            </a:r>
            <a:r>
              <a:rPr dirty="0" sz="1200">
                <a:latin typeface="Times New Roman"/>
                <a:cs typeface="Times New Roman"/>
              </a:rPr>
              <a:t>/ thoughts are </a:t>
            </a:r>
            <a:r>
              <a:rPr dirty="0" sz="1200" spc="-5">
                <a:latin typeface="Times New Roman"/>
                <a:cs typeface="Times New Roman"/>
              </a:rPr>
              <a:t>simply </a:t>
            </a:r>
            <a:r>
              <a:rPr dirty="0" sz="1200">
                <a:latin typeface="Times New Roman"/>
                <a:cs typeface="Times New Roman"/>
              </a:rPr>
              <a:t>stuck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 into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sentence.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writer of such a sentence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either </a:t>
            </a:r>
            <a:r>
              <a:rPr dirty="0" sz="1200" spc="-5">
                <a:latin typeface="Times New Roman"/>
                <a:cs typeface="Times New Roman"/>
              </a:rPr>
              <a:t>extremely </a:t>
            </a:r>
            <a:r>
              <a:rPr dirty="0" sz="1200">
                <a:latin typeface="Times New Roman"/>
                <a:cs typeface="Times New Roman"/>
              </a:rPr>
              <a:t>careless or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ignorant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facts</a:t>
            </a:r>
            <a:r>
              <a:rPr dirty="0" sz="1200">
                <a:latin typeface="Times New Roman"/>
                <a:cs typeface="Times New Roman"/>
              </a:rPr>
              <a:t> about sentence structure.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220345" indent="-208279">
              <a:lnSpc>
                <a:spcPts val="1315"/>
              </a:lnSpc>
              <a:buFont typeface="Times New Roman"/>
              <a:buAutoNum type="alphaLcParenBoth"/>
              <a:tabLst>
                <a:tab pos="220979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Computer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skills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useful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college.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getting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-5" i="1">
                <a:latin typeface="Times New Roman"/>
                <a:cs typeface="Times New Roman"/>
              </a:rPr>
              <a:t> as well.</a:t>
            </a:r>
            <a:endParaRPr sz="1200">
              <a:latin typeface="Times New Roman"/>
              <a:cs typeface="Times New Roman"/>
            </a:endParaRPr>
          </a:p>
          <a:p>
            <a:pPr marL="12700" marR="270510" indent="38100">
              <a:lnSpc>
                <a:spcPts val="1380"/>
              </a:lnSpc>
              <a:spcBef>
                <a:spcPts val="70"/>
              </a:spcBef>
              <a:buAutoNum type="alphaLcParenBoth"/>
              <a:tabLst>
                <a:tab pos="283210" algn="l"/>
              </a:tabLst>
            </a:pP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club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raised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money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Crescent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organization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wonderful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thing.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15"/>
              </a:lnSpc>
              <a:buAutoNum type="alphaLcParenBoth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toothache.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to prevent fused sentences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read aloud what you have </a:t>
            </a:r>
            <a:r>
              <a:rPr dirty="0" sz="1200">
                <a:latin typeface="Times New Roman"/>
                <a:cs typeface="Times New Roman"/>
              </a:rPr>
              <a:t>written.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>
                <a:latin typeface="Times New Roman"/>
                <a:cs typeface="Times New Roman"/>
              </a:rPr>
              <a:t>look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like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they,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there,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this,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that,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now,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then </a:t>
            </a:r>
            <a:r>
              <a:rPr dirty="0" sz="1200" spc="-2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next.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often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signal the beginning of a</a:t>
            </a:r>
            <a:r>
              <a:rPr dirty="0" sz="1200" spc="-5">
                <a:latin typeface="Times New Roman"/>
                <a:cs typeface="Times New Roman"/>
              </a:rPr>
              <a:t> complete</a:t>
            </a:r>
            <a:r>
              <a:rPr dirty="0" sz="1200">
                <a:latin typeface="Times New Roman"/>
                <a:cs typeface="Times New Roman"/>
              </a:rPr>
              <a:t> thought.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220345" indent="-208279">
              <a:lnSpc>
                <a:spcPts val="1415"/>
              </a:lnSpc>
              <a:spcBef>
                <a:spcPts val="5"/>
              </a:spcBef>
              <a:buFont typeface="Times New Roman"/>
              <a:buAutoNum type="alphaLcParenBoth"/>
              <a:tabLst>
                <a:tab pos="220979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Computer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skills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useful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college.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getting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-5" i="1">
                <a:latin typeface="Times New Roman"/>
                <a:cs typeface="Times New Roman"/>
              </a:rPr>
              <a:t> as well.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lphaLcParenBoth"/>
              <a:tabLst>
                <a:tab pos="24447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Our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club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raised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money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Red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Crescent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organization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wonderful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thing.</a:t>
            </a:r>
            <a:endParaRPr sz="1200">
              <a:latin typeface="Times New Roman"/>
              <a:cs typeface="Times New Roman"/>
            </a:endParaRPr>
          </a:p>
          <a:p>
            <a:pPr marL="219075" indent="-207010">
              <a:lnSpc>
                <a:spcPts val="1345"/>
              </a:lnSpc>
              <a:buAutoNum type="alphaLcParenBoth"/>
              <a:tabLst>
                <a:tab pos="21971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left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early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said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toothache.</a:t>
            </a:r>
            <a:endParaRPr sz="1200">
              <a:latin typeface="Times New Roman"/>
              <a:cs typeface="Times New Roman"/>
            </a:endParaRPr>
          </a:p>
          <a:p>
            <a:pPr marL="12700" marR="3324225">
              <a:lnSpc>
                <a:spcPct val="191700"/>
              </a:lnSpc>
              <a:spcBef>
                <a:spcPts val="10"/>
              </a:spcBef>
            </a:pPr>
            <a:r>
              <a:rPr dirty="0" sz="1200" spc="-5" b="1">
                <a:latin typeface="Times New Roman"/>
                <a:cs typeface="Times New Roman"/>
              </a:rPr>
              <a:t>Recognizing Fused and Comma Splices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Practice1.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 indent="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fused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(F)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splice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(CS).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two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thoughts</a:t>
            </a:r>
            <a:r>
              <a:rPr dirty="0" sz="1200" spc="-5">
                <a:latin typeface="Times New Roman"/>
                <a:cs typeface="Times New Roman"/>
              </a:rPr>
              <a:t> with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slash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(/).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5">
                <a:latin typeface="Times New Roman"/>
                <a:cs typeface="Times New Roman"/>
              </a:rPr>
              <a:t> two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covered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ivy,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wall.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3776345" algn="l"/>
              </a:tabLst>
            </a:pPr>
            <a:r>
              <a:rPr dirty="0" sz="1200">
                <a:latin typeface="Times New Roman"/>
                <a:cs typeface="Times New Roman"/>
              </a:rPr>
              <a:t>1. Raheel likes to cook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wife taught him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4181745" y="1108862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 h="0">
                <a:moveTo>
                  <a:pt x="0" y="0"/>
                </a:moveTo>
                <a:lnTo>
                  <a:pt x="304921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4503654" y="1284122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5" h="0">
                <a:moveTo>
                  <a:pt x="0" y="0"/>
                </a:moveTo>
                <a:lnTo>
                  <a:pt x="38153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16000" y="435356"/>
            <a:ext cx="5892800" cy="8749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5100" indent="-153035">
              <a:lnSpc>
                <a:spcPts val="1410"/>
              </a:lnSpc>
              <a:spcBef>
                <a:spcPts val="1070"/>
              </a:spcBef>
              <a:buAutoNum type="arabicPeriod" startAt="2"/>
              <a:tabLst>
                <a:tab pos="165735" algn="l"/>
                <a:tab pos="3508375" algn="l"/>
              </a:tabLst>
            </a:pPr>
            <a:r>
              <a:rPr dirty="0" sz="1200">
                <a:latin typeface="Times New Roman"/>
                <a:cs typeface="Times New Roman"/>
              </a:rPr>
              <a:t>The bell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wrestlers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returned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ring. (	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2"/>
              <a:tabLst>
                <a:tab pos="165735" algn="l"/>
                <a:tab pos="390652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trunk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	)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70"/>
              </a:spcBef>
              <a:buAutoNum type="arabicPeriod" startAt="2"/>
              <a:tabLst>
                <a:tab pos="213995" algn="l"/>
                <a:tab pos="6350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waiters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served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soft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drinks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offered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coffee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adults.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45"/>
              </a:lnSpc>
              <a:buAutoNum type="arabicPeriod" startAt="2"/>
              <a:tabLst>
                <a:tab pos="165100" algn="l"/>
                <a:tab pos="493522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Murree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played cards and told stories.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Correcting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Fused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Sentences: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i="1">
                <a:latin typeface="Times New Roman"/>
                <a:cs typeface="Times New Roman"/>
              </a:rPr>
              <a:t>There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3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ways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correcting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fused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12700" marR="1706880">
              <a:lnSpc>
                <a:spcPts val="1380"/>
              </a:lnSpc>
              <a:spcBef>
                <a:spcPts val="70"/>
              </a:spcBef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lake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calm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today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looks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blue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mirror.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(Wrong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Version)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(Corrected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Version)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lake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calm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today.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looks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blue</a:t>
            </a:r>
            <a:r>
              <a:rPr dirty="0" sz="1200" spc="-5" i="1">
                <a:latin typeface="Times New Roman"/>
                <a:cs typeface="Times New Roman"/>
              </a:rPr>
              <a:t> mirror. </a:t>
            </a:r>
            <a:r>
              <a:rPr dirty="0" sz="1200" i="1">
                <a:latin typeface="Times New Roman"/>
                <a:cs typeface="Times New Roman"/>
              </a:rPr>
              <a:t>(Corrected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Version)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ct val="96000"/>
              </a:lnSpc>
              <a:spcBef>
                <a:spcPts val="25"/>
              </a:spcBef>
            </a:pPr>
            <a:r>
              <a:rPr dirty="0" sz="1200" spc="-5">
                <a:latin typeface="Times New Roman"/>
                <a:cs typeface="Times New Roman"/>
              </a:rPr>
              <a:t>2. Put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comma and an appropriate joining word (such as </a:t>
            </a:r>
            <a:r>
              <a:rPr dirty="0" sz="1200" spc="-5" i="1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i="1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) </a:t>
            </a:r>
            <a:r>
              <a:rPr dirty="0" sz="1200">
                <a:latin typeface="Times New Roman"/>
                <a:cs typeface="Times New Roman"/>
              </a:rPr>
              <a:t>between the two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thoughts </a:t>
            </a:r>
            <a:r>
              <a:rPr dirty="0" sz="1200" i="1">
                <a:latin typeface="Times New Roman"/>
                <a:cs typeface="Times New Roman"/>
              </a:rPr>
              <a:t>E.g. </a:t>
            </a:r>
            <a:r>
              <a:rPr dirty="0" sz="1200" spc="-5" i="1">
                <a:latin typeface="Times New Roman"/>
                <a:cs typeface="Times New Roman"/>
              </a:rPr>
              <a:t>(I) Computer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skills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useful</a:t>
            </a:r>
            <a:r>
              <a:rPr dirty="0" sz="1200" i="1">
                <a:latin typeface="Times New Roman"/>
                <a:cs typeface="Times New Roman"/>
              </a:rPr>
              <a:t> in </a:t>
            </a:r>
            <a:r>
              <a:rPr dirty="0" sz="1200" spc="-5" i="1">
                <a:latin typeface="Times New Roman"/>
                <a:cs typeface="Times New Roman"/>
              </a:rPr>
              <a:t>college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they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 help </a:t>
            </a:r>
            <a:r>
              <a:rPr dirty="0" sz="1200" spc="-5" i="1">
                <a:latin typeface="Times New Roman"/>
                <a:cs typeface="Times New Roman"/>
              </a:rPr>
              <a:t>you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getting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job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i="1">
                <a:latin typeface="Times New Roman"/>
                <a:cs typeface="Times New Roman"/>
              </a:rPr>
              <a:t> well.(Erroneous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version)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35"/>
              </a:spcBef>
            </a:pPr>
            <a:r>
              <a:rPr dirty="0" sz="1200" i="1">
                <a:latin typeface="Times New Roman"/>
                <a:cs typeface="Times New Roman"/>
              </a:rPr>
              <a:t>-Computer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skills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are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useful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college,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they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help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getting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well.(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Correct version)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(ii)Yousaf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Youhanna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pulled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muscle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won’t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play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cricket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season.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(Erroneous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version)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 spc="-5" i="1">
                <a:latin typeface="Times New Roman"/>
                <a:cs typeface="Times New Roman"/>
              </a:rPr>
              <a:t>-Yousaf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Youhanna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pulled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muscle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so</a:t>
            </a:r>
            <a:r>
              <a:rPr dirty="0" sz="1200" spc="70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won’t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play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cricket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season.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(Correct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version)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goes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joining</a:t>
            </a:r>
            <a:r>
              <a:rPr dirty="0" sz="1200">
                <a:latin typeface="Times New Roman"/>
                <a:cs typeface="Times New Roman"/>
              </a:rPr>
              <a:t> 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after</a:t>
            </a:r>
            <a:r>
              <a:rPr dirty="0" sz="1200">
                <a:latin typeface="Times New Roman"/>
                <a:cs typeface="Times New Roman"/>
              </a:rPr>
              <a:t> it.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3.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subordination 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one of the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thoughts dependent on the other one.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subordinate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thought, </a:t>
            </a:r>
            <a:r>
              <a:rPr dirty="0" sz="1200" spc="-5">
                <a:latin typeface="Times New Roman"/>
                <a:cs typeface="Times New Roman"/>
              </a:rPr>
              <a:t>change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a statement that </a:t>
            </a:r>
            <a:r>
              <a:rPr dirty="0" sz="1200" spc="-5">
                <a:latin typeface="Times New Roman"/>
                <a:cs typeface="Times New Roman"/>
              </a:rPr>
              <a:t>can stand alone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 by itself.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begin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because,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when,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if,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before,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since,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until, unless, </a:t>
            </a:r>
            <a:r>
              <a:rPr dirty="0" sz="1200" i="1">
                <a:latin typeface="Times New Roman"/>
                <a:cs typeface="Times New Roman"/>
              </a:rPr>
              <a:t>while,</a:t>
            </a:r>
            <a:r>
              <a:rPr dirty="0" sz="1200" spc="-5" i="1">
                <a:latin typeface="Times New Roman"/>
                <a:cs typeface="Times New Roman"/>
              </a:rPr>
              <a:t> as, </a:t>
            </a:r>
            <a:r>
              <a:rPr dirty="0" sz="1200" i="1">
                <a:latin typeface="Times New Roman"/>
                <a:cs typeface="Times New Roman"/>
              </a:rPr>
              <a:t>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after.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i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Youhanna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pulled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muscle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batting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</a:t>
            </a:r>
            <a:r>
              <a:rPr dirty="0" sz="1200" spc="-5" i="1">
                <a:latin typeface="Times New Roman"/>
                <a:cs typeface="Times New Roman"/>
              </a:rPr>
              <a:t> tournament.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-Because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Youhanna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pulled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muscle,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batting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tournament.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Put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word-group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begins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2: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fused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earlier.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for each sentence.</a:t>
            </a:r>
            <a:endParaRPr sz="1200">
              <a:latin typeface="Times New Roman"/>
              <a:cs typeface="Times New Roman"/>
            </a:endParaRPr>
          </a:p>
          <a:p>
            <a:pPr lvl="1" marL="469900" marR="1651635" indent="-22860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469900" algn="l"/>
              </a:tabLst>
            </a:pP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wasn’t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idea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known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better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it.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idea.</a:t>
            </a:r>
            <a:r>
              <a:rPr dirty="0" u="sng" sz="1200" spc="28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</a:t>
            </a:r>
            <a:r>
              <a:rPr dirty="0" sz="1200" spc="-5" i="1">
                <a:latin typeface="Times New Roman"/>
                <a:cs typeface="Times New Roman"/>
              </a:rPr>
              <a:t>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should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better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315"/>
              </a:lnSpc>
              <a:buAutoNum type="arabicPeriod"/>
              <a:tabLst>
                <a:tab pos="4699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It’s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easy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begin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smoking it’s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much</a:t>
            </a:r>
            <a:r>
              <a:rPr dirty="0" sz="1200" spc="-5" i="1">
                <a:latin typeface="Times New Roman"/>
                <a:cs typeface="Times New Roman"/>
              </a:rPr>
              <a:t> harder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quit.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It’s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easy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begin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smoking,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it’s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much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harder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quit.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380"/>
              </a:lnSpc>
              <a:buAutoNum type="arabicPeriod" startAt="3"/>
              <a:tabLst>
                <a:tab pos="469900" algn="l"/>
              </a:tabLst>
            </a:pPr>
            <a:r>
              <a:rPr dirty="0" sz="1200" i="1">
                <a:latin typeface="Times New Roman"/>
                <a:cs typeface="Times New Roman"/>
              </a:rPr>
              <a:t>Some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workers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factory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laid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others are </a:t>
            </a:r>
            <a:r>
              <a:rPr dirty="0" sz="1200" i="1">
                <a:latin typeface="Times New Roman"/>
                <a:cs typeface="Times New Roman"/>
              </a:rPr>
              <a:t>nervous.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80"/>
              </a:lnSpc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</a:t>
            </a:r>
            <a:r>
              <a:rPr dirty="0" sz="1200" spc="-5" i="1">
                <a:latin typeface="Times New Roman"/>
                <a:cs typeface="Times New Roman"/>
              </a:rPr>
              <a:t> some workers </a:t>
            </a:r>
            <a:r>
              <a:rPr dirty="0" sz="1200" i="1">
                <a:latin typeface="Times New Roman"/>
                <a:cs typeface="Times New Roman"/>
              </a:rPr>
              <a:t>at the </a:t>
            </a:r>
            <a:r>
              <a:rPr dirty="0" sz="1200" spc="-5" i="1">
                <a:latin typeface="Times New Roman"/>
                <a:cs typeface="Times New Roman"/>
              </a:rPr>
              <a:t>factory</a:t>
            </a:r>
            <a:r>
              <a:rPr dirty="0" sz="1200" i="1">
                <a:latin typeface="Times New Roman"/>
                <a:cs typeface="Times New Roman"/>
              </a:rPr>
              <a:t> 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 laid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others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</a:t>
            </a:r>
            <a:r>
              <a:rPr dirty="0" sz="1200" i="1">
                <a:latin typeface="Times New Roman"/>
                <a:cs typeface="Times New Roman"/>
              </a:rPr>
              <a:t>nervous.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10"/>
              </a:lnSpc>
              <a:buAutoNum type="arabicPeriod" startAt="4"/>
              <a:tabLst>
                <a:tab pos="4699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 room</a:t>
            </a:r>
            <a:r>
              <a:rPr dirty="0" sz="1200" i="1">
                <a:latin typeface="Times New Roman"/>
                <a:cs typeface="Times New Roman"/>
              </a:rPr>
              <a:t> looked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wonderful 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carpets had </a:t>
            </a:r>
            <a:r>
              <a:rPr dirty="0" sz="1200" i="1">
                <a:latin typeface="Times New Roman"/>
                <a:cs typeface="Times New Roman"/>
              </a:rPr>
              <a:t>just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been </a:t>
            </a:r>
            <a:r>
              <a:rPr dirty="0" sz="1200" i="1">
                <a:latin typeface="Times New Roman"/>
                <a:cs typeface="Times New Roman"/>
              </a:rPr>
              <a:t>vacuumed.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469900">
              <a:lnSpc>
                <a:spcPts val="1410"/>
              </a:lnSpc>
              <a:spcBef>
                <a:spcPts val="1080"/>
              </a:spcBef>
            </a:pPr>
            <a:r>
              <a:rPr dirty="0" sz="1200" spc="-5" i="1">
                <a:latin typeface="Times New Roman"/>
                <a:cs typeface="Times New Roman"/>
              </a:rPr>
              <a:t>The room</a:t>
            </a:r>
            <a:r>
              <a:rPr dirty="0" sz="1200" i="1">
                <a:latin typeface="Times New Roman"/>
                <a:cs typeface="Times New Roman"/>
              </a:rPr>
              <a:t> looked wonderful.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carpets</a:t>
            </a:r>
            <a:r>
              <a:rPr dirty="0" sz="1200" i="1">
                <a:latin typeface="Times New Roman"/>
                <a:cs typeface="Times New Roman"/>
              </a:rPr>
              <a:t> 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just been vacuumed.</a:t>
            </a:r>
            <a:endParaRPr sz="1200">
              <a:latin typeface="Times New Roman"/>
              <a:cs typeface="Times New Roman"/>
            </a:endParaRPr>
          </a:p>
          <a:p>
            <a:pPr marL="469900" marR="1270635" indent="-228600">
              <a:lnSpc>
                <a:spcPts val="1380"/>
              </a:lnSpc>
              <a:spcBef>
                <a:spcPts val="65"/>
              </a:spcBef>
              <a:buAutoNum type="arabicPeriod" startAt="5"/>
              <a:tabLst>
                <a:tab pos="4699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fish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served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with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its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head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still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on,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my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appetite.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fish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served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still on,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lost </a:t>
            </a:r>
            <a:r>
              <a:rPr dirty="0" sz="1200" spc="-5" i="1">
                <a:latin typeface="Times New Roman"/>
                <a:cs typeface="Times New Roman"/>
              </a:rPr>
              <a:t>my </a:t>
            </a:r>
            <a:r>
              <a:rPr dirty="0" sz="1200" i="1">
                <a:latin typeface="Times New Roman"/>
                <a:cs typeface="Times New Roman"/>
              </a:rPr>
              <a:t>appetite.</a:t>
            </a:r>
            <a:endParaRPr sz="1200">
              <a:latin typeface="Times New Roman"/>
              <a:cs typeface="Times New Roman"/>
            </a:endParaRPr>
          </a:p>
          <a:p>
            <a:pPr marL="469900" marR="977900" indent="-228600">
              <a:lnSpc>
                <a:spcPts val="1380"/>
              </a:lnSpc>
              <a:buAutoNum type="arabicPeriod" startAt="5"/>
              <a:tabLst>
                <a:tab pos="4699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First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floor,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vacuum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carpet.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First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floor,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vacuum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carpet.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Correcting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Comma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Splice: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splice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methods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suggested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fused</a:t>
            </a:r>
            <a:r>
              <a:rPr dirty="0" sz="1200" spc="-5">
                <a:latin typeface="Times New Roman"/>
                <a:cs typeface="Times New Roman"/>
              </a:rPr>
              <a:t> sentence: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>
                <a:latin typeface="Times New Roman"/>
                <a:cs typeface="Times New Roman"/>
              </a:rPr>
              <a:t> splice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 two sentences: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-Saad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always nervous</a:t>
            </a:r>
            <a:r>
              <a:rPr dirty="0" sz="1200" i="1">
                <a:latin typeface="Times New Roman"/>
                <a:cs typeface="Times New Roman"/>
              </a:rPr>
              <a:t> about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tests.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 grades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 usually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best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the</a:t>
            </a:r>
            <a:r>
              <a:rPr dirty="0" sz="1200" spc="-5" i="1">
                <a:latin typeface="Times New Roman"/>
                <a:cs typeface="Times New Roman"/>
              </a:rPr>
              <a:t> class.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  <a:buAutoNum type="arabicPeriod" startAt="2"/>
              <a:tabLst>
                <a:tab pos="179070" algn="l"/>
              </a:tabLst>
            </a:pPr>
            <a:r>
              <a:rPr dirty="0" sz="1200">
                <a:latin typeface="Times New Roman"/>
                <a:cs typeface="Times New Roman"/>
              </a:rPr>
              <a:t>Connect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(such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and,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comma: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-Saad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always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nervous</a:t>
            </a:r>
            <a:r>
              <a:rPr dirty="0" sz="1200" i="1">
                <a:latin typeface="Times New Roman"/>
                <a:cs typeface="Times New Roman"/>
              </a:rPr>
              <a:t> about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tests,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grades are</a:t>
            </a:r>
            <a:r>
              <a:rPr dirty="0" sz="1200" i="1">
                <a:latin typeface="Times New Roman"/>
                <a:cs typeface="Times New Roman"/>
              </a:rPr>
              <a:t> usually the </a:t>
            </a:r>
            <a:r>
              <a:rPr dirty="0" sz="1200" spc="-5" i="1">
                <a:latin typeface="Times New Roman"/>
                <a:cs typeface="Times New Roman"/>
              </a:rPr>
              <a:t>best </a:t>
            </a:r>
            <a:r>
              <a:rPr dirty="0" sz="1200" i="1">
                <a:latin typeface="Times New Roman"/>
                <a:cs typeface="Times New Roman"/>
              </a:rPr>
              <a:t>in the </a:t>
            </a:r>
            <a:r>
              <a:rPr dirty="0" sz="1200" spc="-5" i="1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subordination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thoughts):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-Saad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always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nervous</a:t>
            </a:r>
            <a:r>
              <a:rPr dirty="0" sz="1200" i="1">
                <a:latin typeface="Times New Roman"/>
                <a:cs typeface="Times New Roman"/>
              </a:rPr>
              <a:t> about </a:t>
            </a:r>
            <a:r>
              <a:rPr dirty="0" sz="1200" spc="-5" i="1">
                <a:latin typeface="Times New Roman"/>
                <a:cs typeface="Times New Roman"/>
              </a:rPr>
              <a:t>tests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although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grades are</a:t>
            </a:r>
            <a:r>
              <a:rPr dirty="0" sz="1200" i="1">
                <a:latin typeface="Times New Roman"/>
                <a:cs typeface="Times New Roman"/>
              </a:rPr>
              <a:t> usually 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best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Correct each of the comma </a:t>
            </a:r>
            <a:r>
              <a:rPr dirty="0" sz="1200" spc="-5">
                <a:latin typeface="Times New Roman"/>
                <a:cs typeface="Times New Roman"/>
              </a:rPr>
              <a:t>splices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follow, </a:t>
            </a:r>
            <a:r>
              <a:rPr dirty="0" sz="1200">
                <a:latin typeface="Times New Roman"/>
                <a:cs typeface="Times New Roman"/>
              </a:rPr>
              <a:t>using one of the </a:t>
            </a:r>
            <a:r>
              <a:rPr dirty="0" sz="1200" spc="-5">
                <a:latin typeface="Times New Roman"/>
                <a:cs typeface="Times New Roman"/>
              </a:rPr>
              <a:t>methods </a:t>
            </a:r>
            <a:r>
              <a:rPr dirty="0" sz="1200">
                <a:latin typeface="Times New Roman"/>
                <a:cs typeface="Times New Roman"/>
              </a:rPr>
              <a:t>suggested.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eriod"/>
              <a:tabLst>
                <a:tab pos="167640" algn="l"/>
              </a:tabLst>
            </a:pPr>
            <a:r>
              <a:rPr dirty="0" sz="1200">
                <a:latin typeface="Times New Roman"/>
                <a:cs typeface="Times New Roman"/>
              </a:rPr>
              <a:t>Fahd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talking on the phone; he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switching </a:t>
            </a:r>
            <a:r>
              <a:rPr dirty="0" sz="1200" spc="-5">
                <a:latin typeface="Times New Roman"/>
                <a:cs typeface="Times New Roman"/>
              </a:rPr>
              <a:t>TV </a:t>
            </a:r>
            <a:r>
              <a:rPr dirty="0" sz="1200">
                <a:latin typeface="Times New Roman"/>
                <a:cs typeface="Times New Roman"/>
              </a:rPr>
              <a:t>channels </a:t>
            </a:r>
            <a:r>
              <a:rPr dirty="0" sz="1200" spc="-5">
                <a:latin typeface="Times New Roman"/>
                <a:cs typeface="Times New Roman"/>
              </a:rPr>
              <a:t>with his remote </a:t>
            </a:r>
            <a:r>
              <a:rPr dirty="0" sz="1200">
                <a:latin typeface="Times New Roman"/>
                <a:cs typeface="Times New Roman"/>
              </a:rPr>
              <a:t>control 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-Fahd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talking on the phone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,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switching </a:t>
            </a:r>
            <a:r>
              <a:rPr dirty="0" sz="1200" spc="-5">
                <a:latin typeface="Times New Roman"/>
                <a:cs typeface="Times New Roman"/>
              </a:rPr>
              <a:t>TV </a:t>
            </a:r>
            <a:r>
              <a:rPr dirty="0" sz="1200">
                <a:latin typeface="Times New Roman"/>
                <a:cs typeface="Times New Roman"/>
              </a:rPr>
              <a:t>channels with </a:t>
            </a:r>
            <a:r>
              <a:rPr dirty="0" sz="1200" spc="-5">
                <a:latin typeface="Times New Roman"/>
                <a:cs typeface="Times New Roman"/>
              </a:rPr>
              <a:t>his remote </a:t>
            </a:r>
            <a:r>
              <a:rPr dirty="0" sz="1200">
                <a:latin typeface="Times New Roman"/>
                <a:cs typeface="Times New Roman"/>
              </a:rPr>
              <a:t>control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315"/>
              </a:lnSpc>
              <a:buAutoNum type="arabicPeriod" startAt="2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Mules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sure-footed;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they’re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climbing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mountains.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-Mules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sure-footed,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they’re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 for climbing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steep </a:t>
            </a:r>
            <a:r>
              <a:rPr dirty="0" sz="1200" spc="-5">
                <a:latin typeface="Times New Roman"/>
                <a:cs typeface="Times New Roman"/>
              </a:rPr>
              <a:t>mountains.</a:t>
            </a:r>
            <a:endParaRPr sz="12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380"/>
              </a:lnSpc>
              <a:buAutoNum type="arabicPeriod" startAt="3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electricity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shopping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close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Since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electricity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the </a:t>
            </a:r>
            <a:r>
              <a:rPr dirty="0" sz="1200" spc="-5">
                <a:latin typeface="Times New Roman"/>
                <a:cs typeface="Times New Roman"/>
              </a:rPr>
              <a:t>shopping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shops had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  <a:buAutoNum type="arabicPeriod" startAt="4"/>
              <a:tabLst>
                <a:tab pos="228600" algn="l"/>
              </a:tabLst>
            </a:pPr>
            <a:r>
              <a:rPr dirty="0" sz="1200">
                <a:latin typeface="Times New Roman"/>
                <a:cs typeface="Times New Roman"/>
              </a:rPr>
              <a:t>Bicycles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world’s</a:t>
            </a:r>
            <a:r>
              <a:rPr dirty="0" sz="1200">
                <a:latin typeface="Times New Roman"/>
                <a:cs typeface="Times New Roman"/>
              </a:rPr>
              <a:t> best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transportation,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don’t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pollute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 Bicycles are the world’s best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of transportation,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they don’t pollute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5. I don’t like the Principal’s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expressing </a:t>
            </a:r>
            <a:r>
              <a:rPr dirty="0" sz="1200" spc="-5">
                <a:latin typeface="Times New Roman"/>
                <a:cs typeface="Times New Roman"/>
              </a:rPr>
              <a:t>herself, </a:t>
            </a:r>
            <a:r>
              <a:rPr dirty="0" sz="1200">
                <a:latin typeface="Times New Roman"/>
                <a:cs typeface="Times New Roman"/>
              </a:rPr>
              <a:t>I agree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many </a:t>
            </a:r>
            <a:r>
              <a:rPr dirty="0" sz="1200" spc="-5">
                <a:latin typeface="Times New Roman"/>
                <a:cs typeface="Times New Roman"/>
              </a:rPr>
              <a:t>of her </a:t>
            </a:r>
            <a:r>
              <a:rPr dirty="0" sz="1200">
                <a:latin typeface="Times New Roman"/>
                <a:cs typeface="Times New Roman"/>
              </a:rPr>
              <a:t>ideas.-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Although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don’t like the Principal’s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expressing </a:t>
            </a:r>
            <a:r>
              <a:rPr dirty="0" sz="1200">
                <a:latin typeface="Times New Roman"/>
                <a:cs typeface="Times New Roman"/>
              </a:rPr>
              <a:t>herself, I agree with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of 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Fused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Comma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Splice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Constructions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Fill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2245" algn="l"/>
                <a:tab pos="70548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incorrectly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joined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nothing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172085" algn="l"/>
                <a:tab pos="78359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incorrectly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joined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together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>
                <a:latin typeface="Times New Roman"/>
                <a:cs typeface="Times New Roman"/>
              </a:rPr>
              <a:t> between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  <a:buAutoNum type="arabicPeriod" startAt="3"/>
              <a:tabLst>
                <a:tab pos="180975" algn="l"/>
                <a:tab pos="4812665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fused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splices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capital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rabicPeriod" startAt="3"/>
              <a:tabLst>
                <a:tab pos="165100" algn="l"/>
                <a:tab pos="5614035" algn="l"/>
              </a:tabLst>
            </a:pP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comma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         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and, but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 b="1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rabicPeriod" startAt="3"/>
              <a:tabLst>
                <a:tab pos="188595" algn="l"/>
                <a:tab pos="5614035" algn="l"/>
              </a:tabLst>
            </a:pP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joined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together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 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        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 b="1">
                <a:latin typeface="Times New Roman"/>
                <a:cs typeface="Times New Roman"/>
              </a:rPr>
              <a:t>because.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45"/>
              </a:lnSpc>
              <a:buAutoNum type="arabicPeriod" startAt="3"/>
              <a:tabLst>
                <a:tab pos="165100" algn="l"/>
                <a:tab pos="4239895" algn="l"/>
              </a:tabLst>
            </a:pPr>
            <a:r>
              <a:rPr dirty="0" sz="1200">
                <a:latin typeface="Times New Roman"/>
                <a:cs typeface="Times New Roman"/>
              </a:rPr>
              <a:t>The fused sentence and the comma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splice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75"/>
              </a:lnSpc>
              <a:buAutoNum type="arabicPeriod"/>
              <a:tabLst>
                <a:tab pos="1651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Run-on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Comma</a:t>
            </a:r>
            <a:r>
              <a:rPr dirty="0" u="sng" sz="12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splice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Full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stop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period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Joining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Dependent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410"/>
              </a:lnSpc>
              <a:buAutoNum type="arabicPeriod"/>
              <a:tabLst>
                <a:tab pos="2032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Run-on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Test: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Fused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Splices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suggested.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overhead,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rattled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-A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flew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overhead,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houses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rattled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loudly.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arabicPeriod" startAt="2"/>
              <a:tabLst>
                <a:tab pos="179705" algn="l"/>
              </a:tabLst>
            </a:pPr>
            <a:r>
              <a:rPr dirty="0" sz="1200">
                <a:latin typeface="Times New Roman"/>
                <a:cs typeface="Times New Roman"/>
              </a:rPr>
              <a:t>Garlic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smell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tastes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delicious.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qualities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Garlic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</a:t>
            </a:r>
            <a:r>
              <a:rPr dirty="0" sz="1200" spc="-5">
                <a:latin typeface="Times New Roman"/>
                <a:cs typeface="Times New Roman"/>
              </a:rPr>
              <a:t> cholesterol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supposed</a:t>
            </a:r>
            <a:r>
              <a:rPr dirty="0" sz="1200">
                <a:latin typeface="Times New Roman"/>
                <a:cs typeface="Times New Roman"/>
              </a:rPr>
              <a:t> to keep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 </a:t>
            </a:r>
            <a:r>
              <a:rPr dirty="0" sz="1200" spc="-5">
                <a:latin typeface="Times New Roman"/>
                <a:cs typeface="Times New Roman"/>
              </a:rPr>
              <a:t>disease.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Garlic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may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smell,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but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tastes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delicious.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other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good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qualities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well.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Garlic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help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lower cholesterol,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and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also </a:t>
            </a:r>
            <a:r>
              <a:rPr dirty="0" sz="1200" i="1">
                <a:latin typeface="Times New Roman"/>
                <a:cs typeface="Times New Roman"/>
              </a:rPr>
              <a:t>supposed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keep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away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disease.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psychology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week;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worried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sick at the start of the </a:t>
            </a:r>
            <a:r>
              <a:rPr dirty="0" sz="1200" spc="-5">
                <a:latin typeface="Times New Roman"/>
                <a:cs typeface="Times New Roman"/>
              </a:rPr>
              <a:t>term, </a:t>
            </a:r>
            <a:r>
              <a:rPr dirty="0" sz="1200">
                <a:latin typeface="Times New Roman"/>
                <a:cs typeface="Times New Roman"/>
              </a:rPr>
              <a:t>I never </a:t>
            </a:r>
            <a:r>
              <a:rPr dirty="0" sz="1200" spc="-5">
                <a:latin typeface="Times New Roman"/>
                <a:cs typeface="Times New Roman"/>
              </a:rPr>
              <a:t>completed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prescribed reading. For the past </a:t>
            </a:r>
            <a:r>
              <a:rPr dirty="0" sz="1200">
                <a:latin typeface="Times New Roman"/>
                <a:cs typeface="Times New Roman"/>
              </a:rPr>
              <a:t> month I’ve been working in the evening, it’s hard to find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to study; I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extra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 late.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Modifier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examples</a:t>
            </a:r>
            <a:r>
              <a:rPr dirty="0" sz="1200">
                <a:latin typeface="Times New Roman"/>
                <a:cs typeface="Times New Roman"/>
              </a:rPr>
              <a:t> the modifier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bold</a:t>
            </a:r>
            <a:r>
              <a:rPr dirty="0" sz="1200">
                <a:latin typeface="Times New Roman"/>
                <a:cs typeface="Times New Roman"/>
              </a:rPr>
              <a:t> faced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the word it </a:t>
            </a:r>
            <a:r>
              <a:rPr dirty="0" sz="1200" spc="-5">
                <a:latin typeface="Times New Roman"/>
                <a:cs typeface="Times New Roman"/>
              </a:rPr>
              <a:t>modifies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underlined e.g.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(i)The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woman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 </a:t>
            </a:r>
            <a:r>
              <a:rPr dirty="0" sz="1200" b="1">
                <a:latin typeface="Times New Roman"/>
                <a:cs typeface="Times New Roman"/>
              </a:rPr>
              <a:t>gold-rimmed </a:t>
            </a:r>
            <a:r>
              <a:rPr dirty="0" sz="1200" spc="-5" b="1">
                <a:latin typeface="Times New Roman"/>
                <a:cs typeface="Times New Roman"/>
              </a:rPr>
              <a:t>spectacles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boss.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gold-rimmed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spectacles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woman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 startAt="2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neighbour</a:t>
            </a:r>
            <a:r>
              <a:rPr dirty="0" sz="1200" spc="-5">
                <a:latin typeface="Times New Roman"/>
                <a:cs typeface="Times New Roman"/>
              </a:rPr>
              <a:t> 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spaniel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 one</a:t>
            </a:r>
            <a:r>
              <a:rPr dirty="0" sz="1200" b="1">
                <a:latin typeface="Times New Roman"/>
                <a:cs typeface="Times New Roman"/>
              </a:rPr>
              <a:t> ear </a:t>
            </a:r>
            <a:r>
              <a:rPr dirty="0" sz="1200" spc="-5" b="1">
                <a:latin typeface="Times New Roman"/>
                <a:cs typeface="Times New Roman"/>
              </a:rPr>
              <a:t>missing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410"/>
              </a:lnSpc>
              <a:buAutoNum type="romanLcParenBoth" startAt="2"/>
              <a:tabLst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nearly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thousand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stamps.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Misplaced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modifier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incorrectly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separated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describes.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misplaced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describe.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modifiers</a:t>
            </a:r>
            <a:r>
              <a:rPr dirty="0" sz="1200">
                <a:latin typeface="Times New Roman"/>
                <a:cs typeface="Times New Roman"/>
              </a:rPr>
              <a:t> are misplaced, the reader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misunderstand</a:t>
            </a:r>
            <a:r>
              <a:rPr dirty="0" sz="1200">
                <a:latin typeface="Times New Roman"/>
                <a:cs typeface="Times New Roman"/>
              </a:rPr>
              <a:t> the sentence.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My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brother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bought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from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local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dealer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leaking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pipe.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-The </a:t>
            </a:r>
            <a:r>
              <a:rPr dirty="0" sz="1200" spc="-5" i="1">
                <a:latin typeface="Times New Roman"/>
                <a:cs typeface="Times New Roman"/>
              </a:rPr>
              <a:t>sparrow</a:t>
            </a:r>
            <a:r>
              <a:rPr dirty="0" sz="1200" i="1">
                <a:latin typeface="Times New Roman"/>
                <a:cs typeface="Times New Roman"/>
              </a:rPr>
              <a:t> built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nest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back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 </a:t>
            </a:r>
            <a:r>
              <a:rPr dirty="0" sz="1200" spc="-5" i="1">
                <a:latin typeface="Times New Roman"/>
                <a:cs typeface="Times New Roman"/>
              </a:rPr>
              <a:t>our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house</a:t>
            </a:r>
            <a:r>
              <a:rPr dirty="0" sz="1200" i="1">
                <a:latin typeface="Times New Roman"/>
                <a:cs typeface="Times New Roman"/>
              </a:rPr>
              <a:t> of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grass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and</a:t>
            </a:r>
            <a:r>
              <a:rPr dirty="0" sz="1200" i="1">
                <a:latin typeface="Times New Roman"/>
                <a:cs typeface="Times New Roman"/>
              </a:rPr>
              <a:t> twigs.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-Anjum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Nisar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almost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sneezed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twenty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times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night.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--My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brother</a:t>
            </a:r>
            <a:r>
              <a:rPr dirty="0" sz="1200" spc="-5">
                <a:latin typeface="Times New Roman"/>
                <a:cs typeface="Times New Roman"/>
              </a:rPr>
              <a:t> bought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pipe)</a:t>
            </a:r>
            <a:r>
              <a:rPr dirty="0" sz="1200" spc="-5">
                <a:latin typeface="Times New Roman"/>
                <a:cs typeface="Times New Roman"/>
              </a:rPr>
              <a:t> 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dealer.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5">
                <a:latin typeface="Times New Roman"/>
                <a:cs typeface="Times New Roman"/>
              </a:rPr>
              <a:t> sparrow</a:t>
            </a:r>
            <a:r>
              <a:rPr dirty="0" sz="1200">
                <a:latin typeface="Times New Roman"/>
                <a:cs typeface="Times New Roman"/>
              </a:rPr>
              <a:t> built 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nest</a:t>
            </a:r>
            <a:r>
              <a:rPr dirty="0" sz="1200">
                <a:latin typeface="Times New Roman"/>
                <a:cs typeface="Times New Roman"/>
              </a:rPr>
              <a:t> (of </a:t>
            </a:r>
            <a:r>
              <a:rPr dirty="0" sz="1200" spc="-5">
                <a:latin typeface="Times New Roman"/>
                <a:cs typeface="Times New Roman"/>
              </a:rPr>
              <a:t>grass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twigs)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 Anjum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Nisar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sneezed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(almost)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twenty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>
                <a:latin typeface="Times New Roman"/>
                <a:cs typeface="Times New Roman"/>
              </a:rPr>
              <a:t> night.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627370" cy="7976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PRATICE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misplaced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word(s)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placing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modifier</a:t>
            </a:r>
            <a:r>
              <a:rPr dirty="0" sz="1200" spc="-5">
                <a:latin typeface="Times New Roman"/>
                <a:cs typeface="Times New Roman"/>
              </a:rPr>
              <a:t> where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make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meaning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 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returning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jacket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store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sofas </a:t>
            </a:r>
            <a:r>
              <a:rPr dirty="0" sz="1200">
                <a:latin typeface="Times New Roman"/>
                <a:cs typeface="Times New Roman"/>
              </a:rPr>
              <a:t>shopping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Saturday.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woman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tore </a:t>
            </a:r>
            <a:r>
              <a:rPr dirty="0" sz="1200" spc="-5">
                <a:latin typeface="Times New Roman"/>
                <a:cs typeface="Times New Roman"/>
              </a:rPr>
              <a:t>open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parcel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just</a:t>
            </a:r>
            <a:r>
              <a:rPr dirty="0" sz="1200">
                <a:latin typeface="Times New Roman"/>
                <a:cs typeface="Times New Roman"/>
              </a:rPr>
              <a:t> received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finger</a:t>
            </a:r>
            <a:r>
              <a:rPr dirty="0" sz="1200" spc="-5">
                <a:latin typeface="Times New Roman"/>
                <a:cs typeface="Times New Roman"/>
              </a:rPr>
              <a:t> nails.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bracelet on</a:t>
            </a:r>
            <a:r>
              <a:rPr dirty="0" sz="1200" spc="-5">
                <a:latin typeface="Times New Roman"/>
                <a:cs typeface="Times New Roman"/>
              </a:rPr>
              <a:t> Ayesha’s</a:t>
            </a:r>
            <a:r>
              <a:rPr dirty="0" sz="1200">
                <a:latin typeface="Times New Roman"/>
                <a:cs typeface="Times New Roman"/>
              </a:rPr>
              <a:t> arm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of silver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belongs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</a:t>
            </a:r>
            <a:r>
              <a:rPr dirty="0" sz="1200" spc="-5">
                <a:latin typeface="Times New Roman"/>
                <a:cs typeface="Times New Roman"/>
              </a:rPr>
              <a:t>mother.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Aman’s home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4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Single</a:t>
            </a:r>
            <a:r>
              <a:rPr dirty="0" u="heavy" sz="14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4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4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Modifiers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Pay special attention </a:t>
            </a:r>
            <a:r>
              <a:rPr dirty="0" sz="1200">
                <a:latin typeface="Times New Roman"/>
                <a:cs typeface="Times New Roman"/>
              </a:rPr>
              <a:t>to single word </a:t>
            </a:r>
            <a:r>
              <a:rPr dirty="0" sz="1200" spc="-5">
                <a:latin typeface="Times New Roman"/>
                <a:cs typeface="Times New Roman"/>
              </a:rPr>
              <a:t>modifiers,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5" b="1" i="1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5" b="1" i="1">
                <a:latin typeface="Times New Roman"/>
                <a:cs typeface="Times New Roman"/>
              </a:rPr>
              <a:t>almost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5" b="1" i="1">
                <a:latin typeface="Times New Roman"/>
                <a:cs typeface="Times New Roman"/>
              </a:rPr>
              <a:t>nearly</a:t>
            </a:r>
            <a:r>
              <a:rPr dirty="0" sz="1200" spc="-5">
                <a:latin typeface="Times New Roman"/>
                <a:cs typeface="Times New Roman"/>
              </a:rPr>
              <a:t>. For their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to be correctly understood, they should be </a:t>
            </a:r>
            <a:r>
              <a:rPr dirty="0" sz="1200" spc="-5">
                <a:latin typeface="Times New Roman"/>
                <a:cs typeface="Times New Roman"/>
              </a:rPr>
              <a:t>placed </a:t>
            </a:r>
            <a:r>
              <a:rPr dirty="0" sz="1200">
                <a:latin typeface="Times New Roman"/>
                <a:cs typeface="Times New Roman"/>
              </a:rPr>
              <a:t>directly in </a:t>
            </a:r>
            <a:r>
              <a:rPr dirty="0" sz="1200" spc="-5">
                <a:latin typeface="Times New Roman"/>
                <a:cs typeface="Times New Roman"/>
              </a:rPr>
              <a:t>front </a:t>
            </a:r>
            <a:r>
              <a:rPr dirty="0" sz="1200">
                <a:latin typeface="Times New Roman"/>
                <a:cs typeface="Times New Roman"/>
              </a:rPr>
              <a:t>of the word they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-5">
                <a:latin typeface="Times New Roman"/>
                <a:cs typeface="Times New Roman"/>
              </a:rPr>
              <a:t> my boss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refused.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 startAt="2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must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hundred </a:t>
            </a:r>
            <a:r>
              <a:rPr dirty="0" sz="1200" spc="-5">
                <a:latin typeface="Times New Roman"/>
                <a:cs typeface="Times New Roman"/>
              </a:rPr>
              <a:t>ads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410"/>
              </a:lnSpc>
              <a:buAutoNum type="romanLcParenBoth" startAt="2"/>
              <a:tabLst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returning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college my </a:t>
            </a:r>
            <a:r>
              <a:rPr dirty="0" sz="1200">
                <a:latin typeface="Times New Roman"/>
                <a:cs typeface="Times New Roman"/>
              </a:rPr>
              <a:t>niece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nearly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spends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telephone.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-5">
                <a:latin typeface="Times New Roman"/>
                <a:cs typeface="Times New Roman"/>
              </a:rPr>
              <a:t> my boss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refused.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must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answered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hundred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After </a:t>
            </a:r>
            <a:r>
              <a:rPr dirty="0" sz="1200" spc="-5">
                <a:latin typeface="Times New Roman"/>
                <a:cs typeface="Times New Roman"/>
              </a:rPr>
              <a:t>returning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niece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spends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nearly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telephone</a:t>
            </a:r>
            <a:r>
              <a:rPr dirty="0" sz="1200" spc="-5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Dangling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Modifiers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Staring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dreamily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instructor’s</a:t>
            </a:r>
            <a:r>
              <a:rPr dirty="0" sz="1200">
                <a:latin typeface="Times New Roman"/>
                <a:cs typeface="Times New Roman"/>
              </a:rPr>
              <a:t> loud voice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startled </a:t>
            </a:r>
            <a:r>
              <a:rPr dirty="0" sz="1200" spc="-5">
                <a:latin typeface="Times New Roman"/>
                <a:cs typeface="Times New Roman"/>
              </a:rPr>
              <a:t>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4584065" algn="l"/>
              </a:tabLst>
            </a:pPr>
            <a:r>
              <a:rPr dirty="0" sz="1200">
                <a:latin typeface="Times New Roman"/>
                <a:cs typeface="Times New Roman"/>
              </a:rPr>
              <a:t>-Staring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dreamily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instructor’s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 voice.	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marL="12700" marR="820419">
              <a:lnSpc>
                <a:spcPts val="1370"/>
              </a:lnSpc>
              <a:spcBef>
                <a:spcPts val="75"/>
              </a:spcBef>
            </a:pPr>
            <a:r>
              <a:rPr dirty="0" sz="1200" spc="-5">
                <a:latin typeface="Times New Roman"/>
                <a:cs typeface="Times New Roman"/>
              </a:rPr>
              <a:t>-As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staring </a:t>
            </a:r>
            <a:r>
              <a:rPr dirty="0" sz="1200" spc="-5">
                <a:latin typeface="Times New Roman"/>
                <a:cs typeface="Times New Roman"/>
              </a:rPr>
              <a:t>dreamily into </a:t>
            </a:r>
            <a:r>
              <a:rPr dirty="0" sz="1200">
                <a:latin typeface="Times New Roman"/>
                <a:cs typeface="Times New Roman"/>
              </a:rPr>
              <a:t>space, the instructor’s loud voice startled me.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samples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by 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dangling</a:t>
            </a:r>
            <a:r>
              <a:rPr dirty="0" sz="1200" spc="-5">
                <a:latin typeface="Times New Roman"/>
                <a:cs typeface="Times New Roman"/>
              </a:rPr>
              <a:t> modifiers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>
                <a:latin typeface="Times New Roman"/>
                <a:cs typeface="Times New Roman"/>
              </a:rPr>
              <a:t>-When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pulling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driveway,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pillar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blocks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view.</a:t>
            </a:r>
            <a:endParaRPr sz="1200">
              <a:latin typeface="Times New Roman"/>
              <a:cs typeface="Times New Roman"/>
            </a:endParaRPr>
          </a:p>
          <a:p>
            <a:pPr marL="12700" marR="11214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-When </a:t>
            </a:r>
            <a:r>
              <a:rPr dirty="0" sz="1200">
                <a:latin typeface="Times New Roman"/>
                <a:cs typeface="Times New Roman"/>
              </a:rPr>
              <a:t>pulling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blocked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pillar.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Whenever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I pull out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driveway,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pillar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blocks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view.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identify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misplaced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dangling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modifier.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rewrite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its intended meaning is clear.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returned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overdue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librarian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apologies.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soldiers </a:t>
            </a:r>
            <a:r>
              <a:rPr dirty="0" sz="1200">
                <a:latin typeface="Times New Roman"/>
                <a:cs typeface="Times New Roman"/>
              </a:rPr>
              <a:t>hold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>
                <a:latin typeface="Times New Roman"/>
                <a:cs typeface="Times New Roman"/>
              </a:rPr>
              <a:t> 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462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blue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arrived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later,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sudden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crash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thunder,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hurried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windows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bedrooms.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138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860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downpour,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were glad to be safe </a:t>
            </a:r>
            <a:r>
              <a:rPr dirty="0" sz="1200" spc="-5">
                <a:latin typeface="Times New Roman"/>
                <a:cs typeface="Times New Roman"/>
              </a:rPr>
              <a:t>inside.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-5">
                <a:latin typeface="Times New Roman"/>
                <a:cs typeface="Times New Roman"/>
              </a:rPr>
              <a:t>we remembered </a:t>
            </a:r>
            <a:r>
              <a:rPr dirty="0" sz="1200">
                <a:latin typeface="Times New Roman"/>
                <a:cs typeface="Times New Roman"/>
              </a:rPr>
              <a:t>our open car </a:t>
            </a:r>
            <a:r>
              <a:rPr dirty="0" sz="1200" spc="-5">
                <a:latin typeface="Times New Roman"/>
                <a:cs typeface="Times New Roman"/>
              </a:rPr>
              <a:t>windows,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groaning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dismay.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raincoat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winter.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thought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I’d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everywhere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yesterday,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stuffed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spotted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-5">
                <a:latin typeface="Times New Roman"/>
                <a:cs typeface="Times New Roman"/>
              </a:rPr>
              <a:t> Wrinkled and</a:t>
            </a:r>
            <a:r>
              <a:rPr dirty="0" sz="1200">
                <a:latin typeface="Times New Roman"/>
                <a:cs typeface="Times New Roman"/>
              </a:rPr>
              <a:t> dusty, I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still </a:t>
            </a:r>
            <a:r>
              <a:rPr dirty="0" sz="1200" spc="-5">
                <a:latin typeface="Times New Roman"/>
                <a:cs typeface="Times New Roman"/>
              </a:rPr>
              <a:t>delighted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see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looked at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sentence errors – the </a:t>
            </a:r>
            <a:r>
              <a:rPr dirty="0" sz="1200" spc="-5">
                <a:latin typeface="Times New Roman"/>
                <a:cs typeface="Times New Roman"/>
              </a:rPr>
              <a:t>fragment, </a:t>
            </a:r>
            <a:r>
              <a:rPr dirty="0" sz="1200">
                <a:latin typeface="Times New Roman"/>
                <a:cs typeface="Times New Roman"/>
              </a:rPr>
              <a:t>fused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 </a:t>
            </a:r>
            <a:r>
              <a:rPr dirty="0" sz="1200" spc="-5">
                <a:latin typeface="Times New Roman"/>
                <a:cs typeface="Times New Roman"/>
              </a:rPr>
              <a:t>splices </a:t>
            </a:r>
            <a:r>
              <a:rPr dirty="0" sz="1200">
                <a:latin typeface="Times New Roman"/>
                <a:cs typeface="Times New Roman"/>
              </a:rPr>
              <a:t>and dangling </a:t>
            </a:r>
            <a:r>
              <a:rPr dirty="0" sz="1200" spc="-5">
                <a:latin typeface="Times New Roman"/>
                <a:cs typeface="Times New Roman"/>
              </a:rPr>
              <a:t>modifiers. All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avoid these errors, and you should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 to avoid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such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1922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-26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Subject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Verb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Agreement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correctly </a:t>
            </a:r>
            <a:r>
              <a:rPr dirty="0" sz="1200">
                <a:latin typeface="Times New Roman"/>
                <a:cs typeface="Times New Roman"/>
              </a:rPr>
              <a:t>written </a:t>
            </a:r>
            <a:r>
              <a:rPr dirty="0" sz="1200" spc="-5">
                <a:latin typeface="Times New Roman"/>
                <a:cs typeface="Times New Roman"/>
              </a:rPr>
              <a:t>sentence, </a:t>
            </a:r>
            <a:r>
              <a:rPr dirty="0" sz="1200">
                <a:latin typeface="Times New Roman"/>
                <a:cs typeface="Times New Roman"/>
              </a:rPr>
              <a:t>the subject and verb </a:t>
            </a:r>
            <a:r>
              <a:rPr dirty="0" sz="1200" spc="-5" b="1">
                <a:latin typeface="Times New Roman"/>
                <a:cs typeface="Times New Roman"/>
              </a:rPr>
              <a:t>agree </a:t>
            </a:r>
            <a:r>
              <a:rPr dirty="0" sz="1200" spc="-5">
                <a:latin typeface="Times New Roman"/>
                <a:cs typeface="Times New Roman"/>
              </a:rPr>
              <a:t>i.e. </a:t>
            </a:r>
            <a:r>
              <a:rPr dirty="0" sz="1200" b="1">
                <a:latin typeface="Times New Roman"/>
                <a:cs typeface="Times New Roman"/>
              </a:rPr>
              <a:t>match </a:t>
            </a:r>
            <a:r>
              <a:rPr dirty="0" sz="1200" spc="-5">
                <a:latin typeface="Times New Roman"/>
                <a:cs typeface="Times New Roman"/>
              </a:rPr>
              <a:t>in number. In 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singular </a:t>
            </a:r>
            <a:r>
              <a:rPr dirty="0" sz="1200">
                <a:latin typeface="Times New Roman"/>
                <a:cs typeface="Times New Roman"/>
              </a:rPr>
              <a:t>subject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take a </a:t>
            </a:r>
            <a:r>
              <a:rPr dirty="0" sz="1200" spc="-5">
                <a:latin typeface="Times New Roman"/>
                <a:cs typeface="Times New Roman"/>
              </a:rPr>
              <a:t>singular </a:t>
            </a:r>
            <a:r>
              <a:rPr dirty="0" sz="1200">
                <a:latin typeface="Times New Roman"/>
                <a:cs typeface="Times New Roman"/>
              </a:rPr>
              <a:t>verb and </a:t>
            </a:r>
            <a:r>
              <a:rPr dirty="0" sz="1200" spc="-5">
                <a:latin typeface="Times New Roman"/>
                <a:cs typeface="Times New Roman"/>
              </a:rPr>
              <a:t>plural subjects </a:t>
            </a:r>
            <a:r>
              <a:rPr dirty="0" sz="1200">
                <a:latin typeface="Times New Roman"/>
                <a:cs typeface="Times New Roman"/>
              </a:rPr>
              <a:t>will take </a:t>
            </a:r>
            <a:r>
              <a:rPr dirty="0" sz="1200" spc="-5">
                <a:latin typeface="Times New Roman"/>
                <a:cs typeface="Times New Roman"/>
              </a:rPr>
              <a:t>plural verbs.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students have no problem </a:t>
            </a:r>
            <a:r>
              <a:rPr dirty="0" sz="1200">
                <a:latin typeface="Times New Roman"/>
                <a:cs typeface="Times New Roman"/>
              </a:rPr>
              <a:t>handling a </a:t>
            </a:r>
            <a:r>
              <a:rPr dirty="0" sz="1200" spc="-5">
                <a:latin typeface="Times New Roman"/>
                <a:cs typeface="Times New Roman"/>
              </a:rPr>
              <a:t>simple sentence </a:t>
            </a:r>
            <a:r>
              <a:rPr dirty="0" sz="1200">
                <a:latin typeface="Times New Roman"/>
                <a:cs typeface="Times New Roman"/>
              </a:rPr>
              <a:t>where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difficult to make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 and verb agree or</a:t>
            </a:r>
            <a:r>
              <a:rPr dirty="0" sz="1200" spc="-5">
                <a:latin typeface="Times New Roman"/>
                <a:cs typeface="Times New Roman"/>
              </a:rPr>
              <a:t> match.</a:t>
            </a:r>
            <a:r>
              <a:rPr dirty="0" sz="1200">
                <a:latin typeface="Times New Roman"/>
                <a:cs typeface="Times New Roman"/>
              </a:rPr>
              <a:t> e.g.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My mother </a:t>
            </a:r>
            <a:r>
              <a:rPr dirty="0" sz="1200" spc="-5" i="1">
                <a:latin typeface="Times New Roman"/>
                <a:cs typeface="Times New Roman"/>
              </a:rPr>
              <a:t>works</a:t>
            </a:r>
            <a:r>
              <a:rPr dirty="0" sz="1200" i="1">
                <a:latin typeface="Times New Roman"/>
                <a:cs typeface="Times New Roman"/>
              </a:rPr>
              <a:t> at</a:t>
            </a:r>
            <a:r>
              <a:rPr dirty="0" sz="1200" spc="-5" i="1">
                <a:latin typeface="Times New Roman"/>
                <a:cs typeface="Times New Roman"/>
              </a:rPr>
              <a:t> two</a:t>
            </a:r>
            <a:r>
              <a:rPr dirty="0" sz="1200" i="1">
                <a:latin typeface="Times New Roman"/>
                <a:cs typeface="Times New Roman"/>
              </a:rPr>
              <a:t> jobs. My grandma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my </a:t>
            </a:r>
            <a:r>
              <a:rPr dirty="0" sz="1200" i="1">
                <a:latin typeface="Times New Roman"/>
                <a:cs typeface="Times New Roman"/>
              </a:rPr>
              <a:t>brothers and</a:t>
            </a:r>
            <a:r>
              <a:rPr dirty="0" sz="1200" spc="-5" i="1">
                <a:latin typeface="Times New Roman"/>
                <a:cs typeface="Times New Roman"/>
              </a:rPr>
              <a:t> sisters.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straight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forward.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you shall learn about </a:t>
            </a:r>
            <a:r>
              <a:rPr dirty="0" sz="1200" spc="-5">
                <a:latin typeface="Times New Roman"/>
                <a:cs typeface="Times New Roman"/>
              </a:rPr>
              <a:t>situations</a:t>
            </a:r>
            <a:r>
              <a:rPr dirty="0" sz="1200">
                <a:latin typeface="Times New Roman"/>
                <a:cs typeface="Times New Roman"/>
              </a:rPr>
              <a:t> that can cause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subject 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Revision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Present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ct val="96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Before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look at the situations that can cause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a little revision of the </a:t>
            </a:r>
            <a:r>
              <a:rPr dirty="0" sz="1200" spc="-5">
                <a:latin typeface="Times New Roman"/>
                <a:cs typeface="Times New Roman"/>
              </a:rPr>
              <a:t>tenses is </a:t>
            </a:r>
            <a:r>
              <a:rPr dirty="0" sz="1200">
                <a:latin typeface="Times New Roman"/>
                <a:cs typeface="Times New Roman"/>
              </a:rPr>
              <a:t> necessary to brush up your knowledge. e.g.</a:t>
            </a:r>
            <a:r>
              <a:rPr dirty="0" sz="1200" i="1">
                <a:latin typeface="Times New Roman"/>
                <a:cs typeface="Times New Roman"/>
              </a:rPr>
              <a:t>- </a:t>
            </a:r>
            <a:r>
              <a:rPr dirty="0" sz="1200" spc="-5" i="1">
                <a:latin typeface="Times New Roman"/>
                <a:cs typeface="Times New Roman"/>
              </a:rPr>
              <a:t>Last </a:t>
            </a:r>
            <a:r>
              <a:rPr dirty="0" sz="1200" i="1">
                <a:latin typeface="Times New Roman"/>
                <a:cs typeface="Times New Roman"/>
              </a:rPr>
              <a:t>night,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play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chess. </a:t>
            </a:r>
            <a:r>
              <a:rPr dirty="0" sz="1200" i="1">
                <a:latin typeface="Times New Roman"/>
                <a:cs typeface="Times New Roman"/>
              </a:rPr>
              <a:t>My friend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sz="1200" i="1">
                <a:latin typeface="Times New Roman"/>
                <a:cs typeface="Times New Roman"/>
              </a:rPr>
              <a:t> play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cards.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30"/>
              </a:spcBef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you must have </a:t>
            </a:r>
            <a:r>
              <a:rPr dirty="0" sz="1200" spc="-5">
                <a:latin typeface="Times New Roman"/>
                <a:cs typeface="Times New Roman"/>
              </a:rPr>
              <a:t>noticed is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for all subjects, </a:t>
            </a:r>
            <a:r>
              <a:rPr dirty="0" sz="1200" spc="-5">
                <a:latin typeface="Times New Roman"/>
                <a:cs typeface="Times New Roman"/>
              </a:rPr>
              <a:t>whether </a:t>
            </a:r>
            <a:r>
              <a:rPr dirty="0" sz="1200">
                <a:latin typeface="Times New Roman"/>
                <a:cs typeface="Times New Roman"/>
              </a:rPr>
              <a:t>singular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plural. However, present tense verbs have </a:t>
            </a:r>
            <a:r>
              <a:rPr dirty="0" sz="1200" spc="-5">
                <a:latin typeface="Times New Roman"/>
                <a:cs typeface="Times New Roman"/>
              </a:rPr>
              <a:t>two forms. </a:t>
            </a:r>
            <a:r>
              <a:rPr dirty="0" sz="1200">
                <a:latin typeface="Times New Roman"/>
                <a:cs typeface="Times New Roman"/>
              </a:rPr>
              <a:t>Look at the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table. Notice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pattern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present </a:t>
            </a:r>
            <a:r>
              <a:rPr dirty="0" sz="1200" spc="-5">
                <a:latin typeface="Times New Roman"/>
                <a:cs typeface="Times New Roman"/>
              </a:rPr>
              <a:t>tense</a:t>
            </a:r>
            <a:r>
              <a:rPr dirty="0" sz="1200">
                <a:latin typeface="Times New Roman"/>
                <a:cs typeface="Times New Roman"/>
              </a:rPr>
              <a:t> verbs.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235064" y="4771135"/>
            <a:ext cx="690245" cy="73279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 indent="-635">
              <a:lnSpc>
                <a:spcPct val="95600"/>
              </a:lnSpc>
              <a:spcBef>
                <a:spcPts val="160"/>
              </a:spcBef>
            </a:pPr>
            <a:r>
              <a:rPr dirty="0" sz="1200" b="1">
                <a:latin typeface="Times New Roman"/>
                <a:cs typeface="Times New Roman"/>
              </a:rPr>
              <a:t>Plural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work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work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work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162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4771135"/>
            <a:ext cx="1240155" cy="125857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80390">
              <a:lnSpc>
                <a:spcPct val="95700"/>
              </a:lnSpc>
              <a:spcBef>
                <a:spcPts val="160"/>
              </a:spcBef>
            </a:pPr>
            <a:r>
              <a:rPr dirty="0" sz="1200" spc="-5" b="1">
                <a:latin typeface="Times New Roman"/>
                <a:cs typeface="Times New Roman"/>
              </a:rPr>
              <a:t>Singular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work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work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work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 </a:t>
            </a:r>
            <a:r>
              <a:rPr dirty="0" sz="1200" spc="-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notice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996432"/>
            <a:ext cx="5626735" cy="3187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4310" indent="-182245">
              <a:lnSpc>
                <a:spcPts val="1410"/>
              </a:lnSpc>
              <a:spcBef>
                <a:spcPts val="100"/>
              </a:spcBef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except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you.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410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5">
                <a:latin typeface="Times New Roman"/>
                <a:cs typeface="Times New Roman"/>
              </a:rPr>
              <a:t> tense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 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I, 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 verbs.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Practice1.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correct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picker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(sort,</a:t>
            </a:r>
            <a:r>
              <a:rPr dirty="0" sz="1200" spc="-5">
                <a:latin typeface="Times New Roman"/>
                <a:cs typeface="Times New Roman"/>
              </a:rPr>
              <a:t> sorts)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bundles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rags.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pickers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(sort, </a:t>
            </a:r>
            <a:r>
              <a:rPr dirty="0" sz="1200" spc="-5">
                <a:latin typeface="Times New Roman"/>
                <a:cs typeface="Times New Roman"/>
              </a:rPr>
              <a:t>sorts)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bundles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rags.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(listen,</a:t>
            </a:r>
            <a:r>
              <a:rPr dirty="0" sz="1200" spc="-5">
                <a:latin typeface="Times New Roman"/>
                <a:cs typeface="Times New Roman"/>
              </a:rPr>
              <a:t> listens)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studying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(listen,</a:t>
            </a:r>
            <a:r>
              <a:rPr dirty="0" sz="1200" spc="-5">
                <a:latin typeface="Times New Roman"/>
                <a:cs typeface="Times New Roman"/>
              </a:rPr>
              <a:t> listens)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studying.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(wriggle,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wriggles)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glass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worms </a:t>
            </a:r>
            <a:r>
              <a:rPr dirty="0" sz="1200">
                <a:latin typeface="Times New Roman"/>
                <a:cs typeface="Times New Roman"/>
              </a:rPr>
              <a:t>(wriggle, </a:t>
            </a:r>
            <a:r>
              <a:rPr dirty="0" sz="1200" spc="-5">
                <a:latin typeface="Times New Roman"/>
                <a:cs typeface="Times New Roman"/>
              </a:rPr>
              <a:t>wriggles)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glass</a:t>
            </a:r>
            <a:r>
              <a:rPr dirty="0" sz="1200">
                <a:latin typeface="Times New Roman"/>
                <a:cs typeface="Times New Roman"/>
              </a:rPr>
              <a:t> tube.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gardener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(whistle,</a:t>
            </a:r>
            <a:r>
              <a:rPr dirty="0" sz="1200" spc="-5">
                <a:latin typeface="Times New Roman"/>
                <a:cs typeface="Times New Roman"/>
              </a:rPr>
              <a:t> whistles)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gardeners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(whistle,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whistles)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Subject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5" b="1">
                <a:latin typeface="Times New Roman"/>
                <a:cs typeface="Times New Roman"/>
              </a:rPr>
              <a:t> Verb separated by</a:t>
            </a:r>
            <a:r>
              <a:rPr dirty="0" sz="1200" b="1">
                <a:latin typeface="Times New Roman"/>
                <a:cs typeface="Times New Roman"/>
              </a:rPr>
              <a:t> Prepositional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Phrase.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Having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revised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in subject-verb </a:t>
            </a:r>
            <a:r>
              <a:rPr dirty="0" sz="1200" spc="-5">
                <a:latin typeface="Times New Roman"/>
                <a:cs typeface="Times New Roman"/>
              </a:rPr>
              <a:t>agreement.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4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verb, 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coming first.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1st </a:t>
            </a:r>
            <a:r>
              <a:rPr dirty="0" sz="1200">
                <a:latin typeface="Times New Roman"/>
                <a:cs typeface="Times New Roman"/>
              </a:rPr>
              <a:t>type of problem situation occurs when the subject and verb do not occur side 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Most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shops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 Mall</a:t>
            </a:r>
            <a:r>
              <a:rPr dirty="0" sz="1200" spc="-5" i="1">
                <a:latin typeface="Times New Roman"/>
                <a:cs typeface="Times New Roman"/>
              </a:rPr>
              <a:t> Road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sales this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above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sentence,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prepositional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on</a:t>
            </a:r>
            <a:r>
              <a:rPr dirty="0" sz="1200" spc="15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Mall</a:t>
            </a:r>
            <a:r>
              <a:rPr dirty="0" sz="1200" spc="15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Road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separates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10" b="1" i="1">
                <a:latin typeface="Times New Roman"/>
                <a:cs typeface="Times New Roman"/>
              </a:rPr>
              <a:t>shops </a:t>
            </a:r>
            <a:r>
              <a:rPr dirty="0" sz="1200" spc="-29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the verb </a:t>
            </a:r>
            <a:r>
              <a:rPr dirty="0" sz="1200" spc="-5" b="1" i="1">
                <a:latin typeface="Times New Roman"/>
                <a:cs typeface="Times New Roman"/>
              </a:rPr>
              <a:t>are having</a:t>
            </a:r>
            <a:r>
              <a:rPr dirty="0" sz="1200" spc="-5">
                <a:latin typeface="Times New Roman"/>
                <a:cs typeface="Times New Roman"/>
              </a:rPr>
              <a:t>. A prepositional phrase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group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begins </a:t>
            </a:r>
            <a:r>
              <a:rPr dirty="0" sz="1200">
                <a:latin typeface="Times New Roman"/>
                <a:cs typeface="Times New Roman"/>
              </a:rPr>
              <a:t>with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preposition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i="1">
                <a:latin typeface="Times New Roman"/>
                <a:cs typeface="Times New Roman"/>
              </a:rPr>
              <a:t>such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5" b="1" i="1">
                <a:latin typeface="Times New Roman"/>
                <a:cs typeface="Times New Roman"/>
              </a:rPr>
              <a:t>, in, on, </a:t>
            </a:r>
            <a:r>
              <a:rPr dirty="0" sz="1200" b="1" i="1">
                <a:latin typeface="Times New Roman"/>
                <a:cs typeface="Times New Roman"/>
              </a:rPr>
              <a:t>for,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from,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of,</a:t>
            </a:r>
            <a:r>
              <a:rPr dirty="0" sz="1200" spc="-5" b="1" i="1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)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15"/>
              </a:lnSpc>
              <a:tabLst>
                <a:tab pos="1383665" algn="l"/>
                <a:tab pos="1841500" algn="l"/>
              </a:tabLst>
            </a:pPr>
            <a:r>
              <a:rPr dirty="0" sz="1200" spc="-5">
                <a:latin typeface="Times New Roman"/>
                <a:cs typeface="Times New Roman"/>
              </a:rPr>
              <a:t>S	V	V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Most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shops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Road,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 having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sales this </a:t>
            </a:r>
            <a:r>
              <a:rPr dirty="0" sz="1200" i="1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prepositional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Let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 </a:t>
            </a:r>
            <a:r>
              <a:rPr dirty="0" sz="1200" spc="-5">
                <a:latin typeface="Times New Roman"/>
                <a:cs typeface="Times New Roman"/>
              </a:rPr>
              <a:t>practice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finding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 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prepositional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Practice2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 indent="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identify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prepositional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pick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each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 </a:t>
            </a:r>
            <a:r>
              <a:rPr dirty="0" sz="1200" spc="-5">
                <a:latin typeface="Times New Roman"/>
                <a:cs typeface="Times New Roman"/>
              </a:rPr>
              <a:t>spot the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agrees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subject.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2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One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my </a:t>
            </a:r>
            <a:r>
              <a:rPr dirty="0" sz="1200" i="1">
                <a:latin typeface="Times New Roman"/>
                <a:cs typeface="Times New Roman"/>
              </a:rPr>
              <a:t>best </a:t>
            </a:r>
            <a:r>
              <a:rPr dirty="0" sz="1200" spc="-5" i="1">
                <a:latin typeface="Times New Roman"/>
                <a:cs typeface="Times New Roman"/>
              </a:rPr>
              <a:t>friends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lives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Dubai.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wafer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ice</a:t>
            </a:r>
            <a:r>
              <a:rPr dirty="0" sz="1200" spc="-5" i="1">
                <a:latin typeface="Times New Roman"/>
                <a:cs typeface="Times New Roman"/>
              </a:rPr>
              <a:t> cream</a:t>
            </a:r>
            <a:r>
              <a:rPr dirty="0" sz="1200" i="1">
                <a:latin typeface="Times New Roman"/>
                <a:cs typeface="Times New Roman"/>
              </a:rPr>
              <a:t> taste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</a:t>
            </a:r>
            <a:r>
              <a:rPr dirty="0" sz="1200" spc="-5" i="1">
                <a:latin typeface="Times New Roman"/>
                <a:cs typeface="Times New Roman"/>
              </a:rPr>
              <a:t> tastes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5" i="1">
                <a:latin typeface="Times New Roman"/>
                <a:cs typeface="Times New Roman"/>
              </a:rPr>
              <a:t> sawdust.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Many </a:t>
            </a:r>
            <a:r>
              <a:rPr dirty="0" sz="1200" spc="-5" i="1">
                <a:latin typeface="Times New Roman"/>
                <a:cs typeface="Times New Roman"/>
              </a:rPr>
              <a:t>people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Indo-Pak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subcontinent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speaks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speak </a:t>
            </a:r>
            <a:r>
              <a:rPr dirty="0" sz="1200" spc="-5" i="1">
                <a:latin typeface="Times New Roman"/>
                <a:cs typeface="Times New Roman"/>
              </a:rPr>
              <a:t>several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languages.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-5" i="1">
                <a:latin typeface="Times New Roman"/>
                <a:cs typeface="Times New Roman"/>
              </a:rPr>
              <a:t> person</a:t>
            </a:r>
            <a:r>
              <a:rPr dirty="0" sz="1200" i="1">
                <a:latin typeface="Times New Roman"/>
                <a:cs typeface="Times New Roman"/>
              </a:rPr>
              <a:t> in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class</a:t>
            </a:r>
            <a:r>
              <a:rPr dirty="0" sz="1200" i="1">
                <a:latin typeface="Times New Roman"/>
                <a:cs typeface="Times New Roman"/>
              </a:rPr>
              <a:t> sleep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 </a:t>
            </a:r>
            <a:r>
              <a:rPr dirty="0" sz="1200" spc="-5" i="1">
                <a:latin typeface="Times New Roman"/>
                <a:cs typeface="Times New Roman"/>
              </a:rPr>
              <a:t>sleeps</a:t>
            </a:r>
            <a:r>
              <a:rPr dirty="0" sz="1200" i="1">
                <a:latin typeface="Times New Roman"/>
                <a:cs typeface="Times New Roman"/>
              </a:rPr>
              <a:t> through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 </a:t>
            </a:r>
            <a:r>
              <a:rPr dirty="0" sz="1200" i="1">
                <a:latin typeface="Times New Roman"/>
                <a:cs typeface="Times New Roman"/>
              </a:rPr>
              <a:t>lecture.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toddler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swings is</a:t>
            </a:r>
            <a:r>
              <a:rPr dirty="0" sz="1200" i="1">
                <a:latin typeface="Times New Roman"/>
                <a:cs typeface="Times New Roman"/>
              </a:rPr>
              <a:t> /</a:t>
            </a:r>
            <a:r>
              <a:rPr dirty="0" sz="1200" spc="-5" i="1">
                <a:latin typeface="Times New Roman"/>
                <a:cs typeface="Times New Roman"/>
              </a:rPr>
              <a:t> are my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nephew.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75"/>
              </a:lnSpc>
              <a:tabLst>
                <a:tab pos="1354455" algn="l"/>
                <a:tab pos="2667000" algn="l"/>
              </a:tabLst>
            </a:pPr>
            <a:r>
              <a:rPr dirty="0" sz="1200" spc="-5">
                <a:latin typeface="Times New Roman"/>
                <a:cs typeface="Times New Roman"/>
              </a:rPr>
              <a:t>S	PP	V</a:t>
            </a:r>
            <a:endParaRPr sz="1200">
              <a:latin typeface="Times New Roman"/>
              <a:cs typeface="Times New Roman"/>
            </a:endParaRPr>
          </a:p>
          <a:p>
            <a:pPr marL="165100" marR="2926080" indent="-165100">
              <a:lnSpc>
                <a:spcPts val="1380"/>
              </a:lnSpc>
              <a:spcBef>
                <a:spcPts val="65"/>
              </a:spcBef>
              <a:buFont typeface="Times New Roman"/>
              <a:buAutoNum type="arabicPeriod"/>
              <a:tabLst>
                <a:tab pos="165100" algn="l"/>
                <a:tab pos="1316355" algn="l"/>
                <a:tab pos="2078355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Dubai)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	</a:t>
            </a:r>
            <a:r>
              <a:rPr dirty="0" sz="1200">
                <a:latin typeface="Times New Roman"/>
                <a:cs typeface="Times New Roman"/>
              </a:rPr>
              <a:t>pp	v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wafer (in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ice </a:t>
            </a:r>
            <a:r>
              <a:rPr dirty="0" sz="1200" spc="-5">
                <a:latin typeface="Times New Roman"/>
                <a:cs typeface="Times New Roman"/>
              </a:rPr>
              <a:t>cream)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tastes</a:t>
            </a:r>
            <a:r>
              <a:rPr dirty="0" sz="1200">
                <a:latin typeface="Times New Roman"/>
                <a:cs typeface="Times New Roman"/>
              </a:rPr>
              <a:t> like</a:t>
            </a:r>
            <a:r>
              <a:rPr dirty="0" sz="1200" spc="-5">
                <a:latin typeface="Times New Roman"/>
                <a:cs typeface="Times New Roman"/>
              </a:rPr>
              <a:t> sawdust.</a:t>
            </a:r>
            <a:endParaRPr sz="1200">
              <a:latin typeface="Times New Roman"/>
              <a:cs typeface="Times New Roman"/>
            </a:endParaRPr>
          </a:p>
          <a:p>
            <a:pPr marL="660400">
              <a:lnSpc>
                <a:spcPts val="1380"/>
              </a:lnSpc>
              <a:tabLst>
                <a:tab pos="1583055" algn="l"/>
                <a:tab pos="3030855" algn="l"/>
                <a:tab pos="4097654" algn="l"/>
              </a:tabLst>
            </a:pPr>
            <a:r>
              <a:rPr dirty="0" sz="1200" spc="-5">
                <a:latin typeface="Times New Roman"/>
                <a:cs typeface="Times New Roman"/>
              </a:rPr>
              <a:t>S	</a:t>
            </a:r>
            <a:r>
              <a:rPr dirty="0" sz="1200">
                <a:latin typeface="Times New Roman"/>
                <a:cs typeface="Times New Roman"/>
              </a:rPr>
              <a:t>pp	v	v</a:t>
            </a:r>
            <a:endParaRPr sz="1200">
              <a:latin typeface="Times New Roman"/>
              <a:cs typeface="Times New Roman"/>
            </a:endParaRPr>
          </a:p>
          <a:p>
            <a:pPr marL="165100" marR="1484630" indent="-165100">
              <a:lnSpc>
                <a:spcPts val="1380"/>
              </a:lnSpc>
              <a:spcBef>
                <a:spcPts val="65"/>
              </a:spcBef>
              <a:buAutoNum type="arabicPeriod" startAt="3"/>
              <a:tabLst>
                <a:tab pos="165100" algn="l"/>
                <a:tab pos="1163955" algn="l"/>
                <a:tab pos="1811655" algn="l"/>
              </a:tabLst>
            </a:pP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Indo-Pak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subcontinent)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	pp	</a:t>
            </a:r>
            <a:r>
              <a:rPr dirty="0" sz="1200">
                <a:latin typeface="Times New Roman"/>
                <a:cs typeface="Times New Roman"/>
              </a:rPr>
              <a:t>v</a:t>
            </a:r>
            <a:endParaRPr sz="1200">
              <a:latin typeface="Times New Roman"/>
              <a:cs typeface="Times New Roman"/>
            </a:endParaRPr>
          </a:p>
          <a:p>
            <a:pPr marL="165735" marR="2667000" indent="-165735">
              <a:lnSpc>
                <a:spcPts val="1380"/>
              </a:lnSpc>
              <a:buAutoNum type="arabicPeriod" startAt="3"/>
              <a:tabLst>
                <a:tab pos="165735" algn="l"/>
                <a:tab pos="1278255" algn="l"/>
                <a:tab pos="1887855" algn="l"/>
              </a:tabLst>
            </a:pP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>
                <a:latin typeface="Times New Roman"/>
                <a:cs typeface="Times New Roman"/>
              </a:rPr>
              <a:t>person (in </a:t>
            </a:r>
            <a:r>
              <a:rPr dirty="0" sz="1200" spc="-5">
                <a:latin typeface="Times New Roman"/>
                <a:cs typeface="Times New Roman"/>
              </a:rPr>
              <a:t>my class) sleeps </a:t>
            </a:r>
            <a:r>
              <a:rPr dirty="0" sz="1200">
                <a:latin typeface="Times New Roman"/>
                <a:cs typeface="Times New Roman"/>
              </a:rPr>
              <a:t>though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lecture.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	</a:t>
            </a:r>
            <a:r>
              <a:rPr dirty="0" sz="1200">
                <a:latin typeface="Times New Roman"/>
                <a:cs typeface="Times New Roman"/>
              </a:rPr>
              <a:t>pp	v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45"/>
              </a:lnSpc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toddler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swings)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nephew.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Verb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Before</a:t>
            </a:r>
            <a:r>
              <a:rPr dirty="0" sz="1200" spc="-5" b="1">
                <a:latin typeface="Times New Roman"/>
                <a:cs typeface="Times New Roman"/>
              </a:rPr>
              <a:t> the Subject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178816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English sentences, the verb </a:t>
            </a:r>
            <a:r>
              <a:rPr dirty="0" sz="1200" spc="-5">
                <a:latin typeface="Times New Roman"/>
                <a:cs typeface="Times New Roman"/>
              </a:rPr>
              <a:t>usually follows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(saw)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film.</a:t>
            </a:r>
            <a:endParaRPr sz="1200">
              <a:latin typeface="Times New Roman"/>
              <a:cs typeface="Times New Roman"/>
            </a:endParaRPr>
          </a:p>
          <a:p>
            <a:pPr marL="12700" marR="3662679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(dropped)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(crashed)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sentences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before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often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questions, or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may begin with prepositional phrases or word groups </a:t>
            </a:r>
            <a:r>
              <a:rPr dirty="0" sz="1200">
                <a:latin typeface="Times New Roman"/>
                <a:cs typeface="Times New Roman"/>
              </a:rPr>
              <a:t>like </a:t>
            </a:r>
            <a:r>
              <a:rPr dirty="0" sz="1200" spc="-5" i="1">
                <a:latin typeface="Times New Roman"/>
                <a:cs typeface="Times New Roman"/>
              </a:rPr>
              <a:t>There is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Here </a:t>
            </a:r>
            <a:r>
              <a:rPr dirty="0" sz="1200" i="1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0"/>
              </a:lnSpc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(saw)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film.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(dropped)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from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 </a:t>
            </a:r>
            <a:r>
              <a:rPr dirty="0" sz="1200" i="1">
                <a:latin typeface="Times New Roman"/>
                <a:cs typeface="Times New Roman"/>
              </a:rPr>
              <a:t>hands.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993208"/>
            <a:ext cx="1116965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plane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(crashed)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172</a:t>
            </a:fld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544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i.</a:t>
            </a:r>
            <a:r>
              <a:rPr dirty="0" sz="1200" spc="-5">
                <a:latin typeface="Times New Roman"/>
                <a:cs typeface="Times New Roman"/>
              </a:rPr>
              <a:t> 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result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cricket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match?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31445" indent="-119380">
              <a:lnSpc>
                <a:spcPts val="1410"/>
              </a:lnSpc>
              <a:buFont typeface="Times New Roman"/>
              <a:buAutoNum type="romanLcPeriod"/>
              <a:tabLst>
                <a:tab pos="132080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 was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result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cricket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match?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result,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cricket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match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prepositional phrase).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Remember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sentence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prepositional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phrase.</a:t>
            </a:r>
            <a:endParaRPr sz="1200">
              <a:latin typeface="Times New Roman"/>
              <a:cs typeface="Times New Roman"/>
            </a:endParaRPr>
          </a:p>
          <a:p>
            <a:pPr marL="173990" indent="-161925">
              <a:lnSpc>
                <a:spcPts val="1380"/>
              </a:lnSpc>
              <a:buFont typeface="Times New Roman"/>
              <a:buAutoNum type="romanLcPeriod" startAt="2"/>
              <a:tabLst>
                <a:tab pos="174625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unemployed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teachers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district.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(Plural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 </a:t>
            </a:r>
            <a:r>
              <a:rPr dirty="0" sz="1200">
                <a:latin typeface="Times New Roman"/>
                <a:cs typeface="Times New Roman"/>
              </a:rPr>
              <a:t>subj).</a:t>
            </a:r>
            <a:endParaRPr sz="1200">
              <a:latin typeface="Times New Roman"/>
              <a:cs typeface="Times New Roman"/>
            </a:endParaRPr>
          </a:p>
          <a:p>
            <a:pPr marL="216535" indent="-204470">
              <a:lnSpc>
                <a:spcPts val="1380"/>
              </a:lnSpc>
              <a:buFont typeface="Times New Roman"/>
              <a:buAutoNum type="romanLcPeriod" startAt="2"/>
              <a:tabLst>
                <a:tab pos="217170" algn="l"/>
              </a:tabLst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lesson.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subj)</a:t>
            </a:r>
            <a:endParaRPr sz="1200">
              <a:latin typeface="Times New Roman"/>
              <a:cs typeface="Times New Roman"/>
            </a:endParaRPr>
          </a:p>
          <a:p>
            <a:pPr marL="207645" indent="-195580">
              <a:lnSpc>
                <a:spcPts val="1380"/>
              </a:lnSpc>
              <a:buFont typeface="Times New Roman"/>
              <a:buAutoNum type="romanLcPeriod" startAt="2"/>
              <a:tabLst>
                <a:tab pos="208279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photographs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(Pl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Font typeface="Times New Roman"/>
              <a:buAutoNum type="romanL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purpose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lecture?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“who?”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“what”.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‘what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district?”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“unemployed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teachers”,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subject.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‘what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here?’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disk’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the subject.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5120132"/>
            <a:ext cx="371919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31445" indent="-119380">
              <a:lnSpc>
                <a:spcPts val="1380"/>
              </a:lnSpc>
              <a:buAutoNum type="romanLcPeriod"/>
              <a:tabLst>
                <a:tab pos="13208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cupboard?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Underneath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live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colonies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ants.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380"/>
              </a:lnSpc>
              <a:buAutoNum type="romanLcPeriod"/>
              <a:tabLst>
                <a:tab pos="21653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garden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grow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grows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herbs.</a:t>
            </a:r>
            <a:endParaRPr sz="1200">
              <a:latin typeface="Times New Roman"/>
              <a:cs typeface="Times New Roman"/>
            </a:endParaRPr>
          </a:p>
          <a:p>
            <a:pPr marL="207645" indent="-195580">
              <a:lnSpc>
                <a:spcPts val="1380"/>
              </a:lnSpc>
              <a:buAutoNum type="romanLcPeriod"/>
              <a:tabLst>
                <a:tab pos="208279" algn="l"/>
              </a:tabLst>
            </a:pPr>
            <a:r>
              <a:rPr dirty="0" sz="1200" spc="-5">
                <a:latin typeface="Times New Roman"/>
                <a:cs typeface="Times New Roman"/>
              </a:rPr>
              <a:t>Why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be right?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roman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/</a:t>
            </a:r>
            <a:r>
              <a:rPr dirty="0" sz="1200" spc="-5" b="1">
                <a:latin typeface="Times New Roman"/>
                <a:cs typeface="Times New Roman"/>
              </a:rPr>
              <a:t>are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173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987953" y="5645911"/>
            <a:ext cx="635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6348476"/>
            <a:ext cx="5627370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Indefinite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Pronoun </a:t>
            </a:r>
            <a:r>
              <a:rPr dirty="0" sz="1200" spc="-10" b="1">
                <a:latin typeface="Times New Roman"/>
                <a:cs typeface="Times New Roman"/>
              </a:rPr>
              <a:t>Subject: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third situation that can pose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in subject-verb </a:t>
            </a:r>
            <a:r>
              <a:rPr dirty="0" sz="1200" spc="-5">
                <a:latin typeface="Times New Roman"/>
                <a:cs typeface="Times New Roman"/>
              </a:rPr>
              <a:t>agreement is </a:t>
            </a:r>
            <a:r>
              <a:rPr dirty="0" sz="1200">
                <a:latin typeface="Times New Roman"/>
                <a:cs typeface="Times New Roman"/>
              </a:rPr>
              <a:t>when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 pronoun subject. Indefinite pronouns are pronouns that do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 to a </a:t>
            </a:r>
            <a:r>
              <a:rPr dirty="0" sz="1200" spc="-5">
                <a:latin typeface="Times New Roman"/>
                <a:cs typeface="Times New Roman"/>
              </a:rPr>
              <a:t>specific </a:t>
            </a:r>
            <a:r>
              <a:rPr dirty="0" sz="1200">
                <a:latin typeface="Times New Roman"/>
                <a:cs typeface="Times New Roman"/>
              </a:rPr>
              <a:t> person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96950" y="7427804"/>
          <a:ext cx="3568700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050"/>
                <a:gridCol w="946150"/>
                <a:gridCol w="1195705"/>
                <a:gridCol w="899794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78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Either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everyone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92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everybody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everything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Neither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492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016000" y="8274810"/>
            <a:ext cx="562610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900" indent="-2286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always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singular.</a:t>
            </a:r>
            <a:endParaRPr sz="1200">
              <a:latin typeface="Times New Roman"/>
              <a:cs typeface="Times New Roman"/>
            </a:endParaRPr>
          </a:p>
          <a:p>
            <a:pPr marL="469900" indent="-228600">
              <a:lnSpc>
                <a:spcPts val="141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Note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subject-verb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</a:t>
            </a:r>
            <a:r>
              <a:rPr dirty="0" sz="1200">
                <a:latin typeface="Times New Roman"/>
                <a:cs typeface="Times New Roman"/>
              </a:rPr>
              <a:t> in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pronouns </a:t>
            </a:r>
            <a:r>
              <a:rPr dirty="0" sz="1200" spc="-5">
                <a:latin typeface="Times New Roman"/>
                <a:cs typeface="Times New Roman"/>
              </a:rPr>
              <a:t> subject.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80"/>
              </a:lnSpc>
              <a:buAutoNum type="romanLcPeriod"/>
              <a:tabLst>
                <a:tab pos="131445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of those correspondence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open.</a:t>
            </a:r>
            <a:r>
              <a:rPr dirty="0" sz="1200">
                <a:latin typeface="Times New Roman"/>
                <a:cs typeface="Times New Roman"/>
              </a:rPr>
              <a:t> (Sing</a:t>
            </a:r>
            <a:r>
              <a:rPr dirty="0" sz="1200" spc="-5">
                <a:latin typeface="Times New Roman"/>
                <a:cs typeface="Times New Roman"/>
              </a:rPr>
              <a:t> sub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3864610">
              <a:lnSpc>
                <a:spcPts val="1380"/>
              </a:lnSpc>
              <a:spcBef>
                <a:spcPts val="70"/>
              </a:spcBef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parents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alive.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neither</a:t>
            </a:r>
            <a:r>
              <a:rPr dirty="0" sz="1200" spc="-5">
                <a:latin typeface="Times New Roman"/>
                <a:cs typeface="Times New Roman"/>
              </a:rPr>
              <a:t>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3569970">
              <a:lnSpc>
                <a:spcPts val="1380"/>
              </a:lnSpc>
              <a:buAutoNum type="romanLcPeriod"/>
              <a:tabLst>
                <a:tab pos="216535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Somebody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(Sing.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somebody</a:t>
            </a:r>
            <a:r>
              <a:rPr dirty="0" sz="1200" spc="-5">
                <a:latin typeface="Times New Roman"/>
                <a:cs typeface="Times New Roman"/>
              </a:rPr>
              <a:t>; </a:t>
            </a:r>
            <a:r>
              <a:rPr dirty="0" sz="1200">
                <a:latin typeface="Times New Roman"/>
                <a:cs typeface="Times New Roman"/>
              </a:rPr>
              <a:t>sing.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45"/>
              </a:lnSpc>
              <a:buAutoNum type="romanL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Nearby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5">
                <a:latin typeface="Times New Roman"/>
                <a:cs typeface="Times New Roman"/>
              </a:rPr>
              <a:t> class owns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computer. </a:t>
            </a:r>
            <a:r>
              <a:rPr dirty="0" sz="1200">
                <a:latin typeface="Times New Roman"/>
                <a:cs typeface="Times New Roman"/>
              </a:rPr>
              <a:t>(Sing sub.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Everyone</a:t>
            </a:r>
            <a:r>
              <a:rPr dirty="0" sz="1200">
                <a:latin typeface="Times New Roman"/>
                <a:cs typeface="Times New Roman"/>
              </a:rPr>
              <a:t>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owns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Note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subject-verb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</a:t>
            </a:r>
            <a:r>
              <a:rPr dirty="0" sz="1200">
                <a:latin typeface="Times New Roman"/>
                <a:cs typeface="Times New Roman"/>
              </a:rPr>
              <a:t> in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pronouns </a:t>
            </a:r>
            <a:r>
              <a:rPr dirty="0" sz="1200" spc="-5">
                <a:latin typeface="Times New Roman"/>
                <a:cs typeface="Times New Roman"/>
              </a:rPr>
              <a:t> subject.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15"/>
              </a:lnSpc>
              <a:buAutoNum type="romanLcPeriod"/>
              <a:tabLst>
                <a:tab pos="131445" algn="l"/>
              </a:tabLst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 </a:t>
            </a:r>
            <a:r>
              <a:rPr dirty="0" sz="1200" spc="-5">
                <a:latin typeface="Times New Roman"/>
                <a:cs typeface="Times New Roman"/>
              </a:rPr>
              <a:t>correspondence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parents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alive.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380"/>
              </a:lnSpc>
              <a:buAutoNum type="romanLcPeriod"/>
              <a:tabLst>
                <a:tab pos="216535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Somebody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410"/>
              </a:lnSpc>
              <a:buAutoNum type="romanL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Nearby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Practice4.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31445" indent="-118745">
              <a:lnSpc>
                <a:spcPts val="1380"/>
              </a:lnSpc>
              <a:buAutoNum type="romanLcPeriod"/>
              <a:tabLst>
                <a:tab pos="131445" algn="l"/>
              </a:tabLst>
            </a:pPr>
            <a:r>
              <a:rPr dirty="0" sz="1200" spc="-5">
                <a:latin typeface="Times New Roman"/>
                <a:cs typeface="Times New Roman"/>
              </a:rPr>
              <a:t>‘Everything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crate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goes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upstairs’,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phones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works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380"/>
              </a:lnSpc>
              <a:buAutoNum type="romanLcPeriod"/>
              <a:tabLst>
                <a:tab pos="216535" algn="l"/>
              </a:tabLst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favors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favor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cheat.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80"/>
              </a:lnSpc>
              <a:buAutoNum type="romanL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appear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appears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nibbled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person.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roman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sound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sounds </a:t>
            </a:r>
            <a:r>
              <a:rPr dirty="0" sz="1200" spc="-5">
                <a:latin typeface="Times New Roman"/>
                <a:cs typeface="Times New Roman"/>
              </a:rPr>
              <a:t>suspicious.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Compound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Subjects</a:t>
            </a:r>
            <a:endParaRPr sz="1200">
              <a:latin typeface="Times New Roman"/>
              <a:cs typeface="Times New Roman"/>
            </a:endParaRPr>
          </a:p>
          <a:p>
            <a:pPr marL="12700" marR="271780" indent="3810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subject-verb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compound </a:t>
            </a:r>
            <a:r>
              <a:rPr dirty="0" sz="1200">
                <a:latin typeface="Times New Roman"/>
                <a:cs typeface="Times New Roman"/>
              </a:rPr>
              <a:t>subjects.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Compound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Subjects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Usually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, 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 verb.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80"/>
              </a:lnSpc>
              <a:buAutoNum type="romanLcPeriod"/>
              <a:tabLst>
                <a:tab pos="131445" algn="l"/>
              </a:tabLst>
            </a:pPr>
            <a:r>
              <a:rPr dirty="0" sz="1200">
                <a:latin typeface="Times New Roman"/>
                <a:cs typeface="Times New Roman"/>
              </a:rPr>
              <a:t>Petrol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repairs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biggest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expenses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VCRs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Cameras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rent.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410"/>
              </a:lnSpc>
              <a:buAutoNum type="romanLcPeriod"/>
              <a:tabLst>
                <a:tab pos="216535" algn="l"/>
              </a:tabLst>
            </a:pPr>
            <a:r>
              <a:rPr dirty="0" sz="1200" spc="-5">
                <a:latin typeface="Times New Roman"/>
                <a:cs typeface="Times New Roman"/>
              </a:rPr>
              <a:t>Crockery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cutlery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included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lain" startAt="2"/>
              <a:tabLst>
                <a:tab pos="18288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compound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either…or,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neither…nor,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only…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verb agrees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-Either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mango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ice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cream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specialty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Saturday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dining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hall.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-Either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mango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ice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cream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specialty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Saturday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dining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 startAt="3"/>
              <a:tabLst>
                <a:tab pos="19240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While </a:t>
            </a:r>
            <a:r>
              <a:rPr dirty="0" sz="1200">
                <a:latin typeface="Times New Roman"/>
                <a:cs typeface="Times New Roman"/>
              </a:rPr>
              <a:t>most indefinite pronouns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each, </a:t>
            </a:r>
            <a:r>
              <a:rPr dirty="0" sz="1200" spc="-5" i="1">
                <a:latin typeface="Times New Roman"/>
                <a:cs typeface="Times New Roman"/>
              </a:rPr>
              <a:t>everyone, </a:t>
            </a:r>
            <a:r>
              <a:rPr dirty="0" sz="1200" i="1">
                <a:latin typeface="Times New Roman"/>
                <a:cs typeface="Times New Roman"/>
              </a:rPr>
              <a:t>one </a:t>
            </a:r>
            <a:r>
              <a:rPr dirty="0" sz="1200" spc="-5" i="1">
                <a:latin typeface="Times New Roman"/>
                <a:cs typeface="Times New Roman"/>
              </a:rPr>
              <a:t>somebody </a:t>
            </a:r>
            <a:r>
              <a:rPr dirty="0" sz="1200">
                <a:latin typeface="Times New Roman"/>
                <a:cs typeface="Times New Roman"/>
              </a:rPr>
              <a:t>etc. are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singular, </a:t>
            </a:r>
            <a:r>
              <a:rPr dirty="0" sz="1200">
                <a:latin typeface="Times New Roman"/>
                <a:cs typeface="Times New Roman"/>
              </a:rPr>
              <a:t>there are a </a:t>
            </a:r>
            <a:r>
              <a:rPr dirty="0" sz="1200" spc="-5">
                <a:latin typeface="Times New Roman"/>
                <a:cs typeface="Times New Roman"/>
              </a:rPr>
              <a:t>few pronouns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-5">
                <a:latin typeface="Times New Roman"/>
                <a:cs typeface="Times New Roman"/>
              </a:rPr>
              <a:t>not.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pronouns </a:t>
            </a:r>
            <a:r>
              <a:rPr dirty="0" sz="1200" b="1" i="1">
                <a:latin typeface="Times New Roman"/>
                <a:cs typeface="Times New Roman"/>
              </a:rPr>
              <a:t>both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b="1" i="1">
                <a:latin typeface="Times New Roman"/>
                <a:cs typeface="Times New Roman"/>
              </a:rPr>
              <a:t>a few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 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require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e.g. - Both of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aunts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play</a:t>
            </a:r>
            <a:r>
              <a:rPr dirty="0" sz="1200">
                <a:latin typeface="Times New Roman"/>
                <a:cs typeface="Times New Roman"/>
              </a:rPr>
              <a:t> the sitar and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professionally. </a:t>
            </a:r>
            <a:r>
              <a:rPr dirty="0" sz="1200" spc="-5">
                <a:latin typeface="Times New Roman"/>
                <a:cs typeface="Times New Roman"/>
              </a:rPr>
              <a:t>A few </a:t>
            </a:r>
            <a:r>
              <a:rPr dirty="0" sz="1200">
                <a:latin typeface="Times New Roman"/>
                <a:cs typeface="Times New Roman"/>
              </a:rPr>
              <a:t>of my </a:t>
            </a:r>
            <a:r>
              <a:rPr dirty="0" sz="1200" spc="-5">
                <a:latin typeface="Times New Roman"/>
                <a:cs typeface="Times New Roman"/>
              </a:rPr>
              <a:t>cousins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also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actors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174</a:t>
            </a:fld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7370" cy="791972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635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4. The pronouns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either </a:t>
            </a:r>
            <a:r>
              <a:rPr dirty="0" sz="1200" spc="-5">
                <a:latin typeface="Times New Roman"/>
                <a:cs typeface="Times New Roman"/>
              </a:rPr>
              <a:t>singular or plural </a:t>
            </a:r>
            <a:r>
              <a:rPr dirty="0" sz="1200">
                <a:latin typeface="Times New Roman"/>
                <a:cs typeface="Times New Roman"/>
              </a:rPr>
              <a:t>depending on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 hem. If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 after them are singular, </a:t>
            </a:r>
            <a:r>
              <a:rPr dirty="0" sz="1200">
                <a:latin typeface="Times New Roman"/>
                <a:cs typeface="Times New Roman"/>
              </a:rPr>
              <a:t>then they are </a:t>
            </a:r>
            <a:r>
              <a:rPr dirty="0" sz="1200" spc="-5">
                <a:latin typeface="Times New Roman"/>
                <a:cs typeface="Times New Roman"/>
              </a:rPr>
              <a:t>singular. If the words after </a:t>
            </a:r>
            <a:r>
              <a:rPr dirty="0" sz="1200">
                <a:latin typeface="Times New Roman"/>
                <a:cs typeface="Times New Roman"/>
              </a:rPr>
              <a:t> plural,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-Some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chicken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table.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(Since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chicken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singular,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-Some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guests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are</a:t>
            </a:r>
            <a:r>
              <a:rPr dirty="0" sz="1200" spc="-5" i="1">
                <a:latin typeface="Times New Roman"/>
                <a:cs typeface="Times New Roman"/>
              </a:rPr>
              <a:t> 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chicken.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(Since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guests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are’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997585" indent="3746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brackets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agrees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compound </a:t>
            </a:r>
            <a:r>
              <a:rPr dirty="0" sz="1200">
                <a:latin typeface="Times New Roman"/>
                <a:cs typeface="Times New Roman"/>
              </a:rPr>
              <a:t>subjects.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aunts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(stay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stays)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us</a:t>
            </a:r>
            <a:r>
              <a:rPr dirty="0" sz="1200">
                <a:latin typeface="Times New Roman"/>
                <a:cs typeface="Times New Roman"/>
              </a:rPr>
              <a:t> when they</a:t>
            </a:r>
            <a:r>
              <a:rPr dirty="0" sz="1200" spc="-5">
                <a:latin typeface="Times New Roman"/>
                <a:cs typeface="Times New Roman"/>
              </a:rPr>
              <a:t> come</a:t>
            </a:r>
            <a:r>
              <a:rPr dirty="0" sz="1200">
                <a:latin typeface="Times New Roman"/>
                <a:cs typeface="Times New Roman"/>
              </a:rPr>
              <a:t> to Lahore.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15"/>
              </a:lnSpc>
              <a:buAutoNum type="romanLcPeriod" startAt="2"/>
              <a:tabLst>
                <a:tab pos="173990" algn="l"/>
              </a:tabLst>
            </a:pPr>
            <a:r>
              <a:rPr dirty="0" sz="1200" spc="-5">
                <a:latin typeface="Times New Roman"/>
                <a:cs typeface="Times New Roman"/>
              </a:rPr>
              <a:t>(Is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are) the</a:t>
            </a:r>
            <a:r>
              <a:rPr dirty="0" sz="1200" spc="-5">
                <a:latin typeface="Times New Roman"/>
                <a:cs typeface="Times New Roman"/>
              </a:rPr>
              <a:t> actor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actresses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take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curtain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call?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380"/>
              </a:lnSpc>
              <a:buAutoNum type="romanLcPeriod" startAt="2"/>
              <a:tabLst>
                <a:tab pos="216535" algn="l"/>
              </a:tabLst>
            </a:pPr>
            <a:r>
              <a:rPr dirty="0" sz="1200">
                <a:latin typeface="Times New Roman"/>
                <a:cs typeface="Times New Roman"/>
              </a:rPr>
              <a:t>Ropes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clamp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(holds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hold)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mural.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80"/>
              </a:lnSpc>
              <a:buAutoNum type="romanLcPeriod" startAt="2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broken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 lights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 light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(was</a:t>
            </a:r>
            <a:r>
              <a:rPr dirty="0" sz="1200">
                <a:latin typeface="Times New Roman"/>
                <a:cs typeface="Times New Roman"/>
              </a:rPr>
              <a:t> /</a:t>
            </a:r>
            <a:r>
              <a:rPr dirty="0" sz="1200" spc="-5">
                <a:latin typeface="Times New Roman"/>
                <a:cs typeface="Times New Roman"/>
              </a:rPr>
              <a:t> were)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result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>
                <a:latin typeface="Times New Roman"/>
                <a:cs typeface="Times New Roman"/>
              </a:rPr>
              <a:t> bad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romanL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wicket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keeper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(require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requires)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fitness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certificate.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80"/>
              </a:lnSpc>
              <a:buAutoNum type="romanLcPeriod" startAt="2"/>
              <a:tabLst>
                <a:tab pos="20764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lecture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over.</a:t>
            </a:r>
            <a:endParaRPr sz="1200">
              <a:latin typeface="Times New Roman"/>
              <a:cs typeface="Times New Roman"/>
            </a:endParaRPr>
          </a:p>
          <a:p>
            <a:pPr marL="249554" indent="-237490">
              <a:lnSpc>
                <a:spcPts val="1380"/>
              </a:lnSpc>
              <a:buAutoNum type="romanLcPeriod" startAt="2"/>
              <a:tabLst>
                <a:tab pos="250190" algn="l"/>
              </a:tabLst>
            </a:pP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Jameela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daughter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(stay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stays)</a:t>
            </a:r>
            <a:r>
              <a:rPr dirty="0" sz="1200">
                <a:latin typeface="Times New Roman"/>
                <a:cs typeface="Times New Roman"/>
              </a:rPr>
              <a:t> at</a:t>
            </a:r>
            <a:r>
              <a:rPr dirty="0" sz="1200" spc="-5">
                <a:latin typeface="Times New Roman"/>
                <a:cs typeface="Times New Roman"/>
              </a:rPr>
              <a:t> home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 care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Iqbal.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  <a:buAutoNum type="romanLcPeriod" startAt="2"/>
              <a:tabLst>
                <a:tab pos="334010" algn="l"/>
              </a:tabLst>
            </a:pPr>
            <a:r>
              <a:rPr dirty="0" sz="1200" spc="-5">
                <a:latin typeface="Times New Roman"/>
                <a:cs typeface="Times New Roman"/>
              </a:rPr>
              <a:t>Neither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clerk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assistant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clerks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(has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corruption.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15"/>
              </a:lnSpc>
              <a:buAutoNum type="romanLcPeriod" startAt="2"/>
              <a:tabLst>
                <a:tab pos="207645" algn="l"/>
              </a:tabLst>
            </a:pP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Khalid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friends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(is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blame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romanLcPeriod" startAt="2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 few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strawberries</a:t>
            </a:r>
            <a:r>
              <a:rPr dirty="0" sz="1200" spc="-5">
                <a:latin typeface="Times New Roman"/>
                <a:cs typeface="Times New Roman"/>
              </a:rPr>
              <a:t> (tastes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taste)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funny.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two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subject-verb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agreement.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mistakes</a:t>
            </a:r>
            <a:r>
              <a:rPr dirty="0" sz="1200">
                <a:latin typeface="Times New Roman"/>
                <a:cs typeface="Times New Roman"/>
              </a:rPr>
              <a:t> and correct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buAutoNum type="romanLcPeriod"/>
              <a:tabLst>
                <a:tab pos="141605" algn="l"/>
              </a:tabLst>
            </a:pPr>
            <a:r>
              <a:rPr dirty="0" sz="1200">
                <a:latin typeface="Times New Roman"/>
                <a:cs typeface="Times New Roman"/>
              </a:rPr>
              <a:t>The rain </a:t>
            </a:r>
            <a:r>
              <a:rPr dirty="0" sz="1200" spc="-5">
                <a:latin typeface="Times New Roman"/>
                <a:cs typeface="Times New Roman"/>
              </a:rPr>
              <a:t>forests </a:t>
            </a:r>
            <a:r>
              <a:rPr dirty="0" sz="1200">
                <a:latin typeface="Times New Roman"/>
                <a:cs typeface="Times New Roman"/>
              </a:rPr>
              <a:t>of Brazil </a:t>
            </a:r>
            <a:r>
              <a:rPr dirty="0" sz="1200" spc="-5">
                <a:latin typeface="Times New Roman"/>
                <a:cs typeface="Times New Roman"/>
              </a:rPr>
              <a:t>is home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many species </a:t>
            </a:r>
            <a:r>
              <a:rPr dirty="0" sz="1200">
                <a:latin typeface="Times New Roman"/>
                <a:cs typeface="Times New Roman"/>
              </a:rPr>
              <a:t>of frogs. Nobody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world’s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scientists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 exactly 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many. </a:t>
            </a:r>
            <a:r>
              <a:rPr dirty="0" sz="1200">
                <a:latin typeface="Times New Roman"/>
                <a:cs typeface="Times New Roman"/>
              </a:rPr>
              <a:t>More types are being </a:t>
            </a:r>
            <a:r>
              <a:rPr dirty="0" sz="1200" spc="-5">
                <a:latin typeface="Times New Roman"/>
                <a:cs typeface="Times New Roman"/>
              </a:rPr>
              <a:t>discovered </a:t>
            </a:r>
            <a:r>
              <a:rPr dirty="0" sz="1200">
                <a:latin typeface="Times New Roman"/>
                <a:cs typeface="Times New Roman"/>
              </a:rPr>
              <a:t>all the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romanLcPeriod"/>
              <a:tabLst>
                <a:tab pos="183515" algn="l"/>
              </a:tabLst>
            </a:pPr>
            <a:r>
              <a:rPr dirty="0" sz="1200">
                <a:latin typeface="Times New Roman"/>
                <a:cs typeface="Times New Roman"/>
              </a:rPr>
              <a:t>The paint on the house and </a:t>
            </a:r>
            <a:r>
              <a:rPr dirty="0" sz="1200" spc="-5">
                <a:latin typeface="Times New Roman"/>
                <a:cs typeface="Times New Roman"/>
              </a:rPr>
              <a:t>garage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peeling. Also </a:t>
            </a:r>
            <a:r>
              <a:rPr dirty="0" sz="1200">
                <a:latin typeface="Times New Roman"/>
                <a:cs typeface="Times New Roman"/>
              </a:rPr>
              <a:t>each of the </a:t>
            </a:r>
            <a:r>
              <a:rPr dirty="0" sz="1200" spc="-5">
                <a:latin typeface="Times New Roman"/>
                <a:cs typeface="Times New Roman"/>
              </a:rPr>
              <a:t>buildings </a:t>
            </a:r>
            <a:r>
              <a:rPr dirty="0" sz="1200">
                <a:latin typeface="Times New Roman"/>
                <a:cs typeface="Times New Roman"/>
              </a:rPr>
              <a:t>need repairs.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romanLcPeriod"/>
              <a:tabLst>
                <a:tab pos="236220" algn="l"/>
              </a:tabLst>
            </a:pP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of our </a:t>
            </a:r>
            <a:r>
              <a:rPr dirty="0" sz="1200" spc="-5">
                <a:latin typeface="Times New Roman"/>
                <a:cs typeface="Times New Roman"/>
              </a:rPr>
              <a:t>professors always listens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students </a:t>
            </a:r>
            <a:r>
              <a:rPr dirty="0" sz="1200">
                <a:latin typeface="Times New Roman"/>
                <a:cs typeface="Times New Roman"/>
              </a:rPr>
              <a:t>and makes sure </a:t>
            </a:r>
            <a:r>
              <a:rPr dirty="0" sz="1200" spc="-5">
                <a:latin typeface="Times New Roman"/>
                <a:cs typeface="Times New Roman"/>
              </a:rPr>
              <a:t>they </a:t>
            </a:r>
            <a:r>
              <a:rPr dirty="0" sz="1200">
                <a:latin typeface="Times New Roman"/>
                <a:cs typeface="Times New Roman"/>
              </a:rPr>
              <a:t>understand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lecture. </a:t>
            </a:r>
            <a:r>
              <a:rPr dirty="0" sz="1200">
                <a:latin typeface="Times New Roman"/>
                <a:cs typeface="Times New Roman"/>
              </a:rPr>
              <a:t>Each of </a:t>
            </a:r>
            <a:r>
              <a:rPr dirty="0" sz="1200" spc="-5">
                <a:latin typeface="Times New Roman"/>
                <a:cs typeface="Times New Roman"/>
              </a:rPr>
              <a:t>his students </a:t>
            </a:r>
            <a:r>
              <a:rPr dirty="0" sz="1200">
                <a:latin typeface="Times New Roman"/>
                <a:cs typeface="Times New Roman"/>
              </a:rPr>
              <a:t>feel free to </a:t>
            </a:r>
            <a:r>
              <a:rPr dirty="0" sz="1200" spc="-5">
                <a:latin typeface="Times New Roman"/>
                <a:cs typeface="Times New Roman"/>
              </a:rPr>
              <a:t>ask questions. Also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tests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his classes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fair and clear.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Fill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correct 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22631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singular subject takes 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verb.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(Singular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239585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(Singula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plural)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75260" algn="l"/>
                <a:tab pos="221297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(singular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plural)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 to the end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verb.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  <a:tab pos="524319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sentence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prepositional phrase.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F)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  <a:tab pos="3846829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Compound</a:t>
            </a:r>
            <a:r>
              <a:rPr dirty="0" sz="1200">
                <a:latin typeface="Times New Roman"/>
                <a:cs typeface="Times New Roman"/>
              </a:rPr>
              <a:t> subjects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plural verb.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 / </a:t>
            </a:r>
            <a:r>
              <a:rPr dirty="0" sz="1200" spc="-10">
                <a:latin typeface="Times New Roman"/>
                <a:cs typeface="Times New Roman"/>
              </a:rPr>
              <a:t>F)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174</a:t>
            </a:fld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264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  <a:buAutoNum type="arabicPeriod" startAt="6"/>
              <a:tabLst>
                <a:tab pos="180975" algn="l"/>
                <a:tab pos="45345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anyone</a:t>
            </a:r>
            <a:r>
              <a:rPr dirty="0" sz="1200" spc="12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everybody</a:t>
            </a:r>
            <a:r>
              <a:rPr dirty="0" sz="1200" spc="12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verb.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(Singular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plural)</a:t>
            </a:r>
            <a:endParaRPr sz="1200">
              <a:latin typeface="Times New Roman"/>
              <a:cs typeface="Times New Roman"/>
            </a:endParaRPr>
          </a:p>
          <a:p>
            <a:pPr marL="213360" indent="-201295">
              <a:lnSpc>
                <a:spcPts val="1315"/>
              </a:lnSpc>
              <a:buAutoNum type="arabicPeriod" startAt="6"/>
              <a:tabLst>
                <a:tab pos="21399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pronouns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both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verbs.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8502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10" b="1">
                <a:latin typeface="Times New Roman"/>
                <a:cs typeface="Times New Roman"/>
              </a:rPr>
              <a:t>RECAP: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-verb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</a:t>
            </a:r>
            <a:r>
              <a:rPr dirty="0" sz="1200">
                <a:latin typeface="Times New Roman"/>
                <a:cs typeface="Times New Roman"/>
              </a:rPr>
              <a:t> within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awareness </a:t>
            </a:r>
            <a:r>
              <a:rPr dirty="0" sz="1200">
                <a:latin typeface="Times New Roman"/>
                <a:cs typeface="Times New Roman"/>
              </a:rPr>
              <a:t>of correctness can </a:t>
            </a:r>
            <a:r>
              <a:rPr dirty="0" sz="1200" spc="-5">
                <a:latin typeface="Times New Roman"/>
                <a:cs typeface="Times New Roman"/>
              </a:rPr>
              <a:t>improve </a:t>
            </a:r>
            <a:r>
              <a:rPr dirty="0" sz="1200">
                <a:latin typeface="Times New Roman"/>
                <a:cs typeface="Times New Roman"/>
              </a:rPr>
              <a:t>your written expression. </a:t>
            </a:r>
            <a:r>
              <a:rPr dirty="0" sz="1200" spc="-5">
                <a:latin typeface="Times New Roman"/>
                <a:cs typeface="Times New Roman"/>
              </a:rPr>
              <a:t>All good writers keep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aspects </a:t>
            </a:r>
            <a:r>
              <a:rPr dirty="0" sz="1200">
                <a:latin typeface="Times New Roman"/>
                <a:cs typeface="Times New Roman"/>
              </a:rPr>
              <a:t>of language and avoid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subject verb discrepancies, and you should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 to avoid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such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174</a:t>
            </a:fld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944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5182235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7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-27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earlier </a:t>
            </a:r>
            <a:r>
              <a:rPr dirty="0" sz="1200" spc="-5">
                <a:latin typeface="Times New Roman"/>
                <a:cs typeface="Times New Roman"/>
              </a:rPr>
              <a:t>lessons we </a:t>
            </a:r>
            <a:r>
              <a:rPr dirty="0" sz="1200">
                <a:latin typeface="Times New Roman"/>
                <a:cs typeface="Times New Roman"/>
              </a:rPr>
              <a:t>have been exploring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writing more effective </a:t>
            </a:r>
            <a:r>
              <a:rPr dirty="0" sz="1200" spc="-5">
                <a:latin typeface="Times New Roman"/>
                <a:cs typeface="Times New Roman"/>
              </a:rPr>
              <a:t>sentences.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today’s lesson we will look at pronouns, their agreement </a:t>
            </a:r>
            <a:r>
              <a:rPr dirty="0" sz="1200">
                <a:latin typeface="Times New Roman"/>
                <a:cs typeface="Times New Roman"/>
              </a:rPr>
              <a:t>reference and pint of view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essential</a:t>
            </a:r>
            <a:r>
              <a:rPr dirty="0" sz="1200">
                <a:latin typeface="Times New Roman"/>
                <a:cs typeface="Times New Roman"/>
              </a:rPr>
              <a:t> for good 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Pronouns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(Agreement,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Reference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Point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View)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stains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hotel sheets,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be</a:t>
            </a:r>
            <a:r>
              <a:rPr dirty="0" sz="1200" spc="-5">
                <a:latin typeface="Times New Roman"/>
                <a:cs typeface="Times New Roman"/>
              </a:rPr>
              <a:t> removed</a:t>
            </a:r>
            <a:r>
              <a:rPr dirty="0" sz="1200">
                <a:latin typeface="Times New Roman"/>
                <a:cs typeface="Times New Roman"/>
              </a:rPr>
              <a:t> 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People go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neighborhood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get </a:t>
            </a:r>
            <a:r>
              <a:rPr dirty="0" sz="1200" spc="-5">
                <a:latin typeface="Times New Roman"/>
                <a:cs typeface="Times New Roman"/>
              </a:rPr>
              <a:t>low-priced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meals.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Explanation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93675" algn="l"/>
              </a:tabLst>
            </a:pP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my </a:t>
            </a:r>
            <a:r>
              <a:rPr dirty="0" sz="1200" spc="-5">
                <a:latin typeface="Times New Roman"/>
                <a:cs typeface="Times New Roman"/>
              </a:rPr>
              <a:t>students required four to five chances to pass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spc="-5">
                <a:latin typeface="Times New Roman"/>
                <a:cs typeface="Times New Roman"/>
              </a:rPr>
              <a:t> driving test. (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-5">
                <a:latin typeface="Times New Roman"/>
                <a:cs typeface="Times New Roman"/>
              </a:rPr>
              <a:t> Pronoun,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it.)</a:t>
            </a: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  <a:buAutoNum type="arabicPeriod"/>
              <a:tabLst>
                <a:tab pos="166370" algn="l"/>
              </a:tabLst>
            </a:pPr>
            <a:r>
              <a:rPr dirty="0" sz="1200">
                <a:latin typeface="Times New Roman"/>
                <a:cs typeface="Times New Roman"/>
              </a:rPr>
              <a:t>If there are </a:t>
            </a:r>
            <a:r>
              <a:rPr dirty="0" sz="1200" spc="-5">
                <a:latin typeface="Times New Roman"/>
                <a:cs typeface="Times New Roman"/>
              </a:rPr>
              <a:t>stains </a:t>
            </a:r>
            <a:r>
              <a:rPr dirty="0" sz="1200">
                <a:latin typeface="Times New Roman"/>
                <a:cs typeface="Times New Roman"/>
              </a:rPr>
              <a:t>on any hotel </a:t>
            </a:r>
            <a:r>
              <a:rPr dirty="0" sz="1200" spc="-5">
                <a:latin typeface="Times New Roman"/>
                <a:cs typeface="Times New Roman"/>
              </a:rPr>
              <a:t>sheets,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sheets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be </a:t>
            </a:r>
            <a:r>
              <a:rPr dirty="0" sz="1200" spc="-5">
                <a:latin typeface="Times New Roman"/>
                <a:cs typeface="Times New Roman"/>
              </a:rPr>
              <a:t>removed </a:t>
            </a:r>
            <a:r>
              <a:rPr dirty="0" sz="1200">
                <a:latin typeface="Times New Roman"/>
                <a:cs typeface="Times New Roman"/>
              </a:rPr>
              <a:t>at once. </a:t>
            </a:r>
            <a:r>
              <a:rPr dirty="0" sz="1200" spc="-5">
                <a:latin typeface="Times New Roman"/>
                <a:cs typeface="Times New Roman"/>
              </a:rPr>
              <a:t>(Which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removed-stains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sheets?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Replacing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sheets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meaning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clear.)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eriod"/>
              <a:tabLst>
                <a:tab pos="167005" algn="l"/>
              </a:tabLst>
            </a:pPr>
            <a:r>
              <a:rPr dirty="0" sz="1200">
                <a:latin typeface="Times New Roman"/>
                <a:cs typeface="Times New Roman"/>
              </a:rPr>
              <a:t>People go to the neighborhood restaurant because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can get </a:t>
            </a:r>
            <a:r>
              <a:rPr dirty="0" sz="1200" spc="-5">
                <a:latin typeface="Times New Roman"/>
                <a:cs typeface="Times New Roman"/>
              </a:rPr>
              <a:t>low </a:t>
            </a:r>
            <a:r>
              <a:rPr dirty="0" sz="1200">
                <a:latin typeface="Times New Roman"/>
                <a:cs typeface="Times New Roman"/>
              </a:rPr>
              <a:t>priced </a:t>
            </a:r>
            <a:r>
              <a:rPr dirty="0" sz="1200" spc="-5">
                <a:latin typeface="Times New Roman"/>
                <a:cs typeface="Times New Roman"/>
              </a:rPr>
              <a:t>meals.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People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requires a third person pronoun, they. Sentences that begin in the third person should 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suddenly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shift their 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view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second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.)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how to avoid the three most frequent kinds of Pronoun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mistakes: </a:t>
            </a:r>
            <a:r>
              <a:rPr dirty="0" sz="1200">
                <a:latin typeface="Times New Roman"/>
                <a:cs typeface="Times New Roman"/>
              </a:rPr>
              <a:t>pronoun </a:t>
            </a:r>
            <a:r>
              <a:rPr dirty="0" sz="1200" spc="-5">
                <a:latin typeface="Times New Roman"/>
                <a:cs typeface="Times New Roman"/>
              </a:rPr>
              <a:t>agreement,</a:t>
            </a:r>
            <a:r>
              <a:rPr dirty="0" sz="1200">
                <a:latin typeface="Times New Roman"/>
                <a:cs typeface="Times New Roman"/>
              </a:rPr>
              <a:t> pronoun reference, and pronoun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 of view.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I.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Pronoun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Agreement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Agreement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their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between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/ pronoun </a:t>
            </a:r>
            <a:r>
              <a:rPr dirty="0" sz="1200" spc="-5">
                <a:latin typeface="Times New Roman"/>
                <a:cs typeface="Times New Roman"/>
              </a:rPr>
              <a:t>uses </a:t>
            </a:r>
            <a:r>
              <a:rPr dirty="0" sz="1200">
                <a:latin typeface="Times New Roman"/>
                <a:cs typeface="Times New Roman"/>
              </a:rPr>
              <a:t>a singular verb, a plural noun /pronoun takes a plural </a:t>
            </a:r>
            <a:r>
              <a:rPr dirty="0" sz="1200" spc="-5">
                <a:latin typeface="Times New Roman"/>
                <a:cs typeface="Times New Roman"/>
              </a:rPr>
              <a:t>verb,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singular </a:t>
            </a:r>
            <a:r>
              <a:rPr dirty="0" sz="1200">
                <a:latin typeface="Times New Roman"/>
                <a:cs typeface="Times New Roman"/>
              </a:rPr>
              <a:t> pronoun </a:t>
            </a:r>
            <a:r>
              <a:rPr dirty="0" sz="1200" spc="-5">
                <a:latin typeface="Times New Roman"/>
                <a:cs typeface="Times New Roman"/>
              </a:rPr>
              <a:t>refers </a:t>
            </a:r>
            <a:r>
              <a:rPr dirty="0" sz="1200">
                <a:latin typeface="Times New Roman"/>
                <a:cs typeface="Times New Roman"/>
              </a:rPr>
              <a:t>to a singular noun and </a:t>
            </a:r>
            <a:r>
              <a:rPr dirty="0" sz="1200" spc="-5">
                <a:latin typeface="Times New Roman"/>
                <a:cs typeface="Times New Roman"/>
              </a:rPr>
              <a:t>plural pronoun refers to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plural noun. A pronoun </a:t>
            </a:r>
            <a:r>
              <a:rPr dirty="0" sz="1200">
                <a:latin typeface="Times New Roman"/>
                <a:cs typeface="Times New Roman"/>
              </a:rPr>
              <a:t> must agree in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with the word it refers to </a:t>
            </a:r>
            <a:r>
              <a:rPr dirty="0" sz="1200" spc="-5">
                <a:latin typeface="Times New Roman"/>
                <a:cs typeface="Times New Roman"/>
              </a:rPr>
              <a:t>(sometimes </a:t>
            </a:r>
            <a:r>
              <a:rPr dirty="0" sz="1200">
                <a:latin typeface="Times New Roman"/>
                <a:cs typeface="Times New Roman"/>
              </a:rPr>
              <a:t>call the pronoun’s antecedent.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58672" y="6698233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i="1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7048752"/>
            <a:ext cx="254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(iii)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0582" y="6346952"/>
            <a:ext cx="5543550" cy="91059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84810" marR="5715" indent="-372745">
              <a:lnSpc>
                <a:spcPts val="1380"/>
              </a:lnSpc>
              <a:spcBef>
                <a:spcPts val="195"/>
              </a:spcBef>
              <a:tabLst>
                <a:tab pos="384810" algn="l"/>
              </a:tabLst>
            </a:pPr>
            <a:r>
              <a:rPr dirty="0" sz="1200">
                <a:latin typeface="Times New Roman"/>
                <a:cs typeface="Times New Roman"/>
              </a:rPr>
              <a:t>(i)	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students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spent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many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hours</a:t>
            </a:r>
            <a:r>
              <a:rPr dirty="0" sz="1200" spc="229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studying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229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examinations.</a:t>
            </a:r>
            <a:r>
              <a:rPr dirty="0" sz="1200" spc="2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antecedent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‘their’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‘students’</a:t>
            </a:r>
            <a:r>
              <a:rPr dirty="0" sz="1200" spc="-5">
                <a:latin typeface="Times New Roman"/>
                <a:cs typeface="Times New Roman"/>
              </a:rPr>
              <a:t>.)</a:t>
            </a:r>
            <a:endParaRPr sz="1200">
              <a:latin typeface="Times New Roman"/>
              <a:cs typeface="Times New Roman"/>
            </a:endParaRPr>
          </a:p>
          <a:p>
            <a:pPr marL="384810" marR="5715" indent="38100">
              <a:lnSpc>
                <a:spcPts val="138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book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Yousaf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lent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missing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its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cover.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(‘Its’,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sing.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pronoun,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refers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book,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single pronoun.)</a:t>
            </a:r>
            <a:endParaRPr sz="1200">
              <a:latin typeface="Times New Roman"/>
              <a:cs typeface="Times New Roman"/>
            </a:endParaRPr>
          </a:p>
          <a:p>
            <a:pPr marL="385445">
              <a:lnSpc>
                <a:spcPts val="1345"/>
              </a:lnSpc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your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friends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here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soon,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sz="1200" i="1">
                <a:latin typeface="Times New Roman"/>
                <a:cs typeface="Times New Roman"/>
              </a:rPr>
              <a:t>’ll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miss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train.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plural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pronoun,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7224012"/>
            <a:ext cx="4418330" cy="558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i="1">
                <a:latin typeface="Times New Roman"/>
                <a:cs typeface="Times New Roman"/>
              </a:rPr>
              <a:t>refers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friends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plural</a:t>
            </a:r>
            <a:r>
              <a:rPr dirty="0" sz="1200" spc="-5" i="1">
                <a:latin typeface="Times New Roman"/>
                <a:cs typeface="Times New Roman"/>
              </a:rPr>
              <a:t> noun).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 of</a:t>
            </a:r>
            <a:r>
              <a:rPr dirty="0" sz="1200" spc="-5">
                <a:latin typeface="Times New Roman"/>
                <a:cs typeface="Times New Roman"/>
              </a:rPr>
              <a:t> indefinite </a:t>
            </a:r>
            <a:r>
              <a:rPr dirty="0" sz="1200">
                <a:latin typeface="Times New Roman"/>
                <a:cs typeface="Times New Roman"/>
              </a:rPr>
              <a:t>pronouns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singular.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454150" y="7953586"/>
          <a:ext cx="3497579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7550"/>
                <a:gridCol w="965200"/>
                <a:gridCol w="995044"/>
                <a:gridCol w="819150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Each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79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14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anything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Either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everyone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953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everybody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everything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Neither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668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7937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something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771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nobody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58419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nothing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1016000" y="8800592"/>
            <a:ext cx="297624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i).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wild </a:t>
            </a:r>
            <a:r>
              <a:rPr dirty="0" sz="1200" spc="-5">
                <a:latin typeface="Times New Roman"/>
                <a:cs typeface="Times New Roman"/>
              </a:rPr>
              <a:t>horses </a:t>
            </a:r>
            <a:r>
              <a:rPr dirty="0" sz="1200">
                <a:latin typeface="Times New Roman"/>
                <a:cs typeface="Times New Roman"/>
              </a:rPr>
              <a:t>raced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freedom.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3291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ii) Neither of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 feels like cleaning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spc="-5">
                <a:latin typeface="Times New Roman"/>
                <a:cs typeface="Times New Roman"/>
              </a:rPr>
              <a:t> room.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>
                <a:latin typeface="Times New Roman"/>
                <a:cs typeface="Times New Roman"/>
              </a:rPr>
              <a:t>one in the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wanted to read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 her</a:t>
            </a:r>
            <a:r>
              <a:rPr dirty="0" sz="1200">
                <a:latin typeface="Times New Roman"/>
                <a:cs typeface="Times New Roman"/>
              </a:rPr>
              <a:t> paper aloud.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papers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aloud.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(A)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 The first sentence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done for you.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buSzPct val="91666"/>
              <a:buAutoNum type="arabicPeriod"/>
              <a:tabLst>
                <a:tab pos="128270" algn="l"/>
              </a:tabLst>
            </a:pPr>
            <a:r>
              <a:rPr dirty="0" u="sng" sz="1200" spc="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Neither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babies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their)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polio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yet.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neither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Many high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schools</a:t>
            </a:r>
            <a:r>
              <a:rPr dirty="0" sz="1200" i="1">
                <a:latin typeface="Times New Roman"/>
                <a:cs typeface="Times New Roman"/>
              </a:rPr>
              <a:t> now </a:t>
            </a:r>
            <a:r>
              <a:rPr dirty="0" sz="1200" spc="-5" i="1">
                <a:latin typeface="Times New Roman"/>
                <a:cs typeface="Times New Roman"/>
              </a:rPr>
              <a:t>require</a:t>
            </a:r>
            <a:r>
              <a:rPr dirty="0" sz="1200" i="1">
                <a:latin typeface="Times New Roman"/>
                <a:cs typeface="Times New Roman"/>
              </a:rPr>
              <a:t> 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 i="1">
                <a:latin typeface="Times New Roman"/>
                <a:cs typeface="Times New Roman"/>
              </a:rPr>
              <a:t>, its)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computer</a:t>
            </a:r>
            <a:r>
              <a:rPr dirty="0" sz="1200" spc="-5" i="1">
                <a:latin typeface="Times New Roman"/>
                <a:cs typeface="Times New Roman"/>
              </a:rPr>
              <a:t> course.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75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girls </a:t>
            </a:r>
            <a:r>
              <a:rPr dirty="0" sz="1200" i="1">
                <a:latin typeface="Times New Roman"/>
                <a:cs typeface="Times New Roman"/>
              </a:rPr>
              <a:t>invited</a:t>
            </a:r>
            <a:r>
              <a:rPr dirty="0" sz="1200" spc="-5" i="1">
                <a:latin typeface="Times New Roman"/>
                <a:cs typeface="Times New Roman"/>
              </a:rPr>
              <a:t> (her,</a:t>
            </a:r>
            <a:r>
              <a:rPr dirty="0" sz="1200" i="1">
                <a:latin typeface="Times New Roman"/>
                <a:cs typeface="Times New Roman"/>
              </a:rPr>
              <a:t> their) </a:t>
            </a:r>
            <a:r>
              <a:rPr dirty="0" sz="1200" spc="-5" i="1">
                <a:latin typeface="Times New Roman"/>
                <a:cs typeface="Times New Roman"/>
              </a:rPr>
              <a:t>mother</a:t>
            </a:r>
            <a:r>
              <a:rPr dirty="0" sz="1200" i="1">
                <a:latin typeface="Times New Roman"/>
                <a:cs typeface="Times New Roman"/>
              </a:rPr>
              <a:t> to the </a:t>
            </a:r>
            <a:r>
              <a:rPr dirty="0" sz="1200" spc="-5" i="1">
                <a:latin typeface="Times New Roman"/>
                <a:cs typeface="Times New Roman"/>
              </a:rPr>
              <a:t>party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Nobody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club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unless </a:t>
            </a:r>
            <a:r>
              <a:rPr dirty="0" sz="1200" i="1">
                <a:latin typeface="Times New Roman"/>
                <a:cs typeface="Times New Roman"/>
              </a:rPr>
              <a:t>(they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are,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 is)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invited.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Everything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office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i="1">
                <a:latin typeface="Times New Roman"/>
                <a:cs typeface="Times New Roman"/>
              </a:rPr>
              <a:t> (its,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own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(A)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each sentence write the </a:t>
            </a:r>
            <a:r>
              <a:rPr dirty="0" sz="1200" spc="-5">
                <a:latin typeface="Times New Roman"/>
                <a:cs typeface="Times New Roman"/>
              </a:rPr>
              <a:t>pronoun </a:t>
            </a:r>
            <a:r>
              <a:rPr dirty="0" sz="1200">
                <a:latin typeface="Times New Roman"/>
                <a:cs typeface="Times New Roman"/>
              </a:rPr>
              <a:t>needed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 word that </a:t>
            </a:r>
            <a:r>
              <a:rPr dirty="0" sz="1200" spc="-5">
                <a:latin typeface="Times New Roman"/>
                <a:cs typeface="Times New Roman"/>
              </a:rPr>
              <a:t>the pronoun </a:t>
            </a:r>
            <a:r>
              <a:rPr dirty="0" sz="1200">
                <a:latin typeface="Times New Roman"/>
                <a:cs typeface="Times New Roman"/>
              </a:rPr>
              <a:t>refers to.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done for you.</a:t>
            </a: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  <a:buAutoNum type="arabicPeriod"/>
              <a:tabLst>
                <a:tab pos="169545" algn="l"/>
              </a:tabLst>
            </a:pPr>
            <a:r>
              <a:rPr dirty="0" sz="1200" i="1">
                <a:latin typeface="Times New Roman"/>
                <a:cs typeface="Times New Roman"/>
              </a:rPr>
              <a:t>Neither of the babies </a:t>
            </a:r>
            <a:r>
              <a:rPr dirty="0" sz="1200" spc="-5" i="1">
                <a:latin typeface="Times New Roman"/>
                <a:cs typeface="Times New Roman"/>
              </a:rPr>
              <a:t>has </a:t>
            </a:r>
            <a:r>
              <a:rPr dirty="0" sz="1200" i="1">
                <a:latin typeface="Times New Roman"/>
                <a:cs typeface="Times New Roman"/>
              </a:rPr>
              <a:t>had (his, their) polio shot yet. </a:t>
            </a:r>
            <a:r>
              <a:rPr dirty="0" sz="1200" spc="-5">
                <a:latin typeface="Times New Roman"/>
                <a:cs typeface="Times New Roman"/>
              </a:rPr>
              <a:t>(The </a:t>
            </a:r>
            <a:r>
              <a:rPr dirty="0" sz="1200">
                <a:latin typeface="Times New Roman"/>
                <a:cs typeface="Times New Roman"/>
              </a:rPr>
              <a:t>pronoun needed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neither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buAutoNum type="arabicPeriod"/>
              <a:tabLst>
                <a:tab pos="1905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Many high schools now require </a:t>
            </a:r>
            <a:r>
              <a:rPr dirty="0" sz="1200" i="1">
                <a:latin typeface="Times New Roman"/>
                <a:cs typeface="Times New Roman"/>
              </a:rPr>
              <a:t>(their, its) students to </a:t>
            </a:r>
            <a:r>
              <a:rPr dirty="0" sz="1200" spc="-5" i="1">
                <a:latin typeface="Times New Roman"/>
                <a:cs typeface="Times New Roman"/>
              </a:rPr>
              <a:t>take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computer course. </a:t>
            </a:r>
            <a:r>
              <a:rPr dirty="0" sz="1200" spc="-5">
                <a:latin typeface="Times New Roman"/>
                <a:cs typeface="Times New Roman"/>
              </a:rPr>
              <a:t>(The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needed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schools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  <a:buFont typeface="Times New Roman"/>
              <a:buAutoNum type="arabicPeriod"/>
              <a:tabLst>
                <a:tab pos="182245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girls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invited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(her,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their)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mother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party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refers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Font typeface="Times New Roman"/>
              <a:buAutoNum type="arabicPeriod"/>
              <a:tabLst>
                <a:tab pos="17462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Nobody can join the club unless (they are, </a:t>
            </a:r>
            <a:r>
              <a:rPr dirty="0" sz="1200" i="1">
                <a:latin typeface="Times New Roman"/>
                <a:cs typeface="Times New Roman"/>
              </a:rPr>
              <a:t>he / </a:t>
            </a:r>
            <a:r>
              <a:rPr dirty="0" sz="1200" spc="-5" i="1">
                <a:latin typeface="Times New Roman"/>
                <a:cs typeface="Times New Roman"/>
              </a:rPr>
              <a:t>she is) </a:t>
            </a:r>
            <a:r>
              <a:rPr dirty="0" sz="1200" i="1">
                <a:latin typeface="Times New Roman"/>
                <a:cs typeface="Times New Roman"/>
              </a:rPr>
              <a:t>invited. </a:t>
            </a:r>
            <a:r>
              <a:rPr dirty="0" sz="1200" spc="-5">
                <a:latin typeface="Times New Roman"/>
                <a:cs typeface="Times New Roman"/>
              </a:rPr>
              <a:t>(The pronoun/s and verb </a:t>
            </a:r>
            <a:r>
              <a:rPr dirty="0" sz="1200">
                <a:latin typeface="Times New Roman"/>
                <a:cs typeface="Times New Roman"/>
              </a:rPr>
              <a:t> needed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 /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pronoun(s)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verb needed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he or she.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pronoun(s)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nobody)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70815" indent="-158750">
              <a:lnSpc>
                <a:spcPts val="1315"/>
              </a:lnSpc>
              <a:buFont typeface="Times New Roman"/>
              <a:buAutoNum type="arabicPeriod"/>
              <a:tabLst>
                <a:tab pos="171450" algn="l"/>
              </a:tabLst>
            </a:pPr>
            <a:r>
              <a:rPr dirty="0" sz="1200" i="1">
                <a:latin typeface="Times New Roman"/>
                <a:cs typeface="Times New Roman"/>
              </a:rPr>
              <a:t>Everything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office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(its,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their)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own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everything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(B)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Choose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correct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pronoun(s)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from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given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brackets.</a:t>
            </a: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90"/>
              </a:lnSpc>
              <a:spcBef>
                <a:spcPts val="50"/>
              </a:spcBef>
              <a:buFont typeface="Times New Roman"/>
              <a:buAutoNum type="arabicPeriod" startAt="6"/>
              <a:tabLst>
                <a:tab pos="172085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actresses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auditioned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believes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(she,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they)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chosen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main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role.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05"/>
              </a:lnSpc>
              <a:buFont typeface="Times New Roman"/>
              <a:buAutoNum type="arabicPeriod" startAt="6"/>
              <a:tabLst>
                <a:tab pos="178435" algn="l"/>
              </a:tabLst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anybody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interested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part-time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library,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she,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they)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let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chief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librarian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75"/>
              </a:lnSpc>
              <a:buAutoNum type="arabicPeriod" startAt="8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Either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medicine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(it,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they)</a:t>
            </a:r>
            <a:r>
              <a:rPr dirty="0" sz="1200" spc="-5" i="1">
                <a:latin typeface="Times New Roman"/>
                <a:cs typeface="Times New Roman"/>
              </a:rPr>
              <a:t> must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regularly.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90"/>
              </a:lnSpc>
              <a:spcBef>
                <a:spcPts val="55"/>
              </a:spcBef>
              <a:buFont typeface="Times New Roman"/>
              <a:buAutoNum type="arabicPeriod" startAt="8"/>
              <a:tabLst>
                <a:tab pos="179070" algn="l"/>
              </a:tabLst>
            </a:pPr>
            <a:r>
              <a:rPr dirty="0" sz="1200" i="1">
                <a:latin typeface="Times New Roman"/>
                <a:cs typeface="Times New Roman"/>
              </a:rPr>
              <a:t>Somebody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ladies’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lounge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stole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dark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glasses,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would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love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back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(her,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them)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10"/>
              </a:lnSpc>
              <a:buAutoNum type="arabicPeriod" startAt="8"/>
              <a:tabLst>
                <a:tab pos="241935" algn="l"/>
              </a:tabLst>
            </a:pPr>
            <a:r>
              <a:rPr dirty="0" sz="1200" i="1">
                <a:latin typeface="Times New Roman"/>
                <a:cs typeface="Times New Roman"/>
              </a:rPr>
              <a:t>Neither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my </a:t>
            </a:r>
            <a:r>
              <a:rPr dirty="0" sz="1200" i="1">
                <a:latin typeface="Times New Roman"/>
                <a:cs typeface="Times New Roman"/>
              </a:rPr>
              <a:t>uncles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 </a:t>
            </a:r>
            <a:r>
              <a:rPr dirty="0" sz="1200" i="1">
                <a:latin typeface="Times New Roman"/>
                <a:cs typeface="Times New Roman"/>
              </a:rPr>
              <a:t>ever</a:t>
            </a:r>
            <a:r>
              <a:rPr dirty="0" sz="1200" spc="-5" i="1">
                <a:latin typeface="Times New Roman"/>
                <a:cs typeface="Times New Roman"/>
              </a:rPr>
              <a:t> smoked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(his,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b="1">
                <a:latin typeface="Times New Roman"/>
                <a:cs typeface="Times New Roman"/>
              </a:rPr>
              <a:t>Practice 1(B):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Choose the</a:t>
            </a:r>
            <a:r>
              <a:rPr dirty="0" sz="1200" b="1">
                <a:latin typeface="Times New Roman"/>
                <a:cs typeface="Times New Roman"/>
              </a:rPr>
              <a:t> correct</a:t>
            </a:r>
            <a:r>
              <a:rPr dirty="0" sz="1200" spc="-5" b="1">
                <a:latin typeface="Times New Roman"/>
                <a:cs typeface="Times New Roman"/>
              </a:rPr>
              <a:t> pronoun(s)</a:t>
            </a:r>
            <a:r>
              <a:rPr dirty="0" sz="1200" b="1">
                <a:latin typeface="Times New Roman"/>
                <a:cs typeface="Times New Roman"/>
              </a:rPr>
              <a:t> from </a:t>
            </a:r>
            <a:r>
              <a:rPr dirty="0" sz="1200" spc="-5" b="1">
                <a:latin typeface="Times New Roman"/>
                <a:cs typeface="Times New Roman"/>
              </a:rPr>
              <a:t>the words</a:t>
            </a:r>
            <a:r>
              <a:rPr dirty="0" sz="1200" b="1">
                <a:latin typeface="Times New Roman"/>
                <a:cs typeface="Times New Roman"/>
              </a:rPr>
              <a:t> given</a:t>
            </a:r>
            <a:r>
              <a:rPr dirty="0" sz="1200" spc="-5" b="1">
                <a:latin typeface="Times New Roman"/>
                <a:cs typeface="Times New Roman"/>
              </a:rPr>
              <a:t> in</a:t>
            </a:r>
            <a:r>
              <a:rPr dirty="0" sz="1200" b="1">
                <a:latin typeface="Times New Roman"/>
                <a:cs typeface="Times New Roman"/>
              </a:rPr>
              <a:t> brackets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90"/>
              </a:lnSpc>
              <a:spcBef>
                <a:spcPts val="60"/>
              </a:spcBef>
              <a:buFont typeface="Times New Roman"/>
              <a:buAutoNum type="arabicPeriod" startAt="6"/>
              <a:tabLst>
                <a:tab pos="172085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actresses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auditioned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believes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they)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chosen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main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role.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05"/>
              </a:lnSpc>
              <a:buFont typeface="Times New Roman"/>
              <a:buAutoNum type="arabicPeriod" startAt="6"/>
              <a:tabLst>
                <a:tab pos="178435" algn="l"/>
              </a:tabLst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anybody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interested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part-time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library,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</a:t>
            </a:r>
            <a:r>
              <a:rPr dirty="0" u="sng" sz="1200" spc="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they)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let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chief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librarian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known.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75"/>
              </a:lnSpc>
              <a:buAutoNum type="arabicPeriod" startAt="8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Either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medicine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they)</a:t>
            </a:r>
            <a:r>
              <a:rPr dirty="0" sz="1200" spc="-5" i="1">
                <a:latin typeface="Times New Roman"/>
                <a:cs typeface="Times New Roman"/>
              </a:rPr>
              <a:t> must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regularly.</a:t>
            </a:r>
            <a:endParaRPr sz="1200">
              <a:latin typeface="Times New Roman"/>
              <a:cs typeface="Times New Roman"/>
            </a:endParaRPr>
          </a:p>
          <a:p>
            <a:pPr marL="178435" indent="-166370">
              <a:lnSpc>
                <a:spcPts val="1405"/>
              </a:lnSpc>
              <a:buFont typeface="Times New Roman"/>
              <a:buAutoNum type="arabicPeriod" startAt="8"/>
              <a:tabLst>
                <a:tab pos="179070" algn="l"/>
              </a:tabLst>
            </a:pPr>
            <a:r>
              <a:rPr dirty="0" sz="1200" i="1">
                <a:latin typeface="Times New Roman"/>
                <a:cs typeface="Times New Roman"/>
              </a:rPr>
              <a:t>Somebody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ladies’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lounge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stole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dark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glasses,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would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love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back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993208"/>
            <a:ext cx="702945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 spc="-5" i="1">
                <a:latin typeface="Times New Roman"/>
                <a:cs typeface="Times New Roman"/>
              </a:rPr>
              <a:t>(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them)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178</a:t>
            </a:fld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080"/>
              </a:spcBef>
            </a:pPr>
            <a:r>
              <a:rPr dirty="0" sz="1200" i="1">
                <a:latin typeface="Times New Roman"/>
                <a:cs typeface="Times New Roman"/>
              </a:rPr>
              <a:t>10.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Neither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uncles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ever</a:t>
            </a:r>
            <a:r>
              <a:rPr dirty="0" sz="1200" spc="-5" i="1">
                <a:latin typeface="Times New Roman"/>
                <a:cs typeface="Times New Roman"/>
              </a:rPr>
              <a:t> smoked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II.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Pronoun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Reference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Just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pronoun must </a:t>
            </a:r>
            <a:r>
              <a:rPr dirty="0" sz="1200">
                <a:latin typeface="Times New Roman"/>
                <a:cs typeface="Times New Roman"/>
              </a:rPr>
              <a:t>agree in number with </a:t>
            </a:r>
            <a:r>
              <a:rPr dirty="0" sz="1200" spc="-5">
                <a:latin typeface="Times New Roman"/>
                <a:cs typeface="Times New Roman"/>
              </a:rPr>
              <a:t>its antecedent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necessary for </a:t>
            </a:r>
            <a:r>
              <a:rPr dirty="0" sz="1200" spc="-5">
                <a:latin typeface="Times New Roman"/>
                <a:cs typeface="Times New Roman"/>
              </a:rPr>
              <a:t>effective </a:t>
            </a:r>
            <a:r>
              <a:rPr dirty="0" sz="1200">
                <a:latin typeface="Times New Roman"/>
                <a:cs typeface="Times New Roman"/>
              </a:rPr>
              <a:t> communication for a pronoun to refer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clearly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word it </a:t>
            </a:r>
            <a:r>
              <a:rPr dirty="0" sz="1200" spc="-5">
                <a:latin typeface="Times New Roman"/>
                <a:cs typeface="Times New Roman"/>
              </a:rPr>
              <a:t>stands for. If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meaning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uncertain,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confusing.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number,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gender,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called,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reference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e.g.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buAutoNum type="romanLcParenBoth"/>
              <a:tabLst>
                <a:tab pos="194945" algn="l"/>
              </a:tabLst>
            </a:pPr>
            <a:r>
              <a:rPr dirty="0" sz="1200" i="1">
                <a:latin typeface="Times New Roman"/>
                <a:cs typeface="Times New Roman"/>
              </a:rPr>
              <a:t>Rabia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Nafeesa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5" i="1">
                <a:latin typeface="Times New Roman"/>
                <a:cs typeface="Times New Roman"/>
              </a:rPr>
              <a:t> she</a:t>
            </a:r>
            <a:r>
              <a:rPr dirty="0" sz="1200" i="1">
                <a:latin typeface="Times New Roman"/>
                <a:cs typeface="Times New Roman"/>
              </a:rPr>
              <a:t> 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in</a:t>
            </a:r>
            <a:r>
              <a:rPr dirty="0" sz="1200" spc="-5" i="1">
                <a:latin typeface="Times New Roman"/>
                <a:cs typeface="Times New Roman"/>
              </a:rPr>
              <a:t> her term </a:t>
            </a:r>
            <a:r>
              <a:rPr dirty="0" sz="1200" i="1">
                <a:latin typeface="Times New Roman"/>
                <a:cs typeface="Times New Roman"/>
              </a:rPr>
              <a:t>paper.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46379" algn="l"/>
              </a:tabLst>
            </a:pPr>
            <a:r>
              <a:rPr dirty="0" sz="1200" i="1">
                <a:latin typeface="Times New Roman"/>
                <a:cs typeface="Times New Roman"/>
              </a:rPr>
              <a:t>Javeria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Laila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unable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keep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job.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(iii)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Personnel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management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reached tentative agreement on</a:t>
            </a:r>
            <a:r>
              <a:rPr dirty="0" sz="1200" spc="-5" i="1">
                <a:latin typeface="Times New Roman"/>
                <a:cs typeface="Times New Roman"/>
              </a:rPr>
              <a:t> its</a:t>
            </a:r>
            <a:r>
              <a:rPr dirty="0" sz="1200" i="1">
                <a:latin typeface="Times New Roman"/>
                <a:cs typeface="Times New Roman"/>
              </a:rPr>
              <a:t> contract.</a:t>
            </a:r>
            <a:endParaRPr sz="1200">
              <a:latin typeface="Times New Roman"/>
              <a:cs typeface="Times New Roman"/>
            </a:endParaRPr>
          </a:p>
          <a:p>
            <a:pPr marL="261620" indent="-249554">
              <a:lnSpc>
                <a:spcPts val="1315"/>
              </a:lnSpc>
              <a:buAutoNum type="romanLcParenBoth" startAt="4"/>
              <a:tabLst>
                <a:tab pos="262255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encouraged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submit their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219075" indent="-207010">
              <a:lnSpc>
                <a:spcPts val="1375"/>
              </a:lnSpc>
              <a:buAutoNum type="romanLcParenBoth" startAt="4"/>
              <a:tabLst>
                <a:tab pos="21971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question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after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lecture,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which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 regrettable.</a:t>
            </a:r>
            <a:endParaRPr sz="1200">
              <a:latin typeface="Times New Roman"/>
              <a:cs typeface="Times New Roman"/>
            </a:endParaRPr>
          </a:p>
          <a:p>
            <a:pPr marL="271780" indent="-259079">
              <a:lnSpc>
                <a:spcPts val="1405"/>
              </a:lnSpc>
              <a:buFont typeface="Times New Roman"/>
              <a:buAutoNum type="romanLcParenBoth" startAt="4"/>
              <a:tabLst>
                <a:tab pos="27178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Both</a:t>
            </a:r>
            <a:r>
              <a:rPr dirty="0" sz="1200" i="1">
                <a:latin typeface="Times New Roman"/>
                <a:cs typeface="Times New Roman"/>
              </a:rPr>
              <a:t> of </a:t>
            </a:r>
            <a:r>
              <a:rPr dirty="0" sz="1200" spc="-5" i="1">
                <a:latin typeface="Times New Roman"/>
                <a:cs typeface="Times New Roman"/>
              </a:rPr>
              <a:t>Basits’s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parents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doctors,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 it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doesn’t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interest</a:t>
            </a:r>
            <a:r>
              <a:rPr dirty="0" sz="1200" i="1">
                <a:latin typeface="Times New Roman"/>
                <a:cs typeface="Times New Roman"/>
              </a:rPr>
              <a:t> Basit.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romanLcParenBoth"/>
              <a:tabLst>
                <a:tab pos="203200" algn="l"/>
              </a:tabLst>
            </a:pPr>
            <a:r>
              <a:rPr dirty="0" sz="1200" i="1">
                <a:latin typeface="Times New Roman"/>
                <a:cs typeface="Times New Roman"/>
              </a:rPr>
              <a:t>Rabia told Nafeesa that </a:t>
            </a:r>
            <a:r>
              <a:rPr dirty="0" sz="1200" spc="-5" i="1">
                <a:latin typeface="Times New Roman"/>
                <a:cs typeface="Times New Roman"/>
              </a:rPr>
              <a:t>she </a:t>
            </a:r>
            <a:r>
              <a:rPr dirty="0" sz="1200" i="1">
                <a:latin typeface="Times New Roman"/>
                <a:cs typeface="Times New Roman"/>
              </a:rPr>
              <a:t>had got an A in </a:t>
            </a:r>
            <a:r>
              <a:rPr dirty="0" sz="1200" spc="-5" i="1">
                <a:latin typeface="Times New Roman"/>
                <a:cs typeface="Times New Roman"/>
              </a:rPr>
              <a:t>her term </a:t>
            </a:r>
            <a:r>
              <a:rPr dirty="0" sz="1200" i="1">
                <a:latin typeface="Times New Roman"/>
                <a:cs typeface="Times New Roman"/>
              </a:rPr>
              <a:t>paper. (who got the A - Rabia </a:t>
            </a:r>
            <a:r>
              <a:rPr dirty="0" sz="1200" spc="-5" i="1">
                <a:latin typeface="Times New Roman"/>
                <a:cs typeface="Times New Roman"/>
              </a:rPr>
              <a:t>or </a:t>
            </a:r>
            <a:r>
              <a:rPr dirty="0" sz="1200" i="1">
                <a:latin typeface="Times New Roman"/>
                <a:cs typeface="Times New Roman"/>
              </a:rPr>
              <a:t> Nafeesa?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could</a:t>
            </a:r>
            <a:r>
              <a:rPr dirty="0" sz="1200" spc="-5" i="1">
                <a:latin typeface="Times New Roman"/>
                <a:cs typeface="Times New Roman"/>
              </a:rPr>
              <a:t> refer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either</a:t>
            </a:r>
            <a:r>
              <a:rPr dirty="0" sz="1200" spc="-5" i="1">
                <a:latin typeface="Times New Roman"/>
                <a:cs typeface="Times New Roman"/>
              </a:rPr>
              <a:t> one).</a:t>
            </a:r>
            <a:endParaRPr sz="1200">
              <a:latin typeface="Times New Roman"/>
              <a:cs typeface="Times New Roman"/>
            </a:endParaRPr>
          </a:p>
          <a:p>
            <a:pPr algn="just" marL="235585" indent="-223520">
              <a:lnSpc>
                <a:spcPts val="1315"/>
              </a:lnSpc>
              <a:buAutoNum type="romanLcParenBoth"/>
              <a:tabLst>
                <a:tab pos="236220" algn="l"/>
              </a:tabLst>
            </a:pPr>
            <a:r>
              <a:rPr dirty="0" sz="1200" i="1">
                <a:latin typeface="Times New Roman"/>
                <a:cs typeface="Times New Roman"/>
              </a:rPr>
              <a:t>Javeria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Laila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spc="-5" i="1">
                <a:latin typeface="Times New Roman"/>
                <a:cs typeface="Times New Roman"/>
              </a:rPr>
              <a:t> will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-5" i="1">
                <a:latin typeface="Times New Roman"/>
                <a:cs typeface="Times New Roman"/>
              </a:rPr>
              <a:t> unable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keep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algn="just" marL="278130" indent="-266065">
              <a:lnSpc>
                <a:spcPts val="1380"/>
              </a:lnSpc>
              <a:buAutoNum type="romanLcParenBoth"/>
              <a:tabLst>
                <a:tab pos="278765" algn="l"/>
              </a:tabLst>
            </a:pPr>
            <a:r>
              <a:rPr dirty="0" sz="1200" i="1">
                <a:latin typeface="Times New Roman"/>
                <a:cs typeface="Times New Roman"/>
              </a:rPr>
              <a:t>Personnel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management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reached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tentative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agreement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contract.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(iii)</a:t>
            </a:r>
            <a:r>
              <a:rPr dirty="0" sz="1200" spc="434" i="1">
                <a:latin typeface="Times New Roman"/>
                <a:cs typeface="Times New Roman"/>
              </a:rPr>
              <a:t> </a:t>
            </a:r>
            <a:r>
              <a:rPr dirty="0" sz="1200" spc="4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</a:t>
            </a:r>
            <a:r>
              <a:rPr dirty="0" sz="1200" spc="-5" i="1">
                <a:latin typeface="Times New Roman"/>
                <a:cs typeface="Times New Roman"/>
              </a:rPr>
              <a:t> is </a:t>
            </a:r>
            <a:r>
              <a:rPr dirty="0" sz="1200" i="1">
                <a:latin typeface="Times New Roman"/>
                <a:cs typeface="Times New Roman"/>
              </a:rPr>
              <a:t>encouraged to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submit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 spc="-5" i="1">
                <a:latin typeface="Times New Roman"/>
                <a:cs typeface="Times New Roman"/>
              </a:rPr>
              <a:t> work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  <a:buAutoNum type="romanLcParenBoth" startAt="5"/>
              <a:tabLst>
                <a:tab pos="22225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There was </a:t>
            </a:r>
            <a:r>
              <a:rPr dirty="0" sz="1200" i="1">
                <a:latin typeface="Times New Roman"/>
                <a:cs typeface="Times New Roman"/>
              </a:rPr>
              <a:t>no question after the </a:t>
            </a:r>
            <a:r>
              <a:rPr dirty="0" sz="1200" spc="-5" i="1">
                <a:latin typeface="Times New Roman"/>
                <a:cs typeface="Times New Roman"/>
              </a:rPr>
              <a:t>lecture,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which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 </a:t>
            </a:r>
            <a:r>
              <a:rPr dirty="0" sz="1200" i="1">
                <a:latin typeface="Times New Roman"/>
                <a:cs typeface="Times New Roman"/>
              </a:rPr>
              <a:t>regrettable. (What </a:t>
            </a:r>
            <a:r>
              <a:rPr dirty="0" sz="1200" spc="-5" i="1">
                <a:latin typeface="Times New Roman"/>
                <a:cs typeface="Times New Roman"/>
              </a:rPr>
              <a:t>was </a:t>
            </a:r>
            <a:r>
              <a:rPr dirty="0" sz="1200" i="1">
                <a:latin typeface="Times New Roman"/>
                <a:cs typeface="Times New Roman"/>
              </a:rPr>
              <a:t>regrettable -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lecture lack of questions? Be careful with </a:t>
            </a:r>
            <a:r>
              <a:rPr dirty="0" sz="1200" spc="-5" i="1">
                <a:latin typeface="Times New Roman"/>
                <a:cs typeface="Times New Roman"/>
              </a:rPr>
              <a:t>the use </a:t>
            </a:r>
            <a:r>
              <a:rPr dirty="0" sz="1200" i="1">
                <a:latin typeface="Times New Roman"/>
                <a:cs typeface="Times New Roman"/>
              </a:rPr>
              <a:t>of the pronouns ‘which’ and ‘this’. They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clearly,</a:t>
            </a:r>
            <a:r>
              <a:rPr dirty="0" sz="1200" spc="-5" i="1">
                <a:latin typeface="Times New Roman"/>
                <a:cs typeface="Times New Roman"/>
              </a:rPr>
              <a:t> refer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one </a:t>
            </a:r>
            <a:r>
              <a:rPr dirty="0" sz="1200" i="1">
                <a:latin typeface="Times New Roman"/>
                <a:cs typeface="Times New Roman"/>
              </a:rPr>
              <a:t>things</a:t>
            </a:r>
            <a:r>
              <a:rPr dirty="0" sz="1200" spc="-5" i="1">
                <a:latin typeface="Times New Roman"/>
                <a:cs typeface="Times New Roman"/>
              </a:rPr>
              <a:t> or situation.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buAutoNum type="romanLcParenBoth" startAt="5"/>
              <a:tabLst>
                <a:tab pos="224790" algn="l"/>
              </a:tabLst>
            </a:pPr>
            <a:r>
              <a:rPr dirty="0" sz="1200" i="1">
                <a:latin typeface="Times New Roman"/>
                <a:cs typeface="Times New Roman"/>
              </a:rPr>
              <a:t>Both of </a:t>
            </a:r>
            <a:r>
              <a:rPr dirty="0" sz="1200" spc="-5" i="1">
                <a:latin typeface="Times New Roman"/>
                <a:cs typeface="Times New Roman"/>
              </a:rPr>
              <a:t>Basits’s parents are doctors, </a:t>
            </a:r>
            <a:r>
              <a:rPr dirty="0" sz="1200" i="1">
                <a:latin typeface="Times New Roman"/>
                <a:cs typeface="Times New Roman"/>
              </a:rPr>
              <a:t>but it </a:t>
            </a:r>
            <a:r>
              <a:rPr dirty="0" sz="1200" spc="-5" i="1">
                <a:latin typeface="Times New Roman"/>
                <a:cs typeface="Times New Roman"/>
              </a:rPr>
              <a:t>doesn’t interest </a:t>
            </a:r>
            <a:r>
              <a:rPr dirty="0" sz="1200" i="1">
                <a:latin typeface="Times New Roman"/>
                <a:cs typeface="Times New Roman"/>
              </a:rPr>
              <a:t>Basit. </a:t>
            </a:r>
            <a:r>
              <a:rPr dirty="0" sz="1200" spc="-5" i="1">
                <a:latin typeface="Times New Roman"/>
                <a:cs typeface="Times New Roman"/>
              </a:rPr>
              <a:t>(What </a:t>
            </a:r>
            <a:r>
              <a:rPr dirty="0" sz="1200" i="1">
                <a:latin typeface="Times New Roman"/>
                <a:cs typeface="Times New Roman"/>
              </a:rPr>
              <a:t>doesn’t </a:t>
            </a:r>
            <a:r>
              <a:rPr dirty="0" sz="1200" spc="-5" i="1">
                <a:latin typeface="Times New Roman"/>
                <a:cs typeface="Times New Roman"/>
              </a:rPr>
              <a:t>interest </a:t>
            </a:r>
            <a:r>
              <a:rPr dirty="0" sz="1200" i="1">
                <a:latin typeface="Times New Roman"/>
                <a:cs typeface="Times New Roman"/>
              </a:rPr>
              <a:t> Basit?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Pronoun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doesn’t</a:t>
            </a:r>
            <a:r>
              <a:rPr dirty="0" sz="1200" spc="-5" i="1">
                <a:latin typeface="Times New Roman"/>
                <a:cs typeface="Times New Roman"/>
              </a:rPr>
              <a:t> refer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anything in 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sentence.)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Notice </a:t>
            </a:r>
            <a:r>
              <a:rPr dirty="0" sz="1200" spc="-5" b="1">
                <a:latin typeface="Times New Roman"/>
                <a:cs typeface="Times New Roman"/>
              </a:rPr>
              <a:t>how </a:t>
            </a:r>
            <a:r>
              <a:rPr dirty="0" sz="1200" b="1">
                <a:latin typeface="Times New Roman"/>
                <a:cs typeface="Times New Roman"/>
              </a:rPr>
              <a:t>communication </a:t>
            </a:r>
            <a:r>
              <a:rPr dirty="0" sz="1200" spc="-5" b="1">
                <a:latin typeface="Times New Roman"/>
                <a:cs typeface="Times New Roman"/>
              </a:rPr>
              <a:t>is enhanced in these sentences </a:t>
            </a:r>
            <a:r>
              <a:rPr dirty="0" sz="1200" b="1">
                <a:latin typeface="Times New Roman"/>
                <a:cs typeface="Times New Roman"/>
              </a:rPr>
              <a:t>given </a:t>
            </a:r>
            <a:r>
              <a:rPr dirty="0" sz="1200" spc="-5" b="1">
                <a:latin typeface="Times New Roman"/>
                <a:cs typeface="Times New Roman"/>
              </a:rPr>
              <a:t>earlier. </a:t>
            </a:r>
            <a:r>
              <a:rPr dirty="0" sz="1200" b="1">
                <a:latin typeface="Times New Roman"/>
                <a:cs typeface="Times New Roman"/>
              </a:rPr>
              <a:t>For </a:t>
            </a:r>
            <a:r>
              <a:rPr dirty="0" sz="1200" spc="-5" b="1">
                <a:latin typeface="Times New Roman"/>
                <a:cs typeface="Times New Roman"/>
              </a:rPr>
              <a:t>the first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example you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1985010">
              <a:lnSpc>
                <a:spcPts val="1380"/>
              </a:lnSpc>
              <a:spcBef>
                <a:spcPts val="5"/>
              </a:spcBef>
              <a:buAutoNum type="romanLcParenBoth"/>
              <a:tabLst>
                <a:tab pos="194945" algn="l"/>
              </a:tabLst>
            </a:pPr>
            <a:r>
              <a:rPr dirty="0" sz="1200" i="1">
                <a:latin typeface="Times New Roman"/>
                <a:cs typeface="Times New Roman"/>
              </a:rPr>
              <a:t>Rabia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Nafeesa,</a:t>
            </a:r>
            <a:r>
              <a:rPr dirty="0" sz="1200" spc="-5" i="1">
                <a:latin typeface="Times New Roman"/>
                <a:cs typeface="Times New Roman"/>
              </a:rPr>
              <a:t> “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</a:t>
            </a:r>
            <a:r>
              <a:rPr dirty="0" sz="1200" spc="-5" i="1">
                <a:latin typeface="Times New Roman"/>
                <a:cs typeface="Times New Roman"/>
              </a:rPr>
              <a:t> term </a:t>
            </a:r>
            <a:r>
              <a:rPr dirty="0" sz="1200" i="1">
                <a:latin typeface="Times New Roman"/>
                <a:cs typeface="Times New Roman"/>
              </a:rPr>
              <a:t>paper”.</a:t>
            </a:r>
            <a:r>
              <a:rPr dirty="0" sz="1200" spc="-5" i="1">
                <a:latin typeface="Times New Roman"/>
                <a:cs typeface="Times New Roman"/>
              </a:rPr>
              <a:t> OR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Rabia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 </a:t>
            </a:r>
            <a:r>
              <a:rPr dirty="0" sz="1200" spc="-5" i="1">
                <a:latin typeface="Times New Roman"/>
                <a:cs typeface="Times New Roman"/>
              </a:rPr>
              <a:t>Nafeesa,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“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got an A 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term</a:t>
            </a:r>
            <a:r>
              <a:rPr dirty="0" sz="1200" i="1">
                <a:latin typeface="Times New Roman"/>
                <a:cs typeface="Times New Roman"/>
              </a:rPr>
              <a:t> paper”.</a:t>
            </a:r>
            <a:endParaRPr sz="1200">
              <a:latin typeface="Times New Roman"/>
              <a:cs typeface="Times New Roman"/>
            </a:endParaRPr>
          </a:p>
          <a:p>
            <a:pPr marL="235585" indent="-223520">
              <a:lnSpc>
                <a:spcPts val="1315"/>
              </a:lnSpc>
              <a:buAutoNum type="romanLcParenBoth"/>
              <a:tabLst>
                <a:tab pos="236220" algn="l"/>
              </a:tabLst>
            </a:pPr>
            <a:r>
              <a:rPr dirty="0" sz="1200" i="1">
                <a:latin typeface="Times New Roman"/>
                <a:cs typeface="Times New Roman"/>
              </a:rPr>
              <a:t>Javeria will be </a:t>
            </a:r>
            <a:r>
              <a:rPr dirty="0" sz="1200" spc="-5" i="1">
                <a:latin typeface="Times New Roman"/>
                <a:cs typeface="Times New Roman"/>
              </a:rPr>
              <a:t>unable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 keep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– </a:t>
            </a:r>
            <a:r>
              <a:rPr dirty="0" sz="1200" spc="-5" i="1">
                <a:latin typeface="Times New Roman"/>
                <a:cs typeface="Times New Roman"/>
              </a:rPr>
              <a:t>according</a:t>
            </a:r>
            <a:r>
              <a:rPr dirty="0" sz="1200" i="1">
                <a:latin typeface="Times New Roman"/>
                <a:cs typeface="Times New Roman"/>
              </a:rPr>
              <a:t> to </a:t>
            </a:r>
            <a:r>
              <a:rPr dirty="0" sz="1200" spc="-5" i="1">
                <a:latin typeface="Times New Roman"/>
                <a:cs typeface="Times New Roman"/>
              </a:rPr>
              <a:t>what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told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Laila.</a:t>
            </a:r>
            <a:endParaRPr sz="1200">
              <a:latin typeface="Times New Roman"/>
              <a:cs typeface="Times New Roman"/>
            </a:endParaRPr>
          </a:p>
          <a:p>
            <a:pPr marL="278130" indent="-266065">
              <a:lnSpc>
                <a:spcPts val="1380"/>
              </a:lnSpc>
              <a:buAutoNum type="romanLcParenBoth"/>
              <a:tabLst>
                <a:tab pos="278765" algn="l"/>
              </a:tabLst>
            </a:pPr>
            <a:r>
              <a:rPr dirty="0" sz="1200" i="1">
                <a:latin typeface="Times New Roman"/>
                <a:cs typeface="Times New Roman"/>
              </a:rPr>
              <a:t>Personnel and management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 reached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tentative </a:t>
            </a:r>
            <a:r>
              <a:rPr dirty="0" sz="1200" i="1">
                <a:latin typeface="Times New Roman"/>
                <a:cs typeface="Times New Roman"/>
              </a:rPr>
              <a:t>agreement 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personnel’s </a:t>
            </a:r>
            <a:r>
              <a:rPr dirty="0" sz="1200" spc="-5" i="1">
                <a:latin typeface="Times New Roman"/>
                <a:cs typeface="Times New Roman"/>
              </a:rPr>
              <a:t>contract.</a:t>
            </a:r>
            <a:endParaRPr sz="1200">
              <a:latin typeface="Times New Roman"/>
              <a:cs typeface="Times New Roman"/>
            </a:endParaRPr>
          </a:p>
          <a:p>
            <a:pPr marL="261620" indent="-249554">
              <a:lnSpc>
                <a:spcPts val="1380"/>
              </a:lnSpc>
              <a:buAutoNum type="romanLcParenBoth"/>
              <a:tabLst>
                <a:tab pos="262255" algn="l"/>
              </a:tabLst>
            </a:pPr>
            <a:r>
              <a:rPr dirty="0" sz="1200" i="1">
                <a:latin typeface="Times New Roman"/>
                <a:cs typeface="Times New Roman"/>
              </a:rPr>
              <a:t>Each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encouraged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submit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 on time.</a:t>
            </a:r>
            <a:endParaRPr sz="1200">
              <a:latin typeface="Times New Roman"/>
              <a:cs typeface="Times New Roman"/>
            </a:endParaRPr>
          </a:p>
          <a:p>
            <a:pPr marL="219075" indent="-207010">
              <a:lnSpc>
                <a:spcPts val="1380"/>
              </a:lnSpc>
              <a:buAutoNum type="romanLcParenBoth"/>
              <a:tabLst>
                <a:tab pos="21971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were no questions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after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lecture.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 having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questions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 regrettable.</a:t>
            </a:r>
            <a:endParaRPr sz="1200">
              <a:latin typeface="Times New Roman"/>
              <a:cs typeface="Times New Roman"/>
            </a:endParaRPr>
          </a:p>
          <a:p>
            <a:pPr marL="261620" indent="-249554">
              <a:lnSpc>
                <a:spcPts val="1410"/>
              </a:lnSpc>
              <a:buAutoNum type="romanLcParenBoth"/>
              <a:tabLst>
                <a:tab pos="262255" algn="l"/>
              </a:tabLst>
            </a:pPr>
            <a:r>
              <a:rPr dirty="0" sz="1200" i="1">
                <a:latin typeface="Times New Roman"/>
                <a:cs typeface="Times New Roman"/>
              </a:rPr>
              <a:t>Both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 </a:t>
            </a:r>
            <a:r>
              <a:rPr dirty="0" sz="1200" spc="-5" i="1">
                <a:latin typeface="Times New Roman"/>
                <a:cs typeface="Times New Roman"/>
              </a:rPr>
              <a:t>Basit’s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parents are</a:t>
            </a:r>
            <a:r>
              <a:rPr dirty="0" sz="1200" i="1">
                <a:latin typeface="Times New Roman"/>
                <a:cs typeface="Times New Roman"/>
              </a:rPr>
              <a:t> doctors,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medicine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doesn’t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interest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Basit.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brackets.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Riaz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father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arrested,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(Riaz,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cry.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complain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maintenance </a:t>
            </a:r>
            <a:r>
              <a:rPr dirty="0" sz="1200">
                <a:latin typeface="Times New Roman"/>
                <a:cs typeface="Times New Roman"/>
              </a:rPr>
              <a:t>staff)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tidy.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7165" algn="l"/>
              </a:tabLst>
            </a:pPr>
            <a:r>
              <a:rPr dirty="0" sz="1200">
                <a:latin typeface="Times New Roman"/>
                <a:cs typeface="Times New Roman"/>
              </a:rPr>
              <a:t>Mahnoor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tore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wrapping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threw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(it,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paper)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rubbish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bin.</a:t>
            </a:r>
            <a:endParaRPr sz="1200">
              <a:latin typeface="Times New Roman"/>
              <a:cs typeface="Times New Roman"/>
            </a:endParaRPr>
          </a:p>
          <a:p>
            <a:pPr marL="191770" indent="-179070">
              <a:lnSpc>
                <a:spcPts val="1345"/>
              </a:lnSpc>
              <a:buAutoNum type="arabicPeriod"/>
              <a:tabLst>
                <a:tab pos="191770" algn="l"/>
              </a:tabLst>
            </a:pP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poor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shop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Sunday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bazaar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(they,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vendors)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992446"/>
            <a:ext cx="1067435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percent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discount.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179</a:t>
            </a:fld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966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camping,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(them,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activities).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III.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Pronoun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Point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Pronouns that refer to the person </a:t>
            </a:r>
            <a:r>
              <a:rPr dirty="0" sz="1200" spc="-5">
                <a:latin typeface="Times New Roman"/>
                <a:cs typeface="Times New Roman"/>
              </a:rPr>
              <a:t>who is speaking is called </a:t>
            </a:r>
            <a:r>
              <a:rPr dirty="0" sz="1200">
                <a:latin typeface="Times New Roman"/>
                <a:cs typeface="Times New Roman"/>
              </a:rPr>
              <a:t>a first person e.g. </a:t>
            </a:r>
            <a:r>
              <a:rPr dirty="0" sz="1200" i="1">
                <a:latin typeface="Times New Roman"/>
                <a:cs typeface="Times New Roman"/>
              </a:rPr>
              <a:t>I, </a:t>
            </a:r>
            <a:r>
              <a:rPr dirty="0" sz="1200" spc="-5" i="1">
                <a:latin typeface="Times New Roman"/>
                <a:cs typeface="Times New Roman"/>
              </a:rPr>
              <a:t>me, </a:t>
            </a:r>
            <a:r>
              <a:rPr dirty="0" sz="1200" i="1">
                <a:latin typeface="Times New Roman"/>
                <a:cs typeface="Times New Roman"/>
              </a:rPr>
              <a:t>our.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pronoun that refers to </a:t>
            </a:r>
            <a:r>
              <a:rPr dirty="0" sz="1200" spc="-5">
                <a:latin typeface="Times New Roman"/>
                <a:cs typeface="Times New Roman"/>
              </a:rPr>
              <a:t>someone </a:t>
            </a:r>
            <a:r>
              <a:rPr dirty="0" sz="1200">
                <a:latin typeface="Times New Roman"/>
                <a:cs typeface="Times New Roman"/>
              </a:rPr>
              <a:t>being spoken to,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5" i="1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, is </a:t>
            </a:r>
            <a:r>
              <a:rPr dirty="0" sz="1200">
                <a:latin typeface="Times New Roman"/>
                <a:cs typeface="Times New Roman"/>
              </a:rPr>
              <a:t>a second person pronoun.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a pronoun that </a:t>
            </a:r>
            <a:r>
              <a:rPr dirty="0" sz="1200" spc="-5">
                <a:latin typeface="Times New Roman"/>
                <a:cs typeface="Times New Roman"/>
              </a:rPr>
              <a:t>refers </a:t>
            </a:r>
            <a:r>
              <a:rPr dirty="0" sz="1200">
                <a:latin typeface="Times New Roman"/>
                <a:cs typeface="Times New Roman"/>
              </a:rPr>
              <a:t>to another person or thing,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he, she, it,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" i="1">
                <a:latin typeface="Times New Roman"/>
                <a:cs typeface="Times New Roman"/>
              </a:rPr>
              <a:t>third person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pronoun. Here are the personal pronouns in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 and third person groupings. (See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only)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pronoun, 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</a:t>
            </a:r>
            <a:r>
              <a:rPr dirty="0" sz="1200" spc="-5">
                <a:latin typeface="Times New Roman"/>
                <a:cs typeface="Times New Roman"/>
              </a:rPr>
              <a:t> must </a:t>
            </a:r>
            <a:r>
              <a:rPr dirty="0" sz="1200">
                <a:latin typeface="Times New Roman"/>
                <a:cs typeface="Times New Roman"/>
              </a:rPr>
              <a:t>stay the</a:t>
            </a:r>
            <a:r>
              <a:rPr dirty="0" sz="1200" spc="-5">
                <a:latin typeface="Times New Roman"/>
                <a:cs typeface="Times New Roman"/>
              </a:rPr>
              <a:t> same. Do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shift unnecessarily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point of view to </a:t>
            </a:r>
            <a:r>
              <a:rPr dirty="0" sz="1200" spc="-5">
                <a:latin typeface="Times New Roman"/>
                <a:cs typeface="Times New Roman"/>
              </a:rPr>
              <a:t>another,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following 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Personal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Pronouns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3572086"/>
          <a:ext cx="3881120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7395"/>
                <a:gridCol w="1066800"/>
                <a:gridCol w="958850"/>
                <a:gridCol w="1108075"/>
              </a:tblGrid>
              <a:tr h="172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1st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Person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2nd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Person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3rd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Person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Singular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you,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your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he,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him,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2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Mine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she,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her,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it,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its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Plural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we,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us,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our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6854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you,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your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they,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them,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their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180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4419853"/>
            <a:ext cx="5630545" cy="476440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7620">
              <a:lnSpc>
                <a:spcPts val="1380"/>
              </a:lnSpc>
              <a:spcBef>
                <a:spcPts val="195"/>
              </a:spcBef>
              <a:buAutoNum type="romanLcParenBoth"/>
              <a:tabLst>
                <a:tab pos="201295" algn="l"/>
              </a:tabLst>
            </a:pP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worst </a:t>
            </a:r>
            <a:r>
              <a:rPr dirty="0" sz="1200" i="1">
                <a:latin typeface="Times New Roman"/>
                <a:cs typeface="Times New Roman"/>
              </a:rPr>
              <a:t>thing </a:t>
            </a:r>
            <a:r>
              <a:rPr dirty="0" sz="1200" spc="-5" i="1">
                <a:latin typeface="Times New Roman"/>
                <a:cs typeface="Times New Roman"/>
              </a:rPr>
              <a:t>about my </a:t>
            </a:r>
            <a:r>
              <a:rPr dirty="0" sz="1200" i="1">
                <a:latin typeface="Times New Roman"/>
                <a:cs typeface="Times New Roman"/>
              </a:rPr>
              <a:t>not writing </a:t>
            </a:r>
            <a:r>
              <a:rPr dirty="0" sz="1200" spc="-5" i="1">
                <a:latin typeface="Times New Roman"/>
                <a:cs typeface="Times New Roman"/>
              </a:rPr>
              <a:t>letters is </a:t>
            </a:r>
            <a:r>
              <a:rPr dirty="0" sz="1200" i="1">
                <a:latin typeface="Times New Roman"/>
                <a:cs typeface="Times New Roman"/>
              </a:rPr>
              <a:t>that you </a:t>
            </a:r>
            <a:r>
              <a:rPr dirty="0" sz="1200" spc="-5" i="1">
                <a:latin typeface="Times New Roman"/>
                <a:cs typeface="Times New Roman"/>
              </a:rPr>
              <a:t>never </a:t>
            </a:r>
            <a:r>
              <a:rPr dirty="0" sz="1200" i="1">
                <a:latin typeface="Times New Roman"/>
                <a:cs typeface="Times New Roman"/>
              </a:rPr>
              <a:t>get any back. (The </a:t>
            </a:r>
            <a:r>
              <a:rPr dirty="0" sz="1200" spc="-5" i="1">
                <a:latin typeface="Times New Roman"/>
                <a:cs typeface="Times New Roman"/>
              </a:rPr>
              <a:t>writer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begins </a:t>
            </a:r>
            <a:r>
              <a:rPr dirty="0" sz="1200" i="1">
                <a:latin typeface="Times New Roman"/>
                <a:cs typeface="Times New Roman"/>
              </a:rPr>
              <a:t>with the </a:t>
            </a:r>
            <a:r>
              <a:rPr dirty="0" sz="1200" spc="-5" i="1">
                <a:latin typeface="Times New Roman"/>
                <a:cs typeface="Times New Roman"/>
              </a:rPr>
              <a:t>first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person</a:t>
            </a:r>
            <a:r>
              <a:rPr dirty="0" sz="1200" i="1">
                <a:latin typeface="Times New Roman"/>
                <a:cs typeface="Times New Roman"/>
              </a:rPr>
              <a:t> pronoun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</a:t>
            </a:r>
            <a:r>
              <a:rPr dirty="0" sz="1200" spc="-5" i="1">
                <a:latin typeface="Times New Roman"/>
                <a:cs typeface="Times New Roman"/>
              </a:rPr>
              <a:t>,</a:t>
            </a:r>
            <a:r>
              <a:rPr dirty="0" sz="1200" i="1">
                <a:latin typeface="Times New Roman"/>
                <a:cs typeface="Times New Roman"/>
              </a:rPr>
              <a:t> but then</a:t>
            </a:r>
            <a:r>
              <a:rPr dirty="0" sz="1200" spc="-5" i="1">
                <a:latin typeface="Times New Roman"/>
                <a:cs typeface="Times New Roman"/>
              </a:rPr>
              <a:t> shifts</a:t>
            </a:r>
            <a:r>
              <a:rPr dirty="0" sz="1200" i="1">
                <a:latin typeface="Times New Roman"/>
                <a:cs typeface="Times New Roman"/>
              </a:rPr>
              <a:t> to the second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person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pronoun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romanLcParenBoth"/>
            </a:pPr>
            <a:endParaRPr sz="12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380"/>
              </a:lnSpc>
              <a:buAutoNum type="romanLcParenBoth"/>
              <a:tabLst>
                <a:tab pos="247650" algn="l"/>
              </a:tabLst>
            </a:pPr>
            <a:r>
              <a:rPr dirty="0" sz="1200" i="1">
                <a:latin typeface="Times New Roman"/>
                <a:cs typeface="Times New Roman"/>
              </a:rPr>
              <a:t>Though we like </a:t>
            </a:r>
            <a:r>
              <a:rPr dirty="0" sz="1200" spc="-5" i="1">
                <a:latin typeface="Times New Roman"/>
                <a:cs typeface="Times New Roman"/>
              </a:rPr>
              <a:t>most </a:t>
            </a:r>
            <a:r>
              <a:rPr dirty="0" sz="1200" i="1">
                <a:latin typeface="Times New Roman"/>
                <a:cs typeface="Times New Roman"/>
              </a:rPr>
              <a:t>of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our</a:t>
            </a:r>
            <a:r>
              <a:rPr dirty="0" sz="1200" spc="-5" i="1">
                <a:latin typeface="Times New Roman"/>
                <a:cs typeface="Times New Roman"/>
              </a:rPr>
              <a:t> neighbors, there are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few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can’t get along with. (The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writer </a:t>
            </a:r>
            <a:r>
              <a:rPr dirty="0" sz="1200" i="1">
                <a:latin typeface="Times New Roman"/>
                <a:cs typeface="Times New Roman"/>
              </a:rPr>
              <a:t>begins with the fist </a:t>
            </a:r>
            <a:r>
              <a:rPr dirty="0" sz="1200" spc="-5" i="1">
                <a:latin typeface="Times New Roman"/>
                <a:cs typeface="Times New Roman"/>
              </a:rPr>
              <a:t>person </a:t>
            </a:r>
            <a:r>
              <a:rPr dirty="0" sz="1200" i="1">
                <a:latin typeface="Times New Roman"/>
                <a:cs typeface="Times New Roman"/>
              </a:rPr>
              <a:t>pronouns we and our, but then </a:t>
            </a:r>
            <a:r>
              <a:rPr dirty="0" sz="1200" spc="-5" i="1">
                <a:latin typeface="Times New Roman"/>
                <a:cs typeface="Times New Roman"/>
              </a:rPr>
              <a:t>shifts </a:t>
            </a:r>
            <a:r>
              <a:rPr dirty="0" sz="1200" i="1">
                <a:latin typeface="Times New Roman"/>
                <a:cs typeface="Times New Roman"/>
              </a:rPr>
              <a:t>to the second </a:t>
            </a:r>
            <a:r>
              <a:rPr dirty="0" sz="1200" spc="-5" i="1">
                <a:latin typeface="Times New Roman"/>
                <a:cs typeface="Times New Roman"/>
              </a:rPr>
              <a:t>person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pronoun </a:t>
            </a:r>
            <a:r>
              <a:rPr dirty="0" sz="1200" i="1">
                <a:latin typeface="Times New Roman"/>
                <a:cs typeface="Times New Roman"/>
              </a:rPr>
              <a:t>you).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improved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eliminating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shifts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person: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85"/>
              </a:lnSpc>
              <a:buAutoNum type="romanLcParenBoth"/>
              <a:tabLst>
                <a:tab pos="194945" algn="l"/>
              </a:tabLst>
            </a:pPr>
            <a:r>
              <a:rPr dirty="0" sz="1200" i="1">
                <a:latin typeface="Times New Roman"/>
                <a:cs typeface="Times New Roman"/>
              </a:rPr>
              <a:t>The worst thing </a:t>
            </a:r>
            <a:r>
              <a:rPr dirty="0" sz="1200" spc="-5" i="1">
                <a:latin typeface="Times New Roman"/>
                <a:cs typeface="Times New Roman"/>
              </a:rPr>
              <a:t>about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</a:t>
            </a:r>
            <a:r>
              <a:rPr dirty="0" sz="1200" i="1">
                <a:latin typeface="Times New Roman"/>
                <a:cs typeface="Times New Roman"/>
              </a:rPr>
              <a:t> not writing </a:t>
            </a:r>
            <a:r>
              <a:rPr dirty="0" sz="1200" spc="-5" i="1">
                <a:latin typeface="Times New Roman"/>
                <a:cs typeface="Times New Roman"/>
              </a:rPr>
              <a:t>letters is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never </a:t>
            </a:r>
            <a:r>
              <a:rPr dirty="0" sz="1200" i="1">
                <a:latin typeface="Times New Roman"/>
                <a:cs typeface="Times New Roman"/>
              </a:rPr>
              <a:t>get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-5" i="1">
                <a:latin typeface="Times New Roman"/>
                <a:cs typeface="Times New Roman"/>
              </a:rPr>
              <a:t> back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36220" indent="-224154">
              <a:lnSpc>
                <a:spcPts val="1415"/>
              </a:lnSpc>
              <a:buAutoNum type="romanLcParenBoth"/>
              <a:tabLst>
                <a:tab pos="236854" algn="l"/>
              </a:tabLst>
            </a:pPr>
            <a:r>
              <a:rPr dirty="0" sz="1200" i="1">
                <a:latin typeface="Times New Roman"/>
                <a:cs typeface="Times New Roman"/>
              </a:rPr>
              <a:t>Though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sz="1200" i="1">
                <a:latin typeface="Times New Roman"/>
                <a:cs typeface="Times New Roman"/>
              </a:rPr>
              <a:t> like </a:t>
            </a:r>
            <a:r>
              <a:rPr dirty="0" sz="1200" spc="-5" i="1">
                <a:latin typeface="Times New Roman"/>
                <a:cs typeface="Times New Roman"/>
              </a:rPr>
              <a:t>most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our </a:t>
            </a:r>
            <a:r>
              <a:rPr dirty="0" sz="1200" i="1">
                <a:latin typeface="Times New Roman"/>
                <a:cs typeface="Times New Roman"/>
              </a:rPr>
              <a:t>neighbors,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</a:t>
            </a:r>
            <a:r>
              <a:rPr dirty="0" sz="1200" spc="-5" i="1">
                <a:latin typeface="Times New Roman"/>
                <a:cs typeface="Times New Roman"/>
              </a:rPr>
              <a:t> are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few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sz="1200" i="1">
                <a:latin typeface="Times New Roman"/>
                <a:cs typeface="Times New Roman"/>
              </a:rPr>
              <a:t> can’t</a:t>
            </a:r>
            <a:r>
              <a:rPr dirty="0" sz="1200" spc="-5" i="1">
                <a:latin typeface="Times New Roman"/>
                <a:cs typeface="Times New Roman"/>
              </a:rPr>
              <a:t> get along with.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>
                <a:latin typeface="Times New Roman"/>
                <a:cs typeface="Times New Roman"/>
              </a:rPr>
              <a:t>Improve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shifts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5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What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about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holidays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set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alarm.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laborers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break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5" i="1">
                <a:latin typeface="Times New Roman"/>
                <a:cs typeface="Times New Roman"/>
              </a:rPr>
              <a:t> 11:00 whether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sz="1200" spc="-5" i="1">
                <a:latin typeface="Times New Roman"/>
                <a:cs typeface="Times New Roman"/>
              </a:rPr>
              <a:t> want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Whenever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students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under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great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stress,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often go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</a:t>
            </a:r>
            <a:r>
              <a:rPr dirty="0" sz="1200" spc="-5" i="1">
                <a:latin typeface="Times New Roman"/>
                <a:cs typeface="Times New Roman"/>
              </a:rPr>
              <a:t> depression.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 </a:t>
            </a:r>
            <a:r>
              <a:rPr dirty="0" sz="1200" spc="-5" i="1">
                <a:latin typeface="Times New Roman"/>
                <a:cs typeface="Times New Roman"/>
              </a:rPr>
              <a:t>course, </a:t>
            </a:r>
            <a:r>
              <a:rPr dirty="0" sz="1200" i="1">
                <a:latin typeface="Times New Roman"/>
                <a:cs typeface="Times New Roman"/>
              </a:rPr>
              <a:t>one should plan on </a:t>
            </a:r>
            <a:r>
              <a:rPr dirty="0" sz="1200" spc="-5" i="1">
                <a:latin typeface="Times New Roman"/>
                <a:cs typeface="Times New Roman"/>
              </a:rPr>
              <a:t>attending</a:t>
            </a:r>
            <a:r>
              <a:rPr dirty="0" sz="1200" i="1">
                <a:latin typeface="Times New Roman"/>
                <a:cs typeface="Times New Roman"/>
              </a:rPr>
              <a:t> every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lesson.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When I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first</a:t>
            </a:r>
            <a:r>
              <a:rPr dirty="0" sz="1200" i="1">
                <a:latin typeface="Times New Roman"/>
                <a:cs typeface="Times New Roman"/>
              </a:rPr>
              <a:t> began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nurse,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surprised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how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rude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some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patients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i="1">
                <a:latin typeface="Times New Roman"/>
                <a:cs typeface="Times New Roman"/>
              </a:rPr>
              <a:t>1.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about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holidays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set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alarm.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5">
                <a:latin typeface="Times New Roman"/>
                <a:cs typeface="Times New Roman"/>
              </a:rPr>
              <a:t> about </a:t>
            </a:r>
            <a:r>
              <a:rPr dirty="0" sz="1200">
                <a:latin typeface="Times New Roman"/>
                <a:cs typeface="Times New Roman"/>
              </a:rPr>
              <a:t>holidays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 </a:t>
            </a:r>
            <a:r>
              <a:rPr dirty="0" sz="1200">
                <a:latin typeface="Times New Roman"/>
                <a:cs typeface="Times New Roman"/>
              </a:rPr>
              <a:t>don’t have to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an </a:t>
            </a:r>
            <a:r>
              <a:rPr dirty="0" sz="1200" spc="-5">
                <a:latin typeface="Times New Roman"/>
                <a:cs typeface="Times New Roman"/>
              </a:rPr>
              <a:t>alarm.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2.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laborers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break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5" i="1">
                <a:latin typeface="Times New Roman"/>
                <a:cs typeface="Times New Roman"/>
              </a:rPr>
              <a:t> 11:00 whether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 want </a:t>
            </a:r>
            <a:r>
              <a:rPr dirty="0" sz="1200" i="1">
                <a:latin typeface="Times New Roman"/>
                <a:cs typeface="Times New Roman"/>
              </a:rPr>
              <a:t>to </a:t>
            </a:r>
            <a:r>
              <a:rPr dirty="0" sz="1200" spc="-5" i="1">
                <a:latin typeface="Times New Roman"/>
                <a:cs typeface="Times New Roman"/>
              </a:rPr>
              <a:t>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laborers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11:00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64465" indent="-152400">
              <a:lnSpc>
                <a:spcPts val="1405"/>
              </a:lnSpc>
              <a:spcBef>
                <a:spcPts val="1080"/>
              </a:spcBef>
              <a:buAutoNum type="arabicPeriod" startAt="3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Whenever students are under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great deal of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stress, we often go </a:t>
            </a:r>
            <a:r>
              <a:rPr dirty="0" sz="1200" i="1">
                <a:latin typeface="Times New Roman"/>
                <a:cs typeface="Times New Roman"/>
              </a:rPr>
              <a:t>into </a:t>
            </a:r>
            <a:r>
              <a:rPr dirty="0" sz="1200" spc="-10" i="1">
                <a:latin typeface="Times New Roman"/>
                <a:cs typeface="Times New Roman"/>
              </a:rPr>
              <a:t>depression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-Whenever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 deal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stress, </a:t>
            </a:r>
            <a:r>
              <a:rPr dirty="0" sz="1200" b="1">
                <a:latin typeface="Times New Roman"/>
                <a:cs typeface="Times New Roman"/>
              </a:rPr>
              <a:t>they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 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depression.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attending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you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attending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nurse,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surprised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rude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patients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nurse,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surprised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rude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patients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TEST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Neither </a:t>
            </a:r>
            <a:r>
              <a:rPr dirty="0" sz="1200" spc="-5" i="1">
                <a:latin typeface="Times New Roman"/>
                <a:cs typeface="Times New Roman"/>
              </a:rPr>
              <a:t>friend</a:t>
            </a:r>
            <a:r>
              <a:rPr dirty="0" sz="1200" i="1">
                <a:latin typeface="Times New Roman"/>
                <a:cs typeface="Times New Roman"/>
              </a:rPr>
              <a:t> wants to work in </a:t>
            </a:r>
            <a:r>
              <a:rPr dirty="0" sz="1200" spc="-5" i="1">
                <a:latin typeface="Times New Roman"/>
                <a:cs typeface="Times New Roman"/>
              </a:rPr>
              <a:t>(his/their)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family </a:t>
            </a:r>
            <a:r>
              <a:rPr dirty="0" sz="1200" spc="-5" i="1">
                <a:latin typeface="Times New Roman"/>
                <a:cs typeface="Times New Roman"/>
              </a:rPr>
              <a:t>business.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anyone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or her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their)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pudding,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I‘ll eat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5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was </a:t>
            </a:r>
            <a:r>
              <a:rPr dirty="0" sz="1200" i="1">
                <a:latin typeface="Times New Roman"/>
                <a:cs typeface="Times New Roman"/>
              </a:rPr>
              <a:t>stopped</a:t>
            </a:r>
            <a:r>
              <a:rPr dirty="0" sz="1200" spc="-5" i="1">
                <a:latin typeface="Times New Roman"/>
                <a:cs typeface="Times New Roman"/>
              </a:rPr>
              <a:t> for </a:t>
            </a:r>
            <a:r>
              <a:rPr dirty="0" sz="1200" i="1">
                <a:latin typeface="Times New Roman"/>
                <a:cs typeface="Times New Roman"/>
              </a:rPr>
              <a:t>speeding,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said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I’d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beyond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speed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limit.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2880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won’t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Abrar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ul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Haq’s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concert</a:t>
            </a:r>
            <a:r>
              <a:rPr dirty="0" sz="1200" spc="1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tonight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because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there’s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way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could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get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ticket.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209550" algn="l"/>
              </a:tabLst>
            </a:pPr>
            <a:r>
              <a:rPr dirty="0" sz="1200" i="1">
                <a:latin typeface="Times New Roman"/>
                <a:cs typeface="Times New Roman"/>
              </a:rPr>
              <a:t>Neither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friend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(his</a:t>
            </a:r>
            <a:r>
              <a:rPr dirty="0" sz="1200" spc="-5" i="1">
                <a:latin typeface="Times New Roman"/>
                <a:cs typeface="Times New Roman"/>
              </a:rPr>
              <a:t>/their)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family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business.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(Neither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indefinite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5">
                <a:latin typeface="Times New Roman"/>
                <a:cs typeface="Times New Roman"/>
              </a:rPr>
              <a:t> is singular.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agree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number).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anyone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want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their) </a:t>
            </a:r>
            <a:r>
              <a:rPr dirty="0" sz="1200" i="1">
                <a:latin typeface="Times New Roman"/>
                <a:cs typeface="Times New Roman"/>
              </a:rPr>
              <a:t>pudding,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I‘ll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was </a:t>
            </a:r>
            <a:r>
              <a:rPr dirty="0" sz="1200" i="1">
                <a:latin typeface="Times New Roman"/>
                <a:cs typeface="Times New Roman"/>
              </a:rPr>
              <a:t>stopped</a:t>
            </a:r>
            <a:r>
              <a:rPr dirty="0" sz="1200" spc="-5" i="1">
                <a:latin typeface="Times New Roman"/>
                <a:cs typeface="Times New Roman"/>
              </a:rPr>
              <a:t> for </a:t>
            </a:r>
            <a:r>
              <a:rPr dirty="0" sz="1200" i="1">
                <a:latin typeface="Times New Roman"/>
                <a:cs typeface="Times New Roman"/>
              </a:rPr>
              <a:t>speeding,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5" i="1">
                <a:latin typeface="Times New Roman"/>
                <a:cs typeface="Times New Roman"/>
              </a:rPr>
              <a:t> said </a:t>
            </a:r>
            <a:r>
              <a:rPr dirty="0" sz="1200" i="1">
                <a:latin typeface="Times New Roman"/>
                <a:cs typeface="Times New Roman"/>
              </a:rPr>
              <a:t>I’d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beyond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speed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limit.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stopped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speeding,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police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officer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said……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</a:pPr>
            <a:r>
              <a:rPr dirty="0" sz="1200" spc="-5" i="1">
                <a:latin typeface="Times New Roman"/>
                <a:cs typeface="Times New Roman"/>
              </a:rPr>
              <a:t>4.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won’t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Abrar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ul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Haq’s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concert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tonight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because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there’s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way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could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get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ticket.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…….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could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ticket.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TEST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two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correct</a:t>
            </a:r>
            <a:r>
              <a:rPr dirty="0" sz="1200">
                <a:latin typeface="Times New Roman"/>
                <a:cs typeface="Times New Roman"/>
              </a:rPr>
              <a:t> version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passage.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/>
              <a:tabLst>
                <a:tab pos="17335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Bashir told Yousaf that </a:t>
            </a:r>
            <a:r>
              <a:rPr dirty="0" sz="1200" spc="-5" b="1">
                <a:latin typeface="Times New Roman"/>
                <a:cs typeface="Times New Roman"/>
              </a:rPr>
              <a:t>he </a:t>
            </a:r>
            <a:r>
              <a:rPr dirty="0" sz="1200" i="1">
                <a:latin typeface="Times New Roman"/>
                <a:cs typeface="Times New Roman"/>
              </a:rPr>
              <a:t>needed a new car. </a:t>
            </a:r>
            <a:r>
              <a:rPr dirty="0" sz="1200" spc="-5" i="1">
                <a:latin typeface="Times New Roman"/>
                <a:cs typeface="Times New Roman"/>
              </a:rPr>
              <a:t>Bashir </a:t>
            </a:r>
            <a:r>
              <a:rPr dirty="0" sz="1200" i="1">
                <a:latin typeface="Times New Roman"/>
                <a:cs typeface="Times New Roman"/>
              </a:rPr>
              <a:t>went on to say, </a:t>
            </a:r>
            <a:r>
              <a:rPr dirty="0" sz="1200" spc="-5" i="1">
                <a:latin typeface="Times New Roman"/>
                <a:cs typeface="Times New Roman"/>
              </a:rPr>
              <a:t>“I </a:t>
            </a:r>
            <a:r>
              <a:rPr dirty="0" sz="1200" i="1">
                <a:latin typeface="Times New Roman"/>
                <a:cs typeface="Times New Roman"/>
              </a:rPr>
              <a:t>still like </a:t>
            </a:r>
            <a:r>
              <a:rPr dirty="0" sz="1200" spc="-5" i="1">
                <a:latin typeface="Times New Roman"/>
                <a:cs typeface="Times New Roman"/>
              </a:rPr>
              <a:t>my </a:t>
            </a:r>
            <a:r>
              <a:rPr dirty="0" sz="1200" i="1">
                <a:latin typeface="Times New Roman"/>
                <a:cs typeface="Times New Roman"/>
              </a:rPr>
              <a:t>old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Suzuki,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but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spends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more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time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workshop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road.”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Yousaf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agreed </a:t>
            </a:r>
            <a:r>
              <a:rPr dirty="0" sz="1200" spc="-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anybody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pay</a:t>
            </a:r>
            <a:r>
              <a:rPr dirty="0" sz="1200" spc="-5" i="1">
                <a:latin typeface="Times New Roman"/>
                <a:cs typeface="Times New Roman"/>
              </a:rPr>
              <a:t> for so </a:t>
            </a:r>
            <a:r>
              <a:rPr dirty="0" sz="1200" i="1">
                <a:latin typeface="Times New Roman"/>
                <a:cs typeface="Times New Roman"/>
              </a:rPr>
              <a:t>many</a:t>
            </a:r>
            <a:r>
              <a:rPr dirty="0" sz="1200" spc="-5" i="1">
                <a:latin typeface="Times New Roman"/>
                <a:cs typeface="Times New Roman"/>
              </a:rPr>
              <a:t> repairs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 should buy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new 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(Bashir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Yousaf,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“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sz="1200" spc="85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need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new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car”.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Yousaf…..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Yousaf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agreed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…….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many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repairs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car should buy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new 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  <a:buAutoNum type="arabicPeriod" startAt="2"/>
              <a:tabLst>
                <a:tab pos="172085" algn="l"/>
              </a:tabLst>
            </a:pPr>
            <a:r>
              <a:rPr dirty="0" sz="1200">
                <a:latin typeface="Times New Roman"/>
                <a:cs typeface="Times New Roman"/>
              </a:rPr>
              <a:t>The restaurant down the road isn’t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a profit these days. During an inspection last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month, they found </a:t>
            </a:r>
            <a:r>
              <a:rPr dirty="0" sz="1200" spc="-5">
                <a:latin typeface="Times New Roman"/>
                <a:cs typeface="Times New Roman"/>
              </a:rPr>
              <a:t>rats</a:t>
            </a:r>
            <a:r>
              <a:rPr dirty="0" sz="1200">
                <a:latin typeface="Times New Roman"/>
                <a:cs typeface="Times New Roman"/>
              </a:rPr>
              <a:t> and cockroaches in the kitchen. The bad publicity caused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was damaging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restaurants</a:t>
            </a:r>
            <a:r>
              <a:rPr dirty="0" sz="1200" spc="-5">
                <a:latin typeface="Times New Roman"/>
                <a:cs typeface="Times New Roman"/>
              </a:rPr>
              <a:t> business.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restaurant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road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……..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health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officials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found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Close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week. </a:t>
            </a:r>
            <a:r>
              <a:rPr dirty="0" sz="1200" spc="-5" b="1">
                <a:latin typeface="Times New Roman"/>
                <a:cs typeface="Times New Roman"/>
              </a:rPr>
              <a:t>This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closing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damaging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7900" y="435356"/>
            <a:ext cx="5943600" cy="86239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9175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50800" marR="2838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-The restaurant down the road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…….. The health officials found …….. Close down for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closing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damaging</a:t>
            </a:r>
            <a:endParaRPr sz="120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80"/>
              </a:lnSpc>
              <a:buAutoNum type="arabicPeriod" startAt="3"/>
              <a:tabLst>
                <a:tab pos="210185" algn="l"/>
              </a:tabLst>
            </a:pPr>
            <a:r>
              <a:rPr dirty="0" sz="1200">
                <a:latin typeface="Times New Roman"/>
                <a:cs typeface="Times New Roman"/>
              </a:rPr>
              <a:t>Each of the </a:t>
            </a:r>
            <a:r>
              <a:rPr dirty="0" sz="1200" spc="-5">
                <a:latin typeface="Times New Roman"/>
                <a:cs typeface="Times New Roman"/>
              </a:rPr>
              <a:t>sisters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successful artist </a:t>
            </a:r>
            <a:r>
              <a:rPr dirty="0" sz="1200">
                <a:latin typeface="Times New Roman"/>
                <a:cs typeface="Times New Roman"/>
              </a:rPr>
              <a:t>in their own field. </a:t>
            </a:r>
            <a:r>
              <a:rPr dirty="0" sz="1200" spc="-5">
                <a:latin typeface="Times New Roman"/>
                <a:cs typeface="Times New Roman"/>
              </a:rPr>
              <a:t>Amina </a:t>
            </a:r>
            <a:r>
              <a:rPr dirty="0" sz="1200">
                <a:latin typeface="Times New Roman"/>
                <a:cs typeface="Times New Roman"/>
              </a:rPr>
              <a:t>does oil </a:t>
            </a:r>
            <a:r>
              <a:rPr dirty="0" sz="1200" spc="-5">
                <a:latin typeface="Times New Roman"/>
                <a:cs typeface="Times New Roman"/>
              </a:rPr>
              <a:t>paintings 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sells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Grow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Eaters’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Gallery.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Kamilia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jewelry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sells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herself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</a:t>
            </a:r>
            <a:r>
              <a:rPr dirty="0" sz="1200" spc="-5">
                <a:latin typeface="Times New Roman"/>
                <a:cs typeface="Times New Roman"/>
              </a:rPr>
              <a:t>home.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 startAt="3"/>
            </a:pPr>
            <a:endParaRPr sz="115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Each of the </a:t>
            </a:r>
            <a:r>
              <a:rPr dirty="0" sz="1200" spc="-5">
                <a:latin typeface="Times New Roman"/>
                <a:cs typeface="Times New Roman"/>
              </a:rPr>
              <a:t>sisters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successful </a:t>
            </a:r>
            <a:r>
              <a:rPr dirty="0" sz="1200">
                <a:latin typeface="Times New Roman"/>
                <a:cs typeface="Times New Roman"/>
              </a:rPr>
              <a:t>artist in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 field…….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sells </a:t>
            </a:r>
            <a:r>
              <a:rPr dirty="0" sz="1200">
                <a:latin typeface="Times New Roman"/>
                <a:cs typeface="Times New Roman"/>
              </a:rPr>
              <a:t>by herself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</a:t>
            </a:r>
            <a:r>
              <a:rPr dirty="0" sz="1200" spc="-5">
                <a:latin typeface="Times New Roman"/>
                <a:cs typeface="Times New Roman"/>
              </a:rPr>
              <a:t>home.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50800" marR="284480">
              <a:lnSpc>
                <a:spcPts val="1380"/>
              </a:lnSpc>
              <a:buAutoNum type="arabicPeriod" startAt="4"/>
              <a:tabLst>
                <a:tab pos="212725" algn="l"/>
              </a:tabLst>
            </a:pPr>
            <a:r>
              <a:rPr dirty="0" sz="1200" spc="-5">
                <a:latin typeface="Times New Roman"/>
                <a:cs typeface="Times New Roman"/>
              </a:rPr>
              <a:t>An angry looking man stood outside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bank, shouting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they had stolen his money.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Passersby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walked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around</a:t>
            </a:r>
            <a:r>
              <a:rPr dirty="0" sz="1200">
                <a:latin typeface="Times New Roman"/>
                <a:cs typeface="Times New Roman"/>
              </a:rPr>
              <a:t> him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 because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did not </a:t>
            </a:r>
            <a:r>
              <a:rPr dirty="0" sz="1200" spc="-5">
                <a:latin typeface="Times New Roman"/>
                <a:cs typeface="Times New Roman"/>
              </a:rPr>
              <a:t>know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he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>
                <a:latin typeface="Times New Roman"/>
                <a:cs typeface="Times New Roman"/>
              </a:rPr>
              <a:t> 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50800" marR="2844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 (They have nothing in the sentence to refer to). Shouting that the </a:t>
            </a:r>
            <a:r>
              <a:rPr dirty="0" sz="1200" spc="-5" b="1">
                <a:latin typeface="Times New Roman"/>
                <a:cs typeface="Times New Roman"/>
              </a:rPr>
              <a:t>bank </a:t>
            </a:r>
            <a:r>
              <a:rPr dirty="0" sz="1200" b="1">
                <a:latin typeface="Times New Roman"/>
                <a:cs typeface="Times New Roman"/>
              </a:rPr>
              <a:t>employees </a:t>
            </a:r>
            <a:r>
              <a:rPr dirty="0" sz="1200">
                <a:latin typeface="Times New Roman"/>
                <a:cs typeface="Times New Roman"/>
              </a:rPr>
              <a:t>had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stolen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>
                <a:latin typeface="Times New Roman"/>
                <a:cs typeface="Times New Roman"/>
              </a:rPr>
              <a:t> money….quickly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(passers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by) did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know…….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50800" marR="28575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following passage </a:t>
            </a:r>
            <a:r>
              <a:rPr dirty="0" sz="1200">
                <a:latin typeface="Times New Roman"/>
                <a:cs typeface="Times New Roman"/>
              </a:rPr>
              <a:t>each sentence contains one </a:t>
            </a:r>
            <a:r>
              <a:rPr dirty="0" sz="1200" spc="-5">
                <a:latin typeface="Times New Roman"/>
                <a:cs typeface="Times New Roman"/>
              </a:rPr>
              <a:t>pronoun mistake. </a:t>
            </a:r>
            <a:r>
              <a:rPr dirty="0" sz="1200">
                <a:latin typeface="Times New Roman"/>
                <a:cs typeface="Times New Roman"/>
              </a:rPr>
              <a:t>Find the </a:t>
            </a:r>
            <a:r>
              <a:rPr dirty="0" sz="1200" spc="-5">
                <a:latin typeface="Times New Roman"/>
                <a:cs typeface="Times New Roman"/>
              </a:rPr>
              <a:t>mistakes </a:t>
            </a:r>
            <a:r>
              <a:rPr dirty="0" sz="1200">
                <a:latin typeface="Times New Roman"/>
                <a:cs typeface="Times New Roman"/>
              </a:rPr>
              <a:t>&amp;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  <a:spcBef>
                <a:spcPts val="5"/>
              </a:spcBef>
            </a:pPr>
            <a:r>
              <a:rPr dirty="0" baseline="4629" sz="1800">
                <a:latin typeface="Times New Roman"/>
                <a:cs typeface="Times New Roman"/>
              </a:rPr>
              <a:t>1.</a:t>
            </a:r>
            <a:r>
              <a:rPr dirty="0" baseline="4629" sz="1800" spc="8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Aunty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Mussarrat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Riaz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arrived,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dinner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endParaRPr sz="1200">
              <a:latin typeface="Times New Roman"/>
              <a:cs typeface="Times New Roman"/>
            </a:endParaRPr>
          </a:p>
          <a:p>
            <a:pPr algn="just" marL="50800" marR="282575">
              <a:lnSpc>
                <a:spcPct val="9860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and rushed to the door, shouting their greetings. </a:t>
            </a:r>
            <a:r>
              <a:rPr dirty="0" baseline="4629" sz="1800">
                <a:latin typeface="Times New Roman"/>
                <a:cs typeface="Times New Roman"/>
              </a:rPr>
              <a:t>2. </a:t>
            </a:r>
            <a:r>
              <a:rPr dirty="0" sz="1200">
                <a:latin typeface="Times New Roman"/>
                <a:cs typeface="Times New Roman"/>
              </a:rPr>
              <a:t>“I’m sorry we’re </a:t>
            </a:r>
            <a:r>
              <a:rPr dirty="0" sz="1200" spc="-5">
                <a:latin typeface="Times New Roman"/>
                <a:cs typeface="Times New Roman"/>
              </a:rPr>
              <a:t>late,” </a:t>
            </a:r>
            <a:r>
              <a:rPr dirty="0" sz="1200">
                <a:latin typeface="Times New Roman"/>
                <a:cs typeface="Times New Roman"/>
              </a:rPr>
              <a:t>said uncle Riaz,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“but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Mussarrat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insists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driving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forty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hour,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are.”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3. </a:t>
            </a:r>
            <a:r>
              <a:rPr dirty="0" baseline="4629" sz="1800" spc="-43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“But you were late in </a:t>
            </a:r>
            <a:r>
              <a:rPr dirty="0" sz="1200" spc="-5">
                <a:latin typeface="Times New Roman"/>
                <a:cs typeface="Times New Roman"/>
              </a:rPr>
              <a:t>coming home </a:t>
            </a:r>
            <a:r>
              <a:rPr dirty="0" sz="1200">
                <a:latin typeface="Times New Roman"/>
                <a:cs typeface="Times New Roman"/>
              </a:rPr>
              <a:t>from work and also in leaving </a:t>
            </a:r>
            <a:r>
              <a:rPr dirty="0" sz="1200" spc="-5">
                <a:latin typeface="Times New Roman"/>
                <a:cs typeface="Times New Roman"/>
              </a:rPr>
              <a:t>Islamabad, </a:t>
            </a:r>
            <a:r>
              <a:rPr dirty="0" sz="1200">
                <a:latin typeface="Times New Roman"/>
                <a:cs typeface="Times New Roman"/>
              </a:rPr>
              <a:t>and it’s all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yours fault”, Aunty </a:t>
            </a:r>
            <a:r>
              <a:rPr dirty="0" sz="1200" spc="-5">
                <a:latin typeface="Times New Roman"/>
                <a:cs typeface="Times New Roman"/>
              </a:rPr>
              <a:t>Mussarat </a:t>
            </a:r>
            <a:r>
              <a:rPr dirty="0" sz="1200">
                <a:latin typeface="Times New Roman"/>
                <a:cs typeface="Times New Roman"/>
              </a:rPr>
              <a:t>answered. </a:t>
            </a:r>
            <a:r>
              <a:rPr dirty="0" baseline="4629" sz="1800">
                <a:latin typeface="Times New Roman"/>
                <a:cs typeface="Times New Roman"/>
              </a:rPr>
              <a:t>4. </a:t>
            </a:r>
            <a:r>
              <a:rPr dirty="0" sz="1200">
                <a:latin typeface="Times New Roman"/>
                <a:cs typeface="Times New Roman"/>
              </a:rPr>
              <a:t>“The </a:t>
            </a:r>
            <a:r>
              <a:rPr dirty="0" sz="1200" spc="-5">
                <a:latin typeface="Times New Roman"/>
                <a:cs typeface="Times New Roman"/>
              </a:rPr>
              <a:t>worst </a:t>
            </a:r>
            <a:r>
              <a:rPr dirty="0" sz="1200">
                <a:latin typeface="Times New Roman"/>
                <a:cs typeface="Times New Roman"/>
              </a:rPr>
              <a:t>thing </a:t>
            </a:r>
            <a:r>
              <a:rPr dirty="0" sz="1200" spc="-5">
                <a:latin typeface="Times New Roman"/>
                <a:cs typeface="Times New Roman"/>
              </a:rPr>
              <a:t>for me is </a:t>
            </a:r>
            <a:r>
              <a:rPr dirty="0" sz="1200">
                <a:latin typeface="Times New Roman"/>
                <a:cs typeface="Times New Roman"/>
              </a:rPr>
              <a:t>living with </a:t>
            </a:r>
            <a:r>
              <a:rPr dirty="0" sz="1200" spc="-5">
                <a:latin typeface="Times New Roman"/>
                <a:cs typeface="Times New Roman"/>
              </a:rPr>
              <a:t>such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fussy man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have to wait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him to finish selecting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wardrobe, washing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car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combing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hair just right,” continued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Aunty.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TEST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50800" marR="285115" indent="38100">
              <a:lnSpc>
                <a:spcPts val="138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Answer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>
                <a:latin typeface="Times New Roman"/>
                <a:cs typeface="Times New Roman"/>
              </a:rPr>
              <a:t>In the following </a:t>
            </a:r>
            <a:r>
              <a:rPr dirty="0" sz="1200" spc="-5">
                <a:latin typeface="Times New Roman"/>
                <a:cs typeface="Times New Roman"/>
              </a:rPr>
              <a:t>passage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contains </a:t>
            </a:r>
            <a:r>
              <a:rPr dirty="0" sz="1200" spc="-5" b="1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pronoun </a:t>
            </a:r>
            <a:r>
              <a:rPr dirty="0" sz="1200" spc="-5">
                <a:latin typeface="Times New Roman"/>
                <a:cs typeface="Times New Roman"/>
              </a:rPr>
              <a:t>mistake. </a:t>
            </a:r>
            <a:r>
              <a:rPr dirty="0" sz="1200">
                <a:latin typeface="Times New Roman"/>
                <a:cs typeface="Times New Roman"/>
              </a:rPr>
              <a:t>Find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mistakes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7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1.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Aunty </a:t>
            </a:r>
            <a:r>
              <a:rPr dirty="0" sz="1200" spc="-5">
                <a:latin typeface="Times New Roman"/>
                <a:cs typeface="Times New Roman"/>
              </a:rPr>
              <a:t>Mussarrat </a:t>
            </a:r>
            <a:r>
              <a:rPr dirty="0" sz="1200">
                <a:latin typeface="Times New Roman"/>
                <a:cs typeface="Times New Roman"/>
              </a:rPr>
              <a:t>and Uncle Riaz </a:t>
            </a:r>
            <a:r>
              <a:rPr dirty="0" sz="1200" spc="-5">
                <a:latin typeface="Times New Roman"/>
                <a:cs typeface="Times New Roman"/>
              </a:rPr>
              <a:t>arrived, we all jumped up from the dinner table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rushed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door,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shouting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their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greetings.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“I’m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we’re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late,”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Riaz,</a:t>
            </a:r>
            <a:endParaRPr sz="1200">
              <a:latin typeface="Times New Roman"/>
              <a:cs typeface="Times New Roman"/>
            </a:endParaRPr>
          </a:p>
          <a:p>
            <a:pPr algn="just" marL="50800" marR="2838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“but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Mussarrat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insists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forty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miles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you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are.”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“But you were late in </a:t>
            </a:r>
            <a:r>
              <a:rPr dirty="0" sz="1200" spc="-5">
                <a:latin typeface="Times New Roman"/>
                <a:cs typeface="Times New Roman"/>
              </a:rPr>
              <a:t>coming home </a:t>
            </a:r>
            <a:r>
              <a:rPr dirty="0" sz="1200">
                <a:latin typeface="Times New Roman"/>
                <a:cs typeface="Times New Roman"/>
              </a:rPr>
              <a:t>from work and also in leaving </a:t>
            </a:r>
            <a:r>
              <a:rPr dirty="0" sz="1200" spc="-5">
                <a:latin typeface="Times New Roman"/>
                <a:cs typeface="Times New Roman"/>
              </a:rPr>
              <a:t>Islamabad,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 b="1">
                <a:latin typeface="Times New Roman"/>
                <a:cs typeface="Times New Roman"/>
              </a:rPr>
              <a:t>it’s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 yours fault”, Aunty </a:t>
            </a:r>
            <a:r>
              <a:rPr dirty="0" sz="1200" spc="-5">
                <a:latin typeface="Times New Roman"/>
                <a:cs typeface="Times New Roman"/>
              </a:rPr>
              <a:t>Mussarat </a:t>
            </a:r>
            <a:r>
              <a:rPr dirty="0" sz="1200">
                <a:latin typeface="Times New Roman"/>
                <a:cs typeface="Times New Roman"/>
              </a:rPr>
              <a:t>answered. 4. “The </a:t>
            </a:r>
            <a:r>
              <a:rPr dirty="0" sz="1200" spc="-5">
                <a:latin typeface="Times New Roman"/>
                <a:cs typeface="Times New Roman"/>
              </a:rPr>
              <a:t>worst </a:t>
            </a:r>
            <a:r>
              <a:rPr dirty="0" sz="1200">
                <a:latin typeface="Times New Roman"/>
                <a:cs typeface="Times New Roman"/>
              </a:rPr>
              <a:t>thing for </a:t>
            </a:r>
            <a:r>
              <a:rPr dirty="0" sz="1200" spc="-5">
                <a:latin typeface="Times New Roman"/>
                <a:cs typeface="Times New Roman"/>
              </a:rPr>
              <a:t>me is </a:t>
            </a:r>
            <a:r>
              <a:rPr dirty="0" sz="1200">
                <a:latin typeface="Times New Roman"/>
                <a:cs typeface="Times New Roman"/>
              </a:rPr>
              <a:t>living with such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fussy man is </a:t>
            </a:r>
            <a:r>
              <a:rPr dirty="0" sz="1200" spc="-5" b="1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have to wait for him to finish selecting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wardrobe, washing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car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combing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hair </a:t>
            </a:r>
            <a:r>
              <a:rPr dirty="0" sz="1200" spc="-5">
                <a:latin typeface="Times New Roman"/>
                <a:cs typeface="Times New Roman"/>
              </a:rPr>
              <a:t>just </a:t>
            </a:r>
            <a:r>
              <a:rPr dirty="0" sz="1200">
                <a:latin typeface="Times New Roman"/>
                <a:cs typeface="Times New Roman"/>
              </a:rPr>
              <a:t>right,”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continued</a:t>
            </a:r>
            <a:r>
              <a:rPr dirty="0" sz="1200" spc="-5">
                <a:latin typeface="Times New Roman"/>
                <a:cs typeface="Times New Roman"/>
              </a:rPr>
              <a:t> Aunty.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1:</a:t>
            </a:r>
            <a:r>
              <a:rPr dirty="0" sz="1200">
                <a:latin typeface="Times New Roman"/>
                <a:cs typeface="Times New Roman"/>
              </a:rPr>
              <a:t> 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greetings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greetings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-5">
                <a:latin typeface="Times New Roman"/>
                <a:cs typeface="Times New Roman"/>
              </a:rPr>
              <a:t>jumped</a:t>
            </a:r>
            <a:endParaRPr sz="1200">
              <a:latin typeface="Times New Roman"/>
              <a:cs typeface="Times New Roman"/>
            </a:endParaRPr>
          </a:p>
          <a:p>
            <a:pPr marL="50800" marR="12249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1st </a:t>
            </a:r>
            <a:r>
              <a:rPr dirty="0" sz="1200">
                <a:latin typeface="Times New Roman"/>
                <a:cs typeface="Times New Roman"/>
              </a:rPr>
              <a:t>person pronoun. </a:t>
            </a:r>
            <a:r>
              <a:rPr dirty="0" sz="1200" b="1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shift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baseline="31250" sz="1200" spc="-15">
                <a:latin typeface="Times New Roman"/>
                <a:cs typeface="Times New Roman"/>
              </a:rPr>
              <a:t>rd</a:t>
            </a:r>
            <a:r>
              <a:rPr dirty="0" baseline="31250" sz="1200" spc="-7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 point of view.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 </a:t>
            </a:r>
            <a:r>
              <a:rPr dirty="0" sz="1200" spc="-10" b="1">
                <a:latin typeface="Times New Roman"/>
                <a:cs typeface="Times New Roman"/>
              </a:rPr>
              <a:t>we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  <a:p>
            <a:pPr marL="50800" marR="2838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3: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its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sentence: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lateness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fault.</a:t>
            </a:r>
            <a:endParaRPr sz="1200">
              <a:latin typeface="Times New Roman"/>
              <a:cs typeface="Times New Roman"/>
            </a:endParaRPr>
          </a:p>
          <a:p>
            <a:pPr marL="50800" marR="2825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fussy man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" b="1">
                <a:latin typeface="Times New Roman"/>
                <a:cs typeface="Times New Roman"/>
              </a:rPr>
              <a:t>you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627370" cy="4588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3770629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each, everyone,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something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pronouns.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709545" algn="l"/>
                <a:tab pos="2900045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such </a:t>
            </a:r>
            <a:r>
              <a:rPr dirty="0" sz="1200" spc="-5" b="1">
                <a:latin typeface="Times New Roman"/>
                <a:cs typeface="Times New Roman"/>
              </a:rPr>
              <a:t>I,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you,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b="1">
                <a:latin typeface="Times New Roman"/>
                <a:cs typeface="Times New Roman"/>
              </a:rPr>
              <a:t>they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	pronouns.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845819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person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marL="202565" indent="-190500">
              <a:lnSpc>
                <a:spcPts val="1380"/>
              </a:lnSpc>
              <a:buAutoNum type="arabicPeriod"/>
              <a:tabLst>
                <a:tab pos="203200" algn="l"/>
                <a:tab pos="5045075" algn="l"/>
              </a:tabLst>
            </a:pPr>
            <a:r>
              <a:rPr dirty="0" sz="1200" spc="-5">
                <a:latin typeface="Times New Roman"/>
                <a:cs typeface="Times New Roman"/>
              </a:rPr>
              <a:t>True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False?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pronoun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 even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antecedent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206375" algn="l"/>
              </a:tabLst>
            </a:pP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False?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needlessly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_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Lesson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each,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everyone,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are singular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you,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True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False?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singular even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antecedent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plural. </a:t>
            </a:r>
            <a:r>
              <a:rPr dirty="0" sz="1200" spc="-5">
                <a:latin typeface="Times New Roman"/>
                <a:cs typeface="Times New Roman"/>
              </a:rPr>
              <a:t>(F)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70180" algn="l"/>
              </a:tabLst>
            </a:pP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False?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needlessly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RECAP: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 errors and how to </a:t>
            </a:r>
            <a:r>
              <a:rPr dirty="0" sz="1200" spc="-5">
                <a:latin typeface="Times New Roman"/>
                <a:cs typeface="Times New Roman"/>
              </a:rPr>
              <a:t>improve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focusing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keep in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aspects </a:t>
            </a:r>
            <a:r>
              <a:rPr dirty="0" sz="1200">
                <a:latin typeface="Times New Roman"/>
                <a:cs typeface="Times New Roman"/>
              </a:rPr>
              <a:t>of language and avoid these errors, and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avoid making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047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5004435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-28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</a:t>
            </a:r>
            <a:r>
              <a:rPr dirty="0" u="heavy" sz="1200" spc="-7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Choice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and expressions, and in the second part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shall look at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 </a:t>
            </a:r>
            <a:r>
              <a:rPr dirty="0" sz="1200" spc="-5">
                <a:latin typeface="Times New Roman"/>
                <a:cs typeface="Times New Roman"/>
              </a:rPr>
              <a:t>mistaken </a:t>
            </a:r>
            <a:r>
              <a:rPr dirty="0" sz="1200">
                <a:latin typeface="Times New Roman"/>
                <a:cs typeface="Times New Roman"/>
              </a:rPr>
              <a:t>for one another because they </a:t>
            </a:r>
            <a:r>
              <a:rPr dirty="0" sz="1200" spc="-5">
                <a:latin typeface="Times New Roman"/>
                <a:cs typeface="Times New Roman"/>
              </a:rPr>
              <a:t>are homonyms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i.e. they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pronounced the </a:t>
            </a:r>
            <a:r>
              <a:rPr dirty="0" sz="1200" spc="-5">
                <a:latin typeface="Times New Roman"/>
                <a:cs typeface="Times New Roman"/>
              </a:rPr>
              <a:t>same,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same, </a:t>
            </a:r>
            <a:r>
              <a:rPr dirty="0" sz="1200">
                <a:latin typeface="Times New Roman"/>
                <a:cs typeface="Times New Roman"/>
              </a:rPr>
              <a:t>but are spelled </a:t>
            </a:r>
            <a:r>
              <a:rPr dirty="0" sz="1200" spc="-5">
                <a:latin typeface="Times New Roman"/>
                <a:cs typeface="Times New Roman"/>
              </a:rPr>
              <a:t>differently </a:t>
            </a:r>
            <a:r>
              <a:rPr dirty="0" sz="1200">
                <a:latin typeface="Times New Roman"/>
                <a:cs typeface="Times New Roman"/>
              </a:rPr>
              <a:t>and are different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 be a good writer 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learn to </a:t>
            </a:r>
            <a:r>
              <a:rPr dirty="0" sz="1200" spc="-5">
                <a:latin typeface="Times New Roman"/>
                <a:cs typeface="Times New Roman"/>
              </a:rPr>
              <a:t>use words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-5">
                <a:latin typeface="Times New Roman"/>
                <a:cs typeface="Times New Roman"/>
              </a:rPr>
              <a:t>suitable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occasion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audience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Even 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casual student of </a:t>
            </a:r>
            <a:r>
              <a:rPr dirty="0" sz="1200" spc="-5">
                <a:latin typeface="Times New Roman"/>
                <a:cs typeface="Times New Roman"/>
              </a:rPr>
              <a:t>English </a:t>
            </a:r>
            <a:r>
              <a:rPr dirty="0" sz="1200">
                <a:latin typeface="Times New Roman"/>
                <a:cs typeface="Times New Roman"/>
              </a:rPr>
              <a:t>soon </a:t>
            </a:r>
            <a:r>
              <a:rPr dirty="0" sz="1200" spc="-5">
                <a:latin typeface="Times New Roman"/>
                <a:cs typeface="Times New Roman"/>
              </a:rPr>
              <a:t>becomes </a:t>
            </a:r>
            <a:r>
              <a:rPr dirty="0" sz="1200">
                <a:latin typeface="Times New Roman"/>
                <a:cs typeface="Times New Roman"/>
              </a:rPr>
              <a:t>aware of the fact that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 different speech levels. </a:t>
            </a:r>
            <a:r>
              <a:rPr dirty="0" sz="1200" spc="-5">
                <a:latin typeface="Times New Roman"/>
                <a:cs typeface="Times New Roman"/>
              </a:rPr>
              <a:t>Some 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unmistakably </a:t>
            </a:r>
            <a:r>
              <a:rPr dirty="0" sz="1200">
                <a:latin typeface="Times New Roman"/>
                <a:cs typeface="Times New Roman"/>
              </a:rPr>
              <a:t>bookish or literary, some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informal </a:t>
            </a:r>
            <a:r>
              <a:rPr dirty="0" sz="1200">
                <a:latin typeface="Times New Roman"/>
                <a:cs typeface="Times New Roman"/>
              </a:rPr>
              <a:t>or colloquial. Every trade and </a:t>
            </a:r>
            <a:r>
              <a:rPr dirty="0" sz="1200" spc="-5">
                <a:latin typeface="Times New Roman"/>
                <a:cs typeface="Times New Roman"/>
              </a:rPr>
              <a:t>profession has its own </a:t>
            </a:r>
            <a:r>
              <a:rPr dirty="0" sz="1200">
                <a:latin typeface="Times New Roman"/>
                <a:cs typeface="Times New Roman"/>
              </a:rPr>
              <a:t>technical jargon. Then there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words that </a:t>
            </a:r>
            <a:r>
              <a:rPr dirty="0" sz="1200">
                <a:latin typeface="Times New Roman"/>
                <a:cs typeface="Times New Roman"/>
              </a:rPr>
              <a:t>are used </a:t>
            </a:r>
            <a:r>
              <a:rPr dirty="0" sz="1200" spc="-5">
                <a:latin typeface="Times New Roman"/>
                <a:cs typeface="Times New Roman"/>
              </a:rPr>
              <a:t>only </a:t>
            </a:r>
            <a:r>
              <a:rPr dirty="0" sz="1200">
                <a:latin typeface="Times New Roman"/>
                <a:cs typeface="Times New Roman"/>
              </a:rPr>
              <a:t>for humorous effect and there are </a:t>
            </a:r>
            <a:r>
              <a:rPr dirty="0" sz="1200" spc="-5">
                <a:latin typeface="Times New Roman"/>
                <a:cs typeface="Times New Roman"/>
              </a:rPr>
              <a:t>words that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never used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polite </a:t>
            </a:r>
            <a:r>
              <a:rPr dirty="0" sz="1200" spc="-5">
                <a:latin typeface="Times New Roman"/>
                <a:cs typeface="Times New Roman"/>
              </a:rPr>
              <a:t>situations.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realize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there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variety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variety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words to go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all writing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involve grammar.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grammatically </a:t>
            </a:r>
            <a:r>
              <a:rPr dirty="0" sz="1200">
                <a:latin typeface="Times New Roman"/>
                <a:cs typeface="Times New Roman"/>
              </a:rPr>
              <a:t>correct, yet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effectively</a:t>
            </a:r>
            <a:r>
              <a:rPr dirty="0" sz="1200">
                <a:latin typeface="Times New Roman"/>
                <a:cs typeface="Times New Roman"/>
              </a:rPr>
              <a:t> 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chosen.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literature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take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r>
              <a:rPr dirty="0" sz="1200">
                <a:latin typeface="Times New Roman"/>
                <a:cs typeface="Times New Roman"/>
              </a:rPr>
              <a:t> Slang,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clichés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wordiness </a:t>
            </a:r>
            <a:r>
              <a:rPr dirty="0" sz="1200">
                <a:latin typeface="Times New Roman"/>
                <a:cs typeface="Times New Roman"/>
              </a:rPr>
              <a:t>are three </a:t>
            </a:r>
            <a:r>
              <a:rPr dirty="0" sz="1200" spc="-5">
                <a:latin typeface="Times New Roman"/>
                <a:cs typeface="Times New Roman"/>
              </a:rPr>
              <a:t>enemies </a:t>
            </a:r>
            <a:r>
              <a:rPr dirty="0" sz="1200">
                <a:latin typeface="Times New Roman"/>
                <a:cs typeface="Times New Roman"/>
              </a:rPr>
              <a:t>of clear communication. Slang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are lively and add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colour to </a:t>
            </a: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everyday </a:t>
            </a:r>
            <a:r>
              <a:rPr dirty="0" sz="1200" spc="-5">
                <a:latin typeface="Times New Roman"/>
                <a:cs typeface="Times New Roman"/>
              </a:rPr>
              <a:t>speech </a:t>
            </a:r>
            <a:r>
              <a:rPr dirty="0" sz="1200">
                <a:latin typeface="Times New Roman"/>
                <a:cs typeface="Times New Roman"/>
              </a:rPr>
              <a:t>but it </a:t>
            </a:r>
            <a:r>
              <a:rPr dirty="0" sz="1200" spc="-5">
                <a:latin typeface="Times New Roman"/>
                <a:cs typeface="Times New Roman"/>
              </a:rPr>
              <a:t>is generally </a:t>
            </a:r>
            <a:r>
              <a:rPr dirty="0" sz="1200">
                <a:latin typeface="Times New Roman"/>
                <a:cs typeface="Times New Roman"/>
              </a:rPr>
              <a:t>out of place in </a:t>
            </a:r>
            <a:r>
              <a:rPr dirty="0" sz="1200" spc="-5">
                <a:latin typeface="Times New Roman"/>
                <a:cs typeface="Times New Roman"/>
              </a:rPr>
              <a:t>formal </a:t>
            </a:r>
            <a:r>
              <a:rPr dirty="0" sz="1200">
                <a:latin typeface="Times New Roman"/>
                <a:cs typeface="Times New Roman"/>
              </a:rPr>
              <a:t>writing. </a:t>
            </a:r>
            <a:r>
              <a:rPr dirty="0" sz="1200" spc="-5">
                <a:latin typeface="Times New Roman"/>
                <a:cs typeface="Times New Roman"/>
              </a:rPr>
              <a:t>Most slang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often </a:t>
            </a:r>
            <a:r>
              <a:rPr dirty="0" sz="1200">
                <a:latin typeface="Times New Roman"/>
                <a:cs typeface="Times New Roman"/>
              </a:rPr>
              <a:t>vague</a:t>
            </a:r>
            <a:r>
              <a:rPr dirty="0" sz="1200" spc="-5">
                <a:latin typeface="Times New Roman"/>
                <a:cs typeface="Times New Roman"/>
              </a:rPr>
              <a:t> substitutes for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Careful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avoid weakening their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with slang. Slang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living language no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doubt, </a:t>
            </a:r>
            <a:r>
              <a:rPr dirty="0" sz="1200" spc="-5">
                <a:latin typeface="Times New Roman"/>
                <a:cs typeface="Times New Roman"/>
              </a:rPr>
              <a:t>as new words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are coined </a:t>
            </a: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>
                <a:latin typeface="Times New Roman"/>
                <a:cs typeface="Times New Roman"/>
              </a:rPr>
              <a:t>daily and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of these die out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quickly.</a:t>
            </a:r>
            <a:r>
              <a:rPr dirty="0" sz="1200" spc="-5">
                <a:latin typeface="Times New Roman"/>
                <a:cs typeface="Times New Roman"/>
              </a:rPr>
              <a:t> For </a:t>
            </a:r>
            <a:r>
              <a:rPr dirty="0" sz="1200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Slang: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When my mother saw me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zonked </a:t>
            </a:r>
            <a:r>
              <a:rPr dirty="0" sz="1200" i="1">
                <a:latin typeface="Times New Roman"/>
                <a:cs typeface="Times New Roman"/>
              </a:rPr>
              <a:t>out on the sofa,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she </a:t>
            </a:r>
            <a:r>
              <a:rPr dirty="0" sz="1200" b="1" i="1">
                <a:latin typeface="Times New Roman"/>
                <a:cs typeface="Times New Roman"/>
              </a:rPr>
              <a:t>lost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it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Revised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mother </a:t>
            </a:r>
            <a:r>
              <a:rPr dirty="0" sz="1200" spc="-5">
                <a:latin typeface="Times New Roman"/>
                <a:cs typeface="Times New Roman"/>
              </a:rPr>
              <a:t>saw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sleeping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sofa </a:t>
            </a:r>
            <a:r>
              <a:rPr dirty="0" sz="1200" spc="-5">
                <a:latin typeface="Times New Roman"/>
                <a:cs typeface="Times New Roman"/>
              </a:rPr>
              <a:t>she became</a:t>
            </a:r>
            <a:r>
              <a:rPr dirty="0" sz="1200">
                <a:latin typeface="Times New Roman"/>
                <a:cs typeface="Times New Roman"/>
              </a:rPr>
              <a:t> angry.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Slang: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my mother saw me </a:t>
            </a:r>
            <a:r>
              <a:rPr dirty="0" sz="1200" i="1">
                <a:latin typeface="Times New Roman"/>
                <a:cs typeface="Times New Roman"/>
              </a:rPr>
              <a:t>zonked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 the sofa,</a:t>
            </a:r>
            <a:r>
              <a:rPr dirty="0" sz="1200" spc="-5" i="1">
                <a:latin typeface="Times New Roman"/>
                <a:cs typeface="Times New Roman"/>
              </a:rPr>
              <a:t> she </a:t>
            </a:r>
            <a:r>
              <a:rPr dirty="0" sz="1200" i="1">
                <a:latin typeface="Times New Roman"/>
                <a:cs typeface="Times New Roman"/>
              </a:rPr>
              <a:t>lost it.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Revised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mother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saw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</a:t>
            </a:r>
            <a:r>
              <a:rPr dirty="0" sz="1200" i="1">
                <a:latin typeface="Times New Roman"/>
                <a:cs typeface="Times New Roman"/>
              </a:rPr>
              <a:t> sleeping on the sofa </a:t>
            </a: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became angry.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Slang by its nature </a:t>
            </a:r>
            <a:r>
              <a:rPr dirty="0" sz="1200" spc="-5">
                <a:latin typeface="Times New Roman"/>
                <a:cs typeface="Times New Roman"/>
              </a:rPr>
              <a:t>is informal. </a:t>
            </a:r>
            <a:r>
              <a:rPr dirty="0" sz="1200">
                <a:latin typeface="Times New Roman"/>
                <a:cs typeface="Times New Roman"/>
              </a:rPr>
              <a:t>Slang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commonly used in talk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friends or colleagues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suitable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good </a:t>
            </a:r>
            <a:r>
              <a:rPr dirty="0" sz="1200">
                <a:latin typeface="Times New Roman"/>
                <a:cs typeface="Times New Roman"/>
              </a:rPr>
              <a:t>writing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formal </a:t>
            </a:r>
            <a:r>
              <a:rPr dirty="0" sz="1200">
                <a:latin typeface="Times New Roman"/>
                <a:cs typeface="Times New Roman"/>
              </a:rPr>
              <a:t>occasions, especially the kind </a:t>
            </a:r>
            <a:r>
              <a:rPr dirty="0" sz="1200" spc="-5">
                <a:latin typeface="Times New Roman"/>
                <a:cs typeface="Times New Roman"/>
              </a:rPr>
              <a:t>used by and </a:t>
            </a:r>
            <a:r>
              <a:rPr dirty="0" sz="1200">
                <a:latin typeface="Times New Roman"/>
                <a:cs typeface="Times New Roman"/>
              </a:rPr>
              <a:t> typical of only one </a:t>
            </a:r>
            <a:r>
              <a:rPr dirty="0" sz="1200" spc="-5">
                <a:latin typeface="Times New Roman"/>
                <a:cs typeface="Times New Roman"/>
              </a:rPr>
              <a:t>class of persons, such as, </a:t>
            </a:r>
            <a:r>
              <a:rPr dirty="0" sz="1200" spc="-5" i="1">
                <a:latin typeface="Times New Roman"/>
                <a:cs typeface="Times New Roman"/>
              </a:rPr>
              <a:t>army slang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5" i="1">
                <a:latin typeface="Times New Roman"/>
                <a:cs typeface="Times New Roman"/>
              </a:rPr>
              <a:t>prison slang</a:t>
            </a:r>
            <a:r>
              <a:rPr dirty="0" sz="1200" spc="-5">
                <a:latin typeface="Times New Roman"/>
                <a:cs typeface="Times New Roman"/>
              </a:rPr>
              <a:t>... As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said earlier, </a:t>
            </a:r>
            <a:r>
              <a:rPr dirty="0" sz="1200">
                <a:latin typeface="Times New Roman"/>
                <a:cs typeface="Times New Roman"/>
              </a:rPr>
              <a:t> slang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>
                <a:latin typeface="Times New Roman"/>
                <a:cs typeface="Times New Roman"/>
              </a:rPr>
              <a:t>be appropriate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casual </a:t>
            </a:r>
            <a:r>
              <a:rPr dirty="0" sz="1200">
                <a:latin typeface="Times New Roman"/>
                <a:cs typeface="Times New Roman"/>
              </a:rPr>
              <a:t>conversation,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formal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realized by </a:t>
            </a:r>
            <a:r>
              <a:rPr dirty="0" sz="1200" spc="-5">
                <a:latin typeface="Times New Roman"/>
                <a:cs typeface="Times New Roman"/>
              </a:rPr>
              <a:t>foreign learners of English </a:t>
            </a:r>
            <a:r>
              <a:rPr dirty="0" sz="1200">
                <a:latin typeface="Times New Roman"/>
                <a:cs typeface="Times New Roman"/>
              </a:rPr>
              <a:t>that slang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by </a:t>
            </a:r>
            <a:r>
              <a:rPr dirty="0" sz="1200" spc="-5">
                <a:latin typeface="Times New Roman"/>
                <a:cs typeface="Times New Roman"/>
              </a:rPr>
              <a:t>limited </a:t>
            </a:r>
            <a:r>
              <a:rPr dirty="0" sz="1200">
                <a:latin typeface="Times New Roman"/>
                <a:cs typeface="Times New Roman"/>
              </a:rPr>
              <a:t>social groups.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Slang in </a:t>
            </a:r>
            <a:r>
              <a:rPr dirty="0" sz="1200" spc="-5">
                <a:latin typeface="Times New Roman"/>
                <a:cs typeface="Times New Roman"/>
              </a:rPr>
              <a:t>USA is </a:t>
            </a:r>
            <a:r>
              <a:rPr dirty="0" sz="1200">
                <a:latin typeface="Times New Roman"/>
                <a:cs typeface="Times New Roman"/>
              </a:rPr>
              <a:t>different from that in the </a:t>
            </a:r>
            <a:r>
              <a:rPr dirty="0" sz="1200" spc="-5">
                <a:latin typeface="Times New Roman"/>
                <a:cs typeface="Times New Roman"/>
              </a:rPr>
              <a:t>UK, </a:t>
            </a:r>
            <a:r>
              <a:rPr dirty="0" sz="1200">
                <a:latin typeface="Times New Roman"/>
                <a:cs typeface="Times New Roman"/>
              </a:rPr>
              <a:t>Australia and other English speaking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countries. Slang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of the 1960s </a:t>
            </a:r>
            <a:r>
              <a:rPr dirty="0" sz="1200" spc="-5">
                <a:latin typeface="Times New Roman"/>
                <a:cs typeface="Times New Roman"/>
              </a:rPr>
              <a:t>sound </a:t>
            </a:r>
            <a:r>
              <a:rPr dirty="0" sz="1200">
                <a:latin typeface="Times New Roman"/>
                <a:cs typeface="Times New Roman"/>
              </a:rPr>
              <a:t>out-of-date or are </a:t>
            </a:r>
            <a:r>
              <a:rPr dirty="0" sz="1200" spc="-5">
                <a:latin typeface="Times New Roman"/>
                <a:cs typeface="Times New Roman"/>
              </a:rPr>
              <a:t>meaningless </a:t>
            </a:r>
            <a:r>
              <a:rPr dirty="0" sz="1200">
                <a:latin typeface="Times New Roman"/>
                <a:cs typeface="Times New Roman"/>
              </a:rPr>
              <a:t>now.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 slang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when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-5">
                <a:latin typeface="Times New Roman"/>
                <a:cs typeface="Times New Roman"/>
              </a:rPr>
              <a:t> purpose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mind, such as 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humorous.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4912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 indent="3810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slang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15"/>
              </a:lnSpc>
              <a:buAutoNum type="arabicPlain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viewers </a:t>
            </a:r>
            <a:r>
              <a:rPr dirty="0" sz="1200">
                <a:latin typeface="Times New Roman"/>
                <a:cs typeface="Times New Roman"/>
              </a:rPr>
              <a:t>trashed the</a:t>
            </a:r>
            <a:r>
              <a:rPr dirty="0" sz="1200" spc="-5">
                <a:latin typeface="Times New Roman"/>
                <a:cs typeface="Times New Roman"/>
              </a:rPr>
              <a:t> new</a:t>
            </a:r>
            <a:r>
              <a:rPr dirty="0" sz="1200">
                <a:latin typeface="Times New Roman"/>
                <a:cs typeface="Times New Roman"/>
              </a:rPr>
              <a:t> Tom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Cruise </a:t>
            </a:r>
            <a:r>
              <a:rPr dirty="0" sz="1200" spc="-5">
                <a:latin typeface="Times New Roman"/>
                <a:cs typeface="Times New Roman"/>
              </a:rPr>
              <a:t>film.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-All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viewers </a:t>
            </a:r>
            <a:r>
              <a:rPr dirty="0" sz="1200">
                <a:latin typeface="Times New Roman"/>
                <a:cs typeface="Times New Roman"/>
              </a:rPr>
              <a:t>condemned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Tom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Cruise </a:t>
            </a:r>
            <a:r>
              <a:rPr dirty="0" sz="1200" spc="-5">
                <a:latin typeface="Times New Roman"/>
                <a:cs typeface="Times New Roman"/>
              </a:rPr>
              <a:t>film.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AutoNum type="arabicPlain" startAt="2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5">
                <a:latin typeface="Times New Roman"/>
                <a:cs typeface="Times New Roman"/>
              </a:rPr>
              <a:t> cheesed off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Rizwan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5">
                <a:latin typeface="Times New Roman"/>
                <a:cs typeface="Times New Roman"/>
              </a:rPr>
              <a:t> me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lair.</a:t>
            </a:r>
            <a:endParaRPr sz="1200">
              <a:latin typeface="Times New Roman"/>
              <a:cs typeface="Times New Roman"/>
            </a:endParaRPr>
          </a:p>
          <a:p>
            <a:pPr marL="12700" marR="25317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Rizwan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lair.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3-</a:t>
            </a:r>
            <a:r>
              <a:rPr dirty="0" sz="1200" spc="-5">
                <a:latin typeface="Times New Roman"/>
                <a:cs typeface="Times New Roman"/>
              </a:rPr>
              <a:t> Working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library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-Working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library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boring.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CLICHES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Clichés: </a:t>
            </a:r>
            <a:r>
              <a:rPr dirty="0" sz="1200">
                <a:latin typeface="Times New Roman"/>
                <a:cs typeface="Times New Roman"/>
              </a:rPr>
              <a:t>are expressions that were once lively and </a:t>
            </a:r>
            <a:r>
              <a:rPr dirty="0" sz="1200" spc="-5">
                <a:latin typeface="Times New Roman"/>
                <a:cs typeface="Times New Roman"/>
              </a:rPr>
              <a:t>interesting. </a:t>
            </a:r>
            <a:r>
              <a:rPr dirty="0" sz="1200">
                <a:latin typeface="Times New Roman"/>
                <a:cs typeface="Times New Roman"/>
              </a:rPr>
              <a:t>However,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have been used </a:t>
            </a:r>
            <a:r>
              <a:rPr dirty="0" sz="1200" spc="-5">
                <a:latin typeface="Times New Roman"/>
                <a:cs typeface="Times New Roman"/>
              </a:rPr>
              <a:t>so much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so often, they have become predictable, dull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boring.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</a:t>
            </a:r>
            <a:r>
              <a:rPr dirty="0" sz="1200">
                <a:latin typeface="Times New Roman"/>
                <a:cs typeface="Times New Roman"/>
              </a:rPr>
              <a:t> tries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avoid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clichés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/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fresh </a:t>
            </a:r>
            <a:r>
              <a:rPr dirty="0" sz="1200">
                <a:latin typeface="Times New Roman"/>
                <a:cs typeface="Times New Roman"/>
              </a:rPr>
              <a:t> expressions.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 are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examples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clichés.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4093464"/>
          <a:ext cx="5633085" cy="32181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11780"/>
                <a:gridCol w="2811780"/>
              </a:tblGrid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After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all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said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clear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crystal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felt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cool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cucumber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avoid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plague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feather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bored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tears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make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ends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better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half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pretty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picture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bolt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from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blue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rose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busy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sick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tired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cold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tried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true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again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7463282"/>
            <a:ext cx="5628005" cy="1258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Clichés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5"/>
              </a:spcBef>
              <a:buAutoNum type="romanLcPeriod"/>
              <a:tabLst>
                <a:tab pos="13716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dumps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fighting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battle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their</a:t>
            </a:r>
            <a:r>
              <a:rPr dirty="0" sz="1200">
                <a:latin typeface="Times New Roman"/>
                <a:cs typeface="Times New Roman"/>
              </a:rPr>
              <a:t> discrete </a:t>
            </a:r>
            <a:r>
              <a:rPr dirty="0" sz="1200" spc="-5">
                <a:latin typeface="Times New Roman"/>
                <a:cs typeface="Times New Roman"/>
              </a:rPr>
              <a:t>maths</a:t>
            </a:r>
            <a:r>
              <a:rPr dirty="0" sz="1200">
                <a:latin typeface="Times New Roman"/>
                <a:cs typeface="Times New Roman"/>
              </a:rPr>
              <a:t> course.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15"/>
              </a:lnSpc>
              <a:buAutoNum type="romanLcPeriod"/>
              <a:tabLst>
                <a:tab pos="173990" algn="l"/>
              </a:tabLst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speaks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enough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dead.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Iii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nursery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fresh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daisies.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15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Wordiness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command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difficult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annoying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Notice,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easily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3170555" algn="l"/>
              </a:tabLst>
            </a:pPr>
            <a:r>
              <a:rPr dirty="0" sz="1200" b="1">
                <a:latin typeface="Times New Roman"/>
                <a:cs typeface="Times New Roman"/>
              </a:rPr>
              <a:t>Wordy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Expression	Single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2516124"/>
          <a:ext cx="5690235" cy="57162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40990"/>
                <a:gridCol w="2840355"/>
              </a:tblGrid>
              <a:tr h="35737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large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number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many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earlier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point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this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point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now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due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fact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because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during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while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each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every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daily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few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number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few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green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color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green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order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own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opinion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think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event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near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future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soon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made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decision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decided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account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because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postponed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until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postponed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small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size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small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383778"/>
            <a:ext cx="562673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Look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at the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sentences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ones</a:t>
            </a:r>
            <a:r>
              <a:rPr dirty="0" sz="1200" b="1">
                <a:latin typeface="Times New Roman"/>
                <a:cs typeface="Times New Roman"/>
              </a:rPr>
              <a:t> communicate </a:t>
            </a:r>
            <a:r>
              <a:rPr dirty="0" sz="1200" spc="-5" b="1">
                <a:latin typeface="Times New Roman"/>
                <a:cs typeface="Times New Roman"/>
              </a:rPr>
              <a:t>well.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Due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toner,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buying </a:t>
            </a:r>
            <a:r>
              <a:rPr dirty="0" sz="1200" spc="-5">
                <a:latin typeface="Times New Roman"/>
                <a:cs typeface="Times New Roman"/>
              </a:rPr>
              <a:t>some.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2708148" y="7580376"/>
            <a:ext cx="487680" cy="7620"/>
          </a:xfrm>
          <a:custGeom>
            <a:avLst/>
            <a:gdLst/>
            <a:ahLst/>
            <a:cxnLst/>
            <a:rect l="l" t="t" r="r" b="b"/>
            <a:pathLst>
              <a:path w="487680" h="7620">
                <a:moveTo>
                  <a:pt x="487680" y="0"/>
                </a:moveTo>
                <a:lnTo>
                  <a:pt x="0" y="0"/>
                </a:lnTo>
                <a:lnTo>
                  <a:pt x="0" y="7620"/>
                </a:lnTo>
                <a:lnTo>
                  <a:pt x="487680" y="7620"/>
                </a:lnTo>
                <a:lnTo>
                  <a:pt x="48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200400" y="7756397"/>
            <a:ext cx="313690" cy="7620"/>
          </a:xfrm>
          <a:custGeom>
            <a:avLst/>
            <a:gdLst/>
            <a:ahLst/>
            <a:cxnLst/>
            <a:rect l="l" t="t" r="r" b="b"/>
            <a:pathLst>
              <a:path w="313689" h="7620">
                <a:moveTo>
                  <a:pt x="313182" y="0"/>
                </a:moveTo>
                <a:lnTo>
                  <a:pt x="0" y="0"/>
                </a:lnTo>
                <a:lnTo>
                  <a:pt x="0" y="7620"/>
                </a:lnTo>
                <a:lnTo>
                  <a:pt x="313182" y="7620"/>
                </a:lnTo>
                <a:lnTo>
                  <a:pt x="313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16000" y="435356"/>
            <a:ext cx="5892800" cy="8574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printer</a:t>
            </a:r>
            <a:r>
              <a:rPr dirty="0" sz="1200">
                <a:latin typeface="Times New Roman"/>
                <a:cs typeface="Times New Roman"/>
              </a:rPr>
              <a:t> ran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toner,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local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5">
                <a:latin typeface="Times New Roman"/>
                <a:cs typeface="Times New Roman"/>
              </a:rPr>
              <a:t> some.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this 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time we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yet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scheduled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date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next</a:t>
            </a:r>
            <a:r>
              <a:rPr dirty="0" sz="1200" spc="-5">
                <a:latin typeface="Times New Roman"/>
                <a:cs typeface="Times New Roman"/>
              </a:rPr>
              <a:t> meeting.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scheduled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meeting.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3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</a:t>
            </a:r>
            <a:r>
              <a:rPr dirty="0" sz="1200" spc="-5">
                <a:latin typeface="Times New Roman"/>
                <a:cs typeface="Times New Roman"/>
              </a:rPr>
              <a:t> system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totally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unfair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uncalled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quotas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unfair.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To help you develop </a:t>
            </a: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skill in choosing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effectively, </a:t>
            </a:r>
            <a:r>
              <a:rPr dirty="0" sz="1200" spc="-5">
                <a:latin typeface="Times New Roman"/>
                <a:cs typeface="Times New Roman"/>
              </a:rPr>
              <a:t>we will do </a:t>
            </a:r>
            <a:r>
              <a:rPr dirty="0" sz="1200">
                <a:latin typeface="Times New Roman"/>
                <a:cs typeface="Times New Roman"/>
              </a:rPr>
              <a:t>a short </a:t>
            </a:r>
            <a:r>
              <a:rPr dirty="0" sz="1200" spc="-5">
                <a:latin typeface="Times New Roman"/>
                <a:cs typeface="Times New Roman"/>
              </a:rPr>
              <a:t>exercise.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 you can identify errors of cliché or </a:t>
            </a:r>
            <a:r>
              <a:rPr dirty="0" sz="1200" spc="-5">
                <a:latin typeface="Times New Roman"/>
                <a:cs typeface="Times New Roman"/>
              </a:rPr>
              <a:t>wordiness </a:t>
            </a:r>
            <a:r>
              <a:rPr dirty="0" sz="1200">
                <a:latin typeface="Times New Roman"/>
                <a:cs typeface="Times New Roman"/>
              </a:rPr>
              <a:t>in the following sentences. Then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neighbour's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conversation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too </a:t>
            </a:r>
            <a:r>
              <a:rPr dirty="0" sz="1200" spc="-5">
                <a:latin typeface="Times New Roman"/>
                <a:cs typeface="Times New Roman"/>
              </a:rPr>
              <a:t>gross</a:t>
            </a:r>
            <a:r>
              <a:rPr dirty="0" sz="1200">
                <a:latin typeface="Times New Roman"/>
                <a:cs typeface="Times New Roman"/>
              </a:rPr>
              <a:t> for </a:t>
            </a:r>
            <a:r>
              <a:rPr dirty="0" sz="1200" spc="-5">
                <a:latin typeface="Times New Roman"/>
                <a:cs typeface="Times New Roman"/>
              </a:rPr>
              <a:t>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 My </a:t>
            </a:r>
            <a:r>
              <a:rPr dirty="0" sz="1200" spc="-5">
                <a:latin typeface="Times New Roman"/>
                <a:cs typeface="Times New Roman"/>
              </a:rPr>
              <a:t>neighbour's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conversation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disgusting.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audience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bored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lecture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Iqbal.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audience was </a:t>
            </a:r>
            <a:r>
              <a:rPr dirty="0" sz="1200">
                <a:latin typeface="Times New Roman"/>
                <a:cs typeface="Times New Roman"/>
              </a:rPr>
              <a:t>bored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lecture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Iqbal.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Owing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buses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strike,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strike,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pulling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leg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party.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wouldn’t</a:t>
            </a:r>
            <a:r>
              <a:rPr dirty="0" sz="1200" spc="-5">
                <a:latin typeface="Times New Roman"/>
                <a:cs typeface="Times New Roman"/>
              </a:rPr>
              <a:t> miss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(sl)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party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 startAt="5"/>
              <a:tabLst>
                <a:tab pos="175895" algn="l"/>
              </a:tabLst>
            </a:pP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believe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neighbor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He’s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 heard him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lies.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315"/>
              </a:lnSpc>
              <a:tabLst>
                <a:tab pos="469265" algn="l"/>
              </a:tabLst>
            </a:pPr>
            <a:r>
              <a:rPr dirty="0" sz="1200">
                <a:latin typeface="Times New Roman"/>
                <a:cs typeface="Times New Roman"/>
              </a:rPr>
              <a:t>-	always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exaggerating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(s),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(w)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buAutoNum type="arabicPeriod" startAt="6"/>
              <a:tabLst>
                <a:tab pos="175260" algn="l"/>
              </a:tabLst>
            </a:pPr>
            <a:r>
              <a:rPr dirty="0" sz="1200" spc="-5">
                <a:latin typeface="Times New Roman"/>
                <a:cs typeface="Times New Roman"/>
              </a:rPr>
              <a:t>She was as </a:t>
            </a:r>
            <a:r>
              <a:rPr dirty="0" sz="1200">
                <a:latin typeface="Times New Roman"/>
                <a:cs typeface="Times New Roman"/>
              </a:rPr>
              <a:t>happy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lark when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learned that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had got an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on her term paper.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her happiness didn’t last long due to the </a:t>
            </a:r>
            <a:r>
              <a:rPr dirty="0" sz="1200" spc="-5">
                <a:latin typeface="Times New Roman"/>
                <a:cs typeface="Times New Roman"/>
              </a:rPr>
              <a:t>fact </a:t>
            </a:r>
            <a:r>
              <a:rPr dirty="0" sz="1200">
                <a:latin typeface="Times New Roman"/>
                <a:cs typeface="Times New Roman"/>
              </a:rPr>
              <a:t>that there had been a complete </a:t>
            </a:r>
            <a:r>
              <a:rPr dirty="0" sz="1200" spc="-5">
                <a:latin typeface="Times New Roman"/>
                <a:cs typeface="Times New Roman"/>
              </a:rPr>
              <a:t>mistake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compiling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(happy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(c),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confused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65100" marR="3772535" indent="-152400">
              <a:lnSpc>
                <a:spcPts val="1380"/>
              </a:lnSpc>
              <a:buAutoNum type="romanLcParenBoth"/>
              <a:tabLst>
                <a:tab pos="195580" algn="l"/>
              </a:tabLst>
            </a:pPr>
            <a:r>
              <a:rPr dirty="0" sz="1200" spc="-5">
                <a:latin typeface="Times New Roman"/>
                <a:cs typeface="Times New Roman"/>
              </a:rPr>
              <a:t>Its: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possessive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It’s: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is.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0"/>
              </a:lnSpc>
            </a:pPr>
            <a:r>
              <a:rPr dirty="0" sz="1200" i="1">
                <a:latin typeface="Times New Roman"/>
                <a:cs typeface="Times New Roman"/>
              </a:rPr>
              <a:t>-When</a:t>
            </a:r>
            <a:r>
              <a:rPr dirty="0" sz="1200" spc="-5" i="1">
                <a:latin typeface="Times New Roman"/>
                <a:cs typeface="Times New Roman"/>
              </a:rPr>
              <a:t> she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saw my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dress,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 </a:t>
            </a:r>
            <a:r>
              <a:rPr dirty="0" sz="1200" i="1">
                <a:latin typeface="Times New Roman"/>
                <a:cs typeface="Times New Roman"/>
              </a:rPr>
              <a:t>said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“It’s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unusual one, but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 like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its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colour.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romanLcParenBoth" startAt="2"/>
              <a:tabLst>
                <a:tab pos="245110" algn="l"/>
                <a:tab pos="431800" algn="l"/>
              </a:tabLst>
            </a:pPr>
            <a:r>
              <a:rPr dirty="0" sz="1200">
                <a:latin typeface="Times New Roman"/>
                <a:cs typeface="Times New Roman"/>
              </a:rPr>
              <a:t>There: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(b)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is,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were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be.	</a:t>
            </a:r>
            <a:r>
              <a:rPr dirty="0" sz="1200">
                <a:latin typeface="Times New Roman"/>
                <a:cs typeface="Times New Roman"/>
              </a:rPr>
              <a:t>Their: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belonging to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marL="240665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They’re: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70"/>
              </a:spcBef>
            </a:pPr>
            <a:r>
              <a:rPr dirty="0" sz="1200" i="1">
                <a:latin typeface="Times New Roman"/>
                <a:cs typeface="Times New Roman"/>
              </a:rPr>
              <a:t>-The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teacher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students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that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excuse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failing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test;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they’re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sit for </a:t>
            </a:r>
            <a:r>
              <a:rPr dirty="0" sz="1200" i="1">
                <a:latin typeface="Times New Roman"/>
                <a:cs typeface="Times New Roman"/>
              </a:rPr>
              <a:t>another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test.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-Their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belongings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scattered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over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there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hill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side.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Tomorrow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there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inquiry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incident.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278765" marR="3692525" indent="-266700">
              <a:lnSpc>
                <a:spcPts val="1380"/>
              </a:lnSpc>
              <a:buAutoNum type="romanLcParenBoth" startAt="3"/>
              <a:tabLst>
                <a:tab pos="279400" algn="l"/>
              </a:tabLst>
            </a:pPr>
            <a:r>
              <a:rPr dirty="0" sz="1200">
                <a:latin typeface="Times New Roman"/>
                <a:cs typeface="Times New Roman"/>
              </a:rPr>
              <a:t>Your: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You’re: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contractions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0"/>
              </a:lnSpc>
            </a:pPr>
            <a:r>
              <a:rPr dirty="0" sz="1200" i="1">
                <a:latin typeface="Times New Roman"/>
                <a:cs typeface="Times New Roman"/>
              </a:rPr>
              <a:t>-If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you’re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this heat,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umbrella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(belonging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you)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protection.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62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 i="1">
                <a:latin typeface="Times New Roman"/>
                <a:cs typeface="Times New Roman"/>
              </a:rPr>
              <a:t>-Do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think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family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upset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learn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you’re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migrating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Canada?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(The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family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belonging to </a:t>
            </a:r>
            <a:r>
              <a:rPr dirty="0" sz="1200" spc="-5" i="1">
                <a:latin typeface="Times New Roman"/>
                <a:cs typeface="Times New Roman"/>
              </a:rPr>
              <a:t>you).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439671"/>
            <a:ext cx="791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-(iv)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Passed: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387807" y="1439671"/>
            <a:ext cx="1799589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endParaRPr sz="1200">
              <a:latin typeface="Times New Roman"/>
              <a:cs typeface="Times New Roman"/>
            </a:endParaRPr>
          </a:p>
          <a:p>
            <a:pPr marL="295910" indent="-208279">
              <a:lnSpc>
                <a:spcPts val="1380"/>
              </a:lnSpc>
              <a:buAutoNum type="alphaLcParenBoth"/>
              <a:tabLst>
                <a:tab pos="296545" algn="l"/>
              </a:tabLst>
            </a:pPr>
            <a:r>
              <a:rPr dirty="0" sz="1200">
                <a:latin typeface="Times New Roman"/>
                <a:cs typeface="Times New Roman"/>
              </a:rPr>
              <a:t>Handed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304800" indent="-217170">
              <a:lnSpc>
                <a:spcPts val="1380"/>
              </a:lnSpc>
              <a:buAutoNum type="alphaLcParenBoth"/>
              <a:tabLst>
                <a:tab pos="305435" algn="l"/>
              </a:tabLst>
            </a:pPr>
            <a:r>
              <a:rPr dirty="0" sz="1200" spc="-5">
                <a:latin typeface="Times New Roman"/>
                <a:cs typeface="Times New Roman"/>
              </a:rPr>
              <a:t>Went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  <a:p>
            <a:pPr marL="295910" indent="-208279">
              <a:lnSpc>
                <a:spcPts val="1410"/>
              </a:lnSpc>
              <a:buAutoNum type="alphaLcParenBoth"/>
              <a:tabLst>
                <a:tab pos="2965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Completed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successfully.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315971"/>
            <a:ext cx="383159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8765">
              <a:lnSpc>
                <a:spcPts val="1410"/>
              </a:lnSpc>
              <a:spcBef>
                <a:spcPts val="100"/>
              </a:spcBef>
              <a:tabLst>
                <a:tab pos="1459230" algn="l"/>
              </a:tabLst>
            </a:pPr>
            <a:r>
              <a:rPr dirty="0" sz="1200" spc="-5">
                <a:latin typeface="Times New Roman"/>
                <a:cs typeface="Times New Roman"/>
              </a:rPr>
              <a:t>Past:	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Sajjad</a:t>
            </a:r>
            <a:r>
              <a:rPr dirty="0" sz="1200" spc="-5" i="1">
                <a:latin typeface="Times New Roman"/>
                <a:cs typeface="Times New Roman"/>
              </a:rPr>
              <a:t> Ali</a:t>
            </a:r>
            <a:r>
              <a:rPr dirty="0" sz="1200" i="1">
                <a:latin typeface="Times New Roman"/>
                <a:cs typeface="Times New Roman"/>
              </a:rPr>
              <a:t> walked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fire,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passed</a:t>
            </a:r>
            <a:r>
              <a:rPr dirty="0" sz="1200" spc="-5" i="1">
                <a:latin typeface="Times New Roman"/>
                <a:cs typeface="Times New Roman"/>
              </a:rPr>
              <a:t> 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hands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over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841752"/>
            <a:ext cx="70675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(v) </a:t>
            </a:r>
            <a:r>
              <a:rPr dirty="0" sz="1200" spc="-15">
                <a:latin typeface="Times New Roman"/>
                <a:cs typeface="Times New Roman"/>
              </a:rPr>
              <a:t>W</a:t>
            </a:r>
            <a:r>
              <a:rPr dirty="0" sz="1200">
                <a:latin typeface="Times New Roman"/>
                <a:cs typeface="Times New Roman"/>
              </a:rPr>
              <a:t>hose:</a:t>
            </a:r>
            <a:endParaRPr sz="1200">
              <a:latin typeface="Times New Roman"/>
              <a:cs typeface="Times New Roman"/>
            </a:endParaRPr>
          </a:p>
          <a:p>
            <a:pPr algn="r" marR="9525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Who’s: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29326" y="2841752"/>
            <a:ext cx="201612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belonging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whom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contraction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193033"/>
            <a:ext cx="5626735" cy="54660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38100">
              <a:lnSpc>
                <a:spcPts val="1380"/>
              </a:lnSpc>
              <a:spcBef>
                <a:spcPts val="195"/>
              </a:spcBef>
            </a:pPr>
            <a:r>
              <a:rPr dirty="0" sz="1200" i="1">
                <a:latin typeface="Times New Roman"/>
                <a:cs typeface="Times New Roman"/>
              </a:rPr>
              <a:t>-The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headmaster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yelled,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“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Who’s</a:t>
            </a:r>
            <a:r>
              <a:rPr dirty="0" u="sng" sz="1200" spc="1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responsible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destruction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painting?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Whose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fault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it?”</a:t>
            </a:r>
            <a:endParaRPr sz="1200">
              <a:latin typeface="Times New Roman"/>
              <a:cs typeface="Times New Roman"/>
            </a:endParaRPr>
          </a:p>
          <a:p>
            <a:pPr marL="270510" indent="-258445">
              <a:lnSpc>
                <a:spcPts val="1310"/>
              </a:lnSpc>
              <a:buAutoNum type="romanLcParenBoth" startAt="6"/>
              <a:tabLst>
                <a:tab pos="271145" algn="l"/>
              </a:tabLst>
            </a:pPr>
            <a:r>
              <a:rPr dirty="0" sz="1200" spc="-5">
                <a:latin typeface="Times New Roman"/>
                <a:cs typeface="Times New Roman"/>
              </a:rPr>
              <a:t>Weather: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Outside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conditions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(rain,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temperature…)</a:t>
            </a:r>
            <a:endParaRPr sz="1200">
              <a:latin typeface="Times New Roman"/>
              <a:cs typeface="Times New Roman"/>
            </a:endParaRPr>
          </a:p>
          <a:p>
            <a:pPr marL="28003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Whether: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90"/>
              </a:lnSpc>
              <a:spcBef>
                <a:spcPts val="5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weather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won’t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spoil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our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holidays;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whether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rains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or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not,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our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days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spent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fishing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boating.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313055" indent="-300990">
              <a:lnSpc>
                <a:spcPts val="1410"/>
              </a:lnSpc>
              <a:buAutoNum type="romanLcParenBoth" startAt="7"/>
              <a:tabLst>
                <a:tab pos="313690" algn="l"/>
              </a:tabLst>
            </a:pPr>
            <a:r>
              <a:rPr dirty="0" sz="1200" spc="-5">
                <a:latin typeface="Times New Roman"/>
                <a:cs typeface="Times New Roman"/>
              </a:rPr>
              <a:t>All ready:</a:t>
            </a:r>
            <a:r>
              <a:rPr dirty="0" sz="1200">
                <a:latin typeface="Times New Roman"/>
                <a:cs typeface="Times New Roman"/>
              </a:rPr>
              <a:t> (two </a:t>
            </a:r>
            <a:r>
              <a:rPr dirty="0" sz="1200" spc="-5">
                <a:latin typeface="Times New Roman"/>
                <a:cs typeface="Times New Roman"/>
              </a:rPr>
              <a:t>words)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prepared.</a:t>
            </a:r>
            <a:endParaRPr sz="1200">
              <a:latin typeface="Times New Roman"/>
              <a:cs typeface="Times New Roman"/>
            </a:endParaRPr>
          </a:p>
          <a:p>
            <a:pPr marL="2794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Already: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(adverb)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previously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specified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begin.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surprised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already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arrived.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355600" indent="-343535">
              <a:lnSpc>
                <a:spcPts val="1410"/>
              </a:lnSpc>
              <a:buAutoNum type="romanLcParenBoth" startAt="8"/>
              <a:tabLst>
                <a:tab pos="356235" algn="l"/>
              </a:tabLst>
            </a:pPr>
            <a:r>
              <a:rPr dirty="0" sz="1200">
                <a:latin typeface="Times New Roman"/>
                <a:cs typeface="Times New Roman"/>
              </a:rPr>
              <a:t>Altogether: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(adverb)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thoroughly.</a:t>
            </a:r>
            <a:endParaRPr sz="1200">
              <a:latin typeface="Times New Roman"/>
              <a:cs typeface="Times New Roman"/>
            </a:endParaRPr>
          </a:p>
          <a:p>
            <a:pPr marL="317500">
              <a:lnSpc>
                <a:spcPts val="1385"/>
              </a:lnSpc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together: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simultaneously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once”.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-The</a:t>
            </a:r>
            <a:r>
              <a:rPr dirty="0" sz="1200" spc="-5" i="1">
                <a:latin typeface="Times New Roman"/>
                <a:cs typeface="Times New Roman"/>
              </a:rPr>
              <a:t> customers</a:t>
            </a:r>
            <a:r>
              <a:rPr dirty="0" sz="1200" i="1">
                <a:latin typeface="Times New Roman"/>
                <a:cs typeface="Times New Roman"/>
              </a:rPr>
              <a:t> were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altogether</a:t>
            </a:r>
            <a:r>
              <a:rPr dirty="0" sz="1200" i="1">
                <a:latin typeface="Times New Roman"/>
                <a:cs typeface="Times New Roman"/>
              </a:rPr>
              <a:t> satisfied. </a:t>
            </a:r>
            <a:r>
              <a:rPr dirty="0" sz="1200" spc="-5" i="1">
                <a:latin typeface="Times New Roman"/>
                <a:cs typeface="Times New Roman"/>
              </a:rPr>
              <a:t>(thoroughly).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i="1">
                <a:latin typeface="Times New Roman"/>
                <a:cs typeface="Times New Roman"/>
              </a:rPr>
              <a:t>-They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together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waiting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room 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eight o’ clock.</a:t>
            </a:r>
            <a:endParaRPr sz="1200">
              <a:latin typeface="Times New Roman"/>
              <a:cs typeface="Times New Roman"/>
            </a:endParaRPr>
          </a:p>
          <a:p>
            <a:pPr marL="241300" marR="1830705" indent="-228600">
              <a:lnSpc>
                <a:spcPts val="1380"/>
              </a:lnSpc>
              <a:spcBef>
                <a:spcPts val="60"/>
              </a:spcBef>
              <a:buAutoNum type="romanLcParenBoth" startAt="9"/>
              <a:tabLst>
                <a:tab pos="271145" algn="l"/>
              </a:tabLst>
            </a:pP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are angry </a:t>
            </a:r>
            <a:r>
              <a:rPr dirty="0" sz="1200" spc="-5" i="1">
                <a:latin typeface="Times New Roman"/>
                <a:cs typeface="Times New Roman"/>
              </a:rPr>
              <a:t>about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occasions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situations.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endParaRPr sz="1200">
              <a:latin typeface="Times New Roman"/>
              <a:cs typeface="Times New Roman"/>
            </a:endParaRPr>
          </a:p>
          <a:p>
            <a:pPr algn="r" marR="2807335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/animals</a:t>
            </a:r>
            <a:endParaRPr sz="1200">
              <a:latin typeface="Times New Roman"/>
              <a:cs typeface="Times New Roman"/>
            </a:endParaRPr>
          </a:p>
          <a:p>
            <a:pPr algn="r" marL="88900" marR="2764790" indent="-88900">
              <a:lnSpc>
                <a:spcPts val="1385"/>
              </a:lnSpc>
              <a:buChar char="-"/>
              <a:tabLst>
                <a:tab pos="88900" algn="l"/>
              </a:tabLst>
            </a:pP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all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angry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about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increased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taxes.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She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angry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with </a:t>
            </a:r>
            <a:r>
              <a:rPr dirty="0" sz="1200" i="1">
                <a:latin typeface="Times New Roman"/>
                <a:cs typeface="Times New Roman"/>
              </a:rPr>
              <a:t>Mr. Khan</a:t>
            </a:r>
            <a:r>
              <a:rPr dirty="0" sz="1200" spc="-5" i="1">
                <a:latin typeface="Times New Roman"/>
                <a:cs typeface="Times New Roman"/>
              </a:rPr>
              <a:t> for </a:t>
            </a:r>
            <a:r>
              <a:rPr dirty="0" sz="1200" i="1">
                <a:latin typeface="Times New Roman"/>
                <a:cs typeface="Times New Roman"/>
              </a:rPr>
              <a:t>supporting</a:t>
            </a:r>
            <a:r>
              <a:rPr dirty="0" sz="1200" spc="-5" i="1">
                <a:latin typeface="Times New Roman"/>
                <a:cs typeface="Times New Roman"/>
              </a:rPr>
              <a:t> her rivals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He </a:t>
            </a:r>
            <a:r>
              <a:rPr dirty="0" sz="1200" i="1">
                <a:latin typeface="Times New Roman"/>
                <a:cs typeface="Times New Roman"/>
              </a:rPr>
              <a:t>showed</a:t>
            </a:r>
            <a:r>
              <a:rPr dirty="0" sz="1200" spc="-5" i="1">
                <a:latin typeface="Times New Roman"/>
                <a:cs typeface="Times New Roman"/>
              </a:rPr>
              <a:t> his </a:t>
            </a:r>
            <a:r>
              <a:rPr dirty="0" sz="1200" i="1">
                <a:latin typeface="Times New Roman"/>
                <a:cs typeface="Times New Roman"/>
              </a:rPr>
              <a:t>dissatisfaction 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becoming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angry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barking.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i="1">
                <a:latin typeface="Times New Roman"/>
                <a:cs typeface="Times New Roman"/>
              </a:rPr>
              <a:t>(x)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Liable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sometimes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likely.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apt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“suited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to”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else,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apt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 tendency to do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ready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learn.</a:t>
            </a:r>
            <a:endParaRPr sz="1200">
              <a:latin typeface="Times New Roman"/>
              <a:cs typeface="Times New Roman"/>
            </a:endParaRPr>
          </a:p>
          <a:p>
            <a:pPr marL="12700" marR="916305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Liable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“answerable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suggests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undesirable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possibility.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-5">
                <a:latin typeface="Times New Roman"/>
                <a:cs typeface="Times New Roman"/>
              </a:rPr>
              <a:t> 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</a:t>
            </a:r>
            <a:r>
              <a:rPr dirty="0" sz="1200" spc="-5" i="1">
                <a:latin typeface="Times New Roman"/>
                <a:cs typeface="Times New Roman"/>
              </a:rPr>
              <a:t>probably</a:t>
            </a:r>
            <a:r>
              <a:rPr dirty="0" sz="1200" spc="-5">
                <a:latin typeface="Times New Roman"/>
                <a:cs typeface="Times New Roman"/>
              </a:rPr>
              <a:t>”.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i="1">
                <a:latin typeface="Times New Roman"/>
                <a:cs typeface="Times New Roman"/>
              </a:rPr>
              <a:t>-That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remark.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liable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arrest.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 </a:t>
            </a:r>
            <a:r>
              <a:rPr dirty="0" sz="1200" spc="-5" i="1">
                <a:latin typeface="Times New Roman"/>
                <a:cs typeface="Times New Roman"/>
              </a:rPr>
              <a:t>very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likely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rain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tomorrow.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8800590"/>
            <a:ext cx="91566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(xi)	Accept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87051" y="8800590"/>
            <a:ext cx="141922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1615" indent="-208279">
              <a:lnSpc>
                <a:spcPts val="1410"/>
              </a:lnSpc>
              <a:spcBef>
                <a:spcPts val="100"/>
              </a:spcBef>
              <a:buAutoNum type="alphaLcParenBoth"/>
              <a:tabLst>
                <a:tab pos="22225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receive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willingly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410"/>
              </a:lnSpc>
              <a:buAutoNum type="alphaLcParenBoth"/>
              <a:tabLst>
                <a:tab pos="2286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4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4699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Except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endParaRPr sz="1200">
              <a:latin typeface="Times New Roman"/>
              <a:cs typeface="Times New Roman"/>
            </a:endParaRPr>
          </a:p>
          <a:p>
            <a:pPr marL="964565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-All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workers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except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timers </a:t>
            </a:r>
            <a:r>
              <a:rPr dirty="0" sz="1200" i="1">
                <a:latin typeface="Times New Roman"/>
                <a:cs typeface="Times New Roman"/>
              </a:rPr>
              <a:t>voted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day </a:t>
            </a:r>
            <a:r>
              <a:rPr dirty="0" sz="1200" i="1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i="1">
                <a:latin typeface="Times New Roman"/>
                <a:cs typeface="Times New Roman"/>
              </a:rPr>
              <a:t>-The</a:t>
            </a:r>
            <a:r>
              <a:rPr dirty="0" sz="1200" spc="-5" i="1">
                <a:latin typeface="Times New Roman"/>
                <a:cs typeface="Times New Roman"/>
              </a:rPr>
              <a:t> management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accepted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workers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proposals.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926465" algn="l"/>
              </a:tabLst>
            </a:pPr>
            <a:r>
              <a:rPr dirty="0" sz="1200">
                <a:latin typeface="Times New Roman"/>
                <a:cs typeface="Times New Roman"/>
              </a:rPr>
              <a:t>(xii)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Advice:	</a:t>
            </a:r>
            <a:r>
              <a:rPr dirty="0" sz="1200" spc="-5" i="1">
                <a:latin typeface="Times New Roman"/>
                <a:cs typeface="Times New Roman"/>
              </a:rPr>
              <a:t>suggestion(s)</a:t>
            </a:r>
            <a:endParaRPr sz="1200">
              <a:latin typeface="Times New Roman"/>
              <a:cs typeface="Times New Roman"/>
            </a:endParaRPr>
          </a:p>
          <a:p>
            <a:pPr marL="316865">
              <a:lnSpc>
                <a:spcPts val="1385"/>
              </a:lnSpc>
              <a:tabLst>
                <a:tab pos="926465" algn="l"/>
              </a:tabLst>
            </a:pPr>
            <a:r>
              <a:rPr dirty="0" sz="1200" spc="-5">
                <a:latin typeface="Times New Roman"/>
                <a:cs typeface="Times New Roman"/>
              </a:rPr>
              <a:t>Advise: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suggestions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</a:pPr>
            <a:r>
              <a:rPr dirty="0" sz="1200" i="1">
                <a:latin typeface="Times New Roman"/>
                <a:cs typeface="Times New Roman"/>
              </a:rPr>
              <a:t>- Most </a:t>
            </a:r>
            <a:r>
              <a:rPr dirty="0" sz="1200" spc="-5" i="1">
                <a:latin typeface="Times New Roman"/>
                <a:cs typeface="Times New Roman"/>
              </a:rPr>
              <a:t>astrologists’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advice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worthless.</a:t>
            </a:r>
            <a:r>
              <a:rPr dirty="0" sz="1200" i="1">
                <a:latin typeface="Times New Roman"/>
                <a:cs typeface="Times New Roman"/>
              </a:rPr>
              <a:t> They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advise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their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clients</a:t>
            </a:r>
            <a:r>
              <a:rPr dirty="0" sz="1200" i="1">
                <a:latin typeface="Times New Roman"/>
                <a:cs typeface="Times New Roman"/>
              </a:rPr>
              <a:t> in </a:t>
            </a:r>
            <a:r>
              <a:rPr dirty="0" sz="1200" spc="-5" i="1">
                <a:latin typeface="Times New Roman"/>
                <a:cs typeface="Times New Roman"/>
              </a:rPr>
              <a:t>such</a:t>
            </a:r>
            <a:r>
              <a:rPr dirty="0" sz="1200" i="1">
                <a:latin typeface="Times New Roman"/>
                <a:cs typeface="Times New Roman"/>
              </a:rPr>
              <a:t> a way that they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become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dependent upon </a:t>
            </a:r>
            <a:r>
              <a:rPr dirty="0" sz="1200" i="1">
                <a:latin typeface="Times New Roman"/>
                <a:cs typeface="Times New Roman"/>
              </a:rPr>
              <a:t>them</a:t>
            </a:r>
            <a:r>
              <a:rPr dirty="0" sz="1200" spc="-5" i="1">
                <a:latin typeface="Times New Roman"/>
                <a:cs typeface="Times New Roman"/>
              </a:rPr>
              <a:t> for guidance.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431800" marR="3675379" indent="-419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-(xiii) Affect: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Verb, to influence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Effect: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endParaRPr sz="1200">
              <a:latin typeface="Times New Roman"/>
              <a:cs typeface="Times New Roman"/>
            </a:endParaRPr>
          </a:p>
          <a:p>
            <a:pPr marL="850265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Char char="-"/>
              <a:tabLst>
                <a:tab pos="12192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heavy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downpour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night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affect</a:t>
            </a: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trip.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rain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effect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clearing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dust.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affect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voters.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film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affect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public.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Principal of the college he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effect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curriculum.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00">
              <a:latin typeface="Times New Roman"/>
              <a:cs typeface="Times New Roman"/>
            </a:endParaRPr>
          </a:p>
          <a:p>
            <a:pPr marL="279400" marR="3078480" indent="-266700">
              <a:lnSpc>
                <a:spcPts val="1380"/>
              </a:lnSpc>
              <a:tabLst>
                <a:tab pos="926465" algn="l"/>
              </a:tabLst>
            </a:pPr>
            <a:r>
              <a:rPr dirty="0" sz="1200">
                <a:latin typeface="Times New Roman"/>
                <a:cs typeface="Times New Roman"/>
              </a:rPr>
              <a:t>(xiv)Desert:	dry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sandy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(dez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ert)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Desert:	</a:t>
            </a:r>
            <a:r>
              <a:rPr dirty="0" sz="1200">
                <a:latin typeface="Times New Roman"/>
                <a:cs typeface="Times New Roman"/>
              </a:rPr>
              <a:t>to leave behind (de-zert)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Dessert:	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meal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2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boys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Thar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desert</a:t>
            </a:r>
            <a:r>
              <a:rPr dirty="0" sz="1200" spc="-5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soldier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deserted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army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hostess</a:t>
            </a:r>
            <a:r>
              <a:rPr dirty="0" sz="1200" i="1">
                <a:latin typeface="Times New Roman"/>
                <a:cs typeface="Times New Roman"/>
              </a:rPr>
              <a:t> offered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rice pudding</a:t>
            </a:r>
            <a:r>
              <a:rPr dirty="0" sz="1200" spc="-5" i="1">
                <a:latin typeface="Times New Roman"/>
                <a:cs typeface="Times New Roman"/>
              </a:rPr>
              <a:t> as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dessert</a:t>
            </a:r>
            <a:r>
              <a:rPr dirty="0" sz="1200" spc="-5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(xv)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279400">
              <a:lnSpc>
                <a:spcPts val="1385"/>
              </a:lnSpc>
            </a:pPr>
            <a:r>
              <a:rPr dirty="0" sz="1200" spc="-5">
                <a:latin typeface="Times New Roman"/>
                <a:cs typeface="Times New Roman"/>
              </a:rPr>
              <a:t>Dose: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measured</a:t>
            </a:r>
            <a:r>
              <a:rPr dirty="0" sz="1200">
                <a:latin typeface="Times New Roman"/>
                <a:cs typeface="Times New Roman"/>
              </a:rPr>
              <a:t> amount of </a:t>
            </a:r>
            <a:r>
              <a:rPr dirty="0" sz="1200" spc="-5">
                <a:latin typeface="Times New Roman"/>
                <a:cs typeface="Times New Roman"/>
              </a:rPr>
              <a:t>medicine.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Does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double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</a:t>
            </a:r>
            <a:r>
              <a:rPr dirty="0" sz="1200" i="1">
                <a:latin typeface="Times New Roman"/>
                <a:cs typeface="Times New Roman"/>
              </a:rPr>
              <a:t> medicine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cure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-5" i="1">
                <a:latin typeface="Times New Roman"/>
                <a:cs typeface="Times New Roman"/>
              </a:rPr>
              <a:t> illness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quicker?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(xvi)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Coarse: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rough</a:t>
            </a:r>
            <a:endParaRPr sz="1200">
              <a:latin typeface="Times New Roman"/>
              <a:cs typeface="Times New Roman"/>
            </a:endParaRPr>
          </a:p>
          <a:p>
            <a:pPr marL="8509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refined</a:t>
            </a:r>
            <a:endParaRPr sz="1200">
              <a:latin typeface="Times New Roman"/>
              <a:cs typeface="Times New Roman"/>
            </a:endParaRPr>
          </a:p>
          <a:p>
            <a:pPr marL="3168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Course: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instruction</a:t>
            </a:r>
            <a:endParaRPr sz="1200">
              <a:latin typeface="Times New Roman"/>
              <a:cs typeface="Times New Roman"/>
            </a:endParaRPr>
          </a:p>
          <a:p>
            <a:pPr marL="8509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meal</a:t>
            </a:r>
            <a:endParaRPr sz="1200">
              <a:latin typeface="Times New Roman"/>
              <a:cs typeface="Times New Roman"/>
            </a:endParaRPr>
          </a:p>
          <a:p>
            <a:pPr marL="8509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(c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course’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Char char="-"/>
              <a:tabLst>
                <a:tab pos="10795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secretaries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required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course</a:t>
            </a:r>
            <a:r>
              <a:rPr dirty="0" u="sng" sz="1200" spc="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handling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telephone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calls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treat even irritating </a:t>
            </a:r>
            <a:r>
              <a:rPr dirty="0" sz="1200" spc="-5" i="1">
                <a:latin typeface="Times New Roman"/>
                <a:cs typeface="Times New Roman"/>
              </a:rPr>
              <a:t>customers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coarse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manner.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4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Some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boys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computer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course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coarse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</a:t>
            </a:r>
            <a:r>
              <a:rPr dirty="0" sz="1200" spc="-5" i="1">
                <a:latin typeface="Times New Roman"/>
                <a:cs typeface="Times New Roman"/>
              </a:rPr>
              <a:t> manners.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389890" indent="-377825">
              <a:lnSpc>
                <a:spcPts val="1410"/>
              </a:lnSpc>
              <a:buAutoNum type="romanLcParenBoth" startAt="17"/>
              <a:tabLst>
                <a:tab pos="390525" algn="l"/>
              </a:tabLst>
            </a:pPr>
            <a:r>
              <a:rPr dirty="0" sz="1200">
                <a:latin typeface="Times New Roman"/>
                <a:cs typeface="Times New Roman"/>
              </a:rPr>
              <a:t>Lead: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metal</a:t>
            </a:r>
            <a:endParaRPr sz="1200">
              <a:latin typeface="Times New Roman"/>
              <a:cs typeface="Times New Roman"/>
            </a:endParaRPr>
          </a:p>
          <a:p>
            <a:pPr marL="3549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Led: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Influenced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persuaded</a:t>
            </a:r>
            <a:endParaRPr sz="1200">
              <a:latin typeface="Times New Roman"/>
              <a:cs typeface="Times New Roman"/>
            </a:endParaRPr>
          </a:p>
          <a:p>
            <a:pPr lvl="1" marL="494665" indent="-215900">
              <a:lnSpc>
                <a:spcPts val="1380"/>
              </a:lnSpc>
              <a:buAutoNum type="alphaLcParenBoth" startAt="2"/>
              <a:tabLst>
                <a:tab pos="495300" algn="l"/>
              </a:tabLst>
            </a:pPr>
            <a:r>
              <a:rPr dirty="0" sz="1200">
                <a:latin typeface="Times New Roman"/>
                <a:cs typeface="Times New Roman"/>
              </a:rPr>
              <a:t>guided</a:t>
            </a:r>
            <a:endParaRPr sz="1200">
              <a:latin typeface="Times New Roman"/>
              <a:cs typeface="Times New Roman"/>
            </a:endParaRPr>
          </a:p>
          <a:p>
            <a:pPr lvl="1" marL="485775" indent="-207645">
              <a:lnSpc>
                <a:spcPts val="1385"/>
              </a:lnSpc>
              <a:buAutoNum type="alphaLcParenBoth" startAt="2"/>
              <a:tabLst>
                <a:tab pos="486409" algn="l"/>
              </a:tabLst>
            </a:pP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 participle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lead’.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lead</a:t>
            </a:r>
            <a:r>
              <a:rPr dirty="0" sz="1200" i="1">
                <a:latin typeface="Times New Roman"/>
                <a:cs typeface="Times New Roman"/>
              </a:rPr>
              <a:t>-based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paint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dangerous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health.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child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hand.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7392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389890" indent="-377825">
              <a:lnSpc>
                <a:spcPts val="1410"/>
              </a:lnSpc>
              <a:spcBef>
                <a:spcPts val="1070"/>
              </a:spcBef>
              <a:buAutoNum type="romanLcParenBoth" startAt="17"/>
              <a:tabLst>
                <a:tab pos="390525" algn="l"/>
              </a:tabLst>
            </a:pPr>
            <a:r>
              <a:rPr dirty="0" sz="1200">
                <a:latin typeface="Times New Roman"/>
                <a:cs typeface="Times New Roman"/>
              </a:rPr>
              <a:t>Lead: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metal</a:t>
            </a:r>
            <a:endParaRPr sz="1200">
              <a:latin typeface="Times New Roman"/>
              <a:cs typeface="Times New Roman"/>
            </a:endParaRPr>
          </a:p>
          <a:p>
            <a:pPr marL="3549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Led: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Influenced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persuaded</a:t>
            </a:r>
            <a:endParaRPr sz="1200">
              <a:latin typeface="Times New Roman"/>
              <a:cs typeface="Times New Roman"/>
            </a:endParaRPr>
          </a:p>
          <a:p>
            <a:pPr lvl="1" marL="494665" indent="-215900">
              <a:lnSpc>
                <a:spcPts val="1380"/>
              </a:lnSpc>
              <a:buAutoNum type="alphaLcParenBoth" startAt="2"/>
              <a:tabLst>
                <a:tab pos="495300" algn="l"/>
              </a:tabLst>
            </a:pPr>
            <a:r>
              <a:rPr dirty="0" sz="1200">
                <a:latin typeface="Times New Roman"/>
                <a:cs typeface="Times New Roman"/>
              </a:rPr>
              <a:t>guided</a:t>
            </a:r>
            <a:endParaRPr sz="1200">
              <a:latin typeface="Times New Roman"/>
              <a:cs typeface="Times New Roman"/>
            </a:endParaRPr>
          </a:p>
          <a:p>
            <a:pPr lvl="1" marL="485775" indent="-207645">
              <a:lnSpc>
                <a:spcPts val="1385"/>
              </a:lnSpc>
              <a:buAutoNum type="alphaLcParenBoth" startAt="2"/>
              <a:tabLst>
                <a:tab pos="486409" algn="l"/>
              </a:tabLst>
            </a:pP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 participle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lead’.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lead</a:t>
            </a:r>
            <a:r>
              <a:rPr dirty="0" sz="1200" i="1">
                <a:latin typeface="Times New Roman"/>
                <a:cs typeface="Times New Roman"/>
              </a:rPr>
              <a:t>-based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paint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dangerous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health.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child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hand.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2315971"/>
            <a:ext cx="78740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(xix)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Quiet:</a:t>
            </a:r>
            <a:endParaRPr sz="1200">
              <a:latin typeface="Times New Roman"/>
              <a:cs typeface="Times New Roman"/>
            </a:endParaRPr>
          </a:p>
          <a:p>
            <a:pPr marL="393065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Quite:  </a:t>
            </a:r>
            <a:r>
              <a:rPr dirty="0" sz="1200">
                <a:latin typeface="Times New Roman"/>
                <a:cs typeface="Times New Roman"/>
              </a:rPr>
              <a:t>Quit: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400" y="2315971"/>
            <a:ext cx="155384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50165" marR="113855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Silent 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15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410"/>
              </a:lnSpc>
              <a:buAutoNum type="alphaLcParenBoth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stop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3017773"/>
            <a:ext cx="562673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0965" indent="-88900">
              <a:lnSpc>
                <a:spcPts val="1410"/>
              </a:lnSpc>
              <a:spcBef>
                <a:spcPts val="100"/>
              </a:spcBef>
              <a:buChar char="-"/>
              <a:tabLst>
                <a:tab pos="1016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quiet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neighborhoods.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‘This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-5" i="1">
                <a:latin typeface="Times New Roman"/>
                <a:cs typeface="Times New Roman"/>
              </a:rPr>
              <a:t> is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quite</a:t>
            </a:r>
            <a:r>
              <a:rPr dirty="0" sz="1200" spc="-5" i="1">
                <a:latin typeface="Times New Roman"/>
                <a:cs typeface="Times New Roman"/>
              </a:rPr>
              <a:t> noisy’,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said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visitor.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Char char="-"/>
              <a:tabLst>
                <a:tab pos="117475" algn="l"/>
              </a:tabLst>
            </a:pP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stop,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quarrelling,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am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going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quit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being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patient’,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said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man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wife.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quite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finished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(adv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–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completely)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home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near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office.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4243832"/>
            <a:ext cx="280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(xx)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200" y="4243832"/>
            <a:ext cx="375348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Wander: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</a:t>
            </a:r>
            <a:endParaRPr sz="1200">
              <a:latin typeface="Times New Roman"/>
              <a:cs typeface="Times New Roman"/>
            </a:endParaRPr>
          </a:p>
          <a:p>
            <a:pPr marL="12700" marR="1549400" indent="57150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(b)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unclear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speech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Wonder: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amazed;</a:t>
            </a:r>
            <a:endParaRPr sz="1200">
              <a:latin typeface="Times New Roman"/>
              <a:cs typeface="Times New Roman"/>
            </a:endParaRPr>
          </a:p>
          <a:p>
            <a:pPr marL="799465" indent="-216535">
              <a:lnSpc>
                <a:spcPts val="1315"/>
              </a:lnSpc>
              <a:buAutoNum type="alphaLcParenBoth" startAt="2"/>
              <a:tabLst>
                <a:tab pos="800100" algn="l"/>
              </a:tabLst>
            </a:pP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requests,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inquiring</a:t>
            </a:r>
            <a:endParaRPr sz="1200">
              <a:latin typeface="Times New Roman"/>
              <a:cs typeface="Times New Roman"/>
            </a:endParaRPr>
          </a:p>
          <a:p>
            <a:pPr marL="790575" indent="-207645">
              <a:lnSpc>
                <a:spcPts val="1410"/>
              </a:lnSpc>
              <a:buAutoNum type="alphaLcParenBoth" startAt="2"/>
              <a:tabLst>
                <a:tab pos="79121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speculate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oneself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5120132"/>
            <a:ext cx="5626735" cy="37134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wandered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lonely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cloud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wonder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arriving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wonder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innocence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select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correct</a:t>
            </a:r>
            <a:r>
              <a:rPr dirty="0" sz="1200" spc="-5">
                <a:latin typeface="Times New Roman"/>
                <a:cs typeface="Times New Roman"/>
              </a:rPr>
              <a:t> word 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given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brackets.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(You’re,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(who’s, whose)</a:t>
            </a:r>
            <a:r>
              <a:rPr dirty="0" sz="1200">
                <a:latin typeface="Times New Roman"/>
                <a:cs typeface="Times New Roman"/>
              </a:rPr>
              <a:t> 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(Its,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It’s)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(break,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brake)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habit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drugs.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neighbours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discovered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(their,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mincemeat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(plane,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plain)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(too,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working.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288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cheeky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(all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already)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(quit,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quite,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quiet)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college,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refused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(accept,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except)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father’s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(advise, advice)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buAutoNum type="arabicPeriod"/>
              <a:tabLst>
                <a:tab pos="16700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(desert, </a:t>
            </a:r>
            <a:r>
              <a:rPr dirty="0" sz="1200" spc="-5">
                <a:latin typeface="Times New Roman"/>
                <a:cs typeface="Times New Roman"/>
              </a:rPr>
              <a:t>dessert)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(effect,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affect)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guests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stomach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ache.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a double (dose,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does) of soda </a:t>
            </a:r>
            <a:r>
              <a:rPr dirty="0" sz="1200" spc="-5">
                <a:latin typeface="Times New Roman"/>
                <a:cs typeface="Times New Roman"/>
              </a:rPr>
              <a:t>mint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tablets.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ladies’ </a:t>
            </a:r>
            <a:r>
              <a:rPr dirty="0" sz="1200" spc="-5">
                <a:latin typeface="Times New Roman"/>
                <a:cs typeface="Times New Roman"/>
              </a:rPr>
              <a:t>complaints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(coarse, </a:t>
            </a:r>
            <a:r>
              <a:rPr dirty="0" sz="1200" spc="-5">
                <a:latin typeface="Times New Roman"/>
                <a:cs typeface="Times New Roman"/>
              </a:rPr>
              <a:t>course)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</a:t>
            </a:r>
            <a:r>
              <a:rPr dirty="0" sz="1200">
                <a:latin typeface="Times New Roman"/>
                <a:cs typeface="Times New Roman"/>
              </a:rPr>
              <a:t> used in the waiting </a:t>
            </a:r>
            <a:r>
              <a:rPr dirty="0" sz="1200" spc="-5">
                <a:latin typeface="Times New Roman"/>
                <a:cs typeface="Times New Roman"/>
              </a:rPr>
              <a:t>room </a:t>
            </a:r>
            <a:r>
              <a:rPr dirty="0" sz="1200">
                <a:latin typeface="Times New Roman"/>
                <a:cs typeface="Times New Roman"/>
              </a:rPr>
              <a:t>(led,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issue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warning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members.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buAutoNum type="arabicPeriod"/>
              <a:tabLst>
                <a:tab pos="16700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brothers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(peace,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(their,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father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(peace, piece) of land.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/>
              <a:tabLst>
                <a:tab pos="184150" algn="l"/>
              </a:tabLst>
            </a:pPr>
            <a:r>
              <a:rPr dirty="0" sz="1200">
                <a:latin typeface="Times New Roman"/>
                <a:cs typeface="Times New Roman"/>
              </a:rPr>
              <a:t>“(Your,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you’re)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overweight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never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exercise”,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physician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warned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10. </a:t>
            </a:r>
            <a:r>
              <a:rPr dirty="0" sz="1200" spc="-5">
                <a:latin typeface="Times New Roman"/>
                <a:cs typeface="Times New Roman"/>
              </a:rPr>
              <a:t>(‘Whose, who’s) </a:t>
            </a:r>
            <a:r>
              <a:rPr dirty="0" sz="1200">
                <a:latin typeface="Times New Roman"/>
                <a:cs typeface="Times New Roman"/>
              </a:rPr>
              <a:t>application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this?’ </a:t>
            </a:r>
            <a:r>
              <a:rPr dirty="0" sz="1200" spc="-5">
                <a:latin typeface="Times New Roman"/>
                <a:cs typeface="Times New Roman"/>
              </a:rPr>
              <a:t>asked </a:t>
            </a:r>
            <a:r>
              <a:rPr dirty="0" sz="1200">
                <a:latin typeface="Times New Roman"/>
                <a:cs typeface="Times New Roman"/>
              </a:rPr>
              <a:t>the office clerk. The young </a:t>
            </a:r>
            <a:r>
              <a:rPr dirty="0" sz="1200" spc="-5">
                <a:latin typeface="Times New Roman"/>
                <a:cs typeface="Times New Roman"/>
              </a:rPr>
              <a:t>man </a:t>
            </a:r>
            <a:r>
              <a:rPr dirty="0" sz="1200">
                <a:latin typeface="Times New Roman"/>
                <a:cs typeface="Times New Roman"/>
              </a:rPr>
              <a:t>raised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land, (wandering, wondering) </a:t>
            </a:r>
            <a:r>
              <a:rPr dirty="0" sz="1200" spc="-5">
                <a:latin typeface="Times New Roman"/>
                <a:cs typeface="Times New Roman"/>
              </a:rPr>
              <a:t>(weather, whether) the clerk </a:t>
            </a:r>
            <a:r>
              <a:rPr dirty="0" sz="1200">
                <a:latin typeface="Times New Roman"/>
                <a:cs typeface="Times New Roman"/>
              </a:rPr>
              <a:t>thought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application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not.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select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from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those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given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 brackets.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You’re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(who’s</a:t>
            </a:r>
            <a:r>
              <a:rPr dirty="0" sz="1200" spc="-5">
                <a:latin typeface="Times New Roman"/>
                <a:cs typeface="Times New Roman"/>
              </a:rPr>
              <a:t>, whose)</a:t>
            </a:r>
            <a:r>
              <a:rPr dirty="0" sz="1200">
                <a:latin typeface="Times New Roman"/>
                <a:cs typeface="Times New Roman"/>
              </a:rPr>
              <a:t> 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(Its,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It’s)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break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brake)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habit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drugs.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neighbours discovered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eaten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mincemeat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plane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plain)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(too,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working.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8288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cheeky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(all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already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(quit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quite,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quiet)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college,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refused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accept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except)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father’s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(advis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e, advice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rabicPeriod"/>
              <a:tabLst>
                <a:tab pos="18288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(desert,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dessert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(effect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affect)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guests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stomach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ache.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gave</a:t>
            </a:r>
            <a:r>
              <a:rPr dirty="0" sz="1200" spc="-5">
                <a:latin typeface="Times New Roman"/>
                <a:cs typeface="Times New Roman"/>
              </a:rPr>
              <a:t> 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double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(dose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soda</a:t>
            </a:r>
            <a:r>
              <a:rPr dirty="0" sz="1200" spc="-5">
                <a:latin typeface="Times New Roman"/>
                <a:cs typeface="Times New Roman"/>
              </a:rPr>
              <a:t> mint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tablets.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ladies’ </a:t>
            </a:r>
            <a:r>
              <a:rPr dirty="0" sz="1200" spc="-5">
                <a:latin typeface="Times New Roman"/>
                <a:cs typeface="Times New Roman"/>
              </a:rPr>
              <a:t>complaints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coarse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course)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</a:t>
            </a:r>
            <a:r>
              <a:rPr dirty="0" sz="1200">
                <a:latin typeface="Times New Roman"/>
                <a:cs typeface="Times New Roman"/>
              </a:rPr>
              <a:t> used in the waiting </a:t>
            </a:r>
            <a:r>
              <a:rPr dirty="0" sz="1200" spc="-5">
                <a:latin typeface="Times New Roman"/>
                <a:cs typeface="Times New Roman"/>
              </a:rPr>
              <a:t>room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led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issue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warning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members.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buAutoNum type="arabicPeriod"/>
              <a:tabLst>
                <a:tab pos="16700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brothers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(peace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(their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father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(peace,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piece</a:t>
            </a:r>
            <a:r>
              <a:rPr dirty="0" sz="1200">
                <a:latin typeface="Times New Roman"/>
                <a:cs typeface="Times New Roman"/>
              </a:rPr>
              <a:t>) of land.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eriod"/>
              <a:tabLst>
                <a:tab pos="180975" algn="l"/>
              </a:tabLst>
            </a:pPr>
            <a:r>
              <a:rPr dirty="0" sz="1200">
                <a:latin typeface="Times New Roman"/>
                <a:cs typeface="Times New Roman"/>
              </a:rPr>
              <a:t>“(Your,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You’re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overweight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never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exercise”,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physician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warned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eriod"/>
              <a:tabLst>
                <a:tab pos="250190" algn="l"/>
              </a:tabLst>
            </a:pPr>
            <a:r>
              <a:rPr dirty="0" sz="1200" spc="-5">
                <a:latin typeface="Times New Roman"/>
                <a:cs typeface="Times New Roman"/>
              </a:rPr>
              <a:t>(‘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Whose,</a:t>
            </a:r>
            <a:r>
              <a:rPr dirty="0" sz="1200" spc="-5">
                <a:latin typeface="Times New Roman"/>
                <a:cs typeface="Times New Roman"/>
              </a:rPr>
              <a:t> who’s) </a:t>
            </a:r>
            <a:r>
              <a:rPr dirty="0" sz="1200">
                <a:latin typeface="Times New Roman"/>
                <a:cs typeface="Times New Roman"/>
              </a:rPr>
              <a:t>application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this?’ </a:t>
            </a:r>
            <a:r>
              <a:rPr dirty="0" sz="1200" spc="-5">
                <a:latin typeface="Times New Roman"/>
                <a:cs typeface="Times New Roman"/>
              </a:rPr>
              <a:t>asked </a:t>
            </a:r>
            <a:r>
              <a:rPr dirty="0" sz="1200">
                <a:latin typeface="Times New Roman"/>
                <a:cs typeface="Times New Roman"/>
              </a:rPr>
              <a:t>the office clerk. The young </a:t>
            </a:r>
            <a:r>
              <a:rPr dirty="0" sz="1200" spc="-5">
                <a:latin typeface="Times New Roman"/>
                <a:cs typeface="Times New Roman"/>
              </a:rPr>
              <a:t>man </a:t>
            </a:r>
            <a:r>
              <a:rPr dirty="0" sz="1200">
                <a:latin typeface="Times New Roman"/>
                <a:cs typeface="Times New Roman"/>
              </a:rPr>
              <a:t>raised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land, (wandering,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wondering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(weather,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whether</a:t>
            </a:r>
            <a:r>
              <a:rPr dirty="0" sz="1200" spc="-5">
                <a:latin typeface="Times New Roman"/>
                <a:cs typeface="Times New Roman"/>
              </a:rPr>
              <a:t>) the clerk </a:t>
            </a:r>
            <a:r>
              <a:rPr dirty="0" sz="1200">
                <a:latin typeface="Times New Roman"/>
                <a:cs typeface="Times New Roman"/>
              </a:rPr>
              <a:t>thought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application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not.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learnt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>
                <a:latin typeface="Times New Roman"/>
                <a:cs typeface="Times New Roman"/>
              </a:rPr>
              <a:t>selecting the </a:t>
            </a:r>
            <a:r>
              <a:rPr dirty="0" sz="1200" spc="-5">
                <a:latin typeface="Times New Roman"/>
                <a:cs typeface="Times New Roman"/>
              </a:rPr>
              <a:t>right words and their importance in good </a:t>
            </a:r>
            <a:r>
              <a:rPr dirty="0" sz="1200">
                <a:latin typeface="Times New Roman"/>
                <a:cs typeface="Times New Roman"/>
              </a:rPr>
              <a:t> writing.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learnt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are often confused with each other because 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</a:t>
            </a:r>
            <a:r>
              <a:rPr dirty="0" sz="1200" spc="-5">
                <a:latin typeface="Times New Roman"/>
                <a:cs typeface="Times New Roman"/>
              </a:rPr>
              <a:t> similar.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047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-29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Punctuation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b="1">
                <a:latin typeface="Times New Roman"/>
                <a:cs typeface="Times New Roman"/>
              </a:rPr>
              <a:t>Comma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Apostrophe)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Having looked at syntax, at what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good, </a:t>
            </a:r>
            <a:r>
              <a:rPr dirty="0" sz="1200">
                <a:latin typeface="Times New Roman"/>
                <a:cs typeface="Times New Roman"/>
              </a:rPr>
              <a:t>effective sentences, errors in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construction and certain features of </a:t>
            </a:r>
            <a:r>
              <a:rPr dirty="0" sz="1200" spc="-5">
                <a:latin typeface="Times New Roman"/>
                <a:cs typeface="Times New Roman"/>
              </a:rPr>
              <a:t>grammar, </a:t>
            </a:r>
            <a:r>
              <a:rPr dirty="0" sz="1200">
                <a:latin typeface="Times New Roman"/>
                <a:cs typeface="Times New Roman"/>
              </a:rPr>
              <a:t>like pronouns and their Antecedents, subject-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 agreement, we will turn to punctuation. In this lesson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will learn about the </a:t>
            </a:r>
            <a:r>
              <a:rPr dirty="0" sz="1200" spc="-5">
                <a:latin typeface="Times New Roman"/>
                <a:cs typeface="Times New Roman"/>
              </a:rPr>
              <a:t>Comma </a:t>
            </a:r>
            <a:r>
              <a:rPr dirty="0" sz="1200">
                <a:latin typeface="Times New Roman"/>
                <a:cs typeface="Times New Roman"/>
              </a:rPr>
              <a:t> and the Apostrophe - two very </a:t>
            </a:r>
            <a:r>
              <a:rPr dirty="0" sz="1200" spc="-5">
                <a:latin typeface="Times New Roman"/>
                <a:cs typeface="Times New Roman"/>
              </a:rPr>
              <a:t>important items </a:t>
            </a:r>
            <a:r>
              <a:rPr dirty="0" sz="1200">
                <a:latin typeface="Times New Roman"/>
                <a:cs typeface="Times New Roman"/>
              </a:rPr>
              <a:t>of punctuation </a:t>
            </a:r>
            <a:r>
              <a:rPr dirty="0" sz="1200" spc="-5">
                <a:latin typeface="Times New Roman"/>
                <a:cs typeface="Times New Roman"/>
              </a:rPr>
              <a:t>and which cause the greatest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for students of English.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Punctuation depends upon grammar. Until you understand how one part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 spc="-10">
                <a:latin typeface="Times New Roman"/>
                <a:cs typeface="Times New Roman"/>
              </a:rPr>
              <a:t>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 to another, you cannot punctuate </a:t>
            </a:r>
            <a:r>
              <a:rPr dirty="0" sz="1200" spc="-5">
                <a:latin typeface="Times New Roman"/>
                <a:cs typeface="Times New Roman"/>
              </a:rPr>
              <a:t>efficiently. </a:t>
            </a:r>
            <a:r>
              <a:rPr dirty="0" sz="1200">
                <a:latin typeface="Times New Roman"/>
                <a:cs typeface="Times New Roman"/>
              </a:rPr>
              <a:t>Commas are not </a:t>
            </a:r>
            <a:r>
              <a:rPr dirty="0" sz="1200" spc="-5">
                <a:latin typeface="Times New Roman"/>
                <a:cs typeface="Times New Roman"/>
              </a:rPr>
              <a:t>marks </a:t>
            </a:r>
            <a:r>
              <a:rPr dirty="0" sz="1200">
                <a:latin typeface="Times New Roman"/>
                <a:cs typeface="Times New Roman"/>
              </a:rPr>
              <a:t>to be added to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artistic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effect;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adverbs.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writing, punctuation takes the place of </a:t>
            </a:r>
            <a:r>
              <a:rPr dirty="0" sz="1200" spc="-5">
                <a:latin typeface="Times New Roman"/>
                <a:cs typeface="Times New Roman"/>
              </a:rPr>
              <a:t>pauses, gestures, </a:t>
            </a:r>
            <a:r>
              <a:rPr dirty="0" sz="1200">
                <a:latin typeface="Times New Roman"/>
                <a:cs typeface="Times New Roman"/>
              </a:rPr>
              <a:t>rising </a:t>
            </a:r>
            <a:r>
              <a:rPr dirty="0" sz="1200" spc="-5">
                <a:latin typeface="Times New Roman"/>
                <a:cs typeface="Times New Roman"/>
              </a:rPr>
              <a:t>tone </a:t>
            </a:r>
            <a:r>
              <a:rPr dirty="0" sz="1200">
                <a:latin typeface="Times New Roman"/>
                <a:cs typeface="Times New Roman"/>
              </a:rPr>
              <a:t>and other such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features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people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system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punctuation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speech.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 sentences would be clear enough without any </a:t>
            </a:r>
            <a:r>
              <a:rPr dirty="0" sz="1200" spc="-5">
                <a:latin typeface="Times New Roman"/>
                <a:cs typeface="Times New Roman"/>
              </a:rPr>
              <a:t>punctuation </a:t>
            </a:r>
            <a:r>
              <a:rPr dirty="0" sz="1200">
                <a:latin typeface="Times New Roman"/>
                <a:cs typeface="Times New Roman"/>
              </a:rPr>
              <a:t>marks. But readers have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sentences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constructed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same way will </a:t>
            </a:r>
            <a:r>
              <a:rPr dirty="0" sz="1200">
                <a:latin typeface="Times New Roman"/>
                <a:cs typeface="Times New Roman"/>
              </a:rPr>
              <a:t>be punctuated in the same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way. Therefore, certain rules of punctuation have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into being, </a:t>
            </a:r>
            <a:r>
              <a:rPr dirty="0" sz="1200" spc="-5">
                <a:latin typeface="Times New Roman"/>
                <a:cs typeface="Times New Roman"/>
              </a:rPr>
              <a:t>and sensible </a:t>
            </a:r>
            <a:r>
              <a:rPr dirty="0" sz="1200" spc="-10">
                <a:latin typeface="Times New Roman"/>
                <a:cs typeface="Times New Roman"/>
              </a:rPr>
              <a:t>writers </a:t>
            </a:r>
            <a:r>
              <a:rPr dirty="0" sz="1200" spc="-5">
                <a:latin typeface="Times New Roman"/>
                <a:cs typeface="Times New Roman"/>
              </a:rPr>
              <a:t> follow them.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greatest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in punctuation have to </a:t>
            </a:r>
            <a:r>
              <a:rPr dirty="0" sz="1200" spc="-5">
                <a:latin typeface="Times New Roman"/>
                <a:cs typeface="Times New Roman"/>
              </a:rPr>
              <a:t>do with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comma, and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apostrophe.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 shall take up the comma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and then consider the </a:t>
            </a:r>
            <a:r>
              <a:rPr dirty="0" sz="1200" spc="-5">
                <a:latin typeface="Times New Roman"/>
                <a:cs typeface="Times New Roman"/>
              </a:rPr>
              <a:t>apostrophe. </a:t>
            </a:r>
            <a:r>
              <a:rPr dirty="0" sz="1200">
                <a:latin typeface="Times New Roman"/>
                <a:cs typeface="Times New Roman"/>
              </a:rPr>
              <a:t>This does not </a:t>
            </a:r>
            <a:r>
              <a:rPr dirty="0" sz="1200" spc="-5">
                <a:latin typeface="Times New Roman"/>
                <a:cs typeface="Times New Roman"/>
              </a:rPr>
              <a:t>mean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are no other </a:t>
            </a:r>
            <a:r>
              <a:rPr dirty="0" sz="1200" spc="-5">
                <a:latin typeface="Times New Roman"/>
                <a:cs typeface="Times New Roman"/>
              </a:rPr>
              <a:t>marks </a:t>
            </a:r>
            <a:r>
              <a:rPr dirty="0" sz="1200">
                <a:latin typeface="Times New Roman"/>
                <a:cs typeface="Times New Roman"/>
              </a:rPr>
              <a:t>of punctuation: the colon, </a:t>
            </a:r>
            <a:r>
              <a:rPr dirty="0" sz="1200" spc="-5">
                <a:latin typeface="Times New Roman"/>
                <a:cs typeface="Times New Roman"/>
              </a:rPr>
              <a:t>semi-colon </a:t>
            </a:r>
            <a:r>
              <a:rPr dirty="0" sz="1200">
                <a:latin typeface="Times New Roman"/>
                <a:cs typeface="Times New Roman"/>
              </a:rPr>
              <a:t>the full stop / period,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exclamation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mark,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parentheses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brackets are other well known </a:t>
            </a:r>
            <a:r>
              <a:rPr dirty="0" sz="1200" spc="-5">
                <a:latin typeface="Times New Roman"/>
                <a:cs typeface="Times New Roman"/>
              </a:rPr>
              <a:t>marks.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shall focus on only </a:t>
            </a:r>
            <a:r>
              <a:rPr dirty="0" sz="1200" spc="-5">
                <a:latin typeface="Times New Roman"/>
                <a:cs typeface="Times New Roman"/>
              </a:rPr>
              <a:t>two as </a:t>
            </a:r>
            <a:r>
              <a:rPr dirty="0" sz="1200">
                <a:latin typeface="Times New Roman"/>
                <a:cs typeface="Times New Roman"/>
              </a:rPr>
              <a:t>these pose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 of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in punctuation.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[,]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pause.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disagree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>
                <a:latin typeface="Times New Roman"/>
                <a:cs typeface="Times New Roman"/>
              </a:rPr>
              <a:t> of 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 about the five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uses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we will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commas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where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needed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romanLcPeriod"/>
              <a:tabLst>
                <a:tab pos="153670" algn="l"/>
              </a:tabLst>
            </a:pP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child’s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nanny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collected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milk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bottle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full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diapers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rattle.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15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eighty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5">
                <a:latin typeface="Times New Roman"/>
                <a:cs typeface="Times New Roman"/>
              </a:rPr>
              <a:t> grand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dad</a:t>
            </a:r>
            <a:r>
              <a:rPr dirty="0" sz="1200" spc="-5">
                <a:latin typeface="Times New Roman"/>
                <a:cs typeface="Times New Roman"/>
              </a:rPr>
              <a:t> walks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</a:t>
            </a:r>
            <a:r>
              <a:rPr dirty="0" sz="1200" spc="-5">
                <a:latin typeface="Times New Roman"/>
                <a:cs typeface="Times New Roman"/>
              </a:rPr>
              <a:t> miles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daily.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iii The cutlery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 if I</a:t>
            </a:r>
            <a:r>
              <a:rPr dirty="0" sz="1200" spc="-5">
                <a:latin typeface="Times New Roman"/>
                <a:cs typeface="Times New Roman"/>
              </a:rPr>
              <a:t> remember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 trunk</a:t>
            </a:r>
            <a:r>
              <a:rPr dirty="0" sz="1200" spc="-5">
                <a:latin typeface="Times New Roman"/>
                <a:cs typeface="Times New Roman"/>
              </a:rPr>
              <a:t> upstairs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iv. The paint </a:t>
            </a:r>
            <a:r>
              <a:rPr dirty="0" sz="1200" spc="-5">
                <a:latin typeface="Times New Roman"/>
                <a:cs typeface="Times New Roman"/>
              </a:rPr>
              <a:t>company </a:t>
            </a:r>
            <a:r>
              <a:rPr dirty="0" sz="1200">
                <a:latin typeface="Times New Roman"/>
                <a:cs typeface="Times New Roman"/>
              </a:rPr>
              <a:t>displayed thirty </a:t>
            </a:r>
            <a:r>
              <a:rPr dirty="0" sz="1200" spc="-5">
                <a:latin typeface="Times New Roman"/>
                <a:cs typeface="Times New Roman"/>
              </a:rPr>
              <a:t>shades of </a:t>
            </a:r>
            <a:r>
              <a:rPr dirty="0" sz="1200">
                <a:latin typeface="Times New Roman"/>
                <a:cs typeface="Times New Roman"/>
              </a:rPr>
              <a:t>color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fussy </a:t>
            </a:r>
            <a:r>
              <a:rPr dirty="0" sz="1200">
                <a:latin typeface="Times New Roman"/>
                <a:cs typeface="Times New Roman"/>
              </a:rPr>
              <a:t>lady </a:t>
            </a:r>
            <a:r>
              <a:rPr dirty="0" sz="1200" spc="-5">
                <a:latin typeface="Times New Roman"/>
                <a:cs typeface="Times New Roman"/>
              </a:rPr>
              <a:t>still </a:t>
            </a:r>
            <a:r>
              <a:rPr dirty="0" sz="1200">
                <a:latin typeface="Times New Roman"/>
                <a:cs typeface="Times New Roman"/>
              </a:rPr>
              <a:t>could </a:t>
            </a:r>
            <a:r>
              <a:rPr dirty="0" sz="1200" spc="-5">
                <a:latin typeface="Times New Roman"/>
                <a:cs typeface="Times New Roman"/>
              </a:rPr>
              <a:t>not find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V.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-Before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leaving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home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child’s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nanny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collected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milk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bottle,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bagful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diapers,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blanket,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rattle.</a:t>
            </a:r>
            <a:endParaRPr sz="1200">
              <a:latin typeface="Times New Roman"/>
              <a:cs typeface="Times New Roman"/>
            </a:endParaRPr>
          </a:p>
          <a:p>
            <a:pPr marL="12700" marR="1847214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Explanation: </a:t>
            </a:r>
            <a:r>
              <a:rPr dirty="0" sz="1200" spc="-5">
                <a:latin typeface="Times New Roman"/>
                <a:cs typeface="Times New Roman"/>
              </a:rPr>
              <a:t>Commas </a:t>
            </a:r>
            <a:r>
              <a:rPr dirty="0" sz="1200">
                <a:latin typeface="Times New Roman"/>
                <a:cs typeface="Times New Roman"/>
              </a:rPr>
              <a:t>are needed to </a:t>
            </a:r>
            <a:r>
              <a:rPr dirty="0" sz="1200" spc="-5">
                <a:latin typeface="Times New Roman"/>
                <a:cs typeface="Times New Roman"/>
              </a:rPr>
              <a:t>separate the items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series.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 i="1">
                <a:latin typeface="Times New Roman"/>
                <a:cs typeface="Times New Roman"/>
              </a:rPr>
              <a:t>Although</a:t>
            </a:r>
            <a:r>
              <a:rPr dirty="0" sz="1200" i="1">
                <a:latin typeface="Times New Roman"/>
                <a:cs typeface="Times New Roman"/>
              </a:rPr>
              <a:t> he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i="1">
                <a:latin typeface="Times New Roman"/>
                <a:cs typeface="Times New Roman"/>
              </a:rPr>
              <a:t> eighty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grand dad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walks</a:t>
            </a:r>
            <a:r>
              <a:rPr dirty="0" sz="1200">
                <a:latin typeface="Times New Roman"/>
                <a:cs typeface="Times New Roman"/>
              </a:rPr>
              <a:t> 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miles</a:t>
            </a:r>
            <a:r>
              <a:rPr dirty="0" sz="1200">
                <a:latin typeface="Times New Roman"/>
                <a:cs typeface="Times New Roman"/>
              </a:rPr>
              <a:t> daily.</a:t>
            </a:r>
            <a:endParaRPr sz="1200">
              <a:latin typeface="Times New Roman"/>
              <a:cs typeface="Times New Roman"/>
            </a:endParaRPr>
          </a:p>
          <a:p>
            <a:pPr marL="12700" marR="525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Explanation: the </a:t>
            </a:r>
            <a:r>
              <a:rPr dirty="0" sz="1200" spc="-5">
                <a:latin typeface="Times New Roman"/>
                <a:cs typeface="Times New Roman"/>
              </a:rPr>
              <a:t>comma separates </a:t>
            </a:r>
            <a:r>
              <a:rPr dirty="0" sz="1200">
                <a:latin typeface="Times New Roman"/>
                <a:cs typeface="Times New Roman"/>
              </a:rPr>
              <a:t>the introductory phrase from the </a:t>
            </a:r>
            <a:r>
              <a:rPr dirty="0" sz="1200" spc="-5">
                <a:latin typeface="Times New Roman"/>
                <a:cs typeface="Times New Roman"/>
              </a:rPr>
              <a:t>rest </a:t>
            </a:r>
            <a:r>
              <a:rPr dirty="0" sz="1200">
                <a:latin typeface="Times New Roman"/>
                <a:cs typeface="Times New Roman"/>
              </a:rPr>
              <a:t>of the sentence.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iii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cutlery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box,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remember correctly, is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</a:t>
            </a:r>
            <a:r>
              <a:rPr dirty="0" sz="1200" spc="-5">
                <a:latin typeface="Times New Roman"/>
                <a:cs typeface="Times New Roman"/>
              </a:rPr>
              <a:t> trunk </a:t>
            </a:r>
            <a:r>
              <a:rPr dirty="0" sz="1200">
                <a:latin typeface="Times New Roman"/>
                <a:cs typeface="Times New Roman"/>
              </a:rPr>
              <a:t>upstairs.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Explanation: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remember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correctly,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interrupt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set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commas.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romanLcPeriod" startAt="4"/>
              <a:tabLst>
                <a:tab pos="268605" algn="l"/>
                <a:tab pos="269240" algn="l"/>
              </a:tabLst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displayed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thirty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shades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color,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fussy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lady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anything to order.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Explanation: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separates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conjunction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5">
                <a:latin typeface="Times New Roman"/>
                <a:cs typeface="Times New Roman"/>
              </a:rPr>
              <a:t> word</a:t>
            </a:r>
            <a:r>
              <a:rPr dirty="0" sz="1200">
                <a:latin typeface="Times New Roman"/>
                <a:cs typeface="Times New Roman"/>
              </a:rPr>
              <a:t> ‘</a:t>
            </a:r>
            <a:r>
              <a:rPr dirty="0" sz="1200" i="1">
                <a:latin typeface="Times New Roman"/>
                <a:cs typeface="Times New Roman"/>
              </a:rPr>
              <a:t>but’.</a:t>
            </a:r>
            <a:endParaRPr sz="1200">
              <a:latin typeface="Times New Roman"/>
              <a:cs typeface="Times New Roman"/>
            </a:endParaRPr>
          </a:p>
          <a:p>
            <a:pPr marL="12700" marR="822960">
              <a:lnSpc>
                <a:spcPts val="1380"/>
              </a:lnSpc>
              <a:buAutoNum type="romanLcPeriod" startAt="5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- The house agent said, “It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take you a while to get used to the place”.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Explanation: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 separates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Comma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Rules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30810" indent="-118745">
              <a:lnSpc>
                <a:spcPts val="1410"/>
              </a:lnSpc>
              <a:buAutoNum type="romanLcPeriod"/>
              <a:tabLst>
                <a:tab pos="131445" algn="l"/>
              </a:tabLst>
            </a:pP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material.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380"/>
              </a:lnSpc>
              <a:buAutoNum type="romanLcPeriod"/>
              <a:tabLst>
                <a:tab pos="216535" algn="l"/>
              </a:tabLst>
            </a:pP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interrupt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80"/>
              </a:lnSpc>
              <a:buAutoNum type="romanL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roman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comma </a:t>
            </a:r>
            <a:r>
              <a:rPr dirty="0" sz="1200">
                <a:latin typeface="Times New Roman"/>
                <a:cs typeface="Times New Roman"/>
              </a:rPr>
              <a:t>often </a:t>
            </a:r>
            <a:r>
              <a:rPr dirty="0" sz="1200" spc="-5">
                <a:latin typeface="Times New Roman"/>
                <a:cs typeface="Times New Roman"/>
              </a:rPr>
              <a:t>marks </a:t>
            </a:r>
            <a:r>
              <a:rPr dirty="0" sz="1200">
                <a:latin typeface="Times New Roman"/>
                <a:cs typeface="Times New Roman"/>
              </a:rPr>
              <a:t>a slight pause / break in a sentence.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you read a sentence aloud,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can often hear the points where slight </a:t>
            </a:r>
            <a:r>
              <a:rPr dirty="0" sz="1200" spc="-5">
                <a:latin typeface="Times New Roman"/>
                <a:cs typeface="Times New Roman"/>
              </a:rPr>
              <a:t>pauses </a:t>
            </a:r>
            <a:r>
              <a:rPr dirty="0" sz="1200">
                <a:latin typeface="Times New Roman"/>
                <a:cs typeface="Times New Roman"/>
              </a:rPr>
              <a:t>occur. These </a:t>
            </a:r>
            <a:r>
              <a:rPr dirty="0" sz="1200" spc="-5">
                <a:latin typeface="Times New Roman"/>
                <a:cs typeface="Times New Roman"/>
              </a:rPr>
              <a:t>pauses </a:t>
            </a:r>
            <a:r>
              <a:rPr dirty="0" sz="1200">
                <a:latin typeface="Times New Roman"/>
                <a:cs typeface="Times New Roman"/>
              </a:rPr>
              <a:t>/ breaks occur at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five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>
                <a:latin typeface="Times New Roman"/>
                <a:cs typeface="Times New Roman"/>
              </a:rPr>
              <a:t> comma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applies.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general,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 comma only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comma rule </a:t>
            </a:r>
            <a:r>
              <a:rPr dirty="0" sz="1200">
                <a:latin typeface="Times New Roman"/>
                <a:cs typeface="Times New Roman"/>
              </a:rPr>
              <a:t>applies. When you are in doubt about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 or not to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comma,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often best to leave it out. </a:t>
            </a:r>
            <a:r>
              <a:rPr dirty="0" sz="1200" spc="-5">
                <a:latin typeface="Times New Roman"/>
                <a:cs typeface="Times New Roman"/>
              </a:rPr>
              <a:t>We’ll </a:t>
            </a:r>
            <a:r>
              <a:rPr dirty="0" sz="1200">
                <a:latin typeface="Times New Roman"/>
                <a:cs typeface="Times New Roman"/>
              </a:rPr>
              <a:t>look at these rules 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Rule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between</a:t>
            </a:r>
            <a:r>
              <a:rPr dirty="0" sz="1200" b="1">
                <a:latin typeface="Times New Roman"/>
                <a:cs typeface="Times New Roman"/>
              </a:rPr>
              <a:t> items </a:t>
            </a:r>
            <a:r>
              <a:rPr dirty="0" sz="1200" spc="-5" b="1">
                <a:latin typeface="Times New Roman"/>
                <a:cs typeface="Times New Roman"/>
              </a:rPr>
              <a:t>in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 series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comma is </a:t>
            </a:r>
            <a:r>
              <a:rPr dirty="0" sz="1200">
                <a:latin typeface="Times New Roman"/>
                <a:cs typeface="Times New Roman"/>
              </a:rPr>
              <a:t>used to separate </a:t>
            </a:r>
            <a:r>
              <a:rPr dirty="0" sz="1200" spc="-5">
                <a:latin typeface="Times New Roman"/>
                <a:cs typeface="Times New Roman"/>
              </a:rPr>
              <a:t>three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more items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words, </a:t>
            </a:r>
            <a:r>
              <a:rPr dirty="0" sz="1200">
                <a:latin typeface="Times New Roman"/>
                <a:cs typeface="Times New Roman"/>
              </a:rPr>
              <a:t>phrases, or </a:t>
            </a:r>
            <a:r>
              <a:rPr dirty="0" sz="1200" spc="-5">
                <a:latin typeface="Times New Roman"/>
                <a:cs typeface="Times New Roman"/>
              </a:rPr>
              <a:t>clauses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</a:t>
            </a:r>
            <a:r>
              <a:rPr dirty="0" sz="1200" spc="-5">
                <a:latin typeface="Times New Roman"/>
                <a:cs typeface="Times New Roman"/>
              </a:rPr>
              <a:t> series as </a:t>
            </a:r>
            <a:r>
              <a:rPr dirty="0" sz="1200">
                <a:latin typeface="Times New Roman"/>
                <a:cs typeface="Times New Roman"/>
              </a:rPr>
              <a:t>in following</a:t>
            </a:r>
            <a:r>
              <a:rPr dirty="0" sz="1200" spc="-5">
                <a:latin typeface="Times New Roman"/>
                <a:cs typeface="Times New Roman"/>
              </a:rPr>
              <a:t> examples.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30810" indent="-118745">
              <a:lnSpc>
                <a:spcPts val="1410"/>
              </a:lnSpc>
              <a:buAutoNum type="romanLcPeriod"/>
              <a:tabLst>
                <a:tab pos="1314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village</a:t>
            </a:r>
            <a:r>
              <a:rPr dirty="0" sz="1200" spc="-5">
                <a:latin typeface="Times New Roman"/>
                <a:cs typeface="Times New Roman"/>
              </a:rPr>
              <a:t> women </a:t>
            </a:r>
            <a:r>
              <a:rPr dirty="0" sz="1200">
                <a:latin typeface="Times New Roman"/>
                <a:cs typeface="Times New Roman"/>
              </a:rPr>
              <a:t>sold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pottery,</a:t>
            </a:r>
            <a:r>
              <a:rPr dirty="0" sz="1200" spc="-5">
                <a:latin typeface="Times New Roman"/>
                <a:cs typeface="Times New Roman"/>
              </a:rPr>
              <a:t> baskets, </a:t>
            </a:r>
            <a:r>
              <a:rPr dirty="0" sz="1200">
                <a:latin typeface="Times New Roman"/>
                <a:cs typeface="Times New Roman"/>
              </a:rPr>
              <a:t>blankets,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silver jewelry.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(Words)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  <a:buAutoNum type="romanLcPeriod"/>
              <a:tabLst>
                <a:tab pos="19621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spread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wares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pavements,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doorsteps,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especially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square.</a:t>
            </a:r>
            <a:r>
              <a:rPr dirty="0" sz="1200" spc="-5">
                <a:latin typeface="Times New Roman"/>
                <a:cs typeface="Times New Roman"/>
              </a:rPr>
              <a:t> (Phrases)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tribal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elders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dance,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women </a:t>
            </a:r>
            <a:r>
              <a:rPr dirty="0" sz="1200">
                <a:latin typeface="Times New Roman"/>
                <a:cs typeface="Times New Roman"/>
              </a:rPr>
              <a:t>sold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pottery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jewelry,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happily</a:t>
            </a:r>
            <a:r>
              <a:rPr dirty="0" sz="1200" spc="-5">
                <a:latin typeface="Times New Roman"/>
                <a:cs typeface="Times New Roman"/>
              </a:rPr>
              <a:t> playing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games.</a:t>
            </a:r>
            <a:r>
              <a:rPr dirty="0" sz="1200">
                <a:latin typeface="Times New Roman"/>
                <a:cs typeface="Times New Roman"/>
              </a:rPr>
              <a:t> (Clauses).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tribal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elders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dance,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women </a:t>
            </a:r>
            <a:r>
              <a:rPr dirty="0" sz="1200">
                <a:latin typeface="Times New Roman"/>
                <a:cs typeface="Times New Roman"/>
              </a:rPr>
              <a:t>sold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pottery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jewelry,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happily</a:t>
            </a:r>
            <a:r>
              <a:rPr dirty="0" sz="1200" spc="-5">
                <a:latin typeface="Times New Roman"/>
                <a:cs typeface="Times New Roman"/>
              </a:rPr>
              <a:t> playing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games.</a:t>
            </a:r>
            <a:r>
              <a:rPr dirty="0" sz="1200">
                <a:latin typeface="Times New Roman"/>
                <a:cs typeface="Times New Roman"/>
              </a:rPr>
              <a:t> (Clauses).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 spc="-5">
                <a:latin typeface="Times New Roman"/>
                <a:cs typeface="Times New Roman"/>
              </a:rPr>
              <a:t>NOTE: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not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a comma when the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 only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items.</a:t>
            </a:r>
            <a:r>
              <a:rPr dirty="0" sz="1200">
                <a:latin typeface="Times New Roman"/>
                <a:cs typeface="Times New Roman"/>
              </a:rPr>
              <a:t> 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cafeteria </a:t>
            </a:r>
            <a:r>
              <a:rPr dirty="0" sz="1200" spc="-5">
                <a:latin typeface="Times New Roman"/>
                <a:cs typeface="Times New Roman"/>
              </a:rPr>
              <a:t>now serves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sandwiches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drinks.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insert </a:t>
            </a:r>
            <a:r>
              <a:rPr dirty="0" sz="1200" spc="-5">
                <a:latin typeface="Times New Roman"/>
                <a:cs typeface="Times New Roman"/>
              </a:rPr>
              <a:t>commas</a:t>
            </a:r>
            <a:r>
              <a:rPr dirty="0" sz="1200">
                <a:latin typeface="Times New Roman"/>
                <a:cs typeface="Times New Roman"/>
              </a:rPr>
              <a:t> between</a:t>
            </a:r>
            <a:r>
              <a:rPr dirty="0" sz="1200" spc="-5">
                <a:latin typeface="Times New Roman"/>
                <a:cs typeface="Times New Roman"/>
              </a:rPr>
              <a:t> items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</a:t>
            </a:r>
            <a:r>
              <a:rPr dirty="0" sz="1200" spc="-5">
                <a:latin typeface="Times New Roman"/>
                <a:cs typeface="Times New Roman"/>
              </a:rPr>
              <a:t> series.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80"/>
              </a:lnSpc>
              <a:buAutoNum type="romanLcPeriod"/>
              <a:tabLst>
                <a:tab pos="131445" algn="l"/>
              </a:tabLst>
            </a:pP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countries now recycle </a:t>
            </a:r>
            <a:r>
              <a:rPr dirty="0" sz="1200" spc="-5">
                <a:latin typeface="Times New Roman"/>
                <a:cs typeface="Times New Roman"/>
              </a:rPr>
              <a:t>newspapers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plastic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bottles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aluminum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cans.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 spc="-5">
                <a:latin typeface="Times New Roman"/>
                <a:cs typeface="Times New Roman"/>
              </a:rPr>
              <a:t>Walking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jogging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bicycling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inexpensive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romanLcPeriod"/>
              <a:tabLst>
                <a:tab pos="22606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steered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footpath.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 1.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b="1">
                <a:latin typeface="Times New Roman"/>
                <a:cs typeface="Times New Roman"/>
              </a:rPr>
              <a:t> commas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between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items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a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series.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94945" indent="-182880">
              <a:lnSpc>
                <a:spcPts val="1410"/>
              </a:lnSpc>
              <a:buAutoNum type="romanLcParenBoth"/>
              <a:tabLst>
                <a:tab pos="195580" algn="l"/>
              </a:tabLst>
            </a:pP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 recycle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newspapers, </a:t>
            </a:r>
            <a:r>
              <a:rPr dirty="0" sz="1200">
                <a:latin typeface="Times New Roman"/>
                <a:cs typeface="Times New Roman"/>
              </a:rPr>
              <a:t>plastic bottles,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aluminum </a:t>
            </a:r>
            <a:r>
              <a:rPr dirty="0" sz="1200">
                <a:latin typeface="Times New Roman"/>
                <a:cs typeface="Times New Roman"/>
              </a:rPr>
              <a:t>cans.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Walking,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jogging,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bicycling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inexpensive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exercises.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  <a:buAutoNum type="romanLcParenBoth"/>
              <a:tabLst>
                <a:tab pos="281305" algn="l"/>
              </a:tabLst>
            </a:pPr>
            <a:r>
              <a:rPr dirty="0" sz="1200">
                <a:latin typeface="Times New Roman"/>
                <a:cs typeface="Times New Roman"/>
              </a:rPr>
              <a:t>The learner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 light,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steered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footpath.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Rule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No.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After</a:t>
            </a:r>
            <a:r>
              <a:rPr dirty="0" sz="1200" spc="-5" b="1">
                <a:latin typeface="Times New Roman"/>
                <a:cs typeface="Times New Roman"/>
              </a:rPr>
              <a:t> Introducing </a:t>
            </a:r>
            <a:r>
              <a:rPr dirty="0" sz="1200" b="1">
                <a:latin typeface="Times New Roman"/>
                <a:cs typeface="Times New Roman"/>
              </a:rPr>
              <a:t>Material:</a:t>
            </a:r>
            <a:endParaRPr sz="1200">
              <a:latin typeface="Times New Roman"/>
              <a:cs typeface="Times New Roman"/>
            </a:endParaRPr>
          </a:p>
          <a:p>
            <a:pPr marL="12700" marR="988694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 comma is </a:t>
            </a:r>
            <a:r>
              <a:rPr dirty="0" sz="1200">
                <a:latin typeface="Times New Roman"/>
                <a:cs typeface="Times New Roman"/>
              </a:rPr>
              <a:t>used to separate introductory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from the </a:t>
            </a:r>
            <a:r>
              <a:rPr dirty="0" sz="1200" spc="-5">
                <a:latin typeface="Times New Roman"/>
                <a:cs typeface="Times New Roman"/>
              </a:rPr>
              <a:t>rest </a:t>
            </a:r>
            <a:r>
              <a:rPr dirty="0" sz="1200">
                <a:latin typeface="Times New Roman"/>
                <a:cs typeface="Times New Roman"/>
              </a:rPr>
              <a:t>of the sentence.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15"/>
              </a:lnSpc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After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mother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given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baby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bath,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 </a:t>
            </a:r>
            <a:r>
              <a:rPr dirty="0" sz="1200" spc="-5">
                <a:latin typeface="Times New Roman"/>
                <a:cs typeface="Times New Roman"/>
              </a:rPr>
              <a:t>asleep.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Pushing and shoving each other,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ladies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rushed</a:t>
            </a:r>
            <a:r>
              <a:rPr dirty="0" sz="1200">
                <a:latin typeface="Times New Roman"/>
                <a:cs typeface="Times New Roman"/>
              </a:rPr>
              <a:t> into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section.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With the ceremony of </a:t>
            </a:r>
            <a:r>
              <a:rPr dirty="0" sz="1200" spc="-5" i="1">
                <a:latin typeface="Times New Roman"/>
                <a:cs typeface="Times New Roman"/>
              </a:rPr>
              <a:t>releasing </a:t>
            </a:r>
            <a:r>
              <a:rPr dirty="0" sz="1200" i="1">
                <a:latin typeface="Times New Roman"/>
                <a:cs typeface="Times New Roman"/>
              </a:rPr>
              <a:t>doves in the air,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festival got off </a:t>
            </a:r>
            <a:r>
              <a:rPr dirty="0" sz="1200">
                <a:latin typeface="Times New Roman"/>
                <a:cs typeface="Times New Roman"/>
              </a:rPr>
              <a:t>to a rousing </a:t>
            </a:r>
            <a:r>
              <a:rPr dirty="0" sz="1200" spc="-5">
                <a:latin typeface="Times New Roman"/>
                <a:cs typeface="Times New Roman"/>
              </a:rPr>
              <a:t>start.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NOTE: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omitted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phrase/clause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misreading is</a:t>
            </a:r>
            <a:r>
              <a:rPr dirty="0" sz="1200">
                <a:latin typeface="Times New Roman"/>
                <a:cs typeface="Times New Roman"/>
              </a:rPr>
              <a:t> unlikely. e.g.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flames</a:t>
            </a:r>
            <a:r>
              <a:rPr dirty="0" sz="1200">
                <a:latin typeface="Times New Roman"/>
                <a:cs typeface="Times New Roman"/>
              </a:rPr>
              <a:t> rose the crowd gave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Insert</a:t>
            </a:r>
            <a:r>
              <a:rPr dirty="0" sz="1200" spc="-5">
                <a:latin typeface="Times New Roman"/>
                <a:cs typeface="Times New Roman"/>
              </a:rPr>
              <a:t> commas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</a:t>
            </a:r>
            <a:r>
              <a:rPr dirty="0" sz="1200" spc="-5">
                <a:latin typeface="Times New Roman"/>
                <a:cs typeface="Times New Roman"/>
              </a:rPr>
              <a:t> phrase/clause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following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80"/>
              </a:lnSpc>
              <a:buAutoNum type="romanLcPeriod"/>
              <a:tabLst>
                <a:tab pos="13144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yell.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doctor </a:t>
            </a:r>
            <a:r>
              <a:rPr dirty="0" sz="1200">
                <a:latin typeface="Times New Roman"/>
                <a:cs typeface="Times New Roman"/>
              </a:rPr>
              <a:t>accidentally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dropped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medicine </a:t>
            </a:r>
            <a:r>
              <a:rPr dirty="0" sz="1200">
                <a:latin typeface="Times New Roman"/>
                <a:cs typeface="Times New Roman"/>
              </a:rPr>
              <a:t>bottle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floor.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romanLcPeriod"/>
              <a:tabLst>
                <a:tab pos="226695" algn="l"/>
              </a:tabLst>
            </a:pPr>
            <a:r>
              <a:rPr dirty="0" sz="1200">
                <a:latin typeface="Times New Roman"/>
                <a:cs typeface="Times New Roman"/>
              </a:rPr>
              <a:t>Disappointed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batsman’s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performance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fans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threw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bottles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peel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fieldsmen.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romanLcPeriod"/>
              <a:tabLst>
                <a:tab pos="219075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waiting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queue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admission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 marR="271145" indent="3810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commas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after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introductory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phrase/clause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2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each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2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00"/>
              </a:lnSpc>
              <a:buAutoNum type="romanLcPeriod"/>
              <a:tabLst>
                <a:tab pos="13144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yell.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operation,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doctor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accidentally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dropped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medicine </a:t>
            </a:r>
            <a:r>
              <a:rPr dirty="0" sz="1200">
                <a:latin typeface="Times New Roman"/>
                <a:cs typeface="Times New Roman"/>
              </a:rPr>
              <a:t>bottle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floor.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  <a:buAutoNum type="romanLcPeriod"/>
              <a:tabLst>
                <a:tab pos="223520" algn="l"/>
              </a:tabLst>
            </a:pPr>
            <a:r>
              <a:rPr dirty="0" sz="1200" spc="-5">
                <a:latin typeface="Times New Roman"/>
                <a:cs typeface="Times New Roman"/>
              </a:rPr>
              <a:t>Disappointed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batsman’s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performance,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fans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threw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bottles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peel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fieldsmen.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iv.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queue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admission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Rule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No.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3.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Put</a:t>
            </a:r>
            <a:r>
              <a:rPr dirty="0" sz="1200" b="1">
                <a:latin typeface="Times New Roman"/>
                <a:cs typeface="Times New Roman"/>
              </a:rPr>
              <a:t> a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comma </a:t>
            </a:r>
            <a:r>
              <a:rPr dirty="0" sz="1200" spc="-5" b="1">
                <a:latin typeface="Times New Roman"/>
                <a:cs typeface="Times New Roman"/>
              </a:rPr>
              <a:t>around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interrupt the</a:t>
            </a:r>
            <a:r>
              <a:rPr dirty="0" sz="1200" b="1">
                <a:latin typeface="Times New Roman"/>
                <a:cs typeface="Times New Roman"/>
              </a:rPr>
              <a:t> flow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 a</a:t>
            </a:r>
            <a:r>
              <a:rPr dirty="0" sz="1200" spc="-5" b="1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ct val="96000"/>
              </a:lnSpc>
            </a:pP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>
                <a:latin typeface="Times New Roman"/>
                <a:cs typeface="Times New Roman"/>
              </a:rPr>
              <a:t>sentences contain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interrupts </a:t>
            </a:r>
            <a:r>
              <a:rPr dirty="0" sz="1200">
                <a:latin typeface="Times New Roman"/>
                <a:cs typeface="Times New Roman"/>
              </a:rPr>
              <a:t>the flow of thought. Such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should be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off from </a:t>
            </a:r>
            <a:r>
              <a:rPr dirty="0" sz="1200" spc="-5">
                <a:latin typeface="Times New Roman"/>
                <a:cs typeface="Times New Roman"/>
              </a:rPr>
              <a:t>the rest </a:t>
            </a:r>
            <a:r>
              <a:rPr dirty="0" sz="1200">
                <a:latin typeface="Times New Roman"/>
                <a:cs typeface="Times New Roman"/>
              </a:rPr>
              <a:t>of the sentence by </a:t>
            </a:r>
            <a:r>
              <a:rPr dirty="0" sz="1200" spc="-5">
                <a:latin typeface="Times New Roman"/>
                <a:cs typeface="Times New Roman"/>
              </a:rPr>
              <a:t>commas.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i="1">
                <a:latin typeface="Times New Roman"/>
                <a:cs typeface="Times New Roman"/>
              </a:rPr>
              <a:t>My </a:t>
            </a:r>
            <a:r>
              <a:rPr dirty="0" sz="1200" spc="-5" i="1">
                <a:latin typeface="Times New Roman"/>
                <a:cs typeface="Times New Roman"/>
              </a:rPr>
              <a:t>mother, </a:t>
            </a:r>
            <a:r>
              <a:rPr dirty="0" sz="1200" i="1">
                <a:latin typeface="Times New Roman"/>
                <a:cs typeface="Times New Roman"/>
              </a:rPr>
              <a:t> who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very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old,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complains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give</a:t>
            </a:r>
            <a:r>
              <a:rPr dirty="0" sz="1200" spc="-5" i="1">
                <a:latin typeface="Times New Roman"/>
                <a:cs typeface="Times New Roman"/>
              </a:rPr>
              <a:t> her </a:t>
            </a:r>
            <a:r>
              <a:rPr dirty="0" sz="1200" i="1">
                <a:latin typeface="Times New Roman"/>
                <a:cs typeface="Times New Roman"/>
              </a:rPr>
              <a:t>enough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interruption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thought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 aloud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 a sentence.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read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aloud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>
                <a:latin typeface="Times New Roman"/>
                <a:cs typeface="Times New Roman"/>
              </a:rPr>
              <a:t> you can hear the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</a:t>
            </a:r>
            <a:r>
              <a:rPr dirty="0" sz="1200" spc="-5" i="1">
                <a:latin typeface="Times New Roman"/>
                <a:cs typeface="Times New Roman"/>
              </a:rPr>
              <a:t>who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very old”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interrupt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interruption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less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grumbling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angrily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claim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which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built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1937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needs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 </a:t>
            </a:r>
            <a:r>
              <a:rPr dirty="0" sz="1200" spc="-5">
                <a:latin typeface="Times New Roman"/>
                <a:cs typeface="Times New Roman"/>
              </a:rPr>
              <a:t>auditorium, </a:t>
            </a:r>
            <a:r>
              <a:rPr dirty="0" sz="1200" spc="-5" i="1">
                <a:latin typeface="Times New Roman"/>
                <a:cs typeface="Times New Roman"/>
              </a:rPr>
              <a:t>though</a:t>
            </a:r>
            <a:r>
              <a:rPr dirty="0" sz="1200" spc="-5">
                <a:latin typeface="Times New Roman"/>
                <a:cs typeface="Times New Roman"/>
              </a:rPr>
              <a:t>, is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fairly good </a:t>
            </a:r>
            <a:r>
              <a:rPr dirty="0" sz="1200">
                <a:latin typeface="Times New Roman"/>
                <a:cs typeface="Times New Roman"/>
              </a:rPr>
              <a:t>condition.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Insert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commas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interrupting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130810" indent="-118745">
              <a:lnSpc>
                <a:spcPts val="1380"/>
              </a:lnSpc>
              <a:buAutoNum type="romanLcPeriod"/>
              <a:tabLst>
                <a:tab pos="1314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 built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white </a:t>
            </a:r>
            <a:r>
              <a:rPr dirty="0" sz="1200" spc="-5">
                <a:latin typeface="Times New Roman"/>
                <a:cs typeface="Times New Roman"/>
              </a:rPr>
              <a:t>stone was</a:t>
            </a:r>
            <a:r>
              <a:rPr dirty="0" sz="1200">
                <a:latin typeface="Times New Roman"/>
                <a:cs typeface="Times New Roman"/>
              </a:rPr>
              <a:t> finally </a:t>
            </a:r>
            <a:r>
              <a:rPr dirty="0" sz="1200" spc="-5">
                <a:latin typeface="Times New Roman"/>
                <a:cs typeface="Times New Roman"/>
              </a:rPr>
              <a:t>completed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1890.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80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park </a:t>
            </a:r>
            <a:r>
              <a:rPr dirty="0" sz="1200" spc="-5">
                <a:latin typeface="Times New Roman"/>
                <a:cs typeface="Times New Roman"/>
              </a:rPr>
              <a:t>forty</a:t>
            </a:r>
            <a:r>
              <a:rPr dirty="0" sz="1200">
                <a:latin typeface="Times New Roman"/>
                <a:cs typeface="Times New Roman"/>
              </a:rPr>
              <a:t> acres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prime </a:t>
            </a:r>
            <a:r>
              <a:rPr dirty="0" sz="1200">
                <a:latin typeface="Times New Roman"/>
                <a:cs typeface="Times New Roman"/>
              </a:rPr>
              <a:t>land </a:t>
            </a:r>
            <a:r>
              <a:rPr dirty="0" sz="1200" spc="-5">
                <a:latin typeface="Times New Roman"/>
                <a:cs typeface="Times New Roman"/>
              </a:rPr>
              <a:t>provides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fine view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surrounding buildings.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romanLcPeriod"/>
              <a:tabLst>
                <a:tab pos="22669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scenery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Switzerland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resembles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Kashmir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inspired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novel.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45"/>
              </a:lnSpc>
              <a:buAutoNum type="romanLcPeriod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Laila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>
                <a:latin typeface="Times New Roman"/>
                <a:cs typeface="Times New Roman"/>
              </a:rPr>
              <a:t> wearing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new dress</a:t>
            </a:r>
            <a:r>
              <a:rPr dirty="0" sz="1200">
                <a:latin typeface="Times New Roman"/>
                <a:cs typeface="Times New Roman"/>
              </a:rPr>
              <a:t> yelled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spilled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Rule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No.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4.</a:t>
            </a:r>
            <a:r>
              <a:rPr dirty="0" sz="1200" b="1">
                <a:latin typeface="Times New Roman"/>
                <a:cs typeface="Times New Roman"/>
              </a:rPr>
              <a:t> Comma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between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complete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thoughts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connected by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joining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joining word.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-Multan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n,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interesting.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historians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claim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Sharif,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Punjab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older</a:t>
            </a:r>
            <a:r>
              <a:rPr dirty="0" sz="1200" spc="-5" b="1">
                <a:latin typeface="Times New Roman"/>
                <a:cs typeface="Times New Roman"/>
              </a:rPr>
              <a:t>,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Indus Valley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continuously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inhabited for</a:t>
            </a:r>
            <a:r>
              <a:rPr dirty="0" sz="1200" spc="-5">
                <a:latin typeface="Times New Roman"/>
                <a:cs typeface="Times New Roman"/>
              </a:rPr>
              <a:t> thousands of years.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-Perhaps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have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y,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perhaps you have even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Uch Sharif.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-Money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happiness,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bearable.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NOTE: </a:t>
            </a:r>
            <a:r>
              <a:rPr dirty="0" sz="1200">
                <a:latin typeface="Times New Roman"/>
                <a:cs typeface="Times New Roman"/>
              </a:rPr>
              <a:t>Do not add a comma just because a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contains the word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or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. A </a:t>
            </a:r>
            <a:r>
              <a:rPr dirty="0" sz="1200">
                <a:latin typeface="Times New Roman"/>
                <a:cs typeface="Times New Roman"/>
              </a:rPr>
              <a:t> comma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only when the joining word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between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two complete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thoughts</a:t>
            </a:r>
            <a:r>
              <a:rPr dirty="0" sz="1200">
                <a:latin typeface="Times New Roman"/>
                <a:cs typeface="Times New Roman"/>
              </a:rPr>
              <a:t>. Each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have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 subject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verb. e.g.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romanLcPeriod"/>
              <a:tabLst>
                <a:tab pos="177165" algn="l"/>
              </a:tabLst>
            </a:pPr>
            <a:r>
              <a:rPr dirty="0" sz="1200" spc="-5">
                <a:latin typeface="Times New Roman"/>
                <a:cs typeface="Times New Roman"/>
              </a:rPr>
              <a:t>Shama </a:t>
            </a:r>
            <a:r>
              <a:rPr dirty="0" sz="1200">
                <a:latin typeface="Times New Roman"/>
                <a:cs typeface="Times New Roman"/>
              </a:rPr>
              <a:t>spent the </a:t>
            </a:r>
            <a:r>
              <a:rPr dirty="0" sz="1200" spc="-5">
                <a:latin typeface="Times New Roman"/>
                <a:cs typeface="Times New Roman"/>
              </a:rPr>
              <a:t>morning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college, and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went to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civil </a:t>
            </a:r>
            <a:r>
              <a:rPr dirty="0" sz="1200" spc="-5">
                <a:latin typeface="Times New Roman"/>
                <a:cs typeface="Times New Roman"/>
              </a:rPr>
              <a:t>secretariat.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(Comma: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thought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a subject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a verb. </a:t>
            </a:r>
            <a:r>
              <a:rPr dirty="0" sz="1200" spc="-5">
                <a:latin typeface="Times New Roman"/>
                <a:cs typeface="Times New Roman"/>
              </a:rPr>
              <a:t>Shama</a:t>
            </a:r>
            <a:r>
              <a:rPr dirty="0" sz="1200">
                <a:latin typeface="Times New Roman"/>
                <a:cs typeface="Times New Roman"/>
              </a:rPr>
              <a:t> spent; and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went)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romanLcPeriod"/>
              <a:tabLst>
                <a:tab pos="217170" algn="l"/>
              </a:tabLst>
            </a:pPr>
            <a:r>
              <a:rPr dirty="0" sz="1200" spc="-5">
                <a:latin typeface="Times New Roman"/>
                <a:cs typeface="Times New Roman"/>
              </a:rPr>
              <a:t>Shama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spent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morning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went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civil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secretariat.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needed here, because the second </a:t>
            </a:r>
            <a:r>
              <a:rPr dirty="0" sz="1200" spc="-5">
                <a:latin typeface="Times New Roman"/>
                <a:cs typeface="Times New Roman"/>
              </a:rPr>
              <a:t>thought 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complete, and it doesn’t have </a:t>
            </a:r>
            <a:r>
              <a:rPr dirty="0" sz="1200" spc="-10">
                <a:latin typeface="Times New Roman"/>
                <a:cs typeface="Times New Roman"/>
              </a:rPr>
              <a:t>its </a:t>
            </a:r>
            <a:r>
              <a:rPr dirty="0" sz="1200" spc="-5">
                <a:latin typeface="Times New Roman"/>
                <a:cs typeface="Times New Roman"/>
              </a:rPr>
              <a:t> own </a:t>
            </a:r>
            <a:r>
              <a:rPr dirty="0" sz="1200">
                <a:latin typeface="Times New Roman"/>
                <a:cs typeface="Times New Roman"/>
              </a:rPr>
              <a:t>subject.)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 4: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commas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before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joining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cricket team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lost five</a:t>
            </a:r>
            <a:r>
              <a:rPr dirty="0" sz="1200" spc="-5">
                <a:latin typeface="Times New Roman"/>
                <a:cs typeface="Times New Roman"/>
              </a:rPr>
              <a:t> matches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row but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popular as ever.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70"/>
              </a:spcBef>
              <a:buAutoNum type="romanLcParenBoth"/>
              <a:tabLst>
                <a:tab pos="257810" algn="l"/>
              </a:tabLst>
            </a:pPr>
            <a:r>
              <a:rPr dirty="0" sz="1200" spc="-5">
                <a:latin typeface="Times New Roman"/>
                <a:cs typeface="Times New Roman"/>
              </a:rPr>
              <a:t>Kauser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wasn’t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wearing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glasses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couldn’t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469900" indent="-448945">
              <a:lnSpc>
                <a:spcPts val="1315"/>
              </a:lnSpc>
              <a:buAutoNum type="romanLcParenBoth" startAt="4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practice.</a:t>
            </a:r>
            <a:endParaRPr sz="1200">
              <a:latin typeface="Times New Roman"/>
              <a:cs typeface="Times New Roman"/>
            </a:endParaRPr>
          </a:p>
          <a:p>
            <a:pPr marL="508000" indent="-444500">
              <a:lnSpc>
                <a:spcPts val="1410"/>
              </a:lnSpc>
              <a:buAutoNum type="romanLcParenBoth" startAt="4"/>
              <a:tabLst>
                <a:tab pos="507365" algn="l"/>
                <a:tab pos="5080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festival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precisely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village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Practice 4: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commas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before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joining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cricket team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lost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 </a:t>
            </a:r>
            <a:r>
              <a:rPr dirty="0" sz="1200" spc="-5">
                <a:latin typeface="Times New Roman"/>
                <a:cs typeface="Times New Roman"/>
              </a:rPr>
              <a:t>matches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row,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popular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ever.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55270" algn="l"/>
              </a:tabLst>
            </a:pPr>
            <a:r>
              <a:rPr dirty="0" sz="1200" spc="-5">
                <a:latin typeface="Times New Roman"/>
                <a:cs typeface="Times New Roman"/>
              </a:rPr>
              <a:t>Kauser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wasn’t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wearing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glasses,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couldn’t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dictionary.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315"/>
              </a:lnSpc>
              <a:buAutoNum type="romanLcParenBoth"/>
              <a:tabLst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practice.</a:t>
            </a:r>
            <a:endParaRPr sz="1200">
              <a:latin typeface="Times New Roman"/>
              <a:cs typeface="Times New Roman"/>
            </a:endParaRPr>
          </a:p>
          <a:p>
            <a:pPr marL="270510" indent="-258445">
              <a:lnSpc>
                <a:spcPts val="1410"/>
              </a:lnSpc>
              <a:buAutoNum type="romanLcParenBoth"/>
              <a:tabLst>
                <a:tab pos="27114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festival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precisely,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village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Rule </a:t>
            </a: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Comma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with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Direct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Quotations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73469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Commas </a:t>
            </a:r>
            <a:r>
              <a:rPr dirty="0" sz="1200">
                <a:latin typeface="Times New Roman"/>
                <a:cs typeface="Times New Roman"/>
              </a:rPr>
              <a:t>are used to separate directly quoted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from the </a:t>
            </a:r>
            <a:r>
              <a:rPr dirty="0" sz="1200" spc="-5">
                <a:latin typeface="Times New Roman"/>
                <a:cs typeface="Times New Roman"/>
              </a:rPr>
              <a:t>rest </a:t>
            </a:r>
            <a:r>
              <a:rPr dirty="0" sz="1200">
                <a:latin typeface="Times New Roman"/>
                <a:cs typeface="Times New Roman"/>
              </a:rPr>
              <a:t>of the sentences.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coach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shouted,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“Move,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fast.”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mind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ask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question?”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 </a:t>
            </a:r>
            <a:r>
              <a:rPr dirty="0" sz="1200" spc="-5">
                <a:latin typeface="Times New Roman"/>
                <a:cs typeface="Times New Roman"/>
              </a:rPr>
              <a:t>customer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grumbled</a:t>
            </a:r>
            <a:r>
              <a:rPr dirty="0" sz="1200">
                <a:latin typeface="Times New Roman"/>
                <a:cs typeface="Times New Roman"/>
              </a:rPr>
              <a:t> to the waiter, “This </a:t>
            </a:r>
            <a:r>
              <a:rPr dirty="0" sz="1200" spc="-5">
                <a:latin typeface="Times New Roman"/>
                <a:cs typeface="Times New Roman"/>
              </a:rPr>
              <a:t>tea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tastes</a:t>
            </a:r>
            <a:r>
              <a:rPr dirty="0" sz="1200">
                <a:latin typeface="Times New Roman"/>
                <a:cs typeface="Times New Roman"/>
              </a:rPr>
              <a:t> like </a:t>
            </a:r>
            <a:r>
              <a:rPr dirty="0" sz="1200" spc="-5">
                <a:latin typeface="Times New Roman"/>
                <a:cs typeface="Times New Roman"/>
              </a:rPr>
              <a:t>ditch</a:t>
            </a:r>
            <a:r>
              <a:rPr dirty="0" sz="1200">
                <a:latin typeface="Times New Roman"/>
                <a:cs typeface="Times New Roman"/>
              </a:rPr>
              <a:t> water.”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Note: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comma comes </a:t>
            </a:r>
            <a:r>
              <a:rPr dirty="0" sz="1200">
                <a:latin typeface="Times New Roman"/>
                <a:cs typeface="Times New Roman"/>
              </a:rPr>
              <a:t>at the end of directly quoted </a:t>
            </a:r>
            <a:r>
              <a:rPr dirty="0" sz="1200" spc="-5">
                <a:latin typeface="Times New Roman"/>
                <a:cs typeface="Times New Roman"/>
              </a:rPr>
              <a:t>words,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included within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 marks. e.g. - “After this </a:t>
            </a:r>
            <a:r>
              <a:rPr dirty="0" sz="1200" spc="-5">
                <a:latin typeface="Times New Roman"/>
                <a:cs typeface="Times New Roman"/>
              </a:rPr>
              <a:t>class,” whispered </a:t>
            </a:r>
            <a:r>
              <a:rPr dirty="0" sz="1200">
                <a:latin typeface="Times New Roman"/>
                <a:cs typeface="Times New Roman"/>
              </a:rPr>
              <a:t>one student to her friend, “Lets go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cafeteria.”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5. </a:t>
            </a: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commas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off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quoted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material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ts val="1410"/>
              </a:lnSpc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“We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leave”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cheerful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voice</a:t>
            </a:r>
            <a:r>
              <a:rPr dirty="0" sz="1200" spc="-5">
                <a:latin typeface="Times New Roman"/>
                <a:cs typeface="Times New Roman"/>
              </a:rPr>
              <a:t> 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</a:t>
            </a:r>
            <a:r>
              <a:rPr dirty="0" sz="1200" spc="-5">
                <a:latin typeface="Times New Roman"/>
                <a:cs typeface="Times New Roman"/>
              </a:rPr>
              <a:t> mike.</a:t>
            </a:r>
            <a:endParaRPr sz="1200">
              <a:latin typeface="Times New Roman"/>
              <a:cs typeface="Times New Roman"/>
            </a:endParaRPr>
          </a:p>
          <a:p>
            <a:pPr marL="12700" marR="36131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“This book” </a:t>
            </a:r>
            <a:r>
              <a:rPr dirty="0" sz="1200" spc="-5">
                <a:latin typeface="Times New Roman"/>
                <a:cs typeface="Times New Roman"/>
              </a:rPr>
              <a:t>complained </a:t>
            </a:r>
            <a:r>
              <a:rPr dirty="0" sz="1200">
                <a:latin typeface="Times New Roman"/>
                <a:cs typeface="Times New Roman"/>
              </a:rPr>
              <a:t>the student to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book store </a:t>
            </a:r>
            <a:r>
              <a:rPr dirty="0" sz="1200" spc="-5">
                <a:latin typeface="Times New Roman"/>
                <a:cs typeface="Times New Roman"/>
              </a:rPr>
              <a:t>owner “is </a:t>
            </a:r>
            <a:r>
              <a:rPr dirty="0" sz="1200">
                <a:latin typeface="Times New Roman"/>
                <a:cs typeface="Times New Roman"/>
              </a:rPr>
              <a:t>twenty rupees cheaper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>
                <a:latin typeface="Times New Roman"/>
                <a:cs typeface="Times New Roman"/>
              </a:rPr>
              <a:t>store.”</a:t>
            </a:r>
            <a:endParaRPr sz="1200">
              <a:latin typeface="Times New Roman"/>
              <a:cs typeface="Times New Roman"/>
            </a:endParaRPr>
          </a:p>
          <a:p>
            <a:pPr marL="278765" indent="-266700">
              <a:lnSpc>
                <a:spcPts val="1345"/>
              </a:lnSpc>
              <a:buAutoNum type="romanLcParenBoth"/>
              <a:tabLst>
                <a:tab pos="2794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cashier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cheques.”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b="1">
                <a:latin typeface="Times New Roman"/>
                <a:cs typeface="Times New Roman"/>
              </a:rPr>
              <a:t>Practice5.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Insert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set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quoted</a:t>
            </a:r>
            <a:r>
              <a:rPr dirty="0" sz="1200" spc="-5">
                <a:latin typeface="Times New Roman"/>
                <a:cs typeface="Times New Roman"/>
              </a:rPr>
              <a:t> material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sentences..</a:t>
            </a:r>
            <a:endParaRPr sz="1200">
              <a:latin typeface="Times New Roman"/>
              <a:cs typeface="Times New Roman"/>
            </a:endParaRPr>
          </a:p>
          <a:p>
            <a:pPr marL="194945" indent="-182880">
              <a:lnSpc>
                <a:spcPts val="1380"/>
              </a:lnSpc>
              <a:buAutoNum type="romanLcParenBoth"/>
              <a:tabLst>
                <a:tab pos="195580" algn="l"/>
              </a:tabLst>
            </a:pPr>
            <a:r>
              <a:rPr dirty="0" sz="1200" spc="-5">
                <a:latin typeface="Times New Roman"/>
                <a:cs typeface="Times New Roman"/>
              </a:rPr>
              <a:t>“We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leave”,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cheerful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voice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mike.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“This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book,”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complained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twenty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rupees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>
                <a:latin typeface="Times New Roman"/>
                <a:cs typeface="Times New Roman"/>
              </a:rPr>
              <a:t>store.”</a:t>
            </a:r>
            <a:endParaRPr sz="1200">
              <a:latin typeface="Times New Roman"/>
              <a:cs typeface="Times New Roman"/>
            </a:endParaRPr>
          </a:p>
          <a:p>
            <a:pPr marL="279400" indent="-266700">
              <a:lnSpc>
                <a:spcPts val="1345"/>
              </a:lnSpc>
              <a:buAutoNum type="romanLcParenBoth"/>
              <a:tabLst>
                <a:tab pos="2794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cashier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cheques.”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romanLcParenBoth"/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Review: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 you can recognize </a:t>
            </a:r>
            <a:r>
              <a:rPr dirty="0" sz="1200" spc="-5">
                <a:latin typeface="Times New Roman"/>
                <a:cs typeface="Times New Roman"/>
              </a:rPr>
              <a:t>which comma rule applies </a:t>
            </a:r>
            <a:r>
              <a:rPr dirty="0" sz="1200">
                <a:latin typeface="Times New Roman"/>
                <a:cs typeface="Times New Roman"/>
              </a:rPr>
              <a:t>to each </a:t>
            </a:r>
            <a:r>
              <a:rPr dirty="0" sz="1200" spc="-5">
                <a:latin typeface="Times New Roman"/>
                <a:cs typeface="Times New Roman"/>
              </a:rPr>
              <a:t>sentence.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comma(s)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927100" indent="-686435">
              <a:lnSpc>
                <a:spcPct val="100000"/>
              </a:lnSpc>
              <a:buAutoNum type="alphaLcPeriod"/>
              <a:tabLst>
                <a:tab pos="926465" algn="l"/>
                <a:tab pos="927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5">
                <a:latin typeface="Times New Roman"/>
                <a:cs typeface="Times New Roman"/>
              </a:rPr>
              <a:t> items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series.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181</a:t>
            </a:fld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244600" y="913892"/>
            <a:ext cx="13970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992444"/>
            <a:ext cx="3869054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contraction.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 common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contractions.</a:t>
            </a:r>
            <a:endParaRPr sz="1200">
              <a:latin typeface="Times New Roman"/>
              <a:cs typeface="Times New Roman"/>
            </a:endParaRPr>
          </a:p>
          <a:p>
            <a:pPr marL="153924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197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400" y="913892"/>
            <a:ext cx="347154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1283970" indent="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interrupting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Comma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joins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 </a:t>
            </a:r>
            <a:r>
              <a:rPr dirty="0" sz="1200">
                <a:latin typeface="Times New Roman"/>
                <a:cs typeface="Times New Roman"/>
              </a:rPr>
              <a:t>thoughts.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Comma </a:t>
            </a:r>
            <a:r>
              <a:rPr dirty="0" sz="1200">
                <a:latin typeface="Times New Roman"/>
                <a:cs typeface="Times New Roman"/>
              </a:rPr>
              <a:t>with direct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614931"/>
            <a:ext cx="5627370" cy="5991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  <a:tab pos="3882390" algn="l"/>
              </a:tabLst>
            </a:pPr>
            <a:r>
              <a:rPr dirty="0" sz="1200">
                <a:latin typeface="Times New Roman"/>
                <a:cs typeface="Times New Roman"/>
              </a:rPr>
              <a:t>Glaring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demanded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silence.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444309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heard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horn blowing</a:t>
            </a:r>
            <a:r>
              <a:rPr dirty="0" sz="1200" spc="-5">
                <a:latin typeface="Times New Roman"/>
                <a:cs typeface="Times New Roman"/>
              </a:rPr>
              <a:t> so</a:t>
            </a:r>
            <a:r>
              <a:rPr dirty="0" sz="1200">
                <a:latin typeface="Times New Roman"/>
                <a:cs typeface="Times New Roman"/>
              </a:rPr>
              <a:t> 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glanced 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rearview </a:t>
            </a:r>
            <a:r>
              <a:rPr dirty="0" sz="1200" spc="-5">
                <a:latin typeface="Times New Roman"/>
                <a:cs typeface="Times New Roman"/>
              </a:rPr>
              <a:t>mirror.</a:t>
            </a:r>
            <a:r>
              <a:rPr dirty="0" sz="1200">
                <a:latin typeface="Times New Roman"/>
                <a:cs typeface="Times New Roman"/>
              </a:rPr>
              <a:t>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67005" indent="-154940">
              <a:lnSpc>
                <a:spcPts val="1380"/>
              </a:lnSpc>
              <a:buAutoNum type="arabicPeriod"/>
              <a:tabLst>
                <a:tab pos="167640" algn="l"/>
                <a:tab pos="56134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professor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briefcase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umbrella.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4"/>
              <a:tabLst>
                <a:tab pos="165735" algn="l"/>
                <a:tab pos="5213985" algn="l"/>
              </a:tabLst>
            </a:pPr>
            <a:r>
              <a:rPr dirty="0" sz="1200">
                <a:latin typeface="Times New Roman"/>
                <a:cs typeface="Times New Roman"/>
              </a:rPr>
              <a:t>The city children unused to the darkness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sleep.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5"/>
              </a:lnSpc>
              <a:buAutoNum type="arabicPeriod" startAt="4"/>
              <a:tabLst>
                <a:tab pos="165100" algn="l"/>
                <a:tab pos="465772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>
                <a:latin typeface="Times New Roman"/>
                <a:cs typeface="Times New Roman"/>
              </a:rPr>
              <a:t> whispered “Listen very carefully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say”.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Glaring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boss demanded </a:t>
            </a:r>
            <a:r>
              <a:rPr dirty="0" sz="1200">
                <a:latin typeface="Times New Roman"/>
                <a:cs typeface="Times New Roman"/>
              </a:rPr>
              <a:t>silence.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(b)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blowing,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glanced</a:t>
            </a:r>
            <a:r>
              <a:rPr dirty="0" sz="1200">
                <a:latin typeface="Times New Roman"/>
                <a:cs typeface="Times New Roman"/>
              </a:rPr>
              <a:t> up at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>
                <a:latin typeface="Times New Roman"/>
                <a:cs typeface="Times New Roman"/>
              </a:rPr>
              <a:t> rearview </a:t>
            </a:r>
            <a:r>
              <a:rPr dirty="0" sz="1200" spc="-5">
                <a:latin typeface="Times New Roman"/>
                <a:cs typeface="Times New Roman"/>
              </a:rPr>
              <a:t>mirror.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(d)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professor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house without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hat,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briefcase,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umbrella.</a:t>
            </a:r>
            <a:endParaRPr sz="1200">
              <a:latin typeface="Times New Roman"/>
              <a:cs typeface="Times New Roman"/>
            </a:endParaRPr>
          </a:p>
          <a:p>
            <a:pPr marL="501332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(a)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75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darkness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forest, sound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hard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sleep. </a:t>
            </a:r>
            <a:r>
              <a:rPr dirty="0" sz="1200" spc="-5" b="1">
                <a:latin typeface="Times New Roman"/>
                <a:cs typeface="Times New Roman"/>
              </a:rPr>
              <a:t>(c)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 </a:t>
            </a:r>
            <a:r>
              <a:rPr dirty="0" sz="1200">
                <a:latin typeface="Times New Roman"/>
                <a:cs typeface="Times New Roman"/>
              </a:rPr>
              <a:t>whispered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“Listen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say”. </a:t>
            </a:r>
            <a:r>
              <a:rPr dirty="0" sz="1200" b="1">
                <a:latin typeface="Times New Roman"/>
                <a:cs typeface="Times New Roman"/>
              </a:rPr>
              <a:t>(e)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Apostrophe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[,]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98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Look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at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sentences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see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if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spot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needs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apostrophe.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it’s</a:t>
            </a:r>
            <a:r>
              <a:rPr dirty="0" sz="1200" spc="-5">
                <a:latin typeface="Times New Roman"/>
                <a:cs typeface="Times New Roman"/>
              </a:rPr>
              <a:t> impossible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daylight.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It’s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contraction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dropped.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2.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judge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until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month.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Can’t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contraction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 left out.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45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-5">
                <a:latin typeface="Times New Roman"/>
                <a:cs typeface="Times New Roman"/>
              </a:rPr>
              <a:t> principal’s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attendance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 startAt="3"/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apostrophe plus </a:t>
            </a:r>
            <a:r>
              <a:rPr dirty="0" sz="1200" spc="-5">
                <a:latin typeface="Times New Roman"/>
                <a:cs typeface="Times New Roman"/>
              </a:rPr>
              <a:t>s shows </a:t>
            </a:r>
            <a:r>
              <a:rPr dirty="0" sz="1200">
                <a:latin typeface="Times New Roman"/>
                <a:cs typeface="Times New Roman"/>
              </a:rPr>
              <a:t>that the </a:t>
            </a:r>
            <a:r>
              <a:rPr dirty="0" sz="1200" spc="-5">
                <a:latin typeface="Times New Roman"/>
                <a:cs typeface="Times New Roman"/>
              </a:rPr>
              <a:t>new rules </a:t>
            </a:r>
            <a:r>
              <a:rPr dirty="0" sz="1200">
                <a:latin typeface="Times New Roman"/>
                <a:cs typeface="Times New Roman"/>
              </a:rPr>
              <a:t>belong to the </a:t>
            </a:r>
            <a:r>
              <a:rPr dirty="0" sz="1200" spc="-5">
                <a:latin typeface="Times New Roman"/>
                <a:cs typeface="Times New Roman"/>
              </a:rPr>
              <a:t>principal. The apostrophe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after the last letter of the word </a:t>
            </a:r>
            <a:r>
              <a:rPr dirty="0" sz="1200" spc="-5">
                <a:latin typeface="Times New Roman"/>
                <a:cs typeface="Times New Roman"/>
              </a:rPr>
              <a:t>principal.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Likes</a:t>
            </a:r>
            <a:r>
              <a:rPr dirty="0" sz="1200">
                <a:latin typeface="Times New Roman"/>
                <a:cs typeface="Times New Roman"/>
              </a:rPr>
              <a:t> does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take an apostrophe,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possessive.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 startAt="4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sandwiches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Greens’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town.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 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 that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Greens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purposes.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44600" y="7573770"/>
            <a:ext cx="1708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01800" y="7573770"/>
            <a:ext cx="494030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contraction,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 to </a:t>
            </a:r>
            <a:r>
              <a:rPr dirty="0" sz="1200" spc="-5">
                <a:latin typeface="Times New Roman"/>
                <a:cs typeface="Times New Roman"/>
              </a:rPr>
              <a:t>show possession</a:t>
            </a:r>
            <a:r>
              <a:rPr dirty="0" sz="1200">
                <a:latin typeface="Times New Roman"/>
                <a:cs typeface="Times New Roman"/>
              </a:rPr>
              <a:t> -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someone.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44600" y="7924290"/>
            <a:ext cx="21145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(ii)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8276335"/>
            <a:ext cx="562673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Apostrophe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Contractions: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contraction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combined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omitted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139952" y="938783"/>
          <a:ext cx="4924425" cy="24936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28900"/>
                <a:gridCol w="2286000"/>
              </a:tblGrid>
              <a:tr h="5326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495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am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I’m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257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she’ll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715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it’s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25780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You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you’ll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858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Does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doesn’t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87680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You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would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you’d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972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73380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don’t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49580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won’t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198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3757676"/>
            <a:ext cx="5627370" cy="31877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Contractions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commonly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slang.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Pakistan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contractions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wrong.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-5">
                <a:latin typeface="Times New Roman"/>
                <a:cs typeface="Times New Roman"/>
              </a:rPr>
              <a:t> how frequently words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contracted.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Wouldn’t</a:t>
            </a:r>
            <a:r>
              <a:rPr dirty="0" sz="1200">
                <a:latin typeface="Times New Roman"/>
                <a:cs typeface="Times New Roman"/>
              </a:rPr>
              <a:t> you like to go to the </a:t>
            </a:r>
            <a:r>
              <a:rPr dirty="0" sz="1200" spc="-5">
                <a:latin typeface="Times New Roman"/>
                <a:cs typeface="Times New Roman"/>
              </a:rPr>
              <a:t>movies </a:t>
            </a:r>
            <a:r>
              <a:rPr dirty="0" sz="1200">
                <a:latin typeface="Times New Roman"/>
                <a:cs typeface="Times New Roman"/>
              </a:rPr>
              <a:t>tonight?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There’s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film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I’ve</a:t>
            </a:r>
            <a:r>
              <a:rPr dirty="0" sz="1200">
                <a:latin typeface="Times New Roman"/>
                <a:cs typeface="Times New Roman"/>
              </a:rPr>
              <a:t> been </a:t>
            </a:r>
            <a:r>
              <a:rPr dirty="0" sz="1200" spc="-5">
                <a:latin typeface="Times New Roman"/>
                <a:cs typeface="Times New Roman"/>
              </a:rPr>
              <a:t>wanting </a:t>
            </a:r>
            <a:r>
              <a:rPr dirty="0" sz="1200">
                <a:latin typeface="Times New Roman"/>
                <a:cs typeface="Times New Roman"/>
              </a:rPr>
              <a:t>to see, 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hasn’t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>
                <a:latin typeface="Times New Roman"/>
                <a:cs typeface="Times New Roman"/>
              </a:rPr>
              <a:t> in Lahore </a:t>
            </a:r>
            <a:r>
              <a:rPr dirty="0" sz="1200" spc="-5">
                <a:latin typeface="Times New Roman"/>
                <a:cs typeface="Times New Roman"/>
              </a:rPr>
              <a:t>until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too,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haven’t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you?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Shouldn’t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the others to </a:t>
            </a:r>
            <a:r>
              <a:rPr dirty="0" sz="1200" spc="-5">
                <a:latin typeface="Times New Roman"/>
                <a:cs typeface="Times New Roman"/>
              </a:rPr>
              <a:t>go with us?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They’re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saying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they’ve</a:t>
            </a:r>
            <a:r>
              <a:rPr dirty="0" sz="1200">
                <a:latin typeface="Times New Roman"/>
                <a:cs typeface="Times New Roman"/>
              </a:rPr>
              <a:t> plenty of free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don’t</a:t>
            </a:r>
            <a:r>
              <a:rPr dirty="0" sz="1200">
                <a:latin typeface="Times New Roman"/>
                <a:cs typeface="Times New Roman"/>
              </a:rPr>
              <a:t> they?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Contractions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5" b="1">
                <a:latin typeface="Times New Roman"/>
                <a:cs typeface="Times New Roman"/>
              </a:rPr>
              <a:t> Cause </a:t>
            </a:r>
            <a:r>
              <a:rPr dirty="0" sz="1200" b="1">
                <a:latin typeface="Times New Roman"/>
                <a:cs typeface="Times New Roman"/>
              </a:rPr>
              <a:t>Problems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11042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are 4 pairs 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can </a:t>
            </a:r>
            <a:r>
              <a:rPr dirty="0" sz="1200" spc="-5">
                <a:latin typeface="Times New Roman"/>
                <a:cs typeface="Times New Roman"/>
              </a:rPr>
              <a:t>cause problems </a:t>
            </a:r>
            <a:r>
              <a:rPr dirty="0" sz="1200">
                <a:latin typeface="Times New Roman"/>
                <a:cs typeface="Times New Roman"/>
              </a:rPr>
              <a:t>to students. These are: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They’re</a:t>
            </a:r>
            <a:r>
              <a:rPr dirty="0" sz="1200" spc="-5">
                <a:latin typeface="Times New Roman"/>
                <a:cs typeface="Times New Roman"/>
              </a:rPr>
              <a:t>-(meaning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their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(meaning </a:t>
            </a:r>
            <a:r>
              <a:rPr dirty="0" sz="1200">
                <a:latin typeface="Times New Roman"/>
                <a:cs typeface="Times New Roman"/>
              </a:rPr>
              <a:t>belonging to</a:t>
            </a:r>
            <a:r>
              <a:rPr dirty="0" sz="1200" spc="-5">
                <a:latin typeface="Times New Roman"/>
                <a:cs typeface="Times New Roman"/>
              </a:rPr>
              <a:t> them)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 startAt="2"/>
              <a:tabLst>
                <a:tab pos="165100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(meaning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its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belonging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 startAt="2"/>
              <a:tabLst>
                <a:tab pos="1651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(meaning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belonging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2"/>
              <a:tabLst>
                <a:tab pos="165735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(meaning who </a:t>
            </a:r>
            <a:r>
              <a:rPr dirty="0" sz="1200" spc="-5">
                <a:latin typeface="Times New Roman"/>
                <a:cs typeface="Times New Roman"/>
              </a:rPr>
              <a:t>is)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whose</a:t>
            </a:r>
            <a:r>
              <a:rPr dirty="0" sz="1200" spc="-5">
                <a:latin typeface="Times New Roman"/>
                <a:cs typeface="Times New Roman"/>
              </a:rPr>
              <a:t> meaning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(belonging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whom)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these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5">
                <a:latin typeface="Times New Roman"/>
                <a:cs typeface="Times New Roman"/>
              </a:rPr>
              <a:t> is 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262874"/>
            <a:ext cx="6610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They’re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You’re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Who’s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29961" y="7262874"/>
            <a:ext cx="41529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381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7963914"/>
            <a:ext cx="5570220" cy="1259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-They’re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upset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damage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shame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college</a:t>
            </a:r>
            <a:r>
              <a:rPr dirty="0" sz="1200" spc="-5">
                <a:latin typeface="Times New Roman"/>
                <a:cs typeface="Times New Roman"/>
              </a:rPr>
              <a:t> failed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honor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faculty.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-Your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you’re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favourite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05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Who’s </a:t>
            </a:r>
            <a:r>
              <a:rPr dirty="0" sz="1200">
                <a:latin typeface="Times New Roman"/>
                <a:cs typeface="Times New Roman"/>
              </a:rPr>
              <a:t>the person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r>
              <a:rPr dirty="0" sz="1200">
                <a:latin typeface="Times New Roman"/>
                <a:cs typeface="Times New Roman"/>
              </a:rPr>
              <a:t> car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plate </a:t>
            </a:r>
            <a:r>
              <a:rPr dirty="0" sz="1200" spc="-5">
                <a:latin typeface="Times New Roman"/>
                <a:cs typeface="Times New Roman"/>
              </a:rPr>
              <a:t>is missing?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01600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They’re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 the</a:t>
            </a:r>
            <a:r>
              <a:rPr dirty="0" sz="1200" spc="-5">
                <a:latin typeface="Times New Roman"/>
                <a:cs typeface="Times New Roman"/>
              </a:rPr>
              <a:t> damage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new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belonging to</a:t>
            </a:r>
            <a:r>
              <a:rPr dirty="0" sz="1200" spc="-5">
                <a:latin typeface="Times New Roman"/>
                <a:cs typeface="Times New Roman"/>
              </a:rPr>
              <a:t> them).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It’s </a:t>
            </a:r>
            <a:r>
              <a:rPr dirty="0" sz="1200">
                <a:latin typeface="Times New Roman"/>
                <a:cs typeface="Times New Roman"/>
              </a:rPr>
              <a:t>(it </a:t>
            </a:r>
            <a:r>
              <a:rPr dirty="0" sz="1200" spc="-5">
                <a:latin typeface="Times New Roman"/>
                <a:cs typeface="Times New Roman"/>
              </a:rPr>
              <a:t>is)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shame</a:t>
            </a:r>
            <a:r>
              <a:rPr dirty="0" sz="1200">
                <a:latin typeface="Times New Roman"/>
                <a:cs typeface="Times New Roman"/>
              </a:rPr>
              <a:t> that the </a:t>
            </a:r>
            <a:r>
              <a:rPr dirty="0" sz="1200" spc="-5">
                <a:latin typeface="Times New Roman"/>
                <a:cs typeface="Times New Roman"/>
              </a:rPr>
              <a:t>college </a:t>
            </a:r>
            <a:r>
              <a:rPr dirty="0" sz="1200">
                <a:latin typeface="Times New Roman"/>
                <a:cs typeface="Times New Roman"/>
              </a:rPr>
              <a:t>failed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honor</a:t>
            </a:r>
            <a:r>
              <a:rPr dirty="0" sz="1200" spc="-5">
                <a:latin typeface="Times New Roman"/>
                <a:cs typeface="Times New Roman"/>
              </a:rPr>
              <a:t> its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faculty.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(belonging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favorite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-Who’s</a:t>
            </a:r>
            <a:r>
              <a:rPr dirty="0" sz="1200">
                <a:latin typeface="Times New Roman"/>
                <a:cs typeface="Times New Roman"/>
              </a:rPr>
              <a:t> (who </a:t>
            </a:r>
            <a:r>
              <a:rPr dirty="0" sz="1200" spc="-5">
                <a:latin typeface="Times New Roman"/>
                <a:cs typeface="Times New Roman"/>
              </a:rPr>
              <a:t>is)</a:t>
            </a:r>
            <a:r>
              <a:rPr dirty="0" sz="1200">
                <a:latin typeface="Times New Roman"/>
                <a:cs typeface="Times New Roman"/>
              </a:rPr>
              <a:t> the person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whose</a:t>
            </a:r>
            <a:r>
              <a:rPr dirty="0" sz="1200">
                <a:latin typeface="Times New Roman"/>
                <a:cs typeface="Times New Roman"/>
              </a:rPr>
              <a:t> care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plate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The Apostrophe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 Show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Possession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[’s]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apostrophe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[’s]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possession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singular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 </a:t>
            </a:r>
            <a:r>
              <a:rPr dirty="0" sz="1200" spc="-5">
                <a:latin typeface="Times New Roman"/>
                <a:cs typeface="Times New Roman"/>
              </a:rPr>
              <a:t>norms</a:t>
            </a:r>
            <a:r>
              <a:rPr dirty="0" sz="1200">
                <a:latin typeface="Times New Roman"/>
                <a:cs typeface="Times New Roman"/>
              </a:rPr>
              <a:t> not ending in </a:t>
            </a:r>
            <a:r>
              <a:rPr dirty="0" sz="1200" spc="-5">
                <a:latin typeface="Times New Roman"/>
                <a:cs typeface="Times New Roman"/>
              </a:rPr>
              <a:t>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men’s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Children’s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simple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sister-in-law’s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shopping.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-She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Huxley’s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essays.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Shahs’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doorbell.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dogs’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tracks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snow.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ladies’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toilet /</a:t>
            </a:r>
            <a:r>
              <a:rPr dirty="0" sz="1200" spc="-5">
                <a:latin typeface="Times New Roman"/>
                <a:cs typeface="Times New Roman"/>
              </a:rPr>
              <a:t> wash-room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locked.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When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Apostrophe: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Plurals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Verbs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possessive </a:t>
            </a:r>
            <a:r>
              <a:rPr dirty="0" sz="1200">
                <a:latin typeface="Times New Roman"/>
                <a:cs typeface="Times New Roman"/>
              </a:rPr>
              <a:t>and plural </a:t>
            </a:r>
            <a:r>
              <a:rPr dirty="0" sz="1200" spc="-5">
                <a:latin typeface="Times New Roman"/>
                <a:cs typeface="Times New Roman"/>
              </a:rPr>
              <a:t>forms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 often confusing. Remember that a plural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 simply by </a:t>
            </a:r>
            <a:r>
              <a:rPr dirty="0" sz="1200">
                <a:latin typeface="Times New Roman"/>
                <a:cs typeface="Times New Roman"/>
              </a:rPr>
              <a:t>adding an </a:t>
            </a:r>
            <a:r>
              <a:rPr dirty="0" sz="1200" spc="-5">
                <a:latin typeface="Times New Roman"/>
                <a:cs typeface="Times New Roman"/>
              </a:rPr>
              <a:t>s </a:t>
            </a:r>
            <a:r>
              <a:rPr dirty="0" sz="1200">
                <a:latin typeface="Times New Roman"/>
                <a:cs typeface="Times New Roman"/>
              </a:rPr>
              <a:t>to a </a:t>
            </a:r>
            <a:r>
              <a:rPr dirty="0" sz="1200" spc="-5">
                <a:latin typeface="Times New Roman"/>
                <a:cs typeface="Times New Roman"/>
              </a:rPr>
              <a:t>word; no </a:t>
            </a:r>
            <a:r>
              <a:rPr dirty="0" sz="1200">
                <a:latin typeface="Times New Roman"/>
                <a:cs typeface="Times New Roman"/>
              </a:rPr>
              <a:t>apostrophe </a:t>
            </a:r>
            <a:r>
              <a:rPr dirty="0" sz="1200" spc="-5">
                <a:latin typeface="Times New Roman"/>
                <a:cs typeface="Times New Roman"/>
              </a:rPr>
              <a:t>is used. </a:t>
            </a:r>
            <a:r>
              <a:rPr dirty="0" sz="1200">
                <a:latin typeface="Times New Roman"/>
                <a:cs typeface="Times New Roman"/>
              </a:rPr>
              <a:t>Look at the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 sentence to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which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plural and which are </a:t>
            </a:r>
            <a:r>
              <a:rPr dirty="0" sz="1200" spc="-10">
                <a:latin typeface="Times New Roman"/>
                <a:cs typeface="Times New Roman"/>
              </a:rPr>
              <a:t>possessive: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Samina’s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new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boots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golden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buckles.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+boots,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buckles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-plural.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buckle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Samina’s: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plus</a:t>
            </a:r>
            <a:r>
              <a:rPr dirty="0" sz="1200" spc="-5">
                <a:latin typeface="Times New Roman"/>
                <a:cs typeface="Times New Roman"/>
              </a:rPr>
              <a:t> s, is possessive: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Samina owns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boots.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 also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verbs end with an </a:t>
            </a:r>
            <a:r>
              <a:rPr dirty="0" sz="1200" spc="-5">
                <a:latin typeface="Times New Roman"/>
                <a:cs typeface="Times New Roman"/>
              </a:rPr>
              <a:t>S.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spc="-5">
                <a:latin typeface="Times New Roman"/>
                <a:cs typeface="Times New Roman"/>
              </a:rPr>
              <a:t>He owns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cinemas 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Owns is </a:t>
            </a:r>
            <a:r>
              <a:rPr dirty="0" sz="1200">
                <a:latin typeface="Times New Roman"/>
                <a:cs typeface="Times New Roman"/>
              </a:rPr>
              <a:t>a verb.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not put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apostrophe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verb.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Add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SzPct val="91666"/>
              <a:buAutoNum type="romanLcParenBoth"/>
              <a:tabLst>
                <a:tab pos="157480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departments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mood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assignments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15"/>
              </a:lnSpc>
              <a:buSzPct val="91666"/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 television</a:t>
            </a:r>
            <a:r>
              <a:rPr dirty="0" sz="1200" spc="-5">
                <a:latin typeface="Times New Roman"/>
                <a:cs typeface="Times New Roman"/>
              </a:rPr>
              <a:t> shows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5">
                <a:latin typeface="Times New Roman"/>
                <a:cs typeface="Times New Roman"/>
              </a:rPr>
              <a:t> much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year.</a:t>
            </a:r>
            <a:endParaRPr sz="1200">
              <a:latin typeface="Times New Roman"/>
              <a:cs typeface="Times New Roman"/>
            </a:endParaRPr>
          </a:p>
          <a:p>
            <a:pPr marL="278765" indent="-266700">
              <a:lnSpc>
                <a:spcPts val="1410"/>
              </a:lnSpc>
              <a:buSzPct val="91666"/>
              <a:buAutoNum type="romanLcParenBoth"/>
              <a:tabLst>
                <a:tab pos="279400" algn="l"/>
              </a:tabLst>
            </a:pPr>
            <a:r>
              <a:rPr dirty="0" sz="1200">
                <a:latin typeface="Times New Roman"/>
                <a:cs typeface="Times New Roman"/>
              </a:rPr>
              <a:t>Mind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Add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apostrophe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(i)The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mood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department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’s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better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gives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assignments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  <a:p>
            <a:pPr marL="12700" marR="323532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Department’s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 </a:t>
            </a:r>
            <a:r>
              <a:rPr dirty="0" sz="1200" spc="-5">
                <a:latin typeface="Times New Roman"/>
                <a:cs typeface="Times New Roman"/>
              </a:rPr>
              <a:t>Assignments </a:t>
            </a:r>
            <a:r>
              <a:rPr dirty="0" sz="1200">
                <a:latin typeface="Times New Roman"/>
                <a:cs typeface="Times New Roman"/>
              </a:rPr>
              <a:t>- Plural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199</a:t>
            </a:fld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563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730885">
              <a:lnSpc>
                <a:spcPts val="1380"/>
              </a:lnSpc>
              <a:spcBef>
                <a:spcPts val="5"/>
              </a:spcBef>
              <a:buAutoNum type="romanLcParenBoth" startAt="2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This year’s new television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shows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much worse </a:t>
            </a:r>
            <a:r>
              <a:rPr dirty="0" sz="1200">
                <a:latin typeface="Times New Roman"/>
                <a:cs typeface="Times New Roman"/>
              </a:rPr>
              <a:t>than the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last year.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Year’s </a:t>
            </a:r>
            <a:r>
              <a:rPr dirty="0" sz="1200">
                <a:latin typeface="Times New Roman"/>
                <a:cs typeface="Times New Roman"/>
              </a:rPr>
              <a:t>- belonging to this year.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- pl, </a:t>
            </a:r>
            <a:r>
              <a:rPr dirty="0" sz="1200" spc="-5">
                <a:latin typeface="Times New Roman"/>
                <a:cs typeface="Times New Roman"/>
              </a:rPr>
              <a:t>programs:</a:t>
            </a:r>
            <a:r>
              <a:rPr dirty="0" sz="1200">
                <a:latin typeface="Times New Roman"/>
                <a:cs typeface="Times New Roman"/>
              </a:rPr>
              <a:t> pl,</a:t>
            </a:r>
            <a:endParaRPr sz="1200">
              <a:latin typeface="Times New Roman"/>
              <a:cs typeface="Times New Roman"/>
            </a:endParaRPr>
          </a:p>
          <a:p>
            <a:pPr marL="278765" indent="-266700">
              <a:lnSpc>
                <a:spcPts val="1345"/>
              </a:lnSpc>
              <a:buAutoNum type="romanLcParenBoth" startAt="2"/>
              <a:tabLst>
                <a:tab pos="279400" algn="l"/>
              </a:tabLst>
            </a:pPr>
            <a:r>
              <a:rPr dirty="0" sz="1200">
                <a:latin typeface="Times New Roman"/>
                <a:cs typeface="Times New Roman"/>
              </a:rPr>
              <a:t>Mind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p’s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q’s.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  <a:tabLst>
                <a:tab pos="6889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Review:	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contraction</a:t>
            </a:r>
            <a:r>
              <a:rPr dirty="0" sz="1200" spc="-5">
                <a:latin typeface="Times New Roman"/>
                <a:cs typeface="Times New Roman"/>
              </a:rPr>
              <a:t> is 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combined into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1966976"/>
            <a:ext cx="139700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199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301" y="1966976"/>
            <a:ext cx="774700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possessive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491231"/>
            <a:ext cx="25914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she’d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30453" y="2666492"/>
            <a:ext cx="2023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 </a:t>
            </a:r>
            <a:r>
              <a:rPr dirty="0" sz="1200" spc="-5">
                <a:latin typeface="Times New Roman"/>
                <a:cs typeface="Times New Roman"/>
              </a:rPr>
              <a:t>posses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200" y="2666492"/>
            <a:ext cx="14795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10" b="1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0362" y="2843276"/>
            <a:ext cx="158369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takes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place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would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3192271"/>
            <a:ext cx="41763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 To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possessive,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apostrophe </a:t>
            </a:r>
            <a:r>
              <a:rPr dirty="0" sz="1200">
                <a:latin typeface="Times New Roman"/>
                <a:cs typeface="Times New Roman"/>
              </a:rPr>
              <a:t>plus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s is </a:t>
            </a:r>
            <a:r>
              <a:rPr dirty="0" sz="1200">
                <a:latin typeface="Times New Roman"/>
                <a:cs typeface="Times New Roman"/>
              </a:rPr>
              <a:t>usually added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3200" y="3369056"/>
            <a:ext cx="13970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30369" y="3369056"/>
            <a:ext cx="1472565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name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owner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whatever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3718052"/>
            <a:ext cx="20694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apostrophe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73200" y="3893311"/>
            <a:ext cx="147955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10" b="1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930400" y="3893311"/>
            <a:ext cx="817244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contraction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plural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4419091"/>
            <a:ext cx="562737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Punctuation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Effective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(paragraphs)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couple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lessons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learn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principles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begin with how to write an effective paragraph and the </a:t>
            </a:r>
            <a:r>
              <a:rPr dirty="0" sz="1200" spc="-5">
                <a:latin typeface="Times New Roman"/>
                <a:cs typeface="Times New Roman"/>
              </a:rPr>
              <a:t>principles </a:t>
            </a:r>
            <a:r>
              <a:rPr dirty="0" sz="1200">
                <a:latin typeface="Times New Roman"/>
                <a:cs typeface="Times New Roman"/>
              </a:rPr>
              <a:t>you learn here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help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to write </a:t>
            </a:r>
            <a:r>
              <a:rPr dirty="0" sz="1200" spc="-5">
                <a:latin typeface="Times New Roman"/>
                <a:cs typeface="Times New Roman"/>
              </a:rPr>
              <a:t>longer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essays/papers.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Writing is not </a:t>
            </a:r>
            <a:r>
              <a:rPr dirty="0" sz="1200">
                <a:latin typeface="Times New Roman"/>
                <a:cs typeface="Times New Roman"/>
              </a:rPr>
              <a:t>easy, especially in a </a:t>
            </a:r>
            <a:r>
              <a:rPr dirty="0" sz="1200" spc="-5">
                <a:latin typeface="Times New Roman"/>
                <a:cs typeface="Times New Roman"/>
              </a:rPr>
              <a:t>foreign language. Writing is </a:t>
            </a:r>
            <a:r>
              <a:rPr dirty="0" sz="1200">
                <a:latin typeface="Times New Roman"/>
                <a:cs typeface="Times New Roman"/>
              </a:rPr>
              <a:t>in fact, a </a:t>
            </a:r>
            <a:r>
              <a:rPr dirty="0" sz="1200" spc="-5">
                <a:latin typeface="Times New Roman"/>
                <a:cs typeface="Times New Roman"/>
              </a:rPr>
              <a:t>process.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stages.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skill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effort,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learn to write, 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thing </a:t>
            </a:r>
            <a:r>
              <a:rPr dirty="0" sz="1200" spc="-5">
                <a:latin typeface="Times New Roman"/>
                <a:cs typeface="Times New Roman"/>
              </a:rPr>
              <a:t>of concern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writing is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</a:t>
            </a:r>
            <a:r>
              <a:rPr dirty="0" sz="1200" spc="-5">
                <a:latin typeface="Times New Roman"/>
                <a:cs typeface="Times New Roman"/>
              </a:rPr>
              <a:t> i.e. what you have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- your ideas,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thoughts and feelings. Unfortunately, </a:t>
            </a:r>
            <a:r>
              <a:rPr dirty="0" sz="1200" spc="-5">
                <a:latin typeface="Times New Roman"/>
                <a:cs typeface="Times New Roman"/>
              </a:rPr>
              <a:t>some students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self-conscious about rules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making mistakes </a:t>
            </a:r>
            <a:r>
              <a:rPr dirty="0" sz="1200">
                <a:latin typeface="Times New Roman"/>
                <a:cs typeface="Times New Roman"/>
              </a:rPr>
              <a:t>that they do not focus on what they want to say. Rules do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at the beginning stage.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students in </a:t>
            </a:r>
            <a:r>
              <a:rPr dirty="0" sz="1200" spc="-5">
                <a:latin typeface="Times New Roman"/>
                <a:cs typeface="Times New Roman"/>
              </a:rPr>
              <a:t>Pakistan </a:t>
            </a:r>
            <a:r>
              <a:rPr dirty="0" sz="1200">
                <a:latin typeface="Times New Roman"/>
                <a:cs typeface="Times New Roman"/>
              </a:rPr>
              <a:t>have a fear of English, especially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Because </a:t>
            </a:r>
            <a:r>
              <a:rPr dirty="0" sz="1200" spc="-5">
                <a:latin typeface="Times New Roman"/>
                <a:cs typeface="Times New Roman"/>
              </a:rPr>
              <a:t>they </a:t>
            </a:r>
            <a:r>
              <a:rPr dirty="0" sz="1200">
                <a:latin typeface="Times New Roman"/>
                <a:cs typeface="Times New Roman"/>
              </a:rPr>
              <a:t>have never </a:t>
            </a:r>
            <a:r>
              <a:rPr dirty="0" sz="1200" spc="-5">
                <a:latin typeface="Times New Roman"/>
                <a:cs typeface="Times New Roman"/>
              </a:rPr>
              <a:t>learned </a:t>
            </a:r>
            <a:r>
              <a:rPr dirty="0" sz="1200">
                <a:latin typeface="Times New Roman"/>
                <a:cs typeface="Times New Roman"/>
              </a:rPr>
              <a:t>to write they resort to </a:t>
            </a:r>
            <a:r>
              <a:rPr dirty="0" sz="1200" spc="-5">
                <a:latin typeface="Times New Roman"/>
                <a:cs typeface="Times New Roman"/>
              </a:rPr>
              <a:t>learning model essays and answers </a:t>
            </a:r>
            <a:r>
              <a:rPr dirty="0" sz="1200">
                <a:latin typeface="Times New Roman"/>
                <a:cs typeface="Times New Roman"/>
              </a:rPr>
              <a:t> to questions by heart. Your </a:t>
            </a:r>
            <a:r>
              <a:rPr dirty="0" sz="1200" spc="-5">
                <a:latin typeface="Times New Roman"/>
                <a:cs typeface="Times New Roman"/>
              </a:rPr>
              <a:t>attitude </a:t>
            </a: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respect is </a:t>
            </a:r>
            <a:r>
              <a:rPr dirty="0" sz="1200">
                <a:latin typeface="Times New Roman"/>
                <a:cs typeface="Times New Roman"/>
              </a:rPr>
              <a:t>very crucial </a:t>
            </a:r>
            <a:r>
              <a:rPr dirty="0" sz="1200" spc="-5">
                <a:latin typeface="Times New Roman"/>
                <a:cs typeface="Times New Roman"/>
              </a:rPr>
              <a:t>or important.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attitude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will determine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effort you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 in in </a:t>
            </a:r>
            <a:r>
              <a:rPr dirty="0" sz="1200" spc="-5">
                <a:latin typeface="Times New Roman"/>
                <a:cs typeface="Times New Roman"/>
              </a:rPr>
              <a:t>learning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begin with a paragraph. </a:t>
            </a:r>
            <a:r>
              <a:rPr dirty="0" sz="1200" spc="-5">
                <a:latin typeface="Times New Roman"/>
                <a:cs typeface="Times New Roman"/>
              </a:rPr>
              <a:t>A paragraph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sentences about </a:t>
            </a:r>
            <a:r>
              <a:rPr dirty="0" sz="1200" spc="-5">
                <a:latin typeface="Times New Roman"/>
                <a:cs typeface="Times New Roman"/>
              </a:rPr>
              <a:t>one main </a:t>
            </a:r>
            <a:r>
              <a:rPr dirty="0" sz="1200">
                <a:latin typeface="Times New Roman"/>
                <a:cs typeface="Times New Roman"/>
              </a:rPr>
              <a:t> thought, idea or point. </a:t>
            </a:r>
            <a:r>
              <a:rPr dirty="0" sz="1200" spc="-5">
                <a:latin typeface="Times New Roman"/>
                <a:cs typeface="Times New Roman"/>
              </a:rPr>
              <a:t>The paragraph is like the sentence in that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concern itself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thought. But while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ideas can be adequately treated in a </a:t>
            </a:r>
            <a:r>
              <a:rPr dirty="0" sz="1200" spc="-5">
                <a:latin typeface="Times New Roman"/>
                <a:cs typeface="Times New Roman"/>
              </a:rPr>
              <a:t>single </a:t>
            </a:r>
            <a:r>
              <a:rPr dirty="0" sz="1200">
                <a:latin typeface="Times New Roman"/>
                <a:cs typeface="Times New Roman"/>
              </a:rPr>
              <a:t>sentence, others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fuller treatment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afforded </a:t>
            </a:r>
            <a:r>
              <a:rPr dirty="0" sz="1200">
                <a:latin typeface="Times New Roman"/>
                <a:cs typeface="Times New Roman"/>
              </a:rPr>
              <a:t>by 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sentences (i.e. the paragraph)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group of paragraphs, chapters, section(s) or even a book.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paragraph </a:t>
            </a:r>
            <a:r>
              <a:rPr dirty="0" sz="1200" spc="-5">
                <a:latin typeface="Times New Roman"/>
                <a:cs typeface="Times New Roman"/>
              </a:rPr>
              <a:t>typically starts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rest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paragraph </a:t>
            </a:r>
            <a:r>
              <a:rPr dirty="0" sz="1200">
                <a:latin typeface="Times New Roman"/>
                <a:cs typeface="Times New Roman"/>
              </a:rPr>
              <a:t>provides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support </a:t>
            </a:r>
            <a:r>
              <a:rPr dirty="0" sz="1200">
                <a:latin typeface="Times New Roman"/>
                <a:cs typeface="Times New Roman"/>
              </a:rPr>
              <a:t>and develop that point.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Your</a:t>
            </a:r>
            <a:r>
              <a:rPr dirty="0" sz="1200" b="1">
                <a:latin typeface="Times New Roman"/>
                <a:cs typeface="Times New Roman"/>
              </a:rPr>
              <a:t> goal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should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  <a:p>
            <a:pPr marL="469900" indent="-321945">
              <a:lnSpc>
                <a:spcPts val="1380"/>
              </a:lnSpc>
              <a:buAutoNum type="romanLcParenR"/>
              <a:tabLst>
                <a:tab pos="469265" algn="l"/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make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point</a:t>
            </a:r>
            <a:endParaRPr sz="1200">
              <a:latin typeface="Times New Roman"/>
              <a:cs typeface="Times New Roman"/>
            </a:endParaRPr>
          </a:p>
          <a:p>
            <a:pPr marL="469900" indent="-364490">
              <a:lnSpc>
                <a:spcPts val="1380"/>
              </a:lnSpc>
              <a:buAutoNum type="romanLcParenR"/>
              <a:tabLst>
                <a:tab pos="469265" algn="l"/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support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point</a:t>
            </a:r>
            <a:endParaRPr sz="1200">
              <a:latin typeface="Times New Roman"/>
              <a:cs typeface="Times New Roman"/>
            </a:endParaRPr>
          </a:p>
          <a:p>
            <a:pPr marL="469900" indent="-406400">
              <a:lnSpc>
                <a:spcPts val="1380"/>
              </a:lnSpc>
              <a:buAutoNum type="romanLcParenR"/>
              <a:tabLst>
                <a:tab pos="469265" algn="l"/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Orderly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arrangement of material</a:t>
            </a:r>
            <a:endParaRPr sz="1200">
              <a:latin typeface="Times New Roman"/>
              <a:cs typeface="Times New Roman"/>
            </a:endParaRPr>
          </a:p>
          <a:p>
            <a:pPr marL="469900" indent="-398145">
              <a:lnSpc>
                <a:spcPts val="1410"/>
              </a:lnSpc>
              <a:buAutoNum type="romanLcParenR"/>
              <a:tabLst>
                <a:tab pos="469265" algn="l"/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Write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error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free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buAutoNum type="romanLcParenR"/>
              <a:tabLst>
                <a:tab pos="147320" algn="l"/>
              </a:tabLst>
            </a:pPr>
            <a:r>
              <a:rPr dirty="0" sz="1200" spc="-5">
                <a:latin typeface="Times New Roman"/>
                <a:cs typeface="Times New Roman"/>
              </a:rPr>
              <a:t>It is best </a:t>
            </a:r>
            <a:r>
              <a:rPr dirty="0" sz="1200">
                <a:latin typeface="Times New Roman"/>
                <a:cs typeface="Times New Roman"/>
              </a:rPr>
              <a:t>to state </a:t>
            </a:r>
            <a:r>
              <a:rPr dirty="0" sz="1200" spc="-5">
                <a:latin typeface="Times New Roman"/>
                <a:cs typeface="Times New Roman"/>
              </a:rPr>
              <a:t>the point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first sentence.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 that expresses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point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paragraph is called the TOPIC SENTENCE. The topic sentence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general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and the other sentences provide support for the general </a:t>
            </a:r>
            <a:r>
              <a:rPr dirty="0" sz="1200" spc="-5">
                <a:latin typeface="Times New Roman"/>
                <a:cs typeface="Times New Roman"/>
              </a:rPr>
              <a:t>statement. </a:t>
            </a:r>
            <a:r>
              <a:rPr dirty="0" sz="1200">
                <a:latin typeface="Times New Roman"/>
                <a:cs typeface="Times New Roman"/>
              </a:rPr>
              <a:t>If you recall 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supporting details.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romanLcParenR"/>
              <a:tabLst>
                <a:tab pos="188595" algn="l"/>
              </a:tabLst>
            </a:pPr>
            <a:r>
              <a:rPr dirty="0" sz="1200">
                <a:latin typeface="Times New Roman"/>
                <a:cs typeface="Times New Roman"/>
              </a:rPr>
              <a:t>To support the point you need to provide </a:t>
            </a:r>
            <a:r>
              <a:rPr dirty="0" sz="1200" spc="-5">
                <a:latin typeface="Times New Roman"/>
                <a:cs typeface="Times New Roman"/>
              </a:rPr>
              <a:t>specific </a:t>
            </a:r>
            <a:r>
              <a:rPr dirty="0" sz="1200">
                <a:latin typeface="Times New Roman"/>
                <a:cs typeface="Times New Roman"/>
              </a:rPr>
              <a:t>reasons, </a:t>
            </a:r>
            <a:r>
              <a:rPr dirty="0" sz="1200" spc="-5">
                <a:latin typeface="Times New Roman"/>
                <a:cs typeface="Times New Roman"/>
              </a:rPr>
              <a:t>examples, </a:t>
            </a:r>
            <a:r>
              <a:rPr dirty="0" sz="1200">
                <a:latin typeface="Times New Roman"/>
                <a:cs typeface="Times New Roman"/>
              </a:rPr>
              <a:t>&amp; other details 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buAutoNum type="romanLcParenR"/>
              <a:tabLst>
                <a:tab pos="240665" algn="l"/>
              </a:tabLst>
            </a:pPr>
            <a:r>
              <a:rPr dirty="0" sz="1200">
                <a:latin typeface="Times New Roman"/>
                <a:cs typeface="Times New Roman"/>
              </a:rPr>
              <a:t>You can organize the </a:t>
            </a:r>
            <a:r>
              <a:rPr dirty="0" sz="1200" spc="-5">
                <a:latin typeface="Times New Roman"/>
                <a:cs typeface="Times New Roman"/>
              </a:rPr>
              <a:t>support 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paragraph in two ways. You can use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listing order </a:t>
            </a:r>
            <a:r>
              <a:rPr dirty="0" sz="1200">
                <a:latin typeface="Times New Roman"/>
                <a:cs typeface="Times New Roman"/>
              </a:rPr>
              <a:t> (first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addition.)</a:t>
            </a:r>
            <a:r>
              <a:rPr dirty="0" sz="1200">
                <a:latin typeface="Times New Roman"/>
                <a:cs typeface="Times New Roman"/>
              </a:rPr>
              <a:t> or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order (first, </a:t>
            </a:r>
            <a:r>
              <a:rPr dirty="0" sz="1200" spc="-5">
                <a:latin typeface="Times New Roman"/>
                <a:cs typeface="Times New Roman"/>
              </a:rPr>
              <a:t>next,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finally.)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romanLcParenR"/>
              <a:tabLst>
                <a:tab pos="221615" algn="l"/>
              </a:tabLst>
            </a:pPr>
            <a:r>
              <a:rPr dirty="0" sz="1200">
                <a:latin typeface="Times New Roman"/>
                <a:cs typeface="Times New Roman"/>
              </a:rPr>
              <a:t>If you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correct </a:t>
            </a:r>
            <a:r>
              <a:rPr dirty="0" sz="1200" spc="-5">
                <a:latin typeface="Times New Roman"/>
                <a:cs typeface="Times New Roman"/>
              </a:rPr>
              <a:t>spelling </a:t>
            </a:r>
            <a:r>
              <a:rPr dirty="0" sz="1200">
                <a:latin typeface="Times New Roman"/>
                <a:cs typeface="Times New Roman"/>
              </a:rPr>
              <a:t>&amp; </a:t>
            </a:r>
            <a:r>
              <a:rPr dirty="0" sz="1200" spc="-5">
                <a:latin typeface="Times New Roman"/>
                <a:cs typeface="Times New Roman"/>
              </a:rPr>
              <a:t>follow grammar, </a:t>
            </a:r>
            <a:r>
              <a:rPr dirty="0" sz="1200">
                <a:latin typeface="Times New Roman"/>
                <a:cs typeface="Times New Roman"/>
              </a:rPr>
              <a:t>punctuation &amp; usage rules your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clear </a:t>
            </a:r>
            <a:r>
              <a:rPr dirty="0" sz="1200">
                <a:latin typeface="Times New Roman"/>
                <a:cs typeface="Times New Roman"/>
              </a:rPr>
              <a:t>&amp; well</a:t>
            </a:r>
            <a:r>
              <a:rPr dirty="0" sz="1200" spc="-5">
                <a:latin typeface="Times New Roman"/>
                <a:cs typeface="Times New Roman"/>
              </a:rPr>
              <a:t> written.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199</a:t>
            </a:fld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6318503" y="7054595"/>
            <a:ext cx="38100" cy="14604"/>
          </a:xfrm>
          <a:custGeom>
            <a:avLst/>
            <a:gdLst/>
            <a:ahLst/>
            <a:cxnLst/>
            <a:rect l="l" t="t" r="r" b="b"/>
            <a:pathLst>
              <a:path w="38100" h="14604">
                <a:moveTo>
                  <a:pt x="38100" y="0"/>
                </a:moveTo>
                <a:lnTo>
                  <a:pt x="0" y="0"/>
                </a:lnTo>
                <a:lnTo>
                  <a:pt x="0" y="14477"/>
                </a:lnTo>
                <a:lnTo>
                  <a:pt x="38100" y="14477"/>
                </a:lnTo>
                <a:lnTo>
                  <a:pt x="381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977900" y="435356"/>
            <a:ext cx="5943600" cy="874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9175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50800" marR="2825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Look at the following </a:t>
            </a:r>
            <a:r>
              <a:rPr dirty="0" sz="1200" spc="-5">
                <a:latin typeface="Times New Roman"/>
                <a:cs typeface="Times New Roman"/>
              </a:rPr>
              <a:t>two passages. </a:t>
            </a:r>
            <a:r>
              <a:rPr dirty="0" sz="1200">
                <a:latin typeface="Times New Roman"/>
                <a:cs typeface="Times New Roman"/>
              </a:rPr>
              <a:t>Notice how the topic sentence, 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underlined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written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student.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 one by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famous writer. Notice how both make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point at the beginning and then go </a:t>
            </a:r>
            <a:r>
              <a:rPr dirty="0" sz="1200">
                <a:latin typeface="Times New Roman"/>
                <a:cs typeface="Times New Roman"/>
              </a:rPr>
              <a:t> 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evidence.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what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concentrate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lesson.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My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Neighbours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50800" marR="28194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22034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new family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that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 moved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next doors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quite a noisy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family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Ever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arrived, we </a:t>
            </a:r>
            <a:r>
              <a:rPr dirty="0" sz="1200">
                <a:latin typeface="Times New Roman"/>
                <a:cs typeface="Times New Roman"/>
              </a:rPr>
              <a:t>have not had peace and quiet for a day. Their </a:t>
            </a:r>
            <a:r>
              <a:rPr dirty="0" sz="1200" spc="-5">
                <a:latin typeface="Times New Roman"/>
                <a:cs typeface="Times New Roman"/>
              </a:rPr>
              <a:t>young </a:t>
            </a:r>
            <a:r>
              <a:rPr dirty="0" sz="1200" spc="-5" b="1">
                <a:latin typeface="Times New Roman"/>
                <a:cs typeface="Times New Roman"/>
              </a:rPr>
              <a:t>daughter </a:t>
            </a:r>
            <a:r>
              <a:rPr dirty="0" sz="1200" spc="-5">
                <a:latin typeface="Times New Roman"/>
                <a:cs typeface="Times New Roman"/>
              </a:rPr>
              <a:t>is the loudest </a:t>
            </a:r>
            <a:r>
              <a:rPr dirty="0" sz="1200">
                <a:latin typeface="Times New Roman"/>
                <a:cs typeface="Times New Roman"/>
              </a:rPr>
              <a:t> person I have ever known.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pops out her head every half hour from her bed room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window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screams </a:t>
            </a:r>
            <a:r>
              <a:rPr dirty="0" sz="1200">
                <a:latin typeface="Times New Roman"/>
                <a:cs typeface="Times New Roman"/>
              </a:rPr>
              <a:t>for the old man who works for them. Cries of ‘Babaji!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Babaji!’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resound in the area. Then the whole </a:t>
            </a:r>
            <a:r>
              <a:rPr dirty="0" sz="1200" spc="-5">
                <a:latin typeface="Times New Roman"/>
                <a:cs typeface="Times New Roman"/>
              </a:rPr>
              <a:t>neighborhood </a:t>
            </a:r>
            <a:r>
              <a:rPr dirty="0" sz="1200">
                <a:latin typeface="Times New Roman"/>
                <a:cs typeface="Times New Roman"/>
              </a:rPr>
              <a:t>can hear what </a:t>
            </a:r>
            <a:r>
              <a:rPr dirty="0" sz="1200" spc="-5">
                <a:latin typeface="Times New Roman"/>
                <a:cs typeface="Times New Roman"/>
              </a:rPr>
              <a:t>she wants </a:t>
            </a:r>
            <a:r>
              <a:rPr dirty="0" sz="1200">
                <a:latin typeface="Times New Roman"/>
                <a:cs typeface="Times New Roman"/>
              </a:rPr>
              <a:t>Babaji to fetch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market.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for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other </a:t>
            </a:r>
            <a:r>
              <a:rPr dirty="0" sz="1200" spc="-5" b="1">
                <a:latin typeface="Times New Roman"/>
                <a:cs typeface="Times New Roman"/>
              </a:rPr>
              <a:t>children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5">
                <a:latin typeface="Times New Roman"/>
                <a:cs typeface="Times New Roman"/>
              </a:rPr>
              <a:t> better.</a:t>
            </a:r>
            <a:endParaRPr sz="1200">
              <a:latin typeface="Times New Roman"/>
              <a:cs typeface="Times New Roman"/>
            </a:endParaRPr>
          </a:p>
          <a:p>
            <a:pPr algn="just" marL="50800" marR="2832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Screaming</a:t>
            </a:r>
            <a:r>
              <a:rPr dirty="0" sz="1200">
                <a:latin typeface="Times New Roman"/>
                <a:cs typeface="Times New Roman"/>
              </a:rPr>
              <a:t> and shouting at the top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voices,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hide </a:t>
            </a:r>
            <a:r>
              <a:rPr dirty="0" sz="1200">
                <a:latin typeface="Times New Roman"/>
                <a:cs typeface="Times New Roman"/>
              </a:rPr>
              <a:t>and seek </a:t>
            </a:r>
            <a:r>
              <a:rPr dirty="0" sz="1200" spc="-5">
                <a:latin typeface="Times New Roman"/>
                <a:cs typeface="Times New Roman"/>
              </a:rPr>
              <a:t>late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night, and their </a:t>
            </a:r>
            <a:r>
              <a:rPr dirty="0" sz="1200" spc="-5" b="1">
                <a:latin typeface="Times New Roman"/>
                <a:cs typeface="Times New Roman"/>
              </a:rPr>
              <a:t>dogs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barking loudly, join them in their sport.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if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enough, just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the neighborhood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about to turn in for the night, loud stereo </a:t>
            </a:r>
            <a:r>
              <a:rPr dirty="0" sz="1200" spc="-5" b="1">
                <a:latin typeface="Times New Roman"/>
                <a:cs typeface="Times New Roman"/>
              </a:rPr>
              <a:t>music </a:t>
            </a:r>
            <a:r>
              <a:rPr dirty="0" sz="1200" spc="-5">
                <a:latin typeface="Times New Roman"/>
                <a:cs typeface="Times New Roman"/>
              </a:rPr>
              <a:t>blares form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house, shaking and rattling </a:t>
            </a:r>
            <a:r>
              <a:rPr dirty="0" sz="1200" spc="-5">
                <a:latin typeface="Times New Roman"/>
                <a:cs typeface="Times New Roman"/>
              </a:rPr>
              <a:t>everyone's </a:t>
            </a:r>
            <a:r>
              <a:rPr dirty="0" sz="1200">
                <a:latin typeface="Times New Roman"/>
                <a:cs typeface="Times New Roman"/>
              </a:rPr>
              <a:t>nerves. I think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need to call a meeting of the 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neighbors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do something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50800" marR="281305">
              <a:lnSpc>
                <a:spcPts val="1380"/>
              </a:lnSpc>
              <a:buAutoNum type="arabicPeriod" startAt="2"/>
              <a:tabLst>
                <a:tab pos="166370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day after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burial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 a celebrated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man,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friends and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enemies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apply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themselves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 writing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biography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 spc="-5" b="1">
                <a:latin typeface="Times New Roman"/>
                <a:cs typeface="Times New Roman"/>
              </a:rPr>
              <a:t>school fellows </a:t>
            </a:r>
            <a:r>
              <a:rPr dirty="0" sz="1200">
                <a:latin typeface="Times New Roman"/>
                <a:cs typeface="Times New Roman"/>
              </a:rPr>
              <a:t>relate in the </a:t>
            </a:r>
            <a:r>
              <a:rPr dirty="0" sz="1200" spc="-5">
                <a:latin typeface="Times New Roman"/>
                <a:cs typeface="Times New Roman"/>
              </a:rPr>
              <a:t>newspapers his </a:t>
            </a:r>
            <a:r>
              <a:rPr dirty="0" sz="1200">
                <a:latin typeface="Times New Roman"/>
                <a:cs typeface="Times New Roman"/>
              </a:rPr>
              <a:t>boyish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pranks, </a:t>
            </a:r>
            <a:r>
              <a:rPr dirty="0" sz="1200" b="1">
                <a:latin typeface="Times New Roman"/>
                <a:cs typeface="Times New Roman"/>
              </a:rPr>
              <a:t>another man </a:t>
            </a:r>
            <a:r>
              <a:rPr dirty="0" sz="1200">
                <a:latin typeface="Times New Roman"/>
                <a:cs typeface="Times New Roman"/>
              </a:rPr>
              <a:t>recalls exactly, and word for </a:t>
            </a:r>
            <a:r>
              <a:rPr dirty="0" sz="1200" spc="-5">
                <a:latin typeface="Times New Roman"/>
                <a:cs typeface="Times New Roman"/>
              </a:rPr>
              <a:t>word, </a:t>
            </a:r>
            <a:r>
              <a:rPr dirty="0" sz="1200">
                <a:latin typeface="Times New Roman"/>
                <a:cs typeface="Times New Roman"/>
              </a:rPr>
              <a:t>the conversation he had with him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twenty years ago. The </a:t>
            </a:r>
            <a:r>
              <a:rPr dirty="0" sz="1200" spc="-5" b="1">
                <a:latin typeface="Times New Roman"/>
                <a:cs typeface="Times New Roman"/>
              </a:rPr>
              <a:t>lawyer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manages </a:t>
            </a:r>
            <a:r>
              <a:rPr dirty="0" sz="1200">
                <a:latin typeface="Times New Roman"/>
                <a:cs typeface="Times New Roman"/>
              </a:rPr>
              <a:t>the affairs of the deceased, </a:t>
            </a:r>
            <a:r>
              <a:rPr dirty="0" sz="1200" spc="-5">
                <a:latin typeface="Times New Roman"/>
                <a:cs typeface="Times New Roman"/>
              </a:rPr>
              <a:t>draws </a:t>
            </a:r>
            <a:r>
              <a:rPr dirty="0" sz="1200">
                <a:latin typeface="Times New Roman"/>
                <a:cs typeface="Times New Roman"/>
              </a:rPr>
              <a:t>up a list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different offices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has filled, his </a:t>
            </a:r>
            <a:r>
              <a:rPr dirty="0" sz="1200">
                <a:latin typeface="Times New Roman"/>
                <a:cs typeface="Times New Roman"/>
              </a:rPr>
              <a:t>titles, dates and </a:t>
            </a:r>
            <a:r>
              <a:rPr dirty="0" sz="1200" spc="-5">
                <a:latin typeface="Times New Roman"/>
                <a:cs typeface="Times New Roman"/>
              </a:rPr>
              <a:t>figures, </a:t>
            </a:r>
            <a:r>
              <a:rPr dirty="0" sz="1200">
                <a:latin typeface="Times New Roman"/>
                <a:cs typeface="Times New Roman"/>
              </a:rPr>
              <a:t>and reveals to the </a:t>
            </a:r>
            <a:r>
              <a:rPr dirty="0" sz="1200" spc="-5">
                <a:latin typeface="Times New Roman"/>
                <a:cs typeface="Times New Roman"/>
              </a:rPr>
              <a:t>matter-of- </a:t>
            </a:r>
            <a:r>
              <a:rPr dirty="0" sz="1200">
                <a:latin typeface="Times New Roman"/>
                <a:cs typeface="Times New Roman"/>
              </a:rPr>
              <a:t> fact readers how the </a:t>
            </a:r>
            <a:r>
              <a:rPr dirty="0" sz="1200" spc="-5">
                <a:latin typeface="Times New Roman"/>
                <a:cs typeface="Times New Roman"/>
              </a:rPr>
              <a:t>money </a:t>
            </a:r>
            <a:r>
              <a:rPr dirty="0" sz="1200">
                <a:latin typeface="Times New Roman"/>
                <a:cs typeface="Times New Roman"/>
              </a:rPr>
              <a:t>left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</a:t>
            </a:r>
            <a:r>
              <a:rPr dirty="0" sz="1200" spc="-5">
                <a:latin typeface="Times New Roman"/>
                <a:cs typeface="Times New Roman"/>
              </a:rPr>
              <a:t>invested </a:t>
            </a:r>
            <a:r>
              <a:rPr dirty="0" sz="1200">
                <a:latin typeface="Times New Roman"/>
                <a:cs typeface="Times New Roman"/>
              </a:rPr>
              <a:t>and how the fortune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</a:t>
            </a:r>
            <a:r>
              <a:rPr dirty="0" sz="1200" spc="-5">
                <a:latin typeface="Times New Roman"/>
                <a:cs typeface="Times New Roman"/>
              </a:rPr>
              <a:t>made;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grand </a:t>
            </a:r>
            <a:r>
              <a:rPr dirty="0" sz="1200" spc="-10" b="1">
                <a:latin typeface="Times New Roman"/>
                <a:cs typeface="Times New Roman"/>
              </a:rPr>
              <a:t>nephews </a:t>
            </a:r>
            <a:r>
              <a:rPr dirty="0" sz="1200">
                <a:latin typeface="Times New Roman"/>
                <a:cs typeface="Times New Roman"/>
              </a:rPr>
              <a:t>and second </a:t>
            </a:r>
            <a:r>
              <a:rPr dirty="0" sz="1200" spc="-5" b="1">
                <a:latin typeface="Times New Roman"/>
                <a:cs typeface="Times New Roman"/>
              </a:rPr>
              <a:t>cousins </a:t>
            </a:r>
            <a:r>
              <a:rPr dirty="0" sz="1200">
                <a:latin typeface="Times New Roman"/>
                <a:cs typeface="Times New Roman"/>
              </a:rPr>
              <a:t>publish an account of </a:t>
            </a:r>
            <a:r>
              <a:rPr dirty="0" sz="1200" spc="-5">
                <a:latin typeface="Times New Roman"/>
                <a:cs typeface="Times New Roman"/>
              </a:rPr>
              <a:t>his acts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humanity,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catalogue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his domestic </a:t>
            </a:r>
            <a:r>
              <a:rPr dirty="0" sz="1200">
                <a:latin typeface="Times New Roman"/>
                <a:cs typeface="Times New Roman"/>
              </a:rPr>
              <a:t>virtues.</a:t>
            </a:r>
            <a:endParaRPr sz="1200">
              <a:latin typeface="Times New Roman"/>
              <a:cs typeface="Times New Roman"/>
            </a:endParaRPr>
          </a:p>
          <a:p>
            <a:pPr algn="just" marL="27940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Taine, </a:t>
            </a:r>
            <a:r>
              <a:rPr dirty="0" sz="1200" spc="-5" i="1">
                <a:latin typeface="Times New Roman"/>
                <a:cs typeface="Times New Roman"/>
              </a:rPr>
              <a:t>History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English </a:t>
            </a:r>
            <a:r>
              <a:rPr dirty="0" sz="1200" spc="-10" i="1">
                <a:latin typeface="Times New Roman"/>
                <a:cs typeface="Times New Roman"/>
              </a:rPr>
              <a:t>Literature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50800" marR="2819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Some writers </a:t>
            </a:r>
            <a:r>
              <a:rPr dirty="0" sz="1200">
                <a:latin typeface="Times New Roman"/>
                <a:cs typeface="Times New Roman"/>
              </a:rPr>
              <a:t>like to </a:t>
            </a:r>
            <a:r>
              <a:rPr dirty="0" sz="1200" spc="-5">
                <a:latin typeface="Times New Roman"/>
                <a:cs typeface="Times New Roman"/>
              </a:rPr>
              <a:t>start </a:t>
            </a:r>
            <a:r>
              <a:rPr dirty="0" sz="1200">
                <a:latin typeface="Times New Roman"/>
                <a:cs typeface="Times New Roman"/>
              </a:rPr>
              <a:t>with an </a:t>
            </a:r>
            <a:r>
              <a:rPr dirty="0" sz="1200" spc="-5">
                <a:latin typeface="Times New Roman"/>
                <a:cs typeface="Times New Roman"/>
              </a:rPr>
              <a:t>idea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collect </a:t>
            </a:r>
            <a:r>
              <a:rPr dirty="0" sz="1200" spc="-5">
                <a:latin typeface="Times New Roman"/>
                <a:cs typeface="Times New Roman"/>
              </a:rPr>
              <a:t>evidence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support </a:t>
            </a:r>
            <a:r>
              <a:rPr dirty="0" sz="1200">
                <a:latin typeface="Times New Roman"/>
                <a:cs typeface="Times New Roman"/>
              </a:rPr>
              <a:t>it. </a:t>
            </a:r>
            <a:r>
              <a:rPr dirty="0" sz="1200" spc="-5">
                <a:latin typeface="Times New Roman"/>
                <a:cs typeface="Times New Roman"/>
              </a:rPr>
              <a:t>Evidence is </a:t>
            </a:r>
            <a:r>
              <a:rPr dirty="0" sz="1200">
                <a:latin typeface="Times New Roman"/>
                <a:cs typeface="Times New Roman"/>
              </a:rPr>
              <a:t> supporting </a:t>
            </a:r>
            <a:r>
              <a:rPr dirty="0" sz="1200" spc="-5">
                <a:latin typeface="Times New Roman"/>
                <a:cs typeface="Times New Roman"/>
              </a:rPr>
              <a:t>materials </a:t>
            </a:r>
            <a:r>
              <a:rPr dirty="0" sz="1200">
                <a:latin typeface="Times New Roman"/>
                <a:cs typeface="Times New Roman"/>
              </a:rPr>
              <a:t>– statistics, </a:t>
            </a:r>
            <a:r>
              <a:rPr dirty="0" sz="1200" spc="-5">
                <a:latin typeface="Times New Roman"/>
                <a:cs typeface="Times New Roman"/>
              </a:rPr>
              <a:t>examples, </a:t>
            </a:r>
            <a:r>
              <a:rPr dirty="0" sz="1200">
                <a:latin typeface="Times New Roman"/>
                <a:cs typeface="Times New Roman"/>
              </a:rPr>
              <a:t>comparisons, </a:t>
            </a:r>
            <a:r>
              <a:rPr dirty="0" sz="1200" spc="-5">
                <a:latin typeface="Times New Roman"/>
                <a:cs typeface="Times New Roman"/>
              </a:rPr>
              <a:t>contrasts, causes, effects, and </a:t>
            </a:r>
            <a:r>
              <a:rPr dirty="0" sz="1200">
                <a:latin typeface="Times New Roman"/>
                <a:cs typeface="Times New Roman"/>
              </a:rPr>
              <a:t> expert opinion. Other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like to start with facts on a topic and then form their ideas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those facts. Still others like to work with ideas and evidence at the </a:t>
            </a:r>
            <a:r>
              <a:rPr dirty="0" sz="1200" spc="-5">
                <a:latin typeface="Times New Roman"/>
                <a:cs typeface="Times New Roman"/>
              </a:rPr>
              <a:t>same time.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shape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5">
                <a:latin typeface="Times New Roman"/>
                <a:cs typeface="Times New Roman"/>
              </a:rPr>
              <a:t> as new </a:t>
            </a:r>
            <a:r>
              <a:rPr dirty="0" sz="1200">
                <a:latin typeface="Times New Roman"/>
                <a:cs typeface="Times New Roman"/>
              </a:rPr>
              <a:t>facts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collect</a:t>
            </a:r>
            <a:r>
              <a:rPr dirty="0" sz="1200" spc="-5">
                <a:latin typeface="Times New Roman"/>
                <a:cs typeface="Times New Roman"/>
              </a:rPr>
              <a:t> new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find </a:t>
            </a:r>
            <a:r>
              <a:rPr dirty="0" sz="1200">
                <a:latin typeface="Times New Roman"/>
                <a:cs typeface="Times New Roman"/>
              </a:rPr>
              <a:t>fresh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ideas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Arrange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evidence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</a:t>
            </a:r>
            <a:r>
              <a:rPr dirty="0" sz="1200">
                <a:latin typeface="Times New Roman"/>
                <a:cs typeface="Times New Roman"/>
              </a:rPr>
              <a:t>order,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most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5">
                <a:latin typeface="Times New Roman"/>
                <a:cs typeface="Times New Roman"/>
              </a:rPr>
              <a:t> coming</a:t>
            </a:r>
            <a:r>
              <a:rPr dirty="0" sz="1200">
                <a:latin typeface="Times New Roman"/>
                <a:cs typeface="Times New Roman"/>
              </a:rPr>
              <a:t> first.</a:t>
            </a:r>
            <a:endParaRPr sz="1200">
              <a:latin typeface="Times New Roman"/>
              <a:cs typeface="Times New Roman"/>
            </a:endParaRPr>
          </a:p>
          <a:p>
            <a:pPr algn="just" marL="50800" marR="283845">
              <a:lnSpc>
                <a:spcPct val="12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A. </a:t>
            </a:r>
            <a:r>
              <a:rPr dirty="0" baseline="16203" sz="18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shelf </a:t>
            </a:r>
            <a:r>
              <a:rPr dirty="0" sz="1200" spc="-5">
                <a:latin typeface="Times New Roman"/>
                <a:cs typeface="Times New Roman"/>
              </a:rPr>
              <a:t>was crammed </a:t>
            </a:r>
            <a:r>
              <a:rPr dirty="0" sz="1200">
                <a:latin typeface="Times New Roman"/>
                <a:cs typeface="Times New Roman"/>
              </a:rPr>
              <a:t>with copies of the daily </a:t>
            </a:r>
            <a:r>
              <a:rPr dirty="0" sz="1200" spc="-5">
                <a:latin typeface="Times New Roman"/>
                <a:cs typeface="Times New Roman"/>
              </a:rPr>
              <a:t>newspapers, The </a:t>
            </a:r>
            <a:r>
              <a:rPr dirty="0" sz="1200">
                <a:latin typeface="Times New Roman"/>
                <a:cs typeface="Times New Roman"/>
              </a:rPr>
              <a:t>Pakistan </a:t>
            </a:r>
            <a:r>
              <a:rPr dirty="0" sz="1200" spc="-5">
                <a:latin typeface="Times New Roman"/>
                <a:cs typeface="Times New Roman"/>
              </a:rPr>
              <a:t>Times,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News,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Nation.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16203" sz="180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papers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had piled copies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algn="just" marL="50800" marR="284480">
              <a:lnSpc>
                <a:spcPts val="1380"/>
              </a:lnSpc>
              <a:spcBef>
                <a:spcPts val="385"/>
              </a:spcBef>
            </a:pPr>
            <a:r>
              <a:rPr dirty="0" sz="1200">
                <a:latin typeface="Times New Roman"/>
                <a:cs typeface="Times New Roman"/>
              </a:rPr>
              <a:t>Herald,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She,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Friday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Mag.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baseline="16203" sz="1800" spc="-7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middle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shelf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Urdu and Punjabi </a:t>
            </a:r>
            <a:r>
              <a:rPr dirty="0" sz="1200" spc="-5">
                <a:latin typeface="Times New Roman"/>
                <a:cs typeface="Times New Roman"/>
              </a:rPr>
              <a:t>classics </a:t>
            </a:r>
            <a:r>
              <a:rPr dirty="0" sz="1200">
                <a:latin typeface="Times New Roman"/>
                <a:cs typeface="Times New Roman"/>
              </a:rPr>
              <a:t>and a vast </a:t>
            </a:r>
            <a:r>
              <a:rPr dirty="0" sz="1200" spc="-5">
                <a:latin typeface="Times New Roman"/>
                <a:cs typeface="Times New Roman"/>
              </a:rPr>
              <a:t>collection </a:t>
            </a:r>
            <a:r>
              <a:rPr dirty="0" sz="1200">
                <a:latin typeface="Times New Roman"/>
                <a:cs typeface="Times New Roman"/>
              </a:rPr>
              <a:t>of science fiction </a:t>
            </a:r>
            <a:r>
              <a:rPr dirty="0" sz="1200" spc="-5">
                <a:latin typeface="Times New Roman"/>
                <a:cs typeface="Times New Roman"/>
              </a:rPr>
              <a:t>novels and detective </a:t>
            </a:r>
            <a:r>
              <a:rPr dirty="0" sz="1200">
                <a:latin typeface="Times New Roman"/>
                <a:cs typeface="Times New Roman"/>
              </a:rPr>
              <a:t> stories.</a:t>
            </a:r>
            <a:endParaRPr sz="1200">
              <a:latin typeface="Times New Roman"/>
              <a:cs typeface="Times New Roman"/>
            </a:endParaRPr>
          </a:p>
          <a:p>
            <a:pPr algn="just" marL="50800" marR="285115">
              <a:lnSpc>
                <a:spcPts val="1380"/>
              </a:lnSpc>
              <a:spcBef>
                <a:spcPts val="300"/>
              </a:spcBef>
            </a:pPr>
            <a:r>
              <a:rPr dirty="0" baseline="13888" sz="1800" spc="-7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On the top shelf he had numerous new volumes </a:t>
            </a:r>
            <a:r>
              <a:rPr dirty="0" sz="1200">
                <a:latin typeface="Times New Roman"/>
                <a:cs typeface="Times New Roman"/>
              </a:rPr>
              <a:t>on cooking, </a:t>
            </a:r>
            <a:r>
              <a:rPr dirty="0" sz="1200" spc="-5">
                <a:latin typeface="Times New Roman"/>
                <a:cs typeface="Times New Roman"/>
              </a:rPr>
              <a:t>gardening and travel. </a:t>
            </a:r>
            <a:r>
              <a:rPr dirty="0" baseline="13888" sz="1800" spc="-7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library testified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breadth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habits.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199</a:t>
            </a:fld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3361690">
              <a:lnSpc>
                <a:spcPts val="1380"/>
              </a:lnSpc>
              <a:spcBef>
                <a:spcPts val="5"/>
              </a:spcBef>
              <a:tabLst>
                <a:tab pos="2522220" algn="l"/>
              </a:tabLst>
            </a:pP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Evidence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3843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943100" y="1634642"/>
            <a:ext cx="1905000" cy="0"/>
          </a:xfrm>
          <a:custGeom>
            <a:avLst/>
            <a:gdLst/>
            <a:ahLst/>
            <a:cxnLst/>
            <a:rect l="l" t="t" r="r" b="b"/>
            <a:pathLst>
              <a:path w="1905000" h="0">
                <a:moveTo>
                  <a:pt x="0" y="0"/>
                </a:moveTo>
                <a:lnTo>
                  <a:pt x="19050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943100" y="1809902"/>
            <a:ext cx="1905000" cy="0"/>
          </a:xfrm>
          <a:custGeom>
            <a:avLst/>
            <a:gdLst/>
            <a:ahLst/>
            <a:cxnLst/>
            <a:rect l="l" t="t" r="r" b="b"/>
            <a:pathLst>
              <a:path w="1905000" h="0">
                <a:moveTo>
                  <a:pt x="0" y="0"/>
                </a:moveTo>
                <a:lnTo>
                  <a:pt x="19050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943100" y="1985162"/>
            <a:ext cx="1905000" cy="0"/>
          </a:xfrm>
          <a:custGeom>
            <a:avLst/>
            <a:gdLst/>
            <a:ahLst/>
            <a:cxnLst/>
            <a:rect l="l" t="t" r="r" b="b"/>
            <a:pathLst>
              <a:path w="1905000" h="0">
                <a:moveTo>
                  <a:pt x="0" y="0"/>
                </a:moveTo>
                <a:lnTo>
                  <a:pt x="19050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52500" y="1966976"/>
            <a:ext cx="5753735" cy="21374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76200" marR="68580">
              <a:lnSpc>
                <a:spcPct val="120200"/>
              </a:lnSpc>
            </a:pPr>
            <a:r>
              <a:rPr dirty="0" baseline="16203" sz="1800" spc="-7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Mathematics has never </a:t>
            </a:r>
            <a:r>
              <a:rPr dirty="0" sz="1200">
                <a:latin typeface="Times New Roman"/>
                <a:cs typeface="Times New Roman"/>
              </a:rPr>
              <a:t>been easy for </a:t>
            </a:r>
            <a:r>
              <a:rPr dirty="0" sz="1200" spc="-5">
                <a:latin typeface="Times New Roman"/>
                <a:cs typeface="Times New Roman"/>
              </a:rPr>
              <a:t>me. </a:t>
            </a:r>
            <a:r>
              <a:rPr dirty="0" baseline="16203" sz="1800" spc="-7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that I am in college, I am having trouble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 through even in </a:t>
            </a:r>
            <a:r>
              <a:rPr dirty="0" sz="1200" spc="-5">
                <a:latin typeface="Times New Roman"/>
                <a:cs typeface="Times New Roman"/>
              </a:rPr>
              <a:t>business math. </a:t>
            </a:r>
            <a:r>
              <a:rPr dirty="0" baseline="16203" sz="180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never </a:t>
            </a:r>
            <a:r>
              <a:rPr dirty="0" sz="1200">
                <a:latin typeface="Times New Roman"/>
                <a:cs typeface="Times New Roman"/>
              </a:rPr>
              <a:t>could </a:t>
            </a:r>
            <a:r>
              <a:rPr dirty="0" sz="1200" spc="-5">
                <a:latin typeface="Times New Roman"/>
                <a:cs typeface="Times New Roman"/>
              </a:rPr>
              <a:t>solve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mysteries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X’s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Y’s,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cosines.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16203" sz="1800" spc="-7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trouble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simplest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arithmetic.</a:t>
            </a:r>
            <a:endParaRPr sz="1200">
              <a:latin typeface="Times New Roman"/>
              <a:cs typeface="Times New Roman"/>
            </a:endParaRPr>
          </a:p>
          <a:p>
            <a:pPr marL="76200" marR="68580">
              <a:lnSpc>
                <a:spcPts val="1380"/>
              </a:lnSpc>
              <a:spcBef>
                <a:spcPts val="385"/>
              </a:spcBef>
            </a:pPr>
            <a:r>
              <a:rPr dirty="0" baseline="16203" sz="1800">
                <a:latin typeface="Times New Roman"/>
                <a:cs typeface="Times New Roman"/>
              </a:rPr>
              <a:t>5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barely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algebra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trigonometry.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baseline="16203" sz="1800" spc="-7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father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threatened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 </a:t>
            </a:r>
            <a:r>
              <a:rPr dirty="0" sz="1200">
                <a:latin typeface="Times New Roman"/>
                <a:cs typeface="Times New Roman"/>
              </a:rPr>
              <a:t>out of school 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correctly.</a:t>
            </a:r>
            <a:endParaRPr sz="1200">
              <a:latin typeface="Times New Roman"/>
              <a:cs typeface="Times New Roman"/>
            </a:endParaRPr>
          </a:p>
          <a:p>
            <a:pPr marL="76200" marR="2528570">
              <a:lnSpc>
                <a:spcPts val="2750"/>
              </a:lnSpc>
              <a:spcBef>
                <a:spcPts val="85"/>
              </a:spcBef>
              <a:tabLst>
                <a:tab pos="1366520" algn="l"/>
                <a:tab pos="2586355" algn="l"/>
                <a:tab pos="3216275" algn="l"/>
              </a:tabLst>
            </a:pP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sentense 1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943100" y="4441088"/>
            <a:ext cx="1828800" cy="0"/>
          </a:xfrm>
          <a:custGeom>
            <a:avLst/>
            <a:gdLst/>
            <a:ahLst/>
            <a:cxnLst/>
            <a:rect l="l" t="t" r="r" b="b"/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943100" y="4616348"/>
            <a:ext cx="1828800" cy="0"/>
          </a:xfrm>
          <a:custGeom>
            <a:avLst/>
            <a:gdLst/>
            <a:ahLst/>
            <a:cxnLst/>
            <a:rect l="l" t="t" r="r" b="b"/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943100" y="4791608"/>
            <a:ext cx="1828800" cy="0"/>
          </a:xfrm>
          <a:custGeom>
            <a:avLst/>
            <a:gdLst/>
            <a:ahLst/>
            <a:cxnLst/>
            <a:rect l="l" t="t" r="r" b="b"/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016000" y="4771897"/>
            <a:ext cx="5628005" cy="4414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 indent="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Select the most </a:t>
            </a:r>
            <a:r>
              <a:rPr dirty="0" sz="1200" spc="-5">
                <a:latin typeface="Times New Roman"/>
                <a:cs typeface="Times New Roman"/>
              </a:rPr>
              <a:t>appropriate </a:t>
            </a:r>
            <a:r>
              <a:rPr dirty="0" sz="1200">
                <a:latin typeface="Times New Roman"/>
                <a:cs typeface="Times New Roman"/>
              </a:rPr>
              <a:t>conclusion you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infer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the evidence given. </a:t>
            </a:r>
            <a:r>
              <a:rPr dirty="0" sz="1200" spc="-5">
                <a:latin typeface="Times New Roman"/>
                <a:cs typeface="Times New Roman"/>
              </a:rPr>
              <a:t>Place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conclusion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blank </a:t>
            </a:r>
            <a:r>
              <a:rPr dirty="0" sz="1200">
                <a:latin typeface="Times New Roman"/>
                <a:cs typeface="Times New Roman"/>
              </a:rPr>
              <a:t>space.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buAutoNum type="arabicPeriod"/>
              <a:tabLst>
                <a:tab pos="177800" algn="l"/>
                <a:tab pos="973455" algn="l"/>
              </a:tabLst>
            </a:pPr>
            <a:r>
              <a:rPr dirty="0" sz="1200" b="1">
                <a:latin typeface="Times New Roman"/>
                <a:cs typeface="Times New Roman"/>
              </a:rPr>
              <a:t>Evidence: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four-year old Suzuki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80,000 </a:t>
            </a:r>
            <a:r>
              <a:rPr dirty="0" sz="1200" spc="-5">
                <a:latin typeface="Times New Roman"/>
                <a:cs typeface="Times New Roman"/>
              </a:rPr>
              <a:t>miles </a:t>
            </a:r>
            <a:r>
              <a:rPr dirty="0" sz="1200">
                <a:latin typeface="Times New Roman"/>
                <a:cs typeface="Times New Roman"/>
              </a:rPr>
              <a:t>on it. It needs a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battery,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alignment </a:t>
            </a:r>
            <a:r>
              <a:rPr dirty="0" sz="1200">
                <a:latin typeface="Times New Roman"/>
                <a:cs typeface="Times New Roman"/>
              </a:rPr>
              <a:t>of the front </a:t>
            </a:r>
            <a:r>
              <a:rPr dirty="0" sz="1200" spc="-5">
                <a:latin typeface="Times New Roman"/>
                <a:cs typeface="Times New Roman"/>
              </a:rPr>
              <a:t>wheels is </a:t>
            </a:r>
            <a:r>
              <a:rPr dirty="0" sz="1200">
                <a:latin typeface="Times New Roman"/>
                <a:cs typeface="Times New Roman"/>
              </a:rPr>
              <a:t>out, the shock absorbers are weak and the upholstery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frayed.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Conclusion: </a:t>
            </a:r>
            <a:r>
              <a:rPr dirty="0" sz="1200">
                <a:latin typeface="Times New Roman"/>
                <a:cs typeface="Times New Roman"/>
              </a:rPr>
              <a:t>1) Japanese cars give good service for 80,000 </a:t>
            </a:r>
            <a:r>
              <a:rPr dirty="0" sz="1200" spc="-5">
                <a:latin typeface="Times New Roman"/>
                <a:cs typeface="Times New Roman"/>
              </a:rPr>
              <a:t>miles, </a:t>
            </a:r>
            <a:r>
              <a:rPr dirty="0" sz="1200">
                <a:latin typeface="Times New Roman"/>
                <a:cs typeface="Times New Roman"/>
              </a:rPr>
              <a:t>then break down. 2)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>
                <a:latin typeface="Times New Roman"/>
                <a:cs typeface="Times New Roman"/>
              </a:rPr>
              <a:t> to get a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Suzuki. 3)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four-year</a:t>
            </a:r>
            <a:r>
              <a:rPr dirty="0" sz="1200">
                <a:latin typeface="Times New Roman"/>
                <a:cs typeface="Times New Roman"/>
              </a:rPr>
              <a:t> old Suzuki needs</a:t>
            </a:r>
            <a:r>
              <a:rPr dirty="0" sz="1200" spc="-5">
                <a:latin typeface="Times New Roman"/>
                <a:cs typeface="Times New Roman"/>
              </a:rPr>
              <a:t> some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</a:t>
            </a:r>
            <a:r>
              <a:rPr dirty="0" sz="1200">
                <a:latin typeface="Times New Roman"/>
                <a:cs typeface="Times New Roman"/>
              </a:rPr>
              <a:t> repairs.</a:t>
            </a:r>
            <a:endParaRPr sz="1200">
              <a:latin typeface="Times New Roman"/>
              <a:cs typeface="Times New Roman"/>
            </a:endParaRPr>
          </a:p>
          <a:p>
            <a:pPr algn="just" marL="179070" indent="-167005">
              <a:lnSpc>
                <a:spcPts val="1315"/>
              </a:lnSpc>
              <a:buAutoNum type="arabicPeriod" startAt="2"/>
              <a:tabLst>
                <a:tab pos="179705" algn="l"/>
              </a:tabLst>
            </a:pPr>
            <a:r>
              <a:rPr dirty="0" sz="1200" b="1">
                <a:latin typeface="Times New Roman"/>
                <a:cs typeface="Times New Roman"/>
              </a:rPr>
              <a:t>Evidence: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rainfall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Dhaka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88.6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inches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1960,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86.2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1961,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84.2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1962,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81.2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1963,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80.1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inches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1964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75.1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inches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1965.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    </a:t>
            </a:r>
            <a:endParaRPr sz="12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Conclusion: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Dhaka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rainfall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declined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steadily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1960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1965.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2)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Dhaka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rainfall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eventually returned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normal.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Dhaka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rainfall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74.1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inches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1967.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conclusion.</a:t>
            </a:r>
            <a:r>
              <a:rPr dirty="0" sz="1200">
                <a:latin typeface="Times New Roman"/>
                <a:cs typeface="Times New Roman"/>
              </a:rPr>
              <a:t> Place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irrelevant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blank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below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evidence.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evidence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irrelevant,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blank </a:t>
            </a:r>
            <a:r>
              <a:rPr dirty="0" sz="1200" spc="-5">
                <a:latin typeface="Times New Roman"/>
                <a:cs typeface="Times New Roman"/>
              </a:rPr>
              <a:t>empty.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sz="1200" spc="-5" b="1">
                <a:latin typeface="Times New Roman"/>
                <a:cs typeface="Times New Roman"/>
              </a:rPr>
              <a:t>Conclusion: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Evidence</a:t>
            </a:r>
            <a:r>
              <a:rPr dirty="0" sz="1200">
                <a:latin typeface="Times New Roman"/>
                <a:cs typeface="Times New Roman"/>
              </a:rPr>
              <a:t>: 1) Four </a:t>
            </a:r>
            <a:r>
              <a:rPr dirty="0" sz="1200" spc="-5">
                <a:latin typeface="Times New Roman"/>
                <a:cs typeface="Times New Roman"/>
              </a:rPr>
              <a:t>neem </a:t>
            </a:r>
            <a:r>
              <a:rPr dirty="0" sz="1200">
                <a:latin typeface="Times New Roman"/>
                <a:cs typeface="Times New Roman"/>
              </a:rPr>
              <a:t>trees to the front of </a:t>
            </a:r>
            <a:r>
              <a:rPr dirty="0" sz="1200" spc="-5">
                <a:latin typeface="Times New Roman"/>
                <a:cs typeface="Times New Roman"/>
              </a:rPr>
              <a:t>the south side protected the yard form the </a:t>
            </a:r>
            <a:r>
              <a:rPr dirty="0" sz="1200">
                <a:latin typeface="Times New Roman"/>
                <a:cs typeface="Times New Roman"/>
              </a:rPr>
              <a:t> morning sun. 2) </a:t>
            </a:r>
            <a:r>
              <a:rPr dirty="0" sz="1200" spc="-5">
                <a:latin typeface="Times New Roman"/>
                <a:cs typeface="Times New Roman"/>
              </a:rPr>
              <a:t>A row </a:t>
            </a:r>
            <a:r>
              <a:rPr dirty="0" sz="1200">
                <a:latin typeface="Times New Roman"/>
                <a:cs typeface="Times New Roman"/>
              </a:rPr>
              <a:t>of towering eucalyptus </a:t>
            </a:r>
            <a:r>
              <a:rPr dirty="0" sz="1200" spc="-5">
                <a:latin typeface="Times New Roman"/>
                <a:cs typeface="Times New Roman"/>
              </a:rPr>
              <a:t>trees </a:t>
            </a:r>
            <a:r>
              <a:rPr dirty="0" sz="1200">
                <a:latin typeface="Times New Roman"/>
                <a:cs typeface="Times New Roman"/>
              </a:rPr>
              <a:t>on the </a:t>
            </a:r>
            <a:r>
              <a:rPr dirty="0" sz="1200" spc="-5">
                <a:latin typeface="Times New Roman"/>
                <a:cs typeface="Times New Roman"/>
              </a:rPr>
              <a:t>west </a:t>
            </a:r>
            <a:r>
              <a:rPr dirty="0" sz="1200">
                <a:latin typeface="Times New Roman"/>
                <a:cs typeface="Times New Roman"/>
              </a:rPr>
              <a:t>side protect the yard from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evening sun. 3) Two great rubber trees </a:t>
            </a:r>
            <a:r>
              <a:rPr dirty="0" sz="1200" spc="-5">
                <a:latin typeface="Times New Roman"/>
                <a:cs typeface="Times New Roman"/>
              </a:rPr>
              <a:t>further </a:t>
            </a:r>
            <a:r>
              <a:rPr dirty="0" sz="1200">
                <a:latin typeface="Times New Roman"/>
                <a:cs typeface="Times New Roman"/>
              </a:rPr>
              <a:t>back on the south side caught the noon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early afternoon rays.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4) Between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trees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rose</a:t>
            </a:r>
            <a:r>
              <a:rPr dirty="0" sz="1200" spc="-5">
                <a:latin typeface="Times New Roman"/>
                <a:cs typeface="Times New Roman"/>
              </a:rPr>
              <a:t> bushes,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Hibiscus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jasmine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bushes.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203</a:t>
            </a:fld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264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I stated </a:t>
            </a:r>
            <a:r>
              <a:rPr dirty="0" sz="1200" spc="-5">
                <a:latin typeface="Times New Roman"/>
                <a:cs typeface="Times New Roman"/>
              </a:rPr>
              <a:t>earlier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>
                <a:latin typeface="Times New Roman"/>
                <a:cs typeface="Times New Roman"/>
              </a:rPr>
              <a:t> usually</a:t>
            </a:r>
            <a:r>
              <a:rPr dirty="0" sz="1200" spc="-5">
                <a:latin typeface="Times New Roman"/>
                <a:cs typeface="Times New Roman"/>
              </a:rPr>
              <a:t> 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steps.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 are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AutoNum type="arabicParenBoth"/>
              <a:tabLst>
                <a:tab pos="263525" algn="l"/>
              </a:tabLst>
            </a:pPr>
            <a:r>
              <a:rPr dirty="0" sz="1200" spc="-5">
                <a:latin typeface="Times New Roman"/>
                <a:cs typeface="Times New Roman"/>
              </a:rPr>
              <a:t>Brainstorming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brief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outline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(3)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1st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draft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(4)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revising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(5)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Brainstorming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lvl="1" marL="12700" marR="270510">
              <a:lnSpc>
                <a:spcPts val="1380"/>
              </a:lnSpc>
              <a:buAutoNum type="alphaLcParenBoth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Jot down </a:t>
            </a:r>
            <a:r>
              <a:rPr dirty="0" sz="1200">
                <a:latin typeface="Times New Roman"/>
                <a:cs typeface="Times New Roman"/>
              </a:rPr>
              <a:t>points or ideas and their details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to your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just write them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 without putting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>
                <a:latin typeface="Times New Roman"/>
                <a:cs typeface="Times New Roman"/>
              </a:rPr>
              <a:t>in any special </a:t>
            </a:r>
            <a:r>
              <a:rPr dirty="0" sz="1200" spc="-5">
                <a:latin typeface="Times New Roman"/>
                <a:cs typeface="Times New Roman"/>
              </a:rPr>
              <a:t>order. </a:t>
            </a:r>
            <a:r>
              <a:rPr dirty="0" sz="1200">
                <a:latin typeface="Times New Roman"/>
                <a:cs typeface="Times New Roman"/>
              </a:rPr>
              <a:t>Try to </a:t>
            </a:r>
            <a:r>
              <a:rPr dirty="0" sz="1200" spc="-5">
                <a:latin typeface="Times New Roman"/>
                <a:cs typeface="Times New Roman"/>
              </a:rPr>
              <a:t>accumulate as </a:t>
            </a:r>
            <a:r>
              <a:rPr dirty="0" sz="1200">
                <a:latin typeface="Times New Roman"/>
                <a:cs typeface="Times New Roman"/>
              </a:rPr>
              <a:t>many details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Clustering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strategy.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center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 blank sheet of paper. Then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into your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put them in boxes / circles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3542791"/>
            <a:ext cx="1257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97375" y="3542791"/>
            <a:ext cx="142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daughter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shouts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Babaji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73162" y="4769611"/>
            <a:ext cx="99504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noisy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neighbors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58905" y="4769611"/>
            <a:ext cx="6978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59300" y="5821171"/>
            <a:ext cx="92265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TV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stereo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58488" y="6171691"/>
            <a:ext cx="17195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87600" y="7924292"/>
            <a:ext cx="11099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dogs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barks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73600" y="8099552"/>
            <a:ext cx="6978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023937" y="2814637"/>
            <a:ext cx="5038725" cy="5953125"/>
            <a:chOff x="1023937" y="2814637"/>
            <a:chExt cx="5038725" cy="5953125"/>
          </a:xfrm>
        </p:grpSpPr>
        <p:sp>
          <p:nvSpPr>
            <p:cNvPr id="13" name="object 13"/>
            <p:cNvSpPr/>
            <p:nvPr/>
          </p:nvSpPr>
          <p:spPr>
            <a:xfrm>
              <a:off x="1028700" y="2819400"/>
              <a:ext cx="2059305" cy="1064895"/>
            </a:xfrm>
            <a:custGeom>
              <a:avLst/>
              <a:gdLst/>
              <a:ahLst/>
              <a:cxnLst/>
              <a:rect l="l" t="t" r="r" b="b"/>
              <a:pathLst>
                <a:path w="2059305" h="1064895">
                  <a:moveTo>
                    <a:pt x="1029462" y="0"/>
                  </a:moveTo>
                  <a:lnTo>
                    <a:pt x="966760" y="972"/>
                  </a:lnTo>
                  <a:lnTo>
                    <a:pt x="905051" y="3851"/>
                  </a:lnTo>
                  <a:lnTo>
                    <a:pt x="844442" y="8581"/>
                  </a:lnTo>
                  <a:lnTo>
                    <a:pt x="785040" y="15106"/>
                  </a:lnTo>
                  <a:lnTo>
                    <a:pt x="726954" y="23371"/>
                  </a:lnTo>
                  <a:lnTo>
                    <a:pt x="670291" y="33318"/>
                  </a:lnTo>
                  <a:lnTo>
                    <a:pt x="615159" y="44893"/>
                  </a:lnTo>
                  <a:lnTo>
                    <a:pt x="561665" y="58039"/>
                  </a:lnTo>
                  <a:lnTo>
                    <a:pt x="509919" y="72700"/>
                  </a:lnTo>
                  <a:lnTo>
                    <a:pt x="460026" y="88820"/>
                  </a:lnTo>
                  <a:lnTo>
                    <a:pt x="412096" y="106344"/>
                  </a:lnTo>
                  <a:lnTo>
                    <a:pt x="366235" y="125214"/>
                  </a:lnTo>
                  <a:lnTo>
                    <a:pt x="322552" y="145376"/>
                  </a:lnTo>
                  <a:lnTo>
                    <a:pt x="281155" y="166773"/>
                  </a:lnTo>
                  <a:lnTo>
                    <a:pt x="242150" y="189350"/>
                  </a:lnTo>
                  <a:lnTo>
                    <a:pt x="205647" y="213049"/>
                  </a:lnTo>
                  <a:lnTo>
                    <a:pt x="171752" y="237817"/>
                  </a:lnTo>
                  <a:lnTo>
                    <a:pt x="140574" y="263595"/>
                  </a:lnTo>
                  <a:lnTo>
                    <a:pt x="112221" y="290329"/>
                  </a:lnTo>
                  <a:lnTo>
                    <a:pt x="64417" y="346439"/>
                  </a:lnTo>
                  <a:lnTo>
                    <a:pt x="29204" y="405698"/>
                  </a:lnTo>
                  <a:lnTo>
                    <a:pt x="7444" y="467660"/>
                  </a:lnTo>
                  <a:lnTo>
                    <a:pt x="0" y="531876"/>
                  </a:lnTo>
                  <a:lnTo>
                    <a:pt x="1879" y="564319"/>
                  </a:lnTo>
                  <a:lnTo>
                    <a:pt x="16589" y="627608"/>
                  </a:lnTo>
                  <a:lnTo>
                    <a:pt x="45183" y="688398"/>
                  </a:lnTo>
                  <a:lnTo>
                    <a:pt x="86799" y="746241"/>
                  </a:lnTo>
                  <a:lnTo>
                    <a:pt x="140574" y="800692"/>
                  </a:lnTo>
                  <a:lnTo>
                    <a:pt x="171752" y="826506"/>
                  </a:lnTo>
                  <a:lnTo>
                    <a:pt x="205647" y="851305"/>
                  </a:lnTo>
                  <a:lnTo>
                    <a:pt x="242150" y="875033"/>
                  </a:lnTo>
                  <a:lnTo>
                    <a:pt x="281155" y="897634"/>
                  </a:lnTo>
                  <a:lnTo>
                    <a:pt x="322552" y="919052"/>
                  </a:lnTo>
                  <a:lnTo>
                    <a:pt x="366235" y="939232"/>
                  </a:lnTo>
                  <a:lnTo>
                    <a:pt x="412096" y="958118"/>
                  </a:lnTo>
                  <a:lnTo>
                    <a:pt x="460026" y="975654"/>
                  </a:lnTo>
                  <a:lnTo>
                    <a:pt x="509919" y="991785"/>
                  </a:lnTo>
                  <a:lnTo>
                    <a:pt x="561665" y="1006454"/>
                  </a:lnTo>
                  <a:lnTo>
                    <a:pt x="615159" y="1019607"/>
                  </a:lnTo>
                  <a:lnTo>
                    <a:pt x="670291" y="1031186"/>
                  </a:lnTo>
                  <a:lnTo>
                    <a:pt x="726954" y="1041137"/>
                  </a:lnTo>
                  <a:lnTo>
                    <a:pt x="785040" y="1049404"/>
                  </a:lnTo>
                  <a:lnTo>
                    <a:pt x="844442" y="1055931"/>
                  </a:lnTo>
                  <a:lnTo>
                    <a:pt x="905051" y="1060662"/>
                  </a:lnTo>
                  <a:lnTo>
                    <a:pt x="966760" y="1063541"/>
                  </a:lnTo>
                  <a:lnTo>
                    <a:pt x="1029462" y="1064514"/>
                  </a:lnTo>
                  <a:lnTo>
                    <a:pt x="1092241" y="1063541"/>
                  </a:lnTo>
                  <a:lnTo>
                    <a:pt x="1154017" y="1060662"/>
                  </a:lnTo>
                  <a:lnTo>
                    <a:pt x="1214682" y="1055931"/>
                  </a:lnTo>
                  <a:lnTo>
                    <a:pt x="1274129" y="1049404"/>
                  </a:lnTo>
                  <a:lnTo>
                    <a:pt x="1332250" y="1041137"/>
                  </a:lnTo>
                  <a:lnTo>
                    <a:pt x="1388939" y="1031186"/>
                  </a:lnTo>
                  <a:lnTo>
                    <a:pt x="1444089" y="1019607"/>
                  </a:lnTo>
                  <a:lnTo>
                    <a:pt x="1497593" y="1006454"/>
                  </a:lnTo>
                  <a:lnTo>
                    <a:pt x="1549343" y="991785"/>
                  </a:lnTo>
                  <a:lnTo>
                    <a:pt x="1599233" y="975654"/>
                  </a:lnTo>
                  <a:lnTo>
                    <a:pt x="1647154" y="958118"/>
                  </a:lnTo>
                  <a:lnTo>
                    <a:pt x="1693001" y="939232"/>
                  </a:lnTo>
                  <a:lnTo>
                    <a:pt x="1736667" y="919052"/>
                  </a:lnTo>
                  <a:lnTo>
                    <a:pt x="1778043" y="897634"/>
                  </a:lnTo>
                  <a:lnTo>
                    <a:pt x="1817024" y="875033"/>
                  </a:lnTo>
                  <a:lnTo>
                    <a:pt x="1853501" y="851305"/>
                  </a:lnTo>
                  <a:lnTo>
                    <a:pt x="1887368" y="826506"/>
                  </a:lnTo>
                  <a:lnTo>
                    <a:pt x="1918518" y="800692"/>
                  </a:lnTo>
                  <a:lnTo>
                    <a:pt x="1946844" y="773919"/>
                  </a:lnTo>
                  <a:lnTo>
                    <a:pt x="1994594" y="717716"/>
                  </a:lnTo>
                  <a:lnTo>
                    <a:pt x="2029761" y="658344"/>
                  </a:lnTo>
                  <a:lnTo>
                    <a:pt x="2051490" y="596248"/>
                  </a:lnTo>
                  <a:lnTo>
                    <a:pt x="2058924" y="531876"/>
                  </a:lnTo>
                  <a:lnTo>
                    <a:pt x="2057047" y="499514"/>
                  </a:lnTo>
                  <a:lnTo>
                    <a:pt x="2042359" y="436369"/>
                  </a:lnTo>
                  <a:lnTo>
                    <a:pt x="2013804" y="375703"/>
                  </a:lnTo>
                  <a:lnTo>
                    <a:pt x="1972238" y="317962"/>
                  </a:lnTo>
                  <a:lnTo>
                    <a:pt x="1918518" y="263595"/>
                  </a:lnTo>
                  <a:lnTo>
                    <a:pt x="1887368" y="237817"/>
                  </a:lnTo>
                  <a:lnTo>
                    <a:pt x="1853501" y="213049"/>
                  </a:lnTo>
                  <a:lnTo>
                    <a:pt x="1817024" y="189350"/>
                  </a:lnTo>
                  <a:lnTo>
                    <a:pt x="1778043" y="166773"/>
                  </a:lnTo>
                  <a:lnTo>
                    <a:pt x="1736667" y="145376"/>
                  </a:lnTo>
                  <a:lnTo>
                    <a:pt x="1693001" y="125214"/>
                  </a:lnTo>
                  <a:lnTo>
                    <a:pt x="1647154" y="106344"/>
                  </a:lnTo>
                  <a:lnTo>
                    <a:pt x="1599233" y="88820"/>
                  </a:lnTo>
                  <a:lnTo>
                    <a:pt x="1549343" y="72700"/>
                  </a:lnTo>
                  <a:lnTo>
                    <a:pt x="1497593" y="58039"/>
                  </a:lnTo>
                  <a:lnTo>
                    <a:pt x="1444089" y="44893"/>
                  </a:lnTo>
                  <a:lnTo>
                    <a:pt x="1388939" y="33318"/>
                  </a:lnTo>
                  <a:lnTo>
                    <a:pt x="1332250" y="23371"/>
                  </a:lnTo>
                  <a:lnTo>
                    <a:pt x="1274129" y="15106"/>
                  </a:lnTo>
                  <a:lnTo>
                    <a:pt x="1214682" y="8581"/>
                  </a:lnTo>
                  <a:lnTo>
                    <a:pt x="1154017" y="3851"/>
                  </a:lnTo>
                  <a:lnTo>
                    <a:pt x="1092241" y="972"/>
                  </a:lnTo>
                  <a:lnTo>
                    <a:pt x="1029462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938527" y="4593335"/>
              <a:ext cx="2108200" cy="798830"/>
            </a:xfrm>
            <a:custGeom>
              <a:avLst/>
              <a:gdLst/>
              <a:ahLst/>
              <a:cxnLst/>
              <a:rect l="l" t="t" r="r" b="b"/>
              <a:pathLst>
                <a:path w="2108200" h="798829">
                  <a:moveTo>
                    <a:pt x="1053846" y="0"/>
                  </a:moveTo>
                  <a:lnTo>
                    <a:pt x="987183" y="786"/>
                  </a:lnTo>
                  <a:lnTo>
                    <a:pt x="921625" y="3115"/>
                  </a:lnTo>
                  <a:lnTo>
                    <a:pt x="857294" y="6940"/>
                  </a:lnTo>
                  <a:lnTo>
                    <a:pt x="794313" y="12212"/>
                  </a:lnTo>
                  <a:lnTo>
                    <a:pt x="732807" y="18886"/>
                  </a:lnTo>
                  <a:lnTo>
                    <a:pt x="672897" y="26913"/>
                  </a:lnTo>
                  <a:lnTo>
                    <a:pt x="614708" y="36248"/>
                  </a:lnTo>
                  <a:lnTo>
                    <a:pt x="558363" y="46842"/>
                  </a:lnTo>
                  <a:lnTo>
                    <a:pt x="503985" y="58649"/>
                  </a:lnTo>
                  <a:lnTo>
                    <a:pt x="451697" y="71621"/>
                  </a:lnTo>
                  <a:lnTo>
                    <a:pt x="401623" y="85712"/>
                  </a:lnTo>
                  <a:lnTo>
                    <a:pt x="353886" y="100875"/>
                  </a:lnTo>
                  <a:lnTo>
                    <a:pt x="308610" y="117062"/>
                  </a:lnTo>
                  <a:lnTo>
                    <a:pt x="265916" y="134226"/>
                  </a:lnTo>
                  <a:lnTo>
                    <a:pt x="225930" y="152320"/>
                  </a:lnTo>
                  <a:lnTo>
                    <a:pt x="188774" y="171298"/>
                  </a:lnTo>
                  <a:lnTo>
                    <a:pt x="154571" y="191112"/>
                  </a:lnTo>
                  <a:lnTo>
                    <a:pt x="95520" y="233059"/>
                  </a:lnTo>
                  <a:lnTo>
                    <a:pt x="49762" y="277785"/>
                  </a:lnTo>
                  <a:lnTo>
                    <a:pt x="18284" y="324914"/>
                  </a:lnTo>
                  <a:lnTo>
                    <a:pt x="2072" y="374068"/>
                  </a:lnTo>
                  <a:lnTo>
                    <a:pt x="0" y="399288"/>
                  </a:lnTo>
                  <a:lnTo>
                    <a:pt x="2072" y="424507"/>
                  </a:lnTo>
                  <a:lnTo>
                    <a:pt x="18284" y="473661"/>
                  </a:lnTo>
                  <a:lnTo>
                    <a:pt x="49762" y="520790"/>
                  </a:lnTo>
                  <a:lnTo>
                    <a:pt x="95520" y="565516"/>
                  </a:lnTo>
                  <a:lnTo>
                    <a:pt x="154571" y="607463"/>
                  </a:lnTo>
                  <a:lnTo>
                    <a:pt x="188774" y="627277"/>
                  </a:lnTo>
                  <a:lnTo>
                    <a:pt x="225930" y="646255"/>
                  </a:lnTo>
                  <a:lnTo>
                    <a:pt x="265916" y="664349"/>
                  </a:lnTo>
                  <a:lnTo>
                    <a:pt x="308610" y="681513"/>
                  </a:lnTo>
                  <a:lnTo>
                    <a:pt x="353886" y="697700"/>
                  </a:lnTo>
                  <a:lnTo>
                    <a:pt x="401623" y="712863"/>
                  </a:lnTo>
                  <a:lnTo>
                    <a:pt x="451697" y="726954"/>
                  </a:lnTo>
                  <a:lnTo>
                    <a:pt x="503985" y="739926"/>
                  </a:lnTo>
                  <a:lnTo>
                    <a:pt x="558363" y="751733"/>
                  </a:lnTo>
                  <a:lnTo>
                    <a:pt x="614708" y="762327"/>
                  </a:lnTo>
                  <a:lnTo>
                    <a:pt x="672897" y="771662"/>
                  </a:lnTo>
                  <a:lnTo>
                    <a:pt x="732807" y="779689"/>
                  </a:lnTo>
                  <a:lnTo>
                    <a:pt x="794313" y="786363"/>
                  </a:lnTo>
                  <a:lnTo>
                    <a:pt x="857294" y="791635"/>
                  </a:lnTo>
                  <a:lnTo>
                    <a:pt x="921625" y="795460"/>
                  </a:lnTo>
                  <a:lnTo>
                    <a:pt x="987183" y="797789"/>
                  </a:lnTo>
                  <a:lnTo>
                    <a:pt x="1053846" y="798576"/>
                  </a:lnTo>
                  <a:lnTo>
                    <a:pt x="1120508" y="797789"/>
                  </a:lnTo>
                  <a:lnTo>
                    <a:pt x="1186066" y="795460"/>
                  </a:lnTo>
                  <a:lnTo>
                    <a:pt x="1250397" y="791635"/>
                  </a:lnTo>
                  <a:lnTo>
                    <a:pt x="1313378" y="786363"/>
                  </a:lnTo>
                  <a:lnTo>
                    <a:pt x="1374884" y="779689"/>
                  </a:lnTo>
                  <a:lnTo>
                    <a:pt x="1434794" y="771662"/>
                  </a:lnTo>
                  <a:lnTo>
                    <a:pt x="1492983" y="762327"/>
                  </a:lnTo>
                  <a:lnTo>
                    <a:pt x="1549328" y="751733"/>
                  </a:lnTo>
                  <a:lnTo>
                    <a:pt x="1603706" y="739926"/>
                  </a:lnTo>
                  <a:lnTo>
                    <a:pt x="1655994" y="726954"/>
                  </a:lnTo>
                  <a:lnTo>
                    <a:pt x="1706068" y="712863"/>
                  </a:lnTo>
                  <a:lnTo>
                    <a:pt x="1753805" y="697700"/>
                  </a:lnTo>
                  <a:lnTo>
                    <a:pt x="1799082" y="681513"/>
                  </a:lnTo>
                  <a:lnTo>
                    <a:pt x="1841775" y="664349"/>
                  </a:lnTo>
                  <a:lnTo>
                    <a:pt x="1881761" y="646255"/>
                  </a:lnTo>
                  <a:lnTo>
                    <a:pt x="1918917" y="627277"/>
                  </a:lnTo>
                  <a:lnTo>
                    <a:pt x="1953120" y="607463"/>
                  </a:lnTo>
                  <a:lnTo>
                    <a:pt x="2012171" y="565516"/>
                  </a:lnTo>
                  <a:lnTo>
                    <a:pt x="2057929" y="520790"/>
                  </a:lnTo>
                  <a:lnTo>
                    <a:pt x="2089407" y="473661"/>
                  </a:lnTo>
                  <a:lnTo>
                    <a:pt x="2105619" y="424507"/>
                  </a:lnTo>
                  <a:lnTo>
                    <a:pt x="2107692" y="399288"/>
                  </a:lnTo>
                  <a:lnTo>
                    <a:pt x="2105619" y="374068"/>
                  </a:lnTo>
                  <a:lnTo>
                    <a:pt x="2089407" y="324914"/>
                  </a:lnTo>
                  <a:lnTo>
                    <a:pt x="2057929" y="277785"/>
                  </a:lnTo>
                  <a:lnTo>
                    <a:pt x="2012171" y="233059"/>
                  </a:lnTo>
                  <a:lnTo>
                    <a:pt x="1953120" y="191112"/>
                  </a:lnTo>
                  <a:lnTo>
                    <a:pt x="1918917" y="171298"/>
                  </a:lnTo>
                  <a:lnTo>
                    <a:pt x="1881761" y="152320"/>
                  </a:lnTo>
                  <a:lnTo>
                    <a:pt x="1841775" y="134226"/>
                  </a:lnTo>
                  <a:lnTo>
                    <a:pt x="1799082" y="117062"/>
                  </a:lnTo>
                  <a:lnTo>
                    <a:pt x="1753805" y="100875"/>
                  </a:lnTo>
                  <a:lnTo>
                    <a:pt x="1706068" y="85712"/>
                  </a:lnTo>
                  <a:lnTo>
                    <a:pt x="1655994" y="71621"/>
                  </a:lnTo>
                  <a:lnTo>
                    <a:pt x="1603706" y="58649"/>
                  </a:lnTo>
                  <a:lnTo>
                    <a:pt x="1549328" y="46842"/>
                  </a:lnTo>
                  <a:lnTo>
                    <a:pt x="1492983" y="36248"/>
                  </a:lnTo>
                  <a:lnTo>
                    <a:pt x="1434794" y="26913"/>
                  </a:lnTo>
                  <a:lnTo>
                    <a:pt x="1374884" y="18886"/>
                  </a:lnTo>
                  <a:lnTo>
                    <a:pt x="1313378" y="12212"/>
                  </a:lnTo>
                  <a:lnTo>
                    <a:pt x="1250397" y="6940"/>
                  </a:lnTo>
                  <a:lnTo>
                    <a:pt x="1186066" y="3115"/>
                  </a:lnTo>
                  <a:lnTo>
                    <a:pt x="1120508" y="786"/>
                  </a:lnTo>
                  <a:lnTo>
                    <a:pt x="1053846" y="0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369819" y="3883913"/>
              <a:ext cx="335280" cy="709930"/>
            </a:xfrm>
            <a:custGeom>
              <a:avLst/>
              <a:gdLst/>
              <a:ahLst/>
              <a:cxnLst/>
              <a:rect l="l" t="t" r="r" b="b"/>
              <a:pathLst>
                <a:path w="335280" h="709929">
                  <a:moveTo>
                    <a:pt x="0" y="0"/>
                  </a:moveTo>
                  <a:lnTo>
                    <a:pt x="335280" y="709422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662933" y="2908553"/>
              <a:ext cx="2395220" cy="1064260"/>
            </a:xfrm>
            <a:custGeom>
              <a:avLst/>
              <a:gdLst/>
              <a:ahLst/>
              <a:cxnLst/>
              <a:rect l="l" t="t" r="r" b="b"/>
              <a:pathLst>
                <a:path w="2395220" h="1064260">
                  <a:moveTo>
                    <a:pt x="1197864" y="0"/>
                  </a:moveTo>
                  <a:lnTo>
                    <a:pt x="1132154" y="785"/>
                  </a:lnTo>
                  <a:lnTo>
                    <a:pt x="1067368" y="3116"/>
                  </a:lnTo>
                  <a:lnTo>
                    <a:pt x="1003599" y="6950"/>
                  </a:lnTo>
                  <a:lnTo>
                    <a:pt x="940937" y="12249"/>
                  </a:lnTo>
                  <a:lnTo>
                    <a:pt x="879474" y="18972"/>
                  </a:lnTo>
                  <a:lnTo>
                    <a:pt x="819302" y="27078"/>
                  </a:lnTo>
                  <a:lnTo>
                    <a:pt x="760511" y="36527"/>
                  </a:lnTo>
                  <a:lnTo>
                    <a:pt x="703193" y="47279"/>
                  </a:lnTo>
                  <a:lnTo>
                    <a:pt x="647440" y="59294"/>
                  </a:lnTo>
                  <a:lnTo>
                    <a:pt x="593343" y="72531"/>
                  </a:lnTo>
                  <a:lnTo>
                    <a:pt x="540994" y="86949"/>
                  </a:lnTo>
                  <a:lnTo>
                    <a:pt x="490484" y="102510"/>
                  </a:lnTo>
                  <a:lnTo>
                    <a:pt x="441904" y="119172"/>
                  </a:lnTo>
                  <a:lnTo>
                    <a:pt x="395345" y="136894"/>
                  </a:lnTo>
                  <a:lnTo>
                    <a:pt x="350900" y="155638"/>
                  </a:lnTo>
                  <a:lnTo>
                    <a:pt x="308660" y="175362"/>
                  </a:lnTo>
                  <a:lnTo>
                    <a:pt x="268716" y="196026"/>
                  </a:lnTo>
                  <a:lnTo>
                    <a:pt x="231160" y="217590"/>
                  </a:lnTo>
                  <a:lnTo>
                    <a:pt x="196082" y="240014"/>
                  </a:lnTo>
                  <a:lnTo>
                    <a:pt x="163575" y="263256"/>
                  </a:lnTo>
                  <a:lnTo>
                    <a:pt x="133731" y="287278"/>
                  </a:lnTo>
                  <a:lnTo>
                    <a:pt x="82392" y="337497"/>
                  </a:lnTo>
                  <a:lnTo>
                    <a:pt x="42799" y="390348"/>
                  </a:lnTo>
                  <a:lnTo>
                    <a:pt x="15681" y="445509"/>
                  </a:lnTo>
                  <a:lnTo>
                    <a:pt x="1772" y="502657"/>
                  </a:lnTo>
                  <a:lnTo>
                    <a:pt x="0" y="531876"/>
                  </a:lnTo>
                  <a:lnTo>
                    <a:pt x="1772" y="561094"/>
                  </a:lnTo>
                  <a:lnTo>
                    <a:pt x="15681" y="618242"/>
                  </a:lnTo>
                  <a:lnTo>
                    <a:pt x="42799" y="673403"/>
                  </a:lnTo>
                  <a:lnTo>
                    <a:pt x="82392" y="726254"/>
                  </a:lnTo>
                  <a:lnTo>
                    <a:pt x="133731" y="776473"/>
                  </a:lnTo>
                  <a:lnTo>
                    <a:pt x="163575" y="800495"/>
                  </a:lnTo>
                  <a:lnTo>
                    <a:pt x="196082" y="823737"/>
                  </a:lnTo>
                  <a:lnTo>
                    <a:pt x="231160" y="846161"/>
                  </a:lnTo>
                  <a:lnTo>
                    <a:pt x="268716" y="867725"/>
                  </a:lnTo>
                  <a:lnTo>
                    <a:pt x="308660" y="888389"/>
                  </a:lnTo>
                  <a:lnTo>
                    <a:pt x="350901" y="908113"/>
                  </a:lnTo>
                  <a:lnTo>
                    <a:pt x="395345" y="926857"/>
                  </a:lnTo>
                  <a:lnTo>
                    <a:pt x="441904" y="944579"/>
                  </a:lnTo>
                  <a:lnTo>
                    <a:pt x="490484" y="961241"/>
                  </a:lnTo>
                  <a:lnTo>
                    <a:pt x="540994" y="976802"/>
                  </a:lnTo>
                  <a:lnTo>
                    <a:pt x="593344" y="991220"/>
                  </a:lnTo>
                  <a:lnTo>
                    <a:pt x="647440" y="1004457"/>
                  </a:lnTo>
                  <a:lnTo>
                    <a:pt x="703193" y="1016472"/>
                  </a:lnTo>
                  <a:lnTo>
                    <a:pt x="760511" y="1027224"/>
                  </a:lnTo>
                  <a:lnTo>
                    <a:pt x="819302" y="1036673"/>
                  </a:lnTo>
                  <a:lnTo>
                    <a:pt x="879475" y="1044779"/>
                  </a:lnTo>
                  <a:lnTo>
                    <a:pt x="940937" y="1051502"/>
                  </a:lnTo>
                  <a:lnTo>
                    <a:pt x="1003599" y="1056801"/>
                  </a:lnTo>
                  <a:lnTo>
                    <a:pt x="1067368" y="1060635"/>
                  </a:lnTo>
                  <a:lnTo>
                    <a:pt x="1132154" y="1062966"/>
                  </a:lnTo>
                  <a:lnTo>
                    <a:pt x="1197864" y="1063752"/>
                  </a:lnTo>
                  <a:lnTo>
                    <a:pt x="1263571" y="1062966"/>
                  </a:lnTo>
                  <a:lnTo>
                    <a:pt x="1328349" y="1060635"/>
                  </a:lnTo>
                  <a:lnTo>
                    <a:pt x="1392106" y="1056801"/>
                  </a:lnTo>
                  <a:lnTo>
                    <a:pt x="1454753" y="1051502"/>
                  </a:lnTo>
                  <a:lnTo>
                    <a:pt x="1516196" y="1044779"/>
                  </a:lnTo>
                  <a:lnTo>
                    <a:pt x="1576346" y="1036673"/>
                  </a:lnTo>
                  <a:lnTo>
                    <a:pt x="1635111" y="1027224"/>
                  </a:lnTo>
                  <a:lnTo>
                    <a:pt x="1692400" y="1016472"/>
                  </a:lnTo>
                  <a:lnTo>
                    <a:pt x="1748122" y="1004457"/>
                  </a:lnTo>
                  <a:lnTo>
                    <a:pt x="1802186" y="991220"/>
                  </a:lnTo>
                  <a:lnTo>
                    <a:pt x="1854501" y="976802"/>
                  </a:lnTo>
                  <a:lnTo>
                    <a:pt x="1904975" y="961241"/>
                  </a:lnTo>
                  <a:lnTo>
                    <a:pt x="1953518" y="944579"/>
                  </a:lnTo>
                  <a:lnTo>
                    <a:pt x="2000039" y="926857"/>
                  </a:lnTo>
                  <a:lnTo>
                    <a:pt x="2044446" y="908113"/>
                  </a:lnTo>
                  <a:lnTo>
                    <a:pt x="2086648" y="888389"/>
                  </a:lnTo>
                  <a:lnTo>
                    <a:pt x="2126554" y="867725"/>
                  </a:lnTo>
                  <a:lnTo>
                    <a:pt x="2164073" y="846161"/>
                  </a:lnTo>
                  <a:lnTo>
                    <a:pt x="2199115" y="823737"/>
                  </a:lnTo>
                  <a:lnTo>
                    <a:pt x="2231587" y="800495"/>
                  </a:lnTo>
                  <a:lnTo>
                    <a:pt x="2261399" y="776473"/>
                  </a:lnTo>
                  <a:lnTo>
                    <a:pt x="2312678" y="726254"/>
                  </a:lnTo>
                  <a:lnTo>
                    <a:pt x="2352223" y="673403"/>
                  </a:lnTo>
                  <a:lnTo>
                    <a:pt x="2379305" y="618242"/>
                  </a:lnTo>
                  <a:lnTo>
                    <a:pt x="2393195" y="561094"/>
                  </a:lnTo>
                  <a:lnTo>
                    <a:pt x="2394966" y="531876"/>
                  </a:lnTo>
                  <a:lnTo>
                    <a:pt x="2393195" y="502657"/>
                  </a:lnTo>
                  <a:lnTo>
                    <a:pt x="2379305" y="445509"/>
                  </a:lnTo>
                  <a:lnTo>
                    <a:pt x="2352223" y="390348"/>
                  </a:lnTo>
                  <a:lnTo>
                    <a:pt x="2312678" y="337497"/>
                  </a:lnTo>
                  <a:lnTo>
                    <a:pt x="2261399" y="287278"/>
                  </a:lnTo>
                  <a:lnTo>
                    <a:pt x="2231587" y="263256"/>
                  </a:lnTo>
                  <a:lnTo>
                    <a:pt x="2199115" y="240014"/>
                  </a:lnTo>
                  <a:lnTo>
                    <a:pt x="2164073" y="217590"/>
                  </a:lnTo>
                  <a:lnTo>
                    <a:pt x="2126554" y="196026"/>
                  </a:lnTo>
                  <a:lnTo>
                    <a:pt x="2086648" y="175362"/>
                  </a:lnTo>
                  <a:lnTo>
                    <a:pt x="2044446" y="155638"/>
                  </a:lnTo>
                  <a:lnTo>
                    <a:pt x="2000039" y="136894"/>
                  </a:lnTo>
                  <a:lnTo>
                    <a:pt x="1953518" y="119172"/>
                  </a:lnTo>
                  <a:lnTo>
                    <a:pt x="1904975" y="102510"/>
                  </a:lnTo>
                  <a:lnTo>
                    <a:pt x="1854501" y="86949"/>
                  </a:lnTo>
                  <a:lnTo>
                    <a:pt x="1802186" y="72531"/>
                  </a:lnTo>
                  <a:lnTo>
                    <a:pt x="1748122" y="59294"/>
                  </a:lnTo>
                  <a:lnTo>
                    <a:pt x="1692400" y="47279"/>
                  </a:lnTo>
                  <a:lnTo>
                    <a:pt x="1635111" y="36527"/>
                  </a:lnTo>
                  <a:lnTo>
                    <a:pt x="1576346" y="27078"/>
                  </a:lnTo>
                  <a:lnTo>
                    <a:pt x="1516196" y="18972"/>
                  </a:lnTo>
                  <a:lnTo>
                    <a:pt x="1454753" y="12249"/>
                  </a:lnTo>
                  <a:lnTo>
                    <a:pt x="1392106" y="6950"/>
                  </a:lnTo>
                  <a:lnTo>
                    <a:pt x="1328349" y="3116"/>
                  </a:lnTo>
                  <a:lnTo>
                    <a:pt x="1263571" y="785"/>
                  </a:lnTo>
                  <a:lnTo>
                    <a:pt x="1197864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614927" y="3795522"/>
              <a:ext cx="431800" cy="887094"/>
            </a:xfrm>
            <a:custGeom>
              <a:avLst/>
              <a:gdLst/>
              <a:ahLst/>
              <a:cxnLst/>
              <a:rect l="l" t="t" r="r" b="b"/>
              <a:pathLst>
                <a:path w="431800" h="887095">
                  <a:moveTo>
                    <a:pt x="431291" y="0"/>
                  </a:moveTo>
                  <a:lnTo>
                    <a:pt x="0" y="886968"/>
                  </a:lnTo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381500" y="4682489"/>
              <a:ext cx="1293495" cy="709930"/>
            </a:xfrm>
            <a:custGeom>
              <a:avLst/>
              <a:gdLst/>
              <a:ahLst/>
              <a:cxnLst/>
              <a:rect l="l" t="t" r="r" b="b"/>
              <a:pathLst>
                <a:path w="1293495" h="709929">
                  <a:moveTo>
                    <a:pt x="646938" y="0"/>
                  </a:moveTo>
                  <a:lnTo>
                    <a:pt x="584620" y="1620"/>
                  </a:lnTo>
                  <a:lnTo>
                    <a:pt x="523981" y="6383"/>
                  </a:lnTo>
                  <a:lnTo>
                    <a:pt x="465292" y="14141"/>
                  </a:lnTo>
                  <a:lnTo>
                    <a:pt x="408823" y="24746"/>
                  </a:lnTo>
                  <a:lnTo>
                    <a:pt x="354846" y="38049"/>
                  </a:lnTo>
                  <a:lnTo>
                    <a:pt x="303630" y="53903"/>
                  </a:lnTo>
                  <a:lnTo>
                    <a:pt x="255447" y="72160"/>
                  </a:lnTo>
                  <a:lnTo>
                    <a:pt x="210568" y="92672"/>
                  </a:lnTo>
                  <a:lnTo>
                    <a:pt x="169263" y="115290"/>
                  </a:lnTo>
                  <a:lnTo>
                    <a:pt x="131803" y="139868"/>
                  </a:lnTo>
                  <a:lnTo>
                    <a:pt x="98460" y="166256"/>
                  </a:lnTo>
                  <a:lnTo>
                    <a:pt x="69503" y="194307"/>
                  </a:lnTo>
                  <a:lnTo>
                    <a:pt x="45204" y="223873"/>
                  </a:lnTo>
                  <a:lnTo>
                    <a:pt x="11662" y="286959"/>
                  </a:lnTo>
                  <a:lnTo>
                    <a:pt x="0" y="354330"/>
                  </a:lnTo>
                  <a:lnTo>
                    <a:pt x="2960" y="388484"/>
                  </a:lnTo>
                  <a:lnTo>
                    <a:pt x="25833" y="453915"/>
                  </a:lnTo>
                  <a:lnTo>
                    <a:pt x="69503" y="514511"/>
                  </a:lnTo>
                  <a:lnTo>
                    <a:pt x="98460" y="542621"/>
                  </a:lnTo>
                  <a:lnTo>
                    <a:pt x="131803" y="569073"/>
                  </a:lnTo>
                  <a:lnTo>
                    <a:pt x="169263" y="593716"/>
                  </a:lnTo>
                  <a:lnTo>
                    <a:pt x="210568" y="616402"/>
                  </a:lnTo>
                  <a:lnTo>
                    <a:pt x="255447" y="636980"/>
                  </a:lnTo>
                  <a:lnTo>
                    <a:pt x="303630" y="655300"/>
                  </a:lnTo>
                  <a:lnTo>
                    <a:pt x="354846" y="671213"/>
                  </a:lnTo>
                  <a:lnTo>
                    <a:pt x="408823" y="684568"/>
                  </a:lnTo>
                  <a:lnTo>
                    <a:pt x="465292" y="695217"/>
                  </a:lnTo>
                  <a:lnTo>
                    <a:pt x="523981" y="703008"/>
                  </a:lnTo>
                  <a:lnTo>
                    <a:pt x="584620" y="707793"/>
                  </a:lnTo>
                  <a:lnTo>
                    <a:pt x="646938" y="709422"/>
                  </a:lnTo>
                  <a:lnTo>
                    <a:pt x="709128" y="707793"/>
                  </a:lnTo>
                  <a:lnTo>
                    <a:pt x="769655" y="703008"/>
                  </a:lnTo>
                  <a:lnTo>
                    <a:pt x="828247" y="695217"/>
                  </a:lnTo>
                  <a:lnTo>
                    <a:pt x="884631" y="684568"/>
                  </a:lnTo>
                  <a:lnTo>
                    <a:pt x="938535" y="671213"/>
                  </a:lnTo>
                  <a:lnTo>
                    <a:pt x="989690" y="655300"/>
                  </a:lnTo>
                  <a:lnTo>
                    <a:pt x="1037821" y="636980"/>
                  </a:lnTo>
                  <a:lnTo>
                    <a:pt x="1082658" y="616402"/>
                  </a:lnTo>
                  <a:lnTo>
                    <a:pt x="1123929" y="593716"/>
                  </a:lnTo>
                  <a:lnTo>
                    <a:pt x="1161363" y="569073"/>
                  </a:lnTo>
                  <a:lnTo>
                    <a:pt x="1194687" y="542621"/>
                  </a:lnTo>
                  <a:lnTo>
                    <a:pt x="1223629" y="514511"/>
                  </a:lnTo>
                  <a:lnTo>
                    <a:pt x="1247919" y="484892"/>
                  </a:lnTo>
                  <a:lnTo>
                    <a:pt x="1281453" y="421729"/>
                  </a:lnTo>
                  <a:lnTo>
                    <a:pt x="1293114" y="354330"/>
                  </a:lnTo>
                  <a:lnTo>
                    <a:pt x="1290153" y="320183"/>
                  </a:lnTo>
                  <a:lnTo>
                    <a:pt x="1267284" y="254807"/>
                  </a:lnTo>
                  <a:lnTo>
                    <a:pt x="1223629" y="194307"/>
                  </a:lnTo>
                  <a:lnTo>
                    <a:pt x="1194687" y="166256"/>
                  </a:lnTo>
                  <a:lnTo>
                    <a:pt x="1161363" y="139868"/>
                  </a:lnTo>
                  <a:lnTo>
                    <a:pt x="1123929" y="115290"/>
                  </a:lnTo>
                  <a:lnTo>
                    <a:pt x="1082658" y="92672"/>
                  </a:lnTo>
                  <a:lnTo>
                    <a:pt x="1037821" y="72160"/>
                  </a:lnTo>
                  <a:lnTo>
                    <a:pt x="989690" y="53903"/>
                  </a:lnTo>
                  <a:lnTo>
                    <a:pt x="938535" y="38049"/>
                  </a:lnTo>
                  <a:lnTo>
                    <a:pt x="884631" y="24746"/>
                  </a:lnTo>
                  <a:lnTo>
                    <a:pt x="828247" y="14141"/>
                  </a:lnTo>
                  <a:lnTo>
                    <a:pt x="769655" y="6383"/>
                  </a:lnTo>
                  <a:lnTo>
                    <a:pt x="709128" y="1620"/>
                  </a:lnTo>
                  <a:lnTo>
                    <a:pt x="646938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428744" y="5391911"/>
              <a:ext cx="719455" cy="798830"/>
            </a:xfrm>
            <a:custGeom>
              <a:avLst/>
              <a:gdLst/>
              <a:ahLst/>
              <a:cxnLst/>
              <a:rect l="l" t="t" r="r" b="b"/>
              <a:pathLst>
                <a:path w="719454" h="798829">
                  <a:moveTo>
                    <a:pt x="359663" y="0"/>
                  </a:moveTo>
                  <a:lnTo>
                    <a:pt x="314650" y="3103"/>
                  </a:lnTo>
                  <a:lnTo>
                    <a:pt x="271276" y="12167"/>
                  </a:lnTo>
                  <a:lnTo>
                    <a:pt x="229883" y="26820"/>
                  </a:lnTo>
                  <a:lnTo>
                    <a:pt x="190812" y="46692"/>
                  </a:lnTo>
                  <a:lnTo>
                    <a:pt x="154406" y="71413"/>
                  </a:lnTo>
                  <a:lnTo>
                    <a:pt x="121004" y="100613"/>
                  </a:lnTo>
                  <a:lnTo>
                    <a:pt x="90948" y="133920"/>
                  </a:lnTo>
                  <a:lnTo>
                    <a:pt x="64580" y="170965"/>
                  </a:lnTo>
                  <a:lnTo>
                    <a:pt x="42241" y="211377"/>
                  </a:lnTo>
                  <a:lnTo>
                    <a:pt x="24273" y="254786"/>
                  </a:lnTo>
                  <a:lnTo>
                    <a:pt x="11015" y="300821"/>
                  </a:lnTo>
                  <a:lnTo>
                    <a:pt x="2810" y="349111"/>
                  </a:lnTo>
                  <a:lnTo>
                    <a:pt x="0" y="399288"/>
                  </a:lnTo>
                  <a:lnTo>
                    <a:pt x="2810" y="449314"/>
                  </a:lnTo>
                  <a:lnTo>
                    <a:pt x="11015" y="497503"/>
                  </a:lnTo>
                  <a:lnTo>
                    <a:pt x="24273" y="543477"/>
                  </a:lnTo>
                  <a:lnTo>
                    <a:pt x="42241" y="586861"/>
                  </a:lnTo>
                  <a:lnTo>
                    <a:pt x="64580" y="627277"/>
                  </a:lnTo>
                  <a:lnTo>
                    <a:pt x="90948" y="664349"/>
                  </a:lnTo>
                  <a:lnTo>
                    <a:pt x="121004" y="697700"/>
                  </a:lnTo>
                  <a:lnTo>
                    <a:pt x="154406" y="726954"/>
                  </a:lnTo>
                  <a:lnTo>
                    <a:pt x="190812" y="751733"/>
                  </a:lnTo>
                  <a:lnTo>
                    <a:pt x="229883" y="771662"/>
                  </a:lnTo>
                  <a:lnTo>
                    <a:pt x="271276" y="786363"/>
                  </a:lnTo>
                  <a:lnTo>
                    <a:pt x="314650" y="795460"/>
                  </a:lnTo>
                  <a:lnTo>
                    <a:pt x="359663" y="798576"/>
                  </a:lnTo>
                  <a:lnTo>
                    <a:pt x="404827" y="795460"/>
                  </a:lnTo>
                  <a:lnTo>
                    <a:pt x="448303" y="786363"/>
                  </a:lnTo>
                  <a:lnTo>
                    <a:pt x="489756" y="771662"/>
                  </a:lnTo>
                  <a:lnTo>
                    <a:pt x="528852" y="751733"/>
                  </a:lnTo>
                  <a:lnTo>
                    <a:pt x="565254" y="726954"/>
                  </a:lnTo>
                  <a:lnTo>
                    <a:pt x="598629" y="697700"/>
                  </a:lnTo>
                  <a:lnTo>
                    <a:pt x="628641" y="664349"/>
                  </a:lnTo>
                  <a:lnTo>
                    <a:pt x="654955" y="627277"/>
                  </a:lnTo>
                  <a:lnTo>
                    <a:pt x="677235" y="586861"/>
                  </a:lnTo>
                  <a:lnTo>
                    <a:pt x="695148" y="543477"/>
                  </a:lnTo>
                  <a:lnTo>
                    <a:pt x="708358" y="497503"/>
                  </a:lnTo>
                  <a:lnTo>
                    <a:pt x="716529" y="449314"/>
                  </a:lnTo>
                  <a:lnTo>
                    <a:pt x="719327" y="399288"/>
                  </a:lnTo>
                  <a:lnTo>
                    <a:pt x="716529" y="349111"/>
                  </a:lnTo>
                  <a:lnTo>
                    <a:pt x="708358" y="300821"/>
                  </a:lnTo>
                  <a:lnTo>
                    <a:pt x="695148" y="254786"/>
                  </a:lnTo>
                  <a:lnTo>
                    <a:pt x="677235" y="211377"/>
                  </a:lnTo>
                  <a:lnTo>
                    <a:pt x="654955" y="170965"/>
                  </a:lnTo>
                  <a:lnTo>
                    <a:pt x="628641" y="133920"/>
                  </a:lnTo>
                  <a:lnTo>
                    <a:pt x="598629" y="100613"/>
                  </a:lnTo>
                  <a:lnTo>
                    <a:pt x="565254" y="71413"/>
                  </a:lnTo>
                  <a:lnTo>
                    <a:pt x="528852" y="46692"/>
                  </a:lnTo>
                  <a:lnTo>
                    <a:pt x="489756" y="26820"/>
                  </a:lnTo>
                  <a:lnTo>
                    <a:pt x="448303" y="12167"/>
                  </a:lnTo>
                  <a:lnTo>
                    <a:pt x="404827" y="3103"/>
                  </a:lnTo>
                  <a:lnTo>
                    <a:pt x="359663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099303" y="5391911"/>
              <a:ext cx="575310" cy="709930"/>
            </a:xfrm>
            <a:custGeom>
              <a:avLst/>
              <a:gdLst/>
              <a:ahLst/>
              <a:cxnLst/>
              <a:rect l="l" t="t" r="r" b="b"/>
              <a:pathLst>
                <a:path w="575310" h="709929">
                  <a:moveTo>
                    <a:pt x="288036" y="0"/>
                  </a:moveTo>
                  <a:lnTo>
                    <a:pt x="245431" y="3839"/>
                  </a:lnTo>
                  <a:lnTo>
                    <a:pt x="204781" y="14994"/>
                  </a:lnTo>
                  <a:lnTo>
                    <a:pt x="166529" y="32924"/>
                  </a:lnTo>
                  <a:lnTo>
                    <a:pt x="131117" y="57085"/>
                  </a:lnTo>
                  <a:lnTo>
                    <a:pt x="98990" y="86934"/>
                  </a:lnTo>
                  <a:lnTo>
                    <a:pt x="70589" y="121929"/>
                  </a:lnTo>
                  <a:lnTo>
                    <a:pt x="46358" y="161526"/>
                  </a:lnTo>
                  <a:lnTo>
                    <a:pt x="26741" y="205184"/>
                  </a:lnTo>
                  <a:lnTo>
                    <a:pt x="12180" y="252359"/>
                  </a:lnTo>
                  <a:lnTo>
                    <a:pt x="3118" y="302509"/>
                  </a:lnTo>
                  <a:lnTo>
                    <a:pt x="0" y="355092"/>
                  </a:lnTo>
                  <a:lnTo>
                    <a:pt x="3118" y="407484"/>
                  </a:lnTo>
                  <a:lnTo>
                    <a:pt x="12180" y="457479"/>
                  </a:lnTo>
                  <a:lnTo>
                    <a:pt x="26741" y="504530"/>
                  </a:lnTo>
                  <a:lnTo>
                    <a:pt x="46358" y="548091"/>
                  </a:lnTo>
                  <a:lnTo>
                    <a:pt x="70589" y="587616"/>
                  </a:lnTo>
                  <a:lnTo>
                    <a:pt x="98990" y="622559"/>
                  </a:lnTo>
                  <a:lnTo>
                    <a:pt x="131117" y="652373"/>
                  </a:lnTo>
                  <a:lnTo>
                    <a:pt x="166529" y="676512"/>
                  </a:lnTo>
                  <a:lnTo>
                    <a:pt x="204781" y="694431"/>
                  </a:lnTo>
                  <a:lnTo>
                    <a:pt x="245431" y="705583"/>
                  </a:lnTo>
                  <a:lnTo>
                    <a:pt x="288036" y="709422"/>
                  </a:lnTo>
                  <a:lnTo>
                    <a:pt x="330450" y="705583"/>
                  </a:lnTo>
                  <a:lnTo>
                    <a:pt x="370945" y="694431"/>
                  </a:lnTo>
                  <a:lnTo>
                    <a:pt x="409073" y="676512"/>
                  </a:lnTo>
                  <a:lnTo>
                    <a:pt x="444388" y="652373"/>
                  </a:lnTo>
                  <a:lnTo>
                    <a:pt x="476443" y="622559"/>
                  </a:lnTo>
                  <a:lnTo>
                    <a:pt x="504792" y="587616"/>
                  </a:lnTo>
                  <a:lnTo>
                    <a:pt x="528987" y="548091"/>
                  </a:lnTo>
                  <a:lnTo>
                    <a:pt x="548583" y="504530"/>
                  </a:lnTo>
                  <a:lnTo>
                    <a:pt x="563134" y="457479"/>
                  </a:lnTo>
                  <a:lnTo>
                    <a:pt x="572191" y="407484"/>
                  </a:lnTo>
                  <a:lnTo>
                    <a:pt x="575310" y="355092"/>
                  </a:lnTo>
                  <a:lnTo>
                    <a:pt x="572191" y="302509"/>
                  </a:lnTo>
                  <a:lnTo>
                    <a:pt x="563134" y="252359"/>
                  </a:lnTo>
                  <a:lnTo>
                    <a:pt x="548583" y="205184"/>
                  </a:lnTo>
                  <a:lnTo>
                    <a:pt x="528987" y="161526"/>
                  </a:lnTo>
                  <a:lnTo>
                    <a:pt x="504792" y="121929"/>
                  </a:lnTo>
                  <a:lnTo>
                    <a:pt x="476443" y="86934"/>
                  </a:lnTo>
                  <a:lnTo>
                    <a:pt x="444388" y="57085"/>
                  </a:lnTo>
                  <a:lnTo>
                    <a:pt x="409073" y="32924"/>
                  </a:lnTo>
                  <a:lnTo>
                    <a:pt x="370945" y="14994"/>
                  </a:lnTo>
                  <a:lnTo>
                    <a:pt x="330450" y="3839"/>
                  </a:lnTo>
                  <a:lnTo>
                    <a:pt x="288036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046220" y="5037582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292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028700" y="6101334"/>
              <a:ext cx="2778760" cy="976630"/>
            </a:xfrm>
            <a:custGeom>
              <a:avLst/>
              <a:gdLst/>
              <a:ahLst/>
              <a:cxnLst/>
              <a:rect l="l" t="t" r="r" b="b"/>
              <a:pathLst>
                <a:path w="2778760" h="976629">
                  <a:moveTo>
                    <a:pt x="1389126" y="0"/>
                  </a:moveTo>
                  <a:lnTo>
                    <a:pt x="1319782" y="597"/>
                  </a:lnTo>
                  <a:lnTo>
                    <a:pt x="1251320" y="2372"/>
                  </a:lnTo>
                  <a:lnTo>
                    <a:pt x="1183819" y="5296"/>
                  </a:lnTo>
                  <a:lnTo>
                    <a:pt x="1117358" y="9340"/>
                  </a:lnTo>
                  <a:lnTo>
                    <a:pt x="1052017" y="14478"/>
                  </a:lnTo>
                  <a:lnTo>
                    <a:pt x="987876" y="20681"/>
                  </a:lnTo>
                  <a:lnTo>
                    <a:pt x="925014" y="27920"/>
                  </a:lnTo>
                  <a:lnTo>
                    <a:pt x="863510" y="36169"/>
                  </a:lnTo>
                  <a:lnTo>
                    <a:pt x="803444" y="45398"/>
                  </a:lnTo>
                  <a:lnTo>
                    <a:pt x="744896" y="55581"/>
                  </a:lnTo>
                  <a:lnTo>
                    <a:pt x="687944" y="66689"/>
                  </a:lnTo>
                  <a:lnTo>
                    <a:pt x="632670" y="78693"/>
                  </a:lnTo>
                  <a:lnTo>
                    <a:pt x="579151" y="91567"/>
                  </a:lnTo>
                  <a:lnTo>
                    <a:pt x="527468" y="105282"/>
                  </a:lnTo>
                  <a:lnTo>
                    <a:pt x="477700" y="119810"/>
                  </a:lnTo>
                  <a:lnTo>
                    <a:pt x="429926" y="135123"/>
                  </a:lnTo>
                  <a:lnTo>
                    <a:pt x="384227" y="151193"/>
                  </a:lnTo>
                  <a:lnTo>
                    <a:pt x="340681" y="167992"/>
                  </a:lnTo>
                  <a:lnTo>
                    <a:pt x="299368" y="185493"/>
                  </a:lnTo>
                  <a:lnTo>
                    <a:pt x="260368" y="203666"/>
                  </a:lnTo>
                  <a:lnTo>
                    <a:pt x="223761" y="222485"/>
                  </a:lnTo>
                  <a:lnTo>
                    <a:pt x="189625" y="241920"/>
                  </a:lnTo>
                  <a:lnTo>
                    <a:pt x="129086" y="282531"/>
                  </a:lnTo>
                  <a:lnTo>
                    <a:pt x="79387" y="325275"/>
                  </a:lnTo>
                  <a:lnTo>
                    <a:pt x="41166" y="369928"/>
                  </a:lnTo>
                  <a:lnTo>
                    <a:pt x="15058" y="416266"/>
                  </a:lnTo>
                  <a:lnTo>
                    <a:pt x="1699" y="464064"/>
                  </a:lnTo>
                  <a:lnTo>
                    <a:pt x="0" y="488442"/>
                  </a:lnTo>
                  <a:lnTo>
                    <a:pt x="1699" y="512817"/>
                  </a:lnTo>
                  <a:lnTo>
                    <a:pt x="15058" y="560600"/>
                  </a:lnTo>
                  <a:lnTo>
                    <a:pt x="41166" y="606908"/>
                  </a:lnTo>
                  <a:lnTo>
                    <a:pt x="79387" y="651519"/>
                  </a:lnTo>
                  <a:lnTo>
                    <a:pt x="129086" y="694212"/>
                  </a:lnTo>
                  <a:lnTo>
                    <a:pt x="189625" y="734765"/>
                  </a:lnTo>
                  <a:lnTo>
                    <a:pt x="223761" y="754169"/>
                  </a:lnTo>
                  <a:lnTo>
                    <a:pt x="260368" y="772955"/>
                  </a:lnTo>
                  <a:lnTo>
                    <a:pt x="299368" y="791095"/>
                  </a:lnTo>
                  <a:lnTo>
                    <a:pt x="340681" y="808562"/>
                  </a:lnTo>
                  <a:lnTo>
                    <a:pt x="384227" y="825326"/>
                  </a:lnTo>
                  <a:lnTo>
                    <a:pt x="429926" y="841362"/>
                  </a:lnTo>
                  <a:lnTo>
                    <a:pt x="477700" y="856640"/>
                  </a:lnTo>
                  <a:lnTo>
                    <a:pt x="527468" y="871134"/>
                  </a:lnTo>
                  <a:lnTo>
                    <a:pt x="579151" y="884816"/>
                  </a:lnTo>
                  <a:lnTo>
                    <a:pt x="632670" y="897657"/>
                  </a:lnTo>
                  <a:lnTo>
                    <a:pt x="687944" y="909630"/>
                  </a:lnTo>
                  <a:lnTo>
                    <a:pt x="744896" y="920708"/>
                  </a:lnTo>
                  <a:lnTo>
                    <a:pt x="803444" y="930862"/>
                  </a:lnTo>
                  <a:lnTo>
                    <a:pt x="863510" y="940065"/>
                  </a:lnTo>
                  <a:lnTo>
                    <a:pt x="925014" y="948289"/>
                  </a:lnTo>
                  <a:lnTo>
                    <a:pt x="987876" y="955507"/>
                  </a:lnTo>
                  <a:lnTo>
                    <a:pt x="1052017" y="961690"/>
                  </a:lnTo>
                  <a:lnTo>
                    <a:pt x="1117358" y="966812"/>
                  </a:lnTo>
                  <a:lnTo>
                    <a:pt x="1183819" y="970843"/>
                  </a:lnTo>
                  <a:lnTo>
                    <a:pt x="1251320" y="973757"/>
                  </a:lnTo>
                  <a:lnTo>
                    <a:pt x="1319782" y="975526"/>
                  </a:lnTo>
                  <a:lnTo>
                    <a:pt x="1389126" y="976122"/>
                  </a:lnTo>
                  <a:lnTo>
                    <a:pt x="1458469" y="975526"/>
                  </a:lnTo>
                  <a:lnTo>
                    <a:pt x="1526931" y="973757"/>
                  </a:lnTo>
                  <a:lnTo>
                    <a:pt x="1594432" y="970843"/>
                  </a:lnTo>
                  <a:lnTo>
                    <a:pt x="1660893" y="966812"/>
                  </a:lnTo>
                  <a:lnTo>
                    <a:pt x="1726234" y="961690"/>
                  </a:lnTo>
                  <a:lnTo>
                    <a:pt x="1790375" y="955507"/>
                  </a:lnTo>
                  <a:lnTo>
                    <a:pt x="1853237" y="948289"/>
                  </a:lnTo>
                  <a:lnTo>
                    <a:pt x="1914741" y="940065"/>
                  </a:lnTo>
                  <a:lnTo>
                    <a:pt x="1974807" y="930862"/>
                  </a:lnTo>
                  <a:lnTo>
                    <a:pt x="2033355" y="920708"/>
                  </a:lnTo>
                  <a:lnTo>
                    <a:pt x="2090307" y="909630"/>
                  </a:lnTo>
                  <a:lnTo>
                    <a:pt x="2145581" y="897657"/>
                  </a:lnTo>
                  <a:lnTo>
                    <a:pt x="2199100" y="884816"/>
                  </a:lnTo>
                  <a:lnTo>
                    <a:pt x="2250783" y="871134"/>
                  </a:lnTo>
                  <a:lnTo>
                    <a:pt x="2300551" y="856640"/>
                  </a:lnTo>
                  <a:lnTo>
                    <a:pt x="2348325" y="841362"/>
                  </a:lnTo>
                  <a:lnTo>
                    <a:pt x="2394024" y="825326"/>
                  </a:lnTo>
                  <a:lnTo>
                    <a:pt x="2437570" y="808562"/>
                  </a:lnTo>
                  <a:lnTo>
                    <a:pt x="2478883" y="791095"/>
                  </a:lnTo>
                  <a:lnTo>
                    <a:pt x="2517883" y="772955"/>
                  </a:lnTo>
                  <a:lnTo>
                    <a:pt x="2554490" y="754169"/>
                  </a:lnTo>
                  <a:lnTo>
                    <a:pt x="2588626" y="734765"/>
                  </a:lnTo>
                  <a:lnTo>
                    <a:pt x="2649165" y="694212"/>
                  </a:lnTo>
                  <a:lnTo>
                    <a:pt x="2698864" y="651519"/>
                  </a:lnTo>
                  <a:lnTo>
                    <a:pt x="2737085" y="606908"/>
                  </a:lnTo>
                  <a:lnTo>
                    <a:pt x="2763193" y="560600"/>
                  </a:lnTo>
                  <a:lnTo>
                    <a:pt x="2776552" y="512817"/>
                  </a:lnTo>
                  <a:lnTo>
                    <a:pt x="2778252" y="488442"/>
                  </a:lnTo>
                  <a:lnTo>
                    <a:pt x="2776552" y="464064"/>
                  </a:lnTo>
                  <a:lnTo>
                    <a:pt x="2763193" y="416266"/>
                  </a:lnTo>
                  <a:lnTo>
                    <a:pt x="2737085" y="369928"/>
                  </a:lnTo>
                  <a:lnTo>
                    <a:pt x="2698864" y="325275"/>
                  </a:lnTo>
                  <a:lnTo>
                    <a:pt x="2649165" y="282531"/>
                  </a:lnTo>
                  <a:lnTo>
                    <a:pt x="2588626" y="241920"/>
                  </a:lnTo>
                  <a:lnTo>
                    <a:pt x="2554490" y="222485"/>
                  </a:lnTo>
                  <a:lnTo>
                    <a:pt x="2517883" y="203666"/>
                  </a:lnTo>
                  <a:lnTo>
                    <a:pt x="2478883" y="185493"/>
                  </a:lnTo>
                  <a:lnTo>
                    <a:pt x="2437570" y="167992"/>
                  </a:lnTo>
                  <a:lnTo>
                    <a:pt x="2394024" y="151193"/>
                  </a:lnTo>
                  <a:lnTo>
                    <a:pt x="2348325" y="135123"/>
                  </a:lnTo>
                  <a:lnTo>
                    <a:pt x="2300551" y="119810"/>
                  </a:lnTo>
                  <a:lnTo>
                    <a:pt x="2250783" y="105282"/>
                  </a:lnTo>
                  <a:lnTo>
                    <a:pt x="2199100" y="91567"/>
                  </a:lnTo>
                  <a:lnTo>
                    <a:pt x="2145581" y="78693"/>
                  </a:lnTo>
                  <a:lnTo>
                    <a:pt x="2090307" y="66689"/>
                  </a:lnTo>
                  <a:lnTo>
                    <a:pt x="2033355" y="55581"/>
                  </a:lnTo>
                  <a:lnTo>
                    <a:pt x="1974807" y="45398"/>
                  </a:lnTo>
                  <a:lnTo>
                    <a:pt x="1914741" y="36169"/>
                  </a:lnTo>
                  <a:lnTo>
                    <a:pt x="1853237" y="27920"/>
                  </a:lnTo>
                  <a:lnTo>
                    <a:pt x="1790375" y="20681"/>
                  </a:lnTo>
                  <a:lnTo>
                    <a:pt x="1726234" y="14478"/>
                  </a:lnTo>
                  <a:lnTo>
                    <a:pt x="1660893" y="9340"/>
                  </a:lnTo>
                  <a:lnTo>
                    <a:pt x="1594432" y="5296"/>
                  </a:lnTo>
                  <a:lnTo>
                    <a:pt x="1526931" y="2372"/>
                  </a:lnTo>
                  <a:lnTo>
                    <a:pt x="1458469" y="597"/>
                  </a:lnTo>
                  <a:lnTo>
                    <a:pt x="1389126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177796" y="5303520"/>
              <a:ext cx="239395" cy="798195"/>
            </a:xfrm>
            <a:custGeom>
              <a:avLst/>
              <a:gdLst/>
              <a:ahLst/>
              <a:cxnLst/>
              <a:rect l="l" t="t" r="r" b="b"/>
              <a:pathLst>
                <a:path w="239394" h="798195">
                  <a:moveTo>
                    <a:pt x="239268" y="0"/>
                  </a:moveTo>
                  <a:lnTo>
                    <a:pt x="0" y="797814"/>
                  </a:lnTo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177796" y="7698485"/>
              <a:ext cx="1868805" cy="975360"/>
            </a:xfrm>
            <a:custGeom>
              <a:avLst/>
              <a:gdLst/>
              <a:ahLst/>
              <a:cxnLst/>
              <a:rect l="l" t="t" r="r" b="b"/>
              <a:pathLst>
                <a:path w="1868804" h="975359">
                  <a:moveTo>
                    <a:pt x="934212" y="0"/>
                  </a:moveTo>
                  <a:lnTo>
                    <a:pt x="872795" y="1038"/>
                  </a:lnTo>
                  <a:lnTo>
                    <a:pt x="812439" y="4112"/>
                  </a:lnTo>
                  <a:lnTo>
                    <a:pt x="753265" y="9156"/>
                  </a:lnTo>
                  <a:lnTo>
                    <a:pt x="695397" y="16105"/>
                  </a:lnTo>
                  <a:lnTo>
                    <a:pt x="638958" y="24896"/>
                  </a:lnTo>
                  <a:lnTo>
                    <a:pt x="584071" y="35462"/>
                  </a:lnTo>
                  <a:lnTo>
                    <a:pt x="530860" y="47740"/>
                  </a:lnTo>
                  <a:lnTo>
                    <a:pt x="479448" y="61664"/>
                  </a:lnTo>
                  <a:lnTo>
                    <a:pt x="429957" y="77171"/>
                  </a:lnTo>
                  <a:lnTo>
                    <a:pt x="382511" y="94195"/>
                  </a:lnTo>
                  <a:lnTo>
                    <a:pt x="337234" y="112672"/>
                  </a:lnTo>
                  <a:lnTo>
                    <a:pt x="294248" y="132537"/>
                  </a:lnTo>
                  <a:lnTo>
                    <a:pt x="253677" y="153725"/>
                  </a:lnTo>
                  <a:lnTo>
                    <a:pt x="215643" y="176173"/>
                  </a:lnTo>
                  <a:lnTo>
                    <a:pt x="180270" y="199814"/>
                  </a:lnTo>
                  <a:lnTo>
                    <a:pt x="147682" y="224585"/>
                  </a:lnTo>
                  <a:lnTo>
                    <a:pt x="118001" y="250421"/>
                  </a:lnTo>
                  <a:lnTo>
                    <a:pt x="67854" y="305028"/>
                  </a:lnTo>
                  <a:lnTo>
                    <a:pt x="30814" y="363118"/>
                  </a:lnTo>
                  <a:lnTo>
                    <a:pt x="7867" y="424175"/>
                  </a:lnTo>
                  <a:lnTo>
                    <a:pt x="0" y="487680"/>
                  </a:lnTo>
                  <a:lnTo>
                    <a:pt x="1987" y="519790"/>
                  </a:lnTo>
                  <a:lnTo>
                    <a:pt x="17517" y="582263"/>
                  </a:lnTo>
                  <a:lnTo>
                    <a:pt x="47634" y="641981"/>
                  </a:lnTo>
                  <a:lnTo>
                    <a:pt x="91350" y="698434"/>
                  </a:lnTo>
                  <a:lnTo>
                    <a:pt x="147682" y="751111"/>
                  </a:lnTo>
                  <a:lnTo>
                    <a:pt x="180270" y="775874"/>
                  </a:lnTo>
                  <a:lnTo>
                    <a:pt x="215643" y="799502"/>
                  </a:lnTo>
                  <a:lnTo>
                    <a:pt x="253677" y="821930"/>
                  </a:lnTo>
                  <a:lnTo>
                    <a:pt x="294248" y="843096"/>
                  </a:lnTo>
                  <a:lnTo>
                    <a:pt x="337234" y="862935"/>
                  </a:lnTo>
                  <a:lnTo>
                    <a:pt x="382511" y="881384"/>
                  </a:lnTo>
                  <a:lnTo>
                    <a:pt x="429957" y="898378"/>
                  </a:lnTo>
                  <a:lnTo>
                    <a:pt x="479448" y="913854"/>
                  </a:lnTo>
                  <a:lnTo>
                    <a:pt x="530860" y="927748"/>
                  </a:lnTo>
                  <a:lnTo>
                    <a:pt x="584071" y="939997"/>
                  </a:lnTo>
                  <a:lnTo>
                    <a:pt x="638958" y="950537"/>
                  </a:lnTo>
                  <a:lnTo>
                    <a:pt x="695397" y="959303"/>
                  </a:lnTo>
                  <a:lnTo>
                    <a:pt x="753265" y="966232"/>
                  </a:lnTo>
                  <a:lnTo>
                    <a:pt x="812439" y="971260"/>
                  </a:lnTo>
                  <a:lnTo>
                    <a:pt x="872795" y="974324"/>
                  </a:lnTo>
                  <a:lnTo>
                    <a:pt x="934212" y="975360"/>
                  </a:lnTo>
                  <a:lnTo>
                    <a:pt x="995628" y="974324"/>
                  </a:lnTo>
                  <a:lnTo>
                    <a:pt x="1055984" y="971260"/>
                  </a:lnTo>
                  <a:lnTo>
                    <a:pt x="1115158" y="966232"/>
                  </a:lnTo>
                  <a:lnTo>
                    <a:pt x="1173026" y="959303"/>
                  </a:lnTo>
                  <a:lnTo>
                    <a:pt x="1229465" y="950537"/>
                  </a:lnTo>
                  <a:lnTo>
                    <a:pt x="1284352" y="939997"/>
                  </a:lnTo>
                  <a:lnTo>
                    <a:pt x="1337563" y="927748"/>
                  </a:lnTo>
                  <a:lnTo>
                    <a:pt x="1388975" y="913854"/>
                  </a:lnTo>
                  <a:lnTo>
                    <a:pt x="1438466" y="898378"/>
                  </a:lnTo>
                  <a:lnTo>
                    <a:pt x="1485912" y="881384"/>
                  </a:lnTo>
                  <a:lnTo>
                    <a:pt x="1531189" y="862935"/>
                  </a:lnTo>
                  <a:lnTo>
                    <a:pt x="1574175" y="843096"/>
                  </a:lnTo>
                  <a:lnTo>
                    <a:pt x="1614746" y="821930"/>
                  </a:lnTo>
                  <a:lnTo>
                    <a:pt x="1652780" y="799502"/>
                  </a:lnTo>
                  <a:lnTo>
                    <a:pt x="1688153" y="775874"/>
                  </a:lnTo>
                  <a:lnTo>
                    <a:pt x="1720741" y="751111"/>
                  </a:lnTo>
                  <a:lnTo>
                    <a:pt x="1750422" y="725276"/>
                  </a:lnTo>
                  <a:lnTo>
                    <a:pt x="1800569" y="670648"/>
                  </a:lnTo>
                  <a:lnTo>
                    <a:pt x="1837609" y="612499"/>
                  </a:lnTo>
                  <a:lnTo>
                    <a:pt x="1860556" y="551339"/>
                  </a:lnTo>
                  <a:lnTo>
                    <a:pt x="1868424" y="487680"/>
                  </a:lnTo>
                  <a:lnTo>
                    <a:pt x="1866436" y="455653"/>
                  </a:lnTo>
                  <a:lnTo>
                    <a:pt x="1850906" y="393308"/>
                  </a:lnTo>
                  <a:lnTo>
                    <a:pt x="1820789" y="333670"/>
                  </a:lnTo>
                  <a:lnTo>
                    <a:pt x="1777073" y="277257"/>
                  </a:lnTo>
                  <a:lnTo>
                    <a:pt x="1720741" y="224585"/>
                  </a:lnTo>
                  <a:lnTo>
                    <a:pt x="1688153" y="199814"/>
                  </a:lnTo>
                  <a:lnTo>
                    <a:pt x="1652780" y="176173"/>
                  </a:lnTo>
                  <a:lnTo>
                    <a:pt x="1614746" y="153725"/>
                  </a:lnTo>
                  <a:lnTo>
                    <a:pt x="1574175" y="132537"/>
                  </a:lnTo>
                  <a:lnTo>
                    <a:pt x="1531189" y="112672"/>
                  </a:lnTo>
                  <a:lnTo>
                    <a:pt x="1485912" y="94195"/>
                  </a:lnTo>
                  <a:lnTo>
                    <a:pt x="1438466" y="77171"/>
                  </a:lnTo>
                  <a:lnTo>
                    <a:pt x="1388975" y="61664"/>
                  </a:lnTo>
                  <a:lnTo>
                    <a:pt x="1337563" y="47740"/>
                  </a:lnTo>
                  <a:lnTo>
                    <a:pt x="1284352" y="35462"/>
                  </a:lnTo>
                  <a:lnTo>
                    <a:pt x="1229465" y="24896"/>
                  </a:lnTo>
                  <a:lnTo>
                    <a:pt x="1173026" y="16105"/>
                  </a:lnTo>
                  <a:lnTo>
                    <a:pt x="1115158" y="9156"/>
                  </a:lnTo>
                  <a:lnTo>
                    <a:pt x="1055984" y="4112"/>
                  </a:lnTo>
                  <a:lnTo>
                    <a:pt x="995628" y="1038"/>
                  </a:lnTo>
                  <a:lnTo>
                    <a:pt x="934212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428744" y="7786878"/>
              <a:ext cx="1245870" cy="976630"/>
            </a:xfrm>
            <a:custGeom>
              <a:avLst/>
              <a:gdLst/>
              <a:ahLst/>
              <a:cxnLst/>
              <a:rect l="l" t="t" r="r" b="b"/>
              <a:pathLst>
                <a:path w="1245870" h="976629">
                  <a:moveTo>
                    <a:pt x="623315" y="0"/>
                  </a:moveTo>
                  <a:lnTo>
                    <a:pt x="569508" y="1792"/>
                  </a:lnTo>
                  <a:lnTo>
                    <a:pt x="516977" y="7074"/>
                  </a:lnTo>
                  <a:lnTo>
                    <a:pt x="465908" y="15696"/>
                  </a:lnTo>
                  <a:lnTo>
                    <a:pt x="416489" y="27514"/>
                  </a:lnTo>
                  <a:lnTo>
                    <a:pt x="368905" y="42379"/>
                  </a:lnTo>
                  <a:lnTo>
                    <a:pt x="323343" y="60147"/>
                  </a:lnTo>
                  <a:lnTo>
                    <a:pt x="279991" y="80669"/>
                  </a:lnTo>
                  <a:lnTo>
                    <a:pt x="239034" y="103799"/>
                  </a:lnTo>
                  <a:lnTo>
                    <a:pt x="200659" y="129392"/>
                  </a:lnTo>
                  <a:lnTo>
                    <a:pt x="165053" y="157299"/>
                  </a:lnTo>
                  <a:lnTo>
                    <a:pt x="132403" y="187374"/>
                  </a:lnTo>
                  <a:lnTo>
                    <a:pt x="102895" y="219471"/>
                  </a:lnTo>
                  <a:lnTo>
                    <a:pt x="76716" y="253444"/>
                  </a:lnTo>
                  <a:lnTo>
                    <a:pt x="54053" y="289144"/>
                  </a:lnTo>
                  <a:lnTo>
                    <a:pt x="35091" y="326427"/>
                  </a:lnTo>
                  <a:lnTo>
                    <a:pt x="20019" y="365144"/>
                  </a:lnTo>
                  <a:lnTo>
                    <a:pt x="9021" y="405151"/>
                  </a:lnTo>
                  <a:lnTo>
                    <a:pt x="2286" y="446298"/>
                  </a:lnTo>
                  <a:lnTo>
                    <a:pt x="0" y="488441"/>
                  </a:lnTo>
                  <a:lnTo>
                    <a:pt x="2286" y="530470"/>
                  </a:lnTo>
                  <a:lnTo>
                    <a:pt x="9021" y="571516"/>
                  </a:lnTo>
                  <a:lnTo>
                    <a:pt x="20019" y="611432"/>
                  </a:lnTo>
                  <a:lnTo>
                    <a:pt x="35091" y="650069"/>
                  </a:lnTo>
                  <a:lnTo>
                    <a:pt x="54053" y="687281"/>
                  </a:lnTo>
                  <a:lnTo>
                    <a:pt x="76716" y="722921"/>
                  </a:lnTo>
                  <a:lnTo>
                    <a:pt x="102895" y="756841"/>
                  </a:lnTo>
                  <a:lnTo>
                    <a:pt x="132403" y="788895"/>
                  </a:lnTo>
                  <a:lnTo>
                    <a:pt x="165053" y="818933"/>
                  </a:lnTo>
                  <a:lnTo>
                    <a:pt x="200659" y="846810"/>
                  </a:lnTo>
                  <a:lnTo>
                    <a:pt x="239034" y="872378"/>
                  </a:lnTo>
                  <a:lnTo>
                    <a:pt x="279991" y="895490"/>
                  </a:lnTo>
                  <a:lnTo>
                    <a:pt x="323343" y="915998"/>
                  </a:lnTo>
                  <a:lnTo>
                    <a:pt x="368905" y="933755"/>
                  </a:lnTo>
                  <a:lnTo>
                    <a:pt x="416489" y="948614"/>
                  </a:lnTo>
                  <a:lnTo>
                    <a:pt x="465908" y="960428"/>
                  </a:lnTo>
                  <a:lnTo>
                    <a:pt x="516977" y="969048"/>
                  </a:lnTo>
                  <a:lnTo>
                    <a:pt x="569508" y="974329"/>
                  </a:lnTo>
                  <a:lnTo>
                    <a:pt x="623315" y="976121"/>
                  </a:lnTo>
                  <a:lnTo>
                    <a:pt x="677008" y="974329"/>
                  </a:lnTo>
                  <a:lnTo>
                    <a:pt x="729438" y="969048"/>
                  </a:lnTo>
                  <a:lnTo>
                    <a:pt x="780416" y="960428"/>
                  </a:lnTo>
                  <a:lnTo>
                    <a:pt x="829755" y="948614"/>
                  </a:lnTo>
                  <a:lnTo>
                    <a:pt x="877269" y="933755"/>
                  </a:lnTo>
                  <a:lnTo>
                    <a:pt x="922770" y="915998"/>
                  </a:lnTo>
                  <a:lnTo>
                    <a:pt x="966070" y="895490"/>
                  </a:lnTo>
                  <a:lnTo>
                    <a:pt x="1006983" y="872378"/>
                  </a:lnTo>
                  <a:lnTo>
                    <a:pt x="1045321" y="846810"/>
                  </a:lnTo>
                  <a:lnTo>
                    <a:pt x="1080897" y="818933"/>
                  </a:lnTo>
                  <a:lnTo>
                    <a:pt x="1113523" y="788895"/>
                  </a:lnTo>
                  <a:lnTo>
                    <a:pt x="1143012" y="756841"/>
                  </a:lnTo>
                  <a:lnTo>
                    <a:pt x="1169177" y="722921"/>
                  </a:lnTo>
                  <a:lnTo>
                    <a:pt x="1191830" y="687281"/>
                  </a:lnTo>
                  <a:lnTo>
                    <a:pt x="1210785" y="650069"/>
                  </a:lnTo>
                  <a:lnTo>
                    <a:pt x="1225853" y="611432"/>
                  </a:lnTo>
                  <a:lnTo>
                    <a:pt x="1236849" y="571516"/>
                  </a:lnTo>
                  <a:lnTo>
                    <a:pt x="1243583" y="530470"/>
                  </a:lnTo>
                  <a:lnTo>
                    <a:pt x="1245870" y="488441"/>
                  </a:lnTo>
                  <a:lnTo>
                    <a:pt x="1243583" y="446298"/>
                  </a:lnTo>
                  <a:lnTo>
                    <a:pt x="1236849" y="405151"/>
                  </a:lnTo>
                  <a:lnTo>
                    <a:pt x="1225853" y="365144"/>
                  </a:lnTo>
                  <a:lnTo>
                    <a:pt x="1210785" y="326427"/>
                  </a:lnTo>
                  <a:lnTo>
                    <a:pt x="1191830" y="289144"/>
                  </a:lnTo>
                  <a:lnTo>
                    <a:pt x="1169177" y="253444"/>
                  </a:lnTo>
                  <a:lnTo>
                    <a:pt x="1143012" y="219471"/>
                  </a:lnTo>
                  <a:lnTo>
                    <a:pt x="1113523" y="187374"/>
                  </a:lnTo>
                  <a:lnTo>
                    <a:pt x="1080897" y="157299"/>
                  </a:lnTo>
                  <a:lnTo>
                    <a:pt x="1045321" y="129392"/>
                  </a:lnTo>
                  <a:lnTo>
                    <a:pt x="1006983" y="103799"/>
                  </a:lnTo>
                  <a:lnTo>
                    <a:pt x="966070" y="80669"/>
                  </a:lnTo>
                  <a:lnTo>
                    <a:pt x="922770" y="60147"/>
                  </a:lnTo>
                  <a:lnTo>
                    <a:pt x="877269" y="42379"/>
                  </a:lnTo>
                  <a:lnTo>
                    <a:pt x="829755" y="27514"/>
                  </a:lnTo>
                  <a:lnTo>
                    <a:pt x="780416" y="15696"/>
                  </a:lnTo>
                  <a:lnTo>
                    <a:pt x="729438" y="7074"/>
                  </a:lnTo>
                  <a:lnTo>
                    <a:pt x="677008" y="1792"/>
                  </a:lnTo>
                  <a:lnTo>
                    <a:pt x="623315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998214" y="5125973"/>
              <a:ext cx="814705" cy="2661285"/>
            </a:xfrm>
            <a:custGeom>
              <a:avLst/>
              <a:gdLst/>
              <a:ahLst/>
              <a:cxnLst/>
              <a:rect l="l" t="t" r="r" b="b"/>
              <a:pathLst>
                <a:path w="814704" h="2661284">
                  <a:moveTo>
                    <a:pt x="0" y="0"/>
                  </a:moveTo>
                  <a:lnTo>
                    <a:pt x="814578" y="2660904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758183" y="5303520"/>
              <a:ext cx="192405" cy="2661285"/>
            </a:xfrm>
            <a:custGeom>
              <a:avLst/>
              <a:gdLst/>
              <a:ahLst/>
              <a:cxnLst/>
              <a:rect l="l" t="t" r="r" b="b"/>
              <a:pathLst>
                <a:path w="192404" h="2661284">
                  <a:moveTo>
                    <a:pt x="0" y="0"/>
                  </a:moveTo>
                  <a:lnTo>
                    <a:pt x="192024" y="2660904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9" name="object 2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203</a:t>
            </a:fld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50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Writing: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 the last </a:t>
            </a:r>
            <a:r>
              <a:rPr dirty="0" sz="1200" spc="-5">
                <a:latin typeface="Times New Roman"/>
                <a:cs typeface="Times New Roman"/>
              </a:rPr>
              <a:t>lesson we </a:t>
            </a:r>
            <a:r>
              <a:rPr dirty="0" sz="1200">
                <a:latin typeface="Times New Roman"/>
                <a:cs typeface="Times New Roman"/>
              </a:rPr>
              <a:t>started to look at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writing.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considered the different parts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 paragraph, and </a:t>
            </a:r>
            <a:r>
              <a:rPr dirty="0" sz="1200" spc="-5">
                <a:latin typeface="Times New Roman"/>
                <a:cs typeface="Times New Roman"/>
              </a:rPr>
              <a:t>we examined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paragraph My Neighbours.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noted </a:t>
            </a:r>
            <a:r>
              <a:rPr dirty="0" sz="1200">
                <a:latin typeface="Times New Roman"/>
                <a:cs typeface="Times New Roman"/>
              </a:rPr>
              <a:t>that a </a:t>
            </a:r>
            <a:r>
              <a:rPr dirty="0" sz="1200" spc="-5">
                <a:latin typeface="Times New Roman"/>
                <a:cs typeface="Times New Roman"/>
              </a:rPr>
              <a:t>good </a:t>
            </a:r>
            <a:r>
              <a:rPr dirty="0" sz="1200">
                <a:latin typeface="Times New Roman"/>
                <a:cs typeface="Times New Roman"/>
              </a:rPr>
              <a:t> paragraph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three </a:t>
            </a:r>
            <a:r>
              <a:rPr dirty="0" sz="1200" spc="-5">
                <a:latin typeface="Times New Roman"/>
                <a:cs typeface="Times New Roman"/>
              </a:rPr>
              <a:t>major </a:t>
            </a:r>
            <a:r>
              <a:rPr dirty="0" sz="1200">
                <a:latin typeface="Times New Roman"/>
                <a:cs typeface="Times New Roman"/>
              </a:rPr>
              <a:t>structural parts: a topic </a:t>
            </a:r>
            <a:r>
              <a:rPr dirty="0" sz="1200" spc="-5">
                <a:latin typeface="Times New Roman"/>
                <a:cs typeface="Times New Roman"/>
              </a:rPr>
              <a:t>sentence, supporting sentences and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addition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 three structural </a:t>
            </a:r>
            <a:r>
              <a:rPr dirty="0" sz="1200">
                <a:latin typeface="Times New Roman"/>
                <a:cs typeface="Times New Roman"/>
              </a:rPr>
              <a:t>parts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paragraph,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good paragraph also has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</a:t>
            </a:r>
            <a:r>
              <a:rPr dirty="0" sz="1200">
                <a:latin typeface="Times New Roman"/>
                <a:cs typeface="Times New Roman"/>
              </a:rPr>
              <a:t>of unity and coherence.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First we will </a:t>
            </a:r>
            <a:r>
              <a:rPr dirty="0" sz="1200">
                <a:latin typeface="Times New Roman"/>
                <a:cs typeface="Times New Roman"/>
              </a:rPr>
              <a:t>look at the </a:t>
            </a:r>
            <a:r>
              <a:rPr dirty="0" sz="1200" spc="-5">
                <a:latin typeface="Times New Roman"/>
                <a:cs typeface="Times New Roman"/>
              </a:rPr>
              <a:t>first element UNITY. By unity we mean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only one 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stated in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topic sentence and </a:t>
            </a:r>
            <a:r>
              <a:rPr dirty="0" sz="1200" spc="-5">
                <a:latin typeface="Times New Roman"/>
                <a:cs typeface="Times New Roman"/>
              </a:rPr>
              <a:t>the coherence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follows </a:t>
            </a:r>
            <a:r>
              <a:rPr dirty="0" sz="1200">
                <a:latin typeface="Times New Roman"/>
                <a:cs typeface="Times New Roman"/>
              </a:rPr>
              <a:t>each and every </a:t>
            </a:r>
            <a:r>
              <a:rPr dirty="0" sz="1200" spc="-5">
                <a:latin typeface="Times New Roman"/>
                <a:cs typeface="Times New Roman"/>
              </a:rPr>
              <a:t>supporting </a:t>
            </a:r>
            <a:r>
              <a:rPr dirty="0" sz="1200">
                <a:latin typeface="Times New Roman"/>
                <a:cs typeface="Times New Roman"/>
              </a:rPr>
              <a:t> sentence develops that idea. If you are writing on </a:t>
            </a:r>
            <a:r>
              <a:rPr dirty="0" sz="1200" spc="-5">
                <a:latin typeface="Times New Roman"/>
                <a:cs typeface="Times New Roman"/>
              </a:rPr>
              <a:t>Dreams </a:t>
            </a:r>
            <a:r>
              <a:rPr dirty="0" sz="1200">
                <a:latin typeface="Times New Roman"/>
                <a:cs typeface="Times New Roman"/>
              </a:rPr>
              <a:t>and you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in your topic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 that you are going to </a:t>
            </a:r>
            <a:r>
              <a:rPr dirty="0" sz="1200" spc="-5">
                <a:latin typeface="Times New Roman"/>
                <a:cs typeface="Times New Roman"/>
              </a:rPr>
              <a:t>discuss two important </a:t>
            </a:r>
            <a:r>
              <a:rPr dirty="0" sz="1200">
                <a:latin typeface="Times New Roman"/>
                <a:cs typeface="Times New Roman"/>
              </a:rPr>
              <a:t>characteristics of </a:t>
            </a:r>
            <a:r>
              <a:rPr dirty="0" sz="1200" spc="-5">
                <a:latin typeface="Times New Roman"/>
                <a:cs typeface="Times New Roman"/>
              </a:rPr>
              <a:t>dreams, </a:t>
            </a:r>
            <a:r>
              <a:rPr dirty="0" sz="1200">
                <a:latin typeface="Times New Roman"/>
                <a:cs typeface="Times New Roman"/>
              </a:rPr>
              <a:t>then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 only </a:t>
            </a:r>
            <a:r>
              <a:rPr dirty="0" sz="1200" spc="-5">
                <a:latin typeface="Times New Roman"/>
                <a:cs typeface="Times New Roman"/>
              </a:rPr>
              <a:t>these two </a:t>
            </a:r>
            <a:r>
              <a:rPr dirty="0" sz="1200">
                <a:latin typeface="Times New Roman"/>
                <a:cs typeface="Times New Roman"/>
              </a:rPr>
              <a:t>characteristics </a:t>
            </a:r>
            <a:r>
              <a:rPr dirty="0" sz="1200" spc="-5">
                <a:latin typeface="Times New Roman"/>
                <a:cs typeface="Times New Roman"/>
              </a:rPr>
              <a:t>only. Do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any thing </a:t>
            </a:r>
            <a:r>
              <a:rPr dirty="0" sz="1200" spc="-5">
                <a:latin typeface="Times New Roman"/>
                <a:cs typeface="Times New Roman"/>
              </a:rPr>
              <a:t>else such as </a:t>
            </a:r>
            <a:r>
              <a:rPr dirty="0" sz="1200">
                <a:latin typeface="Times New Roman"/>
                <a:cs typeface="Times New Roman"/>
              </a:rPr>
              <a:t>what you </a:t>
            </a:r>
            <a:r>
              <a:rPr dirty="0" sz="1200" spc="-5">
                <a:latin typeface="Times New Roman"/>
                <a:cs typeface="Times New Roman"/>
              </a:rPr>
              <a:t>dreamt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if you were writing on Television, and in your topic sentence you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that you are going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the effects of </a:t>
            </a:r>
            <a:r>
              <a:rPr dirty="0" sz="1200" spc="-5">
                <a:latin typeface="Times New Roman"/>
                <a:cs typeface="Times New Roman"/>
              </a:rPr>
              <a:t>TV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society, then discuss only that. Do not discuss anything else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as </a:t>
            </a:r>
            <a:r>
              <a:rPr dirty="0" sz="1200">
                <a:latin typeface="Times New Roman"/>
                <a:cs typeface="Times New Roman"/>
              </a:rPr>
              <a:t>the invention of television. The </a:t>
            </a:r>
            <a:r>
              <a:rPr dirty="0" sz="1200" spc="-5">
                <a:latin typeface="Times New Roman"/>
                <a:cs typeface="Times New Roman"/>
              </a:rPr>
              <a:t>second element </a:t>
            </a:r>
            <a:r>
              <a:rPr dirty="0" sz="1200">
                <a:latin typeface="Times New Roman"/>
                <a:cs typeface="Times New Roman"/>
              </a:rPr>
              <a:t>of importance in a paragraph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COHERENCE. By </a:t>
            </a:r>
            <a:r>
              <a:rPr dirty="0" sz="1200">
                <a:latin typeface="Times New Roman"/>
                <a:cs typeface="Times New Roman"/>
              </a:rPr>
              <a:t>coherence </a:t>
            </a:r>
            <a:r>
              <a:rPr dirty="0" sz="1200" spc="-5">
                <a:latin typeface="Times New Roman"/>
                <a:cs typeface="Times New Roman"/>
              </a:rPr>
              <a:t>we mean </a:t>
            </a:r>
            <a:r>
              <a:rPr dirty="0" sz="1200">
                <a:latin typeface="Times New Roman"/>
                <a:cs typeface="Times New Roman"/>
              </a:rPr>
              <a:t>that your paragraph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easy to read and understand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 (i) the </a:t>
            </a:r>
            <a:r>
              <a:rPr dirty="0" sz="1200" spc="-5">
                <a:latin typeface="Times New Roman"/>
                <a:cs typeface="Times New Roman"/>
              </a:rPr>
              <a:t>supporting</a:t>
            </a:r>
            <a:r>
              <a:rPr dirty="0" sz="1200">
                <a:latin typeface="Times New Roman"/>
                <a:cs typeface="Times New Roman"/>
              </a:rPr>
              <a:t> sentences are in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 of logical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(ii) your ideas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connected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 of appropriate </a:t>
            </a:r>
            <a:r>
              <a:rPr dirty="0" sz="1200">
                <a:latin typeface="Times New Roman"/>
                <a:cs typeface="Times New Roman"/>
              </a:rPr>
              <a:t>transitional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shall look at the topic </a:t>
            </a:r>
            <a:r>
              <a:rPr dirty="0" sz="1200">
                <a:latin typeface="Times New Roman"/>
                <a:cs typeface="Times New Roman"/>
              </a:rPr>
              <a:t> 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882515">
              <a:lnSpc>
                <a:spcPts val="138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Characteristics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Position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 marL="12700" marR="44329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Parts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b="1">
                <a:latin typeface="Times New Roman"/>
                <a:cs typeface="Times New Roman"/>
              </a:rPr>
              <a:t>Pract: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10" b="1"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80"/>
              </a:lnSpc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marL="236220" indent="-224154">
              <a:lnSpc>
                <a:spcPts val="1380"/>
              </a:lnSpc>
              <a:buAutoNum type="romanLcParenBoth"/>
              <a:tabLst>
                <a:tab pos="236854" algn="l"/>
              </a:tabLst>
            </a:pPr>
            <a:r>
              <a:rPr dirty="0" sz="1200" spc="-5">
                <a:latin typeface="Times New Roman"/>
                <a:cs typeface="Times New Roman"/>
              </a:rPr>
              <a:t>Supporting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 marL="278765" indent="-266700">
              <a:lnSpc>
                <a:spcPts val="1380"/>
              </a:lnSpc>
              <a:buAutoNum type="romanLcParenBoth"/>
              <a:tabLst>
                <a:tab pos="2794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  <a:p>
            <a:pPr marL="269875" indent="-257810">
              <a:lnSpc>
                <a:spcPts val="1380"/>
              </a:lnSpc>
              <a:buAutoNum type="romanLcParenBoth"/>
              <a:tabLst>
                <a:tab pos="270510" algn="l"/>
              </a:tabLst>
            </a:pPr>
            <a:r>
              <a:rPr dirty="0" sz="1200" spc="-5">
                <a:latin typeface="Times New Roman"/>
                <a:cs typeface="Times New Roman"/>
              </a:rPr>
              <a:t>Unity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410"/>
              </a:lnSpc>
              <a:buAutoNum type="romanL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Coherence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Topic sentence. </a:t>
            </a:r>
            <a:r>
              <a:rPr dirty="0" sz="1200" spc="-5">
                <a:latin typeface="Times New Roman"/>
                <a:cs typeface="Times New Roman"/>
              </a:rPr>
              <a:t>Remember </a:t>
            </a:r>
            <a:r>
              <a:rPr dirty="0" sz="1200">
                <a:latin typeface="Times New Roman"/>
                <a:cs typeface="Times New Roman"/>
              </a:rPr>
              <a:t>the earlier </a:t>
            </a:r>
            <a:r>
              <a:rPr dirty="0" sz="1200" spc="-5">
                <a:latin typeface="Times New Roman"/>
                <a:cs typeface="Times New Roman"/>
              </a:rPr>
              <a:t>reading lessons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discussed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 sentence in detail.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have looked at the topic sentence from the readers’ point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view. </a:t>
            </a: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work at it from the writer’s point of view. The topic </a:t>
            </a:r>
            <a:r>
              <a:rPr dirty="0" sz="1200" spc="-5">
                <a:latin typeface="Times New Roman"/>
                <a:cs typeface="Times New Roman"/>
              </a:rPr>
              <a:t>sentence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sentence in a paragraph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indicates </a:t>
            </a:r>
            <a:r>
              <a:rPr dirty="0" sz="1200" spc="-5">
                <a:latin typeface="Times New Roman"/>
                <a:cs typeface="Times New Roman"/>
              </a:rPr>
              <a:t>what the paragraph is going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helpful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guide, both for reader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writer.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topic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203</a:t>
            </a:fld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2415">
              <a:lnSpc>
                <a:spcPts val="1380"/>
              </a:lnSpc>
              <a:spcBef>
                <a:spcPts val="5"/>
              </a:spcBef>
              <a:buAutoNum type="alphaLcParenBoth"/>
              <a:tabLst>
                <a:tab pos="22796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complement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(which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words</a:t>
            </a:r>
            <a:r>
              <a:rPr dirty="0" sz="1200">
                <a:latin typeface="Times New Roman"/>
                <a:cs typeface="Times New Roman"/>
              </a:rPr>
              <a:t> used to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>
                <a:latin typeface="Times New Roman"/>
                <a:cs typeface="Times New Roman"/>
              </a:rPr>
              <a:t> of a verb).</a:t>
            </a:r>
            <a:endParaRPr sz="1200">
              <a:latin typeface="Times New Roman"/>
              <a:cs typeface="Times New Roman"/>
            </a:endParaRPr>
          </a:p>
          <a:p>
            <a:pPr marL="12700" marR="270510" indent="38100">
              <a:lnSpc>
                <a:spcPts val="1380"/>
              </a:lnSpc>
              <a:buAutoNum type="alphaLcParenBoth"/>
              <a:tabLst>
                <a:tab pos="28321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controlling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 and then it </a:t>
            </a:r>
            <a:r>
              <a:rPr dirty="0" sz="1200" spc="-5">
                <a:latin typeface="Times New Roman"/>
                <a:cs typeface="Times New Roman"/>
              </a:rPr>
              <a:t>limits </a:t>
            </a:r>
            <a:r>
              <a:rPr dirty="0" sz="1200">
                <a:latin typeface="Times New Roman"/>
                <a:cs typeface="Times New Roman"/>
              </a:rPr>
              <a:t>the topic to a specific area that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discussed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paragraph.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Driving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motor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way</a:t>
            </a:r>
            <a:r>
              <a:rPr dirty="0" sz="1200" spc="-5" i="1">
                <a:latin typeface="Times New Roman"/>
                <a:cs typeface="Times New Roman"/>
              </a:rPr>
              <a:t> requires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skill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agility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-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Platinum,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precious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metal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used 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two</a:t>
            </a:r>
            <a:r>
              <a:rPr dirty="0" sz="1200" spc="-10" i="1">
                <a:latin typeface="Times New Roman"/>
                <a:cs typeface="Times New Roman"/>
              </a:rPr>
              <a:t> purposes.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statements;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topic sentence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appear anywhere in the </a:t>
            </a:r>
            <a:r>
              <a:rPr dirty="0" sz="1200" spc="-5">
                <a:latin typeface="Times New Roman"/>
                <a:cs typeface="Times New Roman"/>
              </a:rPr>
              <a:t>paragraph.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the first or the last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of the paragraph. The topic sentence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also be the first and the </a:t>
            </a:r>
            <a:r>
              <a:rPr dirty="0" sz="1200" spc="-5">
                <a:latin typeface="Times New Roman"/>
                <a:cs typeface="Times New Roman"/>
              </a:rPr>
              <a:t>last sentence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 Let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three paragraphs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I) My study table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well organized. I keep </a:t>
            </a:r>
            <a:r>
              <a:rPr dirty="0" sz="1200" spc="-5">
                <a:latin typeface="Times New Roman"/>
                <a:cs typeface="Times New Roman"/>
              </a:rPr>
              <a:t>ball </a:t>
            </a:r>
            <a:r>
              <a:rPr dirty="0" sz="1200">
                <a:latin typeface="Times New Roman"/>
                <a:cs typeface="Times New Roman"/>
              </a:rPr>
              <a:t>point pens and coloured pencils in the top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 drawer.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paper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middle right </a:t>
            </a:r>
            <a:r>
              <a:rPr dirty="0" sz="1200">
                <a:latin typeface="Times New Roman"/>
                <a:cs typeface="Times New Roman"/>
              </a:rPr>
              <a:t>drawer.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bottom </a:t>
            </a:r>
            <a:r>
              <a:rPr dirty="0" sz="1200" spc="-5">
                <a:latin typeface="Times New Roman"/>
                <a:cs typeface="Times New Roman"/>
              </a:rPr>
              <a:t>right </a:t>
            </a:r>
            <a:r>
              <a:rPr dirty="0" sz="1200">
                <a:latin typeface="Times New Roman"/>
                <a:cs typeface="Times New Roman"/>
              </a:rPr>
              <a:t>side </a:t>
            </a:r>
            <a:r>
              <a:rPr dirty="0" sz="1200" spc="-5">
                <a:latin typeface="Times New Roman"/>
                <a:cs typeface="Times New Roman"/>
              </a:rPr>
              <a:t>has all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need, from paper clips to </a:t>
            </a:r>
            <a:r>
              <a:rPr dirty="0" sz="1200" spc="-5">
                <a:latin typeface="Times New Roman"/>
                <a:cs typeface="Times New Roman"/>
              </a:rPr>
              <a:t>staples </a:t>
            </a:r>
            <a:r>
              <a:rPr dirty="0" sz="1200">
                <a:latin typeface="Times New Roman"/>
                <a:cs typeface="Times New Roman"/>
              </a:rPr>
              <a:t>and tapes. The top of the </a:t>
            </a:r>
            <a:r>
              <a:rPr dirty="0" sz="1200" spc="-5">
                <a:latin typeface="Times New Roman"/>
                <a:cs typeface="Times New Roman"/>
              </a:rPr>
              <a:t>desk is </a:t>
            </a:r>
            <a:r>
              <a:rPr dirty="0" sz="1200">
                <a:latin typeface="Times New Roman"/>
                <a:cs typeface="Times New Roman"/>
              </a:rPr>
              <a:t> clear, except for a study </a:t>
            </a:r>
            <a:r>
              <a:rPr dirty="0" sz="1200" spc="-5">
                <a:latin typeface="Times New Roman"/>
                <a:cs typeface="Times New Roman"/>
              </a:rPr>
              <a:t>lamp </a:t>
            </a:r>
            <a:r>
              <a:rPr dirty="0" sz="1200">
                <a:latin typeface="Times New Roman"/>
                <a:cs typeface="Times New Roman"/>
              </a:rPr>
              <a:t>and a </a:t>
            </a:r>
            <a:r>
              <a:rPr dirty="0" sz="1200" spc="-5">
                <a:latin typeface="Times New Roman"/>
                <a:cs typeface="Times New Roman"/>
              </a:rPr>
              <a:t>monthly planner. </a:t>
            </a:r>
            <a:r>
              <a:rPr dirty="0" sz="1200">
                <a:latin typeface="Times New Roman"/>
                <a:cs typeface="Times New Roman"/>
              </a:rPr>
              <a:t>The left side of the desk </a:t>
            </a:r>
            <a:r>
              <a:rPr dirty="0" sz="1200" spc="-5">
                <a:latin typeface="Times New Roman"/>
                <a:cs typeface="Times New Roman"/>
              </a:rPr>
              <a:t>has two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drawers. The </a:t>
            </a:r>
            <a:r>
              <a:rPr dirty="0" sz="1200">
                <a:latin typeface="Times New Roman"/>
                <a:cs typeface="Times New Roman"/>
              </a:rPr>
              <a:t>bottom one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file drawer, where I keep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lecture notes from each </a:t>
            </a:r>
            <a:r>
              <a:rPr dirty="0" sz="1200" spc="-5">
                <a:latin typeface="Times New Roman"/>
                <a:cs typeface="Times New Roman"/>
              </a:rPr>
              <a:t>class.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in the top drawer? That’s where I </a:t>
            </a:r>
            <a:r>
              <a:rPr dirty="0" sz="1200" spc="-5">
                <a:latin typeface="Times New Roman"/>
                <a:cs typeface="Times New Roman"/>
              </a:rPr>
              <a:t>keep peanuts, raisins, chocolates </a:t>
            </a:r>
            <a:r>
              <a:rPr dirty="0" sz="1200">
                <a:latin typeface="Times New Roman"/>
                <a:cs typeface="Times New Roman"/>
              </a:rPr>
              <a:t>and chewing gum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snack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begins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“My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 </a:t>
            </a:r>
            <a:r>
              <a:rPr dirty="0" sz="1200">
                <a:latin typeface="Times New Roman"/>
                <a:cs typeface="Times New Roman"/>
              </a:rPr>
              <a:t> organized”. The first sentence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general </a:t>
            </a:r>
            <a:r>
              <a:rPr dirty="0" sz="1200" spc="-5">
                <a:latin typeface="Times New Roman"/>
                <a:cs typeface="Times New Roman"/>
              </a:rPr>
              <a:t>statement.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- that the </a:t>
            </a:r>
            <a:r>
              <a:rPr dirty="0" sz="1200" spc="-5">
                <a:latin typeface="Times New Roman"/>
                <a:cs typeface="Times New Roman"/>
              </a:rPr>
              <a:t>writer’s </a:t>
            </a:r>
            <a:r>
              <a:rPr dirty="0" sz="1200">
                <a:latin typeface="Times New Roman"/>
                <a:cs typeface="Times New Roman"/>
              </a:rPr>
              <a:t>desk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organized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first sentence.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sentences show us how well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organized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desk is.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2) Do you have problems with sleeping? By following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few single guidelines many sleep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can be avoided. </a:t>
            </a:r>
            <a:r>
              <a:rPr dirty="0" sz="1200" spc="-5">
                <a:latin typeface="Times New Roman"/>
                <a:cs typeface="Times New Roman"/>
              </a:rPr>
              <a:t>First, </a:t>
            </a:r>
            <a:r>
              <a:rPr dirty="0" sz="1200">
                <a:latin typeface="Times New Roman"/>
                <a:cs typeface="Times New Roman"/>
              </a:rPr>
              <a:t>don’t drink tea or coffee close to </a:t>
            </a:r>
            <a:r>
              <a:rPr dirty="0" sz="1200" spc="-5">
                <a:latin typeface="Times New Roman"/>
                <a:cs typeface="Times New Roman"/>
              </a:rPr>
              <a:t>bedtime. </a:t>
            </a:r>
            <a:r>
              <a:rPr dirty="0" sz="1200">
                <a:latin typeface="Times New Roman"/>
                <a:cs typeface="Times New Roman"/>
              </a:rPr>
              <a:t>Next, do 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 at least three </a:t>
            </a:r>
            <a:r>
              <a:rPr dirty="0" sz="1200" spc="-5">
                <a:latin typeface="Times New Roman"/>
                <a:cs typeface="Times New Roman"/>
              </a:rPr>
              <a:t>hours before bedtime. </a:t>
            </a:r>
            <a:r>
              <a:rPr dirty="0" sz="1200">
                <a:latin typeface="Times New Roman"/>
                <a:cs typeface="Times New Roman"/>
              </a:rPr>
              <a:t>Lastly, work </a:t>
            </a:r>
            <a:r>
              <a:rPr dirty="0" sz="1200" spc="-5">
                <a:latin typeface="Times New Roman"/>
                <a:cs typeface="Times New Roman"/>
              </a:rPr>
              <a:t>out </a:t>
            </a:r>
            <a:r>
              <a:rPr dirty="0" sz="1200">
                <a:latin typeface="Times New Roman"/>
                <a:cs typeface="Times New Roman"/>
              </a:rPr>
              <a:t>a sleep </a:t>
            </a:r>
            <a:r>
              <a:rPr dirty="0" sz="1200" spc="-5">
                <a:latin typeface="Times New Roman"/>
                <a:cs typeface="Times New Roman"/>
              </a:rPr>
              <a:t>routine. Try </a:t>
            </a:r>
            <a:r>
              <a:rPr dirty="0" sz="1200">
                <a:latin typeface="Times New Roman"/>
                <a:cs typeface="Times New Roman"/>
              </a:rPr>
              <a:t>to go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try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 up at the </a:t>
            </a:r>
            <a:r>
              <a:rPr dirty="0" sz="1200" spc="-5">
                <a:latin typeface="Times New Roman"/>
                <a:cs typeface="Times New Roman"/>
              </a:rPr>
              <a:t>same.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 </a:t>
            </a:r>
            <a:r>
              <a:rPr dirty="0" sz="1200">
                <a:latin typeface="Times New Roman"/>
                <a:cs typeface="Times New Roman"/>
              </a:rPr>
              <a:t>the first sentence introduces the </a:t>
            </a:r>
            <a:r>
              <a:rPr dirty="0" sz="1200" spc="-5">
                <a:latin typeface="Times New Roman"/>
                <a:cs typeface="Times New Roman"/>
              </a:rPr>
              <a:t>topic </a:t>
            </a:r>
            <a:r>
              <a:rPr dirty="0" sz="1200">
                <a:latin typeface="Times New Roman"/>
                <a:cs typeface="Times New Roman"/>
              </a:rPr>
              <a:t>of sleep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by asking a question.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question can never be a topic sentence.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statement. </a:t>
            </a:r>
            <a:r>
              <a:rPr dirty="0" sz="1200">
                <a:latin typeface="Times New Roman"/>
                <a:cs typeface="Times New Roman"/>
              </a:rPr>
              <a:t>The second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“By following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simple guidelines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sleep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avoided” </a:t>
            </a:r>
            <a:r>
              <a:rPr dirty="0" sz="1200" spc="-5">
                <a:latin typeface="Times New Roman"/>
                <a:cs typeface="Times New Roman"/>
              </a:rPr>
              <a:t>states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Topic sentences may even come </a:t>
            </a:r>
            <a:r>
              <a:rPr dirty="0" sz="1200" spc="-5" b="1">
                <a:latin typeface="Times New Roman"/>
                <a:cs typeface="Times New Roman"/>
              </a:rPr>
              <a:t>later than the second sentence. </a:t>
            </a:r>
            <a:r>
              <a:rPr dirty="0" sz="1200" b="1">
                <a:latin typeface="Times New Roman"/>
                <a:cs typeface="Times New Roman"/>
              </a:rPr>
              <a:t>See if you can </a:t>
            </a:r>
            <a:r>
              <a:rPr dirty="0" sz="1200" spc="-5" b="1">
                <a:latin typeface="Times New Roman"/>
                <a:cs typeface="Times New Roman"/>
              </a:rPr>
              <a:t>find the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(3) Today world-wide </a:t>
            </a:r>
            <a:r>
              <a:rPr dirty="0" sz="1200" spc="-5">
                <a:latin typeface="Times New Roman"/>
                <a:cs typeface="Times New Roman"/>
              </a:rPr>
              <a:t>communications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taken </a:t>
            </a:r>
            <a:r>
              <a:rPr dirty="0" sz="1200">
                <a:latin typeface="Times New Roman"/>
                <a:cs typeface="Times New Roman"/>
              </a:rPr>
              <a:t>for granted. Through telephone, </a:t>
            </a:r>
            <a:r>
              <a:rPr dirty="0" sz="1200" spc="-5">
                <a:latin typeface="Times New Roman"/>
                <a:cs typeface="Times New Roman"/>
              </a:rPr>
              <a:t>TV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internet, we </a:t>
            </a:r>
            <a:r>
              <a:rPr dirty="0" sz="1200">
                <a:latin typeface="Times New Roman"/>
                <a:cs typeface="Times New Roman"/>
              </a:rPr>
              <a:t>learn </a:t>
            </a:r>
            <a:r>
              <a:rPr dirty="0" sz="1200" spc="-5">
                <a:latin typeface="Times New Roman"/>
                <a:cs typeface="Times New Roman"/>
              </a:rPr>
              <a:t>instantly </a:t>
            </a:r>
            <a:r>
              <a:rPr dirty="0" sz="1200">
                <a:latin typeface="Times New Roman"/>
                <a:cs typeface="Times New Roman"/>
              </a:rPr>
              <a:t>what happens all over the </a:t>
            </a:r>
            <a:r>
              <a:rPr dirty="0" sz="1200" spc="-5">
                <a:latin typeface="Times New Roman"/>
                <a:cs typeface="Times New Roman"/>
              </a:rPr>
              <a:t>world. </a:t>
            </a:r>
            <a:r>
              <a:rPr dirty="0" sz="1200">
                <a:latin typeface="Times New Roman"/>
                <a:cs typeface="Times New Roman"/>
              </a:rPr>
              <a:t>In ancient </a:t>
            </a:r>
            <a:r>
              <a:rPr dirty="0" sz="1200" spc="-5">
                <a:latin typeface="Times New Roman"/>
                <a:cs typeface="Times New Roman"/>
              </a:rPr>
              <a:t>times, </a:t>
            </a:r>
            <a:r>
              <a:rPr dirty="0" sz="1200">
                <a:latin typeface="Times New Roman"/>
                <a:cs typeface="Times New Roman"/>
              </a:rPr>
              <a:t>however,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military</a:t>
            </a:r>
            <a:r>
              <a:rPr dirty="0" sz="1200">
                <a:latin typeface="Times New Roman"/>
                <a:cs typeface="Times New Roman"/>
              </a:rPr>
              <a:t> leaders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relied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slower,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>
                <a:latin typeface="Times New Roman"/>
                <a:cs typeface="Times New Roman"/>
              </a:rPr>
              <a:t> technical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messages </a:t>
            </a:r>
            <a:r>
              <a:rPr dirty="0" sz="1200">
                <a:latin typeface="Times New Roman"/>
                <a:cs typeface="Times New Roman"/>
              </a:rPr>
              <a:t>- pigeons. </a:t>
            </a:r>
            <a:r>
              <a:rPr dirty="0" sz="1200" spc="-5">
                <a:latin typeface="Times New Roman"/>
                <a:cs typeface="Times New Roman"/>
              </a:rPr>
              <a:t>Homing </a:t>
            </a:r>
            <a:r>
              <a:rPr dirty="0" sz="1200">
                <a:latin typeface="Times New Roman"/>
                <a:cs typeface="Times New Roman"/>
              </a:rPr>
              <a:t>pigeons are trained to return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from long distances.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birds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kept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cages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military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camps.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bird’s </a:t>
            </a:r>
            <a:r>
              <a:rPr dirty="0" sz="1200">
                <a:latin typeface="Times New Roman"/>
                <a:cs typeface="Times New Roman"/>
              </a:rPr>
              <a:t>leg. The bird </a:t>
            </a:r>
            <a:r>
              <a:rPr dirty="0" sz="1200" spc="-5">
                <a:latin typeface="Times New Roman"/>
                <a:cs typeface="Times New Roman"/>
              </a:rPr>
              <a:t>was then released </a:t>
            </a:r>
            <a:r>
              <a:rPr dirty="0" sz="1200">
                <a:latin typeface="Times New Roman"/>
                <a:cs typeface="Times New Roman"/>
              </a:rPr>
              <a:t>and it flew back to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base camp after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delivering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message.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206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924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first </a:t>
            </a:r>
            <a:r>
              <a:rPr dirty="0" sz="1200" spc="-5">
                <a:latin typeface="Times New Roman"/>
                <a:cs typeface="Times New Roman"/>
              </a:rPr>
              <a:t>glance </a:t>
            </a:r>
            <a:r>
              <a:rPr dirty="0" sz="1200">
                <a:latin typeface="Times New Roman"/>
                <a:cs typeface="Times New Roman"/>
              </a:rPr>
              <a:t>sentence 1 appears to state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as sentence </a:t>
            </a:r>
            <a:r>
              <a:rPr dirty="0" sz="1200">
                <a:latin typeface="Times New Roman"/>
                <a:cs typeface="Times New Roman"/>
              </a:rPr>
              <a:t>2 gives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glance</a:t>
            </a:r>
            <a:r>
              <a:rPr dirty="0" sz="1200">
                <a:latin typeface="Times New Roman"/>
                <a:cs typeface="Times New Roman"/>
              </a:rPr>
              <a:t> 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>
                <a:latin typeface="Times New Roman"/>
                <a:cs typeface="Times New Roman"/>
              </a:rPr>
              <a:t> 2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of the world-wide communication.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>
                <a:latin typeface="Times New Roman"/>
                <a:cs typeface="Times New Roman"/>
              </a:rPr>
              <a:t>it isn’t.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3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states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 idea,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points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reader towards another direction (as signaled by the word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however) </a:t>
            </a:r>
            <a:r>
              <a:rPr dirty="0" sz="1200">
                <a:latin typeface="Times New Roman"/>
                <a:cs typeface="Times New Roman"/>
              </a:rPr>
              <a:t>Sentences 4, 5, 6 and 7 provide details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support it. It </a:t>
            </a:r>
            <a:r>
              <a:rPr dirty="0" sz="1200" spc="-5">
                <a:latin typeface="Times New Roman"/>
                <a:cs typeface="Times New Roman"/>
              </a:rPr>
              <a:t>becomes</a:t>
            </a:r>
            <a:r>
              <a:rPr dirty="0" sz="1200">
                <a:latin typeface="Times New Roman"/>
                <a:cs typeface="Times New Roman"/>
              </a:rPr>
              <a:t> clear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stated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clear because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4, 5 and 6 all </a:t>
            </a:r>
            <a:r>
              <a:rPr dirty="0" sz="1200" spc="-5">
                <a:latin typeface="Times New Roman"/>
                <a:cs typeface="Times New Roman"/>
              </a:rPr>
              <a:t>give information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explains </a:t>
            </a:r>
            <a:r>
              <a:rPr dirty="0" sz="1200">
                <a:latin typeface="Times New Roman"/>
                <a:cs typeface="Times New Roman"/>
              </a:rPr>
              <a:t>in detail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general</a:t>
            </a:r>
            <a:r>
              <a:rPr dirty="0" sz="1200" spc="-5">
                <a:latin typeface="Times New Roman"/>
                <a:cs typeface="Times New Roman"/>
              </a:rPr>
              <a:t> statement</a:t>
            </a:r>
            <a:r>
              <a:rPr dirty="0" sz="1200">
                <a:latin typeface="Times New Roman"/>
                <a:cs typeface="Times New Roman"/>
              </a:rPr>
              <a:t> in sentence 3.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At </a:t>
            </a:r>
            <a:r>
              <a:rPr dirty="0" sz="1200">
                <a:latin typeface="Times New Roman"/>
                <a:cs typeface="Times New Roman"/>
              </a:rPr>
              <a:t>first </a:t>
            </a:r>
            <a:r>
              <a:rPr dirty="0" sz="1200" spc="-5">
                <a:latin typeface="Times New Roman"/>
                <a:cs typeface="Times New Roman"/>
              </a:rPr>
              <a:t>glance sentence </a:t>
            </a:r>
            <a:r>
              <a:rPr dirty="0" sz="1200">
                <a:latin typeface="Times New Roman"/>
                <a:cs typeface="Times New Roman"/>
              </a:rPr>
              <a:t>1 appears to state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as sentence </a:t>
            </a:r>
            <a:r>
              <a:rPr dirty="0" sz="1200">
                <a:latin typeface="Times New Roman"/>
                <a:cs typeface="Times New Roman"/>
              </a:rPr>
              <a:t>2 gives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end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previous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build up to </a:t>
            </a:r>
            <a:r>
              <a:rPr dirty="0" sz="1200" spc="-5">
                <a:latin typeface="Times New Roman"/>
                <a:cs typeface="Times New Roman"/>
              </a:rPr>
              <a:t>the main </a:t>
            </a:r>
            <a:r>
              <a:rPr dirty="0" sz="1200">
                <a:latin typeface="Times New Roman"/>
                <a:cs typeface="Times New Roman"/>
              </a:rPr>
              <a:t>idea. 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 a paragraph in which the topic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comes</a:t>
            </a:r>
            <a:r>
              <a:rPr dirty="0" sz="1200">
                <a:latin typeface="Times New Roman"/>
                <a:cs typeface="Times New Roman"/>
              </a:rPr>
              <a:t> last.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World-wide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isn’t.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idea,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Probably in the </a:t>
            </a:r>
            <a:r>
              <a:rPr dirty="0" sz="1200" spc="-5">
                <a:latin typeface="Times New Roman"/>
                <a:cs typeface="Times New Roman"/>
              </a:rPr>
              <a:t>coming </a:t>
            </a:r>
            <a:r>
              <a:rPr dirty="0" sz="1200">
                <a:latin typeface="Times New Roman"/>
                <a:cs typeface="Times New Roman"/>
              </a:rPr>
              <a:t>decade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>
                <a:latin typeface="Times New Roman"/>
                <a:cs typeface="Times New Roman"/>
              </a:rPr>
              <a:t>will be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use of </a:t>
            </a:r>
            <a:r>
              <a:rPr dirty="0" sz="1200" spc="-5">
                <a:latin typeface="Times New Roman"/>
                <a:cs typeface="Times New Roman"/>
              </a:rPr>
              <a:t>home computers. </a:t>
            </a:r>
            <a:r>
              <a:rPr dirty="0" sz="1200">
                <a:latin typeface="Times New Roman"/>
                <a:cs typeface="Times New Roman"/>
              </a:rPr>
              <a:t>People </a:t>
            </a:r>
            <a:r>
              <a:rPr dirty="0" sz="1200" spc="-5">
                <a:latin typeface="Times New Roman"/>
                <a:cs typeface="Times New Roman"/>
              </a:rPr>
              <a:t>will use </a:t>
            </a:r>
            <a:r>
              <a:rPr dirty="0" sz="1200">
                <a:latin typeface="Times New Roman"/>
                <a:cs typeface="Times New Roman"/>
              </a:rPr>
              <a:t> them to shop, to cast votes, file taxes, and to take college and university </a:t>
            </a:r>
            <a:r>
              <a:rPr dirty="0" sz="1200" spc="-5">
                <a:latin typeface="Times New Roman"/>
                <a:cs typeface="Times New Roman"/>
              </a:rPr>
              <a:t>exams. Also,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used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playing </a:t>
            </a:r>
            <a:r>
              <a:rPr dirty="0" sz="1200" spc="-5">
                <a:latin typeface="Times New Roman"/>
                <a:cs typeface="Times New Roman"/>
              </a:rPr>
              <a:t>games. </a:t>
            </a:r>
            <a:r>
              <a:rPr dirty="0" sz="1200">
                <a:latin typeface="Times New Roman"/>
                <a:cs typeface="Times New Roman"/>
              </a:rPr>
              <a:t>Experts </a:t>
            </a:r>
            <a:r>
              <a:rPr dirty="0" sz="1200" spc="-5">
                <a:latin typeface="Times New Roman"/>
                <a:cs typeface="Times New Roman"/>
              </a:rPr>
              <a:t>say the </a:t>
            </a:r>
            <a:r>
              <a:rPr dirty="0" sz="1200">
                <a:latin typeface="Times New Roman"/>
                <a:cs typeface="Times New Roman"/>
              </a:rPr>
              <a:t>work week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reduced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than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thirty-two hours. </a:t>
            </a:r>
            <a:r>
              <a:rPr dirty="0" sz="1200" spc="-5">
                <a:latin typeface="Times New Roman"/>
                <a:cs typeface="Times New Roman"/>
              </a:rPr>
              <a:t>Moreover, </a:t>
            </a:r>
            <a:r>
              <a:rPr dirty="0" sz="1200">
                <a:latin typeface="Times New Roman"/>
                <a:cs typeface="Times New Roman"/>
              </a:rPr>
              <a:t>robots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only </a:t>
            </a:r>
            <a:r>
              <a:rPr dirty="0" sz="1200">
                <a:latin typeface="Times New Roman"/>
                <a:cs typeface="Times New Roman"/>
              </a:rPr>
              <a:t>take over </a:t>
            </a:r>
            <a:r>
              <a:rPr dirty="0" sz="1200" spc="-5">
                <a:latin typeface="Times New Roman"/>
                <a:cs typeface="Times New Roman"/>
              </a:rPr>
              <a:t>many routine </a:t>
            </a:r>
            <a:r>
              <a:rPr dirty="0" sz="1200">
                <a:latin typeface="Times New Roman"/>
                <a:cs typeface="Times New Roman"/>
              </a:rPr>
              <a:t>service </a:t>
            </a:r>
            <a:r>
              <a:rPr dirty="0" sz="1200" spc="-5">
                <a:latin typeface="Times New Roman"/>
                <a:cs typeface="Times New Roman"/>
              </a:rPr>
              <a:t>jobs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dangerous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jobs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forecasts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suggest,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home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Reviews </a:t>
            </a:r>
            <a:r>
              <a:rPr dirty="0" sz="1200" b="1">
                <a:latin typeface="Times New Roman"/>
                <a:cs typeface="Times New Roman"/>
              </a:rPr>
              <a:t>1- To </a:t>
            </a:r>
            <a:r>
              <a:rPr dirty="0" sz="1200" spc="-5" b="1">
                <a:latin typeface="Times New Roman"/>
                <a:cs typeface="Times New Roman"/>
              </a:rPr>
              <a:t>find out what </a:t>
            </a:r>
            <a:r>
              <a:rPr dirty="0" sz="1200" b="1">
                <a:latin typeface="Times New Roman"/>
                <a:cs typeface="Times New Roman"/>
              </a:rPr>
              <a:t>you have </a:t>
            </a:r>
            <a:r>
              <a:rPr dirty="0" sz="1200" spc="-5" b="1">
                <a:latin typeface="Times New Roman"/>
                <a:cs typeface="Times New Roman"/>
              </a:rPr>
              <a:t>learned so </a:t>
            </a:r>
            <a:r>
              <a:rPr dirty="0" sz="1200" b="1">
                <a:latin typeface="Times New Roman"/>
                <a:cs typeface="Times New Roman"/>
              </a:rPr>
              <a:t>far </a:t>
            </a:r>
            <a:r>
              <a:rPr dirty="0" sz="1200" spc="-5" b="1">
                <a:latin typeface="Times New Roman"/>
                <a:cs typeface="Times New Roman"/>
              </a:rPr>
              <a:t>answer </a:t>
            </a:r>
            <a:r>
              <a:rPr dirty="0" sz="1200" b="1">
                <a:latin typeface="Times New Roman"/>
                <a:cs typeface="Times New Roman"/>
              </a:rPr>
              <a:t>each of </a:t>
            </a:r>
            <a:r>
              <a:rPr dirty="0" sz="1200" spc="-5" b="1">
                <a:latin typeface="Times New Roman"/>
                <a:cs typeface="Times New Roman"/>
              </a:rPr>
              <a:t>the following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questions.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Fill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blank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 </a:t>
            </a:r>
            <a:r>
              <a:rPr dirty="0" sz="1200" spc="-5" b="1">
                <a:latin typeface="Times New Roman"/>
                <a:cs typeface="Times New Roman"/>
              </a:rPr>
              <a:t>put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-5" b="1">
                <a:latin typeface="Times New Roman"/>
                <a:cs typeface="Times New Roman"/>
              </a:rPr>
              <a:t>tick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mark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against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answer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 </a:t>
            </a:r>
            <a:r>
              <a:rPr dirty="0" sz="1200" spc="-5" b="1">
                <a:latin typeface="Times New Roman"/>
                <a:cs typeface="Times New Roman"/>
              </a:rPr>
              <a:t>think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alphaLcParenBoth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Supporting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AutoNum type="alphaLcParenBoth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Introducing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</a:t>
            </a:r>
            <a:endParaRPr sz="1200">
              <a:latin typeface="Times New Roman"/>
              <a:cs typeface="Times New Roman"/>
            </a:endParaRPr>
          </a:p>
          <a:p>
            <a:pPr marL="220345" indent="-208279">
              <a:lnSpc>
                <a:spcPts val="1380"/>
              </a:lnSpc>
              <a:buAutoNum type="alphaLcParenBoth"/>
              <a:tabLst>
                <a:tab pos="220979" algn="l"/>
              </a:tabLst>
            </a:pP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2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 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paragraph,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5">
                <a:latin typeface="Times New Roman"/>
                <a:cs typeface="Times New Roman"/>
              </a:rPr>
              <a:t> statement.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False?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AutoNum type="arabicPeriod" startAt="2"/>
              <a:tabLst>
                <a:tab pos="19304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False?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 startAt="2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appear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 (a)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 once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(b) more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once?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stated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5">
                <a:latin typeface="Times New Roman"/>
                <a:cs typeface="Times New Roman"/>
              </a:rPr>
              <a:t> sentence </a:t>
            </a:r>
            <a:r>
              <a:rPr dirty="0" sz="1200">
                <a:latin typeface="Times New Roman"/>
                <a:cs typeface="Times New Roman"/>
              </a:rPr>
              <a:t>of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alphaLcParenBoth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summary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380"/>
              </a:lnSpc>
              <a:buAutoNum type="alphaLcParenBoth"/>
              <a:tabLst>
                <a:tab pos="2286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410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we </a:t>
            </a:r>
            <a:r>
              <a:rPr dirty="0" sz="1200">
                <a:latin typeface="Times New Roman"/>
                <a:cs typeface="Times New Roman"/>
              </a:rPr>
              <a:t>shall turn to the parts of a topic </a:t>
            </a:r>
            <a:r>
              <a:rPr dirty="0" sz="1200" spc="-5">
                <a:latin typeface="Times New Roman"/>
                <a:cs typeface="Times New Roman"/>
              </a:rPr>
              <a:t>sentence. A </a:t>
            </a:r>
            <a:r>
              <a:rPr dirty="0" sz="1200">
                <a:latin typeface="Times New Roman"/>
                <a:cs typeface="Times New Roman"/>
              </a:rPr>
              <a:t>topic </a:t>
            </a:r>
            <a:r>
              <a:rPr dirty="0" sz="1200" spc="-5">
                <a:latin typeface="Times New Roman"/>
                <a:cs typeface="Times New Roman"/>
              </a:rPr>
              <a:t>sentence has two </a:t>
            </a:r>
            <a:r>
              <a:rPr dirty="0" sz="1200">
                <a:latin typeface="Times New Roman"/>
                <a:cs typeface="Times New Roman"/>
              </a:rPr>
              <a:t>essential </a:t>
            </a:r>
            <a:r>
              <a:rPr dirty="0" sz="1200" spc="-5">
                <a:latin typeface="Times New Roman"/>
                <a:cs typeface="Times New Roman"/>
              </a:rPr>
              <a:t>parts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the controlling </a:t>
            </a:r>
            <a:r>
              <a:rPr dirty="0" sz="1200" spc="-5">
                <a:latin typeface="Times New Roman"/>
                <a:cs typeface="Times New Roman"/>
              </a:rPr>
              <a:t>idea.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(names)</a:t>
            </a:r>
            <a:r>
              <a:rPr dirty="0" sz="1200">
                <a:latin typeface="Times New Roman"/>
                <a:cs typeface="Times New Roman"/>
              </a:rPr>
              <a:t> the subject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idea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controlling idea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a specific </a:t>
            </a:r>
            <a:r>
              <a:rPr dirty="0" sz="1200" spc="-5">
                <a:latin typeface="Times New Roman"/>
                <a:cs typeface="Times New Roman"/>
              </a:rPr>
              <a:t>comment about </a:t>
            </a:r>
            <a:r>
              <a:rPr dirty="0" sz="1200">
                <a:latin typeface="Times New Roman"/>
                <a:cs typeface="Times New Roman"/>
              </a:rPr>
              <a:t>the topic, </a:t>
            </a:r>
            <a:r>
              <a:rPr dirty="0" sz="1200" spc="-5">
                <a:latin typeface="Times New Roman"/>
                <a:cs typeface="Times New Roman"/>
              </a:rPr>
              <a:t>which indicates what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 </a:t>
            </a:r>
            <a:r>
              <a:rPr dirty="0" sz="1200">
                <a:latin typeface="Times New Roman"/>
                <a:cs typeface="Times New Roman"/>
              </a:rPr>
              <a:t>of the paragraph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about. It </a:t>
            </a:r>
            <a:r>
              <a:rPr dirty="0" sz="1200" spc="-5">
                <a:latin typeface="Times New Roman"/>
                <a:cs typeface="Times New Roman"/>
              </a:rPr>
              <a:t>limits the </a:t>
            </a:r>
            <a:r>
              <a:rPr dirty="0" sz="1200">
                <a:latin typeface="Times New Roman"/>
                <a:cs typeface="Times New Roman"/>
              </a:rPr>
              <a:t>topic to a specific </a:t>
            </a:r>
            <a:r>
              <a:rPr dirty="0" sz="1200" spc="-5">
                <a:latin typeface="Times New Roman"/>
                <a:cs typeface="Times New Roman"/>
              </a:rPr>
              <a:t>aspect </a:t>
            </a:r>
            <a:r>
              <a:rPr dirty="0" sz="1200">
                <a:latin typeface="Times New Roman"/>
                <a:cs typeface="Times New Roman"/>
              </a:rPr>
              <a:t>of the topic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be </a:t>
            </a:r>
            <a:r>
              <a:rPr dirty="0" sz="1200" spc="-5">
                <a:latin typeface="Times New Roman"/>
                <a:cs typeface="Times New Roman"/>
              </a:rPr>
              <a:t>discussed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Lahore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nerves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steel.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Living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country</a:t>
            </a:r>
            <a:r>
              <a:rPr dirty="0" sz="1200" spc="-10">
                <a:latin typeface="Times New Roman"/>
                <a:cs typeface="Times New Roman"/>
              </a:rPr>
              <a:t> improves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student.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Sri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Lanka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famous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gardens.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Television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commercials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misleading.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5">
                <a:latin typeface="Times New Roman"/>
                <a:cs typeface="Times New Roman"/>
              </a:rPr>
              <a:t> have</a:t>
            </a:r>
            <a:r>
              <a:rPr dirty="0" sz="1200">
                <a:latin typeface="Times New Roman"/>
                <a:cs typeface="Times New Roman"/>
              </a:rPr>
              <a:t> some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sentence. Remember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80"/>
              </a:lnSpc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794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unhide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unrelated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Sri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Lanka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famous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temperate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climate,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many tea </a:t>
            </a:r>
            <a:r>
              <a:rPr dirty="0" sz="1200" spc="-5">
                <a:latin typeface="Times New Roman"/>
                <a:cs typeface="Times New Roman"/>
              </a:rPr>
              <a:t>gardens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ancient </a:t>
            </a:r>
            <a:r>
              <a:rPr dirty="0" sz="1200" spc="-5">
                <a:latin typeface="Times New Roman"/>
                <a:cs typeface="Times New Roman"/>
              </a:rPr>
              <a:t>temple.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(Too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separate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 </a:t>
            </a:r>
            <a:r>
              <a:rPr dirty="0" sz="1200" b="1">
                <a:latin typeface="Times New Roman"/>
                <a:cs typeface="Times New Roman"/>
              </a:rPr>
              <a:t>Topic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include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controlling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TV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Books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10">
                <a:latin typeface="Times New Roman"/>
                <a:cs typeface="Times New Roman"/>
              </a:rPr>
              <a:t>Gardens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Popular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Entertainment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(general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subject)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Benefits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effect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TV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children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Television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seriously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affecting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attention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shortened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notably.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used to a</a:t>
            </a:r>
            <a:r>
              <a:rPr dirty="0" sz="1200" spc="-5">
                <a:latin typeface="Times New Roman"/>
                <a:cs typeface="Times New Roman"/>
              </a:rPr>
              <a:t> TV</a:t>
            </a:r>
            <a:r>
              <a:rPr dirty="0" sz="1200">
                <a:latin typeface="Times New Roman"/>
                <a:cs typeface="Times New Roman"/>
              </a:rPr>
              <a:t> being on that 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trouble </a:t>
            </a:r>
            <a:r>
              <a:rPr dirty="0" sz="1200" spc="-5">
                <a:latin typeface="Times New Roman"/>
                <a:cs typeface="Times New Roman"/>
              </a:rPr>
              <a:t>working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classrooms.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20"/>
              </a:lnSpc>
              <a:buAutoNum type="arabicPeriod" startAt="2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Books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travel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Travel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Books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Books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always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popular.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ancient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traveler's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tales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eagerly</a:t>
            </a:r>
            <a:r>
              <a:rPr dirty="0" sz="1200" spc="-5">
                <a:latin typeface="Times New Roman"/>
                <a:cs typeface="Times New Roman"/>
              </a:rPr>
              <a:t> read.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travelers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Marco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polo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5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Ibn-e-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Batuta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Gardens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beautiful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garden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constant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source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pleasure.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(Talk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pleasure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quiet.</a:t>
            </a:r>
            <a:r>
              <a:rPr dirty="0" sz="1200" spc="-5">
                <a:latin typeface="Times New Roman"/>
                <a:cs typeface="Times New Roman"/>
              </a:rPr>
              <a:t> Place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retreat,</a:t>
            </a:r>
            <a:r>
              <a:rPr dirty="0" sz="1200" spc="-5">
                <a:latin typeface="Times New Roman"/>
                <a:cs typeface="Times New Roman"/>
              </a:rPr>
              <a:t> rest.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15"/>
              </a:lnSpc>
              <a:buFont typeface="Times New Roman"/>
              <a:buAutoNum type="arabicPeriod" startAt="4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Popular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Entertainment</a:t>
            </a:r>
            <a:r>
              <a:rPr dirty="0" sz="1200" spc="-5" b="1">
                <a:latin typeface="Times New Roman"/>
                <a:cs typeface="Times New Roman"/>
              </a:rPr>
              <a:t> (general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subject)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Popular</a:t>
            </a:r>
            <a:r>
              <a:rPr dirty="0" sz="1200" spc="-5">
                <a:latin typeface="Times New Roman"/>
                <a:cs typeface="Times New Roman"/>
              </a:rPr>
              <a:t> entertainment</a:t>
            </a:r>
            <a:r>
              <a:rPr dirty="0" sz="1200">
                <a:latin typeface="Times New Roman"/>
                <a:cs typeface="Times New Roman"/>
              </a:rPr>
              <a:t> such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pop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music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undergone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 changes.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 startAt="5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Benefits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Foreign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Travel.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travel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foreign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lands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benefit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traveler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entirely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himself. </a:t>
            </a:r>
            <a:r>
              <a:rPr dirty="0" sz="1200">
                <a:latin typeface="Times New Roman"/>
                <a:cs typeface="Times New Roman"/>
              </a:rPr>
              <a:t>Opening sentences 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 to carry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The Concluding</a:t>
            </a:r>
            <a:r>
              <a:rPr dirty="0" sz="1200" b="1">
                <a:latin typeface="Times New Roman"/>
                <a:cs typeface="Times New Roman"/>
              </a:rPr>
              <a:t> Sentence: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has two </a:t>
            </a:r>
            <a:r>
              <a:rPr dirty="0" sz="1200">
                <a:latin typeface="Times New Roman"/>
                <a:cs typeface="Times New Roman"/>
              </a:rPr>
              <a:t>purposes: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06375" algn="l"/>
              </a:tabLst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finally.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45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comment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types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 sentence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repeat </a:t>
            </a:r>
            <a:r>
              <a:rPr dirty="0" sz="1200" spc="-5">
                <a:latin typeface="Times New Roman"/>
                <a:cs typeface="Times New Roman"/>
              </a:rPr>
              <a:t>the main </a:t>
            </a:r>
            <a:r>
              <a:rPr dirty="0" sz="1200">
                <a:latin typeface="Times New Roman"/>
                <a:cs typeface="Times New Roman"/>
              </a:rPr>
              <a:t>idea of the </a:t>
            </a:r>
            <a:r>
              <a:rPr dirty="0" sz="1200" spc="-5">
                <a:latin typeface="Times New Roman"/>
                <a:cs typeface="Times New Roman"/>
              </a:rPr>
              <a:t>topic sentence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different words </a:t>
            </a:r>
            <a:r>
              <a:rPr dirty="0" sz="1200">
                <a:latin typeface="Times New Roman"/>
                <a:cs typeface="Times New Roman"/>
              </a:rPr>
              <a:t>or 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summarize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240">
              <a:lnSpc>
                <a:spcPct val="95800"/>
              </a:lnSpc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‘synonyms’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‘having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meaning’,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easy to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always partial, </a:t>
            </a:r>
            <a:r>
              <a:rPr dirty="0" sz="1200">
                <a:latin typeface="Times New Roman"/>
                <a:cs typeface="Times New Roman"/>
              </a:rPr>
              <a:t>never </a:t>
            </a:r>
            <a:r>
              <a:rPr dirty="0" sz="1200" spc="-5">
                <a:latin typeface="Times New Roman"/>
                <a:cs typeface="Times New Roman"/>
              </a:rPr>
              <a:t>complete. </a:t>
            </a:r>
            <a:r>
              <a:rPr dirty="0" sz="1200">
                <a:latin typeface="Times New Roman"/>
                <a:cs typeface="Times New Roman"/>
              </a:rPr>
              <a:t>‘Tall’ and ‘high’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 considered </a:t>
            </a: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while we can have both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tall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 </a:t>
            </a:r>
            <a:r>
              <a:rPr dirty="0" sz="1200">
                <a:latin typeface="Times New Roman"/>
                <a:cs typeface="Times New Roman"/>
              </a:rPr>
              <a:t> building’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tall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boy’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boy’.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Therefore,</a:t>
            </a:r>
            <a:r>
              <a:rPr dirty="0" sz="1200" spc="229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careful in choosing </a:t>
            </a:r>
            <a:r>
              <a:rPr dirty="0" sz="1200" spc="-5" i="1">
                <a:latin typeface="Times New Roman"/>
                <a:cs typeface="Times New Roman"/>
              </a:rPr>
              <a:t>words </a:t>
            </a:r>
            <a:r>
              <a:rPr dirty="0" sz="1200" i="1">
                <a:latin typeface="Times New Roman"/>
                <a:cs typeface="Times New Roman"/>
              </a:rPr>
              <a:t>because many </a:t>
            </a:r>
            <a:r>
              <a:rPr dirty="0" sz="1200" spc="-5" i="1">
                <a:latin typeface="Times New Roman"/>
                <a:cs typeface="Times New Roman"/>
              </a:rPr>
              <a:t>words </a:t>
            </a:r>
            <a:r>
              <a:rPr dirty="0" sz="1200" i="1">
                <a:latin typeface="Times New Roman"/>
                <a:cs typeface="Times New Roman"/>
              </a:rPr>
              <a:t>that we considered turn out not to be really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synonyms </a:t>
            </a:r>
            <a:r>
              <a:rPr dirty="0" sz="1200">
                <a:latin typeface="Times New Roman"/>
                <a:cs typeface="Times New Roman"/>
              </a:rPr>
              <a:t>(repeats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idea of topic sent)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ct val="95800"/>
              </a:lnSpc>
            </a:pPr>
            <a:r>
              <a:rPr dirty="0" sz="1200">
                <a:latin typeface="Times New Roman"/>
                <a:cs typeface="Times New Roman"/>
              </a:rPr>
              <a:t>(ii)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people delight in </a:t>
            </a:r>
            <a:r>
              <a:rPr dirty="0" sz="1200" spc="-5">
                <a:latin typeface="Times New Roman"/>
                <a:cs typeface="Times New Roman"/>
              </a:rPr>
              <a:t>inflicting </a:t>
            </a:r>
            <a:r>
              <a:rPr dirty="0" sz="1200">
                <a:latin typeface="Times New Roman"/>
                <a:cs typeface="Times New Roman"/>
              </a:rPr>
              <a:t>pain on </a:t>
            </a:r>
            <a:r>
              <a:rPr dirty="0" sz="1200" spc="-5">
                <a:latin typeface="Times New Roman"/>
                <a:cs typeface="Times New Roman"/>
              </a:rPr>
              <a:t>harmless </a:t>
            </a:r>
            <a:r>
              <a:rPr dirty="0" sz="1200">
                <a:latin typeface="Times New Roman"/>
                <a:cs typeface="Times New Roman"/>
              </a:rPr>
              <a:t>little </a:t>
            </a:r>
            <a:r>
              <a:rPr dirty="0" sz="1200" spc="-5">
                <a:latin typeface="Times New Roman"/>
                <a:cs typeface="Times New Roman"/>
              </a:rPr>
              <a:t>creatures. Such as flies, </a:t>
            </a:r>
            <a:r>
              <a:rPr dirty="0" sz="1200">
                <a:latin typeface="Times New Roman"/>
                <a:cs typeface="Times New Roman"/>
              </a:rPr>
              <a:t>worms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frogs. They also </a:t>
            </a:r>
            <a:r>
              <a:rPr dirty="0" sz="1200" spc="-5">
                <a:latin typeface="Times New Roman"/>
                <a:cs typeface="Times New Roman"/>
              </a:rPr>
              <a:t>take </a:t>
            </a:r>
            <a:r>
              <a:rPr dirty="0" sz="1200">
                <a:latin typeface="Times New Roman"/>
                <a:cs typeface="Times New Roman"/>
              </a:rPr>
              <a:t>pleasure in killing </a:t>
            </a:r>
            <a:r>
              <a:rPr dirty="0" sz="1200" spc="-5">
                <a:latin typeface="Times New Roman"/>
                <a:cs typeface="Times New Roman"/>
              </a:rPr>
              <a:t>them.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very cruel of </a:t>
            </a:r>
            <a:r>
              <a:rPr dirty="0" sz="1200" spc="-5">
                <a:latin typeface="Times New Roman"/>
                <a:cs typeface="Times New Roman"/>
              </a:rPr>
              <a:t>them. </a:t>
            </a:r>
            <a:r>
              <a:rPr dirty="0" sz="1200">
                <a:latin typeface="Times New Roman"/>
                <a:cs typeface="Times New Roman"/>
              </a:rPr>
              <a:t>They ought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to do </a:t>
            </a:r>
            <a:r>
              <a:rPr dirty="0" sz="1200" spc="-5">
                <a:latin typeface="Times New Roman"/>
                <a:cs typeface="Times New Roman"/>
              </a:rPr>
              <a:t>so, </a:t>
            </a:r>
            <a:r>
              <a:rPr dirty="0" sz="1200">
                <a:latin typeface="Times New Roman"/>
                <a:cs typeface="Times New Roman"/>
              </a:rPr>
              <a:t>because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wrong to cause unnecessary pain to any creature. </a:t>
            </a:r>
            <a:r>
              <a:rPr dirty="0" sz="1200" spc="-5">
                <a:latin typeface="Times New Roman"/>
                <a:cs typeface="Times New Roman"/>
              </a:rPr>
              <a:t>Besides, </a:t>
            </a:r>
            <a:r>
              <a:rPr dirty="0" sz="1200">
                <a:latin typeface="Times New Roman"/>
                <a:cs typeface="Times New Roman"/>
              </a:rPr>
              <a:t>from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 </a:t>
            </a:r>
            <a:r>
              <a:rPr dirty="0" sz="1200" spc="-5">
                <a:latin typeface="Times New Roman"/>
                <a:cs typeface="Times New Roman"/>
              </a:rPr>
              <a:t>cruel</a:t>
            </a:r>
            <a:r>
              <a:rPr dirty="0" sz="1200">
                <a:latin typeface="Times New Roman"/>
                <a:cs typeface="Times New Roman"/>
              </a:rPr>
              <a:t> to little </a:t>
            </a:r>
            <a:r>
              <a:rPr dirty="0" sz="1200" spc="-5">
                <a:latin typeface="Times New Roman"/>
                <a:cs typeface="Times New Roman"/>
              </a:rPr>
              <a:t>animals,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5">
                <a:latin typeface="Times New Roman"/>
                <a:cs typeface="Times New Roman"/>
              </a:rPr>
              <a:t>often </a:t>
            </a:r>
            <a:r>
              <a:rPr dirty="0" sz="1200">
                <a:latin typeface="Times New Roman"/>
                <a:cs typeface="Times New Roman"/>
              </a:rPr>
              <a:t>led, to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>
                <a:latin typeface="Times New Roman"/>
                <a:cs typeface="Times New Roman"/>
              </a:rPr>
              <a:t> cruel to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fellow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creatures,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they learn to do very cruel deeds. </a:t>
            </a:r>
            <a:r>
              <a:rPr dirty="0" sz="1200" spc="-5" i="1">
                <a:latin typeface="Times New Roman"/>
                <a:cs typeface="Times New Roman"/>
              </a:rPr>
              <a:t>Whenever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man is </a:t>
            </a:r>
            <a:r>
              <a:rPr dirty="0" sz="1200" i="1">
                <a:latin typeface="Times New Roman"/>
                <a:cs typeface="Times New Roman"/>
              </a:rPr>
              <a:t>tempted to </a:t>
            </a:r>
            <a:r>
              <a:rPr dirty="0" sz="1200" spc="-5" i="1">
                <a:latin typeface="Times New Roman"/>
                <a:cs typeface="Times New Roman"/>
              </a:rPr>
              <a:t>hurt or kill any such </a:t>
            </a:r>
            <a:r>
              <a:rPr dirty="0" sz="1200" i="1">
                <a:latin typeface="Times New Roman"/>
                <a:cs typeface="Times New Roman"/>
              </a:rPr>
              <a:t> creature he should pause to think show he would feel if any creature </a:t>
            </a:r>
            <a:r>
              <a:rPr dirty="0" sz="1200" spc="-5" i="1">
                <a:latin typeface="Times New Roman"/>
                <a:cs typeface="Times New Roman"/>
              </a:rPr>
              <a:t>more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powerful than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he, were to do the same to him. </a:t>
            </a:r>
            <a:r>
              <a:rPr dirty="0" sz="1200" spc="-5">
                <a:latin typeface="Times New Roman"/>
                <a:cs typeface="Times New Roman"/>
              </a:rPr>
              <a:t>(Concluding </a:t>
            </a:r>
            <a:r>
              <a:rPr dirty="0" sz="1200">
                <a:latin typeface="Times New Roman"/>
                <a:cs typeface="Times New Roman"/>
              </a:rPr>
              <a:t>sentence </a:t>
            </a:r>
            <a:r>
              <a:rPr dirty="0" sz="1200" spc="-5">
                <a:latin typeface="Times New Roman"/>
                <a:cs typeface="Times New Roman"/>
              </a:rPr>
              <a:t>summarizes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2 points 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sentence.)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4: Writing Concluding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&amp;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Sentences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40157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(a)Determine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(b)Add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(Finally,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sum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up,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i="1">
                <a:latin typeface="Times New Roman"/>
                <a:cs typeface="Times New Roman"/>
              </a:rPr>
              <a:t>last,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conclusion</a:t>
            </a:r>
            <a:r>
              <a:rPr dirty="0" sz="1200" b="1" i="1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Paragraph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ct val="9590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scientist is more </a:t>
            </a:r>
            <a:r>
              <a:rPr dirty="0" sz="1200">
                <a:latin typeface="Times New Roman"/>
                <a:cs typeface="Times New Roman"/>
              </a:rPr>
              <a:t>interested in </a:t>
            </a:r>
            <a:r>
              <a:rPr dirty="0" sz="1200" spc="-5">
                <a:latin typeface="Times New Roman"/>
                <a:cs typeface="Times New Roman"/>
              </a:rPr>
              <a:t>doing scientific </a:t>
            </a:r>
            <a:r>
              <a:rPr dirty="0" sz="1200">
                <a:latin typeface="Times New Roman"/>
                <a:cs typeface="Times New Roman"/>
              </a:rPr>
              <a:t>work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defining </a:t>
            </a:r>
            <a:r>
              <a:rPr dirty="0" sz="1200">
                <a:latin typeface="Times New Roman"/>
                <a:cs typeface="Times New Roman"/>
              </a:rPr>
              <a:t>it. </a:t>
            </a:r>
            <a:r>
              <a:rPr dirty="0" sz="1200" spc="-5">
                <a:latin typeface="Times New Roman"/>
                <a:cs typeface="Times New Roman"/>
              </a:rPr>
              <a:t>He sometimes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 </a:t>
            </a:r>
            <a:r>
              <a:rPr dirty="0" sz="1200">
                <a:latin typeface="Times New Roman"/>
                <a:cs typeface="Times New Roman"/>
              </a:rPr>
              <a:t>that a </a:t>
            </a:r>
            <a:r>
              <a:rPr dirty="0" sz="1200" spc="-5">
                <a:latin typeface="Times New Roman"/>
                <a:cs typeface="Times New Roman"/>
              </a:rPr>
              <a:t>piece </a:t>
            </a:r>
            <a:r>
              <a:rPr dirty="0" sz="1200">
                <a:latin typeface="Times New Roman"/>
                <a:cs typeface="Times New Roman"/>
              </a:rPr>
              <a:t>of work or book </a:t>
            </a:r>
            <a:r>
              <a:rPr dirty="0" sz="1200" spc="-5">
                <a:latin typeface="Times New Roman"/>
                <a:cs typeface="Times New Roman"/>
              </a:rPr>
              <a:t>is unscientific, </a:t>
            </a:r>
            <a:r>
              <a:rPr dirty="0" sz="1200">
                <a:latin typeface="Times New Roman"/>
                <a:cs typeface="Times New Roman"/>
              </a:rPr>
              <a:t>and what he actually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by that phrase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inexact, that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badly arranged; that it </a:t>
            </a:r>
            <a:r>
              <a:rPr dirty="0" sz="1200" spc="-5">
                <a:latin typeface="Times New Roman"/>
                <a:cs typeface="Times New Roman"/>
              </a:rPr>
              <a:t>jumps </a:t>
            </a:r>
            <a:r>
              <a:rPr dirty="0" sz="1200">
                <a:latin typeface="Times New Roman"/>
                <a:cs typeface="Times New Roman"/>
              </a:rPr>
              <a:t>to conclusions without sufficient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author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allowed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personal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prejudices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influence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report……... </a:t>
            </a:r>
            <a:r>
              <a:rPr dirty="0" sz="1200" spc="-5" i="1">
                <a:latin typeface="Times New Roman"/>
                <a:cs typeface="Times New Roman"/>
              </a:rPr>
              <a:t>[by </a:t>
            </a:r>
            <a:r>
              <a:rPr dirty="0" sz="1200" i="1">
                <a:latin typeface="Times New Roman"/>
                <a:cs typeface="Times New Roman"/>
              </a:rPr>
              <a:t>scientific work, then we mean that which </a:t>
            </a:r>
            <a:r>
              <a:rPr dirty="0" sz="1200" spc="-5" i="1">
                <a:latin typeface="Times New Roman"/>
                <a:cs typeface="Times New Roman"/>
              </a:rPr>
              <a:t>is as </a:t>
            </a:r>
            <a:r>
              <a:rPr dirty="0" sz="1200" i="1">
                <a:latin typeface="Times New Roman"/>
                <a:cs typeface="Times New Roman"/>
              </a:rPr>
              <a:t>exact </a:t>
            </a:r>
            <a:r>
              <a:rPr dirty="0" sz="1200" spc="-5" i="1">
                <a:latin typeface="Times New Roman"/>
                <a:cs typeface="Times New Roman"/>
              </a:rPr>
              <a:t>as is </a:t>
            </a:r>
            <a:r>
              <a:rPr dirty="0" sz="1200" i="1">
                <a:latin typeface="Times New Roman"/>
                <a:cs typeface="Times New Roman"/>
              </a:rPr>
              <a:t>possible, </a:t>
            </a:r>
            <a:r>
              <a:rPr dirty="0" sz="1200" spc="-5" i="1">
                <a:latin typeface="Times New Roman"/>
                <a:cs typeface="Times New Roman"/>
              </a:rPr>
              <a:t>orderly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arrangement,</a:t>
            </a:r>
            <a:r>
              <a:rPr dirty="0" sz="1200" i="1">
                <a:latin typeface="Times New Roman"/>
                <a:cs typeface="Times New Roman"/>
              </a:rPr>
              <a:t> and based on sound and sufficient </a:t>
            </a:r>
            <a:r>
              <a:rPr dirty="0" sz="1200" spc="-5" i="1">
                <a:latin typeface="Times New Roman"/>
                <a:cs typeface="Times New Roman"/>
              </a:rPr>
              <a:t>evidence].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Paragraph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habit of </a:t>
            </a:r>
            <a:r>
              <a:rPr dirty="0" sz="1200" spc="-5">
                <a:latin typeface="Times New Roman"/>
                <a:cs typeface="Times New Roman"/>
              </a:rPr>
              <a:t>economy </a:t>
            </a:r>
            <a:r>
              <a:rPr dirty="0" sz="1200">
                <a:latin typeface="Times New Roman"/>
                <a:cs typeface="Times New Roman"/>
              </a:rPr>
              <a:t>can easily be </a:t>
            </a:r>
            <a:r>
              <a:rPr dirty="0" sz="1200" spc="-5">
                <a:latin typeface="Times New Roman"/>
                <a:cs typeface="Times New Roman"/>
              </a:rPr>
              <a:t>formed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a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save. </a:t>
            </a:r>
            <a:r>
              <a:rPr dirty="0" sz="1200">
                <a:latin typeface="Times New Roman"/>
                <a:cs typeface="Times New Roman"/>
              </a:rPr>
              <a:t>The first important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 in the </a:t>
            </a:r>
            <a:r>
              <a:rPr dirty="0" sz="1200" spc="-5">
                <a:latin typeface="Times New Roman"/>
                <a:cs typeface="Times New Roman"/>
              </a:rPr>
              <a:t>formation </a:t>
            </a:r>
            <a:r>
              <a:rPr dirty="0" sz="1200">
                <a:latin typeface="Times New Roman"/>
                <a:cs typeface="Times New Roman"/>
              </a:rPr>
              <a:t>of this </a:t>
            </a:r>
            <a:r>
              <a:rPr dirty="0" sz="1200" spc="-5">
                <a:latin typeface="Times New Roman"/>
                <a:cs typeface="Times New Roman"/>
              </a:rPr>
              <a:t>habit, as </a:t>
            </a:r>
            <a:r>
              <a:rPr dirty="0" sz="1200">
                <a:latin typeface="Times New Roman"/>
                <a:cs typeface="Times New Roman"/>
              </a:rPr>
              <a:t>in the case </a:t>
            </a:r>
            <a:r>
              <a:rPr dirty="0" sz="1200" spc="-5">
                <a:latin typeface="Times New Roman"/>
                <a:cs typeface="Times New Roman"/>
              </a:rPr>
              <a:t>of many others, is </a:t>
            </a:r>
            <a:r>
              <a:rPr dirty="0" sz="1200">
                <a:latin typeface="Times New Roman"/>
                <a:cs typeface="Times New Roman"/>
              </a:rPr>
              <a:t>to make a </a:t>
            </a:r>
            <a:r>
              <a:rPr dirty="0" sz="1200" spc="-5">
                <a:latin typeface="Times New Roman"/>
                <a:cs typeface="Times New Roman"/>
              </a:rPr>
              <a:t>beginning. It </a:t>
            </a:r>
            <a:r>
              <a:rPr dirty="0" sz="1200">
                <a:latin typeface="Times New Roman"/>
                <a:cs typeface="Times New Roman"/>
              </a:rPr>
              <a:t> does not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>
                <a:latin typeface="Times New Roman"/>
                <a:cs typeface="Times New Roman"/>
              </a:rPr>
              <a:t>with what sum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begin.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make use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first opportunity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 beginning; secondly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should keep this </a:t>
            </a:r>
            <a:r>
              <a:rPr dirty="0" sz="1200" spc="-5">
                <a:latin typeface="Times New Roman"/>
                <a:cs typeface="Times New Roman"/>
              </a:rPr>
              <a:t>habit alive by consistent effort. All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possible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will-power.</a:t>
            </a:r>
            <a:r>
              <a:rPr dirty="0" sz="1200">
                <a:latin typeface="Times New Roman"/>
                <a:cs typeface="Times New Roman"/>
              </a:rPr>
              <a:t> 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decide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save,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immediately……...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Paragraph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numerous </a:t>
            </a:r>
            <a:r>
              <a:rPr dirty="0" sz="1200">
                <a:latin typeface="Times New Roman"/>
                <a:cs typeface="Times New Roman"/>
              </a:rPr>
              <a:t>everyday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English </a:t>
            </a:r>
            <a:r>
              <a:rPr dirty="0" sz="1200">
                <a:latin typeface="Times New Roman"/>
                <a:cs typeface="Times New Roman"/>
              </a:rPr>
              <a:t>that have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from other languages.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 speakers relaxing at </a:t>
            </a:r>
            <a:r>
              <a:rPr dirty="0" sz="1200" spc="-5">
                <a:latin typeface="Times New Roman"/>
                <a:cs typeface="Times New Roman"/>
              </a:rPr>
              <a:t>home,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example may </a:t>
            </a:r>
            <a:r>
              <a:rPr dirty="0" sz="1200">
                <a:latin typeface="Times New Roman"/>
                <a:cs typeface="Times New Roman"/>
              </a:rPr>
              <a:t>put on </a:t>
            </a:r>
            <a:r>
              <a:rPr dirty="0" sz="1200" i="1">
                <a:latin typeface="Times New Roman"/>
                <a:cs typeface="Times New Roman"/>
              </a:rPr>
              <a:t>pajama's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Persian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word. A sleep </a:t>
            </a:r>
            <a:r>
              <a:rPr dirty="0" sz="1200">
                <a:latin typeface="Times New Roman"/>
                <a:cs typeface="Times New Roman"/>
              </a:rPr>
              <a:t>in the afternoon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called a </a:t>
            </a:r>
            <a:r>
              <a:rPr dirty="0" sz="1200" spc="-5" i="1">
                <a:latin typeface="Times New Roman"/>
                <a:cs typeface="Times New Roman"/>
              </a:rPr>
              <a:t>‘siesta’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Spanish word. When we wash our hair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‘shampoo’ </a:t>
            </a:r>
            <a:r>
              <a:rPr dirty="0" sz="1200">
                <a:latin typeface="Times New Roman"/>
                <a:cs typeface="Times New Roman"/>
              </a:rPr>
              <a:t>it - 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South Indian word </a:t>
            </a:r>
            <a:r>
              <a:rPr dirty="0" sz="1200" spc="-5">
                <a:latin typeface="Times New Roman"/>
                <a:cs typeface="Times New Roman"/>
              </a:rPr>
              <a:t>champi.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3406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 Practice Home Work.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40"/>
              </a:spcBef>
            </a:pP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4-5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w.good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69545" indent="-157480">
              <a:lnSpc>
                <a:spcPts val="1380"/>
              </a:lnSpc>
              <a:buAutoNum type="romanUcPeriod" startAt="2"/>
              <a:tabLst>
                <a:tab pos="170180" algn="l"/>
              </a:tabLst>
            </a:pPr>
            <a:r>
              <a:rPr dirty="0" sz="1200" b="1">
                <a:latin typeface="Times New Roman"/>
                <a:cs typeface="Times New Roman"/>
              </a:rPr>
              <a:t>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5"/>
              </a:lnSpc>
              <a:buFont typeface="Times New Roman"/>
              <a:buAutoNum type="romanUcPeriod" startAt="2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Topics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7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Arranged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Marriages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Explosion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instructor will give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limit,</a:t>
            </a:r>
            <a:r>
              <a:rPr dirty="0" sz="1200">
                <a:latin typeface="Times New Roman"/>
                <a:cs typeface="Times New Roman"/>
              </a:rPr>
              <a:t> suggested</a:t>
            </a:r>
            <a:r>
              <a:rPr dirty="0" sz="1200" spc="-5">
                <a:latin typeface="Times New Roman"/>
                <a:cs typeface="Times New Roman"/>
              </a:rPr>
              <a:t> limits: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2742692"/>
            <a:ext cx="1042669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tabLst>
                <a:tab pos="926465" algn="l"/>
              </a:tabLst>
            </a:pPr>
            <a:r>
              <a:rPr dirty="0" sz="1200" spc="-15">
                <a:latin typeface="Times New Roman"/>
                <a:cs typeface="Times New Roman"/>
              </a:rPr>
              <a:t>W</a:t>
            </a:r>
            <a:r>
              <a:rPr dirty="0" sz="1200">
                <a:latin typeface="Times New Roman"/>
                <a:cs typeface="Times New Roman"/>
              </a:rPr>
              <a:t>riting time	=  </a:t>
            </a:r>
            <a:r>
              <a:rPr dirty="0" sz="1200">
                <a:latin typeface="Times New Roman"/>
                <a:cs typeface="Times New Roman"/>
              </a:rPr>
              <a:t>Checking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3094735"/>
            <a:ext cx="102679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27100" algn="l"/>
              </a:tabLst>
            </a:pPr>
            <a:r>
              <a:rPr dirty="0" sz="1200" b="1">
                <a:latin typeface="Times New Roman"/>
                <a:cs typeface="Times New Roman"/>
              </a:rPr>
              <a:t>Total	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87763" y="2742692"/>
            <a:ext cx="733425" cy="560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13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minutes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02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minutes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b="1">
                <a:latin typeface="Times New Roman"/>
                <a:cs typeface="Times New Roman"/>
              </a:rPr>
              <a:t>15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minutes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470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(Unity,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Coherence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Organization)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looked at the three structural parts of a paragraph. In addition,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learned that a good paragraph requires the </a:t>
            </a:r>
            <a:r>
              <a:rPr dirty="0" sz="1200" spc="-5">
                <a:latin typeface="Times New Roman"/>
                <a:cs typeface="Times New Roman"/>
              </a:rPr>
              <a:t>elements </a:t>
            </a:r>
            <a:r>
              <a:rPr dirty="0" sz="1200">
                <a:latin typeface="Times New Roman"/>
                <a:cs typeface="Times New Roman"/>
              </a:rPr>
              <a:t>of unity and coherence. We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 </a:t>
            </a:r>
            <a:r>
              <a:rPr dirty="0" sz="1200">
                <a:latin typeface="Times New Roman"/>
                <a:cs typeface="Times New Roman"/>
              </a:rPr>
              <a:t>at unity in a </a:t>
            </a:r>
            <a:r>
              <a:rPr dirty="0" sz="1200" spc="-5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Unity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good paragraph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unity i.e. in each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only one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</a:t>
            </a:r>
            <a:r>
              <a:rPr dirty="0" sz="1200" spc="-5">
                <a:latin typeface="Times New Roman"/>
                <a:cs typeface="Times New Roman"/>
              </a:rPr>
              <a:t>is discussed. </a:t>
            </a:r>
            <a:r>
              <a:rPr dirty="0" sz="1200">
                <a:latin typeface="Times New Roman"/>
                <a:cs typeface="Times New Roman"/>
              </a:rPr>
              <a:t>Unity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two parts. </a:t>
            </a:r>
            <a:r>
              <a:rPr dirty="0" sz="1200">
                <a:latin typeface="Times New Roman"/>
                <a:cs typeface="Times New Roman"/>
              </a:rPr>
              <a:t>Every </a:t>
            </a:r>
            <a:r>
              <a:rPr dirty="0" sz="1200" spc="-5">
                <a:latin typeface="Times New Roman"/>
                <a:cs typeface="Times New Roman"/>
              </a:rPr>
              <a:t>supporting sentence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must </a:t>
            </a:r>
            <a:r>
              <a:rPr dirty="0" sz="1200" spc="-5">
                <a:latin typeface="Times New Roman"/>
                <a:cs typeface="Times New Roman"/>
              </a:rPr>
              <a:t>be directly related to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idea.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part </a:t>
            </a:r>
            <a:r>
              <a:rPr dirty="0" sz="1200">
                <a:latin typeface="Times New Roman"/>
                <a:cs typeface="Times New Roman"/>
              </a:rPr>
              <a:t>of unity. </a:t>
            </a:r>
            <a:r>
              <a:rPr dirty="0" sz="1200" spc="-5">
                <a:latin typeface="Times New Roman"/>
                <a:cs typeface="Times New Roman"/>
              </a:rPr>
              <a:t>Remember, </a:t>
            </a:r>
            <a:r>
              <a:rPr dirty="0" sz="1200">
                <a:latin typeface="Times New Roman"/>
                <a:cs typeface="Times New Roman"/>
              </a:rPr>
              <a:t>do not include any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 not directly support the topic sentence. e.g. </a:t>
            </a:r>
            <a:r>
              <a:rPr dirty="0" sz="1200" spc="-5">
                <a:latin typeface="Times New Roman"/>
                <a:cs typeface="Times New Roman"/>
              </a:rPr>
              <a:t>if your paragraph is about the ‘advantages </a:t>
            </a:r>
            <a:r>
              <a:rPr dirty="0" sz="1200">
                <a:latin typeface="Times New Roman"/>
                <a:cs typeface="Times New Roman"/>
              </a:rPr>
              <a:t> of foreign travel’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only that.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traveling </a:t>
            </a:r>
            <a:r>
              <a:rPr dirty="0" sz="1200" spc="-5">
                <a:latin typeface="Times New Roman"/>
                <a:cs typeface="Times New Roman"/>
              </a:rPr>
              <a:t>locally.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it better,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 only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advantage in each </a:t>
            </a:r>
            <a:r>
              <a:rPr dirty="0" sz="1200" spc="-5">
                <a:latin typeface="Times New Roman"/>
                <a:cs typeface="Times New Roman"/>
              </a:rPr>
              <a:t>paragraph. </a:t>
            </a:r>
            <a:r>
              <a:rPr dirty="0" sz="1200">
                <a:latin typeface="Times New Roman"/>
                <a:cs typeface="Times New Roman"/>
              </a:rPr>
              <a:t>However, </a:t>
            </a: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possible to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or three </a:t>
            </a:r>
            <a:r>
              <a:rPr dirty="0" sz="1200" spc="-5">
                <a:latin typeface="Times New Roman"/>
                <a:cs typeface="Times New Roman"/>
              </a:rPr>
              <a:t>aspects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idea in one paragraph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if they are closely related to each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other.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second part of unity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every supporting sentence </a:t>
            </a:r>
            <a:r>
              <a:rPr dirty="0" sz="1200">
                <a:latin typeface="Times New Roman"/>
                <a:cs typeface="Times New Roman"/>
              </a:rPr>
              <a:t>must </a:t>
            </a:r>
            <a:r>
              <a:rPr dirty="0" sz="1200" spc="-5">
                <a:latin typeface="Times New Roman"/>
                <a:cs typeface="Times New Roman"/>
              </a:rPr>
              <a:t>directly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explain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prove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idea expressed in the topic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college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fees, you could </a:t>
            </a:r>
            <a:r>
              <a:rPr dirty="0" sz="1200" spc="-5">
                <a:latin typeface="Times New Roman"/>
                <a:cs typeface="Times New Roman"/>
              </a:rPr>
              <a:t>mentions </a:t>
            </a:r>
            <a:r>
              <a:rPr dirty="0" sz="1200">
                <a:latin typeface="Times New Roman"/>
                <a:cs typeface="Times New Roman"/>
              </a:rPr>
              <a:t>inflation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one factor. But if you go on to </a:t>
            </a:r>
            <a:r>
              <a:rPr dirty="0" sz="1200" spc="-5">
                <a:latin typeface="Times New Roman"/>
                <a:cs typeface="Times New Roman"/>
              </a:rPr>
              <a:t>write three or four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on </a:t>
            </a:r>
            <a:r>
              <a:rPr dirty="0" sz="1200">
                <a:latin typeface="Times New Roman"/>
                <a:cs typeface="Times New Roman"/>
              </a:rPr>
              <a:t>inflation and the </a:t>
            </a:r>
            <a:r>
              <a:rPr dirty="0" sz="1200" spc="-5">
                <a:latin typeface="Times New Roman"/>
                <a:cs typeface="Times New Roman"/>
              </a:rPr>
              <a:t>difficulty </a:t>
            </a:r>
            <a:r>
              <a:rPr dirty="0" sz="1200">
                <a:latin typeface="Times New Roman"/>
                <a:cs typeface="Times New Roman"/>
              </a:rPr>
              <a:t>of educating </a:t>
            </a:r>
            <a:r>
              <a:rPr dirty="0" sz="1200" spc="-10">
                <a:latin typeface="Times New Roman"/>
                <a:cs typeface="Times New Roman"/>
              </a:rPr>
              <a:t>three </a:t>
            </a:r>
            <a:r>
              <a:rPr dirty="0" sz="1200" spc="-5">
                <a:latin typeface="Times New Roman"/>
                <a:cs typeface="Times New Roman"/>
              </a:rPr>
              <a:t>or four children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lack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unity</a:t>
            </a:r>
            <a:r>
              <a:rPr dirty="0" sz="1200" spc="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determined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terms of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topic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key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terms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Otherwise,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Look at </a:t>
            </a:r>
            <a:r>
              <a:rPr dirty="0" sz="1200" spc="-5" b="1">
                <a:latin typeface="Times New Roman"/>
                <a:cs typeface="Times New Roman"/>
              </a:rPr>
              <a:t>the following </a:t>
            </a:r>
            <a:r>
              <a:rPr dirty="0" sz="1200" b="1">
                <a:latin typeface="Times New Roman"/>
                <a:cs typeface="Times New Roman"/>
              </a:rPr>
              <a:t>paragraph. </a:t>
            </a:r>
            <a:r>
              <a:rPr dirty="0" sz="1200" spc="-5" b="1">
                <a:latin typeface="Times New Roman"/>
                <a:cs typeface="Times New Roman"/>
              </a:rPr>
              <a:t>Which sentence does not contribute </a:t>
            </a:r>
            <a:r>
              <a:rPr dirty="0" sz="1200" b="1">
                <a:latin typeface="Times New Roman"/>
                <a:cs typeface="Times New Roman"/>
              </a:rPr>
              <a:t>to a </a:t>
            </a:r>
            <a:r>
              <a:rPr dirty="0" sz="1200" spc="-5" b="1">
                <a:latin typeface="Times New Roman"/>
                <a:cs typeface="Times New Roman"/>
              </a:rPr>
              <a:t>unified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effect?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Playing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tennis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keeps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mother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fit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405"/>
              </a:lnSpc>
              <a:tabLst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1.	Running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muscles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930369" y="6872732"/>
            <a:ext cx="4575810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flexibility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teenager.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still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the cup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won for finishing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one-mile </a:t>
            </a:r>
            <a:r>
              <a:rPr dirty="0" sz="1200">
                <a:latin typeface="Times New Roman"/>
                <a:cs typeface="Times New Roman"/>
              </a:rPr>
              <a:t>race in </a:t>
            </a:r>
            <a:r>
              <a:rPr dirty="0" sz="1200" spc="-5">
                <a:latin typeface="Times New Roman"/>
                <a:cs typeface="Times New Roman"/>
              </a:rPr>
              <a:t>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Annual</a:t>
            </a:r>
            <a:r>
              <a:rPr dirty="0" sz="1200" spc="-5">
                <a:latin typeface="Times New Roman"/>
                <a:cs typeface="Times New Roman"/>
              </a:rPr>
              <a:t> Sports.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Serving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especially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balance.</a:t>
            </a:r>
            <a:endParaRPr sz="1200">
              <a:latin typeface="Times New Roman"/>
              <a:cs typeface="Times New Roman"/>
            </a:endParaRPr>
          </a:p>
          <a:p>
            <a:pPr marL="12700" marR="1651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fifty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two,</a:t>
            </a:r>
            <a:r>
              <a:rPr dirty="0" sz="1200" spc="-5">
                <a:latin typeface="Times New Roman"/>
                <a:cs typeface="Times New Roman"/>
              </a:rPr>
              <a:t> my mother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tennis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plays </a:t>
            </a:r>
            <a:r>
              <a:rPr dirty="0" sz="1200">
                <a:latin typeface="Times New Roman"/>
                <a:cs typeface="Times New Roman"/>
              </a:rPr>
              <a:t>it well.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200" y="7047992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73200" y="7398511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8101076"/>
            <a:ext cx="5626735" cy="108331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 b="1">
                <a:latin typeface="Times New Roman"/>
                <a:cs typeface="Times New Roman"/>
              </a:rPr>
              <a:t>In the following paragraph </a:t>
            </a:r>
            <a:r>
              <a:rPr dirty="0" sz="1200" b="1">
                <a:latin typeface="Times New Roman"/>
                <a:cs typeface="Times New Roman"/>
              </a:rPr>
              <a:t>notice how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details </a:t>
            </a:r>
            <a:r>
              <a:rPr dirty="0" sz="1200" b="1">
                <a:latin typeface="Times New Roman"/>
                <a:cs typeface="Times New Roman"/>
              </a:rPr>
              <a:t>are </a:t>
            </a:r>
            <a:r>
              <a:rPr dirty="0" sz="1200" spc="-5" b="1">
                <a:latin typeface="Times New Roman"/>
                <a:cs typeface="Times New Roman"/>
              </a:rPr>
              <a:t>unified </a:t>
            </a:r>
            <a:r>
              <a:rPr dirty="0" sz="1200" b="1">
                <a:latin typeface="Times New Roman"/>
                <a:cs typeface="Times New Roman"/>
              </a:rPr>
              <a:t>– </a:t>
            </a:r>
            <a:r>
              <a:rPr dirty="0" sz="1200" spc="-5" b="1">
                <a:latin typeface="Times New Roman"/>
                <a:cs typeface="Times New Roman"/>
              </a:rPr>
              <a:t>they </a:t>
            </a:r>
            <a:r>
              <a:rPr dirty="0" sz="1200" b="1">
                <a:latin typeface="Times New Roman"/>
                <a:cs typeface="Times New Roman"/>
              </a:rPr>
              <a:t>are </a:t>
            </a:r>
            <a:r>
              <a:rPr dirty="0" sz="1200" spc="-5" b="1">
                <a:latin typeface="Times New Roman"/>
                <a:cs typeface="Times New Roman"/>
              </a:rPr>
              <a:t>about the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same subject </a:t>
            </a:r>
            <a:r>
              <a:rPr dirty="0" sz="1200" b="1">
                <a:latin typeface="Times New Roman"/>
                <a:cs typeface="Times New Roman"/>
              </a:rPr>
              <a:t>/ </a:t>
            </a:r>
            <a:r>
              <a:rPr dirty="0" sz="1200" spc="-5" b="1">
                <a:latin typeface="Times New Roman"/>
                <a:cs typeface="Times New Roman"/>
              </a:rPr>
              <a:t>topic</a:t>
            </a:r>
            <a:r>
              <a:rPr dirty="0" sz="1200" b="1">
                <a:latin typeface="Times New Roman"/>
                <a:cs typeface="Times New Roman"/>
              </a:rPr>
              <a:t> of</a:t>
            </a:r>
            <a:r>
              <a:rPr dirty="0" sz="1200" spc="-5" b="1">
                <a:latin typeface="Times New Roman"/>
                <a:cs typeface="Times New Roman"/>
              </a:rPr>
              <a:t> the 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Hamid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big,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bouncy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guileless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 </a:t>
            </a:r>
            <a:r>
              <a:rPr dirty="0" sz="1200">
                <a:latin typeface="Times New Roman"/>
                <a:cs typeface="Times New Roman"/>
              </a:rPr>
              <a:t>slapped you on the back whenever he </a:t>
            </a:r>
            <a:r>
              <a:rPr dirty="0" sz="1200" spc="-5">
                <a:latin typeface="Times New Roman"/>
                <a:cs typeface="Times New Roman"/>
              </a:rPr>
              <a:t>met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you. He loved to crack jokes and would poke you </a:t>
            </a:r>
            <a:r>
              <a:rPr dirty="0" sz="1200">
                <a:latin typeface="Times New Roman"/>
                <a:cs typeface="Times New Roman"/>
              </a:rPr>
              <a:t>in the ribs 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sure you got the point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jokes.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‘Now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constitution,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2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6797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instance.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can’t </a:t>
            </a:r>
            <a:r>
              <a:rPr dirty="0" sz="1200">
                <a:latin typeface="Times New Roman"/>
                <a:cs typeface="Times New Roman"/>
              </a:rPr>
              <a:t>believe that </a:t>
            </a:r>
            <a:r>
              <a:rPr dirty="0" sz="1200" spc="-5">
                <a:latin typeface="Times New Roman"/>
                <a:cs typeface="Times New Roman"/>
              </a:rPr>
              <a:t>we have made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mess </a:t>
            </a:r>
            <a:r>
              <a:rPr dirty="0" sz="1200">
                <a:latin typeface="Times New Roman"/>
                <a:cs typeface="Times New Roman"/>
              </a:rPr>
              <a:t>of it.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only one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to come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 of this practical </a:t>
            </a:r>
            <a:r>
              <a:rPr dirty="0" sz="1200" spc="-5">
                <a:latin typeface="Times New Roman"/>
                <a:cs typeface="Times New Roman"/>
              </a:rPr>
              <a:t>mess.’</a:t>
            </a:r>
            <a:r>
              <a:rPr dirty="0" sz="1200">
                <a:latin typeface="Times New Roman"/>
                <a:cs typeface="Times New Roman"/>
              </a:rPr>
              <a:t> he would </a:t>
            </a:r>
            <a:r>
              <a:rPr dirty="0" sz="1200" spc="-5">
                <a:latin typeface="Times New Roman"/>
                <a:cs typeface="Times New Roman"/>
              </a:rPr>
              <a:t>continue,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idea after </a:t>
            </a:r>
            <a:r>
              <a:rPr dirty="0" sz="1200" spc="-5">
                <a:latin typeface="Times New Roman"/>
                <a:cs typeface="Times New Roman"/>
              </a:rPr>
              <a:t>another.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strong, protruding teeth would glisten from far away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sat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midst </a:t>
            </a:r>
            <a:r>
              <a:rPr dirty="0" sz="1200">
                <a:latin typeface="Times New Roman"/>
                <a:cs typeface="Times New Roman"/>
              </a:rPr>
              <a:t>of friends, eating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discussing.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 </a:t>
            </a:r>
            <a:r>
              <a:rPr dirty="0" sz="1200" spc="-10" b="1">
                <a:latin typeface="Times New Roman"/>
                <a:cs typeface="Times New Roman"/>
              </a:rPr>
              <a:t>we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determine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-5" b="1">
                <a:latin typeface="Times New Roman"/>
                <a:cs typeface="Times New Roman"/>
              </a:rPr>
              <a:t> this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 unified </a:t>
            </a:r>
            <a:r>
              <a:rPr dirty="0" sz="1200" b="1">
                <a:latin typeface="Times New Roman"/>
                <a:cs typeface="Times New Roman"/>
              </a:rPr>
              <a:t>paragraph?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Note </a:t>
            </a:r>
            <a:r>
              <a:rPr dirty="0" sz="1200">
                <a:latin typeface="Times New Roman"/>
                <a:cs typeface="Times New Roman"/>
              </a:rPr>
              <a:t>the specific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subject/topic and </a:t>
            </a:r>
            <a:r>
              <a:rPr dirty="0" sz="1200">
                <a:latin typeface="Times New Roman"/>
                <a:cs typeface="Times New Roman"/>
              </a:rPr>
              <a:t>the specific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comment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subject. Hamid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subject, </a:t>
            </a:r>
            <a:r>
              <a:rPr dirty="0" sz="1200">
                <a:latin typeface="Times New Roman"/>
                <a:cs typeface="Times New Roman"/>
              </a:rPr>
              <a:t>and it </a:t>
            </a:r>
            <a:r>
              <a:rPr dirty="0" sz="1200" spc="-5">
                <a:latin typeface="Times New Roman"/>
                <a:cs typeface="Times New Roman"/>
              </a:rPr>
              <a:t>is obvious </a:t>
            </a:r>
            <a:r>
              <a:rPr dirty="0" sz="1200">
                <a:latin typeface="Times New Roman"/>
                <a:cs typeface="Times New Roman"/>
              </a:rPr>
              <a:t>that only concrete explanations would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maintain</a:t>
            </a:r>
            <a:r>
              <a:rPr dirty="0" sz="1200">
                <a:latin typeface="Times New Roman"/>
                <a:cs typeface="Times New Roman"/>
              </a:rPr>
              <a:t> unity, and not just any vague </a:t>
            </a:r>
            <a:r>
              <a:rPr dirty="0" sz="1200" spc="-5">
                <a:latin typeface="Times New Roman"/>
                <a:cs typeface="Times New Roman"/>
              </a:rPr>
              <a:t>comment</a:t>
            </a:r>
            <a:r>
              <a:rPr dirty="0" sz="1200">
                <a:latin typeface="Times New Roman"/>
                <a:cs typeface="Times New Roman"/>
              </a:rPr>
              <a:t> about </a:t>
            </a:r>
            <a:r>
              <a:rPr dirty="0" sz="1200" spc="-5">
                <a:latin typeface="Times New Roman"/>
                <a:cs typeface="Times New Roman"/>
              </a:rPr>
              <a:t>him.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comment centers round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words, </a:t>
            </a:r>
            <a:r>
              <a:rPr dirty="0" sz="1200" i="1">
                <a:latin typeface="Times New Roman"/>
                <a:cs typeface="Times New Roman"/>
              </a:rPr>
              <a:t>big, bouncy, guileless,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on his having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passion for </a:t>
            </a:r>
            <a:r>
              <a:rPr dirty="0" sz="1200" i="1">
                <a:latin typeface="Times New Roman"/>
                <a:cs typeface="Times New Roman"/>
              </a:rPr>
              <a:t>food, </a:t>
            </a:r>
            <a:r>
              <a:rPr dirty="0" sz="1200" spc="-5" i="1">
                <a:latin typeface="Times New Roman"/>
                <a:cs typeface="Times New Roman"/>
              </a:rPr>
              <a:t>and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passion for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ideas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next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note the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have been selected to develop the topic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are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specific,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concrete than the topic idea.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thing that you must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 is</a:t>
            </a:r>
            <a:r>
              <a:rPr dirty="0" sz="1200">
                <a:latin typeface="Times New Roman"/>
                <a:cs typeface="Times New Roman"/>
              </a:rPr>
              <a:t> that do not lengthen </a:t>
            </a:r>
            <a:r>
              <a:rPr dirty="0" sz="1200" spc="-5">
                <a:latin typeface="Times New Roman"/>
                <a:cs typeface="Times New Roman"/>
              </a:rPr>
              <a:t>paragraphs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generalities.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concrete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enough.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1- The young Pakistani </a:t>
            </a:r>
            <a:r>
              <a:rPr dirty="0" sz="1200" spc="-5">
                <a:latin typeface="Times New Roman"/>
                <a:cs typeface="Times New Roman"/>
              </a:rPr>
              <a:t>woman has become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puppet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hands of fashion gurus. 2- </a:t>
            </a:r>
            <a:r>
              <a:rPr dirty="0" sz="1200" spc="-5" i="1">
                <a:latin typeface="Times New Roman"/>
                <a:cs typeface="Times New Roman"/>
              </a:rPr>
              <a:t>She </a:t>
            </a:r>
            <a:r>
              <a:rPr dirty="0" sz="1200" i="1">
                <a:latin typeface="Times New Roman"/>
                <a:cs typeface="Times New Roman"/>
              </a:rPr>
              <a:t> does </a:t>
            </a:r>
            <a:r>
              <a:rPr dirty="0" sz="1200" spc="-5" i="1">
                <a:latin typeface="Times New Roman"/>
                <a:cs typeface="Times New Roman"/>
              </a:rPr>
              <a:t>everything </a:t>
            </a:r>
            <a:r>
              <a:rPr dirty="0" sz="1200" i="1">
                <a:latin typeface="Times New Roman"/>
                <a:cs typeface="Times New Roman"/>
              </a:rPr>
              <a:t>they tell </a:t>
            </a:r>
            <a:r>
              <a:rPr dirty="0" sz="1200" spc="-5" i="1">
                <a:latin typeface="Times New Roman"/>
                <a:cs typeface="Times New Roman"/>
              </a:rPr>
              <a:t>her </a:t>
            </a:r>
            <a:r>
              <a:rPr dirty="0" sz="1200" i="1">
                <a:latin typeface="Times New Roman"/>
                <a:cs typeface="Times New Roman"/>
              </a:rPr>
              <a:t>to do. </a:t>
            </a:r>
            <a:r>
              <a:rPr dirty="0" sz="1200" spc="-5">
                <a:latin typeface="Times New Roman"/>
                <a:cs typeface="Times New Roman"/>
              </a:rPr>
              <a:t>3- She raises hemlines when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give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nod. 4-They 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lowered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raise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sales.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5-At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suggestion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wears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colours,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dull</a:t>
            </a:r>
            <a:r>
              <a:rPr dirty="0" sz="1200" spc="-5">
                <a:latin typeface="Times New Roman"/>
                <a:cs typeface="Times New Roman"/>
              </a:rPr>
              <a:t> colors, she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wearing </a:t>
            </a:r>
            <a:r>
              <a:rPr dirty="0" sz="1200">
                <a:latin typeface="Times New Roman"/>
                <a:cs typeface="Times New Roman"/>
              </a:rPr>
              <a:t>drab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colors.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It is sentence no.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which merely repeats what </a:t>
            </a:r>
            <a:r>
              <a:rPr dirty="0" sz="1200">
                <a:latin typeface="Times New Roman"/>
                <a:cs typeface="Times New Roman"/>
              </a:rPr>
              <a:t>the topic </a:t>
            </a:r>
            <a:r>
              <a:rPr dirty="0" sz="1200" spc="-5">
                <a:latin typeface="Times New Roman"/>
                <a:cs typeface="Times New Roman"/>
              </a:rPr>
              <a:t>sentence says. You should not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merely </a:t>
            </a:r>
            <a:r>
              <a:rPr dirty="0" sz="1200">
                <a:latin typeface="Times New Roman"/>
                <a:cs typeface="Times New Roman"/>
              </a:rPr>
              <a:t>repeat the </a:t>
            </a:r>
            <a:r>
              <a:rPr dirty="0" sz="1200" spc="-5">
                <a:latin typeface="Times New Roman"/>
                <a:cs typeface="Times New Roman"/>
              </a:rPr>
              <a:t>same statement </a:t>
            </a:r>
            <a:r>
              <a:rPr dirty="0" sz="1200">
                <a:latin typeface="Times New Roman"/>
                <a:cs typeface="Times New Roman"/>
              </a:rPr>
              <a:t>in different but equally general </a:t>
            </a:r>
            <a:r>
              <a:rPr dirty="0" sz="1200" spc="-5">
                <a:latin typeface="Times New Roman"/>
                <a:cs typeface="Times New Roman"/>
              </a:rPr>
              <a:t>words.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have seen so far all of the details have been </a:t>
            </a:r>
            <a:r>
              <a:rPr dirty="0" sz="1200">
                <a:latin typeface="Times New Roman"/>
                <a:cs typeface="Times New Roman"/>
              </a:rPr>
              <a:t>equal to one </a:t>
            </a:r>
            <a:r>
              <a:rPr dirty="0" sz="1200" spc="-5">
                <a:latin typeface="Times New Roman"/>
                <a:cs typeface="Times New Roman"/>
              </a:rPr>
              <a:t>another. This does not happen </a:t>
            </a:r>
            <a:r>
              <a:rPr dirty="0" sz="1200">
                <a:latin typeface="Times New Roman"/>
                <a:cs typeface="Times New Roman"/>
              </a:rPr>
              <a:t> all the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>
                <a:latin typeface="Times New Roman"/>
                <a:cs typeface="Times New Roman"/>
              </a:rPr>
              <a:t>The details of a paragraph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have other logical </a:t>
            </a:r>
            <a:r>
              <a:rPr dirty="0" sz="1200" spc="-5">
                <a:latin typeface="Times New Roman"/>
                <a:cs typeface="Times New Roman"/>
              </a:rPr>
              <a:t>relationships </a:t>
            </a:r>
            <a:r>
              <a:rPr dirty="0" sz="1200">
                <a:latin typeface="Times New Roman"/>
                <a:cs typeface="Times New Roman"/>
              </a:rPr>
              <a:t>to each </a:t>
            </a:r>
            <a:r>
              <a:rPr dirty="0" sz="1200" spc="-5">
                <a:latin typeface="Times New Roman"/>
                <a:cs typeface="Times New Roman"/>
              </a:rPr>
              <a:t>other. </a:t>
            </a:r>
            <a:r>
              <a:rPr dirty="0" sz="1200">
                <a:latin typeface="Times New Roman"/>
                <a:cs typeface="Times New Roman"/>
              </a:rPr>
              <a:t> There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divisions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further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divisions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division.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Pakistani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citizen,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break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characteristics into three subdivisions – </a:t>
            </a:r>
            <a:r>
              <a:rPr dirty="0" sz="1200" spc="-5">
                <a:latin typeface="Times New Roman"/>
                <a:cs typeface="Times New Roman"/>
              </a:rPr>
              <a:t>awareness, </a:t>
            </a:r>
            <a:r>
              <a:rPr dirty="0" sz="1200">
                <a:latin typeface="Times New Roman"/>
                <a:cs typeface="Times New Roman"/>
              </a:rPr>
              <a:t>knowledge and action.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 provide concrete details for all or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the subdivisions. It need not be in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 quantity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each.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Characteristics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Citizen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a)	</a:t>
            </a:r>
            <a:r>
              <a:rPr dirty="0" sz="1200" spc="-5">
                <a:latin typeface="Times New Roman"/>
                <a:cs typeface="Times New Roman"/>
              </a:rPr>
              <a:t>Awareness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around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local,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national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2956" y="7223252"/>
            <a:ext cx="451675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international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constitutional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participation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political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participation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(voting)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7398511"/>
            <a:ext cx="1530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925816"/>
            <a:ext cx="5626735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Length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&amp;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Type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 good, </a:t>
            </a:r>
            <a:r>
              <a:rPr dirty="0" sz="1200">
                <a:latin typeface="Times New Roman"/>
                <a:cs typeface="Times New Roman"/>
              </a:rPr>
              <a:t>effective </a:t>
            </a:r>
            <a:r>
              <a:rPr dirty="0" sz="1200" spc="-5">
                <a:latin typeface="Times New Roman"/>
                <a:cs typeface="Times New Roman"/>
              </a:rPr>
              <a:t>paragraph should be </a:t>
            </a:r>
            <a:r>
              <a:rPr dirty="0" sz="1200">
                <a:latin typeface="Times New Roman"/>
                <a:cs typeface="Times New Roman"/>
              </a:rPr>
              <a:t>long </a:t>
            </a:r>
            <a:r>
              <a:rPr dirty="0" sz="1200" spc="-5">
                <a:latin typeface="Times New Roman"/>
                <a:cs typeface="Times New Roman"/>
              </a:rPr>
              <a:t>enough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clinch its point. How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can come </a:t>
            </a:r>
            <a:r>
              <a:rPr dirty="0" sz="1200">
                <a:latin typeface="Times New Roman"/>
                <a:cs typeface="Times New Roman"/>
              </a:rPr>
              <a:t> about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depend on the topic and the audience who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read depends on the topic and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audience </a:t>
            </a:r>
            <a:r>
              <a:rPr dirty="0" sz="1200" spc="-5">
                <a:latin typeface="Times New Roman"/>
                <a:cs typeface="Times New Roman"/>
              </a:rPr>
              <a:t>who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read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writing. For instance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strong argumentative position might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proof.</a:t>
            </a:r>
            <a:r>
              <a:rPr dirty="0" sz="1200">
                <a:latin typeface="Times New Roman"/>
                <a:cs typeface="Times New Roman"/>
              </a:rPr>
              <a:t> You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to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been </a:t>
            </a:r>
            <a:r>
              <a:rPr dirty="0" sz="1200" spc="-5">
                <a:latin typeface="Times New Roman"/>
                <a:cs typeface="Times New Roman"/>
              </a:rPr>
              <a:t>discussed.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341620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Here is </a:t>
            </a:r>
            <a:r>
              <a:rPr dirty="0" sz="1200">
                <a:latin typeface="Times New Roman"/>
                <a:cs typeface="Times New Roman"/>
              </a:rPr>
              <a:t>a topic sentence. Look at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key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terms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decide which detail would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key </a:t>
            </a:r>
            <a:r>
              <a:rPr dirty="0" sz="1200" spc="-5">
                <a:latin typeface="Times New Roman"/>
                <a:cs typeface="Times New Roman"/>
              </a:rPr>
              <a:t>term.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sentence: Folk </a:t>
            </a:r>
            <a:r>
              <a:rPr dirty="0" sz="1200" spc="-5">
                <a:latin typeface="Times New Roman"/>
                <a:cs typeface="Times New Roman"/>
              </a:rPr>
              <a:t>songs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popular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 b="1" i="1">
                <a:latin typeface="Times New Roman"/>
                <a:cs typeface="Times New Roman"/>
              </a:rPr>
              <a:t>greater realism.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Key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Terms: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realism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1965452"/>
            <a:ext cx="499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Details: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0369" y="1965452"/>
            <a:ext cx="225234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9545" indent="-157480">
              <a:lnSpc>
                <a:spcPts val="1410"/>
              </a:lnSpc>
              <a:spcBef>
                <a:spcPts val="100"/>
              </a:spcBef>
              <a:buAutoNum type="alphaLcParenR"/>
              <a:tabLst>
                <a:tab pos="170180" algn="l"/>
              </a:tabLst>
            </a:pPr>
            <a:r>
              <a:rPr dirty="0" sz="1200" spc="-5">
                <a:latin typeface="Times New Roman"/>
                <a:cs typeface="Times New Roman"/>
              </a:rPr>
              <a:t>spontaneous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participation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Honesty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Powerful,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emotions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41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Involved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ecology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841752"/>
            <a:ext cx="562673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unified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regard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Topic Sentence: Inflation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5" b="1" i="1">
                <a:latin typeface="Times New Roman"/>
                <a:cs typeface="Times New Roman"/>
              </a:rPr>
              <a:t>affected </a:t>
            </a:r>
            <a:r>
              <a:rPr dirty="0" sz="1200">
                <a:latin typeface="Times New Roman"/>
                <a:cs typeface="Times New Roman"/>
              </a:rPr>
              <a:t>a varied </a:t>
            </a:r>
            <a:r>
              <a:rPr dirty="0" sz="1200" spc="-5" b="1" i="1">
                <a:latin typeface="Times New Roman"/>
                <a:cs typeface="Times New Roman"/>
              </a:rPr>
              <a:t>cross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section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public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3367530"/>
            <a:ext cx="74866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Key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Terms: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68347" y="3367530"/>
            <a:ext cx="242951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165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Affected,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section</a:t>
            </a:r>
            <a:endParaRPr sz="1200">
              <a:latin typeface="Times New Roman"/>
              <a:cs typeface="Times New Roman"/>
            </a:endParaRPr>
          </a:p>
          <a:p>
            <a:pPr marL="169545" indent="-157480">
              <a:lnSpc>
                <a:spcPts val="1380"/>
              </a:lnSpc>
              <a:buAutoNum type="alphaLcParenR"/>
              <a:tabLst>
                <a:tab pos="170180" algn="l"/>
              </a:tabLst>
            </a:pP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incomes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AutoNum type="alphaLcParenR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Petty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owners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Medicine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hospital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charges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AutoNum type="alphaLcParenR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Overcrowded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hospitals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4419090"/>
            <a:ext cx="546671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3.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detail 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 be unified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regard to the key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this topic sentence?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Sentence: The pollution 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increased </a:t>
            </a:r>
            <a:r>
              <a:rPr dirty="0" sz="1200">
                <a:latin typeface="Times New Roman"/>
                <a:cs typeface="Times New Roman"/>
              </a:rPr>
              <a:t>in great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tabLst>
                <a:tab pos="1040765" algn="l"/>
              </a:tabLst>
            </a:pPr>
            <a:r>
              <a:rPr dirty="0" sz="1200" spc="-5">
                <a:latin typeface="Times New Roman"/>
                <a:cs typeface="Times New Roman"/>
              </a:rPr>
              <a:t>Key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Term:	Increased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927735" algn="l"/>
                <a:tab pos="1384300" algn="l"/>
              </a:tabLst>
            </a:pPr>
            <a:r>
              <a:rPr dirty="0" sz="1200" spc="-5">
                <a:latin typeface="Times New Roman"/>
                <a:cs typeface="Times New Roman"/>
              </a:rPr>
              <a:t>Details:	</a:t>
            </a:r>
            <a:r>
              <a:rPr dirty="0" sz="1200">
                <a:latin typeface="Times New Roman"/>
                <a:cs typeface="Times New Roman"/>
              </a:rPr>
              <a:t>a)	Cars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sheets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30400" y="5120132"/>
            <a:ext cx="15303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387295" y="5120132"/>
            <a:ext cx="210566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1190625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Deforestation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Polluted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</a:t>
            </a:r>
            <a:r>
              <a:rPr dirty="0" sz="1200" spc="-10">
                <a:latin typeface="Times New Roman"/>
                <a:cs typeface="Times New Roman"/>
              </a:rPr>
              <a:t>v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rs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Competition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imported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vehicles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5821171"/>
            <a:ext cx="5626735" cy="33629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b="1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u="heavy" sz="1200" spc="254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heavy" sz="1200" spc="26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subdivision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historical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novels.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15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appeal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patriotic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feelings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factitious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presents events</a:t>
            </a:r>
            <a:r>
              <a:rPr dirty="0" sz="1200">
                <a:latin typeface="Times New Roman"/>
                <a:cs typeface="Times New Roman"/>
              </a:rPr>
              <a:t> in a</a:t>
            </a:r>
            <a:r>
              <a:rPr dirty="0" sz="1200" spc="-5">
                <a:latin typeface="Times New Roman"/>
                <a:cs typeface="Times New Roman"/>
              </a:rPr>
              <a:t> 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simplified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410"/>
              </a:lnSpc>
              <a:buAutoNum type="alphaLcParenR"/>
              <a:tabLst>
                <a:tab pos="177800" algn="l"/>
              </a:tabLst>
            </a:pPr>
            <a:r>
              <a:rPr dirty="0" sz="1200" spc="-5">
                <a:latin typeface="Times New Roman"/>
                <a:cs typeface="Times New Roman"/>
              </a:rPr>
              <a:t>glorify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2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Urdu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films,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grouped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subdivision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qualities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hero?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15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dance.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AutoNum type="alphaLcParenR"/>
              <a:tabLst>
                <a:tab pos="178435" algn="l"/>
              </a:tabLst>
            </a:pPr>
            <a:r>
              <a:rPr dirty="0" sz="1200" spc="-5">
                <a:latin typeface="Times New Roman"/>
                <a:cs typeface="Times New Roman"/>
              </a:rPr>
              <a:t>Emerges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fights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scratch.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heights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AutoNum type="alphaLcParenR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Monotonous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plots.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*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70815" indent="-158750">
              <a:lnSpc>
                <a:spcPts val="1410"/>
              </a:lnSpc>
              <a:buFont typeface="Times New Roman"/>
              <a:buAutoNum type="arabicPeriod" startAt="6"/>
              <a:tabLst>
                <a:tab pos="171450" algn="l"/>
              </a:tabLst>
            </a:pP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technology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helped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housewife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Key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housewife</a:t>
            </a:r>
            <a:endParaRPr sz="1200">
              <a:latin typeface="Times New Roman"/>
              <a:cs typeface="Times New Roman"/>
            </a:endParaRPr>
          </a:p>
          <a:p>
            <a:pPr lvl="1" marL="1993900" indent="-152400">
              <a:lnSpc>
                <a:spcPts val="1380"/>
              </a:lnSpc>
              <a:buAutoNum type="arabicPeriod"/>
              <a:tabLst>
                <a:tab pos="19939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Save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time,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Labour,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effort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kitchen</a:t>
            </a:r>
            <a:endParaRPr sz="1200">
              <a:latin typeface="Times New Roman"/>
              <a:cs typeface="Times New Roman"/>
            </a:endParaRPr>
          </a:p>
          <a:p>
            <a:pPr lvl="1" marL="1993900" indent="-153035">
              <a:lnSpc>
                <a:spcPts val="1410"/>
              </a:lnSpc>
              <a:buAutoNum type="arabicPeriod"/>
              <a:tabLst>
                <a:tab pos="199453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Cleaner,</a:t>
            </a:r>
            <a:r>
              <a:rPr dirty="0" u="sng" sz="120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Efficient,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Washing</a:t>
            </a:r>
            <a:r>
              <a:rPr dirty="0" sz="120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264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ctr" marR="272415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._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Fridge,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Saves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daily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cooking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II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Coherence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we </a:t>
            </a:r>
            <a:r>
              <a:rPr dirty="0" sz="1200">
                <a:latin typeface="Times New Roman"/>
                <a:cs typeface="Times New Roman"/>
              </a:rPr>
              <a:t>shall look at the second </a:t>
            </a:r>
            <a:r>
              <a:rPr dirty="0" sz="1200" spc="-5">
                <a:latin typeface="Times New Roman"/>
                <a:cs typeface="Times New Roman"/>
              </a:rPr>
              <a:t>element </a:t>
            </a:r>
            <a:r>
              <a:rPr dirty="0" sz="1200">
                <a:latin typeface="Times New Roman"/>
                <a:cs typeface="Times New Roman"/>
              </a:rPr>
              <a:t>of a good paragraph i.e. coherence-which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 “to hold together.” Coherence in writing refers to the </a:t>
            </a:r>
            <a:r>
              <a:rPr dirty="0" sz="1200" spc="-5">
                <a:latin typeface="Times New Roman"/>
                <a:cs typeface="Times New Roman"/>
              </a:rPr>
              <a:t>movement </a:t>
            </a:r>
            <a:r>
              <a:rPr dirty="0" sz="1200">
                <a:latin typeface="Times New Roman"/>
                <a:cs typeface="Times New Roman"/>
              </a:rPr>
              <a:t>from one sentence 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 which must be smooth and logical. In </a:t>
            </a:r>
            <a:r>
              <a:rPr dirty="0" sz="1200" spc="-5">
                <a:latin typeface="Times New Roman"/>
                <a:cs typeface="Times New Roman"/>
              </a:rPr>
              <a:t>the same way </a:t>
            </a:r>
            <a:r>
              <a:rPr dirty="0" sz="1200">
                <a:latin typeface="Times New Roman"/>
                <a:cs typeface="Times New Roman"/>
              </a:rPr>
              <a:t>in a longer piece of writing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movement </a:t>
            </a:r>
            <a:r>
              <a:rPr dirty="0" sz="1200">
                <a:latin typeface="Times New Roman"/>
                <a:cs typeface="Times New Roman"/>
              </a:rPr>
              <a:t>form one paragraph to another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smooth </a:t>
            </a:r>
            <a:r>
              <a:rPr dirty="0" sz="1200">
                <a:latin typeface="Times New Roman"/>
                <a:cs typeface="Times New Roman"/>
              </a:rPr>
              <a:t>and logical. In other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there should be no sudden </a:t>
            </a:r>
            <a:r>
              <a:rPr dirty="0" sz="1200" spc="-5">
                <a:latin typeface="Times New Roman"/>
                <a:cs typeface="Times New Roman"/>
              </a:rPr>
              <a:t>jumps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thought.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sentence should flow smoothly 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Coherence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achieved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two ways.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244600" y="2666492"/>
            <a:ext cx="16192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207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701800" y="2666492"/>
            <a:ext cx="432625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transition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signals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arranging 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3193795"/>
            <a:ext cx="5633085" cy="5990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Transition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Signals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 indent="38735">
              <a:lnSpc>
                <a:spcPts val="138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had a lot of transition </a:t>
            </a:r>
            <a:r>
              <a:rPr dirty="0" sz="1200" spc="-5">
                <a:latin typeface="Times New Roman"/>
                <a:cs typeface="Times New Roman"/>
              </a:rPr>
              <a:t>signals </a:t>
            </a:r>
            <a:r>
              <a:rPr dirty="0" sz="1200">
                <a:latin typeface="Times New Roman"/>
                <a:cs typeface="Times New Roman"/>
              </a:rPr>
              <a:t>in our earlier </a:t>
            </a:r>
            <a:r>
              <a:rPr dirty="0" sz="1200" spc="-5">
                <a:latin typeface="Times New Roman"/>
                <a:cs typeface="Times New Roman"/>
              </a:rPr>
              <a:t>lessons.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from the perspective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Now we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going </a:t>
            </a:r>
            <a:r>
              <a:rPr dirty="0" sz="1200">
                <a:latin typeface="Times New Roman"/>
                <a:cs typeface="Times New Roman"/>
              </a:rPr>
              <a:t>to look </a:t>
            </a:r>
            <a:r>
              <a:rPr dirty="0" sz="1200" spc="-5">
                <a:latin typeface="Times New Roman"/>
                <a:cs typeface="Times New Roman"/>
              </a:rPr>
              <a:t>at transition signals for the perspective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 think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transition signals similar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road side </a:t>
            </a:r>
            <a:r>
              <a:rPr dirty="0" sz="1200">
                <a:latin typeface="Times New Roman"/>
                <a:cs typeface="Times New Roman"/>
              </a:rPr>
              <a:t>traffic </a:t>
            </a:r>
            <a:r>
              <a:rPr dirty="0" sz="1200" spc="-5">
                <a:latin typeface="Times New Roman"/>
                <a:cs typeface="Times New Roman"/>
              </a:rPr>
              <a:t>signs that tell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reader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direction he/she has to take.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other words </a:t>
            </a:r>
            <a:r>
              <a:rPr dirty="0" sz="1200">
                <a:latin typeface="Times New Roman"/>
                <a:cs typeface="Times New Roman"/>
              </a:rPr>
              <a:t>they tell </a:t>
            </a:r>
            <a:r>
              <a:rPr dirty="0" sz="1200" spc="-5">
                <a:latin typeface="Times New Roman"/>
                <a:cs typeface="Times New Roman"/>
              </a:rPr>
              <a:t>the reader when the writer is taking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>
                <a:latin typeface="Times New Roman"/>
                <a:cs typeface="Times New Roman"/>
              </a:rPr>
              <a:t> route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(words</a:t>
            </a:r>
            <a:r>
              <a:rPr dirty="0" sz="1200">
                <a:latin typeface="Times New Roman"/>
                <a:cs typeface="Times New Roman"/>
              </a:rPr>
              <a:t> like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similarly,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moreover,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furthermore,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in</a:t>
            </a:r>
            <a:r>
              <a:rPr dirty="0" sz="1200" spc="29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addition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 opposite route / idea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b="1" i="1">
                <a:latin typeface="Times New Roman"/>
                <a:cs typeface="Times New Roman"/>
              </a:rPr>
              <a:t>on the other hand, </a:t>
            </a:r>
            <a:r>
              <a:rPr dirty="0" sz="1200" b="1" i="1">
                <a:latin typeface="Times New Roman"/>
                <a:cs typeface="Times New Roman"/>
              </a:rPr>
              <a:t>however </a:t>
            </a:r>
            <a:r>
              <a:rPr dirty="0" sz="1200" spc="-5" b="1" i="1">
                <a:latin typeface="Times New Roman"/>
                <a:cs typeface="Times New Roman"/>
              </a:rPr>
              <a:t>contrast</a:t>
            </a:r>
            <a:r>
              <a:rPr dirty="0" sz="1200" spc="-5">
                <a:latin typeface="Times New Roman"/>
                <a:cs typeface="Times New Roman"/>
              </a:rPr>
              <a:t>) or giving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example (</a:t>
            </a:r>
            <a:r>
              <a:rPr dirty="0" sz="1200" spc="-5" b="1" i="1">
                <a:latin typeface="Times New Roman"/>
                <a:cs typeface="Times New Roman"/>
              </a:rPr>
              <a:t>for </a:t>
            </a:r>
            <a:r>
              <a:rPr dirty="0" sz="1200" b="1" i="1">
                <a:latin typeface="Times New Roman"/>
                <a:cs typeface="Times New Roman"/>
              </a:rPr>
              <a:t> example,</a:t>
            </a:r>
            <a:r>
              <a:rPr dirty="0" sz="1200" spc="-5" b="1" i="1">
                <a:latin typeface="Times New Roman"/>
                <a:cs typeface="Times New Roman"/>
              </a:rPr>
              <a:t> for instance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-5">
                <a:latin typeface="Times New Roman"/>
                <a:cs typeface="Times New Roman"/>
              </a:rPr>
              <a:t> 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b="1" i="1">
                <a:latin typeface="Times New Roman"/>
                <a:cs typeface="Times New Roman"/>
              </a:rPr>
              <a:t>as</a:t>
            </a:r>
            <a:r>
              <a:rPr dirty="0" sz="1200" b="1" i="1">
                <a:latin typeface="Times New Roman"/>
                <a:cs typeface="Times New Roman"/>
              </a:rPr>
              <a:t> a</a:t>
            </a:r>
            <a:r>
              <a:rPr dirty="0" sz="1200" spc="-5" b="1" i="1">
                <a:latin typeface="Times New Roman"/>
                <a:cs typeface="Times New Roman"/>
              </a:rPr>
              <a:t> result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b="1" i="1">
                <a:latin typeface="Times New Roman"/>
                <a:cs typeface="Times New Roman"/>
              </a:rPr>
              <a:t>in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conclusion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algn="just" marL="12700" marR="10795" indent="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By using transition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guide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reader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it easier for </a:t>
            </a:r>
            <a:r>
              <a:rPr dirty="0" sz="1200" spc="-5">
                <a:latin typeface="Times New Roman"/>
                <a:cs typeface="Times New Roman"/>
              </a:rPr>
              <a:t>him/her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writer’s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Transition</a:t>
            </a:r>
            <a:r>
              <a:rPr dirty="0" sz="1200" spc="-5">
                <a:latin typeface="Times New Roman"/>
                <a:cs typeface="Times New Roman"/>
              </a:rPr>
              <a:t> words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coherence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1079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Look at the following 2 paragraphs. Both paragraphs give the </a:t>
            </a:r>
            <a:r>
              <a:rPr dirty="0" sz="1200" spc="-5">
                <a:latin typeface="Times New Roman"/>
                <a:cs typeface="Times New Roman"/>
              </a:rPr>
              <a:t>same information, </a:t>
            </a:r>
            <a:r>
              <a:rPr dirty="0" sz="1200">
                <a:latin typeface="Times New Roman"/>
                <a:cs typeface="Times New Roman"/>
              </a:rPr>
              <a:t>yet one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easier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transition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signals.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Paragraph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1079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Students who come </a:t>
            </a:r>
            <a:r>
              <a:rPr dirty="0" sz="1200">
                <a:latin typeface="Times New Roman"/>
                <a:cs typeface="Times New Roman"/>
              </a:rPr>
              <a:t>to college </a:t>
            </a:r>
            <a:r>
              <a:rPr dirty="0" sz="1200" spc="-5">
                <a:latin typeface="Times New Roman"/>
                <a:cs typeface="Times New Roman"/>
              </a:rPr>
              <a:t>from high school find </a:t>
            </a:r>
            <a:r>
              <a:rPr dirty="0" sz="1200">
                <a:latin typeface="Times New Roman"/>
                <a:cs typeface="Times New Roman"/>
              </a:rPr>
              <a:t>that at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few problems. </a:t>
            </a:r>
            <a:r>
              <a:rPr dirty="0" sz="1200">
                <a:latin typeface="Times New Roman"/>
                <a:cs typeface="Times New Roman"/>
              </a:rPr>
              <a:t> Their </a:t>
            </a:r>
            <a:r>
              <a:rPr dirty="0" sz="1200" spc="-5">
                <a:latin typeface="Times New Roman"/>
                <a:cs typeface="Times New Roman"/>
              </a:rPr>
              <a:t>college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 much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bigger than their high school. The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first year student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 does not know any of the students of the higher </a:t>
            </a:r>
            <a:r>
              <a:rPr dirty="0" sz="1200" spc="-5">
                <a:latin typeface="Times New Roman"/>
                <a:cs typeface="Times New Roman"/>
              </a:rPr>
              <a:t>classes.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students </a:t>
            </a:r>
            <a:r>
              <a:rPr dirty="0" sz="1200">
                <a:latin typeface="Times New Roman"/>
                <a:cs typeface="Times New Roman"/>
              </a:rPr>
              <a:t>are not always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friendly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him/her.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tricks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him/her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tease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he/she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he biggest students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her school; now he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she is </a:t>
            </a:r>
            <a:r>
              <a:rPr dirty="0" sz="1200">
                <a:latin typeface="Times New Roman"/>
                <a:cs typeface="Times New Roman"/>
              </a:rPr>
              <a:t>one of the </a:t>
            </a:r>
            <a:r>
              <a:rPr dirty="0" sz="1200" spc="-5">
                <a:latin typeface="Times New Roman"/>
                <a:cs typeface="Times New Roman"/>
              </a:rPr>
              <a:t>smallest. </a:t>
            </a:r>
            <a:r>
              <a:rPr dirty="0" sz="1200">
                <a:latin typeface="Times New Roman"/>
                <a:cs typeface="Times New Roman"/>
              </a:rPr>
              <a:t>Another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he/she no longer </a:t>
            </a:r>
            <a:r>
              <a:rPr dirty="0" sz="1200" spc="-5">
                <a:latin typeface="Times New Roman"/>
                <a:cs typeface="Times New Roman"/>
              </a:rPr>
              <a:t>has his/her classroom. </a:t>
            </a:r>
            <a:r>
              <a:rPr dirty="0" sz="1200">
                <a:latin typeface="Times New Roman"/>
                <a:cs typeface="Times New Roman"/>
              </a:rPr>
              <a:t>He/she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 go to a different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classroom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subject.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unfortunate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carry</a:t>
            </a:r>
            <a:r>
              <a:rPr dirty="0" sz="1200">
                <a:latin typeface="Times New Roman"/>
                <a:cs typeface="Times New Roman"/>
              </a:rPr>
              <a:t> 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things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him/her. He/she is </a:t>
            </a:r>
            <a:r>
              <a:rPr dirty="0" sz="1200">
                <a:latin typeface="Times New Roman"/>
                <a:cs typeface="Times New Roman"/>
              </a:rPr>
              <a:t>not used to this. </a:t>
            </a: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first year student does not have a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teacher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either.</a:t>
            </a:r>
            <a:endParaRPr sz="1200">
              <a:latin typeface="Times New Roman"/>
              <a:cs typeface="Times New Roman"/>
            </a:endParaRPr>
          </a:p>
          <a:p>
            <a:pPr algn="just" marL="12700" marR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Instead of one teacher whom </a:t>
            </a:r>
            <a:r>
              <a:rPr dirty="0" sz="1200" spc="-5">
                <a:latin typeface="Times New Roman"/>
                <a:cs typeface="Times New Roman"/>
              </a:rPr>
              <a:t>he/she </a:t>
            </a:r>
            <a:r>
              <a:rPr dirty="0" sz="1200">
                <a:latin typeface="Times New Roman"/>
                <a:cs typeface="Times New Roman"/>
              </a:rPr>
              <a:t>knows well, he/she has six or seven teachers whom 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knows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all.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girl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college</a:t>
            </a:r>
            <a:r>
              <a:rPr dirty="0" sz="1200">
                <a:latin typeface="Times New Roman"/>
                <a:cs typeface="Times New Roman"/>
              </a:rPr>
              <a:t> often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finds 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rather strange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first.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5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Paragraph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1016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>
                <a:latin typeface="Times New Roman"/>
                <a:cs typeface="Times New Roman"/>
              </a:rPr>
              <a:t> 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few </a:t>
            </a:r>
            <a:r>
              <a:rPr dirty="0" sz="1200" spc="-5">
                <a:latin typeface="Times New Roman"/>
                <a:cs typeface="Times New Roman"/>
              </a:rPr>
              <a:t> problems.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The</a:t>
            </a:r>
            <a:r>
              <a:rPr dirty="0" sz="1200" spc="10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main</a:t>
            </a:r>
            <a:r>
              <a:rPr dirty="0" sz="1200" spc="10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problem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college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bigger,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school. </a:t>
            </a:r>
            <a:r>
              <a:rPr dirty="0" sz="1200" b="1" i="1">
                <a:latin typeface="Times New Roman"/>
                <a:cs typeface="Times New Roman"/>
              </a:rPr>
              <a:t>Another thing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the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first year </a:t>
            </a:r>
            <a:r>
              <a:rPr dirty="0" sz="1200" spc="-5">
                <a:latin typeface="Times New Roman"/>
                <a:cs typeface="Times New Roman"/>
              </a:rPr>
              <a:t>student often does not know </a:t>
            </a:r>
            <a:r>
              <a:rPr dirty="0" sz="120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friendly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</a:t>
            </a:r>
            <a:r>
              <a:rPr dirty="0" sz="1200" spc="-5" b="1">
                <a:latin typeface="Times New Roman"/>
                <a:cs typeface="Times New Roman"/>
              </a:rPr>
              <a:t>.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Sometimes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play </a:t>
            </a:r>
            <a:r>
              <a:rPr dirty="0" sz="1200">
                <a:latin typeface="Times New Roman"/>
                <a:cs typeface="Times New Roman"/>
              </a:rPr>
              <a:t>tricks </a:t>
            </a:r>
            <a:r>
              <a:rPr dirty="0" sz="1200" spc="-5">
                <a:latin typeface="Times New Roman"/>
                <a:cs typeface="Times New Roman"/>
              </a:rPr>
              <a:t>on him or </a:t>
            </a:r>
            <a:r>
              <a:rPr dirty="0" sz="1200">
                <a:latin typeface="Times New Roman"/>
                <a:cs typeface="Times New Roman"/>
              </a:rPr>
              <a:t>tease </a:t>
            </a:r>
            <a:r>
              <a:rPr dirty="0" sz="1200" spc="-5">
                <a:latin typeface="Times New Roman"/>
                <a:cs typeface="Times New Roman"/>
              </a:rPr>
              <a:t>him. </a:t>
            </a:r>
            <a:r>
              <a:rPr dirty="0" sz="1200" spc="-5" b="1" i="1">
                <a:latin typeface="Times New Roman"/>
                <a:cs typeface="Times New Roman"/>
              </a:rPr>
              <a:t>Another change is </a:t>
            </a:r>
            <a:r>
              <a:rPr dirty="0" sz="1200" b="1" i="1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before he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biggest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his </a:t>
            </a:r>
            <a:r>
              <a:rPr dirty="0" sz="1200">
                <a:latin typeface="Times New Roman"/>
                <a:cs typeface="Times New Roman"/>
              </a:rPr>
              <a:t>school; 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smallest.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b="1" i="1">
                <a:latin typeface="Times New Roman"/>
                <a:cs typeface="Times New Roman"/>
              </a:rPr>
              <a:t>Yet </a:t>
            </a:r>
            <a:r>
              <a:rPr dirty="0" sz="1200">
                <a:latin typeface="Times New Roman"/>
                <a:cs typeface="Times New Roman"/>
              </a:rPr>
              <a:t>another problem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he no </a:t>
            </a:r>
            <a:r>
              <a:rPr dirty="0" sz="1200" spc="-5">
                <a:latin typeface="Times New Roman"/>
                <a:cs typeface="Times New Roman"/>
              </a:rPr>
              <a:t>longer has his own classroom. </a:t>
            </a:r>
            <a:r>
              <a:rPr dirty="0" sz="1200" spc="-5" b="1" i="1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he has to go to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 classroom for every subject. </a:t>
            </a:r>
            <a:r>
              <a:rPr dirty="0" sz="1200" spc="-5" b="1" i="1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 unfortunate student </a:t>
            </a:r>
            <a:r>
              <a:rPr dirty="0" sz="1200" spc="-10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carry all his </a:t>
            </a:r>
            <a:r>
              <a:rPr dirty="0" sz="1200">
                <a:latin typeface="Times New Roman"/>
                <a:cs typeface="Times New Roman"/>
              </a:rPr>
              <a:t>things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him. He 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>
                <a:latin typeface="Times New Roman"/>
                <a:cs typeface="Times New Roman"/>
              </a:rPr>
              <a:t>to this. </a:t>
            </a:r>
            <a:r>
              <a:rPr dirty="0" sz="1200" spc="-5" b="1" i="1">
                <a:latin typeface="Times New Roman"/>
                <a:cs typeface="Times New Roman"/>
              </a:rPr>
              <a:t>Moreover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our first year student does not have a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 teacher </a:t>
            </a:r>
            <a:r>
              <a:rPr dirty="0" sz="1200" spc="-5">
                <a:latin typeface="Times New Roman"/>
                <a:cs typeface="Times New Roman"/>
              </a:rPr>
              <a:t>either. </a:t>
            </a:r>
            <a:r>
              <a:rPr dirty="0" sz="1200">
                <a:latin typeface="Times New Roman"/>
                <a:cs typeface="Times New Roman"/>
              </a:rPr>
              <a:t>Instead of one teacher whom he </a:t>
            </a:r>
            <a:r>
              <a:rPr dirty="0" sz="1200" spc="-5">
                <a:latin typeface="Times New Roman"/>
                <a:cs typeface="Times New Roman"/>
              </a:rPr>
              <a:t>knows </a:t>
            </a:r>
            <a:r>
              <a:rPr dirty="0" sz="1200">
                <a:latin typeface="Times New Roman"/>
                <a:cs typeface="Times New Roman"/>
              </a:rPr>
              <a:t>well, </a:t>
            </a:r>
            <a:r>
              <a:rPr dirty="0" sz="1200" spc="-5">
                <a:latin typeface="Times New Roman"/>
                <a:cs typeface="Times New Roman"/>
              </a:rPr>
              <a:t>as six </a:t>
            </a:r>
            <a:r>
              <a:rPr dirty="0" sz="1200">
                <a:latin typeface="Times New Roman"/>
                <a:cs typeface="Times New Roman"/>
              </a:rPr>
              <a:t>or seven teachers whom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hardly </a:t>
            </a:r>
            <a:r>
              <a:rPr dirty="0" sz="1200" spc="-5">
                <a:latin typeface="Times New Roman"/>
                <a:cs typeface="Times New Roman"/>
              </a:rPr>
              <a:t>knows </a:t>
            </a:r>
            <a:r>
              <a:rPr dirty="0" sz="1200">
                <a:latin typeface="Times New Roman"/>
                <a:cs typeface="Times New Roman"/>
              </a:rPr>
              <a:t>at all. </a:t>
            </a:r>
            <a:r>
              <a:rPr dirty="0" sz="1200" spc="-5" b="1" i="1">
                <a:latin typeface="Times New Roman"/>
                <a:cs typeface="Times New Roman"/>
              </a:rPr>
              <a:t>There is no doubt </a:t>
            </a:r>
            <a:r>
              <a:rPr dirty="0" sz="1200" b="1" i="1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the boy or girl starting college often finds 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rather strange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first.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Each transition signal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special meaning. </a:t>
            </a:r>
            <a:r>
              <a:rPr dirty="0" sz="1200">
                <a:latin typeface="Times New Roman"/>
                <a:cs typeface="Times New Roman"/>
              </a:rPr>
              <a:t>Each one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how the following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 preceding </a:t>
            </a:r>
            <a:r>
              <a:rPr dirty="0" sz="1200">
                <a:latin typeface="Times New Roman"/>
                <a:cs typeface="Times New Roman"/>
              </a:rPr>
              <a:t>one. </a:t>
            </a:r>
            <a:r>
              <a:rPr dirty="0" sz="1200" spc="-5">
                <a:latin typeface="Times New Roman"/>
                <a:cs typeface="Times New Roman"/>
              </a:rPr>
              <a:t>It does not mean that you use </a:t>
            </a:r>
            <a:r>
              <a:rPr dirty="0" sz="1200">
                <a:latin typeface="Times New Roman"/>
                <a:cs typeface="Times New Roman"/>
              </a:rPr>
              <a:t>a transitional </a:t>
            </a:r>
            <a:r>
              <a:rPr dirty="0" sz="1200" spc="-5">
                <a:latin typeface="Times New Roman"/>
                <a:cs typeface="Times New Roman"/>
              </a:rPr>
              <a:t>signal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front of </a:t>
            </a:r>
            <a:r>
              <a:rPr dirty="0" sz="1200">
                <a:latin typeface="Times New Roman"/>
                <a:cs typeface="Times New Roman"/>
              </a:rPr>
              <a:t> every </a:t>
            </a:r>
            <a:r>
              <a:rPr dirty="0" sz="1200" spc="-5">
                <a:latin typeface="Times New Roman"/>
                <a:cs typeface="Times New Roman"/>
              </a:rPr>
              <a:t>sentence. </a:t>
            </a:r>
            <a:r>
              <a:rPr dirty="0" sz="1200">
                <a:latin typeface="Times New Roman"/>
                <a:cs typeface="Times New Roman"/>
              </a:rPr>
              <a:t>That would be just </a:t>
            </a:r>
            <a:r>
              <a:rPr dirty="0" sz="1200" spc="-5">
                <a:latin typeface="Times New Roman"/>
                <a:cs typeface="Times New Roman"/>
              </a:rPr>
              <a:t>as confusing as </a:t>
            </a:r>
            <a:r>
              <a:rPr dirty="0" sz="1200">
                <a:latin typeface="Times New Roman"/>
                <a:cs typeface="Times New Roman"/>
              </a:rPr>
              <a:t>using too </a:t>
            </a:r>
            <a:r>
              <a:rPr dirty="0" sz="1200" spc="-5">
                <a:latin typeface="Times New Roman"/>
                <a:cs typeface="Times New Roman"/>
              </a:rPr>
              <a:t>few transitional </a:t>
            </a:r>
            <a:r>
              <a:rPr dirty="0" sz="1200">
                <a:latin typeface="Times New Roman"/>
                <a:cs typeface="Times New Roman"/>
              </a:rPr>
              <a:t>signals. Good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 </a:t>
            </a:r>
            <a:r>
              <a:rPr dirty="0" sz="1200" spc="-5">
                <a:latin typeface="Times New Roman"/>
                <a:cs typeface="Times New Roman"/>
              </a:rPr>
              <a:t>requires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you use </a:t>
            </a:r>
            <a:r>
              <a:rPr dirty="0" sz="1200">
                <a:latin typeface="Times New Roman"/>
                <a:cs typeface="Times New Roman"/>
              </a:rPr>
              <a:t>enough </a:t>
            </a:r>
            <a:r>
              <a:rPr dirty="0" sz="1200" spc="-5">
                <a:latin typeface="Times New Roman"/>
                <a:cs typeface="Times New Roman"/>
              </a:rPr>
              <a:t>transitional signals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 relationships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 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Practice: </a:t>
            </a:r>
            <a:r>
              <a:rPr dirty="0" sz="1200" spc="-5" b="1">
                <a:latin typeface="Times New Roman"/>
                <a:cs typeface="Times New Roman"/>
              </a:rPr>
              <a:t>Choosing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Transition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Signals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0830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transition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changes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required.</a:t>
            </a:r>
            <a:endParaRPr sz="1200">
              <a:latin typeface="Times New Roman"/>
              <a:cs typeface="Times New Roman"/>
            </a:endParaRPr>
          </a:p>
          <a:p>
            <a:pPr marL="12700" marR="321310">
              <a:lnSpc>
                <a:spcPts val="1380"/>
              </a:lnSpc>
              <a:buAutoNum type="arabicPeriod"/>
              <a:tabLst>
                <a:tab pos="165100" algn="l"/>
                <a:tab pos="3508375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recent article in </a:t>
            </a:r>
            <a:r>
              <a:rPr dirty="0" sz="1200" spc="-5" i="1">
                <a:latin typeface="Times New Roman"/>
                <a:cs typeface="Times New Roman"/>
              </a:rPr>
              <a:t>The Herald </a:t>
            </a:r>
            <a:r>
              <a:rPr dirty="0" sz="1200">
                <a:latin typeface="Times New Roman"/>
                <a:cs typeface="Times New Roman"/>
              </a:rPr>
              <a:t>suggested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to reduce inflation. The article suggested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prime</a:t>
            </a:r>
            <a:r>
              <a:rPr dirty="0" sz="1200" spc="-5">
                <a:latin typeface="Times New Roman"/>
                <a:cs typeface="Times New Roman"/>
              </a:rPr>
              <a:t> minister</a:t>
            </a:r>
            <a:r>
              <a:rPr dirty="0" sz="1200">
                <a:latin typeface="Times New Roman"/>
                <a:cs typeface="Times New Roman"/>
              </a:rPr>
              <a:t> reduce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central budget;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government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central, provincial, and local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taxes.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i="1">
                <a:latin typeface="Times New Roman"/>
                <a:cs typeface="Times New Roman"/>
              </a:rPr>
              <a:t>however,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contrast</a:t>
            </a:r>
            <a:r>
              <a:rPr dirty="0" sz="1200" spc="-5" b="1" i="1">
                <a:latin typeface="Times New Roman"/>
                <a:cs typeface="Times New Roman"/>
              </a:rPr>
              <a:t>, </a:t>
            </a:r>
            <a:r>
              <a:rPr dirty="0" sz="1200" spc="-10" b="1" i="1">
                <a:latin typeface="Times New Roman"/>
                <a:cs typeface="Times New Roman"/>
              </a:rPr>
              <a:t>furthermore)</a:t>
            </a:r>
            <a:endParaRPr sz="1200">
              <a:latin typeface="Times New Roman"/>
              <a:cs typeface="Times New Roman"/>
            </a:endParaRPr>
          </a:p>
          <a:p>
            <a:pPr marL="12700" marR="753745">
              <a:lnSpc>
                <a:spcPts val="1380"/>
              </a:lnSpc>
              <a:buAutoNum type="arabicPeriod"/>
              <a:tabLst>
                <a:tab pos="165100" algn="l"/>
                <a:tab pos="43522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 said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the</a:t>
            </a:r>
            <a:r>
              <a:rPr dirty="0" sz="1200" spc="-5">
                <a:latin typeface="Times New Roman"/>
                <a:cs typeface="Times New Roman"/>
              </a:rPr>
              <a:t> causes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inflation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 easy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find,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inflation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prescribe.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 b="1" i="1">
                <a:latin typeface="Times New Roman"/>
                <a:cs typeface="Times New Roman"/>
              </a:rPr>
              <a:t>(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example,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therefore</a:t>
            </a:r>
            <a:r>
              <a:rPr dirty="0" sz="1200" spc="-5" b="1" i="1">
                <a:latin typeface="Times New Roman"/>
                <a:cs typeface="Times New Roman"/>
              </a:rPr>
              <a:t>,</a:t>
            </a:r>
            <a:r>
              <a:rPr dirty="0" sz="1200" spc="-2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however).</a:t>
            </a:r>
            <a:endParaRPr sz="1200">
              <a:latin typeface="Times New Roman"/>
              <a:cs typeface="Times New Roman"/>
            </a:endParaRPr>
          </a:p>
          <a:p>
            <a:pPr marL="12700" marR="314325">
              <a:lnSpc>
                <a:spcPts val="1380"/>
              </a:lnSpc>
              <a:spcBef>
                <a:spcPts val="65"/>
              </a:spcBef>
              <a:buAutoNum type="arabicPeriod" startAt="3"/>
              <a:tabLst>
                <a:tab pos="165100" algn="l"/>
                <a:tab pos="859790" algn="l"/>
              </a:tabLst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physics </a:t>
            </a:r>
            <a:r>
              <a:rPr dirty="0" sz="1200">
                <a:latin typeface="Times New Roman"/>
                <a:cs typeface="Times New Roman"/>
              </a:rPr>
              <a:t>the weight of an object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gravitational force with which the earth attracts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man weighs </a:t>
            </a:r>
            <a:r>
              <a:rPr dirty="0" sz="1200">
                <a:latin typeface="Times New Roman"/>
                <a:cs typeface="Times New Roman"/>
              </a:rPr>
              <a:t>150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pounds, this</a:t>
            </a:r>
            <a:r>
              <a:rPr dirty="0" sz="1200" spc="-5">
                <a:latin typeface="Times New Roman"/>
                <a:cs typeface="Times New Roman"/>
              </a:rPr>
              <a:t> means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pulls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150 pounds.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0"/>
              </a:lnSpc>
            </a:pPr>
            <a:r>
              <a:rPr dirty="0" sz="1200" b="1" i="1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moreover,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therefore,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for</a:t>
            </a:r>
            <a:r>
              <a:rPr dirty="0" sz="1200" spc="-3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example)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second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to achieve coherence in a </a:t>
            </a:r>
            <a:r>
              <a:rPr dirty="0" sz="1200" spc="-5">
                <a:latin typeface="Times New Roman"/>
                <a:cs typeface="Times New Roman"/>
              </a:rPr>
              <a:t>paragraph is </a:t>
            </a:r>
            <a:r>
              <a:rPr dirty="0" sz="1200">
                <a:latin typeface="Times New Roman"/>
                <a:cs typeface="Times New Roman"/>
              </a:rPr>
              <a:t>by arranging the sentences in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 kind of logical order.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different kinds </a:t>
            </a:r>
            <a:r>
              <a:rPr dirty="0" sz="1200">
                <a:latin typeface="Times New Roman"/>
                <a:cs typeface="Times New Roman"/>
              </a:rPr>
              <a:t>of logical </a:t>
            </a:r>
            <a:r>
              <a:rPr dirty="0" sz="1200" spc="-5">
                <a:latin typeface="Times New Roman"/>
                <a:cs typeface="Times New Roman"/>
              </a:rPr>
              <a:t>relationships, </a:t>
            </a:r>
            <a:r>
              <a:rPr dirty="0" sz="1200">
                <a:latin typeface="Times New Roman"/>
                <a:cs typeface="Times New Roman"/>
              </a:rPr>
              <a:t>there are different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organizing ideas and sentences in a paragraph. Your choice of one kind of logical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combine two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different logical orders in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paragraph. The </a:t>
            </a:r>
            <a:r>
              <a:rPr dirty="0" sz="1200" spc="-5">
                <a:latin typeface="Times New Roman"/>
                <a:cs typeface="Times New Roman"/>
              </a:rPr>
              <a:t>two most </a:t>
            </a:r>
            <a:r>
              <a:rPr dirty="0" sz="1200">
                <a:latin typeface="Times New Roman"/>
                <a:cs typeface="Times New Roman"/>
              </a:rPr>
              <a:t> common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 of logical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way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 algn="just" marL="12700" marR="43618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Chronological order </a:t>
            </a:r>
            <a:r>
              <a:rPr dirty="0" sz="1200">
                <a:latin typeface="Times New Roman"/>
                <a:cs typeface="Times New Roman"/>
              </a:rPr>
              <a:t> 2-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chronological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Chronological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ideas in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occurrence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organization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recipe,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movement.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chronological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215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just used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historical </a:t>
            </a:r>
            <a:r>
              <a:rPr dirty="0" sz="1200" spc="-5">
                <a:latin typeface="Times New Roman"/>
                <a:cs typeface="Times New Roman"/>
              </a:rPr>
              <a:t>events;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also used </a:t>
            </a:r>
            <a:r>
              <a:rPr dirty="0" sz="1200">
                <a:latin typeface="Times New Roman"/>
                <a:cs typeface="Times New Roman"/>
              </a:rPr>
              <a:t>to explain </a:t>
            </a:r>
            <a:r>
              <a:rPr dirty="0" sz="1200" spc="-5">
                <a:latin typeface="Times New Roman"/>
                <a:cs typeface="Times New Roman"/>
              </a:rPr>
              <a:t>processes </a:t>
            </a:r>
            <a:r>
              <a:rPr dirty="0" sz="1200">
                <a:latin typeface="Times New Roman"/>
                <a:cs typeface="Times New Roman"/>
              </a:rPr>
              <a:t>and procedures, </a:t>
            </a:r>
            <a:r>
              <a:rPr dirty="0" sz="1200" spc="-5">
                <a:latin typeface="Times New Roman"/>
                <a:cs typeface="Times New Roman"/>
              </a:rPr>
              <a:t>business,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 and engineering. A paragraph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explains how to solve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problem, </a:t>
            </a:r>
            <a:r>
              <a:rPr dirty="0" sz="1200">
                <a:latin typeface="Times New Roman"/>
                <a:cs typeface="Times New Roman"/>
              </a:rPr>
              <a:t>perform 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experiment </a:t>
            </a:r>
            <a:r>
              <a:rPr dirty="0" sz="1200">
                <a:latin typeface="Times New Roman"/>
                <a:cs typeface="Times New Roman"/>
              </a:rPr>
              <a:t>are 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‘process’ or ‘how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to’ paragraphs.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82232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two important </a:t>
            </a:r>
            <a:r>
              <a:rPr dirty="0" sz="1200">
                <a:latin typeface="Times New Roman"/>
                <a:cs typeface="Times New Roman"/>
              </a:rPr>
              <a:t>points to keep in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when writing a good chronological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events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steps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chronological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(first,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after,</a:t>
            </a:r>
            <a:r>
              <a:rPr dirty="0" sz="1200">
                <a:latin typeface="Times New Roman"/>
                <a:cs typeface="Times New Roman"/>
              </a:rPr>
              <a:t> then, in 1960).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Notice </a:t>
            </a:r>
            <a:r>
              <a:rPr dirty="0" sz="1200" spc="-5" b="1">
                <a:latin typeface="Times New Roman"/>
                <a:cs typeface="Times New Roman"/>
              </a:rPr>
              <a:t>how 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two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organized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according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3462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History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Computers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 generation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which used vacuum tubes,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came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out in 1950</a:t>
            </a:r>
            <a:r>
              <a:rPr dirty="0" sz="1200">
                <a:latin typeface="Times New Roman"/>
                <a:cs typeface="Times New Roman"/>
              </a:rPr>
              <a:t>. Univac I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an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 these computers which could perform thousands of calculations per second.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 1960</a:t>
            </a:r>
            <a:r>
              <a:rPr dirty="0" sz="1200">
                <a:latin typeface="Times New Roman"/>
                <a:cs typeface="Times New Roman"/>
              </a:rPr>
              <a:t>, 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second generation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was developed and these could perform work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>
                <a:latin typeface="Times New Roman"/>
                <a:cs typeface="Times New Roman"/>
              </a:rPr>
              <a:t>faster than their predecessor. Second generation </a:t>
            </a:r>
            <a:r>
              <a:rPr dirty="0" sz="1200" spc="-5">
                <a:latin typeface="Times New Roman"/>
                <a:cs typeface="Times New Roman"/>
              </a:rPr>
              <a:t>computers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5">
                <a:latin typeface="Times New Roman"/>
                <a:cs typeface="Times New Roman"/>
              </a:rPr>
              <a:t>smaller, </a:t>
            </a:r>
            <a:r>
              <a:rPr dirty="0" sz="1200">
                <a:latin typeface="Times New Roman"/>
                <a:cs typeface="Times New Roman"/>
              </a:rPr>
              <a:t>faster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dependable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first-generation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third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generation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market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1965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tabLst>
                <a:tab pos="1421765" algn="l"/>
              </a:tabLst>
            </a:pPr>
            <a:r>
              <a:rPr dirty="0" sz="1200">
                <a:latin typeface="Times New Roman"/>
                <a:cs typeface="Times New Roman"/>
              </a:rPr>
              <a:t>–b)	</a:t>
            </a:r>
            <a:r>
              <a:rPr dirty="0" sz="1200" b="1">
                <a:latin typeface="Times New Roman"/>
                <a:cs typeface="Times New Roman"/>
              </a:rPr>
              <a:t>How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make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Carrot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Pudding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––If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cook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delicious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quick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recipe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carrot pudding.  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scrape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carrots </a:t>
            </a:r>
            <a:r>
              <a:rPr dirty="0" sz="1200">
                <a:latin typeface="Times New Roman"/>
                <a:cs typeface="Times New Roman"/>
              </a:rPr>
              <a:t>(1 </a:t>
            </a:r>
            <a:r>
              <a:rPr dirty="0" sz="1200" spc="-5">
                <a:latin typeface="Times New Roman"/>
                <a:cs typeface="Times New Roman"/>
              </a:rPr>
              <a:t>kilo)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grate </a:t>
            </a:r>
            <a:r>
              <a:rPr dirty="0" sz="1200" spc="-5">
                <a:latin typeface="Times New Roman"/>
                <a:cs typeface="Times New Roman"/>
              </a:rPr>
              <a:t>them. </a:t>
            </a:r>
            <a:r>
              <a:rPr dirty="0" sz="1200">
                <a:latin typeface="Times New Roman"/>
                <a:cs typeface="Times New Roman"/>
              </a:rPr>
              <a:t>Boil </a:t>
            </a:r>
            <a:r>
              <a:rPr dirty="0" sz="1200" spc="-5">
                <a:latin typeface="Times New Roman"/>
                <a:cs typeface="Times New Roman"/>
              </a:rPr>
              <a:t>milk </a:t>
            </a:r>
            <a:r>
              <a:rPr dirty="0" sz="1200">
                <a:latin typeface="Times New Roman"/>
                <a:cs typeface="Times New Roman"/>
              </a:rPr>
              <a:t>(1 kilo)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carrots.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>
                <a:latin typeface="Times New Roman"/>
                <a:cs typeface="Times New Roman"/>
              </a:rPr>
              <a:t> boil.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sugar.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Next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egg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thoroughly; pour the beaten egg into the boiling </a:t>
            </a:r>
            <a:r>
              <a:rPr dirty="0" sz="1200" spc="-5">
                <a:latin typeface="Times New Roman"/>
                <a:cs typeface="Times New Roman"/>
              </a:rPr>
              <a:t>milk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carrots. Stir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mixture. Add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tablespoons of finely grated </a:t>
            </a:r>
            <a:r>
              <a:rPr dirty="0" sz="1200" spc="-5">
                <a:latin typeface="Times New Roman"/>
                <a:cs typeface="Times New Roman"/>
              </a:rPr>
              <a:t>coconut. Mix well. Cook till mixture becomes thick. Turn off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gas.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mixture</a:t>
            </a:r>
            <a:r>
              <a:rPr dirty="0" sz="1200">
                <a:latin typeface="Times New Roman"/>
                <a:cs typeface="Times New Roman"/>
              </a:rPr>
              <a:t> cools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pour it into a dish.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chronological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paragraph on </a:t>
            </a:r>
            <a:r>
              <a:rPr dirty="0" sz="1200" spc="-5">
                <a:latin typeface="Times New Roman"/>
                <a:cs typeface="Times New Roman"/>
              </a:rPr>
              <a:t>computers phrases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 1950, in 1960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developed, appeared 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market, </a:t>
            </a:r>
            <a:r>
              <a:rPr dirty="0" sz="1200">
                <a:latin typeface="Times New Roman"/>
                <a:cs typeface="Times New Roman"/>
              </a:rPr>
              <a:t>1965 give the reader a hint that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>
                <a:latin typeface="Times New Roman"/>
                <a:cs typeface="Times New Roman"/>
              </a:rPr>
              <a:t>a chronological paragraph. In a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 paragraph,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 one on how 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carrot pudding the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to be described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The following </a:t>
            </a:r>
            <a:r>
              <a:rPr dirty="0" sz="1200" b="1">
                <a:latin typeface="Times New Roman"/>
                <a:cs typeface="Times New Roman"/>
              </a:rPr>
              <a:t>are topic sentences. </a:t>
            </a:r>
            <a:r>
              <a:rPr dirty="0" sz="1200" spc="-5" b="1">
                <a:latin typeface="Times New Roman"/>
                <a:cs typeface="Times New Roman"/>
              </a:rPr>
              <a:t>Check with </a:t>
            </a:r>
            <a:r>
              <a:rPr dirty="0" sz="1200" b="1">
                <a:latin typeface="Times New Roman"/>
                <a:cs typeface="Times New Roman"/>
              </a:rPr>
              <a:t>a tick mark (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) </a:t>
            </a:r>
            <a:r>
              <a:rPr dirty="0" sz="1200" spc="-5" b="1">
                <a:latin typeface="Times New Roman"/>
                <a:cs typeface="Times New Roman"/>
              </a:rPr>
              <a:t>those suggesting </a:t>
            </a:r>
            <a:r>
              <a:rPr dirty="0" sz="1200" b="1">
                <a:latin typeface="Times New Roman"/>
                <a:cs typeface="Times New Roman"/>
              </a:rPr>
              <a:t>a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chronological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will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follow.</a:t>
            </a:r>
            <a:r>
              <a:rPr dirty="0" sz="1200" b="1">
                <a:latin typeface="Times New Roman"/>
                <a:cs typeface="Times New Roman"/>
              </a:rPr>
              <a:t> Circle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word/words</a:t>
            </a:r>
            <a:r>
              <a:rPr dirty="0" sz="1200" b="1">
                <a:latin typeface="Times New Roman"/>
                <a:cs typeface="Times New Roman"/>
              </a:rPr>
              <a:t> that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indicate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chronological</a:t>
            </a:r>
            <a:r>
              <a:rPr dirty="0" sz="1200" b="1">
                <a:latin typeface="Times New Roman"/>
                <a:cs typeface="Times New Roman"/>
              </a:rPr>
              <a:t> order. </a:t>
            </a:r>
            <a:r>
              <a:rPr dirty="0" sz="1200" spc="-1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first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done</a:t>
            </a:r>
            <a:r>
              <a:rPr dirty="0" sz="1200" b="1">
                <a:latin typeface="Times New Roman"/>
                <a:cs typeface="Times New Roman"/>
              </a:rPr>
              <a:t> for you.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past</a:t>
            </a:r>
            <a:r>
              <a:rPr dirty="0" u="sng" sz="1200" spc="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thirty-five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years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(developments)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field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electronics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revolutionized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industry.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1- The </a:t>
            </a:r>
            <a:r>
              <a:rPr dirty="0" sz="1200" spc="-5">
                <a:latin typeface="Times New Roman"/>
                <a:cs typeface="Times New Roman"/>
              </a:rPr>
              <a:t>worst </a:t>
            </a:r>
            <a:r>
              <a:rPr dirty="0" sz="1200">
                <a:latin typeface="Times New Roman"/>
                <a:cs typeface="Times New Roman"/>
              </a:rPr>
              <a:t>day in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life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the day I left </a:t>
            </a:r>
            <a:r>
              <a:rPr dirty="0" sz="1200" spc="-5">
                <a:latin typeface="Times New Roman"/>
                <a:cs typeface="Times New Roman"/>
              </a:rPr>
              <a:t>my family </a:t>
            </a:r>
            <a:r>
              <a:rPr dirty="0" sz="1200">
                <a:latin typeface="Times New Roman"/>
                <a:cs typeface="Times New Roman"/>
              </a:rPr>
              <a:t>and my friends to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to Canada.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2- In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opinion, television </a:t>
            </a:r>
            <a:r>
              <a:rPr dirty="0" sz="1200" spc="-5">
                <a:latin typeface="Times New Roman"/>
                <a:cs typeface="Times New Roman"/>
              </a:rPr>
              <a:t>programs </a:t>
            </a:r>
            <a:r>
              <a:rPr dirty="0" sz="1200">
                <a:latin typeface="Times New Roman"/>
                <a:cs typeface="Times New Roman"/>
              </a:rPr>
              <a:t>can be divided into three types: excellent, </a:t>
            </a:r>
            <a:r>
              <a:rPr dirty="0" sz="1200" spc="-5">
                <a:latin typeface="Times New Roman"/>
                <a:cs typeface="Times New Roman"/>
              </a:rPr>
              <a:t>mediocre,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6459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48514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3- The life cycle of the </a:t>
            </a:r>
            <a:r>
              <a:rPr dirty="0" sz="1200" spc="-5">
                <a:latin typeface="Times New Roman"/>
                <a:cs typeface="Times New Roman"/>
              </a:rPr>
              <a:t>Pacific salmon is </a:t>
            </a:r>
            <a:r>
              <a:rPr dirty="0" sz="1200">
                <a:latin typeface="Times New Roman"/>
                <a:cs typeface="Times New Roman"/>
              </a:rPr>
              <a:t>one of nature’s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fascinating </a:t>
            </a:r>
            <a:r>
              <a:rPr dirty="0" sz="1200" spc="-5">
                <a:latin typeface="Times New Roman"/>
                <a:cs typeface="Times New Roman"/>
              </a:rPr>
              <a:t>phenomenons.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4- Gold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prized for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Order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Importance: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second common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to organize ideas in a paragraph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them in order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importance.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done in 2 </a:t>
            </a:r>
            <a:r>
              <a:rPr dirty="0" sz="1200" spc="-5">
                <a:latin typeface="Times New Roman"/>
                <a:cs typeface="Times New Roman"/>
              </a:rPr>
              <a:t>ways. </a:t>
            </a:r>
            <a:r>
              <a:rPr dirty="0" sz="1200">
                <a:latin typeface="Times New Roman"/>
                <a:cs typeface="Times New Roman"/>
              </a:rPr>
              <a:t>You can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important </a:t>
            </a:r>
            <a:r>
              <a:rPr dirty="0" sz="1200">
                <a:latin typeface="Times New Roman"/>
                <a:cs typeface="Times New Roman"/>
              </a:rPr>
              <a:t>point first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 down to the least important point or you can begin with the least important and end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with the most </a:t>
            </a:r>
            <a:r>
              <a:rPr dirty="0" sz="1200" spc="-5">
                <a:latin typeface="Times New Roman"/>
                <a:cs typeface="Times New Roman"/>
              </a:rPr>
              <a:t>important. The way </a:t>
            </a:r>
            <a:r>
              <a:rPr dirty="0" sz="1200">
                <a:latin typeface="Times New Roman"/>
                <a:cs typeface="Times New Roman"/>
              </a:rPr>
              <a:t>you chose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depend on your topic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purpose of writing;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ways can 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effective.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influences on your life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besides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family, </a:t>
            </a:r>
            <a:r>
              <a:rPr dirty="0" sz="1200">
                <a:latin typeface="Times New Roman"/>
                <a:cs typeface="Times New Roman"/>
              </a:rPr>
              <a:t>and you decide to write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teacher </a:t>
            </a:r>
            <a:r>
              <a:rPr dirty="0" sz="1200">
                <a:latin typeface="Times New Roman"/>
                <a:cs typeface="Times New Roman"/>
              </a:rPr>
              <a:t>who had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much influence 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that it </a:t>
            </a:r>
            <a:r>
              <a:rPr dirty="0" sz="1200" spc="-5">
                <a:latin typeface="Times New Roman"/>
                <a:cs typeface="Times New Roman"/>
              </a:rPr>
              <a:t>somehow </a:t>
            </a:r>
            <a:r>
              <a:rPr dirty="0" sz="1200">
                <a:latin typeface="Times New Roman"/>
                <a:cs typeface="Times New Roman"/>
              </a:rPr>
              <a:t>changed you. Here, again, </a:t>
            </a:r>
            <a:r>
              <a:rPr dirty="0" sz="1200" spc="-5">
                <a:latin typeface="Times New Roman"/>
                <a:cs typeface="Times New Roman"/>
              </a:rPr>
              <a:t>you would discuss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influences 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 of </a:t>
            </a:r>
            <a:r>
              <a:rPr dirty="0" sz="1200" spc="-5">
                <a:latin typeface="Times New Roman"/>
                <a:cs typeface="Times New Roman"/>
              </a:rPr>
              <a:t>importance </a:t>
            </a:r>
            <a:r>
              <a:rPr dirty="0" sz="1200">
                <a:latin typeface="Times New Roman"/>
                <a:cs typeface="Times New Roman"/>
              </a:rPr>
              <a:t>– how strongly each </a:t>
            </a:r>
            <a:r>
              <a:rPr dirty="0" sz="1200" spc="-5">
                <a:latin typeface="Times New Roman"/>
                <a:cs typeface="Times New Roman"/>
              </a:rPr>
              <a:t>affected </a:t>
            </a:r>
            <a:r>
              <a:rPr dirty="0" sz="1200">
                <a:latin typeface="Times New Roman"/>
                <a:cs typeface="Times New Roman"/>
              </a:rPr>
              <a:t>you. Again,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with chronological order 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transition</a:t>
            </a:r>
            <a:r>
              <a:rPr dirty="0" sz="1200" spc="-5">
                <a:latin typeface="Times New Roman"/>
                <a:cs typeface="Times New Roman"/>
              </a:rPr>
              <a:t> signals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 </a:t>
            </a:r>
            <a:r>
              <a:rPr dirty="0" sz="1200" spc="-5">
                <a:latin typeface="Times New Roman"/>
                <a:cs typeface="Times New Roman"/>
              </a:rPr>
              <a:t>your reader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 one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look at the following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paragraphs. Notice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 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organized.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Model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Paragraphs: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  <a:buAutoNum type="arabicParenBoth"/>
              <a:tabLst>
                <a:tab pos="389255" algn="l"/>
              </a:tabLst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child,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favorite food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salted peanuts, and I never </a:t>
            </a:r>
            <a:r>
              <a:rPr dirty="0" sz="1200" spc="-5">
                <a:latin typeface="Times New Roman"/>
                <a:cs typeface="Times New Roman"/>
              </a:rPr>
              <a:t>seemed </a:t>
            </a:r>
            <a:r>
              <a:rPr dirty="0" sz="1200">
                <a:latin typeface="Times New Roman"/>
                <a:cs typeface="Times New Roman"/>
              </a:rPr>
              <a:t>to get enough.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I stepped out of the house I would </a:t>
            </a:r>
            <a:r>
              <a:rPr dirty="0" sz="1200" spc="-5">
                <a:latin typeface="Times New Roman"/>
                <a:cs typeface="Times New Roman"/>
              </a:rPr>
              <a:t>think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excuse to visit the corner shop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sold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>
                <a:latin typeface="Times New Roman"/>
                <a:cs typeface="Times New Roman"/>
              </a:rPr>
              <a:t>packets of salted peanuts. I even devised elaborate techniques for eating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stuff.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I would eat from beginning to </a:t>
            </a:r>
            <a:r>
              <a:rPr dirty="0" sz="1200" spc="-5">
                <a:latin typeface="Times New Roman"/>
                <a:cs typeface="Times New Roman"/>
              </a:rPr>
              <a:t>end, starting at the top of the packet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ending 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salty base. Others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would throw casually </a:t>
            </a:r>
            <a:r>
              <a:rPr dirty="0" sz="1200">
                <a:latin typeface="Times New Roman"/>
                <a:cs typeface="Times New Roman"/>
              </a:rPr>
              <a:t>into the air, </a:t>
            </a:r>
            <a:r>
              <a:rPr dirty="0" sz="1200" spc="-5">
                <a:latin typeface="Times New Roman"/>
                <a:cs typeface="Times New Roman"/>
              </a:rPr>
              <a:t>letting </a:t>
            </a:r>
            <a:r>
              <a:rPr dirty="0" sz="1200">
                <a:latin typeface="Times New Roman"/>
                <a:cs typeface="Times New Roman"/>
              </a:rPr>
              <a:t>them land in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 wide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 mouth.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arenBoth"/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arenBoth"/>
              <a:tabLst>
                <a:tab pos="445770" algn="l"/>
              </a:tabLst>
            </a:pP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more than </a:t>
            </a:r>
            <a:r>
              <a:rPr dirty="0" sz="1200" spc="-5">
                <a:latin typeface="Times New Roman"/>
                <a:cs typeface="Times New Roman"/>
              </a:rPr>
              <a:t>75 </a:t>
            </a:r>
            <a:r>
              <a:rPr dirty="0" sz="1200">
                <a:latin typeface="Times New Roman"/>
                <a:cs typeface="Times New Roman"/>
              </a:rPr>
              <a:t>years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father </a:t>
            </a:r>
            <a:r>
              <a:rPr dirty="0" sz="1200" spc="-5">
                <a:latin typeface="Times New Roman"/>
                <a:cs typeface="Times New Roman"/>
              </a:rPr>
              <a:t>functioned like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well-oiled machine. No matter </a:t>
            </a:r>
            <a:r>
              <a:rPr dirty="0" sz="1200">
                <a:latin typeface="Times New Roman"/>
                <a:cs typeface="Times New Roman"/>
              </a:rPr>
              <a:t> what the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of the year, what the weather, he got up at 4 a.m. while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still dark,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 out for a long, brisk walk with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dog. </a:t>
            </a:r>
            <a:r>
              <a:rPr dirty="0" sz="1200" spc="-5">
                <a:latin typeface="Times New Roman"/>
                <a:cs typeface="Times New Roman"/>
              </a:rPr>
              <a:t>He came </a:t>
            </a:r>
            <a:r>
              <a:rPr dirty="0" sz="1200">
                <a:latin typeface="Times New Roman"/>
                <a:cs typeface="Times New Roman"/>
              </a:rPr>
              <a:t>back at 7 and went to work at exactly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7:30. But then one day, nobody </a:t>
            </a:r>
            <a:r>
              <a:rPr dirty="0" sz="1200" spc="-5">
                <a:latin typeface="Times New Roman"/>
                <a:cs typeface="Times New Roman"/>
              </a:rPr>
              <a:t>knows </a:t>
            </a:r>
            <a:r>
              <a:rPr dirty="0" sz="1200">
                <a:latin typeface="Times New Roman"/>
                <a:cs typeface="Times New Roman"/>
              </a:rPr>
              <a:t>why, the </a:t>
            </a:r>
            <a:r>
              <a:rPr dirty="0" sz="1200" spc="-5">
                <a:latin typeface="Times New Roman"/>
                <a:cs typeface="Times New Roman"/>
              </a:rPr>
              <a:t>machine came </a:t>
            </a:r>
            <a:r>
              <a:rPr dirty="0" sz="1200">
                <a:latin typeface="Times New Roman"/>
                <a:cs typeface="Times New Roman"/>
              </a:rPr>
              <a:t>to a halt.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father just lay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bed. It didn’t </a:t>
            </a:r>
            <a:r>
              <a:rPr dirty="0" sz="1200" spc="-5">
                <a:latin typeface="Times New Roman"/>
                <a:cs typeface="Times New Roman"/>
              </a:rPr>
              <a:t>matter anymore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was. He </a:t>
            </a:r>
            <a:r>
              <a:rPr dirty="0" sz="1200">
                <a:latin typeface="Times New Roman"/>
                <a:cs typeface="Times New Roman"/>
              </a:rPr>
              <a:t>just </a:t>
            </a:r>
            <a:r>
              <a:rPr dirty="0" sz="1200" spc="-5">
                <a:latin typeface="Times New Roman"/>
                <a:cs typeface="Times New Roman"/>
              </a:rPr>
              <a:t>didn’t care. His connections with </a:t>
            </a:r>
            <a:r>
              <a:rPr dirty="0" sz="1200">
                <a:latin typeface="Times New Roman"/>
                <a:cs typeface="Times New Roman"/>
              </a:rPr>
              <a:t> the world </a:t>
            </a:r>
            <a:r>
              <a:rPr dirty="0" sz="1200" spc="-5">
                <a:latin typeface="Times New Roman"/>
                <a:cs typeface="Times New Roman"/>
              </a:rPr>
              <a:t>seemed </a:t>
            </a:r>
            <a:r>
              <a:rPr dirty="0" sz="1200">
                <a:latin typeface="Times New Roman"/>
                <a:cs typeface="Times New Roman"/>
              </a:rPr>
              <a:t>to have been snapped. The lights </a:t>
            </a:r>
            <a:r>
              <a:rPr dirty="0" sz="1200" spc="-5">
                <a:latin typeface="Times New Roman"/>
                <a:cs typeface="Times New Roman"/>
              </a:rPr>
              <a:t>seemed </a:t>
            </a:r>
            <a:r>
              <a:rPr dirty="0" sz="1200">
                <a:latin typeface="Times New Roman"/>
                <a:cs typeface="Times New Roman"/>
              </a:rPr>
              <a:t>to have gone out.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father had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decided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that was it.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H.W.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that </a:t>
            </a:r>
            <a:r>
              <a:rPr dirty="0" sz="1200" spc="-5">
                <a:latin typeface="Times New Roman"/>
                <a:cs typeface="Times New Roman"/>
              </a:rPr>
              <a:t>subject.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transitional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signals.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7248143"/>
          <a:ext cx="5633085" cy="1833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11780"/>
                <a:gridCol w="2811780"/>
              </a:tblGrid>
              <a:tr h="356615">
                <a:tc>
                  <a:txBody>
                    <a:bodyPr/>
                    <a:lstStyle/>
                    <a:p>
                      <a:pPr algn="ctr" marL="114935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Group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0580">
                        <a:lnSpc>
                          <a:spcPts val="138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Group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7545" marR="628015" indent="-38100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(Order of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Importance)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 Why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important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to: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8945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(Chronological</a:t>
                      </a:r>
                      <a:r>
                        <a:rPr dirty="0" sz="1200" spc="-5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Order)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8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a)</a:t>
                      </a:r>
                      <a:r>
                        <a:rPr dirty="0" sz="1200" spc="2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Learn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English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typical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day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life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050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b)</a:t>
                      </a:r>
                      <a:r>
                        <a:rPr dirty="0" sz="1200" spc="2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Stop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smoking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happiest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life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c)</a:t>
                      </a:r>
                      <a:r>
                        <a:rPr dirty="0" sz="1200" spc="2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Reduce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pollution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unhappiest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day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my</a:t>
                      </a:r>
                      <a:r>
                        <a:rPr dirty="0" sz="1200" spc="2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life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4944745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33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Essay</a:t>
            </a:r>
            <a:r>
              <a:rPr dirty="0" sz="1200" b="1">
                <a:latin typeface="Times New Roman"/>
                <a:cs typeface="Times New Roman"/>
              </a:rPr>
              <a:t> Writing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past </a:t>
            </a:r>
            <a:r>
              <a:rPr dirty="0" sz="1200" spc="-5">
                <a:latin typeface="Times New Roman"/>
                <a:cs typeface="Times New Roman"/>
              </a:rPr>
              <a:t>few lessons we </a:t>
            </a:r>
            <a:r>
              <a:rPr dirty="0" sz="1200">
                <a:latin typeface="Times New Roman"/>
                <a:cs typeface="Times New Roman"/>
              </a:rPr>
              <a:t>have looked at paragraph writing. </a:t>
            </a:r>
            <a:r>
              <a:rPr dirty="0" sz="1200" spc="-5">
                <a:latin typeface="Times New Roman"/>
                <a:cs typeface="Times New Roman"/>
              </a:rPr>
              <a:t>Now we </a:t>
            </a:r>
            <a:r>
              <a:rPr dirty="0" sz="1200">
                <a:latin typeface="Times New Roman"/>
                <a:cs typeface="Times New Roman"/>
              </a:rPr>
              <a:t>shall </a:t>
            </a:r>
            <a:r>
              <a:rPr dirty="0" sz="1200" spc="-5">
                <a:latin typeface="Times New Roman"/>
                <a:cs typeface="Times New Roman"/>
              </a:rPr>
              <a:t>move </a:t>
            </a:r>
            <a:r>
              <a:rPr dirty="0" sz="1200">
                <a:latin typeface="Times New Roman"/>
                <a:cs typeface="Times New Roman"/>
              </a:rPr>
              <a:t>forward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look at longer pieces of writing which </a:t>
            </a:r>
            <a:r>
              <a:rPr dirty="0" sz="1200" spc="-5">
                <a:latin typeface="Times New Roman"/>
                <a:cs typeface="Times New Roman"/>
              </a:rPr>
              <a:t>consist </a:t>
            </a:r>
            <a:r>
              <a:rPr dirty="0" sz="1200">
                <a:latin typeface="Times New Roman"/>
                <a:cs typeface="Times New Roman"/>
              </a:rPr>
              <a:t>of several </a:t>
            </a:r>
            <a:r>
              <a:rPr dirty="0" sz="1200" spc="-5">
                <a:latin typeface="Times New Roman"/>
                <a:cs typeface="Times New Roman"/>
              </a:rPr>
              <a:t>paragraphs.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problems we </a:t>
            </a:r>
            <a:r>
              <a:rPr dirty="0" sz="1200">
                <a:latin typeface="Times New Roman"/>
                <a:cs typeface="Times New Roman"/>
              </a:rPr>
              <a:t> considered in </a:t>
            </a:r>
            <a:r>
              <a:rPr dirty="0" sz="1200" spc="-5">
                <a:latin typeface="Times New Roman"/>
                <a:cs typeface="Times New Roman"/>
              </a:rPr>
              <a:t>sentence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paragraph writing </a:t>
            </a:r>
            <a:r>
              <a:rPr dirty="0" sz="1200">
                <a:latin typeface="Times New Roman"/>
                <a:cs typeface="Times New Roman"/>
              </a:rPr>
              <a:t>are also the </a:t>
            </a:r>
            <a:r>
              <a:rPr dirty="0" sz="1200" spc="-5">
                <a:latin typeface="Times New Roman"/>
                <a:cs typeface="Times New Roman"/>
              </a:rPr>
              <a:t>fundamental problems </a:t>
            </a:r>
            <a:r>
              <a:rPr dirty="0" sz="1200">
                <a:latin typeface="Times New Roman"/>
                <a:cs typeface="Times New Roman"/>
              </a:rPr>
              <a:t>of longer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</a:t>
            </a:r>
            <a:r>
              <a:rPr dirty="0" sz="1200">
                <a:latin typeface="Times New Roman"/>
                <a:cs typeface="Times New Roman"/>
              </a:rPr>
              <a:t> –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of unity, coherence, and </a:t>
            </a:r>
            <a:r>
              <a:rPr dirty="0" sz="1200" spc="-5">
                <a:latin typeface="Times New Roman"/>
                <a:cs typeface="Times New Roman"/>
              </a:rPr>
              <a:t>emphasis.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be treated in a single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others require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elaborate </a:t>
            </a:r>
            <a:r>
              <a:rPr dirty="0" sz="1200" spc="-5">
                <a:latin typeface="Times New Roman"/>
                <a:cs typeface="Times New Roman"/>
              </a:rPr>
              <a:t>development. </a:t>
            </a:r>
            <a:r>
              <a:rPr dirty="0" sz="1200">
                <a:latin typeface="Times New Roman"/>
                <a:cs typeface="Times New Roman"/>
              </a:rPr>
              <a:t>In longer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compositions we </a:t>
            </a:r>
            <a:r>
              <a:rPr dirty="0" sz="1200">
                <a:latin typeface="Times New Roman"/>
                <a:cs typeface="Times New Roman"/>
              </a:rPr>
              <a:t>find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arrangement. A </a:t>
            </a:r>
            <a:r>
              <a:rPr dirty="0" sz="1200">
                <a:latin typeface="Times New Roman"/>
                <a:cs typeface="Times New Roman"/>
              </a:rPr>
              <a:t>longer </a:t>
            </a:r>
            <a:r>
              <a:rPr dirty="0" sz="1200" spc="-5">
                <a:latin typeface="Times New Roman"/>
                <a:cs typeface="Times New Roman"/>
              </a:rPr>
              <a:t>composition,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essay,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divides </a:t>
            </a:r>
            <a:r>
              <a:rPr dirty="0" sz="1200">
                <a:latin typeface="Times New Roman"/>
                <a:cs typeface="Times New Roman"/>
              </a:rPr>
              <a:t>itself usually into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parts. In what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>
                <a:latin typeface="Times New Roman"/>
                <a:cs typeface="Times New Roman"/>
              </a:rPr>
              <a:t>shall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present </a:t>
            </a:r>
            <a:r>
              <a:rPr dirty="0" sz="1200" spc="-5">
                <a:latin typeface="Times New Roman"/>
                <a:cs typeface="Times New Roman"/>
              </a:rPr>
              <a:t>them? How </a:t>
            </a:r>
            <a:r>
              <a:rPr dirty="0" sz="1200">
                <a:latin typeface="Times New Roman"/>
                <a:cs typeface="Times New Roman"/>
              </a:rPr>
              <a:t> much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fact?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a lot depends on the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purpose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your writing. If you are writing </a:t>
            </a:r>
            <a:r>
              <a:rPr dirty="0" sz="1200" spc="-5">
                <a:latin typeface="Times New Roman"/>
                <a:cs typeface="Times New Roman"/>
              </a:rPr>
              <a:t>primarily </a:t>
            </a:r>
            <a:r>
              <a:rPr dirty="0" sz="1200">
                <a:latin typeface="Times New Roman"/>
                <a:cs typeface="Times New Roman"/>
              </a:rPr>
              <a:t>to give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information,</a:t>
            </a:r>
            <a:r>
              <a:rPr dirty="0" sz="1200">
                <a:latin typeface="Times New Roman"/>
                <a:cs typeface="Times New Roman"/>
              </a:rPr>
              <a:t> then you need to be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exact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possible in the </a:t>
            </a:r>
            <a:r>
              <a:rPr dirty="0" sz="1200" spc="-5">
                <a:latin typeface="Times New Roman"/>
                <a:cs typeface="Times New Roman"/>
              </a:rPr>
              <a:t>interest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clear, logical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presentation of facts. If you are writing to </a:t>
            </a:r>
            <a:r>
              <a:rPr dirty="0" sz="1200" spc="-5">
                <a:latin typeface="Times New Roman"/>
                <a:cs typeface="Times New Roman"/>
              </a:rPr>
              <a:t>describe something, </a:t>
            </a:r>
            <a:r>
              <a:rPr dirty="0" sz="1200">
                <a:latin typeface="Times New Roman"/>
                <a:cs typeface="Times New Roman"/>
              </a:rPr>
              <a:t>or to create an </a:t>
            </a:r>
            <a:r>
              <a:rPr dirty="0" sz="1200" spc="-5">
                <a:latin typeface="Times New Roman"/>
                <a:cs typeface="Times New Roman"/>
              </a:rPr>
              <a:t>image </a:t>
            </a:r>
            <a:r>
              <a:rPr dirty="0" sz="1200">
                <a:latin typeface="Times New Roman"/>
                <a:cs typeface="Times New Roman"/>
              </a:rPr>
              <a:t>or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picture then you shall perhaps put </a:t>
            </a:r>
            <a:r>
              <a:rPr dirty="0" sz="1200" spc="-5">
                <a:latin typeface="Times New Roman"/>
                <a:cs typeface="Times New Roman"/>
              </a:rPr>
              <a:t>less emphasis</a:t>
            </a:r>
            <a:r>
              <a:rPr dirty="0" sz="1200">
                <a:latin typeface="Times New Roman"/>
                <a:cs typeface="Times New Roman"/>
              </a:rPr>
              <a:t> upon accurate </a:t>
            </a:r>
            <a:r>
              <a:rPr dirty="0" sz="1200" spc="-5">
                <a:latin typeface="Times New Roman"/>
                <a:cs typeface="Times New Roman"/>
              </a:rPr>
              <a:t>measurement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upon </a:t>
            </a:r>
            <a:r>
              <a:rPr dirty="0" sz="1200" spc="-5">
                <a:latin typeface="Times New Roman"/>
                <a:cs typeface="Times New Roman"/>
              </a:rPr>
              <a:t>suggestive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revealing details. </a:t>
            </a:r>
            <a:r>
              <a:rPr dirty="0" sz="1200">
                <a:latin typeface="Times New Roman"/>
                <a:cs typeface="Times New Roman"/>
              </a:rPr>
              <a:t>If you are writing to tell a story,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have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decide upon the point of highest interest and arrange your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carefully to give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feeling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illusion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difficult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difference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length. The </a:t>
            </a:r>
            <a:r>
              <a:rPr dirty="0" sz="1200" spc="-5">
                <a:latin typeface="Times New Roman"/>
                <a:cs typeface="Times New Roman"/>
              </a:rPr>
              <a:t>principles of organization are the same for both: so if you can </a:t>
            </a:r>
            <a:r>
              <a:rPr dirty="0" sz="1200">
                <a:latin typeface="Times New Roman"/>
                <a:cs typeface="Times New Roman"/>
              </a:rPr>
              <a:t> 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Process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stages.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five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stages</a:t>
            </a:r>
            <a:r>
              <a:rPr dirty="0" sz="1200" spc="7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process.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15"/>
              </a:lnSpc>
              <a:buAutoNum type="arabicParenBoth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ideas:</a:t>
            </a:r>
            <a:r>
              <a:rPr dirty="0" sz="1200" spc="-5">
                <a:latin typeface="Times New Roman"/>
                <a:cs typeface="Times New Roman"/>
              </a:rPr>
              <a:t> brainstorming,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clustering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380"/>
              </a:lnSpc>
              <a:buAutoNum type="arabicParenBoth"/>
              <a:tabLst>
                <a:tab pos="228600" algn="l"/>
              </a:tabLst>
            </a:pPr>
            <a:r>
              <a:rPr dirty="0" sz="1200">
                <a:latin typeface="Times New Roman"/>
                <a:cs typeface="Times New Roman"/>
              </a:rPr>
              <a:t>Making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brief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outline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AutoNum type="arabi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1st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draft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380"/>
              </a:lnSpc>
              <a:buAutoNum type="arabicParenBoth"/>
              <a:tabLst>
                <a:tab pos="228600" algn="l"/>
              </a:tabLst>
            </a:pPr>
            <a:r>
              <a:rPr dirty="0" sz="1200">
                <a:latin typeface="Times New Roman"/>
                <a:cs typeface="Times New Roman"/>
              </a:rPr>
              <a:t>Revising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410"/>
              </a:lnSpc>
              <a:buAutoNum type="arabicParenBoth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Proof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arenBoth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I: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Getting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Ideas: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Primarily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talking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listening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talk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TV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current</a:t>
            </a:r>
            <a:r>
              <a:rPr dirty="0" sz="1200" spc="-5">
                <a:latin typeface="Times New Roman"/>
                <a:cs typeface="Times New Roman"/>
              </a:rPr>
              <a:t> issues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 algn="just" lvl="1" marL="12700" marR="270510">
              <a:lnSpc>
                <a:spcPts val="1380"/>
              </a:lnSpc>
              <a:buAutoNum type="alphaLcParenBoth"/>
              <a:tabLst>
                <a:tab pos="241935" algn="l"/>
              </a:tabLst>
            </a:pPr>
            <a:r>
              <a:rPr dirty="0" sz="1200" b="1">
                <a:latin typeface="Times New Roman"/>
                <a:cs typeface="Times New Roman"/>
              </a:rPr>
              <a:t>Brainstorming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ideas jot down points or ideas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details as they come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>
                <a:latin typeface="Times New Roman"/>
                <a:cs typeface="Times New Roman"/>
              </a:rPr>
              <a:t> write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accumulate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think of.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strategy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essay.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buAutoNum type="alphaLcParenBoth"/>
            </a:pPr>
            <a:endParaRPr sz="1200">
              <a:latin typeface="Times New Roman"/>
              <a:cs typeface="Times New Roman"/>
            </a:endParaRPr>
          </a:p>
          <a:p>
            <a:pPr algn="just" lvl="1" marL="12700" marR="270510">
              <a:lnSpc>
                <a:spcPts val="1380"/>
              </a:lnSpc>
              <a:buFont typeface="Times New Roman"/>
              <a:buAutoNum type="alphaLcParenBoth"/>
              <a:tabLst>
                <a:tab pos="24384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Clustering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>
                <a:latin typeface="Times New Roman"/>
                <a:cs typeface="Times New Roman"/>
              </a:rPr>
              <a:t>The other strategy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clustering. </a:t>
            </a:r>
            <a:r>
              <a:rPr dirty="0" sz="1200" spc="-5">
                <a:latin typeface="Times New Roman"/>
                <a:cs typeface="Times New Roman"/>
              </a:rPr>
              <a:t>Here </a:t>
            </a:r>
            <a:r>
              <a:rPr dirty="0" sz="1200">
                <a:latin typeface="Times New Roman"/>
                <a:cs typeface="Times New Roman"/>
              </a:rPr>
              <a:t>you begin by writing your subject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 in the center of a blank sheet of paper. Then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into your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you put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 down in boxes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circles </a:t>
            </a:r>
            <a:r>
              <a:rPr dirty="0" sz="1200" spc="-5">
                <a:latin typeface="Times New Roman"/>
                <a:cs typeface="Times New Roman"/>
              </a:rPr>
              <a:t>around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or topic. You </a:t>
            </a:r>
            <a:r>
              <a:rPr dirty="0" sz="1200" spc="-5">
                <a:latin typeface="Times New Roman"/>
                <a:cs typeface="Times New Roman"/>
              </a:rPr>
              <a:t>will now see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sample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clustering.</a:t>
            </a:r>
            <a:endParaRPr sz="1200">
              <a:latin typeface="Times New Roman"/>
              <a:cs typeface="Times New Roman"/>
            </a:endParaRPr>
          </a:p>
          <a:p>
            <a:pPr algn="just" lvl="1" marL="12700" marR="271145">
              <a:lnSpc>
                <a:spcPts val="1380"/>
              </a:lnSpc>
              <a:buAutoNum type="alphaLcParenBoth"/>
              <a:tabLst>
                <a:tab pos="236854" algn="l"/>
              </a:tabLst>
            </a:pPr>
            <a:r>
              <a:rPr dirty="0" sz="1200" spc="-5">
                <a:latin typeface="Times New Roman"/>
                <a:cs typeface="Times New Roman"/>
              </a:rPr>
              <a:t>Free </a:t>
            </a:r>
            <a:r>
              <a:rPr dirty="0" sz="1200">
                <a:latin typeface="Times New Roman"/>
                <a:cs typeface="Times New Roman"/>
              </a:rPr>
              <a:t>writing, this </a:t>
            </a:r>
            <a:r>
              <a:rPr dirty="0" sz="1200" spc="-5">
                <a:latin typeface="Times New Roman"/>
                <a:cs typeface="Times New Roman"/>
              </a:rPr>
              <a:t>is also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very useful </a:t>
            </a:r>
            <a:r>
              <a:rPr dirty="0" sz="1200">
                <a:latin typeface="Times New Roman"/>
                <a:cs typeface="Times New Roman"/>
              </a:rPr>
              <a:t>technique. </a:t>
            </a:r>
            <a:r>
              <a:rPr dirty="0" sz="1200" spc="-5">
                <a:latin typeface="Times New Roman"/>
                <a:cs typeface="Times New Roman"/>
              </a:rPr>
              <a:t>Here you just write down whatever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into your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-5">
                <a:latin typeface="Times New Roman"/>
                <a:cs typeface="Times New Roman"/>
              </a:rPr>
              <a:t>topic. Continue </a:t>
            </a:r>
            <a:r>
              <a:rPr dirty="0" sz="1200">
                <a:latin typeface="Times New Roman"/>
                <a:cs typeface="Times New Roman"/>
              </a:rPr>
              <a:t>writing for </a:t>
            </a:r>
            <a:r>
              <a:rPr dirty="0" sz="1200" spc="-5">
                <a:latin typeface="Times New Roman"/>
                <a:cs typeface="Times New Roman"/>
              </a:rPr>
              <a:t>sometime </a:t>
            </a:r>
            <a:r>
              <a:rPr dirty="0" sz="1200">
                <a:latin typeface="Times New Roman"/>
                <a:cs typeface="Times New Roman"/>
              </a:rPr>
              <a:t>without </a:t>
            </a:r>
            <a:r>
              <a:rPr dirty="0" sz="1200" spc="-5">
                <a:latin typeface="Times New Roman"/>
                <a:cs typeface="Times New Roman"/>
              </a:rPr>
              <a:t>stopping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grammar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103314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CLUSTERING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44600" y="1790192"/>
            <a:ext cx="13252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hide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87843" y="1790192"/>
            <a:ext cx="142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daughter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Babaji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97200" y="2666492"/>
            <a:ext cx="9944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noisy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neighbors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397151" y="2666492"/>
            <a:ext cx="6985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283200" y="3367531"/>
            <a:ext cx="5930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stereoTV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200" y="3542791"/>
            <a:ext cx="1680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somethingneeds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3893311"/>
            <a:ext cx="5628005" cy="1960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0830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dogs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barks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loudly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5080" indent="381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II. Step </a:t>
            </a:r>
            <a:r>
              <a:rPr dirty="0" sz="1200" spc="-10" b="1">
                <a:latin typeface="Times New Roman"/>
                <a:cs typeface="Times New Roman"/>
              </a:rPr>
              <a:t>Two: </a:t>
            </a:r>
            <a:r>
              <a:rPr dirty="0" sz="1200">
                <a:latin typeface="Times New Roman"/>
                <a:cs typeface="Times New Roman"/>
              </a:rPr>
              <a:t>Prepare a rough </a:t>
            </a:r>
            <a:r>
              <a:rPr dirty="0" sz="1200" spc="-5">
                <a:latin typeface="Times New Roman"/>
                <a:cs typeface="Times New Roman"/>
              </a:rPr>
              <a:t>outline.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going to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backbone </a:t>
            </a:r>
            <a:r>
              <a:rPr dirty="0" sz="1200">
                <a:latin typeface="Times New Roman"/>
                <a:cs typeface="Times New Roman"/>
              </a:rPr>
              <a:t>or skeleton 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built.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glance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support </a:t>
            </a:r>
            <a:r>
              <a:rPr dirty="0" sz="1200">
                <a:latin typeface="Times New Roman"/>
                <a:cs typeface="Times New Roman"/>
              </a:rPr>
              <a:t>for that point. It </a:t>
            </a:r>
            <a:r>
              <a:rPr dirty="0" sz="1200" spc="-5">
                <a:latin typeface="Times New Roman"/>
                <a:cs typeface="Times New Roman"/>
              </a:rPr>
              <a:t>will help </a:t>
            </a:r>
            <a:r>
              <a:rPr dirty="0" sz="1200">
                <a:latin typeface="Times New Roman"/>
                <a:cs typeface="Times New Roman"/>
              </a:rPr>
              <a:t>you to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 you need to do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writing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clarify your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point or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support. You shall learn how to write an </a:t>
            </a:r>
            <a:r>
              <a:rPr dirty="0" sz="1200" spc="-5">
                <a:latin typeface="Times New Roman"/>
                <a:cs typeface="Times New Roman"/>
              </a:rPr>
              <a:t>outline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next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5">
                <a:latin typeface="Times New Roman"/>
                <a:cs typeface="Times New Roman"/>
              </a:rPr>
              <a:t> show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outline.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372872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Example of </a:t>
            </a:r>
            <a:r>
              <a:rPr dirty="0" sz="1200" spc="-5" b="1">
                <a:latin typeface="Times New Roman"/>
                <a:cs typeface="Times New Roman"/>
              </a:rPr>
              <a:t>an </a:t>
            </a:r>
            <a:r>
              <a:rPr dirty="0" sz="1200" b="1">
                <a:latin typeface="Times New Roman"/>
                <a:cs typeface="Times New Roman"/>
              </a:rPr>
              <a:t>outline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Biography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celebrated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72986" y="5821171"/>
            <a:ext cx="238442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Friends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enemies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fellows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pranks,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conversations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distinguished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5821171"/>
            <a:ext cx="1530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73047" y="6346952"/>
            <a:ext cx="35979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98700" algn="l"/>
              </a:tabLst>
            </a:pPr>
            <a:r>
              <a:rPr dirty="0" sz="1200">
                <a:latin typeface="Times New Roman"/>
                <a:cs typeface="Times New Roman"/>
              </a:rPr>
              <a:t>Relatives - accounts of 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acts</a:t>
            </a:r>
            <a:r>
              <a:rPr dirty="0" sz="1200">
                <a:latin typeface="Times New Roman"/>
                <a:cs typeface="Times New Roman"/>
              </a:rPr>
              <a:t> of	</a:t>
            </a:r>
            <a:r>
              <a:rPr dirty="0" sz="1200" spc="-5">
                <a:latin typeface="Times New Roman"/>
                <a:cs typeface="Times New Roman"/>
              </a:rPr>
              <a:t>humanity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virtues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6697471"/>
            <a:ext cx="5627370" cy="23114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  <a:buAutoNum type="romanLcParenBoth" startAt="3"/>
              <a:tabLst>
                <a:tab pos="2914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Third step</a:t>
            </a:r>
            <a:r>
              <a:rPr dirty="0" sz="1200" spc="-5">
                <a:latin typeface="Times New Roman"/>
                <a:cs typeface="Times New Roman"/>
              </a:rPr>
              <a:t>: Writing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1st draft: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purpose </a:t>
            </a:r>
            <a:r>
              <a:rPr dirty="0" sz="1200">
                <a:latin typeface="Times New Roman"/>
                <a:cs typeface="Times New Roman"/>
              </a:rPr>
              <a:t>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develop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context of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document. So </a:t>
            </a:r>
            <a:r>
              <a:rPr dirty="0" sz="1200">
                <a:latin typeface="Times New Roman"/>
                <a:cs typeface="Times New Roman"/>
              </a:rPr>
              <a:t>be ready to put in </a:t>
            </a:r>
            <a:r>
              <a:rPr dirty="0" sz="1200" spc="-5">
                <a:latin typeface="Times New Roman"/>
                <a:cs typeface="Times New Roman"/>
              </a:rPr>
              <a:t>additional thoughts </a:t>
            </a:r>
            <a:r>
              <a:rPr dirty="0" sz="1200">
                <a:latin typeface="Times New Roman"/>
                <a:cs typeface="Times New Roman"/>
              </a:rPr>
              <a:t>and details that </a:t>
            </a:r>
            <a:r>
              <a:rPr dirty="0" sz="1200" spc="-5">
                <a:latin typeface="Times New Roman"/>
                <a:cs typeface="Times New Roman"/>
              </a:rPr>
              <a:t>did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to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 </a:t>
            </a:r>
            <a:r>
              <a:rPr dirty="0" sz="1200">
                <a:latin typeface="Times New Roman"/>
                <a:cs typeface="Times New Roman"/>
              </a:rPr>
              <a:t>earlier.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not spend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correcting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or sentences that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decide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remove </a:t>
            </a:r>
            <a:r>
              <a:rPr dirty="0" sz="1200">
                <a:latin typeface="Times New Roman"/>
                <a:cs typeface="Times New Roman"/>
              </a:rPr>
              <a:t>later 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AutoNum type="romanLcParenBoth" startAt="3"/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buSzPct val="91666"/>
              <a:buFont typeface="Times New Roman"/>
              <a:buAutoNum type="romanLcParenBoth" startAt="3"/>
              <a:tabLst>
                <a:tab pos="234315" algn="l"/>
              </a:tabLst>
            </a:pPr>
            <a:r>
              <a:rPr dirty="0" sz="1200" b="1">
                <a:latin typeface="Times New Roman"/>
                <a:cs typeface="Times New Roman"/>
              </a:rPr>
              <a:t>Fourth </a:t>
            </a:r>
            <a:r>
              <a:rPr dirty="0" sz="1200" spc="-5" b="1">
                <a:latin typeface="Times New Roman"/>
                <a:cs typeface="Times New Roman"/>
              </a:rPr>
              <a:t>step: </a:t>
            </a:r>
            <a:r>
              <a:rPr dirty="0" sz="1200">
                <a:latin typeface="Times New Roman"/>
                <a:cs typeface="Times New Roman"/>
              </a:rPr>
              <a:t>Revising: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important </a:t>
            </a:r>
            <a:r>
              <a:rPr dirty="0" sz="1200" spc="-5">
                <a:latin typeface="Times New Roman"/>
                <a:cs typeface="Times New Roman"/>
              </a:rPr>
              <a:t>part of writing </a:t>
            </a:r>
            <a:r>
              <a:rPr dirty="0" sz="1200">
                <a:latin typeface="Times New Roman"/>
                <a:cs typeface="Times New Roman"/>
              </a:rPr>
              <a:t>- a </a:t>
            </a:r>
            <a:r>
              <a:rPr dirty="0" sz="1200" spc="-5">
                <a:latin typeface="Times New Roman"/>
                <a:cs typeface="Times New Roman"/>
              </a:rPr>
              <a:t>practice our </a:t>
            </a:r>
            <a:r>
              <a:rPr dirty="0" sz="1200">
                <a:latin typeface="Times New Roman"/>
                <a:cs typeface="Times New Roman"/>
              </a:rPr>
              <a:t> students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encouraged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Revising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that you rewrite, build upon what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</a:t>
            </a:r>
            <a:r>
              <a:rPr dirty="0" sz="1200" spc="-5">
                <a:latin typeface="Times New Roman"/>
                <a:cs typeface="Times New Roman"/>
              </a:rPr>
              <a:t>written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it better. It is at </a:t>
            </a:r>
            <a:r>
              <a:rPr dirty="0" sz="1200">
                <a:latin typeface="Times New Roman"/>
                <a:cs typeface="Times New Roman"/>
              </a:rPr>
              <a:t> this stage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you get rid of unnecessary </a:t>
            </a:r>
            <a:r>
              <a:rPr dirty="0" sz="1200" spc="-5">
                <a:latin typeface="Times New Roman"/>
                <a:cs typeface="Times New Roman"/>
              </a:rPr>
              <a:t>material, improve </a:t>
            </a:r>
            <a:r>
              <a:rPr dirty="0" sz="1200">
                <a:latin typeface="Times New Roman"/>
                <a:cs typeface="Times New Roman"/>
              </a:rPr>
              <a:t>on what you are going to retain.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typical revision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writing on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drafts. Here you insert details left out, put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transition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which would make </a:t>
            </a:r>
            <a:r>
              <a:rPr dirty="0" sz="1200" spc="-5">
                <a:latin typeface="Times New Roman"/>
                <a:cs typeface="Times New Roman"/>
              </a:rPr>
              <a:t>smoother </a:t>
            </a:r>
            <a:r>
              <a:rPr dirty="0" sz="1200">
                <a:latin typeface="Times New Roman"/>
                <a:cs typeface="Times New Roman"/>
              </a:rPr>
              <a:t>reading. If you are working on a word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processor,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 out a hard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copy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can</a:t>
            </a:r>
            <a:r>
              <a:rPr dirty="0" sz="1200" spc="-5">
                <a:latin typeface="Times New Roman"/>
                <a:cs typeface="Times New Roman"/>
              </a:rPr>
              <a:t> see</a:t>
            </a:r>
            <a:r>
              <a:rPr dirty="0" sz="1200">
                <a:latin typeface="Times New Roman"/>
                <a:cs typeface="Times New Roman"/>
              </a:rPr>
              <a:t> your entire </a:t>
            </a:r>
            <a:r>
              <a:rPr dirty="0" sz="1200" spc="-5">
                <a:latin typeface="Times New Roman"/>
                <a:cs typeface="Times New Roman"/>
              </a:rPr>
              <a:t>document </a:t>
            </a:r>
            <a:r>
              <a:rPr dirty="0" sz="1200">
                <a:latin typeface="Times New Roman"/>
                <a:cs typeface="Times New Roman"/>
              </a:rPr>
              <a:t>at one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2901695" y="1722882"/>
            <a:ext cx="1873885" cy="457200"/>
          </a:xfrm>
          <a:custGeom>
            <a:avLst/>
            <a:gdLst/>
            <a:ahLst/>
            <a:cxnLst/>
            <a:rect l="l" t="t" r="r" b="b"/>
            <a:pathLst>
              <a:path w="1873885" h="457200">
                <a:moveTo>
                  <a:pt x="936498" y="0"/>
                </a:moveTo>
                <a:lnTo>
                  <a:pt x="863386" y="686"/>
                </a:lnTo>
                <a:lnTo>
                  <a:pt x="791800" y="2711"/>
                </a:lnTo>
                <a:lnTo>
                  <a:pt x="721949" y="6024"/>
                </a:lnTo>
                <a:lnTo>
                  <a:pt x="654043" y="10576"/>
                </a:lnTo>
                <a:lnTo>
                  <a:pt x="588291" y="16316"/>
                </a:lnTo>
                <a:lnTo>
                  <a:pt x="524902" y="23193"/>
                </a:lnTo>
                <a:lnTo>
                  <a:pt x="464086" y="31157"/>
                </a:lnTo>
                <a:lnTo>
                  <a:pt x="406051" y="40158"/>
                </a:lnTo>
                <a:lnTo>
                  <a:pt x="351008" y="50145"/>
                </a:lnTo>
                <a:lnTo>
                  <a:pt x="299166" y="61068"/>
                </a:lnTo>
                <a:lnTo>
                  <a:pt x="250733" y="72877"/>
                </a:lnTo>
                <a:lnTo>
                  <a:pt x="205919" y="85521"/>
                </a:lnTo>
                <a:lnTo>
                  <a:pt x="164934" y="98950"/>
                </a:lnTo>
                <a:lnTo>
                  <a:pt x="127987" y="113114"/>
                </a:lnTo>
                <a:lnTo>
                  <a:pt x="67044" y="143444"/>
                </a:lnTo>
                <a:lnTo>
                  <a:pt x="24763" y="176108"/>
                </a:lnTo>
                <a:lnTo>
                  <a:pt x="2821" y="210703"/>
                </a:lnTo>
                <a:lnTo>
                  <a:pt x="0" y="228600"/>
                </a:lnTo>
                <a:lnTo>
                  <a:pt x="2821" y="246397"/>
                </a:lnTo>
                <a:lnTo>
                  <a:pt x="24763" y="280851"/>
                </a:lnTo>
                <a:lnTo>
                  <a:pt x="67044" y="313439"/>
                </a:lnTo>
                <a:lnTo>
                  <a:pt x="127987" y="343746"/>
                </a:lnTo>
                <a:lnTo>
                  <a:pt x="164934" y="357915"/>
                </a:lnTo>
                <a:lnTo>
                  <a:pt x="205919" y="371358"/>
                </a:lnTo>
                <a:lnTo>
                  <a:pt x="250733" y="384023"/>
                </a:lnTo>
                <a:lnTo>
                  <a:pt x="299166" y="395859"/>
                </a:lnTo>
                <a:lnTo>
                  <a:pt x="351008" y="406814"/>
                </a:lnTo>
                <a:lnTo>
                  <a:pt x="406051" y="416836"/>
                </a:lnTo>
                <a:lnTo>
                  <a:pt x="464086" y="425873"/>
                </a:lnTo>
                <a:lnTo>
                  <a:pt x="524902" y="433873"/>
                </a:lnTo>
                <a:lnTo>
                  <a:pt x="588291" y="440785"/>
                </a:lnTo>
                <a:lnTo>
                  <a:pt x="654043" y="446556"/>
                </a:lnTo>
                <a:lnTo>
                  <a:pt x="721949" y="451135"/>
                </a:lnTo>
                <a:lnTo>
                  <a:pt x="791800" y="454469"/>
                </a:lnTo>
                <a:lnTo>
                  <a:pt x="863386" y="456508"/>
                </a:lnTo>
                <a:lnTo>
                  <a:pt x="936498" y="457200"/>
                </a:lnTo>
                <a:lnTo>
                  <a:pt x="1009713" y="456508"/>
                </a:lnTo>
                <a:lnTo>
                  <a:pt x="1081393" y="454469"/>
                </a:lnTo>
                <a:lnTo>
                  <a:pt x="1151328" y="451135"/>
                </a:lnTo>
                <a:lnTo>
                  <a:pt x="1219310" y="446556"/>
                </a:lnTo>
                <a:lnTo>
                  <a:pt x="1285129" y="440785"/>
                </a:lnTo>
                <a:lnTo>
                  <a:pt x="1348577" y="433873"/>
                </a:lnTo>
                <a:lnTo>
                  <a:pt x="1409446" y="425873"/>
                </a:lnTo>
                <a:lnTo>
                  <a:pt x="1467525" y="416836"/>
                </a:lnTo>
                <a:lnTo>
                  <a:pt x="1522607" y="406814"/>
                </a:lnTo>
                <a:lnTo>
                  <a:pt x="1574482" y="395859"/>
                </a:lnTo>
                <a:lnTo>
                  <a:pt x="1622942" y="384023"/>
                </a:lnTo>
                <a:lnTo>
                  <a:pt x="1667778" y="371358"/>
                </a:lnTo>
                <a:lnTo>
                  <a:pt x="1708780" y="357915"/>
                </a:lnTo>
                <a:lnTo>
                  <a:pt x="1745742" y="343746"/>
                </a:lnTo>
                <a:lnTo>
                  <a:pt x="1806703" y="313439"/>
                </a:lnTo>
                <a:lnTo>
                  <a:pt x="1848991" y="280851"/>
                </a:lnTo>
                <a:lnTo>
                  <a:pt x="1870936" y="246397"/>
                </a:lnTo>
                <a:lnTo>
                  <a:pt x="1873758" y="228600"/>
                </a:lnTo>
                <a:lnTo>
                  <a:pt x="1870936" y="210703"/>
                </a:lnTo>
                <a:lnTo>
                  <a:pt x="1848991" y="176108"/>
                </a:lnTo>
                <a:lnTo>
                  <a:pt x="1806703" y="143444"/>
                </a:lnTo>
                <a:lnTo>
                  <a:pt x="1745741" y="113114"/>
                </a:lnTo>
                <a:lnTo>
                  <a:pt x="1708780" y="98950"/>
                </a:lnTo>
                <a:lnTo>
                  <a:pt x="1667778" y="85521"/>
                </a:lnTo>
                <a:lnTo>
                  <a:pt x="1622942" y="72877"/>
                </a:lnTo>
                <a:lnTo>
                  <a:pt x="1574482" y="61068"/>
                </a:lnTo>
                <a:lnTo>
                  <a:pt x="1522607" y="50145"/>
                </a:lnTo>
                <a:lnTo>
                  <a:pt x="1467525" y="40158"/>
                </a:lnTo>
                <a:lnTo>
                  <a:pt x="1409445" y="31157"/>
                </a:lnTo>
                <a:lnTo>
                  <a:pt x="1348577" y="23193"/>
                </a:lnTo>
                <a:lnTo>
                  <a:pt x="1285129" y="16316"/>
                </a:lnTo>
                <a:lnTo>
                  <a:pt x="1219310" y="10576"/>
                </a:lnTo>
                <a:lnTo>
                  <a:pt x="1151328" y="6024"/>
                </a:lnTo>
                <a:lnTo>
                  <a:pt x="1081393" y="2711"/>
                </a:lnTo>
                <a:lnTo>
                  <a:pt x="1009713" y="686"/>
                </a:lnTo>
                <a:lnTo>
                  <a:pt x="936498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/>
          <p:cNvGrpSpPr/>
          <p:nvPr/>
        </p:nvGrpSpPr>
        <p:grpSpPr>
          <a:xfrm>
            <a:off x="5105209" y="2327719"/>
            <a:ext cx="1080135" cy="1304925"/>
            <a:chOff x="5105209" y="2327719"/>
            <a:chExt cx="1080135" cy="1304925"/>
          </a:xfrm>
        </p:grpSpPr>
        <p:sp>
          <p:nvSpPr>
            <p:cNvPr id="18" name="object 18"/>
            <p:cNvSpPr/>
            <p:nvPr/>
          </p:nvSpPr>
          <p:spPr>
            <a:xfrm>
              <a:off x="5177027" y="2332482"/>
              <a:ext cx="869950" cy="584200"/>
            </a:xfrm>
            <a:custGeom>
              <a:avLst/>
              <a:gdLst/>
              <a:ahLst/>
              <a:cxnLst/>
              <a:rect l="l" t="t" r="r" b="b"/>
              <a:pathLst>
                <a:path w="869950" h="584200">
                  <a:moveTo>
                    <a:pt x="435101" y="0"/>
                  </a:moveTo>
                  <a:lnTo>
                    <a:pt x="380576" y="2267"/>
                  </a:lnTo>
                  <a:lnTo>
                    <a:pt x="328057" y="8891"/>
                  </a:lnTo>
                  <a:lnTo>
                    <a:pt x="277954" y="19600"/>
                  </a:lnTo>
                  <a:lnTo>
                    <a:pt x="230677" y="34123"/>
                  </a:lnTo>
                  <a:lnTo>
                    <a:pt x="186636" y="52190"/>
                  </a:lnTo>
                  <a:lnTo>
                    <a:pt x="146241" y="73530"/>
                  </a:lnTo>
                  <a:lnTo>
                    <a:pt x="109902" y="97874"/>
                  </a:lnTo>
                  <a:lnTo>
                    <a:pt x="78029" y="124949"/>
                  </a:lnTo>
                  <a:lnTo>
                    <a:pt x="51032" y="154487"/>
                  </a:lnTo>
                  <a:lnTo>
                    <a:pt x="29320" y="186216"/>
                  </a:lnTo>
                  <a:lnTo>
                    <a:pt x="3394" y="255166"/>
                  </a:lnTo>
                  <a:lnTo>
                    <a:pt x="0" y="291846"/>
                  </a:lnTo>
                  <a:lnTo>
                    <a:pt x="3394" y="328525"/>
                  </a:lnTo>
                  <a:lnTo>
                    <a:pt x="29320" y="397475"/>
                  </a:lnTo>
                  <a:lnTo>
                    <a:pt x="51032" y="429204"/>
                  </a:lnTo>
                  <a:lnTo>
                    <a:pt x="78029" y="458742"/>
                  </a:lnTo>
                  <a:lnTo>
                    <a:pt x="109902" y="485817"/>
                  </a:lnTo>
                  <a:lnTo>
                    <a:pt x="146241" y="510161"/>
                  </a:lnTo>
                  <a:lnTo>
                    <a:pt x="186636" y="531501"/>
                  </a:lnTo>
                  <a:lnTo>
                    <a:pt x="230677" y="549568"/>
                  </a:lnTo>
                  <a:lnTo>
                    <a:pt x="277954" y="564091"/>
                  </a:lnTo>
                  <a:lnTo>
                    <a:pt x="328057" y="574800"/>
                  </a:lnTo>
                  <a:lnTo>
                    <a:pt x="380576" y="581424"/>
                  </a:lnTo>
                  <a:lnTo>
                    <a:pt x="435101" y="583692"/>
                  </a:lnTo>
                  <a:lnTo>
                    <a:pt x="489614" y="581424"/>
                  </a:lnTo>
                  <a:lnTo>
                    <a:pt x="542097" y="574800"/>
                  </a:lnTo>
                  <a:lnTo>
                    <a:pt x="592146" y="564091"/>
                  </a:lnTo>
                  <a:lnTo>
                    <a:pt x="639354" y="549568"/>
                  </a:lnTo>
                  <a:lnTo>
                    <a:pt x="683315" y="531501"/>
                  </a:lnTo>
                  <a:lnTo>
                    <a:pt x="723624" y="510161"/>
                  </a:lnTo>
                  <a:lnTo>
                    <a:pt x="759876" y="485817"/>
                  </a:lnTo>
                  <a:lnTo>
                    <a:pt x="791663" y="458742"/>
                  </a:lnTo>
                  <a:lnTo>
                    <a:pt x="818581" y="429204"/>
                  </a:lnTo>
                  <a:lnTo>
                    <a:pt x="840224" y="397475"/>
                  </a:lnTo>
                  <a:lnTo>
                    <a:pt x="866060" y="328525"/>
                  </a:lnTo>
                  <a:lnTo>
                    <a:pt x="869441" y="291846"/>
                  </a:lnTo>
                  <a:lnTo>
                    <a:pt x="866060" y="255166"/>
                  </a:lnTo>
                  <a:lnTo>
                    <a:pt x="840224" y="186216"/>
                  </a:lnTo>
                  <a:lnTo>
                    <a:pt x="818581" y="154487"/>
                  </a:lnTo>
                  <a:lnTo>
                    <a:pt x="791663" y="124949"/>
                  </a:lnTo>
                  <a:lnTo>
                    <a:pt x="759876" y="97874"/>
                  </a:lnTo>
                  <a:lnTo>
                    <a:pt x="723624" y="73530"/>
                  </a:lnTo>
                  <a:lnTo>
                    <a:pt x="683315" y="52190"/>
                  </a:lnTo>
                  <a:lnTo>
                    <a:pt x="639354" y="34123"/>
                  </a:lnTo>
                  <a:lnTo>
                    <a:pt x="592146" y="19600"/>
                  </a:lnTo>
                  <a:lnTo>
                    <a:pt x="542097" y="8891"/>
                  </a:lnTo>
                  <a:lnTo>
                    <a:pt x="489614" y="2267"/>
                  </a:lnTo>
                  <a:lnTo>
                    <a:pt x="435101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109971" y="2865882"/>
              <a:ext cx="535305" cy="762000"/>
            </a:xfrm>
            <a:custGeom>
              <a:avLst/>
              <a:gdLst/>
              <a:ahLst/>
              <a:cxnLst/>
              <a:rect l="l" t="t" r="r" b="b"/>
              <a:pathLst>
                <a:path w="535304" h="762000">
                  <a:moveTo>
                    <a:pt x="267462" y="0"/>
                  </a:moveTo>
                  <a:lnTo>
                    <a:pt x="227912" y="4133"/>
                  </a:lnTo>
                  <a:lnTo>
                    <a:pt x="190174" y="16139"/>
                  </a:lnTo>
                  <a:lnTo>
                    <a:pt x="154657" y="35428"/>
                  </a:lnTo>
                  <a:lnTo>
                    <a:pt x="121776" y="61408"/>
                  </a:lnTo>
                  <a:lnTo>
                    <a:pt x="91941" y="93489"/>
                  </a:lnTo>
                  <a:lnTo>
                    <a:pt x="65565" y="131080"/>
                  </a:lnTo>
                  <a:lnTo>
                    <a:pt x="43061" y="173589"/>
                  </a:lnTo>
                  <a:lnTo>
                    <a:pt x="24840" y="220426"/>
                  </a:lnTo>
                  <a:lnTo>
                    <a:pt x="11314" y="271001"/>
                  </a:lnTo>
                  <a:lnTo>
                    <a:pt x="2897" y="324723"/>
                  </a:lnTo>
                  <a:lnTo>
                    <a:pt x="0" y="381000"/>
                  </a:lnTo>
                  <a:lnTo>
                    <a:pt x="2897" y="437276"/>
                  </a:lnTo>
                  <a:lnTo>
                    <a:pt x="11314" y="490998"/>
                  </a:lnTo>
                  <a:lnTo>
                    <a:pt x="24840" y="541573"/>
                  </a:lnTo>
                  <a:lnTo>
                    <a:pt x="43061" y="588410"/>
                  </a:lnTo>
                  <a:lnTo>
                    <a:pt x="65565" y="630919"/>
                  </a:lnTo>
                  <a:lnTo>
                    <a:pt x="91941" y="668510"/>
                  </a:lnTo>
                  <a:lnTo>
                    <a:pt x="121776" y="700591"/>
                  </a:lnTo>
                  <a:lnTo>
                    <a:pt x="154657" y="726571"/>
                  </a:lnTo>
                  <a:lnTo>
                    <a:pt x="190174" y="745860"/>
                  </a:lnTo>
                  <a:lnTo>
                    <a:pt x="227912" y="757866"/>
                  </a:lnTo>
                  <a:lnTo>
                    <a:pt x="267462" y="762000"/>
                  </a:lnTo>
                  <a:lnTo>
                    <a:pt x="307011" y="757866"/>
                  </a:lnTo>
                  <a:lnTo>
                    <a:pt x="344749" y="745860"/>
                  </a:lnTo>
                  <a:lnTo>
                    <a:pt x="380266" y="726571"/>
                  </a:lnTo>
                  <a:lnTo>
                    <a:pt x="413147" y="700591"/>
                  </a:lnTo>
                  <a:lnTo>
                    <a:pt x="442982" y="668510"/>
                  </a:lnTo>
                  <a:lnTo>
                    <a:pt x="469358" y="630919"/>
                  </a:lnTo>
                  <a:lnTo>
                    <a:pt x="491862" y="588410"/>
                  </a:lnTo>
                  <a:lnTo>
                    <a:pt x="510083" y="541573"/>
                  </a:lnTo>
                  <a:lnTo>
                    <a:pt x="523609" y="490998"/>
                  </a:lnTo>
                  <a:lnTo>
                    <a:pt x="532026" y="437276"/>
                  </a:lnTo>
                  <a:lnTo>
                    <a:pt x="534924" y="381000"/>
                  </a:lnTo>
                  <a:lnTo>
                    <a:pt x="532026" y="324723"/>
                  </a:lnTo>
                  <a:lnTo>
                    <a:pt x="523609" y="271001"/>
                  </a:lnTo>
                  <a:lnTo>
                    <a:pt x="510083" y="220426"/>
                  </a:lnTo>
                  <a:lnTo>
                    <a:pt x="491862" y="173589"/>
                  </a:lnTo>
                  <a:lnTo>
                    <a:pt x="469358" y="131080"/>
                  </a:lnTo>
                  <a:lnTo>
                    <a:pt x="442982" y="93489"/>
                  </a:lnTo>
                  <a:lnTo>
                    <a:pt x="413147" y="61408"/>
                  </a:lnTo>
                  <a:lnTo>
                    <a:pt x="380266" y="35428"/>
                  </a:lnTo>
                  <a:lnTo>
                    <a:pt x="344749" y="16139"/>
                  </a:lnTo>
                  <a:lnTo>
                    <a:pt x="307011" y="4133"/>
                  </a:lnTo>
                  <a:lnTo>
                    <a:pt x="267462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644895" y="2942082"/>
              <a:ext cx="535940" cy="660400"/>
            </a:xfrm>
            <a:custGeom>
              <a:avLst/>
              <a:gdLst/>
              <a:ahLst/>
              <a:cxnLst/>
              <a:rect l="l" t="t" r="r" b="b"/>
              <a:pathLst>
                <a:path w="535939" h="660400">
                  <a:moveTo>
                    <a:pt x="268224" y="0"/>
                  </a:moveTo>
                  <a:lnTo>
                    <a:pt x="224791" y="4321"/>
                  </a:lnTo>
                  <a:lnTo>
                    <a:pt x="183562" y="16831"/>
                  </a:lnTo>
                  <a:lnTo>
                    <a:pt x="145095" y="36848"/>
                  </a:lnTo>
                  <a:lnTo>
                    <a:pt x="109947" y="63691"/>
                  </a:lnTo>
                  <a:lnTo>
                    <a:pt x="78676" y="96678"/>
                  </a:lnTo>
                  <a:lnTo>
                    <a:pt x="51840" y="135130"/>
                  </a:lnTo>
                  <a:lnTo>
                    <a:pt x="29996" y="178363"/>
                  </a:lnTo>
                  <a:lnTo>
                    <a:pt x="13703" y="225698"/>
                  </a:lnTo>
                  <a:lnTo>
                    <a:pt x="3518" y="276452"/>
                  </a:lnTo>
                  <a:lnTo>
                    <a:pt x="0" y="329946"/>
                  </a:lnTo>
                  <a:lnTo>
                    <a:pt x="3518" y="383439"/>
                  </a:lnTo>
                  <a:lnTo>
                    <a:pt x="13703" y="434193"/>
                  </a:lnTo>
                  <a:lnTo>
                    <a:pt x="29996" y="481528"/>
                  </a:lnTo>
                  <a:lnTo>
                    <a:pt x="51840" y="524761"/>
                  </a:lnTo>
                  <a:lnTo>
                    <a:pt x="78676" y="563213"/>
                  </a:lnTo>
                  <a:lnTo>
                    <a:pt x="109947" y="596200"/>
                  </a:lnTo>
                  <a:lnTo>
                    <a:pt x="145095" y="623043"/>
                  </a:lnTo>
                  <a:lnTo>
                    <a:pt x="183562" y="643060"/>
                  </a:lnTo>
                  <a:lnTo>
                    <a:pt x="224791" y="655570"/>
                  </a:lnTo>
                  <a:lnTo>
                    <a:pt x="268224" y="659892"/>
                  </a:lnTo>
                  <a:lnTo>
                    <a:pt x="311635" y="655570"/>
                  </a:lnTo>
                  <a:lnTo>
                    <a:pt x="352806" y="643060"/>
                  </a:lnTo>
                  <a:lnTo>
                    <a:pt x="391187" y="623043"/>
                  </a:lnTo>
                  <a:lnTo>
                    <a:pt x="426232" y="596200"/>
                  </a:lnTo>
                  <a:lnTo>
                    <a:pt x="457390" y="563213"/>
                  </a:lnTo>
                  <a:lnTo>
                    <a:pt x="484113" y="524761"/>
                  </a:lnTo>
                  <a:lnTo>
                    <a:pt x="505853" y="481528"/>
                  </a:lnTo>
                  <a:lnTo>
                    <a:pt x="522061" y="434193"/>
                  </a:lnTo>
                  <a:lnTo>
                    <a:pt x="532188" y="383439"/>
                  </a:lnTo>
                  <a:lnTo>
                    <a:pt x="535686" y="329946"/>
                  </a:lnTo>
                  <a:lnTo>
                    <a:pt x="532188" y="276452"/>
                  </a:lnTo>
                  <a:lnTo>
                    <a:pt x="522061" y="225698"/>
                  </a:lnTo>
                  <a:lnTo>
                    <a:pt x="505853" y="178363"/>
                  </a:lnTo>
                  <a:lnTo>
                    <a:pt x="484113" y="135130"/>
                  </a:lnTo>
                  <a:lnTo>
                    <a:pt x="457390" y="96678"/>
                  </a:lnTo>
                  <a:lnTo>
                    <a:pt x="426232" y="63691"/>
                  </a:lnTo>
                  <a:lnTo>
                    <a:pt x="391187" y="36848"/>
                  </a:lnTo>
                  <a:lnTo>
                    <a:pt x="352806" y="16831"/>
                  </a:lnTo>
                  <a:lnTo>
                    <a:pt x="311635" y="4321"/>
                  </a:lnTo>
                  <a:lnTo>
                    <a:pt x="268224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/>
          <p:nvPr/>
        </p:nvSpPr>
        <p:spPr>
          <a:xfrm>
            <a:off x="1028700" y="3246882"/>
            <a:ext cx="2207895" cy="533400"/>
          </a:xfrm>
          <a:custGeom>
            <a:avLst/>
            <a:gdLst/>
            <a:ahLst/>
            <a:cxnLst/>
            <a:rect l="l" t="t" r="r" b="b"/>
            <a:pathLst>
              <a:path w="2207895" h="533400">
                <a:moveTo>
                  <a:pt x="1104138" y="0"/>
                </a:moveTo>
                <a:lnTo>
                  <a:pt x="1031562" y="564"/>
                </a:lnTo>
                <a:lnTo>
                  <a:pt x="960237" y="2236"/>
                </a:lnTo>
                <a:lnTo>
                  <a:pt x="890308" y="4979"/>
                </a:lnTo>
                <a:lnTo>
                  <a:pt x="821921" y="8761"/>
                </a:lnTo>
                <a:lnTo>
                  <a:pt x="755221" y="13545"/>
                </a:lnTo>
                <a:lnTo>
                  <a:pt x="690354" y="19298"/>
                </a:lnTo>
                <a:lnTo>
                  <a:pt x="627466" y="25984"/>
                </a:lnTo>
                <a:lnTo>
                  <a:pt x="566703" y="33571"/>
                </a:lnTo>
                <a:lnTo>
                  <a:pt x="508210" y="42022"/>
                </a:lnTo>
                <a:lnTo>
                  <a:pt x="452134" y="51303"/>
                </a:lnTo>
                <a:lnTo>
                  <a:pt x="398619" y="61381"/>
                </a:lnTo>
                <a:lnTo>
                  <a:pt x="347811" y="72220"/>
                </a:lnTo>
                <a:lnTo>
                  <a:pt x="299857" y="83786"/>
                </a:lnTo>
                <a:lnTo>
                  <a:pt x="254902" y="96044"/>
                </a:lnTo>
                <a:lnTo>
                  <a:pt x="213091" y="108959"/>
                </a:lnTo>
                <a:lnTo>
                  <a:pt x="174571" y="122498"/>
                </a:lnTo>
                <a:lnTo>
                  <a:pt x="107985" y="151308"/>
                </a:lnTo>
                <a:lnTo>
                  <a:pt x="56308" y="182197"/>
                </a:lnTo>
                <a:lnTo>
                  <a:pt x="20708" y="214888"/>
                </a:lnTo>
                <a:lnTo>
                  <a:pt x="2349" y="249105"/>
                </a:lnTo>
                <a:lnTo>
                  <a:pt x="0" y="266700"/>
                </a:lnTo>
                <a:lnTo>
                  <a:pt x="2349" y="284210"/>
                </a:lnTo>
                <a:lnTo>
                  <a:pt x="20708" y="318299"/>
                </a:lnTo>
                <a:lnTo>
                  <a:pt x="56308" y="350910"/>
                </a:lnTo>
                <a:lnTo>
                  <a:pt x="107985" y="381759"/>
                </a:lnTo>
                <a:lnTo>
                  <a:pt x="174571" y="410563"/>
                </a:lnTo>
                <a:lnTo>
                  <a:pt x="213091" y="424110"/>
                </a:lnTo>
                <a:lnTo>
                  <a:pt x="254902" y="437040"/>
                </a:lnTo>
                <a:lnTo>
                  <a:pt x="299857" y="449317"/>
                </a:lnTo>
                <a:lnTo>
                  <a:pt x="347811" y="460905"/>
                </a:lnTo>
                <a:lnTo>
                  <a:pt x="398619" y="471770"/>
                </a:lnTo>
                <a:lnTo>
                  <a:pt x="452134" y="481876"/>
                </a:lnTo>
                <a:lnTo>
                  <a:pt x="508210" y="491188"/>
                </a:lnTo>
                <a:lnTo>
                  <a:pt x="566703" y="499669"/>
                </a:lnTo>
                <a:lnTo>
                  <a:pt x="627466" y="507286"/>
                </a:lnTo>
                <a:lnTo>
                  <a:pt x="690354" y="514001"/>
                </a:lnTo>
                <a:lnTo>
                  <a:pt x="755221" y="519781"/>
                </a:lnTo>
                <a:lnTo>
                  <a:pt x="821921" y="524589"/>
                </a:lnTo>
                <a:lnTo>
                  <a:pt x="890308" y="528391"/>
                </a:lnTo>
                <a:lnTo>
                  <a:pt x="960237" y="531150"/>
                </a:lnTo>
                <a:lnTo>
                  <a:pt x="1031562" y="532831"/>
                </a:lnTo>
                <a:lnTo>
                  <a:pt x="1104138" y="533400"/>
                </a:lnTo>
                <a:lnTo>
                  <a:pt x="1176709" y="532831"/>
                </a:lnTo>
                <a:lnTo>
                  <a:pt x="1248024" y="531150"/>
                </a:lnTo>
                <a:lnTo>
                  <a:pt x="1317937" y="528391"/>
                </a:lnTo>
                <a:lnTo>
                  <a:pt x="1386302" y="524589"/>
                </a:lnTo>
                <a:lnTo>
                  <a:pt x="1452975" y="519781"/>
                </a:lnTo>
                <a:lnTo>
                  <a:pt x="1517810" y="514001"/>
                </a:lnTo>
                <a:lnTo>
                  <a:pt x="1580663" y="507286"/>
                </a:lnTo>
                <a:lnTo>
                  <a:pt x="1641388" y="499669"/>
                </a:lnTo>
                <a:lnTo>
                  <a:pt x="1699839" y="491188"/>
                </a:lnTo>
                <a:lnTo>
                  <a:pt x="1755873" y="481876"/>
                </a:lnTo>
                <a:lnTo>
                  <a:pt x="1809343" y="471770"/>
                </a:lnTo>
                <a:lnTo>
                  <a:pt x="1860105" y="460905"/>
                </a:lnTo>
                <a:lnTo>
                  <a:pt x="1908014" y="449317"/>
                </a:lnTo>
                <a:lnTo>
                  <a:pt x="1952924" y="437040"/>
                </a:lnTo>
                <a:lnTo>
                  <a:pt x="1994690" y="424110"/>
                </a:lnTo>
                <a:lnTo>
                  <a:pt x="2033167" y="410563"/>
                </a:lnTo>
                <a:lnTo>
                  <a:pt x="2099674" y="381759"/>
                </a:lnTo>
                <a:lnTo>
                  <a:pt x="2151284" y="350910"/>
                </a:lnTo>
                <a:lnTo>
                  <a:pt x="2186835" y="318299"/>
                </a:lnTo>
                <a:lnTo>
                  <a:pt x="2205168" y="284210"/>
                </a:lnTo>
                <a:lnTo>
                  <a:pt x="2207514" y="266700"/>
                </a:lnTo>
                <a:lnTo>
                  <a:pt x="2205168" y="249105"/>
                </a:lnTo>
                <a:lnTo>
                  <a:pt x="2186835" y="214888"/>
                </a:lnTo>
                <a:lnTo>
                  <a:pt x="2151284" y="182197"/>
                </a:lnTo>
                <a:lnTo>
                  <a:pt x="2099674" y="151308"/>
                </a:lnTo>
                <a:lnTo>
                  <a:pt x="2033167" y="122498"/>
                </a:lnTo>
                <a:lnTo>
                  <a:pt x="1994690" y="108959"/>
                </a:lnTo>
                <a:lnTo>
                  <a:pt x="1952924" y="96044"/>
                </a:lnTo>
                <a:lnTo>
                  <a:pt x="1908014" y="83786"/>
                </a:lnTo>
                <a:lnTo>
                  <a:pt x="1860105" y="72220"/>
                </a:lnTo>
                <a:lnTo>
                  <a:pt x="1809343" y="61381"/>
                </a:lnTo>
                <a:lnTo>
                  <a:pt x="1755873" y="51303"/>
                </a:lnTo>
                <a:lnTo>
                  <a:pt x="1699839" y="42022"/>
                </a:lnTo>
                <a:lnTo>
                  <a:pt x="1641388" y="33571"/>
                </a:lnTo>
                <a:lnTo>
                  <a:pt x="1580663" y="25984"/>
                </a:lnTo>
                <a:lnTo>
                  <a:pt x="1517810" y="19298"/>
                </a:lnTo>
                <a:lnTo>
                  <a:pt x="1452975" y="13545"/>
                </a:lnTo>
                <a:lnTo>
                  <a:pt x="1386302" y="8761"/>
                </a:lnTo>
                <a:lnTo>
                  <a:pt x="1317937" y="4979"/>
                </a:lnTo>
                <a:lnTo>
                  <a:pt x="1248024" y="2236"/>
                </a:lnTo>
                <a:lnTo>
                  <a:pt x="1176709" y="564"/>
                </a:lnTo>
                <a:lnTo>
                  <a:pt x="1104138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5042915" y="3856482"/>
            <a:ext cx="1472565" cy="533400"/>
          </a:xfrm>
          <a:custGeom>
            <a:avLst/>
            <a:gdLst/>
            <a:ahLst/>
            <a:cxnLst/>
            <a:rect l="l" t="t" r="r" b="b"/>
            <a:pathLst>
              <a:path w="1472565" h="533400">
                <a:moveTo>
                  <a:pt x="736091" y="0"/>
                </a:moveTo>
                <a:lnTo>
                  <a:pt x="669150" y="1085"/>
                </a:lnTo>
                <a:lnTo>
                  <a:pt x="603880" y="4279"/>
                </a:lnTo>
                <a:lnTo>
                  <a:pt x="540543" y="9489"/>
                </a:lnTo>
                <a:lnTo>
                  <a:pt x="479401" y="16623"/>
                </a:lnTo>
                <a:lnTo>
                  <a:pt x="420714" y="25589"/>
                </a:lnTo>
                <a:lnTo>
                  <a:pt x="364743" y="36293"/>
                </a:lnTo>
                <a:lnTo>
                  <a:pt x="311750" y="48644"/>
                </a:lnTo>
                <a:lnTo>
                  <a:pt x="261996" y="62548"/>
                </a:lnTo>
                <a:lnTo>
                  <a:pt x="215741" y="77914"/>
                </a:lnTo>
                <a:lnTo>
                  <a:pt x="173246" y="94648"/>
                </a:lnTo>
                <a:lnTo>
                  <a:pt x="134774" y="112659"/>
                </a:lnTo>
                <a:lnTo>
                  <a:pt x="100583" y="131854"/>
                </a:lnTo>
                <a:lnTo>
                  <a:pt x="46096" y="173424"/>
                </a:lnTo>
                <a:lnTo>
                  <a:pt x="11872" y="218619"/>
                </a:lnTo>
                <a:lnTo>
                  <a:pt x="0" y="266700"/>
                </a:lnTo>
                <a:lnTo>
                  <a:pt x="3011" y="290941"/>
                </a:lnTo>
                <a:lnTo>
                  <a:pt x="26320" y="337520"/>
                </a:lnTo>
                <a:lnTo>
                  <a:pt x="70937" y="380928"/>
                </a:lnTo>
                <a:lnTo>
                  <a:pt x="134774" y="420408"/>
                </a:lnTo>
                <a:lnTo>
                  <a:pt x="173246" y="438437"/>
                </a:lnTo>
                <a:lnTo>
                  <a:pt x="215741" y="455199"/>
                </a:lnTo>
                <a:lnTo>
                  <a:pt x="261996" y="470600"/>
                </a:lnTo>
                <a:lnTo>
                  <a:pt x="311750" y="484544"/>
                </a:lnTo>
                <a:lnTo>
                  <a:pt x="364743" y="496936"/>
                </a:lnTo>
                <a:lnTo>
                  <a:pt x="420714" y="507683"/>
                </a:lnTo>
                <a:lnTo>
                  <a:pt x="479401" y="516688"/>
                </a:lnTo>
                <a:lnTo>
                  <a:pt x="540543" y="523857"/>
                </a:lnTo>
                <a:lnTo>
                  <a:pt x="603880" y="529095"/>
                </a:lnTo>
                <a:lnTo>
                  <a:pt x="669150" y="532308"/>
                </a:lnTo>
                <a:lnTo>
                  <a:pt x="736091" y="533400"/>
                </a:lnTo>
                <a:lnTo>
                  <a:pt x="803147" y="532308"/>
                </a:lnTo>
                <a:lnTo>
                  <a:pt x="868504" y="529095"/>
                </a:lnTo>
                <a:lnTo>
                  <a:pt x="931904" y="523857"/>
                </a:lnTo>
                <a:lnTo>
                  <a:pt x="993089" y="516688"/>
                </a:lnTo>
                <a:lnTo>
                  <a:pt x="1051800" y="507683"/>
                </a:lnTo>
                <a:lnTo>
                  <a:pt x="1107778" y="496936"/>
                </a:lnTo>
                <a:lnTo>
                  <a:pt x="1160765" y="484544"/>
                </a:lnTo>
                <a:lnTo>
                  <a:pt x="1210501" y="470600"/>
                </a:lnTo>
                <a:lnTo>
                  <a:pt x="1256728" y="455199"/>
                </a:lnTo>
                <a:lnTo>
                  <a:pt x="1299188" y="438437"/>
                </a:lnTo>
                <a:lnTo>
                  <a:pt x="1337621" y="420408"/>
                </a:lnTo>
                <a:lnTo>
                  <a:pt x="1371769" y="401207"/>
                </a:lnTo>
                <a:lnTo>
                  <a:pt x="1426175" y="359668"/>
                </a:lnTo>
                <a:lnTo>
                  <a:pt x="1460336" y="314579"/>
                </a:lnTo>
                <a:lnTo>
                  <a:pt x="1472183" y="266700"/>
                </a:lnTo>
                <a:lnTo>
                  <a:pt x="1469179" y="242345"/>
                </a:lnTo>
                <a:lnTo>
                  <a:pt x="1445916" y="195615"/>
                </a:lnTo>
                <a:lnTo>
                  <a:pt x="1401373" y="152139"/>
                </a:lnTo>
                <a:lnTo>
                  <a:pt x="1337621" y="112659"/>
                </a:lnTo>
                <a:lnTo>
                  <a:pt x="1299188" y="94648"/>
                </a:lnTo>
                <a:lnTo>
                  <a:pt x="1256728" y="77914"/>
                </a:lnTo>
                <a:lnTo>
                  <a:pt x="1210501" y="62548"/>
                </a:lnTo>
                <a:lnTo>
                  <a:pt x="1160765" y="48644"/>
                </a:lnTo>
                <a:lnTo>
                  <a:pt x="1107778" y="36293"/>
                </a:lnTo>
                <a:lnTo>
                  <a:pt x="1051800" y="25589"/>
                </a:lnTo>
                <a:lnTo>
                  <a:pt x="993089" y="16623"/>
                </a:lnTo>
                <a:lnTo>
                  <a:pt x="931904" y="9489"/>
                </a:lnTo>
                <a:lnTo>
                  <a:pt x="868504" y="4279"/>
                </a:lnTo>
                <a:lnTo>
                  <a:pt x="803147" y="1085"/>
                </a:lnTo>
                <a:lnTo>
                  <a:pt x="736091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4574285" y="2637282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4" h="0">
                <a:moveTo>
                  <a:pt x="0" y="0"/>
                </a:moveTo>
                <a:lnTo>
                  <a:pt x="45262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" name="object 24"/>
          <p:cNvGrpSpPr/>
          <p:nvPr/>
        </p:nvGrpSpPr>
        <p:grpSpPr>
          <a:xfrm>
            <a:off x="1158049" y="1641919"/>
            <a:ext cx="3823335" cy="2295525"/>
            <a:chOff x="1158049" y="1641919"/>
            <a:chExt cx="3823335" cy="2295525"/>
          </a:xfrm>
        </p:grpSpPr>
        <p:sp>
          <p:nvSpPr>
            <p:cNvPr id="25" name="object 25"/>
            <p:cNvSpPr/>
            <p:nvPr/>
          </p:nvSpPr>
          <p:spPr>
            <a:xfrm>
              <a:off x="1162811" y="1646682"/>
              <a:ext cx="1471930" cy="685800"/>
            </a:xfrm>
            <a:custGeom>
              <a:avLst/>
              <a:gdLst/>
              <a:ahLst/>
              <a:cxnLst/>
              <a:rect l="l" t="t" r="r" b="b"/>
              <a:pathLst>
                <a:path w="1471930" h="685800">
                  <a:moveTo>
                    <a:pt x="736092" y="0"/>
                  </a:moveTo>
                  <a:lnTo>
                    <a:pt x="672525" y="1255"/>
                  </a:lnTo>
                  <a:lnTo>
                    <a:pt x="610471" y="4955"/>
                  </a:lnTo>
                  <a:lnTo>
                    <a:pt x="550149" y="10996"/>
                  </a:lnTo>
                  <a:lnTo>
                    <a:pt x="491778" y="19277"/>
                  </a:lnTo>
                  <a:lnTo>
                    <a:pt x="435579" y="29695"/>
                  </a:lnTo>
                  <a:lnTo>
                    <a:pt x="381771" y="42149"/>
                  </a:lnTo>
                  <a:lnTo>
                    <a:pt x="330575" y="56537"/>
                  </a:lnTo>
                  <a:lnTo>
                    <a:pt x="282211" y="72757"/>
                  </a:lnTo>
                  <a:lnTo>
                    <a:pt x="236898" y="90706"/>
                  </a:lnTo>
                  <a:lnTo>
                    <a:pt x="194857" y="110283"/>
                  </a:lnTo>
                  <a:lnTo>
                    <a:pt x="156307" y="131386"/>
                  </a:lnTo>
                  <a:lnTo>
                    <a:pt x="121469" y="153913"/>
                  </a:lnTo>
                  <a:lnTo>
                    <a:pt x="90562" y="177762"/>
                  </a:lnTo>
                  <a:lnTo>
                    <a:pt x="41423" y="229016"/>
                  </a:lnTo>
                  <a:lnTo>
                    <a:pt x="10649" y="284334"/>
                  </a:lnTo>
                  <a:lnTo>
                    <a:pt x="0" y="342900"/>
                  </a:lnTo>
                  <a:lnTo>
                    <a:pt x="2698" y="372429"/>
                  </a:lnTo>
                  <a:lnTo>
                    <a:pt x="23630" y="429325"/>
                  </a:lnTo>
                  <a:lnTo>
                    <a:pt x="63807" y="482642"/>
                  </a:lnTo>
                  <a:lnTo>
                    <a:pt x="121469" y="531550"/>
                  </a:lnTo>
                  <a:lnTo>
                    <a:pt x="156307" y="554090"/>
                  </a:lnTo>
                  <a:lnTo>
                    <a:pt x="194857" y="575216"/>
                  </a:lnTo>
                  <a:lnTo>
                    <a:pt x="236898" y="594823"/>
                  </a:lnTo>
                  <a:lnTo>
                    <a:pt x="282211" y="612807"/>
                  </a:lnTo>
                  <a:lnTo>
                    <a:pt x="330575" y="629066"/>
                  </a:lnTo>
                  <a:lnTo>
                    <a:pt x="381771" y="643494"/>
                  </a:lnTo>
                  <a:lnTo>
                    <a:pt x="435579" y="655987"/>
                  </a:lnTo>
                  <a:lnTo>
                    <a:pt x="491778" y="666442"/>
                  </a:lnTo>
                  <a:lnTo>
                    <a:pt x="550149" y="674755"/>
                  </a:lnTo>
                  <a:lnTo>
                    <a:pt x="610471" y="680822"/>
                  </a:lnTo>
                  <a:lnTo>
                    <a:pt x="672525" y="684538"/>
                  </a:lnTo>
                  <a:lnTo>
                    <a:pt x="736092" y="685800"/>
                  </a:lnTo>
                  <a:lnTo>
                    <a:pt x="799543" y="684538"/>
                  </a:lnTo>
                  <a:lnTo>
                    <a:pt x="861496" y="680822"/>
                  </a:lnTo>
                  <a:lnTo>
                    <a:pt x="921727" y="674755"/>
                  </a:lnTo>
                  <a:lnTo>
                    <a:pt x="980018" y="666442"/>
                  </a:lnTo>
                  <a:lnTo>
                    <a:pt x="1036147" y="655987"/>
                  </a:lnTo>
                  <a:lnTo>
                    <a:pt x="1089894" y="643494"/>
                  </a:lnTo>
                  <a:lnTo>
                    <a:pt x="1141038" y="629066"/>
                  </a:lnTo>
                  <a:lnTo>
                    <a:pt x="1189358" y="612807"/>
                  </a:lnTo>
                  <a:lnTo>
                    <a:pt x="1234634" y="594823"/>
                  </a:lnTo>
                  <a:lnTo>
                    <a:pt x="1276645" y="575216"/>
                  </a:lnTo>
                  <a:lnTo>
                    <a:pt x="1315171" y="554090"/>
                  </a:lnTo>
                  <a:lnTo>
                    <a:pt x="1349990" y="531550"/>
                  </a:lnTo>
                  <a:lnTo>
                    <a:pt x="1380883" y="507699"/>
                  </a:lnTo>
                  <a:lnTo>
                    <a:pt x="1430005" y="456483"/>
                  </a:lnTo>
                  <a:lnTo>
                    <a:pt x="1460773" y="401272"/>
                  </a:lnTo>
                  <a:lnTo>
                    <a:pt x="1471422" y="342900"/>
                  </a:lnTo>
                  <a:lnTo>
                    <a:pt x="1468723" y="313262"/>
                  </a:lnTo>
                  <a:lnTo>
                    <a:pt x="1447794" y="256218"/>
                  </a:lnTo>
                  <a:lnTo>
                    <a:pt x="1407628" y="202830"/>
                  </a:lnTo>
                  <a:lnTo>
                    <a:pt x="1349990" y="153913"/>
                  </a:lnTo>
                  <a:lnTo>
                    <a:pt x="1315171" y="131386"/>
                  </a:lnTo>
                  <a:lnTo>
                    <a:pt x="1276645" y="110283"/>
                  </a:lnTo>
                  <a:lnTo>
                    <a:pt x="1234634" y="90706"/>
                  </a:lnTo>
                  <a:lnTo>
                    <a:pt x="1189358" y="72757"/>
                  </a:lnTo>
                  <a:lnTo>
                    <a:pt x="1141038" y="56537"/>
                  </a:lnTo>
                  <a:lnTo>
                    <a:pt x="1089894" y="42149"/>
                  </a:lnTo>
                  <a:lnTo>
                    <a:pt x="1036147" y="29695"/>
                  </a:lnTo>
                  <a:lnTo>
                    <a:pt x="980018" y="19277"/>
                  </a:lnTo>
                  <a:lnTo>
                    <a:pt x="921727" y="10996"/>
                  </a:lnTo>
                  <a:lnTo>
                    <a:pt x="861496" y="4955"/>
                  </a:lnTo>
                  <a:lnTo>
                    <a:pt x="799543" y="1255"/>
                  </a:lnTo>
                  <a:lnTo>
                    <a:pt x="736092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634233" y="2408682"/>
              <a:ext cx="1606550" cy="533400"/>
            </a:xfrm>
            <a:custGeom>
              <a:avLst/>
              <a:gdLst/>
              <a:ahLst/>
              <a:cxnLst/>
              <a:rect l="l" t="t" r="r" b="b"/>
              <a:pathLst>
                <a:path w="1606550" h="533400">
                  <a:moveTo>
                    <a:pt x="803148" y="0"/>
                  </a:moveTo>
                  <a:lnTo>
                    <a:pt x="733860" y="974"/>
                  </a:lnTo>
                  <a:lnTo>
                    <a:pt x="666208" y="3846"/>
                  </a:lnTo>
                  <a:lnTo>
                    <a:pt x="600431" y="8536"/>
                  </a:lnTo>
                  <a:lnTo>
                    <a:pt x="536771" y="14966"/>
                  </a:lnTo>
                  <a:lnTo>
                    <a:pt x="475470" y="23057"/>
                  </a:lnTo>
                  <a:lnTo>
                    <a:pt x="416768" y="32731"/>
                  </a:lnTo>
                  <a:lnTo>
                    <a:pt x="360907" y="43908"/>
                  </a:lnTo>
                  <a:lnTo>
                    <a:pt x="308128" y="56510"/>
                  </a:lnTo>
                  <a:lnTo>
                    <a:pt x="258673" y="70459"/>
                  </a:lnTo>
                  <a:lnTo>
                    <a:pt x="212782" y="85676"/>
                  </a:lnTo>
                  <a:lnTo>
                    <a:pt x="170698" y="102082"/>
                  </a:lnTo>
                  <a:lnTo>
                    <a:pt x="132661" y="119598"/>
                  </a:lnTo>
                  <a:lnTo>
                    <a:pt x="98913" y="138146"/>
                  </a:lnTo>
                  <a:lnTo>
                    <a:pt x="45248" y="178024"/>
                  </a:lnTo>
                  <a:lnTo>
                    <a:pt x="11633" y="221084"/>
                  </a:lnTo>
                  <a:lnTo>
                    <a:pt x="0" y="266700"/>
                  </a:lnTo>
                  <a:lnTo>
                    <a:pt x="2948" y="289679"/>
                  </a:lnTo>
                  <a:lnTo>
                    <a:pt x="25814" y="333948"/>
                  </a:lnTo>
                  <a:lnTo>
                    <a:pt x="69695" y="375425"/>
                  </a:lnTo>
                  <a:lnTo>
                    <a:pt x="132661" y="413465"/>
                  </a:lnTo>
                  <a:lnTo>
                    <a:pt x="170698" y="430995"/>
                  </a:lnTo>
                  <a:lnTo>
                    <a:pt x="212782" y="447423"/>
                  </a:lnTo>
                  <a:lnTo>
                    <a:pt x="258673" y="462670"/>
                  </a:lnTo>
                  <a:lnTo>
                    <a:pt x="308128" y="476654"/>
                  </a:lnTo>
                  <a:lnTo>
                    <a:pt x="360907" y="489295"/>
                  </a:lnTo>
                  <a:lnTo>
                    <a:pt x="416768" y="500512"/>
                  </a:lnTo>
                  <a:lnTo>
                    <a:pt x="475470" y="510225"/>
                  </a:lnTo>
                  <a:lnTo>
                    <a:pt x="536771" y="518353"/>
                  </a:lnTo>
                  <a:lnTo>
                    <a:pt x="600431" y="524815"/>
                  </a:lnTo>
                  <a:lnTo>
                    <a:pt x="666208" y="529530"/>
                  </a:lnTo>
                  <a:lnTo>
                    <a:pt x="733860" y="532419"/>
                  </a:lnTo>
                  <a:lnTo>
                    <a:pt x="803148" y="533400"/>
                  </a:lnTo>
                  <a:lnTo>
                    <a:pt x="872435" y="532419"/>
                  </a:lnTo>
                  <a:lnTo>
                    <a:pt x="940087" y="529530"/>
                  </a:lnTo>
                  <a:lnTo>
                    <a:pt x="1005864" y="524815"/>
                  </a:lnTo>
                  <a:lnTo>
                    <a:pt x="1069524" y="518353"/>
                  </a:lnTo>
                  <a:lnTo>
                    <a:pt x="1130825" y="510225"/>
                  </a:lnTo>
                  <a:lnTo>
                    <a:pt x="1189527" y="500512"/>
                  </a:lnTo>
                  <a:lnTo>
                    <a:pt x="1245388" y="489295"/>
                  </a:lnTo>
                  <a:lnTo>
                    <a:pt x="1298167" y="476654"/>
                  </a:lnTo>
                  <a:lnTo>
                    <a:pt x="1347622" y="462670"/>
                  </a:lnTo>
                  <a:lnTo>
                    <a:pt x="1393513" y="447423"/>
                  </a:lnTo>
                  <a:lnTo>
                    <a:pt x="1435597" y="430995"/>
                  </a:lnTo>
                  <a:lnTo>
                    <a:pt x="1473634" y="413465"/>
                  </a:lnTo>
                  <a:lnTo>
                    <a:pt x="1507382" y="394915"/>
                  </a:lnTo>
                  <a:lnTo>
                    <a:pt x="1561047" y="355076"/>
                  </a:lnTo>
                  <a:lnTo>
                    <a:pt x="1594662" y="312122"/>
                  </a:lnTo>
                  <a:lnTo>
                    <a:pt x="1606296" y="266700"/>
                  </a:lnTo>
                  <a:lnTo>
                    <a:pt x="1603347" y="243612"/>
                  </a:lnTo>
                  <a:lnTo>
                    <a:pt x="1580481" y="199195"/>
                  </a:lnTo>
                  <a:lnTo>
                    <a:pt x="1536600" y="157648"/>
                  </a:lnTo>
                  <a:lnTo>
                    <a:pt x="1473634" y="119598"/>
                  </a:lnTo>
                  <a:lnTo>
                    <a:pt x="1435597" y="102082"/>
                  </a:lnTo>
                  <a:lnTo>
                    <a:pt x="1393513" y="85676"/>
                  </a:lnTo>
                  <a:lnTo>
                    <a:pt x="1347622" y="70459"/>
                  </a:lnTo>
                  <a:lnTo>
                    <a:pt x="1298167" y="56510"/>
                  </a:lnTo>
                  <a:lnTo>
                    <a:pt x="1245388" y="43908"/>
                  </a:lnTo>
                  <a:lnTo>
                    <a:pt x="1189527" y="32731"/>
                  </a:lnTo>
                  <a:lnTo>
                    <a:pt x="1130825" y="23057"/>
                  </a:lnTo>
                  <a:lnTo>
                    <a:pt x="1069524" y="14966"/>
                  </a:lnTo>
                  <a:lnTo>
                    <a:pt x="1005864" y="8536"/>
                  </a:lnTo>
                  <a:lnTo>
                    <a:pt x="940087" y="3846"/>
                  </a:lnTo>
                  <a:lnTo>
                    <a:pt x="872435" y="974"/>
                  </a:lnTo>
                  <a:lnTo>
                    <a:pt x="803148" y="0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567177" y="2256282"/>
              <a:ext cx="134620" cy="228600"/>
            </a:xfrm>
            <a:custGeom>
              <a:avLst/>
              <a:gdLst/>
              <a:ahLst/>
              <a:cxnLst/>
              <a:rect l="l" t="t" r="r" b="b"/>
              <a:pathLst>
                <a:path w="134619" h="228600">
                  <a:moveTo>
                    <a:pt x="0" y="0"/>
                  </a:moveTo>
                  <a:lnTo>
                    <a:pt x="134112" y="2286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240529" y="2256282"/>
              <a:ext cx="200660" cy="304800"/>
            </a:xfrm>
            <a:custGeom>
              <a:avLst/>
              <a:gdLst/>
              <a:ahLst/>
              <a:cxnLst/>
              <a:rect l="l" t="t" r="r" b="b"/>
              <a:pathLst>
                <a:path w="200660" h="304800">
                  <a:moveTo>
                    <a:pt x="200405" y="0"/>
                  </a:moveTo>
                  <a:lnTo>
                    <a:pt x="0" y="3048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768345" y="2942082"/>
              <a:ext cx="67310" cy="228600"/>
            </a:xfrm>
            <a:custGeom>
              <a:avLst/>
              <a:gdLst/>
              <a:ahLst/>
              <a:cxnLst/>
              <a:rect l="l" t="t" r="r" b="b"/>
              <a:pathLst>
                <a:path w="67310" h="228600">
                  <a:moveTo>
                    <a:pt x="67056" y="0"/>
                  </a:moveTo>
                  <a:lnTo>
                    <a:pt x="0" y="2286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306823" y="3018282"/>
              <a:ext cx="669925" cy="914400"/>
            </a:xfrm>
            <a:custGeom>
              <a:avLst/>
              <a:gdLst/>
              <a:ahLst/>
              <a:cxnLst/>
              <a:rect l="l" t="t" r="r" b="b"/>
              <a:pathLst>
                <a:path w="669925" h="914400">
                  <a:moveTo>
                    <a:pt x="0" y="0"/>
                  </a:moveTo>
                  <a:lnTo>
                    <a:pt x="669798" y="9144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32" name="object 3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(v)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b="1">
                <a:latin typeface="Times New Roman"/>
                <a:cs typeface="Times New Roman"/>
              </a:rPr>
              <a:t> Five: </a:t>
            </a:r>
            <a:r>
              <a:rPr dirty="0" sz="1200">
                <a:latin typeface="Times New Roman"/>
                <a:cs typeface="Times New Roman"/>
              </a:rPr>
              <a:t>Proof </a:t>
            </a:r>
            <a:r>
              <a:rPr dirty="0" sz="1200" spc="-5">
                <a:latin typeface="Times New Roman"/>
                <a:cs typeface="Times New Roman"/>
              </a:rPr>
              <a:t>reading:</a:t>
            </a:r>
            <a:r>
              <a:rPr dirty="0" sz="1200">
                <a:latin typeface="Times New Roman"/>
                <a:cs typeface="Times New Roman"/>
              </a:rPr>
              <a:t> This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stage</a:t>
            </a:r>
            <a:r>
              <a:rPr dirty="0" sz="1200">
                <a:latin typeface="Times New Roman"/>
                <a:cs typeface="Times New Roman"/>
              </a:rPr>
              <a:t> in the writing process. It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 checking carefully for spelling, </a:t>
            </a:r>
            <a:r>
              <a:rPr dirty="0" sz="1200" spc="-5">
                <a:latin typeface="Times New Roman"/>
                <a:cs typeface="Times New Roman"/>
              </a:rPr>
              <a:t>grammar, punctuation </a:t>
            </a:r>
            <a:r>
              <a:rPr dirty="0" sz="1200">
                <a:latin typeface="Times New Roman"/>
                <a:cs typeface="Times New Roman"/>
              </a:rPr>
              <a:t>and other errors.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your dictionary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this purpose. Proof reading </a:t>
            </a:r>
            <a:r>
              <a:rPr dirty="0" sz="1200" spc="-5">
                <a:latin typeface="Times New Roman"/>
                <a:cs typeface="Times New Roman"/>
              </a:rPr>
              <a:t>is often hard work and students want </a:t>
            </a:r>
            <a:r>
              <a:rPr dirty="0" sz="1200">
                <a:latin typeface="Times New Roman"/>
                <a:cs typeface="Times New Roman"/>
              </a:rPr>
              <a:t>to avoid </a:t>
            </a:r>
            <a:r>
              <a:rPr dirty="0" sz="1200" spc="-5">
                <a:latin typeface="Times New Roman"/>
                <a:cs typeface="Times New Roman"/>
              </a:rPr>
              <a:t>proofing. If </a:t>
            </a:r>
            <a:r>
              <a:rPr dirty="0" sz="1200">
                <a:latin typeface="Times New Roman"/>
                <a:cs typeface="Times New Roman"/>
              </a:rPr>
              <a:t> proofing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done carefully,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ensure 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looks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single correct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writing </a:t>
            </a:r>
            <a:r>
              <a:rPr dirty="0" sz="1200" spc="-5">
                <a:latin typeface="Times New Roman"/>
                <a:cs typeface="Times New Roman"/>
              </a:rPr>
              <a:t>English. </a:t>
            </a:r>
            <a:r>
              <a:rPr dirty="0" sz="1200">
                <a:latin typeface="Times New Roman"/>
                <a:cs typeface="Times New Roman"/>
              </a:rPr>
              <a:t>Good writing depends on a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specific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5">
                <a:latin typeface="Times New Roman"/>
                <a:cs typeface="Times New Roman"/>
              </a:rPr>
              <a:t> skills.</a:t>
            </a:r>
            <a:r>
              <a:rPr dirty="0" sz="1200">
                <a:latin typeface="Times New Roman"/>
                <a:cs typeface="Times New Roman"/>
              </a:rPr>
              <a:t> Three </a:t>
            </a:r>
            <a:r>
              <a:rPr dirty="0" sz="1200" spc="-5">
                <a:latin typeface="Times New Roman"/>
                <a:cs typeface="Times New Roman"/>
              </a:rPr>
              <a:t>skills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15"/>
              </a:lnSpc>
              <a:buAutoNum type="romanLcParenBoth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Skill of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communication</a:t>
            </a:r>
            <a:r>
              <a:rPr dirty="0" sz="1200">
                <a:latin typeface="Times New Roman"/>
                <a:cs typeface="Times New Roman"/>
              </a:rPr>
              <a:t> i.e. </a:t>
            </a:r>
            <a:r>
              <a:rPr dirty="0" sz="1200" spc="-5">
                <a:latin typeface="Times New Roman"/>
                <a:cs typeface="Times New Roman"/>
              </a:rPr>
              <a:t>putting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across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>
                <a:latin typeface="Times New Roman"/>
                <a:cs typeface="Times New Roman"/>
              </a:rPr>
              <a:t>Skill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organizing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paragraphs.</a:t>
            </a:r>
            <a:endParaRPr sz="1200">
              <a:latin typeface="Times New Roman"/>
              <a:cs typeface="Times New Roman"/>
            </a:endParaRPr>
          </a:p>
          <a:p>
            <a:pPr marL="280035" indent="-267335">
              <a:lnSpc>
                <a:spcPts val="1410"/>
              </a:lnSpc>
              <a:buAutoNum type="romanLcParenBoth"/>
              <a:tabLst>
                <a:tab pos="280035" algn="l"/>
              </a:tabLst>
            </a:pPr>
            <a:r>
              <a:rPr dirty="0" sz="1200" spc="-5">
                <a:latin typeface="Times New Roman"/>
                <a:cs typeface="Times New Roman"/>
              </a:rPr>
              <a:t>Stylistic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 achieving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formality</a:t>
            </a:r>
            <a:r>
              <a:rPr dirty="0" sz="1200">
                <a:latin typeface="Times New Roman"/>
                <a:cs typeface="Times New Roman"/>
              </a:rPr>
              <a:t> i.e. </a:t>
            </a:r>
            <a:r>
              <a:rPr dirty="0" sz="1200" spc="-5">
                <a:latin typeface="Times New Roman"/>
                <a:cs typeface="Times New Roman"/>
              </a:rPr>
              <a:t>appropriate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Writing is </a:t>
            </a:r>
            <a:r>
              <a:rPr dirty="0" sz="1200">
                <a:latin typeface="Times New Roman"/>
                <a:cs typeface="Times New Roman"/>
              </a:rPr>
              <a:t>a form of problem solving. The writer </a:t>
            </a:r>
            <a:r>
              <a:rPr dirty="0" sz="1200" spc="-5">
                <a:latin typeface="Times New Roman"/>
                <a:cs typeface="Times New Roman"/>
              </a:rPr>
              <a:t>has two tasks </a:t>
            </a:r>
            <a:r>
              <a:rPr dirty="0" sz="1200">
                <a:latin typeface="Times New Roman"/>
                <a:cs typeface="Times New Roman"/>
              </a:rPr>
              <a:t>before him (a) the task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generating ideas and (b) of composing those ideas into some </a:t>
            </a:r>
            <a:r>
              <a:rPr dirty="0" sz="1200">
                <a:latin typeface="Times New Roman"/>
                <a:cs typeface="Times New Roman"/>
              </a:rPr>
              <a:t>sort of shape in </a:t>
            </a:r>
            <a:r>
              <a:rPr dirty="0" sz="1200" spc="-5">
                <a:latin typeface="Times New Roman"/>
                <a:cs typeface="Times New Roman"/>
              </a:rPr>
              <a:t>other words </a:t>
            </a:r>
            <a:r>
              <a:rPr dirty="0" sz="1200">
                <a:latin typeface="Times New Roman"/>
                <a:cs typeface="Times New Roman"/>
              </a:rPr>
              <a:t> giving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structure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writing, whether </a:t>
            </a:r>
            <a:r>
              <a:rPr dirty="0" sz="1200" spc="-5">
                <a:latin typeface="Times New Roman"/>
                <a:cs typeface="Times New Roman"/>
              </a:rPr>
              <a:t>journalistic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academic </a:t>
            </a:r>
            <a:r>
              <a:rPr dirty="0" sz="1200">
                <a:latin typeface="Times New Roman"/>
                <a:cs typeface="Times New Roman"/>
              </a:rPr>
              <a:t>(a report, an </a:t>
            </a:r>
            <a:r>
              <a:rPr dirty="0" sz="1200" spc="-5">
                <a:latin typeface="Times New Roman"/>
                <a:cs typeface="Times New Roman"/>
              </a:rPr>
              <a:t>essay,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assignment, </a:t>
            </a:r>
            <a:r>
              <a:rPr dirty="0" sz="1200">
                <a:latin typeface="Times New Roman"/>
                <a:cs typeface="Times New Roman"/>
              </a:rPr>
              <a:t>a term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project)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structure.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introduction,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body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ideas are </a:t>
            </a:r>
            <a:r>
              <a:rPr dirty="0" sz="1200" spc="-5">
                <a:latin typeface="Times New Roman"/>
                <a:cs typeface="Times New Roman"/>
              </a:rPr>
              <a:t>developed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 the conclusion.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 The </a:t>
            </a:r>
            <a:r>
              <a:rPr dirty="0" sz="1200" spc="-5">
                <a:latin typeface="Times New Roman"/>
                <a:cs typeface="Times New Roman"/>
              </a:rPr>
              <a:t>introduction is concerned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the topic or subject of writing. In the introductory </a:t>
            </a:r>
            <a:r>
              <a:rPr dirty="0" sz="1200">
                <a:latin typeface="Times New Roman"/>
                <a:cs typeface="Times New Roman"/>
              </a:rPr>
              <a:t> paragraph </a:t>
            </a:r>
            <a:r>
              <a:rPr dirty="0" sz="1200" spc="-5">
                <a:latin typeface="Times New Roman"/>
                <a:cs typeface="Times New Roman"/>
              </a:rPr>
              <a:t>you will state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problem/the issue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general statements to attract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reader’s attention and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thesis statement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say how you </a:t>
            </a:r>
            <a:r>
              <a:rPr dirty="0" sz="1200">
                <a:latin typeface="Times New Roman"/>
                <a:cs typeface="Times New Roman"/>
              </a:rPr>
              <a:t>intend to treat the topic/issue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your</a:t>
            </a:r>
            <a:r>
              <a:rPr dirty="0" sz="1200" spc="-5">
                <a:latin typeface="Times New Roman"/>
                <a:cs typeface="Times New Roman"/>
              </a:rPr>
              <a:t> essay.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thesis statement is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 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reader’s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attention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ways:</a:t>
            </a:r>
            <a:endParaRPr sz="1200">
              <a:latin typeface="Times New Roman"/>
              <a:cs typeface="Times New Roman"/>
            </a:endParaRPr>
          </a:p>
          <a:p>
            <a:pPr marL="50800" marR="4450715" indent="-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By posing a question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an apt quotation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dialogue</a:t>
            </a:r>
            <a:endParaRPr sz="1200">
              <a:latin typeface="Times New Roman"/>
              <a:cs typeface="Times New Roman"/>
            </a:endParaRPr>
          </a:p>
          <a:p>
            <a:pPr marL="50165" marR="360045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striking description or </a:t>
            </a:r>
            <a:r>
              <a:rPr dirty="0" sz="1200" spc="-5">
                <a:latin typeface="Times New Roman"/>
                <a:cs typeface="Times New Roman"/>
              </a:rPr>
              <a:t>image </a:t>
            </a:r>
            <a:r>
              <a:rPr dirty="0" sz="1200">
                <a:latin typeface="Times New Roman"/>
                <a:cs typeface="Times New Roman"/>
              </a:rPr>
              <a:t> Making a controversial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Developing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historical perspective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Background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Making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68910" indent="-156845">
              <a:lnSpc>
                <a:spcPct val="100000"/>
              </a:lnSpc>
              <a:buAutoNum type="romanUcPeriod" startAt="2"/>
              <a:tabLst>
                <a:tab pos="169545" algn="l"/>
              </a:tabLst>
            </a:pP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Body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  <a:buFont typeface="Times New Roman"/>
              <a:buAutoNum type="romanUcPeriod" startAt="2"/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second part of the </a:t>
            </a:r>
            <a:r>
              <a:rPr dirty="0" sz="1200" spc="-5">
                <a:latin typeface="Times New Roman"/>
                <a:cs typeface="Times New Roman"/>
              </a:rPr>
              <a:t>essay 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body where you develop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 with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>
                <a:latin typeface="Times New Roman"/>
                <a:cs typeface="Times New Roman"/>
              </a:rPr>
              <a:t> paragraph </a:t>
            </a:r>
            <a:r>
              <a:rPr dirty="0" sz="1200" spc="-5">
                <a:latin typeface="Times New Roman"/>
                <a:cs typeface="Times New Roman"/>
              </a:rPr>
              <a:t>develops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subdivision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your topic.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paragraphs will </a:t>
            </a:r>
            <a:r>
              <a:rPr dirty="0" sz="1200">
                <a:latin typeface="Times New Roman"/>
                <a:cs typeface="Times New Roman"/>
              </a:rPr>
              <a:t>vary 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subdivisions. Moreover, you can organize the ideas by chronological order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importance</a:t>
            </a:r>
            <a:r>
              <a:rPr dirty="0" sz="1200">
                <a:latin typeface="Times New Roman"/>
                <a:cs typeface="Times New Roman"/>
              </a:rPr>
              <a:t> just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you did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a single 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228600" indent="-216535">
              <a:lnSpc>
                <a:spcPts val="1405"/>
              </a:lnSpc>
              <a:buAutoNum type="romanUcPeriod" startAt="3"/>
              <a:tabLst>
                <a:tab pos="229235" algn="l"/>
              </a:tabLst>
            </a:pP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Conclusion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 the third and last part of 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you draw your </a:t>
            </a:r>
            <a:r>
              <a:rPr dirty="0" sz="1200" spc="-5">
                <a:latin typeface="Times New Roman"/>
                <a:cs typeface="Times New Roman"/>
              </a:rPr>
              <a:t>conclusion.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many ways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feeling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fina:li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305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summary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review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body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even propose recommendations.</a:t>
            </a:r>
            <a:endParaRPr sz="1200">
              <a:latin typeface="Times New Roman"/>
              <a:cs typeface="Times New Roman"/>
            </a:endParaRPr>
          </a:p>
          <a:p>
            <a:pPr marL="20701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Essay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965452"/>
            <a:ext cx="101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2841752"/>
            <a:ext cx="177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3893311"/>
            <a:ext cx="254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6171691"/>
            <a:ext cx="6426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7573771"/>
            <a:ext cx="5628005" cy="143700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written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designed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composition.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skillfully written essay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paragraph has its own proper place, </a:t>
            </a:r>
            <a:r>
              <a:rPr dirty="0" sz="1200">
                <a:latin typeface="Times New Roman"/>
                <a:cs typeface="Times New Roman"/>
              </a:rPr>
              <a:t>just </a:t>
            </a:r>
            <a:r>
              <a:rPr dirty="0" sz="1200" spc="-10">
                <a:latin typeface="Times New Roman"/>
                <a:cs typeface="Times New Roman"/>
              </a:rPr>
              <a:t>as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word </a:t>
            </a:r>
            <a:r>
              <a:rPr dirty="0" sz="1200" spc="-5">
                <a:latin typeface="Times New Roman"/>
                <a:cs typeface="Times New Roman"/>
              </a:rPr>
              <a:t>has its proper </a:t>
            </a:r>
            <a:r>
              <a:rPr dirty="0" sz="1200">
                <a:latin typeface="Times New Roman"/>
                <a:cs typeface="Times New Roman"/>
              </a:rPr>
              <a:t>place in a </a:t>
            </a:r>
            <a:r>
              <a:rPr dirty="0" sz="1200" spc="-5">
                <a:latin typeface="Times New Roman"/>
                <a:cs typeface="Times New Roman"/>
              </a:rPr>
              <a:t>coherent, emphatic </a:t>
            </a:r>
            <a:r>
              <a:rPr dirty="0" sz="1200">
                <a:latin typeface="Times New Roman"/>
                <a:cs typeface="Times New Roman"/>
              </a:rPr>
              <a:t>sentence. And just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 of transition from one sentence to </a:t>
            </a:r>
            <a:r>
              <a:rPr dirty="0" sz="1200" spc="-5">
                <a:latin typeface="Times New Roman"/>
                <a:cs typeface="Times New Roman"/>
              </a:rPr>
              <a:t>another </a:t>
            </a:r>
            <a:r>
              <a:rPr dirty="0" sz="1200">
                <a:latin typeface="Times New Roman"/>
                <a:cs typeface="Times New Roman"/>
              </a:rPr>
              <a:t>within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paragraph,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some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 when dealing with a </a:t>
            </a:r>
            <a:r>
              <a:rPr dirty="0" sz="1200" spc="-5">
                <a:latin typeface="Times New Roman"/>
                <a:cs typeface="Times New Roman"/>
              </a:rPr>
              <a:t>group </a:t>
            </a:r>
            <a:r>
              <a:rPr dirty="0" sz="1200">
                <a:latin typeface="Times New Roman"/>
                <a:cs typeface="Times New Roman"/>
              </a:rPr>
              <a:t>of paragraphs.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you can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that writing an </a:t>
            </a:r>
            <a:r>
              <a:rPr dirty="0" sz="1200" spc="-5">
                <a:latin typeface="Times New Roman"/>
                <a:cs typeface="Times New Roman"/>
              </a:rPr>
              <a:t>essay is </a:t>
            </a:r>
            <a:r>
              <a:rPr dirty="0" sz="1200">
                <a:latin typeface="Times New Roman"/>
                <a:cs typeface="Times New Roman"/>
              </a:rPr>
              <a:t> essentially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Lesson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Review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74698" y="1691639"/>
            <a:ext cx="1635760" cy="45529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50800" rIns="0" bIns="0" rtlCol="0" vert="horz">
            <a:spAutoFit/>
          </a:bodyPr>
          <a:lstStyle/>
          <a:p>
            <a:pPr marL="96520" marR="401955">
              <a:lnSpc>
                <a:spcPts val="1380"/>
              </a:lnSpc>
              <a:spcBef>
                <a:spcPts val="400"/>
              </a:spcBef>
            </a:pP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863084" y="1933194"/>
            <a:ext cx="946150" cy="45212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38735" rIns="0" bIns="0" rtlCol="0" vert="horz">
            <a:spAutoFit/>
          </a:bodyPr>
          <a:lstStyle/>
          <a:p>
            <a:pPr marL="95885">
              <a:lnSpc>
                <a:spcPct val="100000"/>
              </a:lnSpc>
              <a:spcBef>
                <a:spcPts val="305"/>
              </a:spcBef>
            </a:pPr>
            <a:r>
              <a:rPr dirty="0" sz="1200" spc="-5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14500" y="2328672"/>
            <a:ext cx="1466850" cy="62674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46990" rIns="0" bIns="0" rtlCol="0" vert="horz">
            <a:spAutoFit/>
          </a:bodyPr>
          <a:lstStyle/>
          <a:p>
            <a:pPr marL="96520" marR="89535">
              <a:lnSpc>
                <a:spcPct val="95600"/>
              </a:lnSpc>
              <a:spcBef>
                <a:spcPts val="370"/>
              </a:spcBef>
            </a:pPr>
            <a:r>
              <a:rPr dirty="0" sz="1200">
                <a:latin typeface="Times New Roman"/>
                <a:cs typeface="Times New Roman"/>
              </a:rPr>
              <a:t>Topic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  </a:t>
            </a:r>
            <a:r>
              <a:rPr dirty="0" sz="1200" spc="-5">
                <a:latin typeface="Times New Roman"/>
                <a:cs typeface="Times New Roman"/>
              </a:rPr>
              <a:t>Concludin</a:t>
            </a:r>
            <a:r>
              <a:rPr dirty="0" sz="1200">
                <a:latin typeface="Times New Roman"/>
                <a:cs typeface="Times New Roman"/>
              </a:rPr>
              <a:t>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14500" y="3198114"/>
            <a:ext cx="1466850" cy="62674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50165" rIns="0" bIns="0" rtlCol="0" vert="horz">
            <a:spAutoFit/>
          </a:bodyPr>
          <a:lstStyle/>
          <a:p>
            <a:pPr marL="96520" marR="88900">
              <a:lnSpc>
                <a:spcPts val="1380"/>
              </a:lnSpc>
              <a:spcBef>
                <a:spcPts val="395"/>
              </a:spcBef>
            </a:pPr>
            <a:r>
              <a:rPr dirty="0" sz="1200">
                <a:latin typeface="Times New Roman"/>
                <a:cs typeface="Times New Roman"/>
              </a:rPr>
              <a:t>Topic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  Concluding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14500" y="4066794"/>
            <a:ext cx="1466850" cy="62738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50800" rIns="0" bIns="0" rtlCol="0" vert="horz">
            <a:spAutoFit/>
          </a:bodyPr>
          <a:lstStyle/>
          <a:p>
            <a:pPr marL="96520" marR="89535">
              <a:lnSpc>
                <a:spcPts val="1380"/>
              </a:lnSpc>
              <a:spcBef>
                <a:spcPts val="400"/>
              </a:spcBef>
            </a:pPr>
            <a:r>
              <a:rPr dirty="0" sz="1200">
                <a:latin typeface="Times New Roman"/>
                <a:cs typeface="Times New Roman"/>
              </a:rPr>
              <a:t>Topic sentence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  </a:t>
            </a:r>
            <a:r>
              <a:rPr dirty="0" sz="1200" spc="-5">
                <a:latin typeface="Times New Roman"/>
                <a:cs typeface="Times New Roman"/>
              </a:rPr>
              <a:t>Concludin</a:t>
            </a:r>
            <a:r>
              <a:rPr dirty="0" sz="1200">
                <a:latin typeface="Times New Roman"/>
                <a:cs typeface="Times New Roman"/>
              </a:rPr>
              <a:t>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701540" y="3434334"/>
            <a:ext cx="1073785" cy="30607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36830" rIns="0" bIns="0" rtlCol="0" vert="horz">
            <a:spAutoFit/>
          </a:bodyPr>
          <a:lstStyle/>
          <a:p>
            <a:pPr marL="172720">
              <a:lnSpc>
                <a:spcPct val="100000"/>
              </a:lnSpc>
              <a:spcBef>
                <a:spcPts val="290"/>
              </a:spcBef>
            </a:pPr>
            <a:r>
              <a:rPr dirty="0" sz="1400" spc="-5">
                <a:latin typeface="Times New Roman"/>
                <a:cs typeface="Times New Roman"/>
              </a:rPr>
              <a:t>Main</a:t>
            </a:r>
            <a:r>
              <a:rPr dirty="0" sz="1400" spc="-45">
                <a:latin typeface="Times New Roman"/>
                <a:cs typeface="Times New Roman"/>
              </a:rPr>
              <a:t> </a:t>
            </a:r>
            <a:r>
              <a:rPr dirty="0" sz="1400" spc="-5">
                <a:latin typeface="Times New Roman"/>
                <a:cs typeface="Times New Roman"/>
              </a:rPr>
              <a:t>Body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714500" y="4936235"/>
            <a:ext cx="1369695" cy="627380"/>
          </a:xfrm>
          <a:custGeom>
            <a:avLst/>
            <a:gdLst/>
            <a:ahLst/>
            <a:cxnLst/>
            <a:rect l="l" t="t" r="r" b="b"/>
            <a:pathLst>
              <a:path w="1369695" h="627379">
                <a:moveTo>
                  <a:pt x="1369314" y="0"/>
                </a:moveTo>
                <a:lnTo>
                  <a:pt x="0" y="0"/>
                </a:lnTo>
                <a:lnTo>
                  <a:pt x="0" y="627126"/>
                </a:lnTo>
                <a:lnTo>
                  <a:pt x="1369314" y="627126"/>
                </a:lnTo>
                <a:lnTo>
                  <a:pt x="1369314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1798573" y="4962397"/>
            <a:ext cx="120269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Restatement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14500" y="5399532"/>
            <a:ext cx="1369695" cy="16383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96520">
              <a:lnSpc>
                <a:spcPts val="860"/>
              </a:lnSpc>
            </a:pPr>
            <a:r>
              <a:rPr dirty="0" sz="1200">
                <a:latin typeface="Times New Roman"/>
                <a:cs typeface="Times New Roman"/>
              </a:rPr>
              <a:t>Recommendation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701540" y="5094732"/>
            <a:ext cx="886460" cy="30480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wrap="square" lIns="0" tIns="38100" rIns="0" bIns="0" rtlCol="0" vert="horz">
            <a:spAutoFit/>
          </a:bodyPr>
          <a:lstStyle/>
          <a:p>
            <a:pPr marL="96520">
              <a:lnSpc>
                <a:spcPct val="100000"/>
              </a:lnSpc>
              <a:spcBef>
                <a:spcPts val="300"/>
              </a:spcBef>
            </a:pPr>
            <a:r>
              <a:rPr dirty="0" sz="1200">
                <a:latin typeface="Times New Roman"/>
                <a:cs typeface="Times New Roman"/>
              </a:rPr>
              <a:t>Conclusio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566731" y="2718625"/>
            <a:ext cx="1139825" cy="1906270"/>
            <a:chOff x="3566731" y="2718625"/>
            <a:chExt cx="1139825" cy="1906270"/>
          </a:xfrm>
        </p:grpSpPr>
        <p:sp>
          <p:nvSpPr>
            <p:cNvPr id="20" name="object 20"/>
            <p:cNvSpPr/>
            <p:nvPr/>
          </p:nvSpPr>
          <p:spPr>
            <a:xfrm>
              <a:off x="3571494" y="2723388"/>
              <a:ext cx="1130300" cy="1027430"/>
            </a:xfrm>
            <a:custGeom>
              <a:avLst/>
              <a:gdLst/>
              <a:ahLst/>
              <a:cxnLst/>
              <a:rect l="l" t="t" r="r" b="b"/>
              <a:pathLst>
                <a:path w="1130300" h="1027429">
                  <a:moveTo>
                    <a:pt x="0" y="0"/>
                  </a:moveTo>
                  <a:lnTo>
                    <a:pt x="1130046" y="1027176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571494" y="3750563"/>
              <a:ext cx="1130300" cy="869950"/>
            </a:xfrm>
            <a:custGeom>
              <a:avLst/>
              <a:gdLst/>
              <a:ahLst/>
              <a:cxnLst/>
              <a:rect l="l" t="t" r="r" b="b"/>
              <a:pathLst>
                <a:path w="1130300" h="869950">
                  <a:moveTo>
                    <a:pt x="0" y="869441"/>
                  </a:moveTo>
                  <a:lnTo>
                    <a:pt x="1130046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1183639" y="5721350"/>
            <a:ext cx="7283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83639" y="6422390"/>
            <a:ext cx="1012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Topic</a:t>
            </a:r>
            <a:r>
              <a:rPr dirty="0" sz="1200" spc="-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90600" y="6522211"/>
            <a:ext cx="12344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Times New Roman"/>
                <a:cs typeface="Times New Roman"/>
              </a:rPr>
              <a:t>Sent</a:t>
            </a:r>
            <a:r>
              <a:rPr dirty="0" baseline="-27777" sz="1800" spc="-254" b="1">
                <a:latin typeface="Times New Roman"/>
                <a:cs typeface="Times New Roman"/>
              </a:rPr>
              <a:t>S</a:t>
            </a:r>
            <a:r>
              <a:rPr dirty="0" sz="1200" spc="-170">
                <a:latin typeface="Times New Roman"/>
                <a:cs typeface="Times New Roman"/>
              </a:rPr>
              <a:t>e</a:t>
            </a:r>
            <a:r>
              <a:rPr dirty="0" baseline="-27777" sz="1800" spc="-254" b="1">
                <a:latin typeface="Times New Roman"/>
                <a:cs typeface="Times New Roman"/>
              </a:rPr>
              <a:t>u</a:t>
            </a:r>
            <a:r>
              <a:rPr dirty="0" sz="1200" spc="-170">
                <a:latin typeface="Times New Roman"/>
                <a:cs typeface="Times New Roman"/>
              </a:rPr>
              <a:t>n</a:t>
            </a:r>
            <a:r>
              <a:rPr dirty="0" baseline="-27777" sz="1800" spc="-254" b="1">
                <a:latin typeface="Times New Roman"/>
                <a:cs typeface="Times New Roman"/>
              </a:rPr>
              <a:t>p</a:t>
            </a:r>
            <a:r>
              <a:rPr dirty="0" sz="1200" spc="-170">
                <a:latin typeface="Times New Roman"/>
                <a:cs typeface="Times New Roman"/>
              </a:rPr>
              <a:t>ce</a:t>
            </a:r>
            <a:r>
              <a:rPr dirty="0" baseline="-27777" sz="1800" spc="-254" b="1">
                <a:latin typeface="Times New Roman"/>
                <a:cs typeface="Times New Roman"/>
              </a:rPr>
              <a:t>port</a:t>
            </a:r>
            <a:endParaRPr baseline="-27777" sz="18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78939" y="6772909"/>
            <a:ext cx="5594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Support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40839" y="6946645"/>
            <a:ext cx="5594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Support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202939" y="6946645"/>
            <a:ext cx="99949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65100" marR="5080" indent="-15240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Facts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028700" y="5399532"/>
            <a:ext cx="5200650" cy="1905000"/>
          </a:xfrm>
          <a:custGeom>
            <a:avLst/>
            <a:gdLst/>
            <a:ahLst/>
            <a:cxnLst/>
            <a:rect l="l" t="t" r="r" b="b"/>
            <a:pathLst>
              <a:path w="5200650" h="1905000">
                <a:moveTo>
                  <a:pt x="5200650" y="0"/>
                </a:moveTo>
                <a:lnTo>
                  <a:pt x="0" y="0"/>
                </a:lnTo>
                <a:lnTo>
                  <a:pt x="0" y="1905000"/>
                </a:lnTo>
                <a:lnTo>
                  <a:pt x="5200650" y="1905000"/>
                </a:lnTo>
                <a:lnTo>
                  <a:pt x="520065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4422140" y="5879084"/>
            <a:ext cx="177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514600" y="5912358"/>
            <a:ext cx="570230" cy="1143000"/>
          </a:xfrm>
          <a:custGeom>
            <a:avLst/>
            <a:gdLst/>
            <a:ahLst/>
            <a:cxnLst/>
            <a:rect l="l" t="t" r="r" b="b"/>
            <a:pathLst>
              <a:path w="570230" h="1143000">
                <a:moveTo>
                  <a:pt x="0" y="0"/>
                </a:moveTo>
                <a:lnTo>
                  <a:pt x="65452" y="2517"/>
                </a:lnTo>
                <a:lnTo>
                  <a:pt x="125478" y="9686"/>
                </a:lnTo>
                <a:lnTo>
                  <a:pt x="178387" y="20933"/>
                </a:lnTo>
                <a:lnTo>
                  <a:pt x="222486" y="35687"/>
                </a:lnTo>
                <a:lnTo>
                  <a:pt x="277479" y="73418"/>
                </a:lnTo>
                <a:lnTo>
                  <a:pt x="284988" y="95250"/>
                </a:lnTo>
                <a:lnTo>
                  <a:pt x="284988" y="476250"/>
                </a:lnTo>
                <a:lnTo>
                  <a:pt x="292536" y="498081"/>
                </a:lnTo>
                <a:lnTo>
                  <a:pt x="347729" y="535812"/>
                </a:lnTo>
                <a:lnTo>
                  <a:pt x="391907" y="550566"/>
                </a:lnTo>
                <a:lnTo>
                  <a:pt x="444830" y="561813"/>
                </a:lnTo>
                <a:lnTo>
                  <a:pt x="504763" y="568982"/>
                </a:lnTo>
                <a:lnTo>
                  <a:pt x="569976" y="571500"/>
                </a:lnTo>
                <a:lnTo>
                  <a:pt x="504763" y="574017"/>
                </a:lnTo>
                <a:lnTo>
                  <a:pt x="444830" y="581186"/>
                </a:lnTo>
                <a:lnTo>
                  <a:pt x="391907" y="592433"/>
                </a:lnTo>
                <a:lnTo>
                  <a:pt x="347729" y="607187"/>
                </a:lnTo>
                <a:lnTo>
                  <a:pt x="292536" y="644918"/>
                </a:lnTo>
                <a:lnTo>
                  <a:pt x="284988" y="666750"/>
                </a:lnTo>
                <a:lnTo>
                  <a:pt x="284988" y="1047750"/>
                </a:lnTo>
                <a:lnTo>
                  <a:pt x="277479" y="1069581"/>
                </a:lnTo>
                <a:lnTo>
                  <a:pt x="222486" y="1107312"/>
                </a:lnTo>
                <a:lnTo>
                  <a:pt x="178387" y="1122066"/>
                </a:lnTo>
                <a:lnTo>
                  <a:pt x="125478" y="1133313"/>
                </a:lnTo>
                <a:lnTo>
                  <a:pt x="65452" y="1140482"/>
                </a:lnTo>
                <a:lnTo>
                  <a:pt x="0" y="114300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32" name="object 3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212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5">
                <a:latin typeface="Times New Roman"/>
                <a:cs typeface="Times New Roman"/>
              </a:rPr>
              <a:t> material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Font typeface="Times New Roman"/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Writing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skill</a:t>
            </a:r>
            <a:r>
              <a:rPr dirty="0" sz="1200" spc="-5">
                <a:latin typeface="Times New Roman"/>
                <a:cs typeface="Times New Roman"/>
              </a:rPr>
              <a:t> that can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learned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/F?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marL="165100" indent="-152400">
              <a:lnSpc>
                <a:spcPct val="10000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614931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3139" y="1614931"/>
            <a:ext cx="287845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spc="-5">
                <a:latin typeface="Times New Roman"/>
                <a:cs typeface="Times New Roman"/>
              </a:rPr>
              <a:t>provides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support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makes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point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provides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specific</a:t>
            </a:r>
            <a:r>
              <a:rPr dirty="0" sz="1200" spc="-10" b="1">
                <a:latin typeface="Times New Roman"/>
                <a:cs typeface="Times New Roman"/>
              </a:rPr>
              <a:t> support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none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491231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73200" y="2491231"/>
            <a:ext cx="517017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/F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3017011"/>
            <a:ext cx="148590" cy="911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 b="1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3101" y="3017011"/>
            <a:ext cx="2637155" cy="91122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1714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Prewriting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strategies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 b="1">
                <a:latin typeface="Times New Roman"/>
                <a:cs typeface="Times New Roman"/>
              </a:rPr>
              <a:t>all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above.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4068571"/>
            <a:ext cx="5626735" cy="10845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Font typeface="Times New Roman"/>
              <a:buAutoNum type="arabicPeriod" startAt="5"/>
              <a:tabLst>
                <a:tab pos="187960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stage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concerned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spelling,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grammar.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AutoNum type="arabicPeriod" startAt="5"/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buAutoNum type="arabicPeriod" startAt="5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brief plan of the paragraph or </a:t>
            </a:r>
            <a:r>
              <a:rPr dirty="0" sz="1200" spc="-5">
                <a:latin typeface="Times New Roman"/>
                <a:cs typeface="Times New Roman"/>
              </a:rPr>
              <a:t>composition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an </a:t>
            </a:r>
            <a:r>
              <a:rPr dirty="0" sz="1200" spc="-5">
                <a:latin typeface="Times New Roman"/>
                <a:cs typeface="Times New Roman"/>
              </a:rPr>
              <a:t>outline.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 /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AutoNum type="arabicPeriod" startAt="5"/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ct val="100000"/>
              </a:lnSpc>
              <a:buAutoNum type="arabicPeriod" startAt="5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5120132"/>
            <a:ext cx="14859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10" b="1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73078" y="5120132"/>
            <a:ext cx="744855" cy="73406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spelling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content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punctuation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842516" y="6528816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5" h="7620">
                <a:moveTo>
                  <a:pt x="44957" y="0"/>
                </a:moveTo>
                <a:lnTo>
                  <a:pt x="0" y="0"/>
                </a:lnTo>
                <a:lnTo>
                  <a:pt x="0" y="7619"/>
                </a:lnTo>
                <a:lnTo>
                  <a:pt x="44957" y="7619"/>
                </a:lnTo>
                <a:lnTo>
                  <a:pt x="449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1016000" y="5821171"/>
            <a:ext cx="5626100" cy="12598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buAutoNum type="arabicPeriod" startAt="8"/>
              <a:tabLst>
                <a:tab pos="171450" algn="l"/>
                <a:tab pos="2755265" algn="l"/>
              </a:tabLst>
            </a:pP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chronological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importance.	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8"/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 startAt="8"/>
              <a:tabLst>
                <a:tab pos="172085" algn="l"/>
                <a:tab pos="275526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first,</a:t>
            </a:r>
            <a:r>
              <a:rPr dirty="0" sz="1200" spc="5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next,</a:t>
            </a:r>
            <a:r>
              <a:rPr dirty="0" sz="1200" spc="6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then,</a:t>
            </a:r>
            <a:r>
              <a:rPr dirty="0" sz="1200" spc="5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also,</a:t>
            </a:r>
            <a:r>
              <a:rPr dirty="0" sz="1200" spc="5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another,</a:t>
            </a:r>
            <a:r>
              <a:rPr dirty="0" sz="1200" spc="6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finally</a:t>
            </a:r>
            <a:r>
              <a:rPr dirty="0" sz="1200" spc="5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signal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transition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	</a:t>
            </a:r>
            <a:r>
              <a:rPr dirty="0" sz="120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8"/>
            </a:pPr>
            <a:endParaRPr sz="1100">
              <a:latin typeface="Times New Roman"/>
              <a:cs typeface="Times New Roman"/>
            </a:endParaRPr>
          </a:p>
          <a:p>
            <a:pPr marL="241300" indent="-229235">
              <a:lnSpc>
                <a:spcPct val="100000"/>
              </a:lnSpc>
              <a:buAutoNum type="arabicPeriod" startAt="8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  <p:sp>
        <p:nvSpPr>
          <p:cNvPr id="15" name="object 15"/>
          <p:cNvSpPr txBox="1"/>
          <p:nvPr/>
        </p:nvSpPr>
        <p:spPr>
          <a:xfrm>
            <a:off x="1016000" y="7047990"/>
            <a:ext cx="142240" cy="721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9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100" spc="-5">
                <a:latin typeface="Arial MT"/>
                <a:cs typeface="Arial MT"/>
              </a:rPr>
              <a:t>d.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73078" y="7047990"/>
            <a:ext cx="1152525" cy="7213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41275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grammar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punctuation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usage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spelling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100" spc="-5">
                <a:latin typeface="Arial MT"/>
                <a:cs typeface="Arial MT"/>
              </a:rPr>
              <a:t>all</a:t>
            </a:r>
            <a:r>
              <a:rPr dirty="0" sz="1100" spc="-15">
                <a:latin typeface="Arial MT"/>
                <a:cs typeface="Arial MT"/>
              </a:rPr>
              <a:t> </a:t>
            </a:r>
            <a:r>
              <a:rPr dirty="0" sz="1100" spc="-5">
                <a:latin typeface="Arial MT"/>
                <a:cs typeface="Arial MT"/>
              </a:rPr>
              <a:t>of</a:t>
            </a:r>
            <a:r>
              <a:rPr dirty="0" sz="1100" spc="-15">
                <a:latin typeface="Arial MT"/>
                <a:cs typeface="Arial MT"/>
              </a:rPr>
              <a:t> </a:t>
            </a:r>
            <a:r>
              <a:rPr dirty="0" sz="1100" spc="-5">
                <a:latin typeface="Arial MT"/>
                <a:cs typeface="Arial MT"/>
              </a:rPr>
              <a:t>the</a:t>
            </a:r>
            <a:r>
              <a:rPr dirty="0" sz="1100" spc="-10">
                <a:latin typeface="Arial MT"/>
                <a:cs typeface="Arial MT"/>
              </a:rPr>
              <a:t> </a:t>
            </a:r>
            <a:r>
              <a:rPr dirty="0" sz="1100" spc="-5">
                <a:latin typeface="Arial MT"/>
                <a:cs typeface="Arial MT"/>
              </a:rPr>
              <a:t>above</a:t>
            </a:r>
            <a:endParaRPr sz="1100">
              <a:latin typeface="Arial MT"/>
              <a:cs typeface="Arial MT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50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4987290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-34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Essay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last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if you </a:t>
            </a:r>
            <a:r>
              <a:rPr dirty="0" sz="1200" spc="-5">
                <a:latin typeface="Times New Roman"/>
                <a:cs typeface="Times New Roman"/>
              </a:rPr>
              <a:t>will recall, we </a:t>
            </a:r>
            <a:r>
              <a:rPr dirty="0" sz="1200">
                <a:latin typeface="Times New Roman"/>
                <a:cs typeface="Times New Roman"/>
              </a:rPr>
              <a:t>briefly looked at the structure of 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- a long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composition.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recall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parts: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I-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introduction,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body and III- the conclusion.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shall </a:t>
            </a:r>
            <a:r>
              <a:rPr dirty="0" sz="1200">
                <a:latin typeface="Times New Roman"/>
                <a:cs typeface="Times New Roman"/>
              </a:rPr>
              <a:t>now look at the </a:t>
            </a:r>
            <a:r>
              <a:rPr dirty="0" sz="1200" spc="-5">
                <a:latin typeface="Times New Roman"/>
                <a:cs typeface="Times New Roman"/>
              </a:rPr>
              <a:t>introductory </a:t>
            </a:r>
            <a:r>
              <a:rPr dirty="0" sz="1200">
                <a:latin typeface="Times New Roman"/>
                <a:cs typeface="Times New Roman"/>
              </a:rPr>
              <a:t>paragraph,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concluding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 in greater detail.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Introductory </a:t>
            </a:r>
            <a:r>
              <a:rPr dirty="0" sz="1200" b="1">
                <a:latin typeface="Times New Roman"/>
                <a:cs typeface="Times New Roman"/>
              </a:rPr>
              <a:t>Paragraph: </a:t>
            </a:r>
            <a:r>
              <a:rPr dirty="0" sz="1200">
                <a:latin typeface="Times New Roman"/>
                <a:cs typeface="Times New Roman"/>
              </a:rPr>
              <a:t>Students often complain that they have </a:t>
            </a:r>
            <a:r>
              <a:rPr dirty="0" sz="1200" spc="-5">
                <a:latin typeface="Times New Roman"/>
                <a:cs typeface="Times New Roman"/>
              </a:rPr>
              <a:t>difficulty </a:t>
            </a:r>
            <a:r>
              <a:rPr dirty="0" sz="1200">
                <a:latin typeface="Times New Roman"/>
                <a:cs typeface="Times New Roman"/>
              </a:rPr>
              <a:t>in getting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started. A </a:t>
            </a:r>
            <a:r>
              <a:rPr dirty="0" sz="1200">
                <a:latin typeface="Times New Roman"/>
                <a:cs typeface="Times New Roman"/>
              </a:rPr>
              <a:t>lot </a:t>
            </a:r>
            <a:r>
              <a:rPr dirty="0" sz="1200" spc="-5">
                <a:latin typeface="Times New Roman"/>
                <a:cs typeface="Times New Roman"/>
              </a:rPr>
              <a:t>of time is spent </a:t>
            </a:r>
            <a:r>
              <a:rPr dirty="0" sz="1200">
                <a:latin typeface="Times New Roman"/>
                <a:cs typeface="Times New Roman"/>
              </a:rPr>
              <a:t>in thinking </a:t>
            </a:r>
            <a:r>
              <a:rPr dirty="0" sz="1200" spc="-5">
                <a:latin typeface="Times New Roman"/>
                <a:cs typeface="Times New Roman"/>
              </a:rPr>
              <a:t>the first sentence. Now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you know what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an introduction</a:t>
            </a:r>
            <a:r>
              <a:rPr dirty="0" sz="1200" spc="-5">
                <a:latin typeface="Times New Roman"/>
                <a:cs typeface="Times New Roman"/>
              </a:rPr>
              <a:t> is,</a:t>
            </a:r>
            <a:r>
              <a:rPr dirty="0" sz="1200">
                <a:latin typeface="Times New Roman"/>
                <a:cs typeface="Times New Roman"/>
              </a:rPr>
              <a:t> you would 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 </a:t>
            </a:r>
            <a:r>
              <a:rPr dirty="0" sz="1200">
                <a:latin typeface="Times New Roman"/>
                <a:cs typeface="Times New Roman"/>
              </a:rPr>
              <a:t>difficulty.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introduction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purposes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Introduce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topic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background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Specify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overall,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b="1">
                <a:latin typeface="Times New Roman"/>
                <a:cs typeface="Times New Roman"/>
              </a:rPr>
              <a:t>plan</a:t>
            </a:r>
            <a:r>
              <a:rPr dirty="0" sz="1200" spc="-5">
                <a:latin typeface="Times New Roman"/>
                <a:cs typeface="Times New Roman"/>
              </a:rPr>
              <a:t>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essay.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Arouse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reader’s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interest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introductory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(i)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(ii)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 b="1">
                <a:latin typeface="Times New Roman"/>
                <a:cs typeface="Times New Roman"/>
              </a:rPr>
              <a:t>Look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following </a:t>
            </a:r>
            <a:r>
              <a:rPr dirty="0" sz="1200" b="1">
                <a:latin typeface="Times New Roman"/>
                <a:cs typeface="Times New Roman"/>
              </a:rPr>
              <a:t>introductory paragraph.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Notice </a:t>
            </a:r>
            <a:r>
              <a:rPr dirty="0" sz="1200" spc="-5" b="1">
                <a:latin typeface="Times New Roman"/>
                <a:cs typeface="Times New Roman"/>
              </a:rPr>
              <a:t>the two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 Anyone born in the twentieth </a:t>
            </a:r>
            <a:r>
              <a:rPr dirty="0" sz="1200" spc="-5">
                <a:latin typeface="Times New Roman"/>
                <a:cs typeface="Times New Roman"/>
              </a:rPr>
              <a:t>century will </a:t>
            </a:r>
            <a:r>
              <a:rPr dirty="0" sz="1200">
                <a:latin typeface="Times New Roman"/>
                <a:cs typeface="Times New Roman"/>
              </a:rPr>
              <a:t>have seen a lot of changes take place in nearly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 aspect of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life. 2 </a:t>
            </a:r>
            <a:r>
              <a:rPr dirty="0" sz="1200" spc="-5">
                <a:latin typeface="Times New Roman"/>
                <a:cs typeface="Times New Roman"/>
              </a:rPr>
              <a:t>While some </a:t>
            </a:r>
            <a:r>
              <a:rPr dirty="0" sz="1200">
                <a:latin typeface="Times New Roman"/>
                <a:cs typeface="Times New Roman"/>
              </a:rPr>
              <a:t>found these changes fascinating, others found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 </a:t>
            </a:r>
            <a:r>
              <a:rPr dirty="0" sz="1200" spc="-5">
                <a:latin typeface="Times New Roman"/>
                <a:cs typeface="Times New Roman"/>
              </a:rPr>
              <a:t>discomforting </a:t>
            </a:r>
            <a:r>
              <a:rPr dirty="0" sz="1200">
                <a:latin typeface="Times New Roman"/>
                <a:cs typeface="Times New Roman"/>
              </a:rPr>
              <a:t>and they want to </a:t>
            </a:r>
            <a:r>
              <a:rPr dirty="0" sz="1200" spc="-5">
                <a:latin typeface="Times New Roman"/>
                <a:cs typeface="Times New Roman"/>
              </a:rPr>
              <a:t>return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simpler, less mechanical life </a:t>
            </a:r>
            <a:r>
              <a:rPr dirty="0" sz="1200">
                <a:latin typeface="Times New Roman"/>
                <a:cs typeface="Times New Roman"/>
              </a:rPr>
              <a:t>style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past. 3.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the one hand the twentieth century brought about a </a:t>
            </a:r>
            <a:r>
              <a:rPr dirty="0" sz="1200" spc="-5">
                <a:latin typeface="Times New Roman"/>
                <a:cs typeface="Times New Roman"/>
              </a:rPr>
              <a:t>higher standard of </a:t>
            </a:r>
            <a:r>
              <a:rPr dirty="0" sz="1200">
                <a:latin typeface="Times New Roman"/>
                <a:cs typeface="Times New Roman"/>
              </a:rPr>
              <a:t>living,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weakening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>
                <a:latin typeface="Times New Roman"/>
                <a:cs typeface="Times New Roman"/>
              </a:rPr>
              <a:t> relationships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diminishing </a:t>
            </a:r>
            <a:r>
              <a:rPr dirty="0" sz="1200">
                <a:latin typeface="Times New Roman"/>
                <a:cs typeface="Times New Roman"/>
              </a:rPr>
              <a:t>of spiritual and </a:t>
            </a:r>
            <a:r>
              <a:rPr dirty="0" sz="1200" spc="-5">
                <a:latin typeface="Times New Roman"/>
                <a:cs typeface="Times New Roman"/>
              </a:rPr>
              <a:t>moral</a:t>
            </a:r>
            <a:r>
              <a:rPr dirty="0" sz="1200">
                <a:latin typeface="Times New Roman"/>
                <a:cs typeface="Times New Roman"/>
              </a:rPr>
              <a:t> values.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 will have noticed </a:t>
            </a:r>
            <a:r>
              <a:rPr dirty="0" sz="1200">
                <a:latin typeface="Times New Roman"/>
                <a:cs typeface="Times New Roman"/>
              </a:rPr>
              <a:t>that the </a:t>
            </a:r>
            <a:r>
              <a:rPr dirty="0" sz="1200" spc="-5">
                <a:latin typeface="Times New Roman"/>
                <a:cs typeface="Times New Roman"/>
              </a:rPr>
              <a:t>first sentence </a:t>
            </a: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paragraph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very general comment </a:t>
            </a:r>
            <a:r>
              <a:rPr dirty="0" sz="1200">
                <a:latin typeface="Times New Roman"/>
                <a:cs typeface="Times New Roman"/>
              </a:rPr>
              <a:t> about the subject, the </a:t>
            </a:r>
            <a:r>
              <a:rPr dirty="0" sz="1200" spc="-5">
                <a:latin typeface="Times New Roman"/>
                <a:cs typeface="Times New Roman"/>
              </a:rPr>
              <a:t>twentieth century. Its </a:t>
            </a:r>
            <a:r>
              <a:rPr dirty="0" sz="1200">
                <a:latin typeface="Times New Roman"/>
                <a:cs typeface="Times New Roman"/>
              </a:rPr>
              <a:t>purpose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attract the </a:t>
            </a:r>
            <a:r>
              <a:rPr dirty="0" sz="1200" spc="-5">
                <a:latin typeface="Times New Roman"/>
                <a:cs typeface="Times New Roman"/>
              </a:rPr>
              <a:t>attention </a:t>
            </a:r>
            <a:r>
              <a:rPr dirty="0" sz="1200">
                <a:latin typeface="Times New Roman"/>
                <a:cs typeface="Times New Roman"/>
              </a:rPr>
              <a:t>of the reader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introduce the topic of the </a:t>
            </a:r>
            <a:r>
              <a:rPr dirty="0" sz="1200" spc="-5">
                <a:latin typeface="Times New Roman"/>
                <a:cs typeface="Times New Roman"/>
              </a:rPr>
              <a:t>essay. </a:t>
            </a:r>
            <a:r>
              <a:rPr dirty="0" sz="1200">
                <a:latin typeface="Times New Roman"/>
                <a:cs typeface="Times New Roman"/>
              </a:rPr>
              <a:t>The next sentence, </a:t>
            </a:r>
            <a:r>
              <a:rPr dirty="0" sz="1200" spc="-5">
                <a:latin typeface="Times New Roman"/>
                <a:cs typeface="Times New Roman"/>
              </a:rPr>
              <a:t>No.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is more </a:t>
            </a:r>
            <a:r>
              <a:rPr dirty="0" sz="1200">
                <a:latin typeface="Times New Roman"/>
                <a:cs typeface="Times New Roman"/>
              </a:rPr>
              <a:t>specific. The third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introduction.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Why? Because it </a:t>
            </a:r>
            <a:r>
              <a:rPr dirty="0" sz="1200" spc="-5">
                <a:latin typeface="Times New Roman"/>
                <a:cs typeface="Times New Roman"/>
              </a:rPr>
              <a:t>states </a:t>
            </a:r>
            <a:r>
              <a:rPr dirty="0" sz="1200">
                <a:latin typeface="Times New Roman"/>
                <a:cs typeface="Times New Roman"/>
              </a:rPr>
              <a:t>the specific topic </a:t>
            </a:r>
            <a:r>
              <a:rPr dirty="0" sz="1200" spc="-5">
                <a:latin typeface="Times New Roman"/>
                <a:cs typeface="Times New Roman"/>
              </a:rPr>
              <a:t>(changes </a:t>
            </a:r>
            <a:r>
              <a:rPr dirty="0" sz="1200">
                <a:latin typeface="Times New Roman"/>
                <a:cs typeface="Times New Roman"/>
              </a:rPr>
              <a:t>in the 20 century) and </a:t>
            </a:r>
            <a:r>
              <a:rPr dirty="0" sz="1200" spc="-5">
                <a:latin typeface="Times New Roman"/>
                <a:cs typeface="Times New Roman"/>
              </a:rPr>
              <a:t>lists the major </a:t>
            </a:r>
            <a:r>
              <a:rPr dirty="0" sz="1200">
                <a:latin typeface="Times New Roman"/>
                <a:cs typeface="Times New Roman"/>
              </a:rPr>
              <a:t> subtopics, </a:t>
            </a:r>
            <a:r>
              <a:rPr dirty="0" sz="1200" spc="-5">
                <a:latin typeface="Times New Roman"/>
                <a:cs typeface="Times New Roman"/>
              </a:rPr>
              <a:t>that 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addressed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main </a:t>
            </a:r>
            <a:r>
              <a:rPr dirty="0" sz="1200">
                <a:latin typeface="Times New Roman"/>
                <a:cs typeface="Times New Roman"/>
              </a:rPr>
              <a:t>body of 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(the high standard of living,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pollution,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values).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introductory paragraph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even indicate the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of organization of 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chronological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importance, </a:t>
            </a:r>
            <a:r>
              <a:rPr dirty="0" sz="1200">
                <a:latin typeface="Times New Roman"/>
                <a:cs typeface="Times New Roman"/>
              </a:rPr>
              <a:t>comparison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contrast,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short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thesis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statement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then:</a:t>
            </a:r>
            <a:endParaRPr sz="1200">
              <a:latin typeface="Times New Roman"/>
              <a:cs typeface="Times New Roman"/>
            </a:endParaRPr>
          </a:p>
          <a:p>
            <a:pPr marL="194945" indent="-182880">
              <a:lnSpc>
                <a:spcPts val="1375"/>
              </a:lnSpc>
              <a:buAutoNum type="romanLcParenBoth"/>
              <a:tabLst>
                <a:tab pos="195580" algn="l"/>
              </a:tabLst>
            </a:pP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Lists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subdivision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380"/>
              </a:lnSpc>
              <a:buAutoNum type="romanLcParenBoth"/>
              <a:tabLst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endParaRPr sz="1200">
              <a:latin typeface="Times New Roman"/>
              <a:cs typeface="Times New Roman"/>
            </a:endParaRPr>
          </a:p>
          <a:p>
            <a:pPr marL="270510" indent="-258445">
              <a:lnSpc>
                <a:spcPts val="1410"/>
              </a:lnSpc>
              <a:buAutoNum type="romanLcParenBoth"/>
              <a:tabLst>
                <a:tab pos="271145" algn="l"/>
              </a:tabLst>
            </a:pP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977900" y="1089152"/>
            <a:ext cx="5704205" cy="445262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50800" marR="4254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three introductory paragraphs the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in each are not in the correct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 Rearrange the sentences </a:t>
            </a:r>
            <a:r>
              <a:rPr dirty="0" sz="1200" spc="-5">
                <a:latin typeface="Times New Roman"/>
                <a:cs typeface="Times New Roman"/>
              </a:rPr>
              <a:t>beginning </a:t>
            </a:r>
            <a:r>
              <a:rPr dirty="0" sz="1200">
                <a:latin typeface="Times New Roman"/>
                <a:cs typeface="Times New Roman"/>
              </a:rPr>
              <a:t>with the </a:t>
            </a:r>
            <a:r>
              <a:rPr dirty="0" sz="1200" spc="-5">
                <a:latin typeface="Times New Roman"/>
                <a:cs typeface="Times New Roman"/>
              </a:rPr>
              <a:t>most general statement first </a:t>
            </a:r>
            <a:r>
              <a:rPr dirty="0" sz="1200">
                <a:latin typeface="Times New Roman"/>
                <a:cs typeface="Times New Roman"/>
              </a:rPr>
              <a:t>until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introduction becomes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specific.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last.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50165" marR="42545">
              <a:lnSpc>
                <a:spcPts val="1380"/>
              </a:lnSpc>
              <a:buSzPct val="91666"/>
              <a:buFont typeface="Times New Roman"/>
              <a:buAutoNum type="alphaUcParenBoth"/>
              <a:tabLst>
                <a:tab pos="263525" algn="l"/>
              </a:tabLst>
            </a:pPr>
            <a:r>
              <a:rPr dirty="0" sz="1200">
                <a:latin typeface="Times New Roman"/>
                <a:cs typeface="Times New Roman"/>
              </a:rPr>
              <a:t>1- Lahore’s heavy traffic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can be solved by building </a:t>
            </a:r>
            <a:r>
              <a:rPr dirty="0" sz="1200" spc="-5">
                <a:latin typeface="Times New Roman"/>
                <a:cs typeface="Times New Roman"/>
              </a:rPr>
              <a:t>under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overhead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passes </a:t>
            </a:r>
            <a:r>
              <a:rPr dirty="0" sz="1200">
                <a:latin typeface="Times New Roman"/>
                <a:cs typeface="Times New Roman"/>
              </a:rPr>
              <a:t>along the canal </a:t>
            </a:r>
            <a:r>
              <a:rPr dirty="0" sz="1200" spc="-5">
                <a:latin typeface="Times New Roman"/>
                <a:cs typeface="Times New Roman"/>
              </a:rPr>
              <a:t>roads,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improving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public transport system </a:t>
            </a:r>
            <a:r>
              <a:rPr dirty="0" sz="1200">
                <a:latin typeface="Times New Roman"/>
                <a:cs typeface="Times New Roman"/>
              </a:rPr>
              <a:t>within the </a:t>
            </a:r>
            <a:r>
              <a:rPr dirty="0" sz="1200" spc="-5">
                <a:latin typeface="Times New Roman"/>
                <a:cs typeface="Times New Roman"/>
              </a:rPr>
              <a:t>city,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building rapid transit </a:t>
            </a:r>
            <a:r>
              <a:rPr dirty="0" sz="1200" spc="-5">
                <a:latin typeface="Times New Roman"/>
                <a:cs typeface="Times New Roman"/>
              </a:rPr>
              <a:t>systems </a:t>
            </a:r>
            <a:r>
              <a:rPr dirty="0" sz="1200">
                <a:latin typeface="Times New Roman"/>
                <a:cs typeface="Times New Roman"/>
              </a:rPr>
              <a:t>from the rural areas to the city. 2- </a:t>
            </a:r>
            <a:r>
              <a:rPr dirty="0" sz="1200" spc="-5">
                <a:latin typeface="Times New Roman"/>
                <a:cs typeface="Times New Roman"/>
              </a:rPr>
              <a:t>Traffic </a:t>
            </a:r>
            <a:r>
              <a:rPr dirty="0" sz="1200">
                <a:latin typeface="Times New Roman"/>
                <a:cs typeface="Times New Roman"/>
              </a:rPr>
              <a:t>congestion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caused by the thousand of cars, vans and buses </a:t>
            </a:r>
            <a:r>
              <a:rPr dirty="0" sz="1200" spc="-5">
                <a:latin typeface="Times New Roman"/>
                <a:cs typeface="Times New Roman"/>
              </a:rPr>
              <a:t>that come </a:t>
            </a:r>
            <a:r>
              <a:rPr dirty="0" sz="1200">
                <a:latin typeface="Times New Roman"/>
                <a:cs typeface="Times New Roman"/>
              </a:rPr>
              <a:t>into the city from the neighboring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>
                <a:latin typeface="Times New Roman"/>
                <a:cs typeface="Times New Roman"/>
              </a:rPr>
              <a:t>towns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from </a:t>
            </a:r>
            <a:r>
              <a:rPr dirty="0" sz="1200">
                <a:latin typeface="Times New Roman"/>
                <a:cs typeface="Times New Roman"/>
              </a:rPr>
              <a:t>the thousands of </a:t>
            </a:r>
            <a:r>
              <a:rPr dirty="0" sz="1200" spc="-5">
                <a:latin typeface="Times New Roman"/>
                <a:cs typeface="Times New Roman"/>
              </a:rPr>
              <a:t>cars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come from </a:t>
            </a:r>
            <a:r>
              <a:rPr dirty="0" sz="1200">
                <a:latin typeface="Times New Roman"/>
                <a:cs typeface="Times New Roman"/>
              </a:rPr>
              <a:t>within the city limits. 3-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of the most </a:t>
            </a:r>
            <a:r>
              <a:rPr dirty="0" sz="1200" spc="-5">
                <a:latin typeface="Times New Roman"/>
                <a:cs typeface="Times New Roman"/>
              </a:rPr>
              <a:t>serious problems </a:t>
            </a:r>
            <a:r>
              <a:rPr dirty="0" sz="1200">
                <a:latin typeface="Times New Roman"/>
                <a:cs typeface="Times New Roman"/>
              </a:rPr>
              <a:t>that Lahore faces with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traffic congestion. </a:t>
            </a:r>
            <a:r>
              <a:rPr dirty="0" sz="1200" spc="-5">
                <a:latin typeface="Times New Roman"/>
                <a:cs typeface="Times New Roman"/>
              </a:rPr>
              <a:t>4- </a:t>
            </a:r>
            <a:r>
              <a:rPr dirty="0" sz="1200">
                <a:latin typeface="Times New Roman"/>
                <a:cs typeface="Times New Roman"/>
              </a:rPr>
              <a:t>This huge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gets</a:t>
            </a:r>
            <a:r>
              <a:rPr dirty="0" sz="1200" spc="-5">
                <a:latin typeface="Times New Roman"/>
                <a:cs typeface="Times New Roman"/>
              </a:rPr>
              <a:t> worse.</a:t>
            </a:r>
            <a:endParaRPr sz="1200">
              <a:latin typeface="Times New Roman"/>
              <a:cs typeface="Times New Roman"/>
            </a:endParaRPr>
          </a:p>
          <a:p>
            <a:pPr algn="just" marL="50165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Correct </a:t>
            </a:r>
            <a:r>
              <a:rPr dirty="0" sz="1200" spc="-5">
                <a:latin typeface="Times New Roman"/>
                <a:cs typeface="Times New Roman"/>
              </a:rPr>
              <a:t>order: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(Correct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order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from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general to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specific</a:t>
            </a:r>
            <a:r>
              <a:rPr dirty="0" sz="1200" i="1">
                <a:latin typeface="Times New Roman"/>
                <a:cs typeface="Times New Roman"/>
              </a:rPr>
              <a:t> and finally </a:t>
            </a:r>
            <a:r>
              <a:rPr dirty="0" sz="1200" spc="-5" i="1">
                <a:latin typeface="Times New Roman"/>
                <a:cs typeface="Times New Roman"/>
              </a:rPr>
              <a:t>thesis </a:t>
            </a:r>
            <a:r>
              <a:rPr dirty="0" sz="1200" i="1">
                <a:latin typeface="Times New Roman"/>
                <a:cs typeface="Times New Roman"/>
              </a:rPr>
              <a:t>statement: </a:t>
            </a:r>
            <a:r>
              <a:rPr dirty="0" sz="1200" spc="-5" i="1">
                <a:latin typeface="Times New Roman"/>
                <a:cs typeface="Times New Roman"/>
              </a:rPr>
              <a:t>3,2,4,1).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50165" marR="50165">
              <a:lnSpc>
                <a:spcPts val="1380"/>
              </a:lnSpc>
              <a:buAutoNum type="alphaUcParenBoth" startAt="2"/>
              <a:tabLst>
                <a:tab pos="292100" algn="l"/>
              </a:tabLst>
            </a:pPr>
            <a:r>
              <a:rPr dirty="0" sz="1200">
                <a:latin typeface="Times New Roman"/>
                <a:cs typeface="Times New Roman"/>
              </a:rPr>
              <a:t>1- However, in others, the nuclear </a:t>
            </a:r>
            <a:r>
              <a:rPr dirty="0" sz="1200" spc="-5">
                <a:latin typeface="Times New Roman"/>
                <a:cs typeface="Times New Roman"/>
              </a:rPr>
              <a:t>family </a:t>
            </a:r>
            <a:r>
              <a:rPr dirty="0" sz="1200">
                <a:latin typeface="Times New Roman"/>
                <a:cs typeface="Times New Roman"/>
              </a:rPr>
              <a:t>i.e. only parents and their dependent children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household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cultures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systems</a:t>
            </a:r>
            <a:r>
              <a:rPr dirty="0" sz="1200">
                <a:latin typeface="Times New Roman"/>
                <a:cs typeface="Times New Roman"/>
              </a:rPr>
              <a:t> 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 life.</a:t>
            </a:r>
            <a:endParaRPr sz="1200">
              <a:latin typeface="Times New Roman"/>
              <a:cs typeface="Times New Roman"/>
            </a:endParaRPr>
          </a:p>
          <a:p>
            <a:pPr marL="50165" marR="755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3- In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cultures, people live in extended families in which three generations share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house. 4- In all parts of the world the </a:t>
            </a:r>
            <a:r>
              <a:rPr dirty="0" sz="1200" spc="-5">
                <a:latin typeface="Times New Roman"/>
                <a:cs typeface="Times New Roman"/>
              </a:rPr>
              <a:t>family system is </a:t>
            </a:r>
            <a:r>
              <a:rPr dirty="0" sz="1200">
                <a:latin typeface="Times New Roman"/>
                <a:cs typeface="Times New Roman"/>
              </a:rPr>
              <a:t>undergoing great changes. 5 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too,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traditional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extended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rapidly</a:t>
            </a:r>
            <a:r>
              <a:rPr dirty="0" sz="1200">
                <a:latin typeface="Times New Roman"/>
                <a:cs typeface="Times New Roman"/>
              </a:rPr>
              <a:t> giving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to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nuclear</a:t>
            </a:r>
            <a:r>
              <a:rPr dirty="0" sz="1200" spc="-5">
                <a:latin typeface="Times New Roman"/>
                <a:cs typeface="Times New Roman"/>
              </a:rPr>
              <a:t> family</a:t>
            </a:r>
            <a:r>
              <a:rPr dirty="0" sz="1200">
                <a:latin typeface="Times New Roman"/>
                <a:cs typeface="Times New Roman"/>
              </a:rPr>
              <a:t> and this could 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enormous </a:t>
            </a:r>
            <a:r>
              <a:rPr dirty="0" sz="1200">
                <a:latin typeface="Times New Roman"/>
                <a:cs typeface="Times New Roman"/>
              </a:rPr>
              <a:t>effects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society.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2,3,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1,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4,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Times New Roman"/>
              <a:cs typeface="Times New Roman"/>
            </a:endParaRPr>
          </a:p>
          <a:p>
            <a:pPr algn="just" marL="50800" marR="43180">
              <a:lnSpc>
                <a:spcPct val="101000"/>
              </a:lnSpc>
            </a:pPr>
            <a:r>
              <a:rPr dirty="0" sz="1200" spc="-5" b="1">
                <a:latin typeface="Times New Roman"/>
                <a:cs typeface="Times New Roman"/>
              </a:rPr>
              <a:t>(C) </a:t>
            </a:r>
            <a:r>
              <a:rPr dirty="0" baseline="6944" sz="1800">
                <a:latin typeface="Times New Roman"/>
                <a:cs typeface="Times New Roman"/>
              </a:rPr>
              <a:t>1- </a:t>
            </a:r>
            <a:r>
              <a:rPr dirty="0" sz="1200">
                <a:latin typeface="Times New Roman"/>
                <a:cs typeface="Times New Roman"/>
              </a:rPr>
              <a:t>From observing </a:t>
            </a:r>
            <a:r>
              <a:rPr dirty="0" sz="1200" spc="-5">
                <a:latin typeface="Times New Roman"/>
                <a:cs typeface="Times New Roman"/>
              </a:rPr>
              <a:t>animal </a:t>
            </a:r>
            <a:r>
              <a:rPr dirty="0" sz="1200">
                <a:latin typeface="Times New Roman"/>
                <a:cs typeface="Times New Roman"/>
              </a:rPr>
              <a:t>behavior to </a:t>
            </a:r>
            <a:r>
              <a:rPr dirty="0" sz="1200" spc="-5">
                <a:latin typeface="Times New Roman"/>
                <a:cs typeface="Times New Roman"/>
              </a:rPr>
              <a:t>measuring </a:t>
            </a:r>
            <a:r>
              <a:rPr dirty="0" sz="1200">
                <a:latin typeface="Times New Roman"/>
                <a:cs typeface="Times New Roman"/>
              </a:rPr>
              <a:t>radio </a:t>
            </a:r>
            <a:r>
              <a:rPr dirty="0" sz="1200" spc="-5">
                <a:latin typeface="Times New Roman"/>
                <a:cs typeface="Times New Roman"/>
              </a:rPr>
              <a:t>signals </a:t>
            </a:r>
            <a:r>
              <a:rPr dirty="0" sz="1200">
                <a:latin typeface="Times New Roman"/>
                <a:cs typeface="Times New Roman"/>
              </a:rPr>
              <a:t>from celestial objects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space, </a:t>
            </a:r>
            <a:r>
              <a:rPr dirty="0" sz="1200" spc="-5">
                <a:latin typeface="Times New Roman"/>
                <a:cs typeface="Times New Roman"/>
              </a:rPr>
              <a:t>scientists </a:t>
            </a:r>
            <a:r>
              <a:rPr dirty="0" sz="1200">
                <a:latin typeface="Times New Roman"/>
                <a:cs typeface="Times New Roman"/>
              </a:rPr>
              <a:t>have tried different </a:t>
            </a:r>
            <a:r>
              <a:rPr dirty="0" sz="1200" spc="-5">
                <a:latin typeface="Times New Roman"/>
                <a:cs typeface="Times New Roman"/>
              </a:rPr>
              <a:t>methods </a:t>
            </a:r>
            <a:r>
              <a:rPr dirty="0" sz="1200">
                <a:latin typeface="Times New Roman"/>
                <a:cs typeface="Times New Roman"/>
              </a:rPr>
              <a:t>to predict </a:t>
            </a:r>
            <a:r>
              <a:rPr dirty="0" sz="1200" spc="-5">
                <a:latin typeface="Times New Roman"/>
                <a:cs typeface="Times New Roman"/>
              </a:rPr>
              <a:t>earthquakes, </a:t>
            </a:r>
            <a:r>
              <a:rPr dirty="0" sz="1200">
                <a:latin typeface="Times New Roman"/>
                <a:cs typeface="Times New Roman"/>
              </a:rPr>
              <a:t>but have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far been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unsuccessful.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baseline="6944" sz="1800">
                <a:latin typeface="Times New Roman"/>
                <a:cs typeface="Times New Roman"/>
              </a:rPr>
              <a:t>2-</a:t>
            </a:r>
            <a:r>
              <a:rPr dirty="0" baseline="6944" sz="1800" spc="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Earthquakes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catastrophic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natural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disasters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loss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12439" y="5508752"/>
            <a:ext cx="153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527802"/>
            <a:ext cx="56280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3202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45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property.	</a:t>
            </a:r>
            <a:r>
              <a:rPr dirty="0" sz="1200" spc="-5">
                <a:latin typeface="Times New Roman"/>
                <a:cs typeface="Times New Roman"/>
              </a:rPr>
              <a:t>Despite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advancements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scientific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5703061"/>
            <a:ext cx="5627370" cy="31877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71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scientists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predict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earthquakes.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4-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history of the science of </a:t>
            </a:r>
            <a:r>
              <a:rPr dirty="0" sz="1200" spc="-5">
                <a:latin typeface="Times New Roman"/>
                <a:cs typeface="Times New Roman"/>
              </a:rPr>
              <a:t>earthquake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prediction,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 detail, and finally </a:t>
            </a:r>
            <a:r>
              <a:rPr dirty="0" sz="1200" spc="-5">
                <a:latin typeface="Times New Roman"/>
                <a:cs typeface="Times New Roman"/>
              </a:rPr>
              <a:t>present data indicating the success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failure ratios of each method. </a:t>
            </a:r>
            <a:r>
              <a:rPr dirty="0" sz="1200">
                <a:latin typeface="Times New Roman"/>
                <a:cs typeface="Times New Roman"/>
              </a:rPr>
              <a:t> Correct</a:t>
            </a:r>
            <a:r>
              <a:rPr dirty="0" sz="1200" spc="-5">
                <a:latin typeface="Times New Roman"/>
                <a:cs typeface="Times New Roman"/>
              </a:rPr>
              <a:t> order:</a:t>
            </a:r>
            <a:r>
              <a:rPr dirty="0" sz="1200" spc="-5" i="1">
                <a:latin typeface="Times New Roman"/>
                <a:cs typeface="Times New Roman"/>
              </a:rPr>
              <a:t>. 2, 3, 1, 4.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Study</a:t>
            </a:r>
            <a:r>
              <a:rPr dirty="0" sz="1200">
                <a:latin typeface="Times New Roman"/>
                <a:cs typeface="Times New Roman"/>
              </a:rPr>
              <a:t> 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thesis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(chronological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order/comparison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contrast)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one</a:t>
            </a:r>
            <a:r>
              <a:rPr dirty="0" sz="1200" spc="-5">
                <a:latin typeface="Times New Roman"/>
                <a:cs typeface="Times New Roman"/>
              </a:rPr>
              <a:t> indicate?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SzPct val="91666"/>
              <a:buAutoNum type="alphaLcParenBoth"/>
              <a:tabLst>
                <a:tab pos="182880" algn="l"/>
              </a:tabLst>
            </a:pPr>
            <a:r>
              <a:rPr dirty="0" sz="1200">
                <a:latin typeface="Times New Roman"/>
                <a:cs typeface="Times New Roman"/>
              </a:rPr>
              <a:t>Beginning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pre-Independence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immediately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Independence,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status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remarkably.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  <a:tabLst>
                <a:tab pos="12312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10"/>
              </a:lnSpc>
              <a:buAutoNum type="alphaLcParenBoth"/>
              <a:tabLst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(Method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Organization: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chronological)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25"/>
              </a:spcBef>
              <a:buAutoNum type="alphaLcParenBoth"/>
            </a:pPr>
            <a:endParaRPr sz="1200">
              <a:latin typeface="Times New Roman"/>
              <a:cs typeface="Times New Roman"/>
            </a:endParaRPr>
          </a:p>
          <a:p>
            <a:pPr lvl="1" marL="12700" marR="5080">
              <a:lnSpc>
                <a:spcPts val="1380"/>
              </a:lnSpc>
              <a:buAutoNum type="alphaLcParenBoth"/>
              <a:tabLst>
                <a:tab pos="240029" algn="l"/>
              </a:tabLst>
            </a:pPr>
            <a:r>
              <a:rPr dirty="0" sz="1200">
                <a:latin typeface="Times New Roman"/>
                <a:cs typeface="Times New Roman"/>
              </a:rPr>
              <a:t>Despite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Zia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status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improved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considerably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still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low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status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West.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28700" y="9052710"/>
            <a:ext cx="1600200" cy="0"/>
          </a:xfrm>
          <a:custGeom>
            <a:avLst/>
            <a:gdLst/>
            <a:ahLst/>
            <a:cxnLst/>
            <a:rect l="l" t="t" r="r" b="b"/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38300" y="7768742"/>
            <a:ext cx="1600200" cy="0"/>
          </a:xfrm>
          <a:custGeom>
            <a:avLst/>
            <a:gdLst/>
            <a:ahLst/>
            <a:cxnLst/>
            <a:rect l="l" t="t" r="r" b="b"/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35356"/>
            <a:ext cx="5892800" cy="8398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2019935">
              <a:lnSpc>
                <a:spcPct val="19170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 </a:t>
            </a:r>
            <a:r>
              <a:rPr dirty="0" sz="1200" b="1">
                <a:latin typeface="Times New Roman"/>
                <a:cs typeface="Times New Roman"/>
              </a:rPr>
              <a:t>(Method of </a:t>
            </a:r>
            <a:r>
              <a:rPr dirty="0" sz="1200" spc="-5" b="1">
                <a:latin typeface="Times New Roman"/>
                <a:cs typeface="Times New Roman"/>
              </a:rPr>
              <a:t>Organization: </a:t>
            </a:r>
            <a:r>
              <a:rPr dirty="0" sz="1200" b="1">
                <a:latin typeface="Times New Roman"/>
                <a:cs typeface="Times New Roman"/>
              </a:rPr>
              <a:t>comparison &amp; contrast)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3.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following are </a:t>
            </a:r>
            <a:r>
              <a:rPr dirty="0" sz="1200" spc="-5">
                <a:latin typeface="Times New Roman"/>
                <a:cs typeface="Times New Roman"/>
              </a:rPr>
              <a:t>thesis statements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both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method of organization and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major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subdivision of the topic are </a:t>
            </a:r>
            <a:r>
              <a:rPr dirty="0" sz="1200" spc="-5">
                <a:latin typeface="Times New Roman"/>
                <a:cs typeface="Times New Roman"/>
              </a:rPr>
              <a:t>indicated.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subdivision will be </a:t>
            </a:r>
            <a:r>
              <a:rPr dirty="0" sz="1200">
                <a:latin typeface="Times New Roman"/>
                <a:cs typeface="Times New Roman"/>
              </a:rPr>
              <a:t>the topic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paragraph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body. Read the </a:t>
            </a: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(i) </a:t>
            </a:r>
            <a:r>
              <a:rPr dirty="0" sz="1200" spc="-5">
                <a:latin typeface="Times New Roman"/>
                <a:cs typeface="Times New Roman"/>
              </a:rPr>
              <a:t>what will be </a:t>
            </a:r>
            <a:r>
              <a:rPr dirty="0" sz="1200">
                <a:latin typeface="Times New Roman"/>
                <a:cs typeface="Times New Roman"/>
              </a:rPr>
              <a:t>the topics of each paragraph (ii)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>
                <a:latin typeface="Times New Roman"/>
                <a:cs typeface="Times New Roman"/>
              </a:rPr>
              <a:t> probably </a:t>
            </a:r>
            <a:r>
              <a:rPr dirty="0" sz="1200" spc="-5">
                <a:latin typeface="Times New Roman"/>
                <a:cs typeface="Times New Roman"/>
              </a:rPr>
              <a:t>contain?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alphaLcParenBoth"/>
              <a:tabLst>
                <a:tab pos="259079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status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women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Pakistan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notably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due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educational </a:t>
            </a:r>
            <a:r>
              <a:rPr dirty="0" sz="1200" spc="-5">
                <a:latin typeface="Times New Roman"/>
                <a:cs typeface="Times New Roman"/>
              </a:rPr>
              <a:t>opportunities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economic</a:t>
            </a:r>
            <a:r>
              <a:rPr dirty="0" sz="1200">
                <a:latin typeface="Times New Roman"/>
                <a:cs typeface="Times New Roman"/>
              </a:rPr>
              <a:t> independence.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  <a:tabLst>
                <a:tab pos="1510665" algn="l"/>
                <a:tab pos="2374265" algn="l"/>
                <a:tab pos="3060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No.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paragraphs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b="1">
                <a:latin typeface="Times New Roman"/>
                <a:cs typeface="Times New Roman"/>
              </a:rPr>
              <a:t>):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b="1">
                <a:latin typeface="Times New Roman"/>
                <a:cs typeface="Times New Roman"/>
              </a:rPr>
              <a:t> 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  <a:buAutoNum type="alphaLcParenBoth" startAt="2"/>
              <a:tabLst>
                <a:tab pos="1911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role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Pakistani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society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undergone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especially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political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participation, </a:t>
            </a:r>
            <a:r>
              <a:rPr dirty="0" sz="1200" spc="-5">
                <a:latin typeface="Times New Roman"/>
                <a:cs typeface="Times New Roman"/>
              </a:rPr>
              <a:t>economic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self </a:t>
            </a:r>
            <a:r>
              <a:rPr dirty="0" sz="1200">
                <a:latin typeface="Times New Roman"/>
                <a:cs typeface="Times New Roman"/>
              </a:rPr>
              <a:t>reliance and job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opportunities.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tabLst>
                <a:tab pos="1840864" algn="l"/>
                <a:tab pos="29076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No.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_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)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-	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498600">
              <a:lnSpc>
                <a:spcPts val="1380"/>
              </a:lnSpc>
              <a:tabLst>
                <a:tab pos="1840864" algn="l"/>
                <a:tab pos="3136265" algn="l"/>
              </a:tabLst>
            </a:pPr>
            <a:r>
              <a:rPr dirty="0" sz="1200">
                <a:latin typeface="Times New Roman"/>
                <a:cs typeface="Times New Roman"/>
              </a:rPr>
              <a:t>-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498600">
              <a:lnSpc>
                <a:spcPts val="1385"/>
              </a:lnSpc>
              <a:tabLst>
                <a:tab pos="1840864" algn="l"/>
                <a:tab pos="3212465" algn="l"/>
              </a:tabLst>
            </a:pPr>
            <a:r>
              <a:rPr dirty="0" sz="1200">
                <a:latin typeface="Times New Roman"/>
                <a:cs typeface="Times New Roman"/>
              </a:rPr>
              <a:t>-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 indent="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Look at the following </a:t>
            </a:r>
            <a:r>
              <a:rPr dirty="0" sz="1200" spc="-5">
                <a:latin typeface="Times New Roman"/>
                <a:cs typeface="Times New Roman"/>
              </a:rPr>
              <a:t>thesis statements.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topic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underlined and the subtopics 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brackets.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punctuation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subtopics.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Font typeface="Times New Roman"/>
              <a:buAutoNum type="romanLcParenBoth"/>
              <a:tabLst>
                <a:tab pos="205740" algn="l"/>
              </a:tabLst>
            </a:pPr>
            <a:r>
              <a:rPr dirty="0" sz="1200">
                <a:latin typeface="Times New Roman"/>
                <a:cs typeface="Times New Roman"/>
              </a:rPr>
              <a:t>Capital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punishment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abolished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deprives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does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</a:t>
            </a:r>
            <a:r>
              <a:rPr dirty="0" sz="1200" spc="-5">
                <a:latin typeface="Times New Roman"/>
                <a:cs typeface="Times New Roman"/>
              </a:rPr>
              <a:t> crime.</a:t>
            </a:r>
            <a:endParaRPr sz="1200">
              <a:latin typeface="Times New Roman"/>
              <a:cs typeface="Times New Roman"/>
            </a:endParaRPr>
          </a:p>
          <a:p>
            <a:pPr marL="12700" marR="3455035">
              <a:lnSpc>
                <a:spcPts val="1380"/>
              </a:lnSpc>
              <a:tabLst>
                <a:tab pos="2348865" algn="l"/>
                <a:tab pos="2429510" algn="l"/>
              </a:tabLst>
            </a:pPr>
            <a:r>
              <a:rPr dirty="0" sz="1200">
                <a:latin typeface="Times New Roman"/>
                <a:cs typeface="Times New Roman"/>
              </a:rPr>
              <a:t>Topic: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 Subtopic: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Words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subtopic: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  <a:tabLst>
                <a:tab pos="596900" algn="l"/>
              </a:tabLst>
            </a:pPr>
            <a:r>
              <a:rPr dirty="0" sz="1200">
                <a:latin typeface="Times New Roman"/>
                <a:cs typeface="Times New Roman"/>
              </a:rPr>
              <a:t>Topic	</a:t>
            </a:r>
            <a:r>
              <a:rPr dirty="0" sz="1200" spc="-5">
                <a:latin typeface="Times New Roman"/>
                <a:cs typeface="Times New Roman"/>
              </a:rPr>
              <a:t>-Capital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punishment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Subtopic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-Deprives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endParaRPr sz="1200">
              <a:latin typeface="Times New Roman"/>
              <a:cs typeface="Times New Roman"/>
            </a:endParaRPr>
          </a:p>
          <a:p>
            <a:pPr marL="58356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-Does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Subtopic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only,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also.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Font typeface="Times New Roman"/>
              <a:buAutoNum type="romanLcParenBoth" startAt="2"/>
              <a:tabLst>
                <a:tab pos="243204" algn="l"/>
              </a:tabLst>
            </a:pP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reasons: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stressful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lives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look 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health.</a:t>
            </a:r>
            <a:endParaRPr sz="1200">
              <a:latin typeface="Times New Roman"/>
              <a:cs typeface="Times New Roman"/>
            </a:endParaRPr>
          </a:p>
          <a:p>
            <a:pPr marL="12700" marR="3573145">
              <a:lnSpc>
                <a:spcPts val="1380"/>
              </a:lnSpc>
              <a:tabLst>
                <a:tab pos="2230755" algn="l"/>
              </a:tabLst>
            </a:pP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-Women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Subtopic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tabLst>
                <a:tab pos="2582545" algn="l"/>
              </a:tabLst>
            </a:pP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subtopic: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 marR="3458845">
              <a:lnSpc>
                <a:spcPts val="1380"/>
              </a:lnSpc>
              <a:spcBef>
                <a:spcPts val="60"/>
              </a:spcBef>
              <a:tabLst>
                <a:tab pos="596900" algn="l"/>
              </a:tabLst>
            </a:pPr>
            <a:r>
              <a:rPr dirty="0" sz="1200">
                <a:latin typeface="Times New Roman"/>
                <a:cs typeface="Times New Roman"/>
              </a:rPr>
              <a:t>Topic	</a:t>
            </a:r>
            <a:r>
              <a:rPr dirty="0" sz="1200" spc="-5">
                <a:latin typeface="Times New Roman"/>
                <a:cs typeface="Times New Roman"/>
              </a:rPr>
              <a:t>-Women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-Less stressful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</a:t>
            </a:r>
            <a:endParaRPr sz="1200">
              <a:latin typeface="Times New Roman"/>
              <a:cs typeface="Times New Roman"/>
            </a:endParaRPr>
          </a:p>
          <a:p>
            <a:pPr marL="5842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-Look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health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3804285" algn="l"/>
              </a:tabLst>
            </a:pPr>
            <a:r>
              <a:rPr dirty="0" sz="1200">
                <a:latin typeface="Times New Roman"/>
                <a:cs typeface="Times New Roman"/>
              </a:rPr>
              <a:t>Words that introduce subtopic: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Punctuation </a:t>
            </a:r>
            <a:r>
              <a:rPr dirty="0" sz="1200" spc="-5">
                <a:latin typeface="Times New Roman"/>
                <a:cs typeface="Times New Roman"/>
              </a:rPr>
              <a:t>mark,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colon	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76400" y="1809902"/>
            <a:ext cx="1905000" cy="0"/>
          </a:xfrm>
          <a:custGeom>
            <a:avLst/>
            <a:gdLst/>
            <a:ahLst/>
            <a:cxnLst/>
            <a:rect l="l" t="t" r="r" b="b"/>
            <a:pathLst>
              <a:path w="1905000" h="0">
                <a:moveTo>
                  <a:pt x="0" y="0"/>
                </a:moveTo>
                <a:lnTo>
                  <a:pt x="19050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028700" y="4088282"/>
            <a:ext cx="2667000" cy="0"/>
          </a:xfrm>
          <a:custGeom>
            <a:avLst/>
            <a:gdLst/>
            <a:ahLst/>
            <a:cxnLst/>
            <a:rect l="l" t="t" r="r" b="b"/>
            <a:pathLst>
              <a:path w="2667000" h="0">
                <a:moveTo>
                  <a:pt x="0" y="0"/>
                </a:moveTo>
                <a:lnTo>
                  <a:pt x="26670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028700" y="4614062"/>
            <a:ext cx="2667000" cy="0"/>
          </a:xfrm>
          <a:custGeom>
            <a:avLst/>
            <a:gdLst/>
            <a:ahLst/>
            <a:cxnLst/>
            <a:rect l="l" t="t" r="r" b="b"/>
            <a:pathLst>
              <a:path w="2667000" h="0">
                <a:moveTo>
                  <a:pt x="0" y="0"/>
                </a:moveTo>
                <a:lnTo>
                  <a:pt x="26670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69240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(iii)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protect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domestic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valuable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materially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emotionally.</a:t>
            </a:r>
            <a:endParaRPr sz="1200">
              <a:latin typeface="Times New Roman"/>
              <a:cs typeface="Times New Roman"/>
            </a:endParaRPr>
          </a:p>
          <a:p>
            <a:pPr marL="12700" marR="3683635">
              <a:lnSpc>
                <a:spcPts val="1380"/>
              </a:lnSpc>
              <a:tabLst>
                <a:tab pos="2129155" algn="l"/>
                <a:tab pos="2200910" algn="l"/>
              </a:tabLst>
            </a:pPr>
            <a:r>
              <a:rPr dirty="0" sz="1200">
                <a:latin typeface="Times New Roman"/>
                <a:cs typeface="Times New Roman"/>
              </a:rPr>
              <a:t>Topic: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1200">
                <a:latin typeface="Times New Roman"/>
                <a:cs typeface="Times New Roman"/>
              </a:rPr>
              <a:t>Sub Topic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tabLst>
                <a:tab pos="2868930" algn="l"/>
              </a:tabLst>
            </a:pPr>
            <a:r>
              <a:rPr dirty="0" sz="1200">
                <a:latin typeface="Times New Roman"/>
                <a:cs typeface="Times New Roman"/>
              </a:rPr>
              <a:t>Subtopic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 marR="3310890">
              <a:lnSpc>
                <a:spcPts val="1380"/>
              </a:lnSpc>
              <a:spcBef>
                <a:spcPts val="60"/>
              </a:spcBef>
              <a:tabLst>
                <a:tab pos="596265" algn="l"/>
              </a:tabLst>
            </a:pPr>
            <a:r>
              <a:rPr dirty="0" sz="1200">
                <a:latin typeface="Times New Roman"/>
                <a:cs typeface="Times New Roman"/>
              </a:rPr>
              <a:t>Topic	- </a:t>
            </a:r>
            <a:r>
              <a:rPr dirty="0" sz="1200" spc="-5">
                <a:latin typeface="Times New Roman"/>
                <a:cs typeface="Times New Roman"/>
              </a:rPr>
              <a:t>Protection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domestic animals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Subtopic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-Valuable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materially</a:t>
            </a:r>
            <a:endParaRPr sz="1200">
              <a:latin typeface="Times New Roman"/>
              <a:cs typeface="Times New Roman"/>
            </a:endParaRPr>
          </a:p>
          <a:p>
            <a:pPr marL="12700" marR="3489325" indent="5715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-Valuable </a:t>
            </a:r>
            <a:r>
              <a:rPr dirty="0" sz="1200" spc="-5">
                <a:latin typeface="Times New Roman"/>
                <a:cs typeface="Times New Roman"/>
              </a:rPr>
              <a:t>emotionally </a:t>
            </a:r>
            <a:r>
              <a:rPr dirty="0" sz="1200">
                <a:latin typeface="Times New Roman"/>
                <a:cs typeface="Times New Roman"/>
              </a:rPr>
              <a:t> Subtopic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-Introductory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because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Compete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correlative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conjunctions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(both…and,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only…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structures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parallel.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94310" indent="-182245">
              <a:lnSpc>
                <a:spcPct val="100000"/>
              </a:lnSpc>
              <a:buAutoNum type="romanLcParenBoth"/>
              <a:tabLst>
                <a:tab pos="194945" algn="l"/>
                <a:tab pos="4836160" algn="l"/>
              </a:tabLst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life </a:t>
            </a:r>
            <a:r>
              <a:rPr dirty="0" sz="1200" spc="-5">
                <a:latin typeface="Times New Roman"/>
                <a:cs typeface="Times New Roman"/>
              </a:rPr>
              <a:t>expectancy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average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increasing</a:t>
            </a:r>
            <a:r>
              <a:rPr dirty="0" sz="1200" spc="-5">
                <a:latin typeface="Times New Roman"/>
                <a:cs typeface="Times New Roman"/>
              </a:rPr>
              <a:t> because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romanLcParenBoth"/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romanLcParenBoth"/>
            </a:pPr>
            <a:endParaRPr sz="1050">
              <a:latin typeface="Times New Roman"/>
              <a:cs typeface="Times New Roman"/>
            </a:endParaRPr>
          </a:p>
          <a:p>
            <a:pPr marL="236854" indent="-224790">
              <a:lnSpc>
                <a:spcPct val="100000"/>
              </a:lnSpc>
              <a:buAutoNum type="romanLcParenBoth"/>
              <a:tabLst>
                <a:tab pos="237490" algn="l"/>
                <a:tab pos="4973320" algn="l"/>
              </a:tabLst>
            </a:pPr>
            <a:r>
              <a:rPr dirty="0" sz="1200">
                <a:latin typeface="Times New Roman"/>
                <a:cs typeface="Times New Roman"/>
              </a:rPr>
              <a:t>Technology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changing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lives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important </a:t>
            </a:r>
            <a:r>
              <a:rPr dirty="0" sz="1200">
                <a:latin typeface="Times New Roman"/>
                <a:cs typeface="Times New Roman"/>
              </a:rPr>
              <a:t>areas: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794885" algn="l"/>
              </a:tabLst>
            </a:pPr>
            <a:r>
              <a:rPr dirty="0" sz="1200">
                <a:latin typeface="Times New Roman"/>
                <a:cs typeface="Times New Roman"/>
              </a:rPr>
              <a:t>iii)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sounds: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270510" indent="-258445">
              <a:lnSpc>
                <a:spcPct val="100000"/>
              </a:lnSpc>
              <a:buAutoNum type="romanLcParenBoth" startAt="4"/>
              <a:tabLst>
                <a:tab pos="271145" algn="l"/>
                <a:tab pos="4922520" algn="l"/>
              </a:tabLst>
            </a:pPr>
            <a:r>
              <a:rPr dirty="0" sz="1200">
                <a:latin typeface="Times New Roman"/>
                <a:cs typeface="Times New Roman"/>
              </a:rPr>
              <a:t>Nobody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watching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television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commercials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romanLcParenBoth" startAt="4"/>
            </a:pPr>
            <a:endParaRPr sz="1100">
              <a:latin typeface="Times New Roman"/>
              <a:cs typeface="Times New Roman"/>
            </a:endParaRPr>
          </a:p>
          <a:p>
            <a:pPr marL="227965" indent="-215900">
              <a:lnSpc>
                <a:spcPct val="100000"/>
              </a:lnSpc>
              <a:buAutoNum type="romanLcParenBoth" startAt="4"/>
              <a:tabLst>
                <a:tab pos="228600" algn="l"/>
                <a:tab pos="536702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qualities: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Answer: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i)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expectancy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average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availability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good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food,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medical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care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better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living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conditions.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romanLcParenBoth" startAt="2"/>
              <a:tabLst>
                <a:tab pos="326390" algn="l"/>
                <a:tab pos="327025" algn="l"/>
                <a:tab pos="1183005" algn="l"/>
                <a:tab pos="1412875" algn="l"/>
                <a:tab pos="2099310" algn="l"/>
                <a:tab pos="2430145" algn="l"/>
                <a:tab pos="2846070" algn="l"/>
                <a:tab pos="3092450" algn="l"/>
                <a:tab pos="3524885" algn="l"/>
                <a:tab pos="4246245" algn="l"/>
                <a:tab pos="4728845" algn="l"/>
              </a:tabLst>
            </a:pPr>
            <a:r>
              <a:rPr dirty="0" sz="1200">
                <a:latin typeface="Times New Roman"/>
                <a:cs typeface="Times New Roman"/>
              </a:rPr>
              <a:t>Technology	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	changing	our	lives	in	three	important	</a:t>
            </a:r>
            <a:r>
              <a:rPr dirty="0" sz="1200" spc="-5">
                <a:latin typeface="Times New Roman"/>
                <a:cs typeface="Times New Roman"/>
              </a:rPr>
              <a:t>areas</a:t>
            </a:r>
            <a:r>
              <a:rPr dirty="0" sz="1200">
                <a:latin typeface="Times New Roman"/>
                <a:cs typeface="Times New Roman"/>
              </a:rPr>
              <a:t>:	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transportation,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communication</a:t>
            </a:r>
            <a:r>
              <a:rPr dirty="0" u="sng" sz="1200" spc="2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entertainment.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romanLcParenBoth" startAt="2"/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romanLcParenBoth" startAt="2"/>
              <a:tabLst>
                <a:tab pos="293370" algn="l"/>
              </a:tabLst>
            </a:pPr>
            <a:r>
              <a:rPr dirty="0" sz="1200">
                <a:latin typeface="Times New Roman"/>
                <a:cs typeface="Times New Roman"/>
              </a:rPr>
              <a:t>Foreign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sounds: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short</a:t>
            </a:r>
            <a:r>
              <a:rPr dirty="0" u="sng" sz="1200" spc="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vowels,</a:t>
            </a:r>
            <a:r>
              <a:rPr dirty="0" u="sng" sz="1200" spc="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diphthongs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certain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fricatives.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romanLcParenBoth" startAt="2"/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romanLcParenBoth" startAt="2"/>
              <a:tabLst>
                <a:tab pos="274320" algn="l"/>
              </a:tabLst>
            </a:pPr>
            <a:r>
              <a:rPr dirty="0" sz="1200">
                <a:latin typeface="Times New Roman"/>
                <a:cs typeface="Times New Roman"/>
              </a:rPr>
              <a:t>Nobody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watching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television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commercials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only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dull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boring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they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repetitive.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romanLcParenBoth" startAt="2"/>
            </a:pP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buAutoNum type="romanLcParenBoth" startAt="2"/>
              <a:tabLst>
                <a:tab pos="24257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good teacher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have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following </a:t>
            </a:r>
            <a:r>
              <a:rPr dirty="0" sz="1200" spc="-5">
                <a:latin typeface="Times New Roman"/>
                <a:cs typeface="Times New Roman"/>
              </a:rPr>
              <a:t>qualities: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 variety of teaching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procedures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in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class,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good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knowledge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and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skill of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subject,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concern for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her</a:t>
            </a:r>
            <a:r>
              <a:rPr dirty="0" u="sng" sz="1200" spc="2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students.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concluding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summary of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points </a:t>
            </a:r>
            <a:r>
              <a:rPr dirty="0" sz="1200" spc="-5">
                <a:latin typeface="Times New Roman"/>
                <a:cs typeface="Times New Roman"/>
              </a:rPr>
              <a:t>discussed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main </a:t>
            </a:r>
            <a:r>
              <a:rPr dirty="0" sz="1200">
                <a:latin typeface="Times New Roman"/>
                <a:cs typeface="Times New Roman"/>
              </a:rPr>
              <a:t>body of 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or by re-writing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 statement </a:t>
            </a:r>
            <a:r>
              <a:rPr dirty="0" sz="1200">
                <a:latin typeface="Times New Roman"/>
                <a:cs typeface="Times New Roman"/>
              </a:rPr>
              <a:t>in different </a:t>
            </a:r>
            <a:r>
              <a:rPr dirty="0" sz="1200" spc="-5">
                <a:latin typeface="Times New Roman"/>
                <a:cs typeface="Times New Roman"/>
              </a:rPr>
              <a:t>words. After </a:t>
            </a:r>
            <a:r>
              <a:rPr dirty="0" sz="1200">
                <a:latin typeface="Times New Roman"/>
                <a:cs typeface="Times New Roman"/>
              </a:rPr>
              <a:t>that you add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final comments on the topic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subject.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going to be your last </a:t>
            </a:r>
            <a:r>
              <a:rPr dirty="0" sz="1200" spc="-5">
                <a:latin typeface="Times New Roman"/>
                <a:cs typeface="Times New Roman"/>
              </a:rPr>
              <a:t>opportunity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your point, you should write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strong, effective </a:t>
            </a:r>
            <a:r>
              <a:rPr dirty="0" sz="1200" spc="-5">
                <a:latin typeface="Times New Roman"/>
                <a:cs typeface="Times New Roman"/>
              </a:rPr>
              <a:t>message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be </a:t>
            </a:r>
            <a:r>
              <a:rPr dirty="0" sz="1200" spc="-5">
                <a:latin typeface="Times New Roman"/>
                <a:cs typeface="Times New Roman"/>
              </a:rPr>
              <a:t>remembered.</a:t>
            </a:r>
            <a:r>
              <a:rPr dirty="0" sz="1200">
                <a:latin typeface="Times New Roman"/>
                <a:cs typeface="Times New Roman"/>
              </a:rPr>
              <a:t> Let 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summarize</a:t>
            </a:r>
            <a:r>
              <a:rPr dirty="0" sz="1200">
                <a:latin typeface="Times New Roman"/>
                <a:cs typeface="Times New Roman"/>
              </a:rPr>
              <a:t> for you.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of:</a:t>
            </a:r>
            <a:endParaRPr sz="1200">
              <a:latin typeface="Times New Roman"/>
              <a:cs typeface="Times New Roman"/>
            </a:endParaRPr>
          </a:p>
          <a:p>
            <a:pPr marL="194310" indent="-182245">
              <a:lnSpc>
                <a:spcPts val="1380"/>
              </a:lnSpc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points.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restatement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410"/>
              </a:lnSpc>
              <a:buAutoNum type="romanLcParenBoth"/>
              <a:tabLst>
                <a:tab pos="280035" algn="l"/>
              </a:tabLst>
            </a:pP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-5">
                <a:latin typeface="Times New Roman"/>
                <a:cs typeface="Times New Roman"/>
              </a:rPr>
              <a:t> comment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Model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Essay: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introduction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conclusion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Advantages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Disadvantages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Twentieth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Century’.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 b="1" i="1">
                <a:latin typeface="Times New Roman"/>
                <a:cs typeface="Times New Roman"/>
              </a:rPr>
              <a:t>(Introduction) </a:t>
            </a:r>
            <a:r>
              <a:rPr dirty="0" sz="1200">
                <a:latin typeface="Times New Roman"/>
                <a:cs typeface="Times New Roman"/>
              </a:rPr>
              <a:t>Anyone born in the twentieth century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have seen a lot of changes take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 in nearly even aspect of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>
                <a:latin typeface="Times New Roman"/>
                <a:cs typeface="Times New Roman"/>
              </a:rPr>
              <a:t> life. While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find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changes </a:t>
            </a:r>
            <a:r>
              <a:rPr dirty="0" sz="1200" spc="-5">
                <a:latin typeface="Times New Roman"/>
                <a:cs typeface="Times New Roman"/>
              </a:rPr>
              <a:t>fascinating, </a:t>
            </a:r>
            <a:r>
              <a:rPr dirty="0" sz="1200">
                <a:latin typeface="Times New Roman"/>
                <a:cs typeface="Times New Roman"/>
              </a:rPr>
              <a:t> others find them discomforting and they want to return to the </a:t>
            </a:r>
            <a:r>
              <a:rPr dirty="0" sz="1200" spc="-5">
                <a:latin typeface="Times New Roman"/>
                <a:cs typeface="Times New Roman"/>
              </a:rPr>
              <a:t>simpler, less mechanical life </a:t>
            </a:r>
            <a:r>
              <a:rPr dirty="0" sz="1200">
                <a:latin typeface="Times New Roman"/>
                <a:cs typeface="Times New Roman"/>
              </a:rPr>
              <a:t> style of the past. </a:t>
            </a:r>
            <a:r>
              <a:rPr dirty="0" sz="1200" spc="-5">
                <a:latin typeface="Times New Roman"/>
                <a:cs typeface="Times New Roman"/>
              </a:rPr>
              <a:t>While </a:t>
            </a:r>
            <a:r>
              <a:rPr dirty="0" sz="1200">
                <a:latin typeface="Times New Roman"/>
                <a:cs typeface="Times New Roman"/>
              </a:rPr>
              <a:t>on the one hand the </a:t>
            </a:r>
            <a:r>
              <a:rPr dirty="0" sz="1200" spc="-5">
                <a:latin typeface="Times New Roman"/>
                <a:cs typeface="Times New Roman"/>
              </a:rPr>
              <a:t>twentieth </a:t>
            </a:r>
            <a:r>
              <a:rPr dirty="0" sz="1200">
                <a:latin typeface="Times New Roman"/>
                <a:cs typeface="Times New Roman"/>
              </a:rPr>
              <a:t>century brought about a high standard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living, on the other it brought along pollution, the weakening of </a:t>
            </a:r>
            <a:r>
              <a:rPr dirty="0" sz="1200" spc="-5">
                <a:latin typeface="Times New Roman"/>
                <a:cs typeface="Times New Roman"/>
              </a:rPr>
              <a:t>human </a:t>
            </a:r>
            <a:r>
              <a:rPr dirty="0" sz="1200">
                <a:latin typeface="Times New Roman"/>
                <a:cs typeface="Times New Roman"/>
              </a:rPr>
              <a:t>relationships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diminishing</a:t>
            </a:r>
            <a:r>
              <a:rPr dirty="0" sz="1200">
                <a:latin typeface="Times New Roman"/>
                <a:cs typeface="Times New Roman"/>
              </a:rPr>
              <a:t> of spiritual and </a:t>
            </a:r>
            <a:r>
              <a:rPr dirty="0" sz="1200" spc="-5">
                <a:latin typeface="Times New Roman"/>
                <a:cs typeface="Times New Roman"/>
              </a:rPr>
              <a:t>moral</a:t>
            </a:r>
            <a:r>
              <a:rPr dirty="0" sz="1200">
                <a:latin typeface="Times New Roman"/>
                <a:cs typeface="Times New Roman"/>
              </a:rPr>
              <a:t> values…………….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…………………………………………..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(Conclusion)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 conclusion</a:t>
            </a:r>
            <a:r>
              <a:rPr dirty="0" sz="1200" spc="-5">
                <a:latin typeface="Times New Roman"/>
                <a:cs typeface="Times New Roman"/>
              </a:rPr>
              <a:t>, although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twentieth century has </a:t>
            </a:r>
            <a:r>
              <a:rPr dirty="0" sz="1200">
                <a:latin typeface="Times New Roman"/>
                <a:cs typeface="Times New Roman"/>
              </a:rPr>
              <a:t>indeed </a:t>
            </a:r>
            <a:r>
              <a:rPr dirty="0" sz="1200" spc="-5">
                <a:latin typeface="Times New Roman"/>
                <a:cs typeface="Times New Roman"/>
              </a:rPr>
              <a:t>given us </a:t>
            </a:r>
            <a:r>
              <a:rPr dirty="0" sz="1200">
                <a:latin typeface="Times New Roman"/>
                <a:cs typeface="Times New Roman"/>
              </a:rPr>
              <a:t>a lot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advantages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moneyed,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healthier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 opinion, not </a:t>
            </a:r>
            <a:r>
              <a:rPr dirty="0" sz="1200" spc="-5">
                <a:latin typeface="Times New Roman"/>
                <a:cs typeface="Times New Roman"/>
              </a:rPr>
              <a:t>made us, </a:t>
            </a:r>
            <a:r>
              <a:rPr dirty="0" sz="120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sensible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happier.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twentieth </a:t>
            </a:r>
            <a:r>
              <a:rPr dirty="0" sz="1200" spc="-5">
                <a:latin typeface="Times New Roman"/>
                <a:cs typeface="Times New Roman"/>
              </a:rPr>
              <a:t>century has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the earth dirtier, the </a:t>
            </a:r>
            <a:r>
              <a:rPr dirty="0" sz="1200" spc="-5">
                <a:latin typeface="Times New Roman"/>
                <a:cs typeface="Times New Roman"/>
              </a:rPr>
              <a:t>people less humane </a:t>
            </a:r>
            <a:r>
              <a:rPr dirty="0" sz="1200">
                <a:latin typeface="Times New Roman"/>
                <a:cs typeface="Times New Roman"/>
              </a:rPr>
              <a:t>and our spiritual lives </a:t>
            </a:r>
            <a:r>
              <a:rPr dirty="0" sz="1200" spc="-5">
                <a:latin typeface="Times New Roman"/>
                <a:cs typeface="Times New Roman"/>
              </a:rPr>
              <a:t>miserable.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continue to enjoy the benefits of modern technology because they release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from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drudgeries of </a:t>
            </a:r>
            <a:r>
              <a:rPr dirty="0" sz="1200" spc="-5">
                <a:latin typeface="Times New Roman"/>
                <a:cs typeface="Times New Roman"/>
              </a:rPr>
              <a:t>manual </a:t>
            </a:r>
            <a:r>
              <a:rPr dirty="0" sz="1200">
                <a:latin typeface="Times New Roman"/>
                <a:cs typeface="Times New Roman"/>
              </a:rPr>
              <a:t>work and allow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the freedom to pursue our interests and objectives.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However, </a:t>
            </a:r>
            <a:r>
              <a:rPr dirty="0" sz="1200" spc="-5">
                <a:latin typeface="Times New Roman"/>
                <a:cs typeface="Times New Roman"/>
              </a:rPr>
              <a:t>we must make </a:t>
            </a:r>
            <a:r>
              <a:rPr dirty="0" sz="1200">
                <a:latin typeface="Times New Roman"/>
                <a:cs typeface="Times New Roman"/>
              </a:rPr>
              <a:t>collective efforts to preserve the earth’s </a:t>
            </a:r>
            <a:r>
              <a:rPr dirty="0" sz="1200" spc="-5">
                <a:latin typeface="Times New Roman"/>
                <a:cs typeface="Times New Roman"/>
              </a:rPr>
              <a:t>natural environment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 generations. </a:t>
            </a:r>
            <a:r>
              <a:rPr dirty="0" sz="1200" spc="-5">
                <a:latin typeface="Times New Roman"/>
                <a:cs typeface="Times New Roman"/>
              </a:rPr>
              <a:t>Also, we </a:t>
            </a:r>
            <a:r>
              <a:rPr dirty="0" sz="1200">
                <a:latin typeface="Times New Roman"/>
                <a:cs typeface="Times New Roman"/>
              </a:rPr>
              <a:t>should try to build relationships with other fellow beings. In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increasingly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becoming</a:t>
            </a:r>
            <a:r>
              <a:rPr dirty="0" sz="1200">
                <a:latin typeface="Times New Roman"/>
                <a:cs typeface="Times New Roman"/>
              </a:rPr>
              <a:t> 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impersonal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mechanized. </a:t>
            </a:r>
            <a:r>
              <a:rPr dirty="0" sz="1200">
                <a:latin typeface="Times New Roman"/>
                <a:cs typeface="Times New Roman"/>
              </a:rPr>
              <a:t> (Concluding paragraph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introduced with </a:t>
            </a:r>
            <a:r>
              <a:rPr dirty="0" sz="1200">
                <a:latin typeface="Times New Roman"/>
                <a:cs typeface="Times New Roman"/>
              </a:rPr>
              <a:t>a transition </a:t>
            </a:r>
            <a:r>
              <a:rPr dirty="0" sz="1200" spc="-5">
                <a:latin typeface="Times New Roman"/>
                <a:cs typeface="Times New Roman"/>
              </a:rPr>
              <a:t>signal </a:t>
            </a:r>
            <a:r>
              <a:rPr dirty="0" sz="1200" spc="-5" b="1" i="1">
                <a:latin typeface="Times New Roman"/>
                <a:cs typeface="Times New Roman"/>
              </a:rPr>
              <a:t>in </a:t>
            </a:r>
            <a:r>
              <a:rPr dirty="0" sz="1200" spc="-10" b="1" i="1">
                <a:latin typeface="Times New Roman"/>
                <a:cs typeface="Times New Roman"/>
              </a:rPr>
              <a:t>conclusion)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Write </a:t>
            </a:r>
            <a:r>
              <a:rPr dirty="0" sz="1200">
                <a:latin typeface="Times New Roman"/>
                <a:cs typeface="Times New Roman"/>
              </a:rPr>
              <a:t>concluding paragraphs for the </a:t>
            </a:r>
            <a:r>
              <a:rPr dirty="0" sz="1200" spc="-5">
                <a:latin typeface="Times New Roman"/>
                <a:cs typeface="Times New Roman"/>
              </a:rPr>
              <a:t>following introductions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summarizing the main </a:t>
            </a:r>
            <a:r>
              <a:rPr dirty="0" sz="1200">
                <a:latin typeface="Times New Roman"/>
                <a:cs typeface="Times New Roman"/>
              </a:rPr>
              <a:t> points or paraphrasing the </a:t>
            </a:r>
            <a:r>
              <a:rPr dirty="0" sz="1200" spc="-5">
                <a:latin typeface="Times New Roman"/>
                <a:cs typeface="Times New Roman"/>
              </a:rPr>
              <a:t>thesis statement </a:t>
            </a:r>
            <a:r>
              <a:rPr dirty="0" sz="1200">
                <a:latin typeface="Times New Roman"/>
                <a:cs typeface="Times New Roman"/>
              </a:rPr>
              <a:t>or adding your own final </a:t>
            </a:r>
            <a:r>
              <a:rPr dirty="0" sz="1200" spc="-5">
                <a:latin typeface="Times New Roman"/>
                <a:cs typeface="Times New Roman"/>
              </a:rPr>
              <a:t>comments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Introduction </a:t>
            </a:r>
            <a:r>
              <a:rPr dirty="0" sz="1200" b="1">
                <a:latin typeface="Times New Roman"/>
                <a:cs typeface="Times New Roman"/>
              </a:rPr>
              <a:t>1: </a:t>
            </a:r>
            <a:r>
              <a:rPr dirty="0" sz="1200">
                <a:latin typeface="Times New Roman"/>
                <a:cs typeface="Times New Roman"/>
              </a:rPr>
              <a:t>Modern life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creating health </a:t>
            </a:r>
            <a:r>
              <a:rPr dirty="0" sz="1200" spc="-5">
                <a:latin typeface="Times New Roman"/>
                <a:cs typeface="Times New Roman"/>
              </a:rPr>
              <a:t>problems. Stress </a:t>
            </a:r>
            <a:r>
              <a:rPr dirty="0" sz="1200">
                <a:latin typeface="Times New Roman"/>
                <a:cs typeface="Times New Roman"/>
              </a:rPr>
              <a:t>affects nearly everyone,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the highly pressurized </a:t>
            </a:r>
            <a:r>
              <a:rPr dirty="0" sz="1200" spc="-5">
                <a:latin typeface="Times New Roman"/>
                <a:cs typeface="Times New Roman"/>
              </a:rPr>
              <a:t>administrator </a:t>
            </a:r>
            <a:r>
              <a:rPr dirty="0" sz="1200">
                <a:latin typeface="Times New Roman"/>
                <a:cs typeface="Times New Roman"/>
              </a:rPr>
              <a:t>to the busy housewife or student. It can cause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variety of physical disorders, ranging from headaches to </a:t>
            </a:r>
            <a:r>
              <a:rPr dirty="0" sz="1200" spc="-5">
                <a:latin typeface="Times New Roman"/>
                <a:cs typeface="Times New Roman"/>
              </a:rPr>
              <a:t>stomach </a:t>
            </a:r>
            <a:r>
              <a:rPr dirty="0" sz="1200">
                <a:latin typeface="Times New Roman"/>
                <a:cs typeface="Times New Roman"/>
              </a:rPr>
              <a:t>ulcers. </a:t>
            </a:r>
            <a:r>
              <a:rPr dirty="0" sz="1200" spc="-5">
                <a:latin typeface="Times New Roman"/>
                <a:cs typeface="Times New Roman"/>
              </a:rPr>
              <a:t>Stress 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that can be cured by </a:t>
            </a:r>
            <a:r>
              <a:rPr dirty="0" sz="1200" spc="-5">
                <a:latin typeface="Times New Roman"/>
                <a:cs typeface="Times New Roman"/>
              </a:rPr>
              <a:t>self-medication </a:t>
            </a:r>
            <a:r>
              <a:rPr dirty="0" sz="1200">
                <a:latin typeface="Times New Roman"/>
                <a:cs typeface="Times New Roman"/>
              </a:rPr>
              <a:t>like the common cold. However, it can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controlled.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learn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enjoying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laugh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going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walks,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maintaining</a:t>
            </a:r>
            <a:r>
              <a:rPr dirty="0" sz="1200">
                <a:latin typeface="Times New Roman"/>
                <a:cs typeface="Times New Roman"/>
              </a:rPr>
              <a:t> warm</a:t>
            </a:r>
            <a:r>
              <a:rPr dirty="0" sz="1200" spc="-5">
                <a:latin typeface="Times New Roman"/>
                <a:cs typeface="Times New Roman"/>
              </a:rPr>
              <a:t> relationship with friends, family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colleagues.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Conclusion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</a:pP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heavy" sz="1200" spc="6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6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end</a:t>
            </a:r>
            <a:r>
              <a:rPr dirty="0" sz="1200" spc="6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feature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physical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disorder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body,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controlled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laugh,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841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780">
              <a:lnSpc>
                <a:spcPts val="1390"/>
              </a:lnSpc>
            </a:pPr>
            <a:r>
              <a:rPr dirty="0" sz="1200" spc="-5">
                <a:latin typeface="Times New Roman"/>
                <a:cs typeface="Times New Roman"/>
              </a:rPr>
              <a:t>walks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by maintaining </a:t>
            </a:r>
            <a:r>
              <a:rPr dirty="0" sz="1200">
                <a:latin typeface="Times New Roman"/>
                <a:cs typeface="Times New Roman"/>
              </a:rPr>
              <a:t>warm </a:t>
            </a:r>
            <a:r>
              <a:rPr dirty="0" sz="1200" spc="-5">
                <a:latin typeface="Times New Roman"/>
                <a:cs typeface="Times New Roman"/>
              </a:rPr>
              <a:t>relationships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friends, family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colleagues.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opinion,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 control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stress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need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to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cultivate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cheerfulness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for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our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own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sake.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Introduction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Television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entertainment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-5">
                <a:latin typeface="Times New Roman"/>
                <a:cs typeface="Times New Roman"/>
              </a:rPr>
              <a:t>walks </a:t>
            </a:r>
            <a:r>
              <a:rPr dirty="0" sz="1200">
                <a:latin typeface="Times New Roman"/>
                <a:cs typeface="Times New Roman"/>
              </a:rPr>
              <a:t>of life enjoy </a:t>
            </a:r>
            <a:r>
              <a:rPr dirty="0" sz="1200" spc="-5">
                <a:latin typeface="Times New Roman"/>
                <a:cs typeface="Times New Roman"/>
              </a:rPr>
              <a:t>watching </a:t>
            </a:r>
            <a:r>
              <a:rPr dirty="0" sz="1200">
                <a:latin typeface="Times New Roman"/>
                <a:cs typeface="Times New Roman"/>
              </a:rPr>
              <a:t>television. It </a:t>
            </a:r>
            <a:r>
              <a:rPr dirty="0" sz="1200" spc="-10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 estimated that the average Pakistani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watches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TV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an average of four hours </a:t>
            </a:r>
            <a:r>
              <a:rPr dirty="0" sz="1200" spc="-5">
                <a:latin typeface="Times New Roman"/>
                <a:cs typeface="Times New Roman"/>
              </a:rPr>
              <a:t>daily. </a:t>
            </a:r>
            <a:r>
              <a:rPr dirty="0" sz="1200">
                <a:latin typeface="Times New Roman"/>
                <a:cs typeface="Times New Roman"/>
              </a:rPr>
              <a:t>Thus, </a:t>
            </a:r>
            <a:r>
              <a:rPr dirty="0" sz="1200" spc="-5">
                <a:latin typeface="Times New Roman"/>
                <a:cs typeface="Times New Roman"/>
              </a:rPr>
              <a:t>TV has </a:t>
            </a:r>
            <a:r>
              <a:rPr dirty="0" sz="1200">
                <a:latin typeface="Times New Roman"/>
                <a:cs typeface="Times New Roman"/>
              </a:rPr>
              <a:t>had a </a:t>
            </a:r>
            <a:r>
              <a:rPr dirty="0" sz="1200" spc="-5">
                <a:latin typeface="Times New Roman"/>
                <a:cs typeface="Times New Roman"/>
              </a:rPr>
              <a:t>tremendous </a:t>
            </a:r>
            <a:r>
              <a:rPr dirty="0" sz="1200">
                <a:latin typeface="Times New Roman"/>
                <a:cs typeface="Times New Roman"/>
              </a:rPr>
              <a:t>influence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its viewers, </a:t>
            </a:r>
            <a:r>
              <a:rPr dirty="0" sz="1200">
                <a:latin typeface="Times New Roman"/>
                <a:cs typeface="Times New Roman"/>
              </a:rPr>
              <a:t>especially </a:t>
            </a:r>
            <a:r>
              <a:rPr dirty="0" sz="1200" spc="-5">
                <a:latin typeface="Times New Roman"/>
                <a:cs typeface="Times New Roman"/>
              </a:rPr>
              <a:t>children. Doctors </a:t>
            </a:r>
            <a:r>
              <a:rPr dirty="0" sz="1200">
                <a:latin typeface="Times New Roman"/>
                <a:cs typeface="Times New Roman"/>
              </a:rPr>
              <a:t>are now of the view that </a:t>
            </a:r>
            <a:r>
              <a:rPr dirty="0" sz="1200" spc="-5">
                <a:latin typeface="Times New Roman"/>
                <a:cs typeface="Times New Roman"/>
              </a:rPr>
              <a:t>children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adversely </a:t>
            </a:r>
            <a:r>
              <a:rPr dirty="0" sz="1200">
                <a:latin typeface="Times New Roman"/>
                <a:cs typeface="Times New Roman"/>
              </a:rPr>
              <a:t> affected by constantly watching </a:t>
            </a:r>
            <a:r>
              <a:rPr dirty="0" sz="1200" spc="-10">
                <a:latin typeface="Times New Roman"/>
                <a:cs typeface="Times New Roman"/>
              </a:rPr>
              <a:t>TV.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due to the </a:t>
            </a:r>
            <a:r>
              <a:rPr dirty="0" sz="1200" spc="-5">
                <a:latin typeface="Times New Roman"/>
                <a:cs typeface="Times New Roman"/>
              </a:rPr>
              <a:t>fact that they </a:t>
            </a:r>
            <a:r>
              <a:rPr dirty="0" sz="1200">
                <a:latin typeface="Times New Roman"/>
                <a:cs typeface="Times New Roman"/>
              </a:rPr>
              <a:t>do not take part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physical activities, spend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reading,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are constantly exposed to a world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violence that can affect </a:t>
            </a:r>
            <a:r>
              <a:rPr dirty="0" sz="1200" spc="-5">
                <a:latin typeface="Times New Roman"/>
                <a:cs typeface="Times New Roman"/>
              </a:rPr>
              <a:t>their immature personalities.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Conclusion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0"/>
              </a:spcBef>
            </a:pP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 </a:t>
            </a:r>
            <a:r>
              <a:rPr dirty="0" u="heavy" sz="1200" spc="-5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sum up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can be said that effects of television especially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children are not beneficial.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Doctors </a:t>
            </a:r>
            <a:r>
              <a:rPr dirty="0" sz="1200">
                <a:latin typeface="Times New Roman"/>
                <a:cs typeface="Times New Roman"/>
              </a:rPr>
              <a:t>think that being glued to the </a:t>
            </a:r>
            <a:r>
              <a:rPr dirty="0" sz="1200" spc="-5">
                <a:latin typeface="Times New Roman"/>
                <a:cs typeface="Times New Roman"/>
              </a:rPr>
              <a:t>mini-screen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hours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stretch and watching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violence has </a:t>
            </a:r>
            <a:r>
              <a:rPr dirty="0" sz="1200">
                <a:latin typeface="Times New Roman"/>
                <a:cs typeface="Times New Roman"/>
              </a:rPr>
              <a:t>adverse </a:t>
            </a:r>
            <a:r>
              <a:rPr dirty="0" sz="1200" spc="-5">
                <a:latin typeface="Times New Roman"/>
                <a:cs typeface="Times New Roman"/>
              </a:rPr>
              <a:t>effects. It will </a:t>
            </a:r>
            <a:r>
              <a:rPr dirty="0" sz="1200">
                <a:latin typeface="Times New Roman"/>
                <a:cs typeface="Times New Roman"/>
              </a:rPr>
              <a:t>not only </a:t>
            </a:r>
            <a:r>
              <a:rPr dirty="0" sz="1200" spc="-5">
                <a:latin typeface="Times New Roman"/>
                <a:cs typeface="Times New Roman"/>
              </a:rPr>
              <a:t>affect their physical </a:t>
            </a:r>
            <a:r>
              <a:rPr dirty="0" sz="1200">
                <a:latin typeface="Times New Roman"/>
                <a:cs typeface="Times New Roman"/>
              </a:rPr>
              <a:t>health and eye sight 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personalities.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(NB: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Transitional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to</a:t>
            </a:r>
            <a:r>
              <a:rPr dirty="0" sz="1200" spc="-5" b="1" i="1">
                <a:latin typeface="Times New Roman"/>
                <a:cs typeface="Times New Roman"/>
              </a:rPr>
              <a:t> sum up;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paraphrase)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Outline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essay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longer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paragraph,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organize your </a:t>
            </a:r>
            <a:r>
              <a:rPr dirty="0" sz="1200" spc="-5">
                <a:latin typeface="Times New Roman"/>
                <a:cs typeface="Times New Roman"/>
              </a:rPr>
              <a:t>thoughts </a:t>
            </a:r>
            <a:r>
              <a:rPr dirty="0" sz="1200">
                <a:latin typeface="Times New Roman"/>
                <a:cs typeface="Times New Roman"/>
              </a:rPr>
              <a:t>and plan your </a:t>
            </a:r>
            <a:r>
              <a:rPr dirty="0" sz="1200" spc="-5">
                <a:latin typeface="Times New Roman"/>
                <a:cs typeface="Times New Roman"/>
              </a:rPr>
              <a:t>essay before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begin to </a:t>
            </a:r>
            <a:r>
              <a:rPr dirty="0" sz="1200" spc="-5">
                <a:latin typeface="Times New Roman"/>
                <a:cs typeface="Times New Roman"/>
              </a:rPr>
              <a:t>write. </a:t>
            </a:r>
            <a:r>
              <a:rPr dirty="0" sz="1200">
                <a:latin typeface="Times New Roman"/>
                <a:cs typeface="Times New Roman"/>
              </a:rPr>
              <a:t>The best way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outline.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then consider how it can be used for writing an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and last have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practice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 outlines. Outlining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useful skill </a:t>
            </a:r>
            <a:r>
              <a:rPr dirty="0" sz="1200">
                <a:latin typeface="Times New Roman"/>
                <a:cs typeface="Times New Roman"/>
              </a:rPr>
              <a:t>to learn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it can be used in both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outline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basically an organization of </a:t>
            </a:r>
            <a:r>
              <a:rPr dirty="0" sz="1200" spc="-5">
                <a:latin typeface="Times New Roman"/>
                <a:cs typeface="Times New Roman"/>
              </a:rPr>
              <a:t>related </a:t>
            </a:r>
            <a:r>
              <a:rPr dirty="0" sz="1200">
                <a:latin typeface="Times New Roman"/>
                <a:cs typeface="Times New Roman"/>
              </a:rPr>
              <a:t>ideas.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>
                <a:latin typeface="Times New Roman"/>
                <a:cs typeface="Times New Roman"/>
              </a:rPr>
              <a:t>of grouping together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presenting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simplified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manner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</a:t>
            </a:r>
            <a:r>
              <a:rPr dirty="0" sz="1200" spc="-5">
                <a:latin typeface="Times New Roman"/>
                <a:cs typeface="Times New Roman"/>
              </a:rPr>
              <a:t> shows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 within</a:t>
            </a:r>
            <a:r>
              <a:rPr dirty="0" sz="1200" spc="-5">
                <a:latin typeface="Times New Roman"/>
                <a:cs typeface="Times New Roman"/>
              </a:rPr>
              <a:t> each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among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Preparing an outline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essentially a </a:t>
            </a:r>
            <a:r>
              <a:rPr dirty="0" sz="1200" spc="-5">
                <a:latin typeface="Times New Roman"/>
                <a:cs typeface="Times New Roman"/>
              </a:rPr>
              <a:t>problem of classifying and organizing. As said earlier, </a:t>
            </a:r>
            <a:r>
              <a:rPr dirty="0" sz="1200">
                <a:latin typeface="Times New Roman"/>
                <a:cs typeface="Times New Roman"/>
              </a:rPr>
              <a:t> 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outline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useful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 communication. </a:t>
            </a:r>
            <a:r>
              <a:rPr dirty="0" sz="1200" spc="-5">
                <a:latin typeface="Times New Roman"/>
                <a:cs typeface="Times New Roman"/>
              </a:rPr>
              <a:t>All writers use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outline </a:t>
            </a:r>
            <a:r>
              <a:rPr dirty="0" sz="1200">
                <a:latin typeface="Times New Roman"/>
                <a:cs typeface="Times New Roman"/>
              </a:rPr>
              <a:t>to help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their writing </a:t>
            </a:r>
            <a:r>
              <a:rPr dirty="0" sz="1200" spc="-5">
                <a:latin typeface="Times New Roman"/>
                <a:cs typeface="Times New Roman"/>
              </a:rPr>
              <a:t>clear. If writers use 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organize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writing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organization </a:t>
            </a:r>
            <a:r>
              <a:rPr dirty="0" sz="1200">
                <a:latin typeface="Times New Roman"/>
                <a:cs typeface="Times New Roman"/>
              </a:rPr>
              <a:t>of writing.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outline </a:t>
            </a:r>
            <a:r>
              <a:rPr dirty="0" sz="1200" spc="-5">
                <a:latin typeface="Times New Roman"/>
                <a:cs typeface="Times New Roman"/>
              </a:rPr>
              <a:t>is like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skeleton </a:t>
            </a:r>
            <a:r>
              <a:rPr dirty="0" sz="1200">
                <a:latin typeface="Times New Roman"/>
                <a:cs typeface="Times New Roman"/>
              </a:rPr>
              <a:t>which helps the </a:t>
            </a:r>
            <a:r>
              <a:rPr dirty="0" sz="1200" spc="-5">
                <a:latin typeface="Times New Roman"/>
                <a:cs typeface="Times New Roman"/>
              </a:rPr>
              <a:t>writer </a:t>
            </a:r>
            <a:r>
              <a:rPr dirty="0" sz="1200">
                <a:latin typeface="Times New Roman"/>
                <a:cs typeface="Times New Roman"/>
              </a:rPr>
              <a:t>to put </a:t>
            </a:r>
            <a:r>
              <a:rPr dirty="0" sz="1200" spc="-5">
                <a:latin typeface="Times New Roman"/>
                <a:cs typeface="Times New Roman"/>
              </a:rPr>
              <a:t>flesh </a:t>
            </a:r>
            <a:r>
              <a:rPr dirty="0" sz="1200">
                <a:latin typeface="Times New Roman"/>
                <a:cs typeface="Times New Roman"/>
              </a:rPr>
              <a:t> around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removes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flesh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see the skeleton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underneath.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city.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 you </a:t>
            </a: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 main causes.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Jot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because:</a:t>
            </a:r>
            <a:endParaRPr sz="1200">
              <a:latin typeface="Times New Roman"/>
              <a:cs typeface="Times New Roman"/>
            </a:endParaRPr>
          </a:p>
          <a:p>
            <a:pPr marL="558165" indent="-88900">
              <a:lnSpc>
                <a:spcPts val="1380"/>
              </a:lnSpc>
              <a:buChar char="-"/>
              <a:tabLst>
                <a:tab pos="558800" algn="l"/>
              </a:tabLst>
            </a:pP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variety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vehicles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</a:t>
            </a:r>
            <a:endParaRPr sz="1200">
              <a:latin typeface="Times New Roman"/>
              <a:cs typeface="Times New Roman"/>
            </a:endParaRPr>
          </a:p>
          <a:p>
            <a:pPr marL="596900" indent="-127635">
              <a:lnSpc>
                <a:spcPts val="1380"/>
              </a:lnSpc>
              <a:buChar char="-"/>
              <a:tabLst>
                <a:tab pos="597535" algn="l"/>
              </a:tabLst>
            </a:pPr>
            <a:r>
              <a:rPr dirty="0" sz="1200">
                <a:latin typeface="Times New Roman"/>
                <a:cs typeface="Times New Roman"/>
              </a:rPr>
              <a:t>Narrow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roads</a:t>
            </a:r>
            <a:endParaRPr sz="1200">
              <a:latin typeface="Times New Roman"/>
              <a:cs typeface="Times New Roman"/>
            </a:endParaRPr>
          </a:p>
          <a:p>
            <a:pPr marL="596265" indent="-127000">
              <a:lnSpc>
                <a:spcPts val="1410"/>
              </a:lnSpc>
              <a:buChar char="-"/>
              <a:tabLst>
                <a:tab pos="596900" algn="l"/>
              </a:tabLst>
            </a:pPr>
            <a:r>
              <a:rPr dirty="0" sz="1200" spc="-5">
                <a:latin typeface="Times New Roman"/>
                <a:cs typeface="Times New Roman"/>
              </a:rPr>
              <a:t>Drivers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Traffic </a:t>
            </a:r>
            <a:r>
              <a:rPr dirty="0" sz="1200" spc="-5">
                <a:latin typeface="Times New Roman"/>
                <a:cs typeface="Times New Roman"/>
              </a:rPr>
              <a:t>is becoming </a:t>
            </a:r>
            <a:r>
              <a:rPr dirty="0" sz="1200">
                <a:latin typeface="Times New Roman"/>
                <a:cs typeface="Times New Roman"/>
              </a:rPr>
              <a:t>a serious problem in </a:t>
            </a:r>
            <a:r>
              <a:rPr dirty="0" sz="1200" spc="-10">
                <a:latin typeface="Times New Roman"/>
                <a:cs typeface="Times New Roman"/>
              </a:rPr>
              <a:t>my </a:t>
            </a:r>
            <a:r>
              <a:rPr dirty="0" sz="1200" spc="-5">
                <a:latin typeface="Times New Roman"/>
                <a:cs typeface="Times New Roman"/>
              </a:rPr>
              <a:t>city…(Name </a:t>
            </a:r>
            <a:r>
              <a:rPr dirty="0" sz="1200">
                <a:latin typeface="Times New Roman"/>
                <a:cs typeface="Times New Roman"/>
              </a:rPr>
              <a:t>of the city) </a:t>
            </a:r>
            <a:r>
              <a:rPr dirty="0" sz="1200" spc="-5">
                <a:latin typeface="Times New Roman"/>
                <a:cs typeface="Times New Roman"/>
              </a:rPr>
              <a:t>There are three </a:t>
            </a:r>
            <a:r>
              <a:rPr dirty="0" sz="1200">
                <a:latin typeface="Times New Roman"/>
                <a:cs typeface="Times New Roman"/>
              </a:rPr>
              <a:t>basic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reasons.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First,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variety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vehicles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moving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moving, </a:t>
            </a:r>
            <a:r>
              <a:rPr dirty="0" sz="1200" spc="-5">
                <a:latin typeface="Times New Roman"/>
                <a:cs typeface="Times New Roman"/>
              </a:rPr>
              <a:t>mechanical </a:t>
            </a:r>
            <a:r>
              <a:rPr dirty="0" sz="1200">
                <a:latin typeface="Times New Roman"/>
                <a:cs typeface="Times New Roman"/>
              </a:rPr>
              <a:t>vehicles like cars, </a:t>
            </a:r>
            <a:r>
              <a:rPr dirty="0" sz="1200" spc="-5">
                <a:latin typeface="Times New Roman"/>
                <a:cs typeface="Times New Roman"/>
              </a:rPr>
              <a:t>buses, </a:t>
            </a:r>
            <a:r>
              <a:rPr dirty="0" sz="1200">
                <a:latin typeface="Times New Roman"/>
                <a:cs typeface="Times New Roman"/>
              </a:rPr>
              <a:t>vans, </a:t>
            </a:r>
            <a:r>
              <a:rPr dirty="0" sz="1200" spc="-5">
                <a:latin typeface="Times New Roman"/>
                <a:cs typeface="Times New Roman"/>
              </a:rPr>
              <a:t>motor </a:t>
            </a:r>
            <a:r>
              <a:rPr dirty="0" sz="1200">
                <a:latin typeface="Times New Roman"/>
                <a:cs typeface="Times New Roman"/>
              </a:rPr>
              <a:t>cycles, </a:t>
            </a:r>
            <a:r>
              <a:rPr dirty="0" sz="1200" spc="-5">
                <a:latin typeface="Times New Roman"/>
                <a:cs typeface="Times New Roman"/>
              </a:rPr>
              <a:t>motor rickshaws,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vehicles,</a:t>
            </a:r>
            <a:r>
              <a:rPr dirty="0" sz="1200">
                <a:latin typeface="Times New Roman"/>
                <a:cs typeface="Times New Roman"/>
              </a:rPr>
              <a:t> like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horse-drawn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coaches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public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transport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‘tongas’,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oxen and horse-driven carts for carrying goods and </a:t>
            </a:r>
            <a:r>
              <a:rPr dirty="0" sz="1200" spc="-5">
                <a:latin typeface="Times New Roman"/>
                <a:cs typeface="Times New Roman"/>
              </a:rPr>
              <a:t>merchandise.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mixture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slow moving </a:t>
            </a:r>
            <a:r>
              <a:rPr dirty="0" sz="1200">
                <a:latin typeface="Times New Roman"/>
                <a:cs typeface="Times New Roman"/>
              </a:rPr>
              <a:t>vehicles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greatest </a:t>
            </a:r>
            <a:r>
              <a:rPr dirty="0" sz="1200">
                <a:latin typeface="Times New Roman"/>
                <a:cs typeface="Times New Roman"/>
              </a:rPr>
              <a:t>of traffic </a:t>
            </a:r>
            <a:r>
              <a:rPr dirty="0" sz="1200" spc="-5">
                <a:latin typeface="Times New Roman"/>
                <a:cs typeface="Times New Roman"/>
              </a:rPr>
              <a:t>problems. </a:t>
            </a:r>
            <a:r>
              <a:rPr dirty="0" sz="1200">
                <a:latin typeface="Times New Roman"/>
                <a:cs typeface="Times New Roman"/>
              </a:rPr>
              <a:t>Moreover, the number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vehicles has </a:t>
            </a:r>
            <a:r>
              <a:rPr dirty="0" sz="1200">
                <a:latin typeface="Times New Roman"/>
                <a:cs typeface="Times New Roman"/>
              </a:rPr>
              <a:t>risen</a:t>
            </a:r>
            <a:r>
              <a:rPr dirty="0" sz="1200" spc="-5">
                <a:latin typeface="Times New Roman"/>
                <a:cs typeface="Times New Roman"/>
              </a:rPr>
              <a:t> considerably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recent </a:t>
            </a:r>
            <a:r>
              <a:rPr dirty="0" sz="1200">
                <a:latin typeface="Times New Roman"/>
                <a:cs typeface="Times New Roman"/>
              </a:rPr>
              <a:t>years.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Another reason is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roads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old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narrow. As </a:t>
            </a:r>
            <a:r>
              <a:rPr dirty="0" sz="1200">
                <a:latin typeface="Times New Roman"/>
                <a:cs typeface="Times New Roman"/>
              </a:rPr>
              <a:t>cars are parked </a:t>
            </a:r>
            <a:r>
              <a:rPr dirty="0" sz="1200" spc="-5">
                <a:latin typeface="Times New Roman"/>
                <a:cs typeface="Times New Roman"/>
              </a:rPr>
              <a:t>along </a:t>
            </a:r>
            <a:r>
              <a:rPr dirty="0" sz="1200">
                <a:latin typeface="Times New Roman"/>
                <a:cs typeface="Times New Roman"/>
              </a:rPr>
              <a:t>the side of 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roads it </a:t>
            </a:r>
            <a:r>
              <a:rPr dirty="0" sz="1200" spc="-5">
                <a:latin typeface="Times New Roman"/>
                <a:cs typeface="Times New Roman"/>
              </a:rPr>
              <a:t>makes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roads more </a:t>
            </a:r>
            <a:r>
              <a:rPr dirty="0" sz="1200">
                <a:latin typeface="Times New Roman"/>
                <a:cs typeface="Times New Roman"/>
              </a:rPr>
              <a:t>narrow, </a:t>
            </a:r>
            <a:r>
              <a:rPr dirty="0" sz="1200" spc="-5">
                <a:latin typeface="Times New Roman"/>
                <a:cs typeface="Times New Roman"/>
              </a:rPr>
              <a:t>leaving </a:t>
            </a:r>
            <a:r>
              <a:rPr dirty="0" sz="1200">
                <a:latin typeface="Times New Roman"/>
                <a:cs typeface="Times New Roman"/>
              </a:rPr>
              <a:t>little </a:t>
            </a:r>
            <a:r>
              <a:rPr dirty="0" sz="1200" spc="-5">
                <a:latin typeface="Times New Roman"/>
                <a:cs typeface="Times New Roman"/>
              </a:rPr>
              <a:t>room for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traffic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move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smoothly.</a:t>
            </a:r>
            <a:r>
              <a:rPr dirty="0" sz="1200">
                <a:latin typeface="Times New Roman"/>
                <a:cs typeface="Times New Roman"/>
              </a:rPr>
              <a:t> Third,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drivers in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city do not obey </a:t>
            </a:r>
            <a:r>
              <a:rPr dirty="0" sz="1200" spc="-5">
                <a:latin typeface="Times New Roman"/>
                <a:cs typeface="Times New Roman"/>
              </a:rPr>
              <a:t>traffic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traffic </a:t>
            </a:r>
            <a:r>
              <a:rPr dirty="0" sz="1200" spc="-5">
                <a:latin typeface="Times New Roman"/>
                <a:cs typeface="Times New Roman"/>
              </a:rPr>
              <a:t>jams </a:t>
            </a:r>
            <a:r>
              <a:rPr dirty="0" sz="1200">
                <a:latin typeface="Times New Roman"/>
                <a:cs typeface="Times New Roman"/>
              </a:rPr>
              <a:t>result from cars going one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buses </a:t>
            </a:r>
            <a:r>
              <a:rPr dirty="0" sz="1200">
                <a:latin typeface="Times New Roman"/>
                <a:cs typeface="Times New Roman"/>
              </a:rPr>
              <a:t>going the opposite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on the same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Thus, there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chaos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the roads of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>
                <a:latin typeface="Times New Roman"/>
                <a:cs typeface="Times New Roman"/>
              </a:rPr>
              <a:t> city.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a reader, who reads the </a:t>
            </a:r>
            <a:r>
              <a:rPr dirty="0" sz="1200" spc="-5">
                <a:latin typeface="Times New Roman"/>
                <a:cs typeface="Times New Roman"/>
              </a:rPr>
              <a:t>above paragraph, </a:t>
            </a:r>
            <a:r>
              <a:rPr dirty="0" sz="1200">
                <a:latin typeface="Times New Roman"/>
                <a:cs typeface="Times New Roman"/>
              </a:rPr>
              <a:t>can easily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out the outline of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 organization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something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719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  <a:tabLst>
                <a:tab pos="1384300" algn="l"/>
              </a:tabLst>
            </a:pP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problems:	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causes</a:t>
            </a:r>
            <a:endParaRPr sz="1200">
              <a:latin typeface="Times New Roman"/>
              <a:cs typeface="Times New Roman"/>
            </a:endParaRPr>
          </a:p>
          <a:p>
            <a:pPr marL="850265" indent="-153035">
              <a:lnSpc>
                <a:spcPts val="1380"/>
              </a:lnSpc>
              <a:buAutoNum type="arabicPeriod"/>
              <a:tabLst>
                <a:tab pos="850900" algn="l"/>
              </a:tabLst>
            </a:pP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variety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vehicles</a:t>
            </a:r>
            <a:endParaRPr sz="1200">
              <a:latin typeface="Times New Roman"/>
              <a:cs typeface="Times New Roman"/>
            </a:endParaRPr>
          </a:p>
          <a:p>
            <a:pPr lvl="1" marL="938530" indent="-88900">
              <a:lnSpc>
                <a:spcPts val="1380"/>
              </a:lnSpc>
              <a:buChar char="-"/>
              <a:tabLst>
                <a:tab pos="939165" algn="l"/>
              </a:tabLst>
            </a:pPr>
            <a:r>
              <a:rPr dirty="0" sz="1200">
                <a:latin typeface="Times New Roman"/>
                <a:cs typeface="Times New Roman"/>
              </a:rPr>
              <a:t>fast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moving</a:t>
            </a:r>
            <a:endParaRPr sz="1200">
              <a:latin typeface="Times New Roman"/>
              <a:cs typeface="Times New Roman"/>
            </a:endParaRPr>
          </a:p>
          <a:p>
            <a:pPr lvl="1" marL="940435" indent="-90170">
              <a:lnSpc>
                <a:spcPts val="1380"/>
              </a:lnSpc>
              <a:buChar char="-"/>
              <a:tabLst>
                <a:tab pos="941069" algn="l"/>
              </a:tabLst>
            </a:pPr>
            <a:r>
              <a:rPr dirty="0" sz="1200" spc="-5">
                <a:latin typeface="Times New Roman"/>
                <a:cs typeface="Times New Roman"/>
              </a:rPr>
              <a:t>slow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moving</a:t>
            </a:r>
            <a:endParaRPr sz="1200">
              <a:latin typeface="Times New Roman"/>
              <a:cs typeface="Times New Roman"/>
            </a:endParaRPr>
          </a:p>
          <a:p>
            <a:pPr marL="812165" indent="-152400">
              <a:lnSpc>
                <a:spcPts val="1380"/>
              </a:lnSpc>
              <a:buAutoNum type="arabicPeriod"/>
              <a:tabLst>
                <a:tab pos="812800" algn="l"/>
              </a:tabLst>
            </a:pPr>
            <a:r>
              <a:rPr dirty="0" sz="1200" spc="-5">
                <a:latin typeface="Times New Roman"/>
                <a:cs typeface="Times New Roman"/>
              </a:rPr>
              <a:t>Narrow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streets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sides</a:t>
            </a:r>
            <a:endParaRPr sz="1200">
              <a:latin typeface="Times New Roman"/>
              <a:cs typeface="Times New Roman"/>
            </a:endParaRPr>
          </a:p>
          <a:p>
            <a:pPr marL="850900" indent="-190500">
              <a:lnSpc>
                <a:spcPts val="1410"/>
              </a:lnSpc>
              <a:buAutoNum type="arabicPeriod"/>
              <a:tabLst>
                <a:tab pos="850900" algn="l"/>
              </a:tabLst>
            </a:pPr>
            <a:r>
              <a:rPr dirty="0" sz="1200" spc="-5">
                <a:latin typeface="Times New Roman"/>
                <a:cs typeface="Times New Roman"/>
              </a:rPr>
              <a:t>Drivers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example,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purposes:</a:t>
            </a:r>
            <a:endParaRPr sz="1200">
              <a:latin typeface="Times New Roman"/>
              <a:cs typeface="Times New Roman"/>
            </a:endParaRPr>
          </a:p>
          <a:p>
            <a:pPr marL="698500" indent="-457200">
              <a:lnSpc>
                <a:spcPts val="1380"/>
              </a:lnSpc>
              <a:buAutoNum type="romanLcParenBoth"/>
              <a:tabLst>
                <a:tab pos="697865" algn="l"/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In writing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purpose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organize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present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effectively</a:t>
            </a:r>
            <a:endParaRPr sz="1200">
              <a:latin typeface="Times New Roman"/>
              <a:cs typeface="Times New Roman"/>
            </a:endParaRPr>
          </a:p>
          <a:p>
            <a:pPr marL="698500" indent="-457200">
              <a:lnSpc>
                <a:spcPts val="1410"/>
              </a:lnSpc>
              <a:buAutoNum type="romanLcParenBoth"/>
              <a:tabLst>
                <a:tab pos="697865" algn="l"/>
                <a:tab pos="698500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organization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relationship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ideas.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outline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 written: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writing of an outline </a:t>
            </a:r>
            <a:r>
              <a:rPr dirty="0" sz="1200" spc="-5">
                <a:latin typeface="Times New Roman"/>
                <a:cs typeface="Times New Roman"/>
              </a:rPr>
              <a:t>will depend </a:t>
            </a:r>
            <a:r>
              <a:rPr dirty="0" sz="1200">
                <a:latin typeface="Times New Roman"/>
                <a:cs typeface="Times New Roman"/>
              </a:rPr>
              <a:t>on the purpose and the subject of the </a:t>
            </a:r>
            <a:r>
              <a:rPr dirty="0" sz="1200" spc="-5">
                <a:latin typeface="Times New Roman"/>
                <a:cs typeface="Times New Roman"/>
              </a:rPr>
              <a:t>essay.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point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one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suits </a:t>
            </a:r>
            <a:r>
              <a:rPr dirty="0" sz="1200">
                <a:latin typeface="Times New Roman"/>
                <a:cs typeface="Times New Roman"/>
              </a:rPr>
              <a:t>everyone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superior on all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occasions.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Look at the first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of an outline. </a:t>
            </a: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>
                <a:latin typeface="Times New Roman"/>
                <a:cs typeface="Times New Roman"/>
              </a:rPr>
              <a:t>you were asked to write on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Shakespeare.</a:t>
            </a:r>
            <a:r>
              <a:rPr dirty="0" sz="1200" spc="-5">
                <a:latin typeface="Times New Roman"/>
                <a:cs typeface="Times New Roman"/>
              </a:rPr>
              <a:t> Now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vast </a:t>
            </a:r>
            <a:r>
              <a:rPr dirty="0" sz="1200">
                <a:latin typeface="Times New Roman"/>
                <a:cs typeface="Times New Roman"/>
              </a:rPr>
              <a:t>topic. The </a:t>
            </a:r>
            <a:r>
              <a:rPr dirty="0" sz="1200" spc="-5">
                <a:latin typeface="Times New Roman"/>
                <a:cs typeface="Times New Roman"/>
              </a:rPr>
              <a:t>easiest way would be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list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all 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Shakespeare wrote. He wrote plays, and poetry. So you have already classified his work-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plays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poetry.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further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divide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plays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three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categories- </a:t>
            </a:r>
            <a:r>
              <a:rPr dirty="0" sz="1200">
                <a:latin typeface="Times New Roman"/>
                <a:cs typeface="Times New Roman"/>
              </a:rPr>
              <a:t> tragedies,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comedies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histories.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divide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poetry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categories: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5">
                <a:latin typeface="Times New Roman"/>
                <a:cs typeface="Times New Roman"/>
              </a:rPr>
              <a:t> poems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sonnets.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Works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Shakespeare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57072" y="5145023"/>
          <a:ext cx="5107305" cy="24168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54580"/>
                <a:gridCol w="2743199"/>
              </a:tblGrid>
              <a:tr h="297179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Macbeth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Othello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Merchant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Venice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9.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Henry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V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31469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3.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King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Henry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IV,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Parts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7377">
                <a:tc>
                  <a:txBody>
                    <a:bodyPr/>
                    <a:lstStyle/>
                    <a:p>
                      <a:pPr marL="679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You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Like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11.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Venus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Adores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6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Romeo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Juliet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12.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Lover’s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Complaint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4329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Midsummer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Night’s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Dream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13.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Sonnets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(154)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615">
                <a:tc>
                  <a:txBody>
                    <a:bodyPr/>
                    <a:lstStyle/>
                    <a:p>
                      <a:pPr marL="679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Richard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III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7888478"/>
            <a:ext cx="2781935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Works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Shakespeare</a:t>
            </a:r>
            <a:endParaRPr sz="1200">
              <a:latin typeface="Times New Roman"/>
              <a:cs typeface="Times New Roman"/>
            </a:endParaRPr>
          </a:p>
          <a:p>
            <a:pPr marL="147955" indent="-135890">
              <a:lnSpc>
                <a:spcPts val="1375"/>
              </a:lnSpc>
              <a:buAutoNum type="romanUcPeriod"/>
              <a:tabLst>
                <a:tab pos="14859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Comedies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75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Merchant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Venice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Midsummer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Night’s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Dream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5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Tempest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415"/>
              </a:lnSpc>
              <a:buAutoNum type="romanUcPeriod"/>
              <a:tabLst>
                <a:tab pos="207645" algn="l"/>
              </a:tabLst>
            </a:pPr>
            <a:r>
              <a:rPr dirty="0" sz="1200" b="1">
                <a:latin typeface="Times New Roman"/>
                <a:cs typeface="Times New Roman"/>
              </a:rPr>
              <a:t>Tragedies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544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926465" indent="-457200">
              <a:lnSpc>
                <a:spcPts val="1410"/>
              </a:lnSpc>
              <a:spcBef>
                <a:spcPts val="1070"/>
              </a:spcBef>
              <a:buChar char="-"/>
              <a:tabLst>
                <a:tab pos="926465" algn="l"/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Hamlet</a:t>
            </a:r>
            <a:endParaRPr sz="1200">
              <a:latin typeface="Times New Roman"/>
              <a:cs typeface="Times New Roman"/>
            </a:endParaRPr>
          </a:p>
          <a:p>
            <a:pPr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Macbeth</a:t>
            </a:r>
            <a:endParaRPr sz="1200">
              <a:latin typeface="Times New Roman"/>
              <a:cs typeface="Times New Roman"/>
            </a:endParaRPr>
          </a:p>
          <a:p>
            <a:pPr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King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</a:t>
            </a:r>
            <a:endParaRPr sz="1200">
              <a:latin typeface="Times New Roman"/>
              <a:cs typeface="Times New Roman"/>
            </a:endParaRPr>
          </a:p>
          <a:p>
            <a:pPr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Othello</a:t>
            </a:r>
            <a:endParaRPr sz="1200">
              <a:latin typeface="Times New Roman"/>
              <a:cs typeface="Times New Roman"/>
            </a:endParaRPr>
          </a:p>
          <a:p>
            <a:pPr marL="266700" indent="-254635">
              <a:lnSpc>
                <a:spcPts val="1380"/>
              </a:lnSpc>
              <a:buAutoNum type="romanUcPeriod" startAt="3"/>
              <a:tabLst>
                <a:tab pos="2673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Histories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Richard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III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Henry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IV,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Henry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IV,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>
                <a:latin typeface="Times New Roman"/>
                <a:cs typeface="Times New Roman"/>
              </a:rPr>
              <a:t>Henry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</a:t>
            </a:r>
            <a:endParaRPr sz="1200">
              <a:latin typeface="Times New Roman"/>
              <a:cs typeface="Times New Roman"/>
            </a:endParaRPr>
          </a:p>
          <a:p>
            <a:pPr marL="257810" indent="-245745">
              <a:lnSpc>
                <a:spcPts val="1380"/>
              </a:lnSpc>
              <a:buAutoNum type="romanUcPeriod" startAt="3"/>
              <a:tabLst>
                <a:tab pos="258445" algn="l"/>
              </a:tabLst>
            </a:pPr>
            <a:r>
              <a:rPr dirty="0" sz="1200" b="1">
                <a:latin typeface="Times New Roman"/>
                <a:cs typeface="Times New Roman"/>
              </a:rPr>
              <a:t>Poems</a:t>
            </a:r>
            <a:endParaRPr sz="1200">
              <a:latin typeface="Times New Roman"/>
              <a:cs typeface="Times New Roman"/>
            </a:endParaRPr>
          </a:p>
          <a:p>
            <a:pPr lvl="1" marL="926465" indent="-457200">
              <a:lnSpc>
                <a:spcPts val="1380"/>
              </a:lnSpc>
              <a:buChar char="-"/>
              <a:tabLst>
                <a:tab pos="926465" algn="l"/>
                <a:tab pos="927100" algn="l"/>
              </a:tabLst>
            </a:pPr>
            <a:r>
              <a:rPr dirty="0" sz="1200" spc="-5">
                <a:latin typeface="Times New Roman"/>
                <a:cs typeface="Times New Roman"/>
              </a:rPr>
              <a:t>Venus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Adonis</a:t>
            </a:r>
            <a:endParaRPr sz="1200">
              <a:latin typeface="Times New Roman"/>
              <a:cs typeface="Times New Roman"/>
            </a:endParaRPr>
          </a:p>
          <a:p>
            <a:pPr lvl="1" marL="964565" indent="-495934">
              <a:lnSpc>
                <a:spcPts val="1380"/>
              </a:lnSpc>
              <a:buChar char="-"/>
              <a:tabLst>
                <a:tab pos="964565" algn="l"/>
                <a:tab pos="9652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Lover’s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Complaint</a:t>
            </a:r>
            <a:endParaRPr sz="1200">
              <a:latin typeface="Times New Roman"/>
              <a:cs typeface="Times New Roman"/>
            </a:endParaRPr>
          </a:p>
          <a:p>
            <a:pPr marL="198120" indent="-186055">
              <a:lnSpc>
                <a:spcPts val="1410"/>
              </a:lnSpc>
              <a:buAutoNum type="romanUcPeriod" startAt="3"/>
              <a:tabLst>
                <a:tab pos="198755" algn="l"/>
                <a:tab pos="85915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Sonnets	</a:t>
            </a:r>
            <a:r>
              <a:rPr dirty="0" sz="1200" spc="-5">
                <a:latin typeface="Times New Roman"/>
                <a:cs typeface="Times New Roman"/>
              </a:rPr>
              <a:t>(154)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noticed the </a:t>
            </a:r>
            <a:r>
              <a:rPr dirty="0" sz="1200" spc="-5">
                <a:latin typeface="Times New Roman"/>
                <a:cs typeface="Times New Roman"/>
              </a:rPr>
              <a:t>names </a:t>
            </a:r>
            <a:r>
              <a:rPr dirty="0" sz="1200">
                <a:latin typeface="Times New Roman"/>
                <a:cs typeface="Times New Roman"/>
              </a:rPr>
              <a:t>are the same in 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and the second list, but the second list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clearer.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Why?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organization.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meaningful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titles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characteristics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</a:t>
            </a:r>
            <a:r>
              <a:rPr dirty="0" sz="1200">
                <a:latin typeface="Times New Roman"/>
                <a:cs typeface="Times New Roman"/>
              </a:rPr>
              <a:t> 5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headings;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comedies,</a:t>
            </a:r>
            <a:r>
              <a:rPr dirty="0" sz="1200">
                <a:latin typeface="Times New Roman"/>
                <a:cs typeface="Times New Roman"/>
              </a:rPr>
              <a:t> tragedies,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histories,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poems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sonnets.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 </a:t>
            </a:r>
            <a:r>
              <a:rPr dirty="0" sz="1200">
                <a:latin typeface="Times New Roman"/>
                <a:cs typeface="Times New Roman"/>
              </a:rPr>
              <a:t>the differences clear and in focusing on one particular difference or category at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outlines.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660400">
              <a:lnSpc>
                <a:spcPct val="100000"/>
              </a:lnSpc>
              <a:tabLst>
                <a:tab pos="324675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	</a:t>
            </a:r>
            <a:r>
              <a:rPr dirty="0" sz="1200" b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5121655"/>
            <a:ext cx="1495425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Books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enjoy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Reading</a:t>
            </a:r>
            <a:endParaRPr sz="1200">
              <a:latin typeface="Times New Roman"/>
              <a:cs typeface="Times New Roman"/>
            </a:endParaRPr>
          </a:p>
          <a:p>
            <a:pPr marL="215265" indent="-127635">
              <a:lnSpc>
                <a:spcPts val="1375"/>
              </a:lnSpc>
              <a:buAutoNum type="romanUcPeriod"/>
              <a:tabLst>
                <a:tab pos="215900" algn="l"/>
              </a:tabLst>
            </a:pPr>
            <a:r>
              <a:rPr dirty="0" sz="1200" spc="-5">
                <a:latin typeface="Times New Roman"/>
                <a:cs typeface="Times New Roman"/>
              </a:rPr>
              <a:t>Fiction</a:t>
            </a:r>
            <a:endParaRPr sz="1200">
              <a:latin typeface="Times New Roman"/>
              <a:cs typeface="Times New Roman"/>
            </a:endParaRPr>
          </a:p>
          <a:p>
            <a:pPr lvl="1" marL="389255" indent="-186690">
              <a:lnSpc>
                <a:spcPts val="1380"/>
              </a:lnSpc>
              <a:buAutoNum type="alphaUcPeriod"/>
              <a:tabLst>
                <a:tab pos="389890" algn="l"/>
              </a:tabLst>
            </a:pPr>
            <a:r>
              <a:rPr dirty="0" sz="1200" spc="-5">
                <a:latin typeface="Times New Roman"/>
                <a:cs typeface="Times New Roman"/>
              </a:rPr>
              <a:t>Sp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thrillers</a:t>
            </a:r>
            <a:endParaRPr sz="1200">
              <a:latin typeface="Times New Roman"/>
              <a:cs typeface="Times New Roman"/>
            </a:endParaRPr>
          </a:p>
          <a:p>
            <a:pPr lvl="1" marL="381000" indent="-178435">
              <a:lnSpc>
                <a:spcPts val="1410"/>
              </a:lnSpc>
              <a:buAutoNum type="alphaUcPeriod"/>
              <a:tabLst>
                <a:tab pos="381635" algn="l"/>
              </a:tabLst>
            </a:pPr>
            <a:r>
              <a:rPr dirty="0" sz="1200">
                <a:latin typeface="Times New Roman"/>
                <a:cs typeface="Times New Roman"/>
              </a:rPr>
              <a:t>Historical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Novels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491881" y="5121655"/>
            <a:ext cx="1494790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Books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 enjoy Reading</a:t>
            </a:r>
            <a:endParaRPr sz="1200">
              <a:latin typeface="Times New Roman"/>
              <a:cs typeface="Times New Roman"/>
            </a:endParaRPr>
          </a:p>
          <a:p>
            <a:pPr marL="139065" indent="-127000">
              <a:lnSpc>
                <a:spcPts val="1375"/>
              </a:lnSpc>
              <a:buAutoNum type="romanUcPeriod"/>
              <a:tabLst>
                <a:tab pos="139700" algn="l"/>
              </a:tabLst>
            </a:pPr>
            <a:r>
              <a:rPr dirty="0" sz="1200" spc="-5">
                <a:latin typeface="Times New Roman"/>
                <a:cs typeface="Times New Roman"/>
              </a:rPr>
              <a:t>Fiction</a:t>
            </a:r>
            <a:endParaRPr sz="1200">
              <a:latin typeface="Times New Roman"/>
              <a:cs typeface="Times New Roman"/>
            </a:endParaRPr>
          </a:p>
          <a:p>
            <a:pPr lvl="1" marL="313690" indent="-186690">
              <a:lnSpc>
                <a:spcPts val="1380"/>
              </a:lnSpc>
              <a:buAutoNum type="alphaUcPeriod"/>
              <a:tabLst>
                <a:tab pos="314325" algn="l"/>
              </a:tabLst>
            </a:pP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Stories</a:t>
            </a:r>
            <a:endParaRPr sz="1200">
              <a:latin typeface="Times New Roman"/>
              <a:cs typeface="Times New Roman"/>
            </a:endParaRPr>
          </a:p>
          <a:p>
            <a:pPr lvl="1" marL="305435" indent="-178435">
              <a:lnSpc>
                <a:spcPts val="1380"/>
              </a:lnSpc>
              <a:buAutoNum type="alphaUcPeriod"/>
              <a:tabLst>
                <a:tab pos="306070" algn="l"/>
              </a:tabLst>
            </a:pPr>
            <a:r>
              <a:rPr dirty="0" sz="1200">
                <a:latin typeface="Times New Roman"/>
                <a:cs typeface="Times New Roman"/>
              </a:rPr>
              <a:t>Historical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Roman</a:t>
            </a:r>
            <a:endParaRPr sz="1200">
              <a:latin typeface="Times New Roman"/>
              <a:cs typeface="Times New Roman"/>
            </a:endParaRPr>
          </a:p>
          <a:p>
            <a:pPr lvl="1" marL="305435" indent="-178435">
              <a:lnSpc>
                <a:spcPts val="1410"/>
              </a:lnSpc>
              <a:buAutoNum type="alphaUcPeriod"/>
              <a:tabLst>
                <a:tab pos="305435" algn="l"/>
              </a:tabLst>
            </a:pPr>
            <a:r>
              <a:rPr dirty="0" sz="1200" spc="-5">
                <a:latin typeface="Times New Roman"/>
                <a:cs typeface="Times New Roman"/>
              </a:rPr>
              <a:t>Spy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Thrillers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54039" y="5996432"/>
            <a:ext cx="113030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9865" indent="-177800">
              <a:lnSpc>
                <a:spcPts val="1410"/>
              </a:lnSpc>
              <a:spcBef>
                <a:spcPts val="100"/>
              </a:spcBef>
              <a:buAutoNum type="romanUcPeriod" startAt="2"/>
              <a:tabLst>
                <a:tab pos="190500" algn="l"/>
              </a:tabLst>
            </a:pP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Stories</a:t>
            </a:r>
            <a:endParaRPr sz="1200">
              <a:latin typeface="Times New Roman"/>
              <a:cs typeface="Times New Roman"/>
            </a:endParaRPr>
          </a:p>
          <a:p>
            <a:pPr marL="241300" indent="-229235">
              <a:lnSpc>
                <a:spcPts val="1380"/>
              </a:lnSpc>
              <a:buAutoNum type="romanUcPeriod" startAt="2"/>
              <a:tabLst>
                <a:tab pos="241935" algn="l"/>
              </a:tabLst>
            </a:pPr>
            <a:r>
              <a:rPr dirty="0" sz="1200">
                <a:latin typeface="Times New Roman"/>
                <a:cs typeface="Times New Roman"/>
              </a:rPr>
              <a:t>Non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Fiction</a:t>
            </a:r>
            <a:endParaRPr sz="1200">
              <a:latin typeface="Times New Roman"/>
              <a:cs typeface="Times New Roman"/>
            </a:endParaRPr>
          </a:p>
          <a:p>
            <a:pPr lvl="1" marL="389255" indent="-186690">
              <a:lnSpc>
                <a:spcPts val="1380"/>
              </a:lnSpc>
              <a:buAutoNum type="alphaUcPeriod"/>
              <a:tabLst>
                <a:tab pos="389890" algn="l"/>
              </a:tabLst>
            </a:pPr>
            <a:r>
              <a:rPr dirty="0" sz="1200" spc="-5">
                <a:latin typeface="Times New Roman"/>
                <a:cs typeface="Times New Roman"/>
              </a:rPr>
              <a:t>Inventors</a:t>
            </a:r>
            <a:endParaRPr sz="1200">
              <a:latin typeface="Times New Roman"/>
              <a:cs typeface="Times New Roman"/>
            </a:endParaRPr>
          </a:p>
          <a:p>
            <a:pPr lvl="1" marL="381000" indent="-178435">
              <a:lnSpc>
                <a:spcPts val="1410"/>
              </a:lnSpc>
              <a:buAutoNum type="alphaUcPeriod"/>
              <a:tabLst>
                <a:tab pos="381635" algn="l"/>
              </a:tabLst>
            </a:pPr>
            <a:r>
              <a:rPr dirty="0" sz="1200">
                <a:latin typeface="Times New Roman"/>
                <a:cs typeface="Times New Roman"/>
              </a:rPr>
              <a:t>Biographies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92227" y="6171691"/>
            <a:ext cx="204343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0" indent="-178435">
              <a:lnSpc>
                <a:spcPts val="1410"/>
              </a:lnSpc>
              <a:spcBef>
                <a:spcPts val="100"/>
              </a:spcBef>
              <a:buAutoNum type="romanUcPeriod" startAt="2"/>
              <a:tabLst>
                <a:tab pos="191135" algn="l"/>
              </a:tabLst>
            </a:pPr>
            <a:r>
              <a:rPr dirty="0" sz="1200">
                <a:latin typeface="Times New Roman"/>
                <a:cs typeface="Times New Roman"/>
              </a:rPr>
              <a:t>Non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Fiction</a:t>
            </a:r>
            <a:endParaRPr sz="1200">
              <a:latin typeface="Times New Roman"/>
              <a:cs typeface="Times New Roman"/>
            </a:endParaRPr>
          </a:p>
          <a:p>
            <a:pPr lvl="1" marL="350520" indent="-186690">
              <a:lnSpc>
                <a:spcPts val="1380"/>
              </a:lnSpc>
              <a:buAutoNum type="alphaUcPeriod"/>
              <a:tabLst>
                <a:tab pos="351155" algn="l"/>
              </a:tabLst>
            </a:pPr>
            <a:r>
              <a:rPr dirty="0" sz="1200">
                <a:latin typeface="Times New Roman"/>
                <a:cs typeface="Times New Roman"/>
              </a:rPr>
              <a:t>Biographies</a:t>
            </a:r>
            <a:endParaRPr sz="1200">
              <a:latin typeface="Times New Roman"/>
              <a:cs typeface="Times New Roman"/>
            </a:endParaRPr>
          </a:p>
          <a:p>
            <a:pPr lvl="1" marL="341630" indent="-178435">
              <a:lnSpc>
                <a:spcPts val="1380"/>
              </a:lnSpc>
              <a:buAutoNum type="alphaUcPeriod"/>
              <a:tabLst>
                <a:tab pos="342265" algn="l"/>
              </a:tabLst>
            </a:pP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/Medical</a:t>
            </a:r>
            <a:endParaRPr sz="1200">
              <a:latin typeface="Times New Roman"/>
              <a:cs typeface="Times New Roman"/>
            </a:endParaRPr>
          </a:p>
          <a:p>
            <a:pPr marL="316865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Science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Exploration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7047992"/>
            <a:ext cx="5627370" cy="1785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9554" indent="-237490">
              <a:lnSpc>
                <a:spcPts val="1410"/>
              </a:lnSpc>
              <a:spcBef>
                <a:spcPts val="100"/>
              </a:spcBef>
              <a:buAutoNum type="romanUcPeriod" startAt="4"/>
              <a:tabLst>
                <a:tab pos="250190" algn="l"/>
              </a:tabLst>
            </a:pPr>
            <a:r>
              <a:rPr dirty="0" sz="1200" spc="-5">
                <a:latin typeface="Times New Roman"/>
                <a:cs typeface="Times New Roman"/>
              </a:rPr>
              <a:t>Military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Heroes</a:t>
            </a:r>
            <a:endParaRPr sz="1200">
              <a:latin typeface="Times New Roman"/>
              <a:cs typeface="Times New Roman"/>
            </a:endParaRPr>
          </a:p>
          <a:p>
            <a:pPr marL="236854" indent="-186690">
              <a:lnSpc>
                <a:spcPts val="1410"/>
              </a:lnSpc>
              <a:buAutoNum type="romanUcPeriod" startAt="4"/>
              <a:tabLst>
                <a:tab pos="236854" algn="l"/>
              </a:tabLst>
            </a:pPr>
            <a:r>
              <a:rPr dirty="0" sz="1200">
                <a:latin typeface="Times New Roman"/>
                <a:cs typeface="Times New Roman"/>
              </a:rPr>
              <a:t>Science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Exploration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Example (A) is </a:t>
            </a:r>
            <a:r>
              <a:rPr dirty="0" sz="1200">
                <a:latin typeface="Times New Roman"/>
                <a:cs typeface="Times New Roman"/>
              </a:rPr>
              <a:t>a poor topic </a:t>
            </a:r>
            <a:r>
              <a:rPr dirty="0" sz="1200" spc="-5">
                <a:latin typeface="Times New Roman"/>
                <a:cs typeface="Times New Roman"/>
              </a:rPr>
              <a:t>outline 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confused;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topics are not of equal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importance outline.</a:t>
            </a:r>
            <a:r>
              <a:rPr dirty="0" sz="1200">
                <a:latin typeface="Times New Roman"/>
                <a:cs typeface="Times New Roman"/>
              </a:rPr>
              <a:t> Example (B)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a good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 </a:t>
            </a:r>
            <a:r>
              <a:rPr dirty="0" sz="1200" spc="-5">
                <a:latin typeface="Times New Roman"/>
                <a:cs typeface="Times New Roman"/>
              </a:rPr>
              <a:t>outline.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two examples of </a:t>
            </a:r>
            <a:r>
              <a:rPr dirty="0" sz="1200">
                <a:latin typeface="Times New Roman"/>
                <a:cs typeface="Times New Roman"/>
              </a:rPr>
              <a:t>topic </a:t>
            </a:r>
            <a:r>
              <a:rPr dirty="0" sz="1200" spc="-5">
                <a:latin typeface="Times New Roman"/>
                <a:cs typeface="Times New Roman"/>
              </a:rPr>
              <a:t>outlines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 i="1">
                <a:latin typeface="Times New Roman"/>
                <a:cs typeface="Times New Roman"/>
              </a:rPr>
              <a:t>Works of Shakespeare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Books </a:t>
            </a:r>
            <a:r>
              <a:rPr dirty="0" sz="1200" i="1">
                <a:latin typeface="Times New Roman"/>
                <a:cs typeface="Times New Roman"/>
              </a:rPr>
              <a:t>I </a:t>
            </a:r>
            <a:r>
              <a:rPr dirty="0" sz="1200" spc="-5" i="1">
                <a:latin typeface="Times New Roman"/>
                <a:cs typeface="Times New Roman"/>
              </a:rPr>
              <a:t>Enjoy Reading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topics </a:t>
            </a:r>
            <a:r>
              <a:rPr dirty="0" sz="1200">
                <a:latin typeface="Times New Roman"/>
                <a:cs typeface="Times New Roman"/>
              </a:rPr>
              <a:t>are arranged in a </a:t>
            </a:r>
            <a:r>
              <a:rPr dirty="0" sz="1200" spc="-5">
                <a:latin typeface="Times New Roman"/>
                <a:cs typeface="Times New Roman"/>
              </a:rPr>
              <a:t>logical order. </a:t>
            </a:r>
            <a:r>
              <a:rPr dirty="0" sz="1200">
                <a:latin typeface="Times New Roman"/>
                <a:cs typeface="Times New Roman"/>
              </a:rPr>
              <a:t>You have noticed that only topics </a:t>
            </a:r>
            <a:r>
              <a:rPr dirty="0" sz="1200" spc="-5">
                <a:latin typeface="Times New Roman"/>
                <a:cs typeface="Times New Roman"/>
              </a:rPr>
              <a:t>are given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topic begins with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capital </a:t>
            </a:r>
            <a:r>
              <a:rPr dirty="0" sz="1200">
                <a:latin typeface="Times New Roman"/>
                <a:cs typeface="Times New Roman"/>
              </a:rPr>
              <a:t>letter.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>
                <a:latin typeface="Times New Roman"/>
                <a:cs typeface="Times New Roman"/>
              </a:rPr>
              <a:t>they are </a:t>
            </a:r>
            <a:r>
              <a:rPr dirty="0" sz="1200" spc="-5">
                <a:latin typeface="Times New Roman"/>
                <a:cs typeface="Times New Roman"/>
              </a:rPr>
              <a:t>topics </a:t>
            </a:r>
            <a:r>
              <a:rPr dirty="0" sz="1200">
                <a:latin typeface="Times New Roman"/>
                <a:cs typeface="Times New Roman"/>
              </a:rPr>
              <a:t>and not full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a full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stop/period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996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Each topic of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rank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expressed in </a:t>
            </a:r>
            <a:r>
              <a:rPr dirty="0" sz="1200" spc="-5">
                <a:latin typeface="Times New Roman"/>
                <a:cs typeface="Times New Roman"/>
              </a:rPr>
              <a:t>the same </a:t>
            </a:r>
            <a:r>
              <a:rPr dirty="0" sz="1200">
                <a:latin typeface="Times New Roman"/>
                <a:cs typeface="Times New Roman"/>
              </a:rPr>
              <a:t>grammatical </a:t>
            </a:r>
            <a:r>
              <a:rPr dirty="0" sz="1200" spc="-5">
                <a:latin typeface="Times New Roman"/>
                <a:cs typeface="Times New Roman"/>
              </a:rPr>
              <a:t>form. Also, </a:t>
            </a:r>
            <a:r>
              <a:rPr dirty="0" sz="1200">
                <a:latin typeface="Times New Roman"/>
                <a:cs typeface="Times New Roman"/>
              </a:rPr>
              <a:t>notice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indentation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system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outlining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presented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brief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410"/>
              </a:lnSpc>
              <a:spcBef>
                <a:spcPts val="1165"/>
              </a:spcBef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Jot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90500" algn="l"/>
              </a:tabLst>
            </a:pPr>
            <a:r>
              <a:rPr dirty="0" sz="1200">
                <a:latin typeface="Times New Roman"/>
                <a:cs typeface="Times New Roman"/>
              </a:rPr>
              <a:t>Arrange these ideas in a satisfactory natural or logical order with headings and sub-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headings.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jotted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 they 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fit in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purpose.</a:t>
            </a:r>
            <a:endParaRPr sz="1200">
              <a:latin typeface="Times New Roman"/>
              <a:cs typeface="Times New Roman"/>
            </a:endParaRPr>
          </a:p>
          <a:p>
            <a:pPr algn="just" marL="165100" marR="2752725" indent="-1651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Label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headings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sub-headings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carefully: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Main</a:t>
            </a:r>
            <a:r>
              <a:rPr dirty="0" sz="1200" spc="-5">
                <a:latin typeface="Times New Roman"/>
                <a:cs typeface="Times New Roman"/>
              </a:rPr>
              <a:t> headings:</a:t>
            </a:r>
            <a:r>
              <a:rPr dirty="0" sz="1200">
                <a:latin typeface="Times New Roman"/>
                <a:cs typeface="Times New Roman"/>
              </a:rPr>
              <a:t> I,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II, </a:t>
            </a:r>
            <a:r>
              <a:rPr dirty="0" sz="1200" spc="-5">
                <a:latin typeface="Times New Roman"/>
                <a:cs typeface="Times New Roman"/>
              </a:rPr>
              <a:t>III…………</a:t>
            </a:r>
            <a:endParaRPr sz="1200">
              <a:latin typeface="Times New Roman"/>
              <a:cs typeface="Times New Roman"/>
            </a:endParaRPr>
          </a:p>
          <a:p>
            <a:pPr algn="just" marL="546100" marR="3010535" indent="-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Sub-headings: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C……………….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Further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sub-divisions: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endParaRPr sz="1200">
              <a:latin typeface="Times New Roman"/>
              <a:cs typeface="Times New Roman"/>
            </a:endParaRPr>
          </a:p>
          <a:p>
            <a:pPr algn="just" marL="12700" marR="3068955">
              <a:lnSpc>
                <a:spcPts val="1380"/>
              </a:lnSpc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Indent: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outline</a:t>
            </a:r>
            <a:r>
              <a:rPr dirty="0" sz="1200" spc="-5">
                <a:latin typeface="Times New Roman"/>
                <a:cs typeface="Times New Roman"/>
              </a:rPr>
              <a:t> as follows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I………………………………………</a:t>
            </a:r>
            <a:endParaRPr sz="1200">
              <a:latin typeface="Times New Roman"/>
              <a:cs typeface="Times New Roman"/>
            </a:endParaRPr>
          </a:p>
          <a:p>
            <a:pPr algn="r" marL="927100" marR="340042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A………………………..  B………………………..</a:t>
            </a:r>
            <a:endParaRPr sz="1200">
              <a:latin typeface="Times New Roman"/>
              <a:cs typeface="Times New Roman"/>
            </a:endParaRPr>
          </a:p>
          <a:p>
            <a:pPr algn="r" marR="3446779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II……………………………………….</a:t>
            </a:r>
            <a:endParaRPr sz="1200">
              <a:latin typeface="Times New Roman"/>
              <a:cs typeface="Times New Roman"/>
            </a:endParaRPr>
          </a:p>
          <a:p>
            <a:pPr marL="927100" marR="316801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A………………………….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1…………………………….</a:t>
            </a:r>
            <a:endParaRPr sz="1200">
              <a:latin typeface="Times New Roman"/>
              <a:cs typeface="Times New Roman"/>
            </a:endParaRPr>
          </a:p>
          <a:p>
            <a:pPr marL="926465" marR="28371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2…………………………….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B………………………………….  C…………………………………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>
                <a:latin typeface="Times New Roman"/>
                <a:cs typeface="Times New Roman"/>
              </a:rPr>
              <a:t>III………………………………………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184086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Subject:	</a:t>
            </a:r>
            <a:r>
              <a:rPr dirty="0" sz="1200" b="1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Ideas: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(bus,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aeroplane,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etc.)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journey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Peshawar</a:t>
            </a:r>
            <a:endParaRPr sz="1200">
              <a:latin typeface="Times New Roman"/>
              <a:cs typeface="Times New Roman"/>
            </a:endParaRPr>
          </a:p>
          <a:p>
            <a:pPr marL="127000" marR="3108325" indent="-768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“To</a:t>
            </a:r>
            <a:r>
              <a:rPr dirty="0" sz="1200" spc="-5">
                <a:latin typeface="Times New Roman"/>
                <a:cs typeface="Times New Roman"/>
              </a:rPr>
              <a:t> travel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hopefully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 </a:t>
            </a:r>
            <a:r>
              <a:rPr dirty="0" sz="1200">
                <a:latin typeface="Times New Roman"/>
                <a:cs typeface="Times New Roman"/>
              </a:rPr>
              <a:t>than to </a:t>
            </a:r>
            <a:r>
              <a:rPr dirty="0" sz="1200" spc="-5">
                <a:latin typeface="Times New Roman"/>
                <a:cs typeface="Times New Roman"/>
              </a:rPr>
              <a:t>arrive.”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(R.L.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Stevenson)</a:t>
            </a:r>
            <a:endParaRPr sz="1200">
              <a:latin typeface="Times New Roman"/>
              <a:cs typeface="Times New Roman"/>
            </a:endParaRPr>
          </a:p>
          <a:p>
            <a:pPr marL="50800" marR="298196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Bacon’s ‘Essay on Travel’, Other travel books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Educational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Holidays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</a:t>
            </a:r>
            <a:endParaRPr sz="1200">
              <a:latin typeface="Times New Roman"/>
              <a:cs typeface="Times New Roman"/>
            </a:endParaRPr>
          </a:p>
          <a:p>
            <a:pPr marL="88265" marR="1669414" indent="-38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Countries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problem,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Haj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Customs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Preparation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Outline: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Guiding</a:t>
            </a:r>
            <a:r>
              <a:rPr dirty="0" sz="1200" spc="-5">
                <a:latin typeface="Times New Roman"/>
                <a:cs typeface="Times New Roman"/>
              </a:rPr>
              <a:t> purpose: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Personal: Why</a:t>
            </a:r>
            <a:r>
              <a:rPr dirty="0" sz="1200">
                <a:latin typeface="Times New Roman"/>
                <a:cs typeface="Times New Roman"/>
              </a:rPr>
              <a:t> 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like </a:t>
            </a:r>
            <a:r>
              <a:rPr dirty="0" sz="1200">
                <a:latin typeface="Times New Roman"/>
                <a:cs typeface="Times New Roman"/>
              </a:rPr>
              <a:t>to travel.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I.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Value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‘Travel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younger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education;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elder,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part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experience’--Bacon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7398511"/>
            <a:ext cx="17399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930826" y="7398511"/>
            <a:ext cx="347345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Knowledge from books e.g. ‘From Oxus to Jumna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experience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Iran,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Afghanistan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44600" y="7750556"/>
            <a:ext cx="177800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Pleasures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  <a:p>
            <a:pPr marL="240665">
              <a:lnSpc>
                <a:spcPts val="1405"/>
              </a:lnSpc>
              <a:tabLst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A.	Seeing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30400" y="8099552"/>
            <a:ext cx="1270000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indent="-153035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Cities,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buildings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Countryside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Historical </a:t>
            </a:r>
            <a:r>
              <a:rPr dirty="0" sz="1200" spc="-5">
                <a:latin typeface="Times New Roman"/>
                <a:cs typeface="Times New Roman"/>
              </a:rPr>
              <a:t>sites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people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Customs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200" y="8625332"/>
            <a:ext cx="165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0369" y="8975852"/>
            <a:ext cx="838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241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III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200" y="913892"/>
            <a:ext cx="12261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Methods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73184" y="1089152"/>
            <a:ext cx="17399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30735" y="1089152"/>
            <a:ext cx="385064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car,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see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country, meet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Aeroplane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quicker).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1441195"/>
            <a:ext cx="262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iviv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2819" y="1441195"/>
            <a:ext cx="1075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Desire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200" y="1614931"/>
            <a:ext cx="17399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30704" y="1614931"/>
            <a:ext cx="128714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travel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1965452"/>
            <a:ext cx="5627370" cy="33629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1936114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V.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Preparations for Travel </a:t>
            </a:r>
            <a:r>
              <a:rPr dirty="0" sz="1200">
                <a:latin typeface="Times New Roman"/>
                <a:cs typeface="Times New Roman"/>
              </a:rPr>
              <a:t>– passport, visa, buy ticket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heading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phrase/word</a:t>
            </a:r>
            <a:endParaRPr sz="1200">
              <a:latin typeface="Times New Roman"/>
              <a:cs typeface="Times New Roman"/>
            </a:endParaRPr>
          </a:p>
          <a:p>
            <a:pPr algn="just" marL="202565" indent="-190500">
              <a:lnSpc>
                <a:spcPts val="1315"/>
              </a:lnSpc>
              <a:buAutoNum type="arabicPeriod" startAt="2"/>
              <a:tabLst>
                <a:tab pos="203200" algn="l"/>
              </a:tabLst>
            </a:pPr>
            <a:r>
              <a:rPr dirty="0" sz="1200" spc="-5">
                <a:latin typeface="Times New Roman"/>
                <a:cs typeface="Times New Roman"/>
              </a:rPr>
              <a:t>Parallel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parallel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wording.</a:t>
            </a:r>
            <a:endParaRPr sz="1200">
              <a:latin typeface="Times New Roman"/>
              <a:cs typeface="Times New Roman"/>
            </a:endParaRPr>
          </a:p>
          <a:p>
            <a:pPr lvl="1" marL="546100" marR="2905125" indent="-635">
              <a:lnSpc>
                <a:spcPts val="1380"/>
              </a:lnSpc>
              <a:spcBef>
                <a:spcPts val="65"/>
              </a:spcBef>
              <a:buAutoNum type="romanUcPeriod"/>
              <a:tabLst>
                <a:tab pos="673100" algn="l"/>
                <a:tab pos="1841500" algn="l"/>
              </a:tabLst>
            </a:pPr>
            <a:r>
              <a:rPr dirty="0" sz="1200">
                <a:latin typeface="Times New Roman"/>
                <a:cs typeface="Times New Roman"/>
              </a:rPr>
              <a:t>II,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III,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IV,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   </a:t>
            </a:r>
            <a:r>
              <a:rPr dirty="0" sz="1200" spc="-5">
                <a:latin typeface="Times New Roman"/>
                <a:cs typeface="Times New Roman"/>
              </a:rPr>
              <a:t>A: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II. B.	</a:t>
            </a:r>
            <a:r>
              <a:rPr dirty="0" sz="1200" spc="-5">
                <a:latin typeface="Times New Roman"/>
                <a:cs typeface="Times New Roman"/>
              </a:rPr>
              <a:t>meeting</a:t>
            </a:r>
            <a:endParaRPr sz="1200">
              <a:latin typeface="Times New Roman"/>
              <a:cs typeface="Times New Roman"/>
            </a:endParaRPr>
          </a:p>
          <a:p>
            <a:pPr marL="546100">
              <a:lnSpc>
                <a:spcPts val="1315"/>
              </a:lnSpc>
              <a:tabLst>
                <a:tab pos="1384300" algn="l"/>
              </a:tabLst>
            </a:pPr>
            <a:r>
              <a:rPr dirty="0" sz="1200" spc="-5">
                <a:latin typeface="Times New Roman"/>
                <a:cs typeface="Times New Roman"/>
              </a:rPr>
              <a:t>IV.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	</a:t>
            </a:r>
            <a:r>
              <a:rPr dirty="0" sz="1200" spc="-5">
                <a:latin typeface="Times New Roman"/>
                <a:cs typeface="Times New Roman"/>
              </a:rPr>
              <a:t>IV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5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endParaRPr sz="12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380"/>
              </a:lnSpc>
              <a:buAutoNum type="arabicPeriod" startAt="3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headings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overlap.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coordinate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subordinated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vice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versa.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  <a:buAutoNum type="arabicPeriod" startAt="3"/>
              <a:tabLst>
                <a:tab pos="184785" algn="l"/>
              </a:tabLst>
            </a:pP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 single heading or subheading anywhere in the outline. e.g. where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 startAt="3"/>
              <a:tabLst>
                <a:tab pos="179705" algn="l"/>
              </a:tabLst>
            </a:pPr>
            <a:r>
              <a:rPr dirty="0" sz="1200">
                <a:latin typeface="Times New Roman"/>
                <a:cs typeface="Times New Roman"/>
              </a:rPr>
              <a:t>The outline provides for a </a:t>
            </a:r>
            <a:r>
              <a:rPr dirty="0" sz="1200" spc="-5">
                <a:latin typeface="Times New Roman"/>
                <a:cs typeface="Times New Roman"/>
              </a:rPr>
              <a:t>prompt </a:t>
            </a:r>
            <a:r>
              <a:rPr dirty="0" sz="1200">
                <a:latin typeface="Times New Roman"/>
                <a:cs typeface="Times New Roman"/>
              </a:rPr>
              <a:t>beginning (in this case a quotation) and ending (the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ticket)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labeled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Introduction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Conclusion.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illustrate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above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points </a:t>
            </a:r>
            <a:r>
              <a:rPr dirty="0" sz="1200" b="1">
                <a:latin typeface="Times New Roman"/>
                <a:cs typeface="Times New Roman"/>
              </a:rPr>
              <a:t>1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side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‘Flower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Arrangement.’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framework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an outline.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material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left,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outline.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8800592"/>
            <a:ext cx="3162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497965" algn="l"/>
                <a:tab pos="1840864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History of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Punjab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1)	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History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Punjab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8975850"/>
            <a:ext cx="3314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40864" algn="l"/>
              </a:tabLst>
            </a:pPr>
            <a:r>
              <a:rPr dirty="0" sz="1200">
                <a:latin typeface="Times New Roman"/>
                <a:cs typeface="Times New Roman"/>
              </a:rPr>
              <a:t>I. Period be</a:t>
            </a:r>
            <a:r>
              <a:rPr dirty="0" sz="1200" spc="-10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ore 1500	I.………………………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0240" y="5789929"/>
            <a:ext cx="2778760" cy="2690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650"/>
              </a:lnSpc>
              <a:spcBef>
                <a:spcPts val="95"/>
              </a:spcBef>
            </a:pPr>
            <a:r>
              <a:rPr dirty="0" sz="1400" spc="-5" b="1">
                <a:latin typeface="Times New Roman"/>
                <a:cs typeface="Times New Roman"/>
              </a:rPr>
              <a:t>Flower</a:t>
            </a:r>
            <a:r>
              <a:rPr dirty="0" sz="1400" spc="-20" b="1">
                <a:latin typeface="Times New Roman"/>
                <a:cs typeface="Times New Roman"/>
              </a:rPr>
              <a:t> </a:t>
            </a:r>
            <a:r>
              <a:rPr dirty="0" sz="1400" spc="-5" b="1">
                <a:latin typeface="Times New Roman"/>
                <a:cs typeface="Times New Roman"/>
              </a:rPr>
              <a:t>arrangement</a:t>
            </a:r>
            <a:endParaRPr sz="1400">
              <a:latin typeface="Times New Roman"/>
              <a:cs typeface="Times New Roman"/>
            </a:endParaRPr>
          </a:p>
          <a:p>
            <a:pPr marL="50800">
              <a:lnSpc>
                <a:spcPts val="1370"/>
              </a:lnSpc>
            </a:pPr>
            <a:r>
              <a:rPr dirty="0" sz="1200" spc="-5" b="1">
                <a:latin typeface="Times New Roman"/>
                <a:cs typeface="Times New Roman"/>
              </a:rPr>
              <a:t>Guiding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purpose: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present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</a:t>
            </a:r>
            <a:endParaRPr sz="1200">
              <a:latin typeface="Times New Roman"/>
              <a:cs typeface="Times New Roman"/>
            </a:endParaRPr>
          </a:p>
          <a:p>
            <a:pPr marL="12700" marR="112014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roses, chrysanthemums </a:t>
            </a:r>
            <a:r>
              <a:rPr dirty="0" sz="1200">
                <a:latin typeface="Times New Roman"/>
                <a:cs typeface="Times New Roman"/>
              </a:rPr>
              <a:t>etc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peach</a:t>
            </a:r>
            <a:r>
              <a:rPr dirty="0" sz="1200" spc="-5">
                <a:latin typeface="Times New Roman"/>
                <a:cs typeface="Times New Roman"/>
              </a:rPr>
              <a:t> blossom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greenery</a:t>
            </a:r>
            <a:endParaRPr sz="1200">
              <a:latin typeface="Times New Roman"/>
              <a:cs typeface="Times New Roman"/>
            </a:endParaRPr>
          </a:p>
          <a:p>
            <a:pPr marL="12700" marR="189103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a single rose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pleasure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vases </a:t>
            </a:r>
            <a:r>
              <a:rPr dirty="0" sz="1200">
                <a:latin typeface="Times New Roman"/>
                <a:cs typeface="Times New Roman"/>
              </a:rPr>
              <a:t>– size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Japanes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style</a:t>
            </a:r>
            <a:endParaRPr sz="1200">
              <a:latin typeface="Times New Roman"/>
              <a:cs typeface="Times New Roman"/>
            </a:endParaRPr>
          </a:p>
          <a:p>
            <a:pPr marL="12700" marR="1653539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lots of </a:t>
            </a:r>
            <a:r>
              <a:rPr dirty="0" sz="1200" spc="-10">
                <a:latin typeface="Times New Roman"/>
                <a:cs typeface="Times New Roman"/>
              </a:rPr>
              <a:t>flowers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 on </a:t>
            </a:r>
            <a:r>
              <a:rPr dirty="0" sz="1200" spc="-5">
                <a:latin typeface="Times New Roman"/>
                <a:cs typeface="Times New Roman"/>
              </a:rPr>
              <a:t>rooms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parties, weddings </a:t>
            </a:r>
            <a:r>
              <a:rPr dirty="0" sz="1200">
                <a:latin typeface="Times New Roman"/>
                <a:cs typeface="Times New Roman"/>
              </a:rPr>
              <a:t> good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bad arrangement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079240" y="6025388"/>
            <a:ext cx="2421890" cy="19608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327025">
              <a:lnSpc>
                <a:spcPts val="1380"/>
              </a:lnSpc>
              <a:spcBef>
                <a:spcPts val="195"/>
              </a:spcBef>
              <a:buAutoNum type="romanLcPeriod"/>
              <a:tabLst>
                <a:tab pos="131445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Flower Arrangement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………………………….….</a:t>
            </a:r>
            <a:endParaRPr sz="1200">
              <a:latin typeface="Times New Roman"/>
              <a:cs typeface="Times New Roman"/>
            </a:endParaRPr>
          </a:p>
          <a:p>
            <a:pPr marL="173355" indent="-161290">
              <a:lnSpc>
                <a:spcPts val="1315"/>
              </a:lnSpc>
              <a:buAutoNum type="romanLcPeriod"/>
              <a:tabLst>
                <a:tab pos="1739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solidFill>
                  <a:srgbClr val="0000FF"/>
                </a:solidFill>
                <a:latin typeface="Times New Roman"/>
                <a:cs typeface="Times New Roman"/>
              </a:rPr>
              <a:t>flowers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……………………….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chrysanthemums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February-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…………………….</a:t>
            </a:r>
            <a:endParaRPr sz="1200">
              <a:latin typeface="Times New Roman"/>
              <a:cs typeface="Times New Roman"/>
            </a:endParaRPr>
          </a:p>
          <a:p>
            <a:pPr marL="215900" indent="-203835">
              <a:lnSpc>
                <a:spcPts val="1380"/>
              </a:lnSpc>
              <a:buAutoNum type="romanLcPeriod" startAt="3"/>
              <a:tabLst>
                <a:tab pos="21653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The……………………..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solidFill>
                  <a:srgbClr val="0000FF"/>
                </a:solidFill>
                <a:latin typeface="Times New Roman"/>
                <a:cs typeface="Times New Roman"/>
              </a:rPr>
              <a:t>flowers</a:t>
            </a:r>
            <a:endParaRPr sz="1200">
              <a:latin typeface="Times New Roman"/>
              <a:cs typeface="Times New Roman"/>
            </a:endParaRPr>
          </a:p>
          <a:p>
            <a:pPr lvl="1" marL="198755" indent="-186690">
              <a:lnSpc>
                <a:spcPts val="1380"/>
              </a:lnSpc>
              <a:buAutoNum type="alphaUcPeriod"/>
              <a:tabLst>
                <a:tab pos="1993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wrong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endParaRPr sz="1200">
              <a:latin typeface="Times New Roman"/>
              <a:cs typeface="Times New Roman"/>
            </a:endParaRPr>
          </a:p>
          <a:p>
            <a:pPr lvl="1" marL="228600" indent="-216535">
              <a:lnSpc>
                <a:spcPts val="1380"/>
              </a:lnSpc>
              <a:buAutoNum type="alphaUcPeriod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endParaRPr sz="1200">
              <a:latin typeface="Times New Roman"/>
              <a:cs typeface="Times New Roman"/>
            </a:endParaRPr>
          </a:p>
          <a:p>
            <a:pPr lvl="2" marL="203200" indent="-190500">
              <a:lnSpc>
                <a:spcPts val="1380"/>
              </a:lnSpc>
              <a:buClr>
                <a:srgbClr val="000000"/>
              </a:buClr>
              <a:buAutoNum type="arabicPeriod"/>
              <a:tabLst>
                <a:tab pos="203200" algn="l"/>
              </a:tabLst>
            </a:pPr>
            <a:r>
              <a:rPr dirty="0" sz="1200" spc="-5">
                <a:solidFill>
                  <a:srgbClr val="0000FF"/>
                </a:solidFill>
                <a:latin typeface="Times New Roman"/>
                <a:cs typeface="Times New Roman"/>
              </a:rPr>
              <a:t>Flowers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2.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…………a.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79240" y="8128507"/>
            <a:ext cx="218122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iv.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77900" y="8479028"/>
            <a:ext cx="5728970" cy="35496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50800" marR="17780" indent="3063240">
              <a:lnSpc>
                <a:spcPts val="1150"/>
              </a:lnSpc>
              <a:spcBef>
                <a:spcPts val="380"/>
              </a:spcBef>
            </a:pPr>
            <a:r>
              <a:rPr dirty="0" sz="1200">
                <a:latin typeface="Times New Roman"/>
                <a:cs typeface="Times New Roman"/>
              </a:rPr>
              <a:t>v. The </a:t>
            </a:r>
            <a:r>
              <a:rPr dirty="0" sz="1200" spc="-5">
                <a:latin typeface="Times New Roman"/>
                <a:cs typeface="Times New Roman"/>
              </a:rPr>
              <a:t>Pleasure </a:t>
            </a:r>
            <a:r>
              <a:rPr dirty="0" sz="1200">
                <a:latin typeface="Times New Roman"/>
                <a:cs typeface="Times New Roman"/>
              </a:rPr>
              <a:t>from </a:t>
            </a:r>
            <a:r>
              <a:rPr dirty="0" sz="1200" spc="-5">
                <a:latin typeface="Times New Roman"/>
                <a:cs typeface="Times New Roman"/>
              </a:rPr>
              <a:t>Flower </a:t>
            </a:r>
            <a:r>
              <a:rPr dirty="0" sz="1200" spc="-5">
                <a:solidFill>
                  <a:srgbClr val="0000FF"/>
                </a:solidFill>
                <a:latin typeface="Times New Roman"/>
                <a:cs typeface="Times New Roman"/>
              </a:rPr>
              <a:t>Arrangement </a:t>
            </a:r>
            <a:r>
              <a:rPr dirty="0" sz="1200" spc="-28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overlap.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 spc="-185">
                <a:latin typeface="Times New Roman"/>
                <a:cs typeface="Times New Roman"/>
              </a:rPr>
              <a:t>corre</a:t>
            </a:r>
            <a:r>
              <a:rPr dirty="0" baseline="-11574" sz="1800" spc="-277">
                <a:latin typeface="Times New Roman"/>
                <a:cs typeface="Times New Roman"/>
              </a:rPr>
              <a:t>A</a:t>
            </a:r>
            <a:r>
              <a:rPr dirty="0" sz="1200" spc="-185">
                <a:latin typeface="Times New Roman"/>
                <a:cs typeface="Times New Roman"/>
              </a:rPr>
              <a:t>ct</a:t>
            </a:r>
            <a:r>
              <a:rPr dirty="0" baseline="-11574" sz="1800" spc="-277">
                <a:latin typeface="Times New Roman"/>
                <a:cs typeface="Times New Roman"/>
              </a:rPr>
              <a:t>.</a:t>
            </a:r>
            <a:r>
              <a:rPr dirty="0" sz="1200" spc="-185">
                <a:latin typeface="Times New Roman"/>
                <a:cs typeface="Times New Roman"/>
              </a:rPr>
              <a:t>ed</a:t>
            </a:r>
            <a:r>
              <a:rPr dirty="0" baseline="-11574" sz="1800" spc="-277">
                <a:latin typeface="Times New Roman"/>
                <a:cs typeface="Times New Roman"/>
              </a:rPr>
              <a:t>O</a:t>
            </a:r>
            <a:r>
              <a:rPr dirty="0" sz="1200" spc="-185">
                <a:latin typeface="Times New Roman"/>
                <a:cs typeface="Times New Roman"/>
              </a:rPr>
              <a:t>v</a:t>
            </a:r>
            <a:r>
              <a:rPr dirty="0" baseline="-11574" sz="1800" spc="-277">
                <a:latin typeface="Times New Roman"/>
                <a:cs typeface="Times New Roman"/>
              </a:rPr>
              <a:t>n</a:t>
            </a:r>
            <a:r>
              <a:rPr dirty="0" sz="1200" spc="-185">
                <a:latin typeface="Times New Roman"/>
                <a:cs typeface="Times New Roman"/>
              </a:rPr>
              <a:t>e</a:t>
            </a:r>
            <a:r>
              <a:rPr dirty="0" baseline="-11574" sz="1800" spc="-277">
                <a:latin typeface="Times New Roman"/>
                <a:cs typeface="Times New Roman"/>
              </a:rPr>
              <a:t>s</a:t>
            </a:r>
            <a:r>
              <a:rPr dirty="0" sz="1200" spc="-185">
                <a:latin typeface="Times New Roman"/>
                <a:cs typeface="Times New Roman"/>
              </a:rPr>
              <a:t>r</a:t>
            </a:r>
            <a:r>
              <a:rPr dirty="0" baseline="-11574" sz="1800" spc="-277">
                <a:latin typeface="Times New Roman"/>
                <a:cs typeface="Times New Roman"/>
              </a:rPr>
              <a:t>p</a:t>
            </a:r>
            <a:r>
              <a:rPr dirty="0" sz="1200" spc="-185">
                <a:latin typeface="Times New Roman"/>
                <a:cs typeface="Times New Roman"/>
              </a:rPr>
              <a:t>si</a:t>
            </a:r>
            <a:r>
              <a:rPr dirty="0" baseline="-11574" sz="1800" spc="-277">
                <a:latin typeface="Times New Roman"/>
                <a:cs typeface="Times New Roman"/>
              </a:rPr>
              <a:t>e</a:t>
            </a:r>
            <a:r>
              <a:rPr dirty="0" sz="1200" spc="-185">
                <a:latin typeface="Times New Roman"/>
                <a:cs typeface="Times New Roman"/>
              </a:rPr>
              <a:t>o</a:t>
            </a:r>
            <a:r>
              <a:rPr dirty="0" baseline="-11574" sz="1800" spc="-277">
                <a:latin typeface="Times New Roman"/>
                <a:cs typeface="Times New Roman"/>
              </a:rPr>
              <a:t>c</a:t>
            </a:r>
            <a:r>
              <a:rPr dirty="0" sz="1200" spc="-185">
                <a:latin typeface="Times New Roman"/>
                <a:cs typeface="Times New Roman"/>
              </a:rPr>
              <a:t>n</a:t>
            </a:r>
            <a:r>
              <a:rPr dirty="0" baseline="-11574" sz="1800" spc="-277">
                <a:latin typeface="Times New Roman"/>
                <a:cs typeface="Times New Roman"/>
              </a:rPr>
              <a:t>ia</a:t>
            </a:r>
            <a:r>
              <a:rPr dirty="0" sz="1200" spc="-185">
                <a:latin typeface="Times New Roman"/>
                <a:cs typeface="Times New Roman"/>
              </a:rPr>
              <a:t>s</a:t>
            </a:r>
            <a:r>
              <a:rPr dirty="0" baseline="-11574" sz="1800" spc="-277">
                <a:latin typeface="Times New Roman"/>
                <a:cs typeface="Times New Roman"/>
              </a:rPr>
              <a:t>l</a:t>
            </a:r>
            <a:r>
              <a:rPr dirty="0" sz="1200" spc="-185">
                <a:latin typeface="Times New Roman"/>
                <a:cs typeface="Times New Roman"/>
              </a:rPr>
              <a:t>o</a:t>
            </a:r>
            <a:r>
              <a:rPr dirty="0" baseline="-11574" sz="1800" spc="-277">
                <a:latin typeface="Times New Roman"/>
                <a:cs typeface="Times New Roman"/>
              </a:rPr>
              <a:t>o</a:t>
            </a:r>
            <a:r>
              <a:rPr dirty="0" sz="1200" spc="-185">
                <a:latin typeface="Times New Roman"/>
                <a:cs typeface="Times New Roman"/>
              </a:rPr>
              <a:t>f</a:t>
            </a:r>
            <a:r>
              <a:rPr dirty="0" baseline="-11574" sz="1800" spc="-277">
                <a:latin typeface="Times New Roman"/>
                <a:cs typeface="Times New Roman"/>
              </a:rPr>
              <a:t>c</a:t>
            </a:r>
            <a:r>
              <a:rPr dirty="0" sz="1200" spc="-185">
                <a:latin typeface="Times New Roman"/>
                <a:cs typeface="Times New Roman"/>
              </a:rPr>
              <a:t>t</a:t>
            </a:r>
            <a:r>
              <a:rPr dirty="0" baseline="-11574" sz="1800" spc="-277">
                <a:latin typeface="Times New Roman"/>
                <a:cs typeface="Times New Roman"/>
              </a:rPr>
              <a:t>c</a:t>
            </a:r>
            <a:r>
              <a:rPr dirty="0" sz="1200" spc="-185">
                <a:latin typeface="Times New Roman"/>
                <a:cs typeface="Times New Roman"/>
              </a:rPr>
              <a:t>h</a:t>
            </a:r>
            <a:r>
              <a:rPr dirty="0" baseline="-11574" sz="1800" spc="-277">
                <a:latin typeface="Times New Roman"/>
                <a:cs typeface="Times New Roman"/>
              </a:rPr>
              <a:t>a</a:t>
            </a:r>
            <a:r>
              <a:rPr dirty="0" sz="1200" spc="-185">
                <a:latin typeface="Times New Roman"/>
                <a:cs typeface="Times New Roman"/>
              </a:rPr>
              <a:t>e</a:t>
            </a:r>
            <a:r>
              <a:rPr dirty="0" baseline="-11574" sz="1800" spc="-277">
                <a:latin typeface="Times New Roman"/>
                <a:cs typeface="Times New Roman"/>
              </a:rPr>
              <a:t>si</a:t>
            </a:r>
            <a:r>
              <a:rPr dirty="0" sz="1200" spc="-185">
                <a:latin typeface="Times New Roman"/>
                <a:cs typeface="Times New Roman"/>
              </a:rPr>
              <a:t>o</a:t>
            </a:r>
            <a:r>
              <a:rPr dirty="0" baseline="-11574" sz="1800" spc="-277">
                <a:latin typeface="Times New Roman"/>
                <a:cs typeface="Times New Roman"/>
              </a:rPr>
              <a:t>o</a:t>
            </a:r>
            <a:r>
              <a:rPr dirty="0" sz="1200" spc="-185">
                <a:latin typeface="Times New Roman"/>
                <a:cs typeface="Times New Roman"/>
              </a:rPr>
              <a:t>u</a:t>
            </a:r>
            <a:r>
              <a:rPr dirty="0" baseline="-11574" sz="1800" spc="-277">
                <a:latin typeface="Times New Roman"/>
                <a:cs typeface="Times New Roman"/>
              </a:rPr>
              <a:t>n</a:t>
            </a:r>
            <a:r>
              <a:rPr dirty="0" sz="1200" spc="-185">
                <a:latin typeface="Times New Roman"/>
                <a:cs typeface="Times New Roman"/>
              </a:rPr>
              <a:t>tline: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36440" y="8829547"/>
            <a:ext cx="139700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……………………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943186"/>
          <a:ext cx="3425190" cy="1220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400"/>
                <a:gridCol w="330200"/>
                <a:gridCol w="1672589"/>
              </a:tblGrid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II.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Moghuls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II………………………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III.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Sikhs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III………………………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IV.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Period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after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1947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IV………………………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Moghuls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 gridSpan="2"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rowSpan="3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II……………………….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III………………………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IV………………………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-36</a:t>
            </a:r>
            <a:endParaRPr sz="1200">
              <a:latin typeface="Times New Roman"/>
              <a:cs typeface="Times New Roman"/>
            </a:endParaRPr>
          </a:p>
          <a:p>
            <a:pPr marL="12700" marR="2536825">
              <a:lnSpc>
                <a:spcPct val="191700"/>
              </a:lnSpc>
            </a:pPr>
            <a:r>
              <a:rPr dirty="0" sz="1200" b="1">
                <a:latin typeface="Times New Roman"/>
                <a:cs typeface="Times New Roman"/>
              </a:rPr>
              <a:t>Writing: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Selecting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Researching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 Essay</a:t>
            </a:r>
            <a:r>
              <a:rPr dirty="0" sz="1200" b="1">
                <a:latin typeface="Times New Roman"/>
                <a:cs typeface="Times New Roman"/>
              </a:rPr>
              <a:t> Topic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Choosing 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Essay</a:t>
            </a:r>
            <a:r>
              <a:rPr dirty="0" sz="1200" b="1">
                <a:latin typeface="Times New Roman"/>
                <a:cs typeface="Times New Roman"/>
              </a:rPr>
              <a:t> Topic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0"/>
              </a:lnSpc>
            </a:pPr>
            <a:r>
              <a:rPr dirty="0" sz="1200" spc="-5" b="1">
                <a:latin typeface="Times New Roman"/>
                <a:cs typeface="Times New Roman"/>
              </a:rPr>
              <a:t>Analyzing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Essay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Titles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(Note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Taking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Essay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Writing)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Students are asked to write essays </a:t>
            </a:r>
            <a:r>
              <a:rPr dirty="0" sz="1200" spc="-5">
                <a:latin typeface="Times New Roman"/>
                <a:cs typeface="Times New Roman"/>
              </a:rPr>
              <a:t>on all the subjects they study.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part of your </a:t>
            </a:r>
            <a:r>
              <a:rPr dirty="0" sz="1200" spc="-5">
                <a:latin typeface="Times New Roman"/>
                <a:cs typeface="Times New Roman"/>
              </a:rPr>
              <a:t>academic </a:t>
            </a:r>
            <a:r>
              <a:rPr dirty="0" sz="1200">
                <a:latin typeface="Times New Roman"/>
                <a:cs typeface="Times New Roman"/>
              </a:rPr>
              <a:t> work. You write </a:t>
            </a:r>
            <a:r>
              <a:rPr dirty="0" sz="1200" spc="-5">
                <a:latin typeface="Times New Roman"/>
                <a:cs typeface="Times New Roman"/>
              </a:rPr>
              <a:t>essays </a:t>
            </a:r>
            <a:r>
              <a:rPr dirty="0" sz="1200">
                <a:latin typeface="Times New Roman"/>
                <a:cs typeface="Times New Roman"/>
              </a:rPr>
              <a:t>for English, </a:t>
            </a:r>
            <a:r>
              <a:rPr dirty="0" sz="1200" spc="-5">
                <a:latin typeface="Times New Roman"/>
                <a:cs typeface="Times New Roman"/>
              </a:rPr>
              <a:t>Statistics, Psychology, Economics, </a:t>
            </a:r>
            <a:r>
              <a:rPr dirty="0" sz="1200">
                <a:latin typeface="Times New Roman"/>
                <a:cs typeface="Times New Roman"/>
              </a:rPr>
              <a:t>etc.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do not think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essays </a:t>
            </a:r>
            <a:r>
              <a:rPr dirty="0" sz="1200">
                <a:latin typeface="Times New Roman"/>
                <a:cs typeface="Times New Roman"/>
              </a:rPr>
              <a:t>are written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English only.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required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write essays for </a:t>
            </a:r>
            <a:r>
              <a:rPr dirty="0" sz="1200">
                <a:latin typeface="Times New Roman"/>
                <a:cs typeface="Times New Roman"/>
              </a:rPr>
              <a:t>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Today’s lesson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divided into three parts.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 deal with choosing 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 topic, </a:t>
            </a:r>
            <a:r>
              <a:rPr dirty="0" sz="1200" spc="-5">
                <a:latin typeface="Times New Roman"/>
                <a:cs typeface="Times New Roman"/>
              </a:rPr>
              <a:t>second, </a:t>
            </a:r>
            <a:r>
              <a:rPr dirty="0" sz="1200">
                <a:latin typeface="Times New Roman"/>
                <a:cs typeface="Times New Roman"/>
              </a:rPr>
              <a:t>with analyzing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titles and last, with taking notes </a:t>
            </a:r>
            <a:r>
              <a:rPr dirty="0" sz="1200" spc="-5">
                <a:latin typeface="Times New Roman"/>
                <a:cs typeface="Times New Roman"/>
              </a:rPr>
              <a:t>for essay </a:t>
            </a:r>
            <a:r>
              <a:rPr dirty="0" sz="1200">
                <a:latin typeface="Times New Roman"/>
                <a:cs typeface="Times New Roman"/>
              </a:rPr>
              <a:t>writing.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 are usually </a:t>
            </a:r>
            <a:r>
              <a:rPr dirty="0" sz="1200" spc="-5">
                <a:latin typeface="Times New Roman"/>
                <a:cs typeface="Times New Roman"/>
              </a:rPr>
              <a:t>handed </a:t>
            </a:r>
            <a:r>
              <a:rPr dirty="0" sz="1200">
                <a:latin typeface="Times New Roman"/>
                <a:cs typeface="Times New Roman"/>
              </a:rPr>
              <a:t>a list of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topics to write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teachers. </a:t>
            </a:r>
            <a:r>
              <a:rPr dirty="0" sz="1200">
                <a:latin typeface="Times New Roman"/>
                <a:cs typeface="Times New Roman"/>
              </a:rPr>
              <a:t>Since a lot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energy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invested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writing,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carefully. When you first look at the </a:t>
            </a:r>
            <a:r>
              <a:rPr dirty="0" sz="1200" spc="-5">
                <a:latin typeface="Times New Roman"/>
                <a:cs typeface="Times New Roman"/>
              </a:rPr>
              <a:t>essay topics, </a:t>
            </a:r>
            <a:r>
              <a:rPr dirty="0" sz="1200">
                <a:latin typeface="Times New Roman"/>
                <a:cs typeface="Times New Roman"/>
              </a:rPr>
              <a:t>you initially only separate those which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immediately </a:t>
            </a:r>
            <a:r>
              <a:rPr dirty="0" sz="1200">
                <a:latin typeface="Times New Roman"/>
                <a:cs typeface="Times New Roman"/>
              </a:rPr>
              <a:t>attract you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 which do not.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Are you being asked about your </a:t>
            </a:r>
            <a:r>
              <a:rPr dirty="0" sz="1200">
                <a:latin typeface="Times New Roman"/>
                <a:cs typeface="Times New Roman"/>
              </a:rPr>
              <a:t>knowledge of the novel </a:t>
            </a:r>
            <a:r>
              <a:rPr dirty="0" sz="1200" spc="-5">
                <a:latin typeface="Times New Roman"/>
                <a:cs typeface="Times New Roman"/>
              </a:rPr>
              <a:t>(Let’s say ‘The Old Man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(Hemingway) </a:t>
            </a:r>
            <a:r>
              <a:rPr dirty="0" sz="1200">
                <a:latin typeface="Times New Roman"/>
                <a:cs typeface="Times New Roman"/>
              </a:rPr>
              <a:t>to explore the nature of </a:t>
            </a:r>
            <a:r>
              <a:rPr dirty="0" sz="1200" spc="-5">
                <a:latin typeface="Times New Roman"/>
                <a:cs typeface="Times New Roman"/>
              </a:rPr>
              <a:t>tragedy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the effectiveness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minor </a:t>
            </a:r>
            <a:r>
              <a:rPr dirty="0" sz="1200">
                <a:latin typeface="Times New Roman"/>
                <a:cs typeface="Times New Roman"/>
              </a:rPr>
              <a:t> characters and the fish in </a:t>
            </a:r>
            <a:r>
              <a:rPr dirty="0" sz="1200" spc="-5">
                <a:latin typeface="Times New Roman"/>
                <a:cs typeface="Times New Roman"/>
              </a:rPr>
              <a:t>developing plot and character, or their </a:t>
            </a:r>
            <a:r>
              <a:rPr dirty="0" sz="1200">
                <a:latin typeface="Times New Roman"/>
                <a:cs typeface="Times New Roman"/>
              </a:rPr>
              <a:t>role in the </a:t>
            </a:r>
            <a:r>
              <a:rPr dirty="0" sz="1200" spc="-5">
                <a:latin typeface="Times New Roman"/>
                <a:cs typeface="Times New Roman"/>
              </a:rPr>
              <a:t>creation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dramatic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tension?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>
                <a:latin typeface="Times New Roman"/>
                <a:cs typeface="Times New Roman"/>
              </a:rPr>
              <a:t>teachers read essay topics with care. </a:t>
            </a:r>
            <a:r>
              <a:rPr dirty="0" sz="1200" spc="-5">
                <a:latin typeface="Times New Roman"/>
                <a:cs typeface="Times New Roman"/>
              </a:rPr>
              <a:t>They know what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what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 you </a:t>
            </a:r>
            <a:r>
              <a:rPr dirty="0" sz="1200">
                <a:latin typeface="Times New Roman"/>
                <a:cs typeface="Times New Roman"/>
              </a:rPr>
              <a:t>to cover in your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your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thinking </a:t>
            </a:r>
            <a:r>
              <a:rPr dirty="0" sz="1200">
                <a:latin typeface="Times New Roman"/>
                <a:cs typeface="Times New Roman"/>
              </a:rPr>
              <a:t>about the topic. They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even help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material.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mean </a:t>
            </a:r>
            <a:r>
              <a:rPr dirty="0" sz="1200">
                <a:latin typeface="Times New Roman"/>
                <a:cs typeface="Times New Roman"/>
              </a:rPr>
              <a:t>that you should think that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only one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answering the question.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word ‘essay’ </a:t>
            </a:r>
            <a:r>
              <a:rPr dirty="0" sz="1200" spc="-5">
                <a:latin typeface="Times New Roman"/>
                <a:cs typeface="Times New Roman"/>
              </a:rPr>
              <a:t>has its </a:t>
            </a:r>
            <a:r>
              <a:rPr dirty="0" sz="1200">
                <a:latin typeface="Times New Roman"/>
                <a:cs typeface="Times New Roman"/>
              </a:rPr>
              <a:t>origin in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French word which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‘to attempt’ or ‘to try out’.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‘trying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I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want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handle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should from the very beginning analyze what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that the topic </a:t>
            </a:r>
            <a:r>
              <a:rPr dirty="0" sz="1200" spc="-5">
                <a:latin typeface="Times New Roman"/>
                <a:cs typeface="Times New Roman"/>
              </a:rPr>
              <a:t>demands.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can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save you from working hard over an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only to have it criticized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“irrelevant”. In 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to develop an approach that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enable you to read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better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notes. In this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learn to refine your thoughts </a:t>
            </a:r>
            <a:r>
              <a:rPr dirty="0" sz="1200" spc="-5">
                <a:latin typeface="Times New Roman"/>
                <a:cs typeface="Times New Roman"/>
              </a:rPr>
              <a:t>as you </a:t>
            </a:r>
            <a:r>
              <a:rPr dirty="0" sz="1200">
                <a:latin typeface="Times New Roman"/>
                <a:cs typeface="Times New Roman"/>
              </a:rPr>
              <a:t>learn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about the subject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writing 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Characteristics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of Academic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Essays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(4)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Most essays </a:t>
            </a:r>
            <a:r>
              <a:rPr dirty="0" sz="1200">
                <a:latin typeface="Times New Roman"/>
                <a:cs typeface="Times New Roman"/>
              </a:rPr>
              <a:t>in the Social Sciences share </a:t>
            </a:r>
            <a:r>
              <a:rPr dirty="0" sz="1200" spc="-5">
                <a:latin typeface="Times New Roman"/>
                <a:cs typeface="Times New Roman"/>
              </a:rPr>
              <a:t>certain </a:t>
            </a:r>
            <a:r>
              <a:rPr dirty="0" sz="1200">
                <a:latin typeface="Times New Roman"/>
                <a:cs typeface="Times New Roman"/>
              </a:rPr>
              <a:t>general </a:t>
            </a:r>
            <a:r>
              <a:rPr dirty="0" sz="1200" spc="-5">
                <a:latin typeface="Times New Roman"/>
                <a:cs typeface="Times New Roman"/>
              </a:rPr>
              <a:t>characteristics. </a:t>
            </a:r>
            <a:r>
              <a:rPr dirty="0" sz="1200">
                <a:latin typeface="Times New Roman"/>
                <a:cs typeface="Times New Roman"/>
              </a:rPr>
              <a:t>There are 4 such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characteristics. 1.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you are seldom asked merely to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explain</a:t>
            </a:r>
            <a:r>
              <a:rPr dirty="0" sz="1200" spc="-5">
                <a:latin typeface="Times New Roman"/>
                <a:cs typeface="Times New Roman"/>
              </a:rPr>
              <a:t> or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describe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process or </a:t>
            </a:r>
            <a:r>
              <a:rPr dirty="0" sz="1200">
                <a:latin typeface="Times New Roman"/>
                <a:cs typeface="Times New Roman"/>
              </a:rPr>
              <a:t> event.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task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nearly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analysis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example,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this </a:t>
            </a:r>
            <a:r>
              <a:rPr dirty="0" sz="1200" spc="-5">
                <a:latin typeface="Times New Roman"/>
                <a:cs typeface="Times New Roman"/>
              </a:rPr>
              <a:t>history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Choose any one day’s working </a:t>
            </a:r>
            <a:r>
              <a:rPr dirty="0" sz="1200" spc="-5">
                <a:latin typeface="Times New Roman"/>
                <a:cs typeface="Times New Roman"/>
              </a:rPr>
              <a:t>session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Report on 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Round Table Conference.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attitudes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revealed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speaker’s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speech?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would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handle 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question?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summary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satisfy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demands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made 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topic?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 startAt="2"/>
              <a:tabLst>
                <a:tab pos="175260" algn="l"/>
              </a:tabLst>
            </a:pPr>
            <a:r>
              <a:rPr dirty="0" sz="1200">
                <a:latin typeface="Times New Roman"/>
                <a:cs typeface="Times New Roman"/>
              </a:rPr>
              <a:t>Second,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find that your </a:t>
            </a:r>
            <a:r>
              <a:rPr dirty="0" sz="1200" spc="-5">
                <a:latin typeface="Times New Roman"/>
                <a:cs typeface="Times New Roman"/>
              </a:rPr>
              <a:t>essays require </a:t>
            </a:r>
            <a:r>
              <a:rPr dirty="0" sz="1200">
                <a:latin typeface="Times New Roman"/>
                <a:cs typeface="Times New Roman"/>
              </a:rPr>
              <a:t>you to relate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general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concepts, ideas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theories to particular materials, events, </a:t>
            </a:r>
            <a:r>
              <a:rPr dirty="0" sz="1200" spc="-5">
                <a:latin typeface="Times New Roman"/>
                <a:cs typeface="Times New Roman"/>
              </a:rPr>
              <a:t>texts, </a:t>
            </a:r>
            <a:r>
              <a:rPr dirty="0" sz="1200">
                <a:latin typeface="Times New Roman"/>
                <a:cs typeface="Times New Roman"/>
              </a:rPr>
              <a:t>etc.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required to </a:t>
            </a:r>
            <a:r>
              <a:rPr dirty="0" sz="1200" spc="-5">
                <a:latin typeface="Times New Roman"/>
                <a:cs typeface="Times New Roman"/>
              </a:rPr>
              <a:t>move </a:t>
            </a:r>
            <a:r>
              <a:rPr dirty="0" sz="1200">
                <a:latin typeface="Times New Roman"/>
                <a:cs typeface="Times New Roman"/>
              </a:rPr>
              <a:t>from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 events and instances to a more </a:t>
            </a:r>
            <a:r>
              <a:rPr dirty="0" sz="1200" spc="-5">
                <a:latin typeface="Times New Roman"/>
                <a:cs typeface="Times New Roman"/>
              </a:rPr>
              <a:t>general </a:t>
            </a:r>
            <a:r>
              <a:rPr dirty="0" sz="1200">
                <a:latin typeface="Times New Roman"/>
                <a:cs typeface="Times New Roman"/>
              </a:rPr>
              <a:t>interpretation of their significance.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following essay topics:</a:t>
            </a:r>
            <a:endParaRPr sz="1200">
              <a:latin typeface="Times New Roman"/>
              <a:cs typeface="Times New Roman"/>
            </a:endParaRPr>
          </a:p>
          <a:p>
            <a:pPr algn="just" lvl="1" marL="12700" marR="271780">
              <a:lnSpc>
                <a:spcPts val="1380"/>
              </a:lnSpc>
              <a:buAutoNum type="romanLcPeriod"/>
              <a:tabLst>
                <a:tab pos="163830" algn="l"/>
              </a:tabLst>
            </a:pPr>
            <a:r>
              <a:rPr dirty="0" sz="1200">
                <a:latin typeface="Times New Roman"/>
                <a:cs typeface="Times New Roman"/>
              </a:rPr>
              <a:t>Laughter can range </a:t>
            </a:r>
            <a:r>
              <a:rPr dirty="0" sz="1200" spc="-5">
                <a:latin typeface="Times New Roman"/>
                <a:cs typeface="Times New Roman"/>
              </a:rPr>
              <a:t>from good-humored banter </a:t>
            </a:r>
            <a:r>
              <a:rPr dirty="0" sz="1200">
                <a:latin typeface="Times New Roman"/>
                <a:cs typeface="Times New Roman"/>
              </a:rPr>
              <a:t>to cruel </a:t>
            </a:r>
            <a:r>
              <a:rPr dirty="0" sz="1200" spc="-5">
                <a:latin typeface="Times New Roman"/>
                <a:cs typeface="Times New Roman"/>
              </a:rPr>
              <a:t>mockery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How </a:t>
            </a:r>
            <a:r>
              <a:rPr dirty="0" sz="1200">
                <a:latin typeface="Times New Roman"/>
                <a:cs typeface="Times New Roman"/>
              </a:rPr>
              <a:t>would 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comedy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Henry</a:t>
            </a:r>
            <a:r>
              <a:rPr dirty="0" sz="1200" spc="-5">
                <a:latin typeface="Times New Roman"/>
                <a:cs typeface="Times New Roman"/>
              </a:rPr>
              <a:t> IV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(parts</a:t>
            </a:r>
            <a:r>
              <a:rPr dirty="0" sz="1200">
                <a:latin typeface="Times New Roman"/>
                <a:cs typeface="Times New Roman"/>
              </a:rPr>
              <a:t> I &amp; II)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 </a:t>
            </a:r>
            <a:r>
              <a:rPr dirty="0" sz="1200">
                <a:latin typeface="Times New Roman"/>
                <a:cs typeface="Times New Roman"/>
              </a:rPr>
              <a:t>?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buFont typeface="Times New Roman"/>
              <a:buAutoNum type="romanLcPeriod"/>
            </a:pPr>
            <a:endParaRPr sz="1200">
              <a:latin typeface="Times New Roman"/>
              <a:cs typeface="Times New Roman"/>
            </a:endParaRPr>
          </a:p>
          <a:p>
            <a:pPr algn="just" lvl="1" marL="12700" marR="270510">
              <a:lnSpc>
                <a:spcPts val="1380"/>
              </a:lnSpc>
              <a:buAutoNum type="romanLcPeriod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Can the </a:t>
            </a:r>
            <a:r>
              <a:rPr dirty="0" sz="1200" spc="-5">
                <a:latin typeface="Times New Roman"/>
                <a:cs typeface="Times New Roman"/>
              </a:rPr>
              <a:t>life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tall Dingas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southern Sudan </a:t>
            </a:r>
            <a:r>
              <a:rPr dirty="0" sz="1200">
                <a:latin typeface="Times New Roman"/>
                <a:cs typeface="Times New Roman"/>
              </a:rPr>
              <a:t>living with their </a:t>
            </a:r>
            <a:r>
              <a:rPr dirty="0" sz="1200" spc="-5">
                <a:latin typeface="Times New Roman"/>
                <a:cs typeface="Times New Roman"/>
              </a:rPr>
              <a:t>cattle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described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symbiosis</a:t>
            </a:r>
            <a:r>
              <a:rPr dirty="0" sz="1200">
                <a:latin typeface="Times New Roman"/>
                <a:cs typeface="Times New Roman"/>
              </a:rPr>
              <a:t> between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animal?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 directed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explored.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third characteristic of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college </a:t>
            </a:r>
            <a:r>
              <a:rPr dirty="0" sz="1200" spc="-5">
                <a:latin typeface="Times New Roman"/>
                <a:cs typeface="Times New Roman"/>
              </a:rPr>
              <a:t>essays is </a:t>
            </a:r>
            <a:r>
              <a:rPr dirty="0" sz="1200">
                <a:latin typeface="Times New Roman"/>
                <a:cs typeface="Times New Roman"/>
              </a:rPr>
              <a:t>that they </a:t>
            </a:r>
            <a:r>
              <a:rPr dirty="0" sz="1200" spc="-5">
                <a:latin typeface="Times New Roman"/>
                <a:cs typeface="Times New Roman"/>
              </a:rPr>
              <a:t>require you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gather </a:t>
            </a:r>
            <a:r>
              <a:rPr dirty="0" sz="1200">
                <a:latin typeface="Times New Roman"/>
                <a:cs typeface="Times New Roman"/>
              </a:rPr>
              <a:t>ideas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from printed sources. </a:t>
            </a:r>
            <a:r>
              <a:rPr dirty="0" sz="1200" spc="-5">
                <a:latin typeface="Times New Roman"/>
                <a:cs typeface="Times New Roman"/>
              </a:rPr>
              <a:t>Remember some weeks </a:t>
            </a:r>
            <a:r>
              <a:rPr dirty="0" sz="1200">
                <a:latin typeface="Times New Roman"/>
                <a:cs typeface="Times New Roman"/>
              </a:rPr>
              <a:t>ago I told you that you get idea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reading books, </a:t>
            </a:r>
            <a:r>
              <a:rPr dirty="0" sz="1200" spc="-5">
                <a:latin typeface="Times New Roman"/>
                <a:cs typeface="Times New Roman"/>
              </a:rPr>
              <a:t>magazines </a:t>
            </a:r>
            <a:r>
              <a:rPr dirty="0" sz="1200">
                <a:latin typeface="Times New Roman"/>
                <a:cs typeface="Times New Roman"/>
              </a:rPr>
              <a:t>and journals.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from printed </a:t>
            </a:r>
            <a:r>
              <a:rPr dirty="0" sz="1200" spc="-5">
                <a:latin typeface="Times New Roman"/>
                <a:cs typeface="Times New Roman"/>
              </a:rPr>
              <a:t>sources </a:t>
            </a:r>
            <a:r>
              <a:rPr dirty="0" sz="1200">
                <a:latin typeface="Times New Roman"/>
                <a:cs typeface="Times New Roman"/>
              </a:rPr>
              <a:t>that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get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 startAt="3"/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 startAt="3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Finally, </a:t>
            </a:r>
            <a:r>
              <a:rPr dirty="0" sz="1200" spc="-5">
                <a:latin typeface="Times New Roman"/>
                <a:cs typeface="Times New Roman"/>
              </a:rPr>
              <a:t>you will find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topics </a:t>
            </a:r>
            <a:r>
              <a:rPr dirty="0" sz="1200" spc="-5">
                <a:latin typeface="Times New Roman"/>
                <a:cs typeface="Times New Roman"/>
              </a:rPr>
              <a:t>will involve materials that </a:t>
            </a:r>
            <a:r>
              <a:rPr dirty="0" sz="1200">
                <a:latin typeface="Times New Roman"/>
                <a:cs typeface="Times New Roman"/>
              </a:rPr>
              <a:t>can be </a:t>
            </a:r>
            <a:r>
              <a:rPr dirty="0" sz="1200" spc="-5">
                <a:latin typeface="Times New Roman"/>
                <a:cs typeface="Times New Roman"/>
              </a:rPr>
              <a:t>interpreted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 than one way. There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be a problem or a </a:t>
            </a:r>
            <a:r>
              <a:rPr dirty="0" sz="1200" spc="-5">
                <a:latin typeface="Times New Roman"/>
                <a:cs typeface="Times New Roman"/>
              </a:rPr>
              <a:t>controversy you are asked to analyze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attempt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resolve. For example </a:t>
            </a:r>
            <a:r>
              <a:rPr dirty="0" sz="1200">
                <a:latin typeface="Times New Roman"/>
                <a:cs typeface="Times New Roman"/>
              </a:rPr>
              <a:t>if you get a topic like the </a:t>
            </a:r>
            <a:r>
              <a:rPr dirty="0" sz="1200" spc="-5">
                <a:latin typeface="Times New Roman"/>
                <a:cs typeface="Times New Roman"/>
              </a:rPr>
              <a:t>following: </a:t>
            </a:r>
            <a:r>
              <a:rPr dirty="0" sz="1200">
                <a:latin typeface="Times New Roman"/>
                <a:cs typeface="Times New Roman"/>
              </a:rPr>
              <a:t>“Who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freer---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master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servant”?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obvious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conclusive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the nature of </a:t>
            </a:r>
            <a:r>
              <a:rPr dirty="0" sz="1200" spc="-5">
                <a:latin typeface="Times New Roman"/>
                <a:cs typeface="Times New Roman"/>
              </a:rPr>
              <a:t>freedom.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rabicPeriod" startAt="3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Characteristics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of Academic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Essays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375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concepts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versa.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Gather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description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38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Relate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sources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1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various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aspects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But you are being asked to consider various </a:t>
            </a:r>
            <a:r>
              <a:rPr dirty="0" sz="1200" spc="-5">
                <a:latin typeface="Times New Roman"/>
                <a:cs typeface="Times New Roman"/>
              </a:rPr>
              <a:t>aspects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problem, </a:t>
            </a:r>
            <a:r>
              <a:rPr dirty="0" sz="1200">
                <a:latin typeface="Times New Roman"/>
                <a:cs typeface="Times New Roman"/>
              </a:rPr>
              <a:t>select the approach,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appropriate to you and to </a:t>
            </a:r>
            <a:r>
              <a:rPr dirty="0" sz="1200" spc="-5">
                <a:latin typeface="Times New Roman"/>
                <a:cs typeface="Times New Roman"/>
              </a:rPr>
              <a:t>develop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according </a:t>
            </a:r>
            <a:r>
              <a:rPr dirty="0" sz="1200">
                <a:latin typeface="Times New Roman"/>
                <a:cs typeface="Times New Roman"/>
              </a:rPr>
              <a:t>to a well </a:t>
            </a:r>
            <a:r>
              <a:rPr dirty="0" sz="1200" spc="-5">
                <a:latin typeface="Times New Roman"/>
                <a:cs typeface="Times New Roman"/>
              </a:rPr>
              <a:t>thought-out plan. So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would be your </a:t>
            </a:r>
            <a:r>
              <a:rPr dirty="0" sz="1200" spc="-5">
                <a:latin typeface="Times New Roman"/>
                <a:cs typeface="Times New Roman"/>
              </a:rPr>
              <a:t>immediate </a:t>
            </a:r>
            <a:r>
              <a:rPr dirty="0" sz="1200">
                <a:latin typeface="Times New Roman"/>
                <a:cs typeface="Times New Roman"/>
              </a:rPr>
              <a:t>concern when choosing an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topic?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yourself: what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about? In all respects, it would be </a:t>
            </a:r>
            <a:r>
              <a:rPr dirty="0" sz="1200" spc="-5">
                <a:latin typeface="Times New Roman"/>
                <a:cs typeface="Times New Roman"/>
              </a:rPr>
              <a:t>CONTENT, </a:t>
            </a:r>
            <a:r>
              <a:rPr dirty="0" sz="1200">
                <a:latin typeface="Times New Roman"/>
                <a:cs typeface="Times New Roman"/>
              </a:rPr>
              <a:t>i.e. what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to be put into it.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are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different </a:t>
            </a:r>
            <a:r>
              <a:rPr dirty="0" sz="1200" spc="-5">
                <a:latin typeface="Times New Roman"/>
                <a:cs typeface="Times New Roman"/>
              </a:rPr>
              <a:t>aspects </a:t>
            </a:r>
            <a:r>
              <a:rPr dirty="0" sz="1200">
                <a:latin typeface="Times New Roman"/>
                <a:cs typeface="Times New Roman"/>
              </a:rPr>
              <a:t>that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have to consider: content, </a:t>
            </a:r>
            <a:r>
              <a:rPr dirty="0" sz="1200" spc="-5">
                <a:latin typeface="Times New Roman"/>
                <a:cs typeface="Times New Roman"/>
              </a:rPr>
              <a:t>concepts,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judgment, </a:t>
            </a:r>
            <a:r>
              <a:rPr dirty="0" sz="1200">
                <a:latin typeface="Times New Roman"/>
                <a:cs typeface="Times New Roman"/>
              </a:rPr>
              <a:t>and knowledge.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content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key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extent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environmental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pollution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affect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global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warning?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 global </a:t>
            </a:r>
            <a:r>
              <a:rPr dirty="0" sz="1200" spc="-5">
                <a:latin typeface="Times New Roman"/>
                <a:cs typeface="Times New Roman"/>
              </a:rPr>
              <a:t>warming, environmental pollution and not about </a:t>
            </a:r>
            <a:r>
              <a:rPr dirty="0" sz="1200">
                <a:latin typeface="Times New Roman"/>
                <a:cs typeface="Times New Roman"/>
              </a:rPr>
              <a:t>the Indus dolphin or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Houbara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bustard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near </a:t>
            </a:r>
            <a:r>
              <a:rPr dirty="0" sz="1200">
                <a:latin typeface="Times New Roman"/>
                <a:cs typeface="Times New Roman"/>
              </a:rPr>
              <a:t>extinction </a:t>
            </a:r>
            <a:r>
              <a:rPr dirty="0" sz="1200" spc="-5">
                <a:latin typeface="Times New Roman"/>
                <a:cs typeface="Times New Roman"/>
              </a:rPr>
              <a:t>species.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2-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concepts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focused.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e.g. To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extent </a:t>
            </a:r>
            <a:r>
              <a:rPr dirty="0" sz="1200" spc="-5">
                <a:latin typeface="Times New Roman"/>
                <a:cs typeface="Times New Roman"/>
              </a:rPr>
              <a:t>does environment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 style of the Hunza people affect 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longevity. Here the </a:t>
            </a:r>
            <a:r>
              <a:rPr dirty="0" sz="1200" spc="-5">
                <a:latin typeface="Times New Roman"/>
                <a:cs typeface="Times New Roman"/>
              </a:rPr>
              <a:t>essay is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-5">
                <a:latin typeface="Times New Roman"/>
                <a:cs typeface="Times New Roman"/>
              </a:rPr>
              <a:t>relationship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exists between </a:t>
            </a:r>
            <a:r>
              <a:rPr dirty="0" sz="1200">
                <a:latin typeface="Times New Roman"/>
                <a:cs typeface="Times New Roman"/>
              </a:rPr>
              <a:t>three concepts: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environment,</a:t>
            </a:r>
            <a:r>
              <a:rPr dirty="0" sz="1200">
                <a:latin typeface="Times New Roman"/>
                <a:cs typeface="Times New Roman"/>
              </a:rPr>
              <a:t> social </a:t>
            </a:r>
            <a:r>
              <a:rPr dirty="0" sz="1200" spc="-5">
                <a:latin typeface="Times New Roman"/>
                <a:cs typeface="Times New Roman"/>
              </a:rPr>
              <a:t>organization </a:t>
            </a:r>
            <a:r>
              <a:rPr dirty="0" sz="1200">
                <a:latin typeface="Times New Roman"/>
                <a:cs typeface="Times New Roman"/>
              </a:rPr>
              <a:t>(life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style)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health.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buAutoNum type="arabicPlain" startAt="3"/>
              <a:tabLst>
                <a:tab pos="183515" algn="l"/>
              </a:tabLst>
            </a:pPr>
            <a:r>
              <a:rPr dirty="0" sz="1200">
                <a:latin typeface="Times New Roman"/>
                <a:cs typeface="Times New Roman"/>
              </a:rPr>
              <a:t>Third, you are asked for </a:t>
            </a:r>
            <a:r>
              <a:rPr dirty="0" sz="1200" spc="-5">
                <a:latin typeface="Times New Roman"/>
                <a:cs typeface="Times New Roman"/>
              </a:rPr>
              <a:t>judgment. </a:t>
            </a:r>
            <a:r>
              <a:rPr dirty="0" sz="1200">
                <a:latin typeface="Times New Roman"/>
                <a:cs typeface="Times New Roman"/>
              </a:rPr>
              <a:t>In the light of your </a:t>
            </a:r>
            <a:r>
              <a:rPr dirty="0" sz="1200" spc="-5">
                <a:latin typeface="Times New Roman"/>
                <a:cs typeface="Times New Roman"/>
              </a:rPr>
              <a:t>reading and your knowledge you 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say something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pass some </a:t>
            </a:r>
            <a:r>
              <a:rPr dirty="0" sz="1200">
                <a:latin typeface="Times New Roman"/>
                <a:cs typeface="Times New Roman"/>
              </a:rPr>
              <a:t>judgment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extent”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implies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truth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suggested. </a:t>
            </a:r>
            <a:r>
              <a:rPr dirty="0" sz="1200" spc="-5">
                <a:latin typeface="Times New Roman"/>
                <a:cs typeface="Times New Roman"/>
              </a:rPr>
              <a:t>The terms </a:t>
            </a:r>
            <a:r>
              <a:rPr dirty="0" sz="1200">
                <a:latin typeface="Times New Roman"/>
                <a:cs typeface="Times New Roman"/>
              </a:rPr>
              <a:t>“Why”, </a:t>
            </a:r>
            <a:r>
              <a:rPr dirty="0" sz="1200" spc="-5">
                <a:latin typeface="Times New Roman"/>
                <a:cs typeface="Times New Roman"/>
              </a:rPr>
              <a:t>“How </a:t>
            </a:r>
            <a:r>
              <a:rPr dirty="0" sz="1200">
                <a:latin typeface="Times New Roman"/>
                <a:cs typeface="Times New Roman"/>
              </a:rPr>
              <a:t>far you think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true” allow room for you to deny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question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asked.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clear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academic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essays</a:t>
            </a:r>
            <a:r>
              <a:rPr dirty="0" sz="1200">
                <a:latin typeface="Times New Roman"/>
                <a:cs typeface="Times New Roman"/>
              </a:rPr>
              <a:t> 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considerable room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difference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judgment/opinion.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lain" startAt="4"/>
              <a:tabLst>
                <a:tab pos="217170" algn="l"/>
              </a:tabLst>
            </a:pPr>
            <a:r>
              <a:rPr dirty="0" sz="1200">
                <a:latin typeface="Times New Roman"/>
                <a:cs typeface="Times New Roman"/>
              </a:rPr>
              <a:t>Lastly,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essays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bodies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knowledge,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 disciplines.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topics that are very broad. e.g. Photography, Inflation, </a:t>
            </a:r>
            <a:r>
              <a:rPr dirty="0" sz="1200" spc="-5">
                <a:latin typeface="Times New Roman"/>
                <a:cs typeface="Times New Roman"/>
              </a:rPr>
              <a:t>Happiness, </a:t>
            </a:r>
            <a:r>
              <a:rPr dirty="0" sz="1200">
                <a:latin typeface="Times New Roman"/>
                <a:cs typeface="Times New Roman"/>
              </a:rPr>
              <a:t>Travel,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Discipline, etc. </a:t>
            </a: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major difficulties </a:t>
            </a:r>
            <a:r>
              <a:rPr dirty="0" sz="1200">
                <a:latin typeface="Times New Roman"/>
                <a:cs typeface="Times New Roman"/>
              </a:rPr>
              <a:t>occurs in </a:t>
            </a:r>
            <a:r>
              <a:rPr dirty="0" sz="1200" spc="-5">
                <a:latin typeface="Times New Roman"/>
                <a:cs typeface="Times New Roman"/>
              </a:rPr>
              <a:t>actually defining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limiting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settle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precise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once.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extensively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talk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tutor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narrow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 the subject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topic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specifically</a:t>
            </a:r>
            <a:r>
              <a:rPr dirty="0" sz="1200" spc="-5">
                <a:latin typeface="Times New Roman"/>
                <a:cs typeface="Times New Roman"/>
              </a:rPr>
              <a:t> manageable </a:t>
            </a:r>
            <a:r>
              <a:rPr dirty="0" sz="1200">
                <a:latin typeface="Times New Roman"/>
                <a:cs typeface="Times New Roman"/>
              </a:rPr>
              <a:t>focus.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analyze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analyze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being directed. Look </a:t>
            </a:r>
            <a:r>
              <a:rPr dirty="0" sz="1200">
                <a:latin typeface="Times New Roman"/>
                <a:cs typeface="Times New Roman"/>
              </a:rPr>
              <a:t>first for 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key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direct </a:t>
            </a:r>
            <a:r>
              <a:rPr dirty="0" sz="1200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content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handled.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topics: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buChar char="-"/>
              <a:tabLst>
                <a:tab pos="114935" algn="l"/>
              </a:tabLst>
            </a:pPr>
            <a:r>
              <a:rPr dirty="0" sz="1200">
                <a:latin typeface="Times New Roman"/>
                <a:cs typeface="Times New Roman"/>
              </a:rPr>
              <a:t>In the past twenty years </a:t>
            </a:r>
            <a:r>
              <a:rPr dirty="0" sz="1200" spc="-5">
                <a:latin typeface="Times New Roman"/>
                <a:cs typeface="Times New Roman"/>
              </a:rPr>
              <a:t>(developments) </a:t>
            </a:r>
            <a:r>
              <a:rPr dirty="0" sz="1200">
                <a:latin typeface="Times New Roman"/>
                <a:cs typeface="Times New Roman"/>
              </a:rPr>
              <a:t>in the field of electronics have (revolutionized)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computer</a:t>
            </a:r>
            <a:r>
              <a:rPr dirty="0" sz="1200">
                <a:latin typeface="Times New Roman"/>
                <a:cs typeface="Times New Roman"/>
              </a:rPr>
              <a:t> industry</a:t>
            </a:r>
            <a:endParaRPr sz="1200">
              <a:latin typeface="Times New Roman"/>
              <a:cs typeface="Times New Roman"/>
            </a:endParaRPr>
          </a:p>
          <a:p>
            <a:pPr algn="just" marL="101600" indent="-89535">
              <a:lnSpc>
                <a:spcPts val="1315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(causes)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inflation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>
                <a:latin typeface="Times New Roman"/>
                <a:cs typeface="Times New Roman"/>
              </a:rPr>
              <a:t>important (religious and</a:t>
            </a:r>
            <a:r>
              <a:rPr dirty="0" sz="1200" spc="-5">
                <a:latin typeface="Times New Roman"/>
                <a:cs typeface="Times New Roman"/>
              </a:rPr>
              <a:t> national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holidays)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(Pakistan)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(milestone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(Hazards)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(small)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(quality)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Pakistan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schools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(declined).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33655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task in most </a:t>
            </a:r>
            <a:r>
              <a:rPr dirty="0" sz="1200" spc="-5">
                <a:latin typeface="Times New Roman"/>
                <a:cs typeface="Times New Roman"/>
              </a:rPr>
              <a:t>college essays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‘describe’ </a:t>
            </a:r>
            <a:r>
              <a:rPr dirty="0" sz="1200">
                <a:latin typeface="Times New Roman"/>
                <a:cs typeface="Times New Roman"/>
              </a:rPr>
              <a:t>and ‘analyze’. The task of describing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identified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directional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‘explain’,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‘review’,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‘outline’,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‘enumerate’,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‘list’,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‘summarize’,</a:t>
            </a:r>
            <a:r>
              <a:rPr dirty="0" sz="1200">
                <a:latin typeface="Times New Roman"/>
                <a:cs typeface="Times New Roman"/>
              </a:rPr>
              <a:t> ‘state’,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direct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to analyze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material</a:t>
            </a:r>
            <a:r>
              <a:rPr dirty="0" sz="1200">
                <a:latin typeface="Times New Roman"/>
                <a:cs typeface="Times New Roman"/>
              </a:rPr>
              <a:t> include </a:t>
            </a:r>
            <a:r>
              <a:rPr dirty="0" sz="1200" spc="-10">
                <a:latin typeface="Times New Roman"/>
                <a:cs typeface="Times New Roman"/>
              </a:rPr>
              <a:t>‘assess’, </a:t>
            </a:r>
            <a:r>
              <a:rPr dirty="0" sz="1200" spc="-5">
                <a:latin typeface="Times New Roman"/>
                <a:cs typeface="Times New Roman"/>
              </a:rPr>
              <a:t> ‘compare’, ‘contrast’, criticize’,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‘analyze’, ‘discuss’.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NOTE-MAKING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ESSAY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Note making, is </a:t>
            </a:r>
            <a:r>
              <a:rPr dirty="0" sz="1200">
                <a:latin typeface="Times New Roman"/>
                <a:cs typeface="Times New Roman"/>
              </a:rPr>
              <a:t>a skill and it </a:t>
            </a:r>
            <a:r>
              <a:rPr dirty="0" sz="1200" spc="-5">
                <a:latin typeface="Times New Roman"/>
                <a:cs typeface="Times New Roman"/>
              </a:rPr>
              <a:t>is also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peculiarly </a:t>
            </a:r>
            <a:r>
              <a:rPr dirty="0" sz="1200">
                <a:latin typeface="Times New Roman"/>
                <a:cs typeface="Times New Roman"/>
              </a:rPr>
              <a:t>personal affair.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find plenty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advice from a lot of people on </a:t>
            </a:r>
            <a:r>
              <a:rPr dirty="0" sz="1200" spc="-5">
                <a:latin typeface="Times New Roman"/>
                <a:cs typeface="Times New Roman"/>
              </a:rPr>
              <a:t>how </a:t>
            </a:r>
            <a:r>
              <a:rPr dirty="0" sz="1200">
                <a:latin typeface="Times New Roman"/>
                <a:cs typeface="Times New Roman"/>
              </a:rPr>
              <a:t>to take </a:t>
            </a:r>
            <a:r>
              <a:rPr dirty="0" sz="1200" spc="-5">
                <a:latin typeface="Times New Roman"/>
                <a:cs typeface="Times New Roman"/>
              </a:rPr>
              <a:t>notes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notes. Notice the </a:t>
            </a:r>
            <a:r>
              <a:rPr dirty="0" sz="1200" spc="-5">
                <a:latin typeface="Times New Roman"/>
                <a:cs typeface="Times New Roman"/>
              </a:rPr>
              <a:t>difference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 note-taking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note- making. </a:t>
            </a:r>
            <a:r>
              <a:rPr dirty="0" sz="1200">
                <a:latin typeface="Times New Roman"/>
                <a:cs typeface="Times New Roman"/>
              </a:rPr>
              <a:t>To take notes </a:t>
            </a:r>
            <a:r>
              <a:rPr dirty="0" sz="1200" spc="-5">
                <a:latin typeface="Times New Roman"/>
                <a:cs typeface="Times New Roman"/>
              </a:rPr>
              <a:t>suggests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passive </a:t>
            </a:r>
            <a:r>
              <a:rPr dirty="0" sz="1200">
                <a:latin typeface="Times New Roman"/>
                <a:cs typeface="Times New Roman"/>
              </a:rPr>
              <a:t>procedure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recording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verbatim - </a:t>
            </a:r>
            <a:r>
              <a:rPr dirty="0" sz="1200" spc="-5">
                <a:latin typeface="Times New Roman"/>
                <a:cs typeface="Times New Roman"/>
              </a:rPr>
              <a:t>/v3:beitim/-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word for word, exactly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spoken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written, like a secretary does while taking dictation from the </a:t>
            </a:r>
            <a:r>
              <a:rPr dirty="0" sz="1200" spc="-5">
                <a:latin typeface="Times New Roman"/>
                <a:cs typeface="Times New Roman"/>
              </a:rPr>
              <a:t>boss.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make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notes demands </a:t>
            </a:r>
            <a:r>
              <a:rPr dirty="0" sz="1200">
                <a:latin typeface="Times New Roman"/>
                <a:cs typeface="Times New Roman"/>
              </a:rPr>
              <a:t> your full attention. It requires you to be alert to the </a:t>
            </a:r>
            <a:r>
              <a:rPr dirty="0" sz="1200" spc="-5">
                <a:latin typeface="Times New Roman"/>
                <a:cs typeface="Times New Roman"/>
              </a:rPr>
              <a:t>pattern of </a:t>
            </a:r>
            <a:r>
              <a:rPr dirty="0" sz="1200">
                <a:latin typeface="Times New Roman"/>
                <a:cs typeface="Times New Roman"/>
              </a:rPr>
              <a:t>thought, </a:t>
            </a:r>
            <a:r>
              <a:rPr dirty="0" sz="1200" spc="-5">
                <a:latin typeface="Times New Roman"/>
                <a:cs typeface="Times New Roman"/>
              </a:rPr>
              <a:t>its direction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development. </a:t>
            </a:r>
            <a:r>
              <a:rPr dirty="0" sz="1200">
                <a:latin typeface="Times New Roman"/>
                <a:cs typeface="Times New Roman"/>
              </a:rPr>
              <a:t>You also have to distinguish between what </a:t>
            </a:r>
            <a:r>
              <a:rPr dirty="0" sz="1200" spc="-5">
                <a:latin typeface="Times New Roman"/>
                <a:cs typeface="Times New Roman"/>
              </a:rPr>
              <a:t>is important </a:t>
            </a:r>
            <a:r>
              <a:rPr dirty="0" sz="1200">
                <a:latin typeface="Times New Roman"/>
                <a:cs typeface="Times New Roman"/>
              </a:rPr>
              <a:t>and essential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not. And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active involvement </a:t>
            </a:r>
            <a:r>
              <a:rPr dirty="0" sz="1200">
                <a:latin typeface="Times New Roman"/>
                <a:cs typeface="Times New Roman"/>
              </a:rPr>
              <a:t>on your part </a:t>
            </a:r>
            <a:r>
              <a:rPr dirty="0" sz="1200" spc="-5">
                <a:latin typeface="Times New Roman"/>
                <a:cs typeface="Times New Roman"/>
              </a:rPr>
              <a:t>that makes note-making </a:t>
            </a:r>
            <a:r>
              <a:rPr dirty="0" sz="1200">
                <a:latin typeface="Times New Roman"/>
                <a:cs typeface="Times New Roman"/>
              </a:rPr>
              <a:t>difficult: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what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note-making</a:t>
            </a:r>
            <a:r>
              <a:rPr dirty="0" sz="1200">
                <a:latin typeface="Times New Roman"/>
                <a:cs typeface="Times New Roman"/>
              </a:rPr>
              <a:t> valuable.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 said at the beginning note </a:t>
            </a:r>
            <a:r>
              <a:rPr dirty="0" sz="1200" spc="-5">
                <a:latin typeface="Times New Roman"/>
                <a:cs typeface="Times New Roman"/>
              </a:rPr>
              <a:t>making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personal affair. How often you have found your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fellow students who have borrowed </a:t>
            </a:r>
            <a:r>
              <a:rPr dirty="0" sz="1200">
                <a:latin typeface="Times New Roman"/>
                <a:cs typeface="Times New Roman"/>
              </a:rPr>
              <a:t>your notes </a:t>
            </a:r>
            <a:r>
              <a:rPr dirty="0" sz="1200" spc="-5">
                <a:latin typeface="Times New Roman"/>
                <a:cs typeface="Times New Roman"/>
              </a:rPr>
              <a:t>complain, </a:t>
            </a:r>
            <a:r>
              <a:rPr dirty="0" sz="1200">
                <a:latin typeface="Times New Roman"/>
                <a:cs typeface="Times New Roman"/>
              </a:rPr>
              <a:t>that they cannot </a:t>
            </a:r>
            <a:r>
              <a:rPr dirty="0" sz="1200" spc="-5">
                <a:latin typeface="Times New Roman"/>
                <a:cs typeface="Times New Roman"/>
              </a:rPr>
              <a:t>follow </a:t>
            </a:r>
            <a:r>
              <a:rPr dirty="0" sz="1200">
                <a:latin typeface="Times New Roman"/>
                <a:cs typeface="Times New Roman"/>
              </a:rPr>
              <a:t>them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vice versa. This </a:t>
            </a:r>
            <a:r>
              <a:rPr dirty="0" sz="1200" spc="-5">
                <a:latin typeface="Times New Roman"/>
                <a:cs typeface="Times New Roman"/>
              </a:rPr>
              <a:t>is because you recorded information and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decided </a:t>
            </a:r>
            <a:r>
              <a:rPr dirty="0" sz="1200">
                <a:latin typeface="Times New Roman"/>
                <a:cs typeface="Times New Roman"/>
              </a:rPr>
              <a:t>suited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 purpose. </a:t>
            </a:r>
            <a:r>
              <a:rPr dirty="0" sz="1200">
                <a:latin typeface="Times New Roman"/>
                <a:cs typeface="Times New Roman"/>
              </a:rPr>
              <a:t>Therefore </a:t>
            </a:r>
            <a:r>
              <a:rPr dirty="0" sz="1200" spc="-5">
                <a:latin typeface="Times New Roman"/>
                <a:cs typeface="Times New Roman"/>
              </a:rPr>
              <a:t>what you select </a:t>
            </a:r>
            <a:r>
              <a:rPr dirty="0" sz="1200">
                <a:latin typeface="Times New Roman"/>
                <a:cs typeface="Times New Roman"/>
              </a:rPr>
              <a:t>and how you record it one </a:t>
            </a:r>
            <a:r>
              <a:rPr dirty="0" sz="1200" spc="-5">
                <a:latin typeface="Times New Roman"/>
                <a:cs typeface="Times New Roman"/>
              </a:rPr>
              <a:t>matters </a:t>
            </a:r>
            <a:r>
              <a:rPr dirty="0" sz="1200">
                <a:latin typeface="Times New Roman"/>
                <a:cs typeface="Times New Roman"/>
              </a:rPr>
              <a:t>of personal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choice.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pick up a </a:t>
            </a:r>
            <a:r>
              <a:rPr dirty="0" sz="1200" spc="-5">
                <a:latin typeface="Times New Roman"/>
                <a:cs typeface="Times New Roman"/>
              </a:rPr>
              <a:t>few </a:t>
            </a:r>
            <a:r>
              <a:rPr dirty="0" sz="1200">
                <a:latin typeface="Times New Roman"/>
                <a:cs typeface="Times New Roman"/>
              </a:rPr>
              <a:t>useful tips from working at other peoples </a:t>
            </a:r>
            <a:r>
              <a:rPr dirty="0" sz="1200" spc="-5">
                <a:latin typeface="Times New Roman"/>
                <a:cs typeface="Times New Roman"/>
              </a:rPr>
              <a:t>methods,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ultimately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system,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flexible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different purposes.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Why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 You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Make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Notes?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moment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role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note-making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Why spend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recording </a:t>
            </a:r>
            <a:r>
              <a:rPr dirty="0" sz="1200" spc="-5">
                <a:latin typeface="Times New Roman"/>
                <a:cs typeface="Times New Roman"/>
              </a:rPr>
              <a:t>material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already available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printed form?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practical and </a:t>
            </a:r>
            <a:r>
              <a:rPr dirty="0" sz="1200" spc="-5">
                <a:latin typeface="Times New Roman"/>
                <a:cs typeface="Times New Roman"/>
              </a:rPr>
              <a:t>intellectual measures </a:t>
            </a:r>
            <a:r>
              <a:rPr dirty="0" sz="1200">
                <a:latin typeface="Times New Roman"/>
                <a:cs typeface="Times New Roman"/>
              </a:rPr>
              <a:t>for this.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Notes are aids to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memory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If you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 for writing a long </a:t>
            </a:r>
            <a:r>
              <a:rPr dirty="0" sz="1200" spc="-5">
                <a:latin typeface="Times New Roman"/>
                <a:cs typeface="Times New Roman"/>
              </a:rPr>
              <a:t>essay, </a:t>
            </a:r>
            <a:r>
              <a:rPr dirty="0" sz="1200">
                <a:latin typeface="Times New Roman"/>
                <a:cs typeface="Times New Roman"/>
              </a:rPr>
              <a:t>then 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some system </a:t>
            </a:r>
            <a:r>
              <a:rPr dirty="0" sz="1200">
                <a:latin typeface="Times New Roman"/>
                <a:cs typeface="Times New Roman"/>
              </a:rPr>
              <a:t>of sorting and recalling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>
                <a:latin typeface="Times New Roman"/>
                <a:cs typeface="Times New Roman"/>
              </a:rPr>
              <a:t> you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need when you finally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>
                <a:latin typeface="Times New Roman"/>
                <a:cs typeface="Times New Roman"/>
              </a:rPr>
              <a:t> to writing the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2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 notes are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raw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material</a:t>
            </a:r>
            <a:r>
              <a:rPr dirty="0" sz="1200">
                <a:latin typeface="Times New Roman"/>
                <a:cs typeface="Times New Roman"/>
              </a:rPr>
              <a:t> on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work: facts, figures, direct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quickly</a:t>
            </a:r>
            <a:r>
              <a:rPr dirty="0" sz="1200">
                <a:latin typeface="Times New Roman"/>
                <a:cs typeface="Times New Roman"/>
              </a:rPr>
              <a:t> available.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note-making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to: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Summarize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arguments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Select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relevant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-Understand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interpret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original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source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-Continually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clarify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adjust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perception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increasing</a:t>
            </a:r>
            <a:r>
              <a:rPr dirty="0" sz="1200" spc="-5">
                <a:latin typeface="Times New Roman"/>
                <a:cs typeface="Times New Roman"/>
              </a:rPr>
              <a:t> understanding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material.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 note making is an </a:t>
            </a:r>
            <a:r>
              <a:rPr dirty="0" sz="1200">
                <a:latin typeface="Times New Roman"/>
                <a:cs typeface="Times New Roman"/>
              </a:rPr>
              <a:t>important </a:t>
            </a:r>
            <a:r>
              <a:rPr dirty="0" sz="1200" spc="-5">
                <a:latin typeface="Times New Roman"/>
                <a:cs typeface="Times New Roman"/>
              </a:rPr>
              <a:t>stage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your understanding of your essay topic. It is the </a:t>
            </a:r>
            <a:r>
              <a:rPr dirty="0" sz="1200">
                <a:latin typeface="Times New Roman"/>
                <a:cs typeface="Times New Roman"/>
              </a:rPr>
              <a:t> notes </a:t>
            </a:r>
            <a:r>
              <a:rPr dirty="0" sz="1200" spc="-5">
                <a:latin typeface="Times New Roman"/>
                <a:cs typeface="Times New Roman"/>
              </a:rPr>
              <a:t>that you make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will provide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basis </a:t>
            </a:r>
            <a:r>
              <a:rPr dirty="0" sz="1200">
                <a:latin typeface="Times New Roman"/>
                <a:cs typeface="Times New Roman"/>
              </a:rPr>
              <a:t>for your </a:t>
            </a:r>
            <a:r>
              <a:rPr dirty="0" sz="1200" spc="-5">
                <a:latin typeface="Times New Roman"/>
                <a:cs typeface="Times New Roman"/>
              </a:rPr>
              <a:t>thinking </a:t>
            </a:r>
            <a:r>
              <a:rPr dirty="0" sz="1200">
                <a:latin typeface="Times New Roman"/>
                <a:cs typeface="Times New Roman"/>
              </a:rPr>
              <a:t>and the </a:t>
            </a:r>
            <a:r>
              <a:rPr dirty="0" sz="1200" spc="-5">
                <a:latin typeface="Times New Roman"/>
                <a:cs typeface="Times New Roman"/>
              </a:rPr>
              <a:t>materials </a:t>
            </a:r>
            <a:r>
              <a:rPr dirty="0" sz="1200">
                <a:latin typeface="Times New Roman"/>
                <a:cs typeface="Times New Roman"/>
              </a:rPr>
              <a:t>for 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What do you note, and how </a:t>
            </a:r>
            <a:r>
              <a:rPr dirty="0" sz="1200" spc="-5">
                <a:latin typeface="Times New Roman"/>
                <a:cs typeface="Times New Roman"/>
              </a:rPr>
              <a:t>much?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content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volume </a:t>
            </a:r>
            <a:r>
              <a:rPr dirty="0" sz="1200">
                <a:latin typeface="Times New Roman"/>
                <a:cs typeface="Times New Roman"/>
              </a:rPr>
              <a:t>of your notes are governed 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 The </a:t>
            </a:r>
            <a:r>
              <a:rPr dirty="0" sz="1200" spc="-5">
                <a:latin typeface="Times New Roman"/>
                <a:cs typeface="Times New Roman"/>
              </a:rPr>
              <a:t>writer’s </a:t>
            </a:r>
            <a:r>
              <a:rPr dirty="0" sz="1200">
                <a:latin typeface="Times New Roman"/>
                <a:cs typeface="Times New Roman"/>
              </a:rPr>
              <a:t>intention: you have to shift the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and ideas being presented by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writer to </a:t>
            </a:r>
            <a:r>
              <a:rPr dirty="0" sz="1200" spc="-5">
                <a:latin typeface="Times New Roman"/>
                <a:cs typeface="Times New Roman"/>
              </a:rPr>
              <a:t>meet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own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 intentions. The writer </a:t>
            </a:r>
            <a:r>
              <a:rPr dirty="0" sz="1200" spc="-5">
                <a:latin typeface="Times New Roman"/>
                <a:cs typeface="Times New Roman"/>
              </a:rPr>
              <a:t>presented his ideas according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2-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discipline</a:t>
            </a:r>
            <a:r>
              <a:rPr dirty="0" sz="1200" spc="-5">
                <a:latin typeface="Times New Roman"/>
                <a:cs typeface="Times New Roman"/>
              </a:rPr>
              <a:t>/subject </a:t>
            </a:r>
            <a:r>
              <a:rPr dirty="0" sz="1200">
                <a:latin typeface="Times New Roman"/>
                <a:cs typeface="Times New Roman"/>
              </a:rPr>
              <a:t>in which you are working. If you are </a:t>
            </a:r>
            <a:r>
              <a:rPr dirty="0" sz="1200" spc="-5">
                <a:latin typeface="Times New Roman"/>
                <a:cs typeface="Times New Roman"/>
              </a:rPr>
              <a:t>working </a:t>
            </a:r>
            <a:r>
              <a:rPr dirty="0" sz="1200">
                <a:latin typeface="Times New Roman"/>
                <a:cs typeface="Times New Roman"/>
              </a:rPr>
              <a:t>on a literary 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historical topic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need to include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direct </a:t>
            </a:r>
            <a:r>
              <a:rPr dirty="0" sz="1200" spc="-5">
                <a:latin typeface="Times New Roman"/>
                <a:cs typeface="Times New Roman"/>
              </a:rPr>
              <a:t>quotations.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sz="1200">
                <a:latin typeface="Times New Roman"/>
                <a:cs typeface="Times New Roman"/>
              </a:rPr>
              <a:t>copy them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accuracy.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 own purpose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relation to your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topic.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not take down everything - that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just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possible  you would be </a:t>
            </a:r>
            <a:r>
              <a:rPr dirty="0" sz="1200" spc="-5">
                <a:latin typeface="Times New Roman"/>
                <a:cs typeface="Times New Roman"/>
              </a:rPr>
              <a:t>wasting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notes will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useful</a:t>
            </a:r>
            <a:r>
              <a:rPr dirty="0" sz="1200">
                <a:latin typeface="Times New Roman"/>
                <a:cs typeface="Times New Roman"/>
              </a:rPr>
              <a:t> 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shaped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beginning to </a:t>
            </a:r>
            <a:r>
              <a:rPr dirty="0" sz="1200" spc="-5">
                <a:latin typeface="Times New Roman"/>
                <a:cs typeface="Times New Roman"/>
              </a:rPr>
              <a:t>suit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demands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topic.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take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notes?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depending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nature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sources.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 principles which apply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all </a:t>
            </a:r>
            <a:r>
              <a:rPr dirty="0" sz="1200" spc="-5">
                <a:latin typeface="Times New Roman"/>
                <a:cs typeface="Times New Roman"/>
              </a:rPr>
              <a:t>methods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note-making.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216</a:t>
            </a:fld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90676"/>
            <a:ext cx="5627370" cy="2660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77165" indent="-165100">
              <a:lnSpc>
                <a:spcPts val="1405"/>
              </a:lnSpc>
              <a:spcBef>
                <a:spcPts val="100"/>
              </a:spcBef>
              <a:buAutoNum type="arabicPlain"/>
              <a:tabLst>
                <a:tab pos="1778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Clear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Identification: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6300"/>
              </a:lnSpc>
              <a:spcBef>
                <a:spcPts val="15"/>
              </a:spcBef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should record the author, title, place of publication, </a:t>
            </a:r>
            <a:r>
              <a:rPr dirty="0" sz="1200" spc="-5">
                <a:latin typeface="Times New Roman"/>
                <a:cs typeface="Times New Roman"/>
              </a:rPr>
              <a:t>publisher </a:t>
            </a:r>
            <a:r>
              <a:rPr dirty="0" sz="1200">
                <a:latin typeface="Times New Roman"/>
                <a:cs typeface="Times New Roman"/>
              </a:rPr>
              <a:t>and edition and even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year of publication. Next to each key point or direct quotation you must </a:t>
            </a:r>
            <a:r>
              <a:rPr dirty="0" sz="1200">
                <a:latin typeface="Times New Roman"/>
                <a:cs typeface="Times New Roman"/>
              </a:rPr>
              <a:t>note the exact page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system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0"/>
              </a:lnSpc>
            </a:pPr>
            <a:r>
              <a:rPr dirty="0" sz="1200">
                <a:latin typeface="Times New Roman"/>
                <a:cs typeface="Times New Roman"/>
              </a:rPr>
              <a:t>Record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lain" startAt="2"/>
              <a:tabLst>
                <a:tab pos="186055" algn="l"/>
              </a:tabLst>
            </a:pPr>
            <a:r>
              <a:rPr dirty="0" sz="1200" b="1">
                <a:latin typeface="Times New Roman"/>
                <a:cs typeface="Times New Roman"/>
              </a:rPr>
              <a:t>Develop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them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flexibly,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rearrange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essay:</a:t>
            </a:r>
            <a:r>
              <a:rPr dirty="0" sz="1200">
                <a:latin typeface="Times New Roman"/>
                <a:cs typeface="Times New Roman"/>
              </a:rPr>
              <a:t> if on loose-paper,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the pages.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Times New Roman"/>
              <a:buAutoNum type="arabicPlain" startAt="2"/>
            </a:pPr>
            <a:endParaRPr sz="1100">
              <a:latin typeface="Times New Roman"/>
              <a:cs typeface="Times New Roman"/>
            </a:endParaRPr>
          </a:p>
          <a:p>
            <a:pPr marL="177165" indent="-165100">
              <a:lnSpc>
                <a:spcPts val="1410"/>
              </a:lnSpc>
              <a:buAutoNum type="arabicPlain" startAt="2"/>
              <a:tabLst>
                <a:tab pos="1778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Leave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room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your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comments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wide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margins.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useful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comments,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cross-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references,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77800" indent="-165735">
              <a:lnSpc>
                <a:spcPts val="1405"/>
              </a:lnSpc>
              <a:spcBef>
                <a:spcPts val="5"/>
              </a:spcBef>
              <a:buAutoNum type="arabicPlain" startAt="4"/>
              <a:tabLst>
                <a:tab pos="178435" algn="l"/>
              </a:tabLst>
            </a:pPr>
            <a:r>
              <a:rPr dirty="0" sz="1200" b="1">
                <a:latin typeface="Times New Roman"/>
                <a:cs typeface="Times New Roman"/>
              </a:rPr>
              <a:t>Develop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abbreviation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system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symbols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239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28700" y="3893311"/>
            <a:ext cx="22923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e.g.  </a:t>
            </a:r>
            <a:r>
              <a:rPr dirty="0" sz="1200" spc="-10">
                <a:latin typeface="Times New Roman"/>
                <a:cs typeface="Times New Roman"/>
              </a:rPr>
              <a:t>b/w  </a:t>
            </a:r>
            <a:r>
              <a:rPr dirty="0" sz="1200">
                <a:latin typeface="Times New Roman"/>
                <a:cs typeface="Times New Roman"/>
              </a:rPr>
              <a:t>&amp;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btw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28700" y="4944871"/>
            <a:ext cx="8636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28700" y="3893311"/>
            <a:ext cx="2053589" cy="14351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532765" marR="788670" indent="-825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>
                <a:latin typeface="Times New Roman"/>
                <a:cs typeface="Times New Roman"/>
              </a:rPr>
              <a:t> and</a:t>
            </a:r>
            <a:endParaRPr sz="1200">
              <a:latin typeface="Times New Roman"/>
              <a:cs typeface="Times New Roman"/>
            </a:endParaRPr>
          </a:p>
          <a:p>
            <a:pPr marL="532765" marR="8432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532765" marR="5080" indent="-533400">
              <a:lnSpc>
                <a:spcPts val="1380"/>
              </a:lnSpc>
              <a:tabLst>
                <a:tab pos="532765" algn="l"/>
              </a:tabLst>
            </a:pPr>
            <a:r>
              <a:rPr dirty="0" sz="1200">
                <a:latin typeface="Times New Roman"/>
                <a:cs typeface="Times New Roman"/>
              </a:rPr>
              <a:t>&gt;	greater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became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5470652"/>
            <a:ext cx="5628005" cy="371347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abbreviations for </a:t>
            </a:r>
            <a:r>
              <a:rPr dirty="0" sz="1200" spc="-5">
                <a:latin typeface="Times New Roman"/>
                <a:cs typeface="Times New Roman"/>
              </a:rPr>
              <a:t>common words. </a:t>
            </a:r>
            <a:r>
              <a:rPr dirty="0" sz="1200" b="1">
                <a:latin typeface="Times New Roman"/>
                <a:cs typeface="Times New Roman"/>
              </a:rPr>
              <a:t>agri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agriculture,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govt</a:t>
            </a:r>
            <a:r>
              <a:rPr dirty="0" sz="1200">
                <a:latin typeface="Times New Roman"/>
                <a:cs typeface="Times New Roman"/>
              </a:rPr>
              <a:t>. for </a:t>
            </a:r>
            <a:r>
              <a:rPr dirty="0" sz="1200" spc="-5">
                <a:latin typeface="Times New Roman"/>
                <a:cs typeface="Times New Roman"/>
              </a:rPr>
              <a:t>government, </a:t>
            </a:r>
            <a:r>
              <a:rPr dirty="0" sz="1200" spc="-5" b="1">
                <a:latin typeface="Times New Roman"/>
                <a:cs typeface="Times New Roman"/>
              </a:rPr>
              <a:t>sci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science,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C18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century</a:t>
            </a:r>
            <a:r>
              <a:rPr dirty="0" sz="1200" spc="-5" b="1">
                <a:latin typeface="Times New Roman"/>
                <a:cs typeface="Times New Roman"/>
              </a:rPr>
              <a:t>,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19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century.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Abbreviate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frequently: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Quaid-e-Azam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many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symbols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abbreviations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create confusion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you.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The techniques of outlining and note making </a:t>
            </a:r>
            <a:r>
              <a:rPr dirty="0" sz="1200">
                <a:latin typeface="Times New Roman"/>
                <a:cs typeface="Times New Roman"/>
              </a:rPr>
              <a:t>are related </a:t>
            </a:r>
            <a:r>
              <a:rPr dirty="0" sz="1200" spc="-5">
                <a:latin typeface="Times New Roman"/>
                <a:cs typeface="Times New Roman"/>
              </a:rPr>
              <a:t>whatever method </a:t>
            </a:r>
            <a:r>
              <a:rPr dirty="0" sz="1200">
                <a:latin typeface="Times New Roman"/>
                <a:cs typeface="Times New Roman"/>
              </a:rPr>
              <a:t>you choose 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keeping notes their form should clearly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the relative </a:t>
            </a:r>
            <a:r>
              <a:rPr dirty="0" sz="1200" spc="-5">
                <a:latin typeface="Times New Roman"/>
                <a:cs typeface="Times New Roman"/>
              </a:rPr>
              <a:t>importance of </a:t>
            </a:r>
            <a:r>
              <a:rPr dirty="0" sz="1200">
                <a:latin typeface="Times New Roman"/>
                <a:cs typeface="Times New Roman"/>
              </a:rPr>
              <a:t>ideas and their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relationship. An </a:t>
            </a:r>
            <a:r>
              <a:rPr dirty="0" sz="1200">
                <a:latin typeface="Times New Roman"/>
                <a:cs typeface="Times New Roman"/>
              </a:rPr>
              <a:t>outline, with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indention and </a:t>
            </a:r>
            <a:r>
              <a:rPr dirty="0" sz="1200" spc="-5">
                <a:latin typeface="Times New Roman"/>
                <a:cs typeface="Times New Roman"/>
              </a:rPr>
              <a:t>numbering system </a:t>
            </a:r>
            <a:r>
              <a:rPr dirty="0" sz="1200">
                <a:latin typeface="Times New Roman"/>
                <a:cs typeface="Times New Roman"/>
              </a:rPr>
              <a:t>helps you to visualize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related to the </a:t>
            </a:r>
            <a:r>
              <a:rPr dirty="0" sz="1200" spc="-5">
                <a:latin typeface="Times New Roman"/>
                <a:cs typeface="Times New Roman"/>
              </a:rPr>
              <a:t>others.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Read the following </a:t>
            </a:r>
            <a:r>
              <a:rPr dirty="0" sz="1200" spc="-5">
                <a:latin typeface="Times New Roman"/>
                <a:cs typeface="Times New Roman"/>
              </a:rPr>
              <a:t>passage.</a:t>
            </a:r>
            <a:r>
              <a:rPr dirty="0" sz="1200">
                <a:latin typeface="Times New Roman"/>
                <a:cs typeface="Times New Roman"/>
              </a:rPr>
              <a:t> Then read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sets</a:t>
            </a:r>
            <a:r>
              <a:rPr dirty="0" sz="1200">
                <a:latin typeface="Times New Roman"/>
                <a:cs typeface="Times New Roman"/>
              </a:rPr>
              <a:t> of notes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compare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this </a:t>
            </a:r>
            <a:r>
              <a:rPr dirty="0" sz="1200" spc="-5">
                <a:latin typeface="Times New Roman"/>
                <a:cs typeface="Times New Roman"/>
              </a:rPr>
              <a:t>discussion </a:t>
            </a:r>
            <a:r>
              <a:rPr dirty="0" sz="1200">
                <a:latin typeface="Times New Roman"/>
                <a:cs typeface="Times New Roman"/>
              </a:rPr>
              <a:t>of art history,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give </a:t>
            </a:r>
            <a:r>
              <a:rPr dirty="0" sz="1200" spc="-5">
                <a:latin typeface="Times New Roman"/>
                <a:cs typeface="Times New Roman"/>
              </a:rPr>
              <a:t>special emphasis </a:t>
            </a:r>
            <a:r>
              <a:rPr dirty="0" sz="1200">
                <a:latin typeface="Times New Roman"/>
                <a:cs typeface="Times New Roman"/>
              </a:rPr>
              <a:t>to three </a:t>
            </a:r>
            <a:r>
              <a:rPr dirty="0" sz="1200" spc="-5">
                <a:latin typeface="Times New Roman"/>
                <a:cs typeface="Times New Roman"/>
              </a:rPr>
              <a:t>basic </a:t>
            </a:r>
            <a:r>
              <a:rPr dirty="0" sz="1200">
                <a:latin typeface="Times New Roman"/>
                <a:cs typeface="Times New Roman"/>
              </a:rPr>
              <a:t>factors. </a:t>
            </a:r>
            <a:r>
              <a:rPr dirty="0" sz="1200" spc="-5">
                <a:latin typeface="Times New Roman"/>
                <a:cs typeface="Times New Roman"/>
              </a:rPr>
              <a:t>First,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background: the religious, </a:t>
            </a:r>
            <a:r>
              <a:rPr dirty="0" sz="1200" spc="-5">
                <a:latin typeface="Times New Roman"/>
                <a:cs typeface="Times New Roman"/>
              </a:rPr>
              <a:t>social,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economic </a:t>
            </a:r>
            <a:r>
              <a:rPr dirty="0" sz="1200">
                <a:latin typeface="Times New Roman"/>
                <a:cs typeface="Times New Roman"/>
              </a:rPr>
              <a:t>conditions that </a:t>
            </a:r>
            <a:r>
              <a:rPr dirty="0" sz="1200" spc="-5">
                <a:latin typeface="Times New Roman"/>
                <a:cs typeface="Times New Roman"/>
              </a:rPr>
              <a:t>make art possible in any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period. Second,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foreground: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work of art </a:t>
            </a:r>
            <a:r>
              <a:rPr dirty="0" sz="1200">
                <a:latin typeface="Times New Roman"/>
                <a:cs typeface="Times New Roman"/>
              </a:rPr>
              <a:t>itself, </a:t>
            </a:r>
            <a:r>
              <a:rPr dirty="0" sz="1200" spc="-5">
                <a:latin typeface="Times New Roman"/>
                <a:cs typeface="Times New Roman"/>
              </a:rPr>
              <a:t>its style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variation form other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styles. Third,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contribution of </a:t>
            </a:r>
            <a:r>
              <a:rPr dirty="0" sz="1200">
                <a:latin typeface="Times New Roman"/>
                <a:cs typeface="Times New Roman"/>
              </a:rPr>
              <a:t>the individual </a:t>
            </a:r>
            <a:r>
              <a:rPr dirty="0" sz="1200" spc="-5">
                <a:latin typeface="Times New Roman"/>
                <a:cs typeface="Times New Roman"/>
              </a:rPr>
              <a:t>artist </a:t>
            </a:r>
            <a:r>
              <a:rPr dirty="0" sz="1200">
                <a:latin typeface="Times New Roman"/>
                <a:cs typeface="Times New Roman"/>
              </a:rPr>
              <a:t>reveals </a:t>
            </a:r>
            <a:r>
              <a:rPr dirty="0" sz="1200" spc="-5">
                <a:latin typeface="Times New Roman"/>
                <a:cs typeface="Times New Roman"/>
              </a:rPr>
              <a:t>his inspirations and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extent 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>
                <a:latin typeface="Times New Roman"/>
                <a:cs typeface="Times New Roman"/>
              </a:rPr>
              <a:t> gift.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wrong ideas </a:t>
            </a:r>
            <a:r>
              <a:rPr dirty="0" sz="1200" spc="-5">
                <a:latin typeface="Times New Roman"/>
                <a:cs typeface="Times New Roman"/>
              </a:rPr>
              <a:t>we must </a:t>
            </a:r>
            <a:r>
              <a:rPr dirty="0" sz="1200">
                <a:latin typeface="Times New Roman"/>
                <a:cs typeface="Times New Roman"/>
              </a:rPr>
              <a:t>guard </a:t>
            </a:r>
            <a:r>
              <a:rPr dirty="0" sz="1200" spc="-5">
                <a:latin typeface="Times New Roman"/>
                <a:cs typeface="Times New Roman"/>
              </a:rPr>
              <a:t>against. First, </a:t>
            </a:r>
            <a:r>
              <a:rPr dirty="0" sz="1200">
                <a:latin typeface="Times New Roman"/>
                <a:cs typeface="Times New Roman"/>
              </a:rPr>
              <a:t>art history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a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 from </a:t>
            </a:r>
            <a:r>
              <a:rPr dirty="0" sz="1200" spc="-5">
                <a:latin typeface="Times New Roman"/>
                <a:cs typeface="Times New Roman"/>
              </a:rPr>
              <a:t>primitive </a:t>
            </a:r>
            <a:r>
              <a:rPr dirty="0" sz="1200">
                <a:latin typeface="Times New Roman"/>
                <a:cs typeface="Times New Roman"/>
              </a:rPr>
              <a:t>beginnings in the past to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>
                <a:latin typeface="Times New Roman"/>
                <a:cs typeface="Times New Roman"/>
              </a:rPr>
              <a:t>perfection in our own period. </a:t>
            </a:r>
            <a:r>
              <a:rPr dirty="0" sz="1200" spc="-5">
                <a:latin typeface="Times New Roman"/>
                <a:cs typeface="Times New Roman"/>
              </a:rPr>
              <a:t>Styles </a:t>
            </a:r>
            <a:r>
              <a:rPr dirty="0" sz="1200">
                <a:latin typeface="Times New Roman"/>
                <a:cs typeface="Times New Roman"/>
              </a:rPr>
              <a:t>change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artistic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quality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Superior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Second,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79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often one style of art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characteristic expression of one period. It </a:t>
            </a:r>
            <a:r>
              <a:rPr dirty="0" sz="1200" spc="-5">
                <a:latin typeface="Times New Roman"/>
                <a:cs typeface="Times New Roman"/>
              </a:rPr>
              <a:t>is useless to attempt </a:t>
            </a:r>
            <a:r>
              <a:rPr dirty="0" sz="1200">
                <a:latin typeface="Times New Roman"/>
                <a:cs typeface="Times New Roman"/>
              </a:rPr>
              <a:t> any evaluation between </a:t>
            </a:r>
            <a:r>
              <a:rPr dirty="0" sz="1200" spc="-5">
                <a:latin typeface="Times New Roman"/>
                <a:cs typeface="Times New Roman"/>
              </a:rPr>
              <a:t>styles that </a:t>
            </a:r>
            <a:r>
              <a:rPr dirty="0" sz="1200">
                <a:latin typeface="Times New Roman"/>
                <a:cs typeface="Times New Roman"/>
              </a:rPr>
              <a:t>have little in common. We should compare a work of art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 with </a:t>
            </a:r>
            <a:r>
              <a:rPr dirty="0" sz="1200" spc="-5">
                <a:latin typeface="Times New Roman"/>
                <a:cs typeface="Times New Roman"/>
              </a:rPr>
              <a:t>work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period, </a:t>
            </a:r>
            <a:r>
              <a:rPr dirty="0" sz="1200" spc="-5">
                <a:latin typeface="Times New Roman"/>
                <a:cs typeface="Times New Roman"/>
              </a:rPr>
              <a:t>as we must </a:t>
            </a:r>
            <a:r>
              <a:rPr dirty="0" sz="1200">
                <a:latin typeface="Times New Roman"/>
                <a:cs typeface="Times New Roman"/>
              </a:rPr>
              <a:t>recognize that each period posed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own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arrived</a:t>
            </a:r>
            <a:r>
              <a:rPr dirty="0" sz="1200" spc="-5">
                <a:latin typeface="Times New Roman"/>
                <a:cs typeface="Times New Roman"/>
              </a:rPr>
              <a:t> as its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unique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read the </a:t>
            </a:r>
            <a:r>
              <a:rPr dirty="0" sz="1200" spc="-5">
                <a:latin typeface="Times New Roman"/>
                <a:cs typeface="Times New Roman"/>
              </a:rPr>
              <a:t>following sets </a:t>
            </a:r>
            <a:r>
              <a:rPr dirty="0" sz="1200">
                <a:latin typeface="Times New Roman"/>
                <a:cs typeface="Times New Roman"/>
              </a:rPr>
              <a:t>of notes </a:t>
            </a:r>
            <a:r>
              <a:rPr dirty="0" sz="1200" spc="-5">
                <a:latin typeface="Times New Roman"/>
                <a:cs typeface="Times New Roman"/>
              </a:rPr>
              <a:t>(examples A </a:t>
            </a:r>
            <a:r>
              <a:rPr dirty="0" sz="1200">
                <a:latin typeface="Times New Roman"/>
                <a:cs typeface="Times New Roman"/>
              </a:rPr>
              <a:t>&amp; B). </a:t>
            </a:r>
            <a:r>
              <a:rPr dirty="0" sz="1200" spc="-5">
                <a:latin typeface="Times New Roman"/>
                <a:cs typeface="Times New Roman"/>
              </a:rPr>
              <a:t>Compare them. Which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author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</a:t>
            </a:r>
            <a:r>
              <a:rPr dirty="0" sz="1200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 </a:t>
            </a:r>
            <a:r>
              <a:rPr dirty="0" sz="1200">
                <a:latin typeface="Times New Roman"/>
                <a:cs typeface="Times New Roman"/>
              </a:rPr>
              <a:t>basic factors to be considered in art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history.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religious,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social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economic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background.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style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art itself, and finally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contribution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individual artist. But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wrong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about art history.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a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through history: “superior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of art occur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periods.”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>
                <a:latin typeface="Times New Roman"/>
                <a:cs typeface="Times New Roman"/>
              </a:rPr>
              <a:t>each </a:t>
            </a:r>
            <a:r>
              <a:rPr dirty="0" sz="1200" spc="-5">
                <a:latin typeface="Times New Roman"/>
                <a:cs typeface="Times New Roman"/>
              </a:rPr>
              <a:t>period </a:t>
            </a:r>
            <a:r>
              <a:rPr dirty="0" sz="1200">
                <a:latin typeface="Times New Roman"/>
                <a:cs typeface="Times New Roman"/>
              </a:rPr>
              <a:t>in art </a:t>
            </a:r>
            <a:r>
              <a:rPr dirty="0" sz="1200" spc="-5">
                <a:latin typeface="Times New Roman"/>
                <a:cs typeface="Times New Roman"/>
              </a:rPr>
              <a:t>history has its own problems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solutions, we </a:t>
            </a:r>
            <a:r>
              <a:rPr dirty="0" sz="1200">
                <a:latin typeface="Times New Roman"/>
                <a:cs typeface="Times New Roman"/>
              </a:rPr>
              <a:t> cannot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 works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3369056"/>
            <a:ext cx="4610735" cy="160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B:</a:t>
            </a:r>
            <a:endParaRPr sz="1200">
              <a:latin typeface="Times New Roman"/>
              <a:cs typeface="Times New Roman"/>
            </a:endParaRPr>
          </a:p>
          <a:p>
            <a:pPr marL="2794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I.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factors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history</a:t>
            </a:r>
            <a:endParaRPr sz="1200">
              <a:latin typeface="Times New Roman"/>
              <a:cs typeface="Times New Roman"/>
            </a:endParaRPr>
          </a:p>
          <a:p>
            <a:pPr marL="465455" indent="-224790">
              <a:lnSpc>
                <a:spcPts val="1380"/>
              </a:lnSpc>
              <a:buAutoNum type="alphaUcPeriod"/>
              <a:tabLst>
                <a:tab pos="466090" algn="l"/>
              </a:tabLst>
            </a:pPr>
            <a:r>
              <a:rPr dirty="0" sz="1200">
                <a:latin typeface="Times New Roman"/>
                <a:cs typeface="Times New Roman"/>
              </a:rPr>
              <a:t>Background: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religious,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social,economic</a:t>
            </a:r>
            <a:endParaRPr sz="1200">
              <a:latin typeface="Times New Roman"/>
              <a:cs typeface="Times New Roman"/>
            </a:endParaRPr>
          </a:p>
          <a:p>
            <a:pPr marL="456565" indent="-216535">
              <a:lnSpc>
                <a:spcPts val="1380"/>
              </a:lnSpc>
              <a:buAutoNum type="alphaUcPeriod"/>
              <a:tabLst>
                <a:tab pos="457200" algn="l"/>
              </a:tabLst>
            </a:pPr>
            <a:r>
              <a:rPr dirty="0" sz="1200">
                <a:latin typeface="Times New Roman"/>
                <a:cs typeface="Times New Roman"/>
              </a:rPr>
              <a:t>Foreground: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itself,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style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variation</a:t>
            </a:r>
            <a:endParaRPr sz="1200">
              <a:latin typeface="Times New Roman"/>
              <a:cs typeface="Times New Roman"/>
            </a:endParaRPr>
          </a:p>
          <a:p>
            <a:pPr marL="457200" indent="-216535">
              <a:lnSpc>
                <a:spcPts val="1380"/>
              </a:lnSpc>
              <a:buAutoNum type="alphaUcPeriod"/>
              <a:tabLst>
                <a:tab pos="457834" algn="l"/>
              </a:tabLst>
            </a:pPr>
            <a:r>
              <a:rPr dirty="0" sz="1200" spc="-5">
                <a:latin typeface="Times New Roman"/>
                <a:cs typeface="Times New Roman"/>
              </a:rPr>
              <a:t>Contribution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individual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artist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II.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endParaRPr sz="1200">
              <a:latin typeface="Times New Roman"/>
              <a:cs typeface="Times New Roman"/>
            </a:endParaRPr>
          </a:p>
          <a:p>
            <a:pPr marL="12700" marR="5080" indent="189865">
              <a:lnSpc>
                <a:spcPts val="1380"/>
              </a:lnSpc>
              <a:spcBef>
                <a:spcPts val="65"/>
              </a:spcBef>
              <a:buAutoNum type="alphaUcPeriod"/>
              <a:tabLst>
                <a:tab pos="389255" algn="l"/>
              </a:tabLst>
            </a:pPr>
            <a:r>
              <a:rPr dirty="0" sz="1200" spc="-5">
                <a:latin typeface="Times New Roman"/>
                <a:cs typeface="Times New Roman"/>
              </a:rPr>
              <a:t>Art </a:t>
            </a:r>
            <a:r>
              <a:rPr dirty="0" sz="1200">
                <a:latin typeface="Times New Roman"/>
                <a:cs typeface="Times New Roman"/>
              </a:rPr>
              <a:t>history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development </a:t>
            </a:r>
            <a:r>
              <a:rPr dirty="0" sz="1200">
                <a:latin typeface="Times New Roman"/>
                <a:cs typeface="Times New Roman"/>
              </a:rPr>
              <a:t>through </a:t>
            </a:r>
            <a:r>
              <a:rPr dirty="0" sz="1200" spc="-5">
                <a:latin typeface="Times New Roman"/>
                <a:cs typeface="Times New Roman"/>
              </a:rPr>
              <a:t>time; </a:t>
            </a:r>
            <a:r>
              <a:rPr dirty="0" sz="1200">
                <a:latin typeface="Times New Roman"/>
                <a:cs typeface="Times New Roman"/>
              </a:rPr>
              <a:t>superior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in many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primitive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endParaRPr sz="1200">
              <a:latin typeface="Times New Roman"/>
              <a:cs typeface="Times New Roman"/>
            </a:endParaRPr>
          </a:p>
          <a:p>
            <a:pPr marL="419100" indent="-216535">
              <a:lnSpc>
                <a:spcPts val="1345"/>
              </a:lnSpc>
              <a:buAutoNum type="alphaUcPeriod"/>
              <a:tabLst>
                <a:tab pos="419734" algn="l"/>
              </a:tabLst>
            </a:pP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239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6045821" y="4419091"/>
            <a:ext cx="5130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periods,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120132"/>
            <a:ext cx="5626735" cy="21361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information.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arrangement.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ideas and supporting details are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out clearly in </a:t>
            </a:r>
            <a:r>
              <a:rPr dirty="0" sz="1200" spc="-5">
                <a:latin typeface="Times New Roman"/>
                <a:cs typeface="Times New Roman"/>
              </a:rPr>
              <a:t>Example </a:t>
            </a:r>
            <a:r>
              <a:rPr dirty="0" sz="1200">
                <a:latin typeface="Times New Roman"/>
                <a:cs typeface="Times New Roman"/>
              </a:rPr>
              <a:t>B. 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it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easier to recognize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glance.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5"/>
              </a:lnSpc>
            </a:pPr>
            <a:r>
              <a:rPr dirty="0" sz="1200" spc="-5" b="1">
                <a:latin typeface="Times New Roman"/>
                <a:cs typeface="Times New Roman"/>
              </a:rPr>
              <a:t>Practice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Note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Making: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Make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notes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on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passage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outline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lines</a:t>
            </a:r>
            <a:r>
              <a:rPr dirty="0" sz="1200" spc="1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given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at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the </a:t>
            </a:r>
            <a:r>
              <a:rPr dirty="0" sz="1200" spc="-29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end.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Study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Skills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Students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English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2Ed,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Richard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C.Yorkey,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McGraw</a:t>
            </a:r>
            <a:r>
              <a:rPr dirty="0" sz="1200" spc="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Hill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International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covered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lesson: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Choosing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Topic,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Analyzing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Titles,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Note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Essay Writing.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346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-37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Ways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Organizing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Texts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Linear</a:t>
            </a:r>
            <a:r>
              <a:rPr dirty="0" sz="1200" spc="-5" b="1">
                <a:latin typeface="Times New Roman"/>
                <a:cs typeface="Times New Roman"/>
              </a:rPr>
              <a:t> Relationships: </a:t>
            </a:r>
            <a:r>
              <a:rPr dirty="0" sz="1200" b="1">
                <a:latin typeface="Times New Roman"/>
                <a:cs typeface="Times New Roman"/>
              </a:rPr>
              <a:t>Line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5" b="1">
                <a:latin typeface="Times New Roman"/>
                <a:cs typeface="Times New Roman"/>
              </a:rPr>
              <a:t> Process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body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essay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detail and give you practice firstly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using many common ways of organizing texts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whole. Secondly,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provided </a:t>
            </a:r>
            <a:r>
              <a:rPr dirty="0" sz="1200">
                <a:latin typeface="Times New Roman"/>
                <a:cs typeface="Times New Roman"/>
              </a:rPr>
              <a:t>with plenty of </a:t>
            </a:r>
            <a:r>
              <a:rPr dirty="0" sz="1200" spc="-5">
                <a:latin typeface="Times New Roman"/>
                <a:cs typeface="Times New Roman"/>
              </a:rPr>
              <a:t>examples of different types of texts </a:t>
            </a:r>
            <a:r>
              <a:rPr dirty="0" sz="1200">
                <a:latin typeface="Times New Roman"/>
                <a:cs typeface="Times New Roman"/>
              </a:rPr>
              <a:t> which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help you to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the principles on which the </a:t>
            </a:r>
            <a:r>
              <a:rPr dirty="0" sz="1200" spc="-5">
                <a:latin typeface="Times New Roman"/>
                <a:cs typeface="Times New Roman"/>
              </a:rPr>
              <a:t>organization </a:t>
            </a:r>
            <a:r>
              <a:rPr dirty="0" sz="1200">
                <a:latin typeface="Times New Roman"/>
                <a:cs typeface="Times New Roman"/>
              </a:rPr>
              <a:t>of these texts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based.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Learning to write in </a:t>
            </a:r>
            <a:r>
              <a:rPr dirty="0" sz="1200" spc="-5">
                <a:latin typeface="Times New Roman"/>
                <a:cs typeface="Times New Roman"/>
              </a:rPr>
              <a:t>English is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as difficult 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seems. Of course, </a:t>
            </a:r>
            <a:r>
              <a:rPr dirty="0" sz="1200">
                <a:latin typeface="Times New Roman"/>
                <a:cs typeface="Times New Roman"/>
              </a:rPr>
              <a:t>no one expects you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like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Shakespeare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own.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aiming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literature.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accurately.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English has a central idea and other related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>
                <a:latin typeface="Times New Roman"/>
                <a:cs typeface="Times New Roman"/>
              </a:rPr>
              <a:t>and it gets the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across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readers. </a:t>
            </a:r>
            <a:r>
              <a:rPr dirty="0" sz="1200">
                <a:latin typeface="Times New Roman"/>
                <a:cs typeface="Times New Roman"/>
              </a:rPr>
              <a:t>Here I would like to </a:t>
            </a:r>
            <a:r>
              <a:rPr dirty="0" sz="1200" spc="-5">
                <a:latin typeface="Times New Roman"/>
                <a:cs typeface="Times New Roman"/>
              </a:rPr>
              <a:t>add </a:t>
            </a:r>
            <a:r>
              <a:rPr dirty="0" sz="1200">
                <a:latin typeface="Times New Roman"/>
                <a:cs typeface="Times New Roman"/>
              </a:rPr>
              <a:t>a note of warning. </a:t>
            </a:r>
            <a:r>
              <a:rPr dirty="0" sz="1200" spc="-5">
                <a:latin typeface="Times New Roman"/>
                <a:cs typeface="Times New Roman"/>
              </a:rPr>
              <a:t>Writing is </a:t>
            </a:r>
            <a:r>
              <a:rPr dirty="0" sz="1200">
                <a:latin typeface="Times New Roman"/>
                <a:cs typeface="Times New Roman"/>
              </a:rPr>
              <a:t>such a </a:t>
            </a:r>
            <a:r>
              <a:rPr dirty="0" sz="1200" spc="-5">
                <a:latin typeface="Times New Roman"/>
                <a:cs typeface="Times New Roman"/>
              </a:rPr>
              <a:t>complex activity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it </a:t>
            </a:r>
            <a:r>
              <a:rPr dirty="0" sz="1200" spc="-5">
                <a:latin typeface="Times New Roman"/>
                <a:cs typeface="Times New Roman"/>
              </a:rPr>
              <a:t>cannot </a:t>
            </a:r>
            <a:r>
              <a:rPr dirty="0" sz="1200">
                <a:latin typeface="Times New Roman"/>
                <a:cs typeface="Times New Roman"/>
              </a:rPr>
              <a:t>easily be broken </a:t>
            </a:r>
            <a:r>
              <a:rPr dirty="0" sz="1200" spc="-5">
                <a:latin typeface="Times New Roman"/>
                <a:cs typeface="Times New Roman"/>
              </a:rPr>
              <a:t>down </a:t>
            </a:r>
            <a:r>
              <a:rPr dirty="0" sz="1200">
                <a:latin typeface="Times New Roman"/>
                <a:cs typeface="Times New Roman"/>
              </a:rPr>
              <a:t>into 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skills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sub-skills </a:t>
            </a:r>
            <a:r>
              <a:rPr dirty="0" sz="1200">
                <a:latin typeface="Times New Roman"/>
                <a:cs typeface="Times New Roman"/>
              </a:rPr>
              <a:t>for teaching.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Although no writing </a:t>
            </a:r>
            <a:r>
              <a:rPr dirty="0" sz="1200" spc="-5">
                <a:latin typeface="Times New Roman"/>
                <a:cs typeface="Times New Roman"/>
              </a:rPr>
              <a:t>course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ever </a:t>
            </a:r>
            <a:r>
              <a:rPr dirty="0" sz="1200">
                <a:latin typeface="Times New Roman"/>
                <a:cs typeface="Times New Roman"/>
              </a:rPr>
              <a:t>teach you everything you need to know in order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competent writer,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5">
                <a:latin typeface="Times New Roman"/>
                <a:cs typeface="Times New Roman"/>
              </a:rPr>
              <a:t>reason why you cannot learn all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know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last couple of </a:t>
            </a:r>
            <a:r>
              <a:rPr dirty="0" sz="1200" spc="-5">
                <a:latin typeface="Times New Roman"/>
                <a:cs typeface="Times New Roman"/>
              </a:rPr>
              <a:t>lessons, we </a:t>
            </a:r>
            <a:r>
              <a:rPr dirty="0" sz="1200">
                <a:latin typeface="Times New Roman"/>
                <a:cs typeface="Times New Roman"/>
              </a:rPr>
              <a:t>have been looking at introductions and conclusions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essays. </a:t>
            </a:r>
            <a:r>
              <a:rPr dirty="0" sz="1200">
                <a:latin typeface="Times New Roman"/>
                <a:cs typeface="Times New Roman"/>
              </a:rPr>
              <a:t>Good introductions and conclusions </a:t>
            </a:r>
            <a:r>
              <a:rPr dirty="0" sz="1200" spc="-5">
                <a:latin typeface="Times New Roman"/>
                <a:cs typeface="Times New Roman"/>
              </a:rPr>
              <a:t>hold </a:t>
            </a:r>
            <a:r>
              <a:rPr dirty="0" sz="1200">
                <a:latin typeface="Times New Roman"/>
                <a:cs typeface="Times New Roman"/>
              </a:rPr>
              <a:t>up the ideas and keep the evidence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 Take away either the introduction or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conclusion and the </a:t>
            </a:r>
            <a:r>
              <a:rPr dirty="0" sz="1200" spc="-5">
                <a:latin typeface="Times New Roman"/>
                <a:cs typeface="Times New Roman"/>
              </a:rPr>
              <a:t>whole </a:t>
            </a:r>
            <a:r>
              <a:rPr dirty="0" sz="1200">
                <a:latin typeface="Times New Roman"/>
                <a:cs typeface="Times New Roman"/>
              </a:rPr>
              <a:t>structure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fall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introductions or conclusion </a:t>
            </a:r>
            <a:r>
              <a:rPr dirty="0" sz="1200">
                <a:latin typeface="Times New Roman"/>
                <a:cs typeface="Times New Roman"/>
              </a:rPr>
              <a:t>do </a:t>
            </a:r>
            <a:r>
              <a:rPr dirty="0" sz="1200" spc="-5">
                <a:latin typeface="Times New Roman"/>
                <a:cs typeface="Times New Roman"/>
              </a:rPr>
              <a:t>not make </a:t>
            </a:r>
            <a:r>
              <a:rPr dirty="0" sz="1200">
                <a:latin typeface="Times New Roman"/>
                <a:cs typeface="Times New Roman"/>
              </a:rPr>
              <a:t>up the whole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composition. </a:t>
            </a:r>
            <a:r>
              <a:rPr dirty="0" sz="1200">
                <a:latin typeface="Times New Roman"/>
                <a:cs typeface="Times New Roman"/>
              </a:rPr>
              <a:t>They only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 directions and a </a:t>
            </a:r>
            <a:r>
              <a:rPr dirty="0" sz="1200" spc="-5">
                <a:latin typeface="Times New Roman"/>
                <a:cs typeface="Times New Roman"/>
              </a:rPr>
              <a:t>sense </a:t>
            </a:r>
            <a:r>
              <a:rPr dirty="0" sz="1200">
                <a:latin typeface="Times New Roman"/>
                <a:cs typeface="Times New Roman"/>
              </a:rPr>
              <a:t>of finale or </a:t>
            </a:r>
            <a:r>
              <a:rPr dirty="0" sz="1200" spc="-5">
                <a:latin typeface="Times New Roman"/>
                <a:cs typeface="Times New Roman"/>
              </a:rPr>
              <a:t>finality. </a:t>
            </a:r>
            <a:r>
              <a:rPr dirty="0" sz="1200">
                <a:latin typeface="Times New Roman"/>
                <a:cs typeface="Times New Roman"/>
              </a:rPr>
              <a:t>Between these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ends of an </a:t>
            </a:r>
            <a:r>
              <a:rPr dirty="0" sz="1200" spc="-5">
                <a:latin typeface="Times New Roman"/>
                <a:cs typeface="Times New Roman"/>
              </a:rPr>
              <a:t>essay, we 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system.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body of the </a:t>
            </a:r>
            <a:r>
              <a:rPr dirty="0" sz="1200" spc="-5">
                <a:latin typeface="Times New Roman"/>
                <a:cs typeface="Times New Roman"/>
              </a:rPr>
              <a:t>essay is </a:t>
            </a:r>
            <a:r>
              <a:rPr dirty="0" sz="1200">
                <a:latin typeface="Times New Roman"/>
                <a:cs typeface="Times New Roman"/>
              </a:rPr>
              <a:t>written according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system or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pattern and once you </a:t>
            </a:r>
            <a:r>
              <a:rPr dirty="0" sz="1200">
                <a:latin typeface="Times New Roman"/>
                <a:cs typeface="Times New Roman"/>
              </a:rPr>
              <a:t> choose a pattern, you must stick to it. 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possible to </a:t>
            </a:r>
            <a:r>
              <a:rPr dirty="0" sz="1200" spc="-5">
                <a:latin typeface="Times New Roman"/>
                <a:cs typeface="Times New Roman"/>
              </a:rPr>
              <a:t>combine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patterns in any 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3493135">
              <a:lnSpc>
                <a:spcPts val="1380"/>
              </a:lnSpc>
              <a:tabLst>
                <a:tab pos="1003300" algn="l"/>
              </a:tabLst>
            </a:pPr>
            <a:r>
              <a:rPr dirty="0" sz="1200">
                <a:latin typeface="Times New Roman"/>
                <a:cs typeface="Times New Roman"/>
              </a:rPr>
              <a:t>Conclusion	Restate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ent/Sum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ary  </a:t>
            </a:r>
            <a:r>
              <a:rPr dirty="0" sz="1200" spc="-5">
                <a:latin typeface="Times New Roman"/>
                <a:cs typeface="Times New Roman"/>
              </a:rPr>
              <a:t>Para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1049020" algn="l"/>
              </a:tabLst>
            </a:pPr>
            <a:r>
              <a:rPr dirty="0" sz="1200">
                <a:latin typeface="Times New Roman"/>
                <a:cs typeface="Times New Roman"/>
              </a:rPr>
              <a:t>Conclusion	opinion: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comment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 marR="1783714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three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patterns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body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essay.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159000" y="7749032"/>
            <a:ext cx="25463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(ii)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(iii)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239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616200" y="7749032"/>
            <a:ext cx="158813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Linear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Spatial relationships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contrast.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8274811"/>
            <a:ext cx="318833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I-Linear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(4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describing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Chronological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sequence.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ts val="1380"/>
              </a:lnSpc>
              <a:buAutoNum type="romanUcPeriod" startAt="2"/>
              <a:tabLst>
                <a:tab pos="203835" algn="l"/>
              </a:tabLst>
            </a:pPr>
            <a:r>
              <a:rPr dirty="0" sz="1200" spc="-5">
                <a:latin typeface="Times New Roman"/>
                <a:cs typeface="Times New Roman"/>
              </a:rPr>
              <a:t>Spatial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classifications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endParaRPr sz="1200">
              <a:latin typeface="Times New Roman"/>
              <a:cs typeface="Times New Roman"/>
            </a:endParaRPr>
          </a:p>
          <a:p>
            <a:pPr marL="253365" indent="-241300">
              <a:lnSpc>
                <a:spcPts val="1410"/>
              </a:lnSpc>
              <a:buAutoNum type="romanUcPeriod" startAt="2"/>
              <a:tabLst>
                <a:tab pos="254000" algn="l"/>
              </a:tabLst>
            </a:pPr>
            <a:r>
              <a:rPr dirty="0" sz="1200" spc="-5">
                <a:latin typeface="Times New Roman"/>
                <a:cs typeface="Times New Roman"/>
              </a:rPr>
              <a:t>Comparison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contrast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2500" y="435356"/>
            <a:ext cx="5994400" cy="8769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"/>
              </a:spcBef>
              <a:tabLst>
                <a:tab pos="59429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232410" indent="-156845">
              <a:lnSpc>
                <a:spcPts val="1410"/>
              </a:lnSpc>
              <a:spcBef>
                <a:spcPts val="1070"/>
              </a:spcBef>
              <a:buAutoNum type="alphaLcParenR" startAt="3"/>
              <a:tabLst>
                <a:tab pos="233045" algn="l"/>
              </a:tabLst>
            </a:pP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cyclic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endParaRPr sz="1200">
              <a:latin typeface="Times New Roman"/>
              <a:cs typeface="Times New Roman"/>
            </a:endParaRPr>
          </a:p>
          <a:p>
            <a:pPr marL="240665" indent="-165100">
              <a:lnSpc>
                <a:spcPts val="1410"/>
              </a:lnSpc>
              <a:buAutoNum type="alphaLcParenR" startAt="3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cause-effect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762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complete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diagram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76200" marR="3086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long ago </a:t>
            </a:r>
            <a:r>
              <a:rPr dirty="0" sz="1200" spc="-5">
                <a:latin typeface="Times New Roman"/>
                <a:cs typeface="Times New Roman"/>
              </a:rPr>
              <a:t>as 1779, John Frere, </a:t>
            </a:r>
            <a:r>
              <a:rPr dirty="0" sz="1200">
                <a:latin typeface="Times New Roman"/>
                <a:cs typeface="Times New Roman"/>
              </a:rPr>
              <a:t>an English country </a:t>
            </a:r>
            <a:r>
              <a:rPr dirty="0" sz="1200" spc="-5">
                <a:latin typeface="Times New Roman"/>
                <a:cs typeface="Times New Roman"/>
              </a:rPr>
              <a:t>gentleman, </a:t>
            </a:r>
            <a:r>
              <a:rPr dirty="0" sz="1200">
                <a:latin typeface="Times New Roman"/>
                <a:cs typeface="Times New Roman"/>
              </a:rPr>
              <a:t>discovered, at Suffolk,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 bones from extinct </a:t>
            </a:r>
            <a:r>
              <a:rPr dirty="0" sz="1200" spc="-5">
                <a:latin typeface="Times New Roman"/>
                <a:cs typeface="Times New Roman"/>
              </a:rPr>
              <a:t>animals </a:t>
            </a:r>
            <a:r>
              <a:rPr dirty="0" sz="1200">
                <a:latin typeface="Times New Roman"/>
                <a:cs typeface="Times New Roman"/>
              </a:rPr>
              <a:t>associated </a:t>
            </a:r>
            <a:r>
              <a:rPr dirty="0" sz="1200" spc="-5">
                <a:latin typeface="Times New Roman"/>
                <a:cs typeface="Times New Roman"/>
              </a:rPr>
              <a:t>with Stone Age </a:t>
            </a:r>
            <a:r>
              <a:rPr dirty="0" sz="1200">
                <a:latin typeface="Times New Roman"/>
                <a:cs typeface="Times New Roman"/>
              </a:rPr>
              <a:t>flint tools.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published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findings </a:t>
            </a:r>
            <a:r>
              <a:rPr dirty="0" sz="1200">
                <a:latin typeface="Times New Roman"/>
                <a:cs typeface="Times New Roman"/>
              </a:rPr>
              <a:t>in 1800. </a:t>
            </a:r>
            <a:r>
              <a:rPr dirty="0" sz="1200" spc="-5">
                <a:latin typeface="Times New Roman"/>
                <a:cs typeface="Times New Roman"/>
              </a:rPr>
              <a:t>Frere’s report was not appreciated for another 60 years. But now Frere </a:t>
            </a:r>
            <a:r>
              <a:rPr dirty="0" sz="1200" spc="-10">
                <a:latin typeface="Times New Roman"/>
                <a:cs typeface="Times New Roman"/>
              </a:rPr>
              <a:t>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the founder of </a:t>
            </a:r>
            <a:r>
              <a:rPr dirty="0" sz="1200" spc="-5">
                <a:latin typeface="Times New Roman"/>
                <a:cs typeface="Times New Roman"/>
              </a:rPr>
              <a:t>prehistoric </a:t>
            </a:r>
            <a:r>
              <a:rPr dirty="0" sz="1200">
                <a:latin typeface="Times New Roman"/>
                <a:cs typeface="Times New Roman"/>
              </a:rPr>
              <a:t>archaeology.</a:t>
            </a:r>
            <a:endParaRPr sz="1200">
              <a:latin typeface="Times New Roman"/>
              <a:cs typeface="Times New Roman"/>
            </a:endParaRPr>
          </a:p>
          <a:p>
            <a:pPr algn="just" marL="2362200">
              <a:lnSpc>
                <a:spcPts val="1345"/>
              </a:lnSpc>
            </a:pPr>
            <a:r>
              <a:rPr dirty="0" sz="1200" i="1">
                <a:latin typeface="Times New Roman"/>
                <a:cs typeface="Times New Roman"/>
              </a:rPr>
              <a:t>New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Scientist,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London,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1800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75565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List the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phrases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demonstrate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chronological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75565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algn="just" marL="762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Put 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 </a:t>
            </a:r>
            <a:r>
              <a:rPr dirty="0" sz="1200" b="1">
                <a:latin typeface="Times New Roman"/>
                <a:cs typeface="Times New Roman"/>
              </a:rPr>
              <a:t>information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an </a:t>
            </a:r>
            <a:r>
              <a:rPr dirty="0" sz="1200" b="1">
                <a:latin typeface="Times New Roman"/>
                <a:cs typeface="Times New Roman"/>
              </a:rPr>
              <a:t>acceptable order.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50">
              <a:latin typeface="Times New Roman"/>
              <a:cs typeface="Times New Roman"/>
            </a:endParaRPr>
          </a:p>
          <a:p>
            <a:pPr algn="just" marL="76200" marR="309245">
              <a:lnSpc>
                <a:spcPts val="1380"/>
              </a:lnSpc>
            </a:pPr>
            <a:r>
              <a:rPr dirty="0" baseline="6944" sz="1800">
                <a:latin typeface="Times New Roman"/>
                <a:cs typeface="Times New Roman"/>
              </a:rPr>
              <a:t>1- </a:t>
            </a:r>
            <a:r>
              <a:rPr dirty="0" sz="1200">
                <a:latin typeface="Times New Roman"/>
                <a:cs typeface="Times New Roman"/>
              </a:rPr>
              <a:t>In 1930, the first analog </a:t>
            </a:r>
            <a:r>
              <a:rPr dirty="0" sz="1200" spc="-5">
                <a:latin typeface="Times New Roman"/>
                <a:cs typeface="Times New Roman"/>
              </a:rPr>
              <a:t>computer was </a:t>
            </a:r>
            <a:r>
              <a:rPr dirty="0" sz="1200">
                <a:latin typeface="Times New Roman"/>
                <a:cs typeface="Times New Roman"/>
              </a:rPr>
              <a:t>built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American named </a:t>
            </a:r>
            <a:r>
              <a:rPr dirty="0" sz="1200">
                <a:latin typeface="Times New Roman"/>
                <a:cs typeface="Times New Roman"/>
              </a:rPr>
              <a:t>Vannevar </a:t>
            </a:r>
            <a:r>
              <a:rPr dirty="0" sz="1200" spc="-5">
                <a:latin typeface="Times New Roman"/>
                <a:cs typeface="Times New Roman"/>
              </a:rPr>
              <a:t>Bush. </a:t>
            </a:r>
            <a:r>
              <a:rPr dirty="0" sz="1200">
                <a:latin typeface="Times New Roman"/>
                <a:cs typeface="Times New Roman"/>
              </a:rPr>
              <a:t>2-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device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used in World </a:t>
            </a:r>
            <a:r>
              <a:rPr dirty="0" sz="1200" spc="-5">
                <a:latin typeface="Times New Roman"/>
                <a:cs typeface="Times New Roman"/>
              </a:rPr>
              <a:t>War </a:t>
            </a:r>
            <a:r>
              <a:rPr dirty="0" sz="1200">
                <a:latin typeface="Times New Roman"/>
                <a:cs typeface="Times New Roman"/>
              </a:rPr>
              <a:t>II to help aim guns. 3- Mark I, the </a:t>
            </a:r>
            <a:r>
              <a:rPr dirty="0" sz="1200" spc="-5">
                <a:latin typeface="Times New Roman"/>
                <a:cs typeface="Times New Roman"/>
              </a:rPr>
              <a:t>name </a:t>
            </a:r>
            <a:r>
              <a:rPr dirty="0" sz="1200">
                <a:latin typeface="Times New Roman"/>
                <a:cs typeface="Times New Roman"/>
              </a:rPr>
              <a:t>given 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 digital </a:t>
            </a:r>
            <a:r>
              <a:rPr dirty="0" sz="1200" spc="-5">
                <a:latin typeface="Times New Roman"/>
                <a:cs typeface="Times New Roman"/>
              </a:rPr>
              <a:t>computer, was completed </a:t>
            </a:r>
            <a:r>
              <a:rPr dirty="0" sz="1200">
                <a:latin typeface="Times New Roman"/>
                <a:cs typeface="Times New Roman"/>
              </a:rPr>
              <a:t>in 1944. 4- This was the first </a:t>
            </a:r>
            <a:r>
              <a:rPr dirty="0" sz="1200" spc="-5">
                <a:latin typeface="Times New Roman"/>
                <a:cs typeface="Times New Roman"/>
              </a:rPr>
              <a:t>machine </a:t>
            </a:r>
            <a:r>
              <a:rPr dirty="0" sz="1200">
                <a:latin typeface="Times New Roman"/>
                <a:cs typeface="Times New Roman"/>
              </a:rPr>
              <a:t>that could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figure out long </a:t>
            </a:r>
            <a:r>
              <a:rPr dirty="0" sz="1200" spc="-5">
                <a:latin typeface="Times New Roman"/>
                <a:cs typeface="Times New Roman"/>
              </a:rPr>
              <a:t>lists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mathematical problems, all </a:t>
            </a:r>
            <a:r>
              <a:rPr dirty="0" sz="1200">
                <a:latin typeface="Times New Roman"/>
                <a:cs typeface="Times New Roman"/>
              </a:rPr>
              <a:t>at a very </a:t>
            </a:r>
            <a:r>
              <a:rPr dirty="0" sz="1200" spc="-5">
                <a:latin typeface="Times New Roman"/>
                <a:cs typeface="Times New Roman"/>
              </a:rPr>
              <a:t>fast </a:t>
            </a:r>
            <a:r>
              <a:rPr dirty="0" sz="1200">
                <a:latin typeface="Times New Roman"/>
                <a:cs typeface="Times New Roman"/>
              </a:rPr>
              <a:t>rate. 5- Author </a:t>
            </a:r>
            <a:r>
              <a:rPr dirty="0" sz="1200" spc="-5">
                <a:latin typeface="Times New Roman"/>
                <a:cs typeface="Times New Roman"/>
              </a:rPr>
              <a:t>important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advancement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computers came </a:t>
            </a:r>
            <a:r>
              <a:rPr dirty="0" sz="1200">
                <a:latin typeface="Times New Roman"/>
                <a:cs typeface="Times New Roman"/>
              </a:rPr>
              <a:t>in 1947, when John Von </a:t>
            </a:r>
            <a:r>
              <a:rPr dirty="0" sz="1200" spc="-5">
                <a:latin typeface="Times New Roman"/>
                <a:cs typeface="Times New Roman"/>
              </a:rPr>
              <a:t>Newmann developed </a:t>
            </a:r>
            <a:r>
              <a:rPr dirty="0" sz="1200">
                <a:latin typeface="Times New Roman"/>
                <a:cs typeface="Times New Roman"/>
              </a:rPr>
              <a:t>the idea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keeping instructions for the </a:t>
            </a:r>
            <a:r>
              <a:rPr dirty="0" sz="1200" spc="-5">
                <a:latin typeface="Times New Roman"/>
                <a:cs typeface="Times New Roman"/>
              </a:rPr>
              <a:t>computer inside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computer’s memory. </a:t>
            </a:r>
            <a:r>
              <a:rPr dirty="0" sz="1200">
                <a:latin typeface="Times New Roman"/>
                <a:cs typeface="Times New Roman"/>
              </a:rPr>
              <a:t>6- In 1946,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engineers 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University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Pennsylvania, J. Eckert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J. </a:t>
            </a:r>
            <a:r>
              <a:rPr dirty="0" sz="1200">
                <a:latin typeface="Times New Roman"/>
                <a:cs typeface="Times New Roman"/>
              </a:rPr>
              <a:t>Mauchly, </a:t>
            </a:r>
            <a:r>
              <a:rPr dirty="0" sz="1200" spc="-5">
                <a:latin typeface="Times New Roman"/>
                <a:cs typeface="Times New Roman"/>
              </a:rPr>
              <a:t>built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digital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 </a:t>
            </a:r>
            <a:r>
              <a:rPr dirty="0" sz="1200">
                <a:latin typeface="Times New Roman"/>
                <a:cs typeface="Times New Roman"/>
              </a:rPr>
              <a:t>using parts called vacuum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76200">
              <a:lnSpc>
                <a:spcPts val="141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 algn="just" marL="762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answer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questions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given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end.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762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A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Kashmiri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Emigrant’s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Story:</a:t>
            </a:r>
            <a:endParaRPr sz="1200">
              <a:latin typeface="Times New Roman"/>
              <a:cs typeface="Times New Roman"/>
            </a:endParaRPr>
          </a:p>
          <a:p>
            <a:pPr algn="just" marL="75565" marR="3092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1947,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Ahmed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butt,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poverty-stricken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twenty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farm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worker,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Kashmir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Pakistan.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>
                <a:latin typeface="Times New Roman"/>
                <a:cs typeface="Times New Roman"/>
              </a:rPr>
              <a:t>the future held in store </a:t>
            </a:r>
            <a:r>
              <a:rPr dirty="0" sz="1200" spc="-5">
                <a:latin typeface="Times New Roman"/>
                <a:cs typeface="Times New Roman"/>
              </a:rPr>
              <a:t>for him, he did not know. However, he was not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disappointed </a:t>
            </a:r>
            <a:r>
              <a:rPr dirty="0" sz="1200">
                <a:latin typeface="Times New Roman"/>
                <a:cs typeface="Times New Roman"/>
              </a:rPr>
              <a:t>that it </a:t>
            </a:r>
            <a:r>
              <a:rPr dirty="0" sz="1200" spc="-5">
                <a:latin typeface="Times New Roman"/>
                <a:cs typeface="Times New Roman"/>
              </a:rPr>
              <a:t>could not </a:t>
            </a:r>
            <a:r>
              <a:rPr dirty="0" sz="1200">
                <a:latin typeface="Times New Roman"/>
                <a:cs typeface="Times New Roman"/>
              </a:rPr>
              <a:t>be any </a:t>
            </a:r>
            <a:r>
              <a:rPr dirty="0" sz="1200" spc="-5">
                <a:latin typeface="Times New Roman"/>
                <a:cs typeface="Times New Roman"/>
              </a:rPr>
              <a:t>worse </a:t>
            </a:r>
            <a:r>
              <a:rPr dirty="0" sz="1200">
                <a:latin typeface="Times New Roman"/>
                <a:cs typeface="Times New Roman"/>
              </a:rPr>
              <a:t>than the past.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had grown up during the cruel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Dogras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Kashmir</a:t>
            </a:r>
            <a:r>
              <a:rPr dirty="0" sz="1200">
                <a:latin typeface="Times New Roman"/>
                <a:cs typeface="Times New Roman"/>
              </a:rPr>
              <a:t> and had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it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to 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hungry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jobless.</a:t>
            </a:r>
            <a:endParaRPr sz="1200">
              <a:latin typeface="Times New Roman"/>
              <a:cs typeface="Times New Roman"/>
            </a:endParaRPr>
          </a:p>
          <a:p>
            <a:pPr algn="just" marL="75565" marR="3092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 had watched his mother died </a:t>
            </a:r>
            <a:r>
              <a:rPr dirty="0" sz="1200">
                <a:latin typeface="Times New Roman"/>
                <a:cs typeface="Times New Roman"/>
              </a:rPr>
              <a:t>of tuberculosis a </a:t>
            </a:r>
            <a:r>
              <a:rPr dirty="0" sz="1200" spc="-5">
                <a:latin typeface="Times New Roman"/>
                <a:cs typeface="Times New Roman"/>
              </a:rPr>
              <a:t>month before; his father had died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year </a:t>
            </a:r>
            <a:r>
              <a:rPr dirty="0" sz="1200">
                <a:latin typeface="Times New Roman"/>
                <a:cs typeface="Times New Roman"/>
              </a:rPr>
              <a:t> after </a:t>
            </a:r>
            <a:r>
              <a:rPr dirty="0" sz="1200" spc="-5">
                <a:latin typeface="Times New Roman"/>
                <a:cs typeface="Times New Roman"/>
              </a:rPr>
              <a:t>Ahmed Din was </a:t>
            </a:r>
            <a:r>
              <a:rPr dirty="0" sz="1200">
                <a:latin typeface="Times New Roman"/>
                <a:cs typeface="Times New Roman"/>
              </a:rPr>
              <a:t>born. There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nothing now to keep him in </a:t>
            </a:r>
            <a:r>
              <a:rPr dirty="0" sz="1200" spc="-5">
                <a:latin typeface="Times New Roman"/>
                <a:cs typeface="Times New Roman"/>
              </a:rPr>
              <a:t>Kashmir, </a:t>
            </a:r>
            <a:r>
              <a:rPr dirty="0" sz="1200">
                <a:latin typeface="Times New Roman"/>
                <a:cs typeface="Times New Roman"/>
              </a:rPr>
              <a:t>and on a cold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March </a:t>
            </a:r>
            <a:r>
              <a:rPr dirty="0" sz="1200" spc="-5">
                <a:latin typeface="Times New Roman"/>
                <a:cs typeface="Times New Roman"/>
              </a:rPr>
              <a:t>morning, </a:t>
            </a:r>
            <a:r>
              <a:rPr dirty="0" sz="1200">
                <a:latin typeface="Times New Roman"/>
                <a:cs typeface="Times New Roman"/>
              </a:rPr>
              <a:t>he got into a </a:t>
            </a:r>
            <a:r>
              <a:rPr dirty="0" sz="1200" spc="-5">
                <a:latin typeface="Times New Roman"/>
                <a:cs typeface="Times New Roman"/>
              </a:rPr>
              <a:t>bus </a:t>
            </a:r>
            <a:r>
              <a:rPr dirty="0" sz="1200">
                <a:latin typeface="Times New Roman"/>
                <a:cs typeface="Times New Roman"/>
              </a:rPr>
              <a:t>bound for Rawalpindi. In years to </a:t>
            </a:r>
            <a:r>
              <a:rPr dirty="0" sz="1200" spc="-5">
                <a:latin typeface="Times New Roman"/>
                <a:cs typeface="Times New Roman"/>
              </a:rPr>
              <a:t>come, </a:t>
            </a:r>
            <a:r>
              <a:rPr dirty="0" sz="1200">
                <a:latin typeface="Times New Roman"/>
                <a:cs typeface="Times New Roman"/>
              </a:rPr>
              <a:t>he would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moment.</a:t>
            </a:r>
            <a:endParaRPr sz="1200">
              <a:latin typeface="Times New Roman"/>
              <a:cs typeface="Times New Roman"/>
            </a:endParaRPr>
          </a:p>
          <a:p>
            <a:pPr marL="75565" marR="309245">
              <a:lnSpc>
                <a:spcPts val="1380"/>
              </a:lnSpc>
              <a:buAutoNum type="alphaUcParenR"/>
              <a:tabLst>
                <a:tab pos="285750" algn="l"/>
              </a:tabLst>
            </a:pPr>
            <a:r>
              <a:rPr dirty="0" sz="1200" spc="-5">
                <a:latin typeface="Times New Roman"/>
                <a:cs typeface="Times New Roman"/>
              </a:rPr>
              <a:t>Why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1947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starting in the past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ending with 1947?</a:t>
            </a:r>
            <a:endParaRPr sz="1200">
              <a:latin typeface="Times New Roman"/>
              <a:cs typeface="Times New Roman"/>
            </a:endParaRPr>
          </a:p>
          <a:p>
            <a:pPr marL="75565" marR="309245">
              <a:lnSpc>
                <a:spcPts val="1380"/>
              </a:lnSpc>
              <a:buAutoNum type="alphaUcParenR"/>
              <a:tabLst>
                <a:tab pos="287655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sequence,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used?</a:t>
            </a:r>
            <a:endParaRPr sz="1200">
              <a:latin typeface="Times New Roman"/>
              <a:cs typeface="Times New Roman"/>
            </a:endParaRPr>
          </a:p>
          <a:p>
            <a:pPr marL="75565" marR="2625725">
              <a:lnSpc>
                <a:spcPts val="1380"/>
              </a:lnSpc>
              <a:buAutoNum type="alphaUcParenR"/>
              <a:tabLst>
                <a:tab pos="2673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following tenses are used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text?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present perfect</a:t>
            </a:r>
            <a:r>
              <a:rPr dirty="0" sz="1200">
                <a:latin typeface="Times New Roman"/>
                <a:cs typeface="Times New Roman"/>
              </a:rPr>
              <a:t> 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past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perfect</a:t>
            </a:r>
            <a:endParaRPr sz="1200">
              <a:latin typeface="Times New Roman"/>
              <a:cs typeface="Times New Roman"/>
            </a:endParaRPr>
          </a:p>
          <a:p>
            <a:pPr marL="75565">
              <a:lnSpc>
                <a:spcPts val="132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 4:</a:t>
            </a:r>
            <a:endParaRPr sz="1200">
              <a:latin typeface="Times New Roman"/>
              <a:cs typeface="Times New Roman"/>
            </a:endParaRPr>
          </a:p>
          <a:p>
            <a:pPr marL="76200" marR="311150">
              <a:lnSpc>
                <a:spcPts val="1380"/>
              </a:lnSpc>
              <a:spcBef>
                <a:spcPts val="65"/>
              </a:spcBef>
            </a:pPr>
            <a:r>
              <a:rPr dirty="0" sz="1200" b="1">
                <a:latin typeface="Times New Roman"/>
                <a:cs typeface="Times New Roman"/>
              </a:rPr>
              <a:t>Look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at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another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version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same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story.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Compare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two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versions,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interesting?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242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718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Ahmed </a:t>
            </a:r>
            <a:r>
              <a:rPr dirty="0" sz="1200">
                <a:latin typeface="Times New Roman"/>
                <a:cs typeface="Times New Roman"/>
              </a:rPr>
              <a:t>Din Butt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a bright but poverty stricken twenty </a:t>
            </a:r>
            <a:r>
              <a:rPr dirty="0" sz="1200" spc="-5">
                <a:latin typeface="Times New Roman"/>
                <a:cs typeface="Times New Roman"/>
              </a:rPr>
              <a:t>years </a:t>
            </a:r>
            <a:r>
              <a:rPr dirty="0" sz="1200">
                <a:latin typeface="Times New Roman"/>
                <a:cs typeface="Times New Roman"/>
              </a:rPr>
              <a:t>old farm worker who grew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during the Dogra rule in </a:t>
            </a:r>
            <a:r>
              <a:rPr dirty="0" sz="1200" spc="-5">
                <a:latin typeface="Times New Roman"/>
                <a:cs typeface="Times New Roman"/>
              </a:rPr>
              <a:t>Kashmir. He </a:t>
            </a:r>
            <a:r>
              <a:rPr dirty="0" sz="1200">
                <a:latin typeface="Times New Roman"/>
                <a:cs typeface="Times New Roman"/>
              </a:rPr>
              <a:t>knew what it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to the hungry and jobless. 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father had died in 1928; he had watched </a:t>
            </a:r>
            <a:r>
              <a:rPr dirty="0" sz="1200" spc="-5">
                <a:latin typeface="Times New Roman"/>
                <a:cs typeface="Times New Roman"/>
              </a:rPr>
              <a:t>his mother </a:t>
            </a:r>
            <a:r>
              <a:rPr dirty="0" sz="1200">
                <a:latin typeface="Times New Roman"/>
                <a:cs typeface="Times New Roman"/>
              </a:rPr>
              <a:t>died of tuberculosis in February 1947.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nothing to keep him in </a:t>
            </a:r>
            <a:r>
              <a:rPr dirty="0" sz="1200" spc="-5">
                <a:latin typeface="Times New Roman"/>
                <a:cs typeface="Times New Roman"/>
              </a:rPr>
              <a:t>Kashmir, so, </a:t>
            </a:r>
            <a:r>
              <a:rPr dirty="0" sz="1200">
                <a:latin typeface="Times New Roman"/>
                <a:cs typeface="Times New Roman"/>
              </a:rPr>
              <a:t>on a cold March </a:t>
            </a:r>
            <a:r>
              <a:rPr dirty="0" sz="1200" spc="-5">
                <a:latin typeface="Times New Roman"/>
                <a:cs typeface="Times New Roman"/>
              </a:rPr>
              <a:t>morning </a:t>
            </a:r>
            <a:r>
              <a:rPr dirty="0" sz="1200">
                <a:latin typeface="Times New Roman"/>
                <a:cs typeface="Times New Roman"/>
              </a:rPr>
              <a:t>in 1947, he got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bus </a:t>
            </a:r>
            <a:r>
              <a:rPr dirty="0" sz="1200">
                <a:latin typeface="Times New Roman"/>
                <a:cs typeface="Times New Roman"/>
              </a:rPr>
              <a:t>bound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Rawalpindi.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would </a:t>
            </a:r>
            <a:r>
              <a:rPr dirty="0" sz="1200" spc="-5">
                <a:latin typeface="Times New Roman"/>
                <a:cs typeface="Times New Roman"/>
              </a:rPr>
              <a:t>remember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moment.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punctured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football?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Take </a:t>
            </a:r>
            <a:r>
              <a:rPr dirty="0" sz="1200" spc="-5">
                <a:latin typeface="Times New Roman"/>
                <a:cs typeface="Times New Roman"/>
              </a:rPr>
              <a:t>bladder </a:t>
            </a:r>
            <a:r>
              <a:rPr dirty="0" sz="1200">
                <a:latin typeface="Times New Roman"/>
                <a:cs typeface="Times New Roman"/>
              </a:rPr>
              <a:t>out of </a:t>
            </a:r>
            <a:r>
              <a:rPr dirty="0" sz="1200" spc="-5">
                <a:latin typeface="Times New Roman"/>
                <a:cs typeface="Times New Roman"/>
              </a:rPr>
              <a:t>its cover, inflate </a:t>
            </a:r>
            <a:r>
              <a:rPr dirty="0" sz="1200">
                <a:latin typeface="Times New Roman"/>
                <a:cs typeface="Times New Roman"/>
              </a:rPr>
              <a:t>it a little, dip into the </a:t>
            </a:r>
            <a:r>
              <a:rPr dirty="0" sz="1200" spc="-5">
                <a:latin typeface="Times New Roman"/>
                <a:cs typeface="Times New Roman"/>
              </a:rPr>
              <a:t>tub </a:t>
            </a:r>
            <a:r>
              <a:rPr dirty="0" sz="1200">
                <a:latin typeface="Times New Roman"/>
                <a:cs typeface="Times New Roman"/>
              </a:rPr>
              <a:t>of water, with </a:t>
            </a:r>
            <a:r>
              <a:rPr dirty="0" sz="1200" spc="-5">
                <a:latin typeface="Times New Roman"/>
                <a:cs typeface="Times New Roman"/>
              </a:rPr>
              <a:t>marker </a:t>
            </a:r>
            <a:r>
              <a:rPr dirty="0" sz="1200">
                <a:latin typeface="Times New Roman"/>
                <a:cs typeface="Times New Roman"/>
              </a:rPr>
              <a:t>let air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out, </a:t>
            </a:r>
            <a:r>
              <a:rPr dirty="0" sz="1200" spc="-5">
                <a:latin typeface="Times New Roman"/>
                <a:cs typeface="Times New Roman"/>
              </a:rPr>
              <a:t>press </a:t>
            </a:r>
            <a:r>
              <a:rPr dirty="0" sz="1200">
                <a:latin typeface="Times New Roman"/>
                <a:cs typeface="Times New Roman"/>
              </a:rPr>
              <a:t>to find out the hole </a:t>
            </a:r>
            <a:r>
              <a:rPr dirty="0" sz="1200" spc="-5">
                <a:latin typeface="Times New Roman"/>
                <a:cs typeface="Times New Roman"/>
              </a:rPr>
              <a:t>mark </a:t>
            </a:r>
            <a:r>
              <a:rPr dirty="0" sz="1200">
                <a:latin typeface="Times New Roman"/>
                <a:cs typeface="Times New Roman"/>
              </a:rPr>
              <a:t>spot, dry bladder, rub marked place and a rubber piece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sand paper, apply rubber solution to both, let them dry, place rubber piece on bladder,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very hard.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Convert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following </a:t>
            </a:r>
            <a:r>
              <a:rPr dirty="0" sz="1200" b="1">
                <a:latin typeface="Times New Roman"/>
                <a:cs typeface="Times New Roman"/>
              </a:rPr>
              <a:t>process as</a:t>
            </a:r>
            <a:r>
              <a:rPr dirty="0" sz="1200" spc="-5" b="1">
                <a:latin typeface="Times New Roman"/>
                <a:cs typeface="Times New Roman"/>
              </a:rPr>
              <a:t> a </a:t>
            </a:r>
            <a:r>
              <a:rPr dirty="0" sz="1200" b="1">
                <a:latin typeface="Times New Roman"/>
                <a:cs typeface="Times New Roman"/>
              </a:rPr>
              <a:t>flow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diagram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 </a:t>
            </a:r>
            <a:r>
              <a:rPr dirty="0" sz="1200" b="1">
                <a:latin typeface="Times New Roman"/>
                <a:cs typeface="Times New Roman"/>
              </a:rPr>
              <a:t>filling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 the boxes.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SOLVING: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Next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construct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 </a:t>
            </a:r>
            <a:r>
              <a:rPr dirty="0" sz="1200">
                <a:latin typeface="Times New Roman"/>
                <a:cs typeface="Times New Roman"/>
              </a:rPr>
              <a:t>flowchart or a block diagram.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 between the </a:t>
            </a:r>
            <a:r>
              <a:rPr dirty="0" sz="1200">
                <a:latin typeface="Times New Roman"/>
                <a:cs typeface="Times New Roman"/>
              </a:rPr>
              <a:t>events </a:t>
            </a:r>
            <a:r>
              <a:rPr dirty="0" sz="1200" spc="-5">
                <a:latin typeface="Times New Roman"/>
                <a:cs typeface="Times New Roman"/>
              </a:rPr>
              <a:t>is shown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of a connecting arrow. 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followed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translating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algorithm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flow </a:t>
            </a:r>
            <a:r>
              <a:rPr dirty="0" sz="1200">
                <a:latin typeface="Times New Roman"/>
                <a:cs typeface="Times New Roman"/>
              </a:rPr>
              <a:t>chart into a </a:t>
            </a:r>
            <a:r>
              <a:rPr dirty="0" sz="1200" spc="-5">
                <a:latin typeface="Times New Roman"/>
                <a:cs typeface="Times New Roman"/>
              </a:rPr>
              <a:t>computer program. </a:t>
            </a:r>
            <a:r>
              <a:rPr dirty="0" sz="1200">
                <a:latin typeface="Times New Roman"/>
                <a:cs typeface="Times New Roman"/>
              </a:rPr>
              <a:t>The program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 on coding </a:t>
            </a:r>
            <a:r>
              <a:rPr dirty="0" sz="1200" spc="-5">
                <a:latin typeface="Times New Roman"/>
                <a:cs typeface="Times New Roman"/>
              </a:rPr>
              <a:t>sheets </a:t>
            </a:r>
            <a:r>
              <a:rPr dirty="0" sz="1200">
                <a:latin typeface="Times New Roman"/>
                <a:cs typeface="Times New Roman"/>
              </a:rPr>
              <a:t>which have a specific </a:t>
            </a:r>
            <a:r>
              <a:rPr dirty="0" sz="1200" spc="-5">
                <a:latin typeface="Times New Roman"/>
                <a:cs typeface="Times New Roman"/>
              </a:rPr>
              <a:t>format </a:t>
            </a:r>
            <a:r>
              <a:rPr dirty="0" sz="1200">
                <a:latin typeface="Times New Roman"/>
                <a:cs typeface="Times New Roman"/>
              </a:rPr>
              <a:t>drawn on </a:t>
            </a:r>
            <a:r>
              <a:rPr dirty="0" sz="1200" spc="-5">
                <a:latin typeface="Times New Roman"/>
                <a:cs typeface="Times New Roman"/>
              </a:rPr>
              <a:t>them. </a:t>
            </a:r>
            <a:r>
              <a:rPr dirty="0" sz="1200">
                <a:latin typeface="Times New Roman"/>
                <a:cs typeface="Times New Roman"/>
              </a:rPr>
              <a:t>The programmer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then keypunch the program. Or </a:t>
            </a:r>
            <a:r>
              <a:rPr dirty="0" sz="1200">
                <a:latin typeface="Times New Roman"/>
                <a:cs typeface="Times New Roman"/>
              </a:rPr>
              <a:t>key it in at a </a:t>
            </a:r>
            <a:r>
              <a:rPr dirty="0" sz="1200" spc="-5">
                <a:latin typeface="Times New Roman"/>
                <a:cs typeface="Times New Roman"/>
              </a:rPr>
              <a:t>terminal. The program must then be </a:t>
            </a:r>
            <a:r>
              <a:rPr dirty="0" sz="1200">
                <a:latin typeface="Times New Roman"/>
                <a:cs typeface="Times New Roman"/>
              </a:rPr>
              <a:t> tested. Next, take a </a:t>
            </a:r>
            <a:r>
              <a:rPr dirty="0" sz="1200" spc="-5">
                <a:latin typeface="Times New Roman"/>
                <a:cs typeface="Times New Roman"/>
              </a:rPr>
              <a:t>print </a:t>
            </a:r>
            <a:r>
              <a:rPr dirty="0" sz="1200">
                <a:latin typeface="Times New Roman"/>
                <a:cs typeface="Times New Roman"/>
              </a:rPr>
              <a:t>out showing if it </a:t>
            </a:r>
            <a:r>
              <a:rPr dirty="0" sz="1200" spc="-5">
                <a:latin typeface="Times New Roman"/>
                <a:cs typeface="Times New Roman"/>
              </a:rPr>
              <a:t>works </a:t>
            </a:r>
            <a:r>
              <a:rPr dirty="0" sz="1200">
                <a:latin typeface="Times New Roman"/>
                <a:cs typeface="Times New Roman"/>
              </a:rPr>
              <a:t>or if it </a:t>
            </a:r>
            <a:r>
              <a:rPr dirty="0" sz="1200" spc="-5">
                <a:latin typeface="Times New Roman"/>
                <a:cs typeface="Times New Roman"/>
              </a:rPr>
              <a:t>has errors (bugs). </a:t>
            </a:r>
            <a:r>
              <a:rPr dirty="0" sz="1200">
                <a:latin typeface="Times New Roman"/>
                <a:cs typeface="Times New Roman"/>
              </a:rPr>
              <a:t>The last </a:t>
            </a:r>
            <a:r>
              <a:rPr dirty="0" sz="1200" spc="-5">
                <a:latin typeface="Times New Roman"/>
                <a:cs typeface="Times New Roman"/>
              </a:rPr>
              <a:t>step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program.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table gives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sequencing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describing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5149426"/>
          <a:ext cx="4262755" cy="3148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8560"/>
                <a:gridCol w="1773554"/>
                <a:gridCol w="1309369"/>
              </a:tblGrid>
              <a:tr h="259645">
                <a:tc>
                  <a:txBody>
                    <a:bodyPr/>
                    <a:lstStyle/>
                    <a:p>
                      <a:pPr marL="31750">
                        <a:lnSpc>
                          <a:spcPts val="1310"/>
                        </a:lnSpc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Beginning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ts val="1310"/>
                        </a:lnSpc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Middle</a:t>
                      </a:r>
                      <a:r>
                        <a:rPr dirty="0" u="sng" sz="1200" spc="-4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steps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8765">
                        <a:lnSpc>
                          <a:spcPts val="1310"/>
                        </a:lnSpc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End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62889">
                <a:tc>
                  <a:txBody>
                    <a:bodyPr/>
                    <a:lstStyle/>
                    <a:p>
                      <a:pPr marL="31750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-First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-second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278765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-last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(ly)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firstly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199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third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(ly)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etc.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7874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finally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139190">
                <a:tc>
                  <a:txBody>
                    <a:bodyPr/>
                    <a:lstStyle/>
                    <a:p>
                      <a:pPr marL="120014" indent="-88900">
                        <a:lnSpc>
                          <a:spcPts val="1305"/>
                        </a:lnSpc>
                        <a:buChar char="-"/>
                        <a:tabLst>
                          <a:tab pos="12065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begin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20650" indent="-89535">
                        <a:lnSpc>
                          <a:spcPts val="1410"/>
                        </a:lnSpc>
                        <a:buChar char="-"/>
                        <a:tabLst>
                          <a:tab pos="12128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initially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3690" indent="-89535">
                        <a:lnSpc>
                          <a:spcPts val="1305"/>
                        </a:lnSpc>
                        <a:buChar char="-"/>
                        <a:tabLst>
                          <a:tab pos="31432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next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3690" indent="-89535">
                        <a:lnSpc>
                          <a:spcPts val="1380"/>
                        </a:lnSpc>
                        <a:buChar char="-"/>
                        <a:tabLst>
                          <a:tab pos="31432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3055" indent="-89535">
                        <a:lnSpc>
                          <a:spcPts val="1380"/>
                        </a:lnSpc>
                        <a:buChar char="-"/>
                        <a:tabLst>
                          <a:tab pos="31369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subsequently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3055" indent="-89535">
                        <a:lnSpc>
                          <a:spcPts val="1380"/>
                        </a:lnSpc>
                        <a:buChar char="-"/>
                        <a:tabLst>
                          <a:tab pos="31369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after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3055" indent="-89535">
                        <a:lnSpc>
                          <a:spcPts val="1380"/>
                        </a:lnSpc>
                        <a:buChar char="-"/>
                        <a:tabLst>
                          <a:tab pos="31369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before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this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3055" indent="-89535">
                        <a:lnSpc>
                          <a:spcPts val="1410"/>
                        </a:lnSpc>
                        <a:buChar char="-"/>
                        <a:tabLst>
                          <a:tab pos="31369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same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560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-at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7010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define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300355">
                        <a:lnSpc>
                          <a:spcPts val="1410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formulate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1355" marR="490855">
                        <a:lnSpc>
                          <a:spcPts val="1380"/>
                        </a:lnSpc>
                        <a:spcBef>
                          <a:spcPts val="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algo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ithm  flowchart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279400" marR="154940" indent="37465">
                        <a:lnSpc>
                          <a:spcPts val="1380"/>
                        </a:lnSpc>
                        <a:spcBef>
                          <a:spcPts val="68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translate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algorithm</a:t>
                      </a:r>
                      <a:r>
                        <a:rPr dirty="0" sz="1200" spc="-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80035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6360"/>
                </a:tc>
              </a:tr>
              <a:tr h="262890">
                <a:tc>
                  <a:txBody>
                    <a:bodyPr/>
                    <a:lstStyle/>
                    <a:p>
                      <a:pPr marL="31750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Add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data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test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algn="r" marR="71120">
                        <a:lnSpc>
                          <a:spcPts val="1385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keypunch</a:t>
                      </a:r>
                      <a:r>
                        <a:rPr dirty="0" sz="1200" spc="2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/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</a:tr>
              <a:tr h="347275">
                <a:tc>
                  <a:txBody>
                    <a:bodyPr/>
                    <a:lstStyle/>
                    <a:p>
                      <a:pPr marL="3175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run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3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program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correct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bugs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key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03200">
                        <a:lnSpc>
                          <a:spcPts val="13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terminal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625332"/>
            <a:ext cx="562673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b="1">
                <a:latin typeface="Times New Roman"/>
                <a:cs typeface="Times New Roman"/>
              </a:rPr>
              <a:t>1) </a:t>
            </a:r>
            <a:r>
              <a:rPr dirty="0" sz="1200">
                <a:latin typeface="Times New Roman"/>
                <a:cs typeface="Times New Roman"/>
              </a:rPr>
              <a:t>Many </a:t>
            </a:r>
            <a:r>
              <a:rPr dirty="0" sz="1200" spc="-5">
                <a:latin typeface="Times New Roman"/>
                <a:cs typeface="Times New Roman"/>
              </a:rPr>
              <a:t>scientists have worked on solar heating. </a:t>
            </a:r>
            <a:r>
              <a:rPr dirty="0" sz="1200" b="1">
                <a:latin typeface="Times New Roman"/>
                <a:cs typeface="Times New Roman"/>
              </a:rPr>
              <a:t>2) </a:t>
            </a:r>
            <a:r>
              <a:rPr dirty="0" sz="1200" spc="-5">
                <a:latin typeface="Times New Roman"/>
                <a:cs typeface="Times New Roman"/>
              </a:rPr>
              <a:t>One such attempt was made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1949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house was designed which was heated by using the energy from the sun. In this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energy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absorbed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blackened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metal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sheets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389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were </a:t>
            </a:r>
            <a:r>
              <a:rPr dirty="0" sz="1200">
                <a:latin typeface="Times New Roman"/>
                <a:cs typeface="Times New Roman"/>
              </a:rPr>
              <a:t>covered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double plates of glass. </a:t>
            </a:r>
            <a:r>
              <a:rPr dirty="0" sz="1200" b="1">
                <a:latin typeface="Times New Roman"/>
                <a:cs typeface="Times New Roman"/>
              </a:rPr>
              <a:t>3)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air circulating behind the </a:t>
            </a:r>
            <a:r>
              <a:rPr dirty="0" sz="1200" spc="-5">
                <a:latin typeface="Times New Roman"/>
                <a:cs typeface="Times New Roman"/>
              </a:rPr>
              <a:t>metal </a:t>
            </a:r>
            <a:r>
              <a:rPr dirty="0" sz="1200">
                <a:latin typeface="Times New Roman"/>
                <a:cs typeface="Times New Roman"/>
              </a:rPr>
              <a:t>sheets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carried </a:t>
            </a:r>
            <a:r>
              <a:rPr dirty="0" sz="1200" spc="-5">
                <a:latin typeface="Times New Roman"/>
                <a:cs typeface="Times New Roman"/>
              </a:rPr>
              <a:t>away</a:t>
            </a:r>
            <a:r>
              <a:rPr dirty="0" sz="1200">
                <a:latin typeface="Times New Roman"/>
                <a:cs typeface="Times New Roman"/>
              </a:rPr>
              <a:t> the heat. </a:t>
            </a:r>
            <a:r>
              <a:rPr dirty="0" sz="1200" b="1">
                <a:latin typeface="Times New Roman"/>
                <a:cs typeface="Times New Roman"/>
              </a:rPr>
              <a:t>4)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Before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around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house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stored in large tanks </a:t>
            </a:r>
            <a:r>
              <a:rPr dirty="0" sz="1200" spc="-5">
                <a:latin typeface="Times New Roman"/>
                <a:cs typeface="Times New Roman"/>
              </a:rPr>
              <a:t>containing Glauber’s salt, </a:t>
            </a:r>
            <a:r>
              <a:rPr dirty="0" sz="1200">
                <a:latin typeface="Times New Roman"/>
                <a:cs typeface="Times New Roman"/>
              </a:rPr>
              <a:t>a given volume of which can hold eight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half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more heat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water.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5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790192"/>
            <a:ext cx="15303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f)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2895" y="1790192"/>
            <a:ext cx="345122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harvested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fields.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Hired laborers load the rice onto bullock carts. (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truck cart drivers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ring the rice to the factor</a:t>
            </a:r>
            <a:r>
              <a:rPr dirty="0" sz="1200" spc="-10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. (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)  </a:t>
            </a:r>
            <a:r>
              <a:rPr dirty="0" sz="1200">
                <a:latin typeface="Times New Roman"/>
                <a:cs typeface="Times New Roman"/>
              </a:rPr>
              <a:t>The laborers put the rice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threshers.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3335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 rice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threshed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machines.</a:t>
            </a:r>
            <a:r>
              <a:rPr dirty="0" sz="1200">
                <a:latin typeface="Times New Roman"/>
                <a:cs typeface="Times New Roman"/>
              </a:rPr>
              <a:t>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regularly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maintained.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4912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-38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364553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Ways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Organizing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Texts: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Linear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(Cyclic</a:t>
            </a:r>
            <a:r>
              <a:rPr dirty="0" sz="1200" spc="-5" b="1">
                <a:latin typeface="Times New Roman"/>
                <a:cs typeface="Times New Roman"/>
              </a:rPr>
              <a:t> Process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5" b="1">
                <a:latin typeface="Times New Roman"/>
                <a:cs typeface="Times New Roman"/>
              </a:rPr>
              <a:t> Cause </a:t>
            </a:r>
            <a:r>
              <a:rPr dirty="0" sz="1200" b="1">
                <a:latin typeface="Times New Roman"/>
                <a:cs typeface="Times New Roman"/>
              </a:rPr>
              <a:t>–</a:t>
            </a:r>
            <a:r>
              <a:rPr dirty="0" sz="1200" spc="-5" b="1">
                <a:latin typeface="Times New Roman"/>
                <a:cs typeface="Times New Roman"/>
              </a:rPr>
              <a:t> Effect)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(chronological)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linear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stages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beginning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an end. 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still be </a:t>
            </a:r>
            <a:r>
              <a:rPr dirty="0" sz="1200" spc="-5">
                <a:latin typeface="Times New Roman"/>
                <a:cs typeface="Times New Roman"/>
              </a:rPr>
              <a:t>looking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processes </a:t>
            </a:r>
            <a:r>
              <a:rPr dirty="0" sz="1200">
                <a:latin typeface="Times New Roman"/>
                <a:cs typeface="Times New Roman"/>
              </a:rPr>
              <a:t>but this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cyclic, 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natural </a:t>
            </a:r>
            <a:r>
              <a:rPr dirty="0" sz="1200" spc="-5">
                <a:latin typeface="Times New Roman"/>
                <a:cs typeface="Times New Roman"/>
              </a:rPr>
              <a:t>process is more </a:t>
            </a:r>
            <a:r>
              <a:rPr dirty="0" sz="1200">
                <a:latin typeface="Times New Roman"/>
                <a:cs typeface="Times New Roman"/>
              </a:rPr>
              <a:t>likely to be cyclic than </a:t>
            </a:r>
            <a:r>
              <a:rPr dirty="0" sz="1200" spc="-5">
                <a:latin typeface="Times New Roman"/>
                <a:cs typeface="Times New Roman"/>
              </a:rPr>
              <a:t>linear. As </a:t>
            </a:r>
            <a:r>
              <a:rPr dirty="0" sz="1200">
                <a:latin typeface="Times New Roman"/>
                <a:cs typeface="Times New Roman"/>
              </a:rPr>
              <a:t>the word itself tells you,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a cyclic process, there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 clear </a:t>
            </a:r>
            <a:r>
              <a:rPr dirty="0" sz="1200" spc="-5">
                <a:latin typeface="Times New Roman"/>
                <a:cs typeface="Times New Roman"/>
              </a:rPr>
              <a:t>beginning </a:t>
            </a:r>
            <a:r>
              <a:rPr dirty="0" sz="1200">
                <a:latin typeface="Times New Roman"/>
                <a:cs typeface="Times New Roman"/>
              </a:rPr>
              <a:t>or end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the cycle </a:t>
            </a:r>
            <a:r>
              <a:rPr dirty="0" sz="1200">
                <a:latin typeface="Times New Roman"/>
                <a:cs typeface="Times New Roman"/>
              </a:rPr>
              <a:t>continues.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 two </a:t>
            </a:r>
            <a:r>
              <a:rPr dirty="0" sz="1200">
                <a:latin typeface="Times New Roman"/>
                <a:cs typeface="Times New Roman"/>
              </a:rPr>
              <a:t>diagrams </a:t>
            </a:r>
            <a:r>
              <a:rPr dirty="0" sz="1200" spc="-5">
                <a:latin typeface="Times New Roman"/>
                <a:cs typeface="Times New Roman"/>
              </a:rPr>
              <a:t>illustrate clearly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difference </a:t>
            </a:r>
            <a:r>
              <a:rPr dirty="0" sz="1200">
                <a:latin typeface="Times New Roman"/>
                <a:cs typeface="Times New Roman"/>
              </a:rPr>
              <a:t>between the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types of </a:t>
            </a:r>
            <a:r>
              <a:rPr dirty="0" sz="1200" spc="-5">
                <a:latin typeface="Times New Roman"/>
                <a:cs typeface="Times New Roman"/>
              </a:rPr>
              <a:t>processes.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cyclic </a:t>
            </a:r>
            <a:r>
              <a:rPr dirty="0" sz="1200" spc="-5">
                <a:latin typeface="Times New Roman"/>
                <a:cs typeface="Times New Roman"/>
              </a:rPr>
              <a:t>process is </a:t>
            </a:r>
            <a:r>
              <a:rPr dirty="0" sz="1200">
                <a:latin typeface="Times New Roman"/>
                <a:cs typeface="Times New Roman"/>
              </a:rPr>
              <a:t>described in very much </a:t>
            </a:r>
            <a:r>
              <a:rPr dirty="0" sz="1200" spc="-5">
                <a:latin typeface="Times New Roman"/>
                <a:cs typeface="Times New Roman"/>
              </a:rPr>
              <a:t>the same way as </a:t>
            </a:r>
            <a:r>
              <a:rPr dirty="0" sz="1200">
                <a:latin typeface="Times New Roman"/>
                <a:cs typeface="Times New Roman"/>
              </a:rPr>
              <a:t>a linear </a:t>
            </a:r>
            <a:r>
              <a:rPr dirty="0" sz="1200" spc="-5">
                <a:latin typeface="Times New Roman"/>
                <a:cs typeface="Times New Roman"/>
              </a:rPr>
              <a:t>process is, except,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 </a:t>
            </a:r>
            <a:r>
              <a:rPr dirty="0" sz="1200">
                <a:latin typeface="Times New Roman"/>
                <a:cs typeface="Times New Roman"/>
              </a:rPr>
              <a:t>clear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begins.</a:t>
            </a:r>
            <a:endParaRPr sz="1200">
              <a:latin typeface="Times New Roman"/>
              <a:cs typeface="Times New Roman"/>
            </a:endParaRPr>
          </a:p>
          <a:p>
            <a:pPr algn="just" marL="12700" marR="3997325">
              <a:lnSpc>
                <a:spcPts val="2760"/>
              </a:lnSpc>
              <a:spcBef>
                <a:spcPts val="75"/>
              </a:spcBef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two types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processes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Linear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Process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4419091"/>
            <a:ext cx="3473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Input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540203" y="4419091"/>
            <a:ext cx="933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78265" y="4419091"/>
            <a:ext cx="101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25981" y="4419091"/>
            <a:ext cx="933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27062" y="4419091"/>
            <a:ext cx="101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122377" y="4419091"/>
            <a:ext cx="415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output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44800" y="4944871"/>
            <a:ext cx="107505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Cyclic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Process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Times New Roman"/>
              <a:cs typeface="Times New Roman"/>
            </a:endParaRPr>
          </a:p>
          <a:p>
            <a:pPr algn="r" marR="8509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step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40000" y="6171691"/>
            <a:ext cx="271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step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38067" y="6171691"/>
            <a:ext cx="271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step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92500" y="6872732"/>
            <a:ext cx="271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step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7575295"/>
            <a:ext cx="5626735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following flow diagram illustrates the </a:t>
            </a:r>
            <a:r>
              <a:rPr dirty="0" sz="1200" spc="-5">
                <a:latin typeface="Times New Roman"/>
                <a:cs typeface="Times New Roman"/>
              </a:rPr>
              <a:t>Carbon </a:t>
            </a:r>
            <a:r>
              <a:rPr dirty="0" sz="1200">
                <a:latin typeface="Times New Roman"/>
                <a:cs typeface="Times New Roman"/>
              </a:rPr>
              <a:t>Cycle. The diagram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how Carbon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found in the </a:t>
            </a:r>
            <a:r>
              <a:rPr dirty="0" sz="1200" spc="-5">
                <a:latin typeface="Times New Roman"/>
                <a:cs typeface="Times New Roman"/>
              </a:rPr>
              <a:t>atmosphere,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animals, </a:t>
            </a:r>
            <a:r>
              <a:rPr dirty="0" sz="1200">
                <a:latin typeface="Times New Roman"/>
                <a:cs typeface="Times New Roman"/>
              </a:rPr>
              <a:t>plants </a:t>
            </a:r>
            <a:r>
              <a:rPr dirty="0" sz="1200" spc="-5">
                <a:latin typeface="Times New Roman"/>
                <a:cs typeface="Times New Roman"/>
              </a:rPr>
              <a:t>and in the soil. Below the flow diagram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list of sentences </a:t>
            </a:r>
            <a:r>
              <a:rPr dirty="0" sz="1200" spc="-5">
                <a:latin typeface="Times New Roman"/>
                <a:cs typeface="Times New Roman"/>
              </a:rPr>
              <a:t>describing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stages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cycle.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in an acceptable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sequence.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>
                <a:latin typeface="Times New Roman"/>
                <a:cs typeface="Times New Roman"/>
              </a:rPr>
              <a:t>the flow diagram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guide, </a:t>
            </a:r>
            <a:r>
              <a:rPr dirty="0" sz="1200" spc="-5">
                <a:latin typeface="Times New Roman"/>
                <a:cs typeface="Times New Roman"/>
              </a:rPr>
              <a:t>match </a:t>
            </a:r>
            <a:r>
              <a:rPr dirty="0" sz="1200">
                <a:latin typeface="Times New Roman"/>
                <a:cs typeface="Times New Roman"/>
              </a:rPr>
              <a:t>the sentences with the </a:t>
            </a:r>
            <a:r>
              <a:rPr dirty="0" sz="1200" spc="-5">
                <a:latin typeface="Times New Roman"/>
                <a:cs typeface="Times New Roman"/>
              </a:rPr>
              <a:t>stages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diagram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  <a:buAutoNum type="romanLcParenR"/>
              <a:tabLst>
                <a:tab pos="153035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Sometimes,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decay,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bacteria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decayed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body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liberate carbon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</a:t>
            </a:r>
            <a:r>
              <a:rPr dirty="0" sz="1200" spc="-5">
                <a:latin typeface="Times New Roman"/>
                <a:cs typeface="Times New Roman"/>
              </a:rPr>
              <a:t> as one of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products.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86055" indent="-173990">
              <a:lnSpc>
                <a:spcPts val="1315"/>
              </a:lnSpc>
              <a:buAutoNum type="romanLcParenR"/>
              <a:tabLst>
                <a:tab pos="186690" algn="l"/>
              </a:tabLst>
            </a:pPr>
            <a:r>
              <a:rPr dirty="0" sz="1200" spc="-5">
                <a:latin typeface="Times New Roman"/>
                <a:cs typeface="Times New Roman"/>
              </a:rPr>
              <a:t>Similarly,</a:t>
            </a:r>
            <a:r>
              <a:rPr dirty="0" sz="1200">
                <a:latin typeface="Times New Roman"/>
                <a:cs typeface="Times New Roman"/>
              </a:rPr>
              <a:t> plants respire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night and give out carbon </a:t>
            </a:r>
            <a:r>
              <a:rPr dirty="0" sz="1200" spc="-5">
                <a:latin typeface="Times New Roman"/>
                <a:cs typeface="Times New Roman"/>
              </a:rPr>
              <a:t>dioxide</a:t>
            </a:r>
            <a:r>
              <a:rPr dirty="0" sz="1200">
                <a:latin typeface="Times New Roman"/>
                <a:cs typeface="Times New Roman"/>
              </a:rPr>
              <a:t> to the atmosphere.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romanLcParenR"/>
              <a:tabLst>
                <a:tab pos="231775" algn="l"/>
              </a:tabLst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carbon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 </a:t>
            </a:r>
            <a:r>
              <a:rPr dirty="0" sz="1200">
                <a:latin typeface="Times New Roman"/>
                <a:cs typeface="Times New Roman"/>
              </a:rPr>
              <a:t>give out carbon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 of respiration.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20345" indent="-208279">
              <a:lnSpc>
                <a:spcPts val="1315"/>
              </a:lnSpc>
              <a:buAutoNum type="romanLcParenR"/>
              <a:tabLst>
                <a:tab pos="220979" algn="l"/>
                <a:tab pos="5080000" algn="l"/>
              </a:tabLst>
            </a:pPr>
            <a:r>
              <a:rPr dirty="0" sz="1200">
                <a:latin typeface="Times New Roman"/>
                <a:cs typeface="Times New Roman"/>
              </a:rPr>
              <a:t>Carbon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plants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photo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synthesis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  <a:buAutoNum type="romanLcParenR"/>
              <a:tabLst>
                <a:tab pos="197485" algn="l"/>
                <a:tab pos="1840864" algn="l"/>
              </a:tabLst>
            </a:pPr>
            <a:r>
              <a:rPr dirty="0" sz="1200" spc="-5">
                <a:latin typeface="Times New Roman"/>
                <a:cs typeface="Times New Roman"/>
              </a:rPr>
              <a:t>Sometimes,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coal,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wood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oil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burnt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produces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carbon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dioxide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atmosphere.	</a:t>
            </a:r>
            <a:r>
              <a:rPr dirty="0" sz="1200">
                <a:latin typeface="Times New Roman"/>
                <a:cs typeface="Times New Roman"/>
              </a:rPr>
              <a:t>(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)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15"/>
              </a:lnSpc>
              <a:buAutoNum type="romanLcParenR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 carbon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cycle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nature.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62255" indent="-250190">
              <a:lnSpc>
                <a:spcPts val="1380"/>
              </a:lnSpc>
              <a:buAutoNum type="romanLcParenR"/>
              <a:tabLst>
                <a:tab pos="262890" algn="l"/>
                <a:tab pos="4164965" algn="l"/>
              </a:tabLst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carbon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returned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atmosphere.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romanLcParenR"/>
              <a:tabLst>
                <a:tab pos="333375" algn="l"/>
              </a:tabLst>
            </a:pPr>
            <a:r>
              <a:rPr dirty="0" sz="1200">
                <a:latin typeface="Times New Roman"/>
                <a:cs typeface="Times New Roman"/>
              </a:rPr>
              <a:t>Carbon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atmosphere,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compounds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carbohydrates,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carbonates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bicarbonates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soil.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romanLcParenR" startAt="9"/>
              <a:tabLst>
                <a:tab pos="231140" algn="l"/>
              </a:tabLst>
            </a:pPr>
            <a:r>
              <a:rPr dirty="0" sz="1200">
                <a:latin typeface="Times New Roman"/>
                <a:cs typeface="Times New Roman"/>
              </a:rPr>
              <a:t>Therefore,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continuous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cycle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carbon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replaced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other. (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)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buAutoNum type="romanLcParenR" startAt="9"/>
              <a:tabLst>
                <a:tab pos="203200" algn="l"/>
                <a:tab pos="3251200" algn="l"/>
              </a:tabLst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plants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keep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removing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carbon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soon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atmosphere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carbon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dioxide.	(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Acceptable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viii,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iv,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x,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iii,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vii,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ix,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vi.</a:t>
            </a:r>
            <a:endParaRPr sz="1200">
              <a:latin typeface="Times New Roman"/>
              <a:cs typeface="Times New Roman"/>
            </a:endParaRPr>
          </a:p>
          <a:p>
            <a:pPr marL="12700" marR="3374390">
              <a:lnSpc>
                <a:spcPct val="191700"/>
              </a:lnSpc>
              <a:spcBef>
                <a:spcPts val="15"/>
              </a:spcBef>
            </a:pP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Life </a:t>
            </a:r>
            <a:r>
              <a:rPr dirty="0" sz="1200" spc="-5" b="1">
                <a:latin typeface="Times New Roman"/>
                <a:cs typeface="Times New Roman"/>
              </a:rPr>
              <a:t>Cycle </a:t>
            </a:r>
            <a:r>
              <a:rPr dirty="0" sz="1200" b="1">
                <a:latin typeface="Times New Roman"/>
                <a:cs typeface="Times New Roman"/>
              </a:rPr>
              <a:t>of the </a:t>
            </a:r>
            <a:r>
              <a:rPr dirty="0" sz="1200" spc="-5" b="1">
                <a:latin typeface="Times New Roman"/>
                <a:cs typeface="Times New Roman"/>
              </a:rPr>
              <a:t>Malaria Parasite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35"/>
              </a:spcBef>
            </a:pPr>
            <a:r>
              <a:rPr dirty="0" sz="1200" spc="-5" b="1">
                <a:latin typeface="Times New Roman"/>
                <a:cs typeface="Times New Roman"/>
              </a:rPr>
              <a:t>Study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flow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diagram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text.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should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there: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i.e.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 irrelevant.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ones</a:t>
            </a:r>
            <a:r>
              <a:rPr dirty="0" sz="1200" b="1">
                <a:latin typeface="Times New Roman"/>
                <a:cs typeface="Times New Roman"/>
              </a:rPr>
              <a:t> are they?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Life-Cycle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Malaria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Parasite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1- Malaria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caused by tiny </a:t>
            </a:r>
            <a:r>
              <a:rPr dirty="0" sz="1200" spc="-5">
                <a:latin typeface="Times New Roman"/>
                <a:cs typeface="Times New Roman"/>
              </a:rPr>
              <a:t>one-celled animal </a:t>
            </a:r>
            <a:r>
              <a:rPr dirty="0" sz="1200">
                <a:latin typeface="Times New Roman"/>
                <a:cs typeface="Times New Roman"/>
              </a:rPr>
              <a:t>parasites, </a:t>
            </a:r>
            <a:r>
              <a:rPr dirty="0" sz="1200" spc="-5">
                <a:latin typeface="Times New Roman"/>
                <a:cs typeface="Times New Roman"/>
              </a:rPr>
              <a:t>called PLASMODIA </a:t>
            </a:r>
            <a:r>
              <a:rPr dirty="0" sz="1200">
                <a:latin typeface="Times New Roman"/>
                <a:cs typeface="Times New Roman"/>
              </a:rPr>
              <a:t>that are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injected  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 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  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blood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female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ANOPHELES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mosquito.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2- </a:t>
            </a:r>
            <a:r>
              <a:rPr dirty="0" sz="1200" spc="-5">
                <a:latin typeface="Times New Roman"/>
                <a:cs typeface="Times New Roman"/>
              </a:rPr>
              <a:t>Some diseases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transmitted </a:t>
            </a:r>
            <a:r>
              <a:rPr dirty="0" sz="1200">
                <a:latin typeface="Times New Roman"/>
                <a:cs typeface="Times New Roman"/>
              </a:rPr>
              <a:t>by tiny </a:t>
            </a:r>
            <a:r>
              <a:rPr dirty="0" sz="1200" spc="-5">
                <a:latin typeface="Times New Roman"/>
                <a:cs typeface="Times New Roman"/>
              </a:rPr>
              <a:t>water animals. </a:t>
            </a:r>
            <a:r>
              <a:rPr dirty="0" sz="1200">
                <a:latin typeface="Times New Roman"/>
                <a:cs typeface="Times New Roman"/>
              </a:rPr>
              <a:t>3- The anopheles </a:t>
            </a:r>
            <a:r>
              <a:rPr dirty="0" sz="1200" spc="-5">
                <a:latin typeface="Times New Roman"/>
                <a:cs typeface="Times New Roman"/>
              </a:rPr>
              <a:t>mosquito sucks </a:t>
            </a:r>
            <a:r>
              <a:rPr dirty="0" sz="1200">
                <a:latin typeface="Times New Roman"/>
                <a:cs typeface="Times New Roman"/>
              </a:rPr>
              <a:t> blood from a person with </a:t>
            </a:r>
            <a:r>
              <a:rPr dirty="0" sz="1200" spc="-5">
                <a:latin typeface="Times New Roman"/>
                <a:cs typeface="Times New Roman"/>
              </a:rPr>
              <a:t>malaria. </a:t>
            </a:r>
            <a:r>
              <a:rPr dirty="0" sz="1200">
                <a:latin typeface="Times New Roman"/>
                <a:cs typeface="Times New Roman"/>
              </a:rPr>
              <a:t>4- Once in the </a:t>
            </a:r>
            <a:r>
              <a:rPr dirty="0" sz="1200" spc="-5">
                <a:latin typeface="Times New Roman"/>
                <a:cs typeface="Times New Roman"/>
              </a:rPr>
              <a:t>stomach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mosquito </a:t>
            </a:r>
            <a:r>
              <a:rPr dirty="0" sz="1200">
                <a:latin typeface="Times New Roman"/>
                <a:cs typeface="Times New Roman"/>
              </a:rPr>
              <a:t>these parasites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undergo </a:t>
            </a:r>
            <a:r>
              <a:rPr dirty="0" sz="1200" spc="-5">
                <a:latin typeface="Times New Roman"/>
                <a:cs typeface="Times New Roman"/>
              </a:rPr>
              <a:t>some development </a:t>
            </a:r>
            <a:r>
              <a:rPr dirty="0" sz="1200">
                <a:latin typeface="Times New Roman"/>
                <a:cs typeface="Times New Roman"/>
              </a:rPr>
              <a:t>and end up in the </a:t>
            </a:r>
            <a:r>
              <a:rPr dirty="0" sz="1200" spc="-5">
                <a:latin typeface="Times New Roman"/>
                <a:cs typeface="Times New Roman"/>
              </a:rPr>
              <a:t>mosquito’s </a:t>
            </a:r>
            <a:r>
              <a:rPr dirty="0" sz="1200">
                <a:latin typeface="Times New Roman"/>
                <a:cs typeface="Times New Roman"/>
              </a:rPr>
              <a:t>salivary glands. 5- </a:t>
            </a:r>
            <a:r>
              <a:rPr dirty="0" sz="1200" spc="-5">
                <a:latin typeface="Times New Roman"/>
                <a:cs typeface="Times New Roman"/>
              </a:rPr>
              <a:t>House </a:t>
            </a:r>
            <a:r>
              <a:rPr dirty="0" sz="1200">
                <a:latin typeface="Times New Roman"/>
                <a:cs typeface="Times New Roman"/>
              </a:rPr>
              <a:t>flies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transmit microbes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 feet.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tabLst>
                <a:tab pos="859155" algn="l"/>
                <a:tab pos="1960245" algn="l"/>
                <a:tab pos="2951480" algn="l"/>
                <a:tab pos="4110990" algn="l"/>
                <a:tab pos="5059680" algn="l"/>
              </a:tabLst>
            </a:pPr>
            <a:r>
              <a:rPr dirty="0" sz="1200">
                <a:latin typeface="Times New Roman"/>
                <a:cs typeface="Times New Roman"/>
              </a:rPr>
              <a:t>6- If this </a:t>
            </a:r>
            <a:r>
              <a:rPr dirty="0" sz="1200" spc="-5">
                <a:latin typeface="Times New Roman"/>
                <a:cs typeface="Times New Roman"/>
              </a:rPr>
              <a:t>mosquito </a:t>
            </a:r>
            <a:r>
              <a:rPr dirty="0" sz="1200">
                <a:latin typeface="Times New Roman"/>
                <a:cs typeface="Times New Roman"/>
              </a:rPr>
              <a:t>now bits a healthy person, it introduces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parasites together with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saliva,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blood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7-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malarial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parasites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person’s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liver,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	which	they	change	and	multipl</a:t>
            </a:r>
            <a:r>
              <a:rPr dirty="0" sz="1200" spc="-10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.  8- From there, they </a:t>
            </a:r>
            <a:r>
              <a:rPr dirty="0" sz="1200" spc="-5">
                <a:latin typeface="Times New Roman"/>
                <a:cs typeface="Times New Roman"/>
              </a:rPr>
              <a:t>pass </a:t>
            </a:r>
            <a:r>
              <a:rPr dirty="0" sz="1200">
                <a:latin typeface="Times New Roman"/>
                <a:cs typeface="Times New Roman"/>
              </a:rPr>
              <a:t>into the blood </a:t>
            </a:r>
            <a:r>
              <a:rPr dirty="0" sz="1200" spc="-5">
                <a:latin typeface="Times New Roman"/>
                <a:cs typeface="Times New Roman"/>
              </a:rPr>
              <a:t>cells, where </a:t>
            </a:r>
            <a:r>
              <a:rPr dirty="0" sz="1200">
                <a:latin typeface="Times New Roman"/>
                <a:cs typeface="Times New Roman"/>
              </a:rPr>
              <a:t>they cause the </a:t>
            </a:r>
            <a:r>
              <a:rPr dirty="0" sz="1200" spc="-5">
                <a:latin typeface="Times New Roman"/>
                <a:cs typeface="Times New Roman"/>
              </a:rPr>
              <a:t>malaria </a:t>
            </a:r>
            <a:r>
              <a:rPr dirty="0" sz="1200">
                <a:latin typeface="Times New Roman"/>
                <a:cs typeface="Times New Roman"/>
              </a:rPr>
              <a:t>attack. 9-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spread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insect-borne </a:t>
            </a:r>
            <a:r>
              <a:rPr dirty="0" sz="1200" spc="-5">
                <a:latin typeface="Times New Roman"/>
                <a:cs typeface="Times New Roman"/>
              </a:rPr>
              <a:t>disease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controlled.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2: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“Some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diseases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transmitted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tiny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animals”,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“House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flies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transmit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microbes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feet”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cycle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malaria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parasite;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text.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above diagram </a:t>
            </a:r>
            <a:r>
              <a:rPr dirty="0" sz="1200" spc="-5">
                <a:latin typeface="Times New Roman"/>
                <a:cs typeface="Times New Roman"/>
              </a:rPr>
              <a:t>shows </a:t>
            </a:r>
            <a:r>
              <a:rPr dirty="0" sz="1200">
                <a:latin typeface="Times New Roman"/>
                <a:cs typeface="Times New Roman"/>
              </a:rPr>
              <a:t>how used water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treated and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clean for use. Write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this cycle. </a:t>
            </a:r>
            <a:r>
              <a:rPr dirty="0" sz="1200" spc="-5">
                <a:latin typeface="Times New Roman"/>
                <a:cs typeface="Times New Roman"/>
              </a:rPr>
              <a:t>While writing </a:t>
            </a:r>
            <a:r>
              <a:rPr dirty="0" sz="1200">
                <a:latin typeface="Times New Roman"/>
                <a:cs typeface="Times New Roman"/>
              </a:rPr>
              <a:t>keep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mind.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cycle,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1407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Break down the cycle </a:t>
            </a:r>
            <a:r>
              <a:rPr dirty="0" sz="1200" spc="-5">
                <a:latin typeface="Times New Roman"/>
                <a:cs typeface="Times New Roman"/>
              </a:rPr>
              <a:t>into stages. </a:t>
            </a:r>
            <a:r>
              <a:rPr dirty="0" sz="1200">
                <a:latin typeface="Times New Roman"/>
                <a:cs typeface="Times New Roman"/>
              </a:rPr>
              <a:t>Consider the </a:t>
            </a:r>
            <a:r>
              <a:rPr dirty="0" sz="1200" spc="-5">
                <a:latin typeface="Times New Roman"/>
                <a:cs typeface="Times New Roman"/>
              </a:rPr>
              <a:t>basis on which the stages might </a:t>
            </a:r>
            <a:r>
              <a:rPr dirty="0" sz="1200">
                <a:latin typeface="Times New Roman"/>
                <a:cs typeface="Times New Roman"/>
              </a:rPr>
              <a:t>be defined.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thesis statement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introductory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Give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title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  <a:tabLst>
                <a:tab pos="1089025" algn="l"/>
                <a:tab pos="2124075" algn="l"/>
                <a:tab pos="2785745" algn="l"/>
                <a:tab pos="3658870" algn="l"/>
                <a:tab pos="4388485" algn="l"/>
                <a:tab pos="5278755" algn="l"/>
              </a:tabLst>
            </a:pPr>
            <a:r>
              <a:rPr dirty="0" sz="1200">
                <a:latin typeface="Times New Roman"/>
                <a:cs typeface="Times New Roman"/>
              </a:rPr>
              <a:t>1-In the </a:t>
            </a:r>
            <a:r>
              <a:rPr dirty="0" sz="1200" spc="-5">
                <a:latin typeface="Times New Roman"/>
                <a:cs typeface="Times New Roman"/>
              </a:rPr>
              <a:t>northern </a:t>
            </a:r>
            <a:r>
              <a:rPr dirty="0" sz="1200">
                <a:latin typeface="Times New Roman"/>
                <a:cs typeface="Times New Roman"/>
              </a:rPr>
              <a:t>areas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Pakistan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once </a:t>
            </a:r>
            <a:r>
              <a:rPr dirty="0" sz="1200" spc="-5">
                <a:latin typeface="Times New Roman"/>
                <a:cs typeface="Times New Roman"/>
              </a:rPr>
              <a:t>magnificent forests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slowly </a:t>
            </a:r>
            <a:r>
              <a:rPr dirty="0" sz="1200">
                <a:latin typeface="Times New Roman"/>
                <a:cs typeface="Times New Roman"/>
              </a:rPr>
              <a:t>being destroyed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the effects of air pollution. 2- Pine trees </a:t>
            </a:r>
            <a:r>
              <a:rPr dirty="0" sz="1200" spc="-5">
                <a:latin typeface="Times New Roman"/>
                <a:cs typeface="Times New Roman"/>
              </a:rPr>
              <a:t>dying from pollution lose</a:t>
            </a:r>
            <a:r>
              <a:rPr dirty="0" sz="1200">
                <a:latin typeface="Times New Roman"/>
                <a:cs typeface="Times New Roman"/>
              </a:rPr>
              <a:t> their </a:t>
            </a:r>
            <a:r>
              <a:rPr dirty="0" sz="1200" spc="-5">
                <a:latin typeface="Times New Roman"/>
                <a:cs typeface="Times New Roman"/>
              </a:rPr>
              <a:t>needless, </a:t>
            </a:r>
            <a:r>
              <a:rPr dirty="0" sz="1200">
                <a:latin typeface="Times New Roman"/>
                <a:cs typeface="Times New Roman"/>
              </a:rPr>
              <a:t> allowing	sunlight	to	reach	the	forest	floor.  3-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grass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thrives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increased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native to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soil, such </a:t>
            </a:r>
            <a:r>
              <a:rPr dirty="0" sz="1200" spc="-5">
                <a:latin typeface="Times New Roman"/>
                <a:cs typeface="Times New Roman"/>
              </a:rPr>
              <a:t>as moss, </a:t>
            </a:r>
            <a:r>
              <a:rPr dirty="0" sz="1200">
                <a:latin typeface="Times New Roman"/>
                <a:cs typeface="Times New Roman"/>
              </a:rPr>
              <a:t>which helps to hold </a:t>
            </a:r>
            <a:r>
              <a:rPr dirty="0" sz="1200" spc="-5">
                <a:latin typeface="Times New Roman"/>
                <a:cs typeface="Times New Roman"/>
              </a:rPr>
              <a:t>rainwater. </a:t>
            </a:r>
            <a:r>
              <a:rPr dirty="0" sz="1200">
                <a:latin typeface="Times New Roman"/>
                <a:cs typeface="Times New Roman"/>
              </a:rPr>
              <a:t>4- The soil thus </a:t>
            </a:r>
            <a:r>
              <a:rPr dirty="0" sz="1200" spc="-5">
                <a:latin typeface="Times New Roman"/>
                <a:cs typeface="Times New Roman"/>
              </a:rPr>
              <a:t>loses its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natural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power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absorb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snow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slide over the ground instead of </a:t>
            </a:r>
            <a:r>
              <a:rPr dirty="0" sz="1200" spc="-5">
                <a:latin typeface="Times New Roman"/>
                <a:cs typeface="Times New Roman"/>
              </a:rPr>
              <a:t>being slowly </a:t>
            </a:r>
            <a:r>
              <a:rPr dirty="0" sz="1200">
                <a:latin typeface="Times New Roman"/>
                <a:cs typeface="Times New Roman"/>
              </a:rPr>
              <a:t>absorbed into it. 5- This </a:t>
            </a:r>
            <a:r>
              <a:rPr dirty="0" sz="1200" spc="-5">
                <a:latin typeface="Times New Roman"/>
                <a:cs typeface="Times New Roman"/>
              </a:rPr>
              <a:t>results </a:t>
            </a:r>
            <a:r>
              <a:rPr dirty="0" sz="1200">
                <a:latin typeface="Times New Roman"/>
                <a:cs typeface="Times New Roman"/>
              </a:rPr>
              <a:t>in erosion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soil. 6- After a </a:t>
            </a:r>
            <a:r>
              <a:rPr dirty="0" sz="1200" spc="-5">
                <a:latin typeface="Times New Roman"/>
                <a:cs typeface="Times New Roman"/>
              </a:rPr>
              <a:t>heavy downpour, the eroded land finally falls </a:t>
            </a:r>
            <a:r>
              <a:rPr dirty="0" sz="1200">
                <a:latin typeface="Times New Roman"/>
                <a:cs typeface="Times New Roman"/>
              </a:rPr>
              <a:t>away in </a:t>
            </a:r>
            <a:r>
              <a:rPr dirty="0" sz="1200" spc="-5">
                <a:latin typeface="Times New Roman"/>
                <a:cs typeface="Times New Roman"/>
              </a:rPr>
              <a:t>huge </a:t>
            </a:r>
            <a:r>
              <a:rPr dirty="0" sz="1200">
                <a:latin typeface="Times New Roman"/>
                <a:cs typeface="Times New Roman"/>
              </a:rPr>
              <a:t>land </a:t>
            </a:r>
            <a:r>
              <a:rPr dirty="0" sz="1200" spc="-10">
                <a:latin typeface="Times New Roman"/>
                <a:cs typeface="Times New Roman"/>
              </a:rPr>
              <a:t>slides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destroying villages and whatever else that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way, and later causing floods 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plains.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068571"/>
            <a:ext cx="562800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guidelines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available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200" y="4420615"/>
            <a:ext cx="1313815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Degree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Certainty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Complete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91321" y="4420615"/>
            <a:ext cx="492125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9535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Verbs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(not)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054600" y="4420615"/>
            <a:ext cx="826135" cy="90805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 indent="76200">
              <a:lnSpc>
                <a:spcPct val="95600"/>
              </a:lnSpc>
              <a:spcBef>
                <a:spcPts val="160"/>
              </a:spcBef>
            </a:pPr>
            <a:r>
              <a:rPr dirty="0" sz="1200" spc="-10" b="1">
                <a:latin typeface="Times New Roman"/>
                <a:cs typeface="Times New Roman"/>
              </a:rPr>
              <a:t>Adverbs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 </a:t>
            </a:r>
            <a:r>
              <a:rPr dirty="0" sz="1200">
                <a:latin typeface="Times New Roman"/>
                <a:cs typeface="Times New Roman"/>
              </a:rPr>
              <a:t> undoubtedly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92759" y="4944871"/>
            <a:ext cx="6731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7556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(not)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(not)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245100" y="5470652"/>
            <a:ext cx="508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actually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200" y="5645911"/>
            <a:ext cx="406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strong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3200" y="5996432"/>
            <a:ext cx="6737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Partial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>
                <a:latin typeface="Times New Roman"/>
                <a:cs typeface="Times New Roman"/>
              </a:rPr>
              <a:t> strong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301815" y="5996432"/>
            <a:ext cx="7753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88900" marR="5080" indent="-768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cannot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 (not)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130079" y="6346952"/>
            <a:ext cx="73723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probably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presu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ably  possibly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perhaps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302000" y="6522211"/>
            <a:ext cx="76708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should (not) 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(not)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(not)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473200" y="7223252"/>
            <a:ext cx="106172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Impersonal </a:t>
            </a:r>
            <a:r>
              <a:rPr dirty="0" sz="1200">
                <a:latin typeface="Times New Roman"/>
                <a:cs typeface="Times New Roman"/>
              </a:rPr>
              <a:t>i.e.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commitment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self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149855" y="7223252"/>
            <a:ext cx="224790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65100" marR="949325" indent="3683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that……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reports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that…..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suggest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6000" y="8101076"/>
            <a:ext cx="5628005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CAUSE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EFFECT: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Cause and effect are closely related. There are several ways of expressing cause-effect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 in English. You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either place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cause or the effect first in the </a:t>
            </a:r>
            <a:r>
              <a:rPr dirty="0" sz="1200" spc="-5">
                <a:latin typeface="Times New Roman"/>
                <a:cs typeface="Times New Roman"/>
              </a:rPr>
              <a:t>sentence.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following sentences contain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expression, yet one </a:t>
            </a:r>
            <a:r>
              <a:rPr dirty="0" sz="1200" spc="-5">
                <a:latin typeface="Times New Roman"/>
                <a:cs typeface="Times New Roman"/>
              </a:rPr>
              <a:t>focuses </a:t>
            </a:r>
            <a:r>
              <a:rPr dirty="0" sz="1200">
                <a:latin typeface="Times New Roman"/>
                <a:cs typeface="Times New Roman"/>
              </a:rPr>
              <a:t>on cause while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focuses</a:t>
            </a:r>
            <a:r>
              <a:rPr dirty="0" sz="1200">
                <a:latin typeface="Times New Roman"/>
                <a:cs typeface="Times New Roman"/>
              </a:rPr>
              <a:t> on effect.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his depression,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remained </a:t>
            </a:r>
            <a:r>
              <a:rPr dirty="0" sz="1200">
                <a:latin typeface="Times New Roman"/>
                <a:cs typeface="Times New Roman"/>
              </a:rPr>
              <a:t>quiet.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697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depression.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decide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yourself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the effect </a:t>
            </a:r>
            <a:r>
              <a:rPr dirty="0" sz="1200" spc="-5">
                <a:latin typeface="Times New Roman"/>
                <a:cs typeface="Times New Roman"/>
              </a:rPr>
              <a:t>is more important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you, and </a:t>
            </a:r>
            <a:r>
              <a:rPr dirty="0" sz="1200">
                <a:latin typeface="Times New Roman"/>
                <a:cs typeface="Times New Roman"/>
              </a:rPr>
              <a:t>what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focus on. There are </a:t>
            </a:r>
            <a:r>
              <a:rPr dirty="0" sz="1200" spc="-5">
                <a:latin typeface="Times New Roman"/>
                <a:cs typeface="Times New Roman"/>
              </a:rPr>
              <a:t>many ways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expressing causal relatives in English. The </a:t>
            </a:r>
            <a:r>
              <a:rPr dirty="0" sz="1200" spc="-5">
                <a:latin typeface="Times New Roman"/>
                <a:cs typeface="Times New Roman"/>
              </a:rPr>
              <a:t>simplest way </a:t>
            </a:r>
            <a:r>
              <a:rPr dirty="0" sz="1200">
                <a:latin typeface="Times New Roman"/>
                <a:cs typeface="Times New Roman"/>
              </a:rPr>
              <a:t>of showing cause </a:t>
            </a:r>
            <a:r>
              <a:rPr dirty="0" sz="1200" spc="-5">
                <a:latin typeface="Times New Roman"/>
                <a:cs typeface="Times New Roman"/>
              </a:rPr>
              <a:t>is: </a:t>
            </a:r>
            <a:r>
              <a:rPr dirty="0" sz="1200">
                <a:latin typeface="Times New Roman"/>
                <a:cs typeface="Times New Roman"/>
              </a:rPr>
              <a:t>because +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clause</a:t>
            </a:r>
            <a:endParaRPr sz="1200">
              <a:latin typeface="Times New Roman"/>
              <a:cs typeface="Times New Roman"/>
            </a:endParaRPr>
          </a:p>
          <a:p>
            <a:pPr algn="just" marL="50165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e.g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war </a:t>
            </a:r>
            <a:r>
              <a:rPr dirty="0" sz="1200">
                <a:latin typeface="Times New Roman"/>
                <a:cs typeface="Times New Roman"/>
              </a:rPr>
              <a:t>started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</a:t>
            </a:r>
            <a:r>
              <a:rPr dirty="0" sz="1200" spc="-5">
                <a:latin typeface="Times New Roman"/>
                <a:cs typeface="Times New Roman"/>
              </a:rPr>
              <a:t> extremists</a:t>
            </a:r>
            <a:r>
              <a:rPr dirty="0" sz="1200">
                <a:latin typeface="Times New Roman"/>
                <a:cs typeface="Times New Roman"/>
              </a:rPr>
              <a:t> had the upper hand in the </a:t>
            </a:r>
            <a:r>
              <a:rPr dirty="0" sz="1200" spc="-5">
                <a:latin typeface="Times New Roman"/>
                <a:cs typeface="Times New Roman"/>
              </a:rPr>
              <a:t>government).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70"/>
              </a:spcBef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text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note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three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expressions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by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writer</a:t>
            </a:r>
            <a:r>
              <a:rPr dirty="0" sz="1200" b="1">
                <a:latin typeface="Times New Roman"/>
                <a:cs typeface="Times New Roman"/>
              </a:rPr>
              <a:t> to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 </a:t>
            </a:r>
            <a:r>
              <a:rPr dirty="0" sz="1200" b="1">
                <a:latin typeface="Times New Roman"/>
                <a:cs typeface="Times New Roman"/>
              </a:rPr>
              <a:t> causality.</a:t>
            </a:r>
            <a:r>
              <a:rPr dirty="0" sz="1200" spc="-5" b="1">
                <a:latin typeface="Times New Roman"/>
                <a:cs typeface="Times New Roman"/>
              </a:rPr>
              <a:t> Use</a:t>
            </a:r>
            <a:r>
              <a:rPr dirty="0" sz="1200" b="1">
                <a:latin typeface="Times New Roman"/>
                <a:cs typeface="Times New Roman"/>
              </a:rPr>
              <a:t> ( </a:t>
            </a:r>
            <a:r>
              <a:rPr dirty="0" sz="1200" spc="-5" b="1">
                <a:latin typeface="Times New Roman"/>
                <a:cs typeface="Times New Roman"/>
              </a:rPr>
              <a:t>C)</a:t>
            </a:r>
            <a:r>
              <a:rPr dirty="0" sz="1200" b="1">
                <a:latin typeface="Times New Roman"/>
                <a:cs typeface="Times New Roman"/>
              </a:rPr>
              <a:t> for </a:t>
            </a:r>
            <a:r>
              <a:rPr dirty="0" sz="1200" spc="-5" b="1">
                <a:latin typeface="Times New Roman"/>
                <a:cs typeface="Times New Roman"/>
              </a:rPr>
              <a:t>cause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(E) for  </a:t>
            </a:r>
            <a:r>
              <a:rPr dirty="0" sz="1200" spc="-5" b="1">
                <a:latin typeface="Times New Roman"/>
                <a:cs typeface="Times New Roman"/>
              </a:rPr>
              <a:t>effect.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TUBERCULOSIS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LUNGS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1- </a:t>
            </a:r>
            <a:r>
              <a:rPr dirty="0" sz="1200" spc="-5">
                <a:latin typeface="Times New Roman"/>
                <a:cs typeface="Times New Roman"/>
              </a:rPr>
              <a:t>Pulmonary </a:t>
            </a:r>
            <a:r>
              <a:rPr dirty="0" sz="1200">
                <a:latin typeface="Times New Roman"/>
                <a:cs typeface="Times New Roman"/>
              </a:rPr>
              <a:t>Tuberculosis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caused by </a:t>
            </a:r>
            <a:r>
              <a:rPr dirty="0" sz="1200" spc="-5">
                <a:latin typeface="Times New Roman"/>
                <a:cs typeface="Times New Roman"/>
              </a:rPr>
              <a:t>infection of </a:t>
            </a:r>
            <a:r>
              <a:rPr dirty="0" sz="1200">
                <a:latin typeface="Times New Roman"/>
                <a:cs typeface="Times New Roman"/>
              </a:rPr>
              <a:t>the lungs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the tubercle </a:t>
            </a:r>
            <a:r>
              <a:rPr dirty="0" sz="1200" spc="-5">
                <a:latin typeface="Times New Roman"/>
                <a:cs typeface="Times New Roman"/>
              </a:rPr>
              <a:t>bacillus. 2-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Pulmonary damage is due almost entirely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 human </a:t>
            </a:r>
            <a:r>
              <a:rPr dirty="0" sz="1200">
                <a:latin typeface="Times New Roman"/>
                <a:cs typeface="Times New Roman"/>
              </a:rPr>
              <a:t>form of the </a:t>
            </a:r>
            <a:r>
              <a:rPr dirty="0" sz="1200" spc="-5">
                <a:latin typeface="Times New Roman"/>
                <a:cs typeface="Times New Roman"/>
              </a:rPr>
              <a:t>tubercle </a:t>
            </a:r>
            <a:r>
              <a:rPr dirty="0" sz="1200">
                <a:latin typeface="Times New Roman"/>
                <a:cs typeface="Times New Roman"/>
              </a:rPr>
              <a:t>bacillus,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 distinct from the type found in cattle which </a:t>
            </a:r>
            <a:r>
              <a:rPr dirty="0" sz="1200" spc="-5">
                <a:latin typeface="Times New Roman"/>
                <a:cs typeface="Times New Roman"/>
              </a:rPr>
              <a:t>is mainly </a:t>
            </a:r>
            <a:r>
              <a:rPr dirty="0" sz="1200">
                <a:latin typeface="Times New Roman"/>
                <a:cs typeface="Times New Roman"/>
              </a:rPr>
              <a:t>responsible for glandular and bovine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tuberculosis. 3- The bacteria lodge in the lungs </a:t>
            </a:r>
            <a:r>
              <a:rPr dirty="0" sz="1200" spc="-5">
                <a:latin typeface="Times New Roman"/>
                <a:cs typeface="Times New Roman"/>
              </a:rPr>
              <a:t>is set </a:t>
            </a:r>
            <a:r>
              <a:rPr dirty="0" sz="1200">
                <a:latin typeface="Times New Roman"/>
                <a:cs typeface="Times New Roman"/>
              </a:rPr>
              <a:t>up a chronic inflammation of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specific, type. </a:t>
            </a:r>
            <a:r>
              <a:rPr dirty="0" sz="1200">
                <a:latin typeface="Times New Roman"/>
                <a:cs typeface="Times New Roman"/>
              </a:rPr>
              <a:t>4- They produce </a:t>
            </a:r>
            <a:r>
              <a:rPr dirty="0" sz="1200" spc="-5">
                <a:latin typeface="Times New Roman"/>
                <a:cs typeface="Times New Roman"/>
              </a:rPr>
              <a:t>areas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infiltration </a:t>
            </a:r>
            <a:r>
              <a:rPr dirty="0" sz="1200">
                <a:latin typeface="Times New Roman"/>
                <a:cs typeface="Times New Roman"/>
              </a:rPr>
              <a:t>which have a characteristic tubercle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formation; </a:t>
            </a:r>
            <a:r>
              <a:rPr dirty="0" sz="1200">
                <a:latin typeface="Times New Roman"/>
                <a:cs typeface="Times New Roman"/>
              </a:rPr>
              <a:t>hence the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>
                <a:latin typeface="Times New Roman"/>
                <a:cs typeface="Times New Roman"/>
              </a:rPr>
              <a:t> for the </a:t>
            </a:r>
            <a:r>
              <a:rPr dirty="0" sz="1200" spc="-5">
                <a:latin typeface="Times New Roman"/>
                <a:cs typeface="Times New Roman"/>
              </a:rPr>
              <a:t>organism.</a:t>
            </a:r>
            <a:endParaRPr sz="1200">
              <a:latin typeface="Times New Roman"/>
              <a:cs typeface="Times New Roman"/>
            </a:endParaRPr>
          </a:p>
          <a:p>
            <a:pPr algn="just" marL="13843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-Study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Writing,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Lyons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Heasley.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CUP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ts val="1415"/>
              </a:lnSpc>
            </a:pP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cause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effect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relationship?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rain </a:t>
            </a:r>
            <a:r>
              <a:rPr dirty="0" sz="1200" spc="-5">
                <a:latin typeface="Times New Roman"/>
                <a:cs typeface="Times New Roman"/>
              </a:rPr>
              <a:t>falls</a:t>
            </a:r>
            <a:r>
              <a:rPr dirty="0" sz="1200">
                <a:latin typeface="Times New Roman"/>
                <a:cs typeface="Times New Roman"/>
              </a:rPr>
              <a:t> on </a:t>
            </a:r>
            <a:r>
              <a:rPr dirty="0" sz="1200" spc="-5">
                <a:latin typeface="Times New Roman"/>
                <a:cs typeface="Times New Roman"/>
              </a:rPr>
              <a:t>mountains</a:t>
            </a:r>
            <a:r>
              <a:rPr dirty="0" sz="1200">
                <a:latin typeface="Times New Roman"/>
                <a:cs typeface="Times New Roman"/>
              </a:rPr>
              <a:t> it </a:t>
            </a:r>
            <a:r>
              <a:rPr dirty="0" sz="1200" spc="-5">
                <a:latin typeface="Times New Roman"/>
                <a:cs typeface="Times New Roman"/>
              </a:rPr>
              <a:t>collects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depressions</a:t>
            </a:r>
            <a:r>
              <a:rPr dirty="0" sz="1200">
                <a:latin typeface="Times New Roman"/>
                <a:cs typeface="Times New Roman"/>
              </a:rPr>
              <a:t> in the rocks. The </a:t>
            </a:r>
            <a:r>
              <a:rPr dirty="0" sz="1200" spc="-5">
                <a:latin typeface="Times New Roman"/>
                <a:cs typeface="Times New Roman"/>
              </a:rPr>
              <a:t>extreme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causes the </a:t>
            </a:r>
            <a:r>
              <a:rPr dirty="0" sz="1200">
                <a:latin typeface="Times New Roman"/>
                <a:cs typeface="Times New Roman"/>
              </a:rPr>
              <a:t>ice to freeze and glaciers to </a:t>
            </a:r>
            <a:r>
              <a:rPr dirty="0" sz="1200" spc="-5">
                <a:latin typeface="Times New Roman"/>
                <a:cs typeface="Times New Roman"/>
              </a:rPr>
              <a:t>form. </a:t>
            </a:r>
            <a:r>
              <a:rPr dirty="0" sz="1200">
                <a:latin typeface="Times New Roman"/>
                <a:cs typeface="Times New Roman"/>
              </a:rPr>
              <a:t>The ice </a:t>
            </a:r>
            <a:r>
              <a:rPr dirty="0" sz="1200" spc="-5">
                <a:latin typeface="Times New Roman"/>
                <a:cs typeface="Times New Roman"/>
              </a:rPr>
              <a:t>melts </a:t>
            </a:r>
            <a:r>
              <a:rPr dirty="0" sz="1200">
                <a:latin typeface="Times New Roman"/>
                <a:cs typeface="Times New Roman"/>
              </a:rPr>
              <a:t>and freezes again due to /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changes in </a:t>
            </a:r>
            <a:r>
              <a:rPr dirty="0" sz="1200" spc="-5">
                <a:latin typeface="Times New Roman"/>
                <a:cs typeface="Times New Roman"/>
              </a:rPr>
              <a:t>temperature.</a:t>
            </a:r>
            <a:r>
              <a:rPr dirty="0" sz="1200">
                <a:latin typeface="Times New Roman"/>
                <a:cs typeface="Times New Roman"/>
              </a:rPr>
              <a:t> Erosion of the rock of the </a:t>
            </a:r>
            <a:r>
              <a:rPr dirty="0" sz="1200" spc="-5">
                <a:latin typeface="Times New Roman"/>
                <a:cs typeface="Times New Roman"/>
              </a:rPr>
              <a:t>mountain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depression occurs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result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continual </a:t>
            </a:r>
            <a:r>
              <a:rPr dirty="0" sz="1200" spc="-5">
                <a:latin typeface="Times New Roman"/>
                <a:cs typeface="Times New Roman"/>
              </a:rPr>
              <a:t>melting </a:t>
            </a:r>
            <a:r>
              <a:rPr dirty="0" sz="1200">
                <a:latin typeface="Times New Roman"/>
                <a:cs typeface="Times New Roman"/>
              </a:rPr>
              <a:t>and re-freezing,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worsened by / </a:t>
            </a:r>
            <a:r>
              <a:rPr dirty="0" sz="1200" spc="-5">
                <a:latin typeface="Times New Roman"/>
                <a:cs typeface="Times New Roman"/>
              </a:rPr>
              <a:t>made worse </a:t>
            </a:r>
            <a:r>
              <a:rPr dirty="0" sz="1200">
                <a:latin typeface="Times New Roman"/>
                <a:cs typeface="Times New Roman"/>
              </a:rPr>
              <a:t>by / increased 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action of wind </a:t>
            </a:r>
            <a:r>
              <a:rPr dirty="0" sz="1200" spc="-5">
                <a:latin typeface="Times New Roman"/>
                <a:cs typeface="Times New Roman"/>
              </a:rPr>
              <a:t>moving </a:t>
            </a:r>
            <a:r>
              <a:rPr dirty="0" sz="1200">
                <a:latin typeface="Times New Roman"/>
                <a:cs typeface="Times New Roman"/>
              </a:rPr>
              <a:t>the water. </a:t>
            </a:r>
            <a:r>
              <a:rPr dirty="0" sz="1200" spc="-5">
                <a:latin typeface="Times New Roman"/>
                <a:cs typeface="Times New Roman"/>
              </a:rPr>
              <a:t>Eventually, </a:t>
            </a:r>
            <a:r>
              <a:rPr dirty="0" sz="1200">
                <a:latin typeface="Times New Roman"/>
                <a:cs typeface="Times New Roman"/>
              </a:rPr>
              <a:t>the water </a:t>
            </a:r>
            <a:r>
              <a:rPr dirty="0" sz="1200" spc="-5">
                <a:latin typeface="Times New Roman"/>
                <a:cs typeface="Times New Roman"/>
              </a:rPr>
              <a:t>wears </a:t>
            </a:r>
            <a:r>
              <a:rPr dirty="0" sz="1200">
                <a:latin typeface="Times New Roman"/>
                <a:cs typeface="Times New Roman"/>
              </a:rPr>
              <a:t>away the rock to form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>
                <a:latin typeface="Times New Roman"/>
                <a:cs typeface="Times New Roman"/>
              </a:rPr>
              <a:t>stream which carries </a:t>
            </a:r>
            <a:r>
              <a:rPr dirty="0" sz="1200" spc="-5">
                <a:latin typeface="Times New Roman"/>
                <a:cs typeface="Times New Roman"/>
              </a:rPr>
              <a:t>deposits </a:t>
            </a:r>
            <a:r>
              <a:rPr dirty="0" sz="1200">
                <a:latin typeface="Times New Roman"/>
                <a:cs typeface="Times New Roman"/>
              </a:rPr>
              <a:t>of soil and rock which </a:t>
            </a:r>
            <a:r>
              <a:rPr dirty="0" sz="1200" spc="-5">
                <a:latin typeface="Times New Roman"/>
                <a:cs typeface="Times New Roman"/>
              </a:rPr>
              <a:t>cause </a:t>
            </a:r>
            <a:r>
              <a:rPr dirty="0" sz="1200">
                <a:latin typeface="Times New Roman"/>
                <a:cs typeface="Times New Roman"/>
              </a:rPr>
              <a:t>further erosion, gradually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enlarging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stream.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can spot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Watching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violence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TV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beneficial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violent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behavior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viewers </a:t>
            </a:r>
            <a:r>
              <a:rPr dirty="0" sz="1200">
                <a:latin typeface="Times New Roman"/>
                <a:cs typeface="Times New Roman"/>
              </a:rPr>
              <a:t>get rid of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their own </a:t>
            </a:r>
            <a:r>
              <a:rPr dirty="0" sz="1200" spc="-5">
                <a:latin typeface="Times New Roman"/>
                <a:cs typeface="Times New Roman"/>
              </a:rPr>
              <a:t>aggressive </a:t>
            </a:r>
            <a:r>
              <a:rPr dirty="0" sz="1200">
                <a:latin typeface="Times New Roman"/>
                <a:cs typeface="Times New Roman"/>
              </a:rPr>
              <a:t>impulses through viewing and in this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reduce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chance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perform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aggressive acts.</a:t>
            </a:r>
            <a:endParaRPr sz="1200">
              <a:latin typeface="Times New Roman"/>
              <a:cs typeface="Times New Roman"/>
            </a:endParaRPr>
          </a:p>
          <a:p>
            <a:pPr algn="just" marL="241300" marR="3234690" indent="-2286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became familiar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Cause- effect </a:t>
            </a:r>
            <a:r>
              <a:rPr dirty="0" sz="1200" spc="-5">
                <a:latin typeface="Times New Roman"/>
                <a:cs typeface="Times New Roman"/>
              </a:rPr>
              <a:t>structures </a:t>
            </a:r>
            <a:r>
              <a:rPr dirty="0" sz="1200">
                <a:latin typeface="Times New Roman"/>
                <a:cs typeface="Times New Roman"/>
              </a:rPr>
              <a:t>in texts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2-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doubt.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 </a:t>
            </a:r>
            <a:r>
              <a:rPr dirty="0" sz="1200">
                <a:latin typeface="Times New Roman"/>
                <a:cs typeface="Times New Roman"/>
              </a:rPr>
              <a:t>you should be </a:t>
            </a:r>
            <a:r>
              <a:rPr dirty="0" sz="1200" spc="-5">
                <a:latin typeface="Times New Roman"/>
                <a:cs typeface="Times New Roman"/>
              </a:rPr>
              <a:t>able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identify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cause and effect </a:t>
            </a:r>
            <a:r>
              <a:rPr dirty="0" sz="1200" spc="-5">
                <a:latin typeface="Times New Roman"/>
                <a:cs typeface="Times New Roman"/>
              </a:rPr>
              <a:t>accurately </a:t>
            </a:r>
            <a:r>
              <a:rPr dirty="0" sz="1200">
                <a:latin typeface="Times New Roman"/>
                <a:cs typeface="Times New Roman"/>
              </a:rPr>
              <a:t>and clearly by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suitable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certainty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cause and effect.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-39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Ways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Organizing </a:t>
            </a:r>
            <a:r>
              <a:rPr dirty="0" sz="1200" b="1">
                <a:latin typeface="Times New Roman"/>
                <a:cs typeface="Times New Roman"/>
              </a:rPr>
              <a:t>Texts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(Spatial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Relationships</a:t>
            </a:r>
            <a:r>
              <a:rPr dirty="0" sz="1200" spc="-5" b="1">
                <a:latin typeface="Times New Roman"/>
                <a:cs typeface="Times New Roman"/>
              </a:rPr>
              <a:t> &amp; </a:t>
            </a:r>
            <a:r>
              <a:rPr dirty="0" sz="1200" b="1">
                <a:latin typeface="Times New Roman"/>
                <a:cs typeface="Times New Roman"/>
              </a:rPr>
              <a:t>Classification)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last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examined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organizing long texts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essays,</a:t>
            </a:r>
            <a:r>
              <a:rPr dirty="0" sz="1200">
                <a:latin typeface="Times New Roman"/>
                <a:cs typeface="Times New Roman"/>
              </a:rPr>
              <a:t> etc…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 types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organizations: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15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Chronological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Describing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sequence.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Describing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cyclic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410"/>
              </a:lnSpc>
              <a:buAutoNum type="alphaLcParenR"/>
              <a:tabLst>
                <a:tab pos="177800" algn="l"/>
              </a:tabLst>
            </a:pP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shall consider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 ways</a:t>
            </a:r>
            <a:r>
              <a:rPr dirty="0" sz="1200">
                <a:latin typeface="Times New Roman"/>
                <a:cs typeface="Times New Roman"/>
              </a:rPr>
              <a:t> of organizing texts:</a:t>
            </a:r>
            <a:endParaRPr sz="1200">
              <a:latin typeface="Times New Roman"/>
              <a:cs typeface="Times New Roman"/>
            </a:endParaRPr>
          </a:p>
          <a:p>
            <a:pPr marL="233045" indent="-182880">
              <a:lnSpc>
                <a:spcPts val="1380"/>
              </a:lnSpc>
              <a:buAutoNum type="romanLcParenBoth"/>
              <a:tabLst>
                <a:tab pos="233679" algn="l"/>
              </a:tabLst>
            </a:pPr>
            <a:r>
              <a:rPr dirty="0" sz="1200" spc="-5">
                <a:latin typeface="Times New Roman"/>
                <a:cs typeface="Times New Roman"/>
              </a:rPr>
              <a:t>Spatial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</a:t>
            </a:r>
            <a:endParaRPr sz="1200">
              <a:latin typeface="Times New Roman"/>
              <a:cs typeface="Times New Roman"/>
            </a:endParaRPr>
          </a:p>
          <a:p>
            <a:pPr marL="274955" indent="-224790">
              <a:lnSpc>
                <a:spcPts val="1410"/>
              </a:lnSpc>
              <a:buAutoNum type="romanLcParenBoth"/>
              <a:tabLst>
                <a:tab pos="275590" algn="l"/>
              </a:tabLst>
            </a:pPr>
            <a:r>
              <a:rPr dirty="0" sz="1200">
                <a:latin typeface="Times New Roman"/>
                <a:cs typeface="Times New Roman"/>
              </a:rPr>
              <a:t>Classification.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Spatial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Relationships: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conventions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spatial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 </a:t>
            </a:r>
            <a:r>
              <a:rPr dirty="0" sz="1200">
                <a:latin typeface="Times New Roman"/>
                <a:cs typeface="Times New Roman"/>
              </a:rPr>
              <a:t>and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provided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practice </a:t>
            </a:r>
            <a:r>
              <a:rPr dirty="0" sz="1200">
                <a:latin typeface="Times New Roman"/>
                <a:cs typeface="Times New Roman"/>
              </a:rPr>
              <a:t>in writing spatial </a:t>
            </a:r>
            <a:r>
              <a:rPr dirty="0" sz="1200" spc="-5">
                <a:latin typeface="Times New Roman"/>
                <a:cs typeface="Times New Roman"/>
              </a:rPr>
              <a:t>descriptions.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 spatial means dealing with, happening or existing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space. While writing, very often,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 to </a:t>
            </a:r>
            <a:r>
              <a:rPr dirty="0" sz="1200" spc="-5">
                <a:latin typeface="Times New Roman"/>
                <a:cs typeface="Times New Roman"/>
              </a:rPr>
              <a:t>describe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location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place, how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place is </a:t>
            </a:r>
            <a:r>
              <a:rPr dirty="0" sz="1200">
                <a:latin typeface="Times New Roman"/>
                <a:cs typeface="Times New Roman"/>
              </a:rPr>
              <a:t>laid out, or </a:t>
            </a:r>
            <a:r>
              <a:rPr dirty="0" sz="1200" spc="-5">
                <a:latin typeface="Times New Roman"/>
                <a:cs typeface="Times New Roman"/>
              </a:rPr>
              <a:t>how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things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objects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connected.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ways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spatially.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70"/>
              </a:spcBef>
            </a:pPr>
            <a:r>
              <a:rPr dirty="0" sz="1200" spc="-5" b="1">
                <a:latin typeface="Times New Roman"/>
                <a:cs typeface="Times New Roman"/>
              </a:rPr>
              <a:t>Read the following passage and </a:t>
            </a:r>
            <a:r>
              <a:rPr dirty="0" sz="1200" b="1">
                <a:latin typeface="Times New Roman"/>
                <a:cs typeface="Times New Roman"/>
              </a:rPr>
              <a:t>note </a:t>
            </a:r>
            <a:r>
              <a:rPr dirty="0" sz="1200" spc="-5" b="1">
                <a:latin typeface="Times New Roman"/>
                <a:cs typeface="Times New Roman"/>
              </a:rPr>
              <a:t>the expressions which </a:t>
            </a:r>
            <a:r>
              <a:rPr dirty="0" sz="1200" b="1">
                <a:latin typeface="Times New Roman"/>
                <a:cs typeface="Times New Roman"/>
              </a:rPr>
              <a:t>tell </a:t>
            </a:r>
            <a:r>
              <a:rPr dirty="0" sz="1200" spc="-5" b="1">
                <a:latin typeface="Times New Roman"/>
                <a:cs typeface="Times New Roman"/>
              </a:rPr>
              <a:t>the </a:t>
            </a:r>
            <a:r>
              <a:rPr dirty="0" sz="1200" b="1">
                <a:latin typeface="Times New Roman"/>
                <a:cs typeface="Times New Roman"/>
              </a:rPr>
              <a:t>reader </a:t>
            </a:r>
            <a:r>
              <a:rPr dirty="0" sz="1200" spc="-5" b="1">
                <a:latin typeface="Times New Roman"/>
                <a:cs typeface="Times New Roman"/>
              </a:rPr>
              <a:t>where the 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place is.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SHIRAZ</a:t>
            </a:r>
            <a:r>
              <a:rPr dirty="0" sz="1200" spc="5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CENTER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Shiraz Center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complex mixture of high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low buildings on </a:t>
            </a:r>
            <a:r>
              <a:rPr dirty="0" sz="1200">
                <a:latin typeface="Times New Roman"/>
                <a:cs typeface="Times New Roman"/>
              </a:rPr>
              <a:t>the edge </a:t>
            </a:r>
            <a:r>
              <a:rPr dirty="0" sz="1200" spc="-5">
                <a:latin typeface="Times New Roman"/>
                <a:cs typeface="Times New Roman"/>
              </a:rPr>
              <a:t>of Shahdara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adjoining locality of </a:t>
            </a:r>
            <a:r>
              <a:rPr dirty="0" sz="1200" spc="-5">
                <a:latin typeface="Times New Roman"/>
                <a:cs typeface="Times New Roman"/>
              </a:rPr>
              <a:t>Gujranwala, </a:t>
            </a:r>
            <a:r>
              <a:rPr dirty="0" sz="1200">
                <a:latin typeface="Times New Roman"/>
                <a:cs typeface="Times New Roman"/>
              </a:rPr>
              <a:t>just to the North East of Lahore. Although the site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itself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industrial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wasteland,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residential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district.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it,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runs a rail track, but in </a:t>
            </a:r>
            <a:r>
              <a:rPr dirty="0" sz="1200" spc="-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surrounded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bungalows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double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apartment</a:t>
            </a:r>
            <a:r>
              <a:rPr dirty="0" sz="1200">
                <a:latin typeface="Times New Roman"/>
                <a:cs typeface="Times New Roman"/>
              </a:rPr>
              <a:t> flats.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Shahdara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Gujranwala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prosperous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areas,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Gujranwala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particular, has undergone</a:t>
            </a:r>
            <a:r>
              <a:rPr dirty="0" sz="1200">
                <a:latin typeface="Times New Roman"/>
                <a:cs typeface="Times New Roman"/>
              </a:rPr>
              <a:t> extensive industrial </a:t>
            </a:r>
            <a:r>
              <a:rPr dirty="0" sz="1200" spc="-5">
                <a:latin typeface="Times New Roman"/>
                <a:cs typeface="Times New Roman"/>
              </a:rPr>
              <a:t>development.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There are basically </a:t>
            </a:r>
            <a:r>
              <a:rPr dirty="0" sz="1200" spc="-5">
                <a:latin typeface="Times New Roman"/>
                <a:cs typeface="Times New Roman"/>
              </a:rPr>
              <a:t>two ways </a:t>
            </a:r>
            <a:r>
              <a:rPr dirty="0" sz="1200">
                <a:latin typeface="Times New Roman"/>
                <a:cs typeface="Times New Roman"/>
              </a:rPr>
              <a:t>of organizing a </a:t>
            </a:r>
            <a:r>
              <a:rPr dirty="0" sz="1200" spc="-5">
                <a:latin typeface="Times New Roman"/>
                <a:cs typeface="Times New Roman"/>
              </a:rPr>
              <a:t>description </a:t>
            </a:r>
            <a:r>
              <a:rPr dirty="0" sz="1200">
                <a:latin typeface="Times New Roman"/>
                <a:cs typeface="Times New Roman"/>
              </a:rPr>
              <a:t>of a place. </a:t>
            </a:r>
            <a:r>
              <a:rPr dirty="0" sz="1200" spc="-5">
                <a:latin typeface="Times New Roman"/>
                <a:cs typeface="Times New Roman"/>
              </a:rPr>
              <a:t>One way 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describe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air - </a:t>
            </a:r>
            <a:r>
              <a:rPr dirty="0" sz="1200" spc="-5">
                <a:latin typeface="Times New Roman"/>
                <a:cs typeface="Times New Roman"/>
              </a:rPr>
              <a:t>i.e.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bird’s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eye view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other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describe it from the point of </a:t>
            </a:r>
            <a:r>
              <a:rPr dirty="0" sz="1200" spc="-5">
                <a:latin typeface="Times New Roman"/>
                <a:cs typeface="Times New Roman"/>
              </a:rPr>
              <a:t>view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walk </a:t>
            </a:r>
            <a:r>
              <a:rPr dirty="0" sz="1200">
                <a:latin typeface="Times New Roman"/>
                <a:cs typeface="Times New Roman"/>
              </a:rPr>
              <a:t>through </a:t>
            </a:r>
            <a:r>
              <a:rPr dirty="0" sz="1200" spc="-5">
                <a:latin typeface="Times New Roman"/>
                <a:cs typeface="Times New Roman"/>
              </a:rPr>
              <a:t>it, which is known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pedestrian's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view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e.g. The sentence ‘Afghanistan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landlocked country’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Afghanistan. In </a:t>
            </a:r>
            <a:r>
              <a:rPr dirty="0" sz="1200">
                <a:latin typeface="Times New Roman"/>
                <a:cs typeface="Times New Roman"/>
              </a:rPr>
              <a:t> this </a:t>
            </a:r>
            <a:r>
              <a:rPr dirty="0" sz="1200" spc="-5">
                <a:latin typeface="Times New Roman"/>
                <a:cs typeface="Times New Roman"/>
              </a:rPr>
              <a:t>case </a:t>
            </a:r>
            <a:r>
              <a:rPr dirty="0" sz="1200">
                <a:latin typeface="Times New Roman"/>
                <a:cs typeface="Times New Roman"/>
              </a:rPr>
              <a:t>‘Afghanistan’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also the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of the sentence. However, in the sentence ‘To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East lies </a:t>
            </a:r>
            <a:r>
              <a:rPr dirty="0" sz="1200" spc="-5">
                <a:latin typeface="Times New Roman"/>
                <a:cs typeface="Times New Roman"/>
              </a:rPr>
              <a:t>Pakistan’, </a:t>
            </a:r>
            <a:r>
              <a:rPr dirty="0" sz="1200">
                <a:latin typeface="Times New Roman"/>
                <a:cs typeface="Times New Roman"/>
              </a:rPr>
              <a:t>‘To the East’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not the </a:t>
            </a:r>
            <a:r>
              <a:rPr dirty="0" sz="1200" spc="-5">
                <a:latin typeface="Times New Roman"/>
                <a:cs typeface="Times New Roman"/>
              </a:rPr>
              <a:t>subject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important information as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locates the position of Afghanistan in </a:t>
            </a:r>
            <a:r>
              <a:rPr dirty="0" sz="1200" spc="-5">
                <a:latin typeface="Times New Roman"/>
                <a:cs typeface="Times New Roman"/>
              </a:rPr>
              <a:t>terms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reference </a:t>
            </a:r>
            <a:r>
              <a:rPr dirty="0" sz="1200" spc="-5">
                <a:latin typeface="Times New Roman"/>
                <a:cs typeface="Times New Roman"/>
              </a:rPr>
              <a:t>point which we already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know.</a:t>
            </a:r>
            <a:endParaRPr sz="1200">
              <a:latin typeface="Times New Roman"/>
              <a:cs typeface="Times New Roman"/>
            </a:endParaRPr>
          </a:p>
          <a:p>
            <a:pPr algn="just" marL="12700" marR="512699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North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5">
                <a:latin typeface="Times New Roman"/>
                <a:cs typeface="Times New Roman"/>
              </a:rPr>
              <a:t>West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Afghanistan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463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which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easier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understand.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17830">
              <a:lnSpc>
                <a:spcPts val="1380"/>
              </a:lnSpc>
              <a:buAutoNum type="alphaLcParenR"/>
              <a:tabLst>
                <a:tab pos="169545" algn="l"/>
                <a:tab pos="2299335" algn="l"/>
              </a:tabLst>
            </a:pPr>
            <a:r>
              <a:rPr dirty="0" sz="1200">
                <a:latin typeface="Times New Roman"/>
                <a:cs typeface="Times New Roman"/>
              </a:rPr>
              <a:t>I live in Quetta. The </a:t>
            </a:r>
            <a:r>
              <a:rPr dirty="0" sz="1200" spc="-5">
                <a:latin typeface="Times New Roman"/>
                <a:cs typeface="Times New Roman"/>
              </a:rPr>
              <a:t>capital </a:t>
            </a:r>
            <a:r>
              <a:rPr dirty="0" sz="1200">
                <a:latin typeface="Times New Roman"/>
                <a:cs typeface="Times New Roman"/>
              </a:rPr>
              <a:t>of Baluchistan </a:t>
            </a:r>
            <a:r>
              <a:rPr dirty="0" sz="1200" spc="-5">
                <a:latin typeface="Times New Roman"/>
                <a:cs typeface="Times New Roman"/>
              </a:rPr>
              <a:t>is Quetta. A part of Pakistan is Baluchistan.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Quetta.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capital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	</a:t>
            </a:r>
            <a:r>
              <a:rPr dirty="0" sz="1200" spc="-5">
                <a:latin typeface="Times New Roman"/>
                <a:cs typeface="Times New Roman"/>
              </a:rPr>
              <a:t>Baluchistan.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Baluchistan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Times New Roman"/>
              <a:buAutoNum type="alphaLcParenR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70"/>
              </a:lnSpc>
              <a:spcBef>
                <a:spcPts val="75"/>
              </a:spcBef>
            </a:pPr>
            <a:r>
              <a:rPr dirty="0" sz="1200" spc="-5" b="1">
                <a:latin typeface="Times New Roman"/>
                <a:cs typeface="Times New Roman"/>
              </a:rPr>
              <a:t>Read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spatial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description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Lahore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location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expressions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that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used</a:t>
            </a:r>
            <a:r>
              <a:rPr dirty="0" sz="1200" b="1">
                <a:latin typeface="Times New Roman"/>
                <a:cs typeface="Times New Roman"/>
              </a:rPr>
              <a:t> to </a:t>
            </a:r>
            <a:r>
              <a:rPr dirty="0" sz="1200" spc="-5" b="1">
                <a:latin typeface="Times New Roman"/>
                <a:cs typeface="Times New Roman"/>
              </a:rPr>
              <a:t>guide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reader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through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description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LAHORE: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CITY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hub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Lahore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spacious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Minar-e-Pakistan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grounds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historic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Lahore</a:t>
            </a:r>
            <a:r>
              <a:rPr dirty="0" sz="1200">
                <a:latin typeface="Times New Roman"/>
                <a:cs typeface="Times New Roman"/>
              </a:rPr>
              <a:t> Resolution, </a:t>
            </a:r>
            <a:r>
              <a:rPr dirty="0" sz="1200" spc="-5">
                <a:latin typeface="Times New Roman"/>
                <a:cs typeface="Times New Roman"/>
              </a:rPr>
              <a:t>demanding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creation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Pakistan,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1940).</a:t>
            </a: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 some </a:t>
            </a:r>
            <a:r>
              <a:rPr dirty="0" sz="1200">
                <a:latin typeface="Times New Roman"/>
                <a:cs typeface="Times New Roman"/>
              </a:rPr>
              <a:t>of the city’s </a:t>
            </a:r>
            <a:r>
              <a:rPr dirty="0" sz="1200" spc="-5">
                <a:latin typeface="Times New Roman"/>
                <a:cs typeface="Times New Roman"/>
              </a:rPr>
              <a:t>main traffic arteries meet. </a:t>
            </a:r>
            <a:r>
              <a:rPr dirty="0" sz="1200">
                <a:latin typeface="Times New Roman"/>
                <a:cs typeface="Times New Roman"/>
              </a:rPr>
              <a:t>To the South </a:t>
            </a:r>
            <a:r>
              <a:rPr dirty="0" sz="1200" spc="-5">
                <a:latin typeface="Times New Roman"/>
                <a:cs typeface="Times New Roman"/>
              </a:rPr>
              <a:t>West </a:t>
            </a:r>
            <a:r>
              <a:rPr dirty="0" sz="1200">
                <a:latin typeface="Times New Roman"/>
                <a:cs typeface="Times New Roman"/>
              </a:rPr>
              <a:t>of the park are the old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Mughal buildings: the </a:t>
            </a:r>
            <a:r>
              <a:rPr dirty="0" sz="1200" spc="-5">
                <a:latin typeface="Times New Roman"/>
                <a:cs typeface="Times New Roman"/>
              </a:rPr>
              <a:t>Badshahi Mosque </a:t>
            </a:r>
            <a:r>
              <a:rPr dirty="0" sz="1200">
                <a:latin typeface="Times New Roman"/>
                <a:cs typeface="Times New Roman"/>
              </a:rPr>
              <a:t>built </a:t>
            </a:r>
            <a:r>
              <a:rPr dirty="0" sz="1200" spc="-5">
                <a:latin typeface="Times New Roman"/>
                <a:cs typeface="Times New Roman"/>
              </a:rPr>
              <a:t>by Emperor </a:t>
            </a:r>
            <a:r>
              <a:rPr dirty="0" sz="1200">
                <a:latin typeface="Times New Roman"/>
                <a:cs typeface="Times New Roman"/>
              </a:rPr>
              <a:t>Aurangzeb, the </a:t>
            </a:r>
            <a:r>
              <a:rPr dirty="0" sz="1200" spc="-5">
                <a:latin typeface="Times New Roman"/>
                <a:cs typeface="Times New Roman"/>
              </a:rPr>
              <a:t>Old </a:t>
            </a:r>
            <a:r>
              <a:rPr dirty="0" sz="1200">
                <a:latin typeface="Times New Roman"/>
                <a:cs typeface="Times New Roman"/>
              </a:rPr>
              <a:t>Fort dating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 to Emperor Akbar, the first Mughal ruler,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famous </a:t>
            </a:r>
            <a:r>
              <a:rPr dirty="0" sz="1200">
                <a:latin typeface="Times New Roman"/>
                <a:cs typeface="Times New Roman"/>
              </a:rPr>
              <a:t>Demontmorency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 of Dentistry. To the North East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depleted river Ravi. To the North </a:t>
            </a:r>
            <a:r>
              <a:rPr dirty="0" sz="1200" spc="-5">
                <a:latin typeface="Times New Roman"/>
                <a:cs typeface="Times New Roman"/>
              </a:rPr>
              <a:t>West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park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tomb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Ali </a:t>
            </a:r>
            <a:r>
              <a:rPr dirty="0" sz="1200">
                <a:latin typeface="Times New Roman"/>
                <a:cs typeface="Times New Roman"/>
              </a:rPr>
              <a:t>Hajwairy, popularly known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Data Sahib, the patron Saint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Lahore.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Just </a:t>
            </a:r>
            <a:r>
              <a:rPr dirty="0" sz="1200">
                <a:latin typeface="Times New Roman"/>
                <a:cs typeface="Times New Roman"/>
              </a:rPr>
              <a:t>beyond Data Sahib are </a:t>
            </a:r>
            <a:r>
              <a:rPr dirty="0" sz="1200" spc="-5">
                <a:latin typeface="Times New Roman"/>
                <a:cs typeface="Times New Roman"/>
              </a:rPr>
              <a:t>located </a:t>
            </a:r>
            <a:r>
              <a:rPr dirty="0" sz="1200">
                <a:latin typeface="Times New Roman"/>
                <a:cs typeface="Times New Roman"/>
              </a:rPr>
              <a:t>the district and </a:t>
            </a:r>
            <a:r>
              <a:rPr dirty="0" sz="1200" spc="-5">
                <a:latin typeface="Times New Roman"/>
                <a:cs typeface="Times New Roman"/>
              </a:rPr>
              <a:t>session courts, </a:t>
            </a:r>
            <a:r>
              <a:rPr dirty="0" sz="1200">
                <a:latin typeface="Times New Roman"/>
                <a:cs typeface="Times New Roman"/>
              </a:rPr>
              <a:t>leading on to the </a:t>
            </a:r>
            <a:r>
              <a:rPr dirty="0" sz="1200" spc="-5">
                <a:latin typeface="Times New Roman"/>
                <a:cs typeface="Times New Roman"/>
              </a:rPr>
              <a:t>main </a:t>
            </a:r>
            <a:r>
              <a:rPr dirty="0" sz="1200">
                <a:latin typeface="Times New Roman"/>
                <a:cs typeface="Times New Roman"/>
              </a:rPr>
              <a:t> road of Lahore, The Mall.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lined by </a:t>
            </a:r>
            <a:r>
              <a:rPr dirty="0" sz="1200" spc="-5">
                <a:latin typeface="Times New Roman"/>
                <a:cs typeface="Times New Roman"/>
              </a:rPr>
              <a:t>important buildings </a:t>
            </a:r>
            <a:r>
              <a:rPr dirty="0" sz="1200">
                <a:latin typeface="Times New Roman"/>
                <a:cs typeface="Times New Roman"/>
              </a:rPr>
              <a:t>like the old Punjab </a:t>
            </a:r>
            <a:r>
              <a:rPr dirty="0" sz="1200" spc="-5">
                <a:latin typeface="Times New Roman"/>
                <a:cs typeface="Times New Roman"/>
              </a:rPr>
              <a:t>University, </a:t>
            </a:r>
            <a:r>
              <a:rPr dirty="0" sz="1200">
                <a:latin typeface="Times New Roman"/>
                <a:cs typeface="Times New Roman"/>
              </a:rPr>
              <a:t> The National College of </a:t>
            </a:r>
            <a:r>
              <a:rPr dirty="0" sz="1200" spc="-5">
                <a:latin typeface="Times New Roman"/>
                <a:cs typeface="Times New Roman"/>
              </a:rPr>
              <a:t>Arts, </a:t>
            </a:r>
            <a:r>
              <a:rPr dirty="0" sz="1200">
                <a:latin typeface="Times New Roman"/>
                <a:cs typeface="Times New Roman"/>
              </a:rPr>
              <a:t>the Lahore Museum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well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hotels. The goods sold 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shops, </a:t>
            </a:r>
            <a:r>
              <a:rPr dirty="0" sz="1200">
                <a:latin typeface="Times New Roman"/>
                <a:cs typeface="Times New Roman"/>
              </a:rPr>
              <a:t>here, are </a:t>
            </a:r>
            <a:r>
              <a:rPr dirty="0" sz="1200" spc="-5">
                <a:latin typeface="Times New Roman"/>
                <a:cs typeface="Times New Roman"/>
              </a:rPr>
              <a:t>marked </a:t>
            </a:r>
            <a:r>
              <a:rPr dirty="0" sz="1200">
                <a:latin typeface="Times New Roman"/>
                <a:cs typeface="Times New Roman"/>
              </a:rPr>
              <a:t>with fixed prices which cannot be </a:t>
            </a:r>
            <a:r>
              <a:rPr dirty="0" sz="1200" spc="-5">
                <a:latin typeface="Times New Roman"/>
                <a:cs typeface="Times New Roman"/>
              </a:rPr>
              <a:t>reduced </a:t>
            </a:r>
            <a:r>
              <a:rPr dirty="0" sz="1200">
                <a:latin typeface="Times New Roman"/>
                <a:cs typeface="Times New Roman"/>
              </a:rPr>
              <a:t>by bargaining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walled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Note: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Descriptions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spatial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locations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normally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conventional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scenes.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-5">
                <a:latin typeface="Times New Roman"/>
                <a:cs typeface="Times New Roman"/>
              </a:rPr>
              <a:t> common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35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spcBef>
                <a:spcPts val="3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outside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top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bottom</a:t>
            </a:r>
            <a:endParaRPr sz="1200">
              <a:latin typeface="Times New Roman"/>
              <a:cs typeface="Times New Roman"/>
            </a:endParaRPr>
          </a:p>
          <a:p>
            <a:pPr lvl="1" marL="469900" indent="-228600">
              <a:lnSpc>
                <a:spcPts val="1405"/>
              </a:lnSpc>
              <a:spcBef>
                <a:spcPts val="3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right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versa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consistent.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convention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consistent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throughout,</a:t>
            </a:r>
            <a:r>
              <a:rPr dirty="0" sz="1200" spc="-5">
                <a:latin typeface="Times New Roman"/>
                <a:cs typeface="Times New Roman"/>
              </a:rPr>
              <a:t> so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reader may 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 confused.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Ways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classifying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things: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2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relate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classification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2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conventions</a:t>
            </a:r>
            <a:r>
              <a:rPr dirty="0" sz="1200" spc="2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2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practice</a:t>
            </a:r>
            <a:r>
              <a:rPr dirty="0" sz="1200" spc="2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2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texts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based on</a:t>
            </a:r>
            <a:r>
              <a:rPr dirty="0" sz="1200" b="1">
                <a:latin typeface="Times New Roman"/>
                <a:cs typeface="Times New Roman"/>
              </a:rPr>
              <a:t> classification.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easiest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look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objects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arrange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similarities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5222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Look at the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set of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put</a:t>
            </a:r>
            <a:r>
              <a:rPr dirty="0" sz="1200" b="1">
                <a:latin typeface="Times New Roman"/>
                <a:cs typeface="Times New Roman"/>
              </a:rPr>
              <a:t> them into </a:t>
            </a:r>
            <a:r>
              <a:rPr dirty="0" sz="1200" spc="-5" b="1">
                <a:latin typeface="Times New Roman"/>
                <a:cs typeface="Times New Roman"/>
              </a:rPr>
              <a:t>groups.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75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anger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5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fear</a:t>
            </a:r>
            <a:r>
              <a:rPr dirty="0" sz="1200" spc="5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emotion</a:t>
            </a:r>
            <a:r>
              <a:rPr dirty="0" sz="1200" spc="5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envy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AutoNum type="alphaL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menu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register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alphaLcParenBoth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greetings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wave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‘hello’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‘hi’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‘salaam’</a:t>
            </a:r>
            <a:endParaRPr sz="1200">
              <a:latin typeface="Times New Roman"/>
              <a:cs typeface="Times New Roman"/>
            </a:endParaRPr>
          </a:p>
          <a:p>
            <a:pPr marL="241300" marR="3141980" indent="-228600">
              <a:lnSpc>
                <a:spcPts val="1380"/>
              </a:lnSpc>
              <a:spcBef>
                <a:spcPts val="65"/>
              </a:spcBef>
              <a:buAutoNum type="alphaLcParenBoth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sleep,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dream,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manager,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intelligent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happy,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teacher.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6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following sentences form a text which </a:t>
            </a:r>
            <a:r>
              <a:rPr dirty="0" sz="1200" spc="-5">
                <a:latin typeface="Times New Roman"/>
                <a:cs typeface="Times New Roman"/>
              </a:rPr>
              <a:t>refers </a:t>
            </a:r>
            <a:r>
              <a:rPr dirty="0" sz="1200">
                <a:latin typeface="Times New Roman"/>
                <a:cs typeface="Times New Roman"/>
              </a:rPr>
              <a:t>to the classification chart on </a:t>
            </a:r>
            <a:r>
              <a:rPr dirty="0" sz="1200" spc="-5">
                <a:latin typeface="Times New Roman"/>
                <a:cs typeface="Times New Roman"/>
              </a:rPr>
              <a:t>FRUITS. </a:t>
            </a:r>
            <a:r>
              <a:rPr dirty="0" sz="1200">
                <a:latin typeface="Times New Roman"/>
                <a:cs typeface="Times New Roman"/>
              </a:rPr>
              <a:t> Except for the first sentence, they are not in 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logical order. Try to arrange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 according to a logical order to form a complete text which fits the organization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classification </a:t>
            </a:r>
            <a:r>
              <a:rPr dirty="0" sz="1200" spc="-5">
                <a:latin typeface="Times New Roman"/>
                <a:cs typeface="Times New Roman"/>
              </a:rPr>
              <a:t>chart.</a:t>
            </a:r>
            <a:endParaRPr sz="1200">
              <a:latin typeface="Times New Roman"/>
              <a:cs typeface="Times New Roman"/>
            </a:endParaRPr>
          </a:p>
          <a:p>
            <a:pPr marL="194945" indent="-182880">
              <a:lnSpc>
                <a:spcPts val="1315"/>
              </a:lnSpc>
              <a:buAutoNum type="romanLcParenBoth"/>
              <a:tabLst>
                <a:tab pos="195580" algn="l"/>
              </a:tabLst>
            </a:pP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fruits: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aggregate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fruits.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50825" algn="l"/>
              </a:tabLst>
            </a:pP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dehiscent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African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tulip,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rubber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flame </a:t>
            </a:r>
            <a:r>
              <a:rPr dirty="0" sz="1200">
                <a:latin typeface="Times New Roman"/>
                <a:cs typeface="Times New Roman"/>
              </a:rPr>
              <a:t>of a forest.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315"/>
              </a:lnSpc>
              <a:buAutoNum type="romanLcParenBoth"/>
              <a:tabLst>
                <a:tab pos="280035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aggregate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flower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several ovaries.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70510" indent="-258445">
              <a:lnSpc>
                <a:spcPts val="1380"/>
              </a:lnSpc>
              <a:buAutoNum type="romanLcParenBoth"/>
              <a:tabLst>
                <a:tab pos="271145" algn="l"/>
              </a:tabLst>
            </a:pP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example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fleshy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indehiscent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fruits is</a:t>
            </a:r>
            <a:r>
              <a:rPr dirty="0" sz="1200">
                <a:latin typeface="Times New Roman"/>
                <a:cs typeface="Times New Roman"/>
              </a:rPr>
              <a:t> the papaya,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mango and banana.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romanLcParenBoth"/>
              <a:tabLst>
                <a:tab pos="238760" algn="l"/>
              </a:tabLst>
            </a:pP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ovary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separate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fruit;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cluster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fruit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stalk.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70510" indent="-258445">
              <a:lnSpc>
                <a:spcPts val="1315"/>
              </a:lnSpc>
              <a:buAutoNum type="romanLcParenBoth"/>
              <a:tabLst>
                <a:tab pos="27114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guava,</a:t>
            </a:r>
            <a:r>
              <a:rPr dirty="0" sz="1200" spc="-5">
                <a:latin typeface="Times New Roman"/>
                <a:cs typeface="Times New Roman"/>
              </a:rPr>
              <a:t> tomato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coconut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fruits.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313055" indent="-300990">
              <a:lnSpc>
                <a:spcPts val="1380"/>
              </a:lnSpc>
              <a:buAutoNum type="romanLcParenBoth"/>
              <a:tabLst>
                <a:tab pos="31369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composite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develops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>
                <a:latin typeface="Times New Roman"/>
                <a:cs typeface="Times New Roman"/>
              </a:rPr>
              <a:t> )</a:t>
            </a:r>
            <a:endParaRPr sz="1200">
              <a:latin typeface="Times New Roman"/>
              <a:cs typeface="Times New Roman"/>
            </a:endParaRPr>
          </a:p>
          <a:p>
            <a:pPr marL="356235" indent="-344170">
              <a:lnSpc>
                <a:spcPts val="1380"/>
              </a:lnSpc>
              <a:buAutoNum type="romanLcParenBoth"/>
              <a:tabLst>
                <a:tab pos="35687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Jack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Pineapple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multiple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fruits.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  <a:buAutoNum type="romanLcParenBoth"/>
              <a:tabLst>
                <a:tab pos="290830" algn="l"/>
              </a:tabLst>
            </a:pP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fleshy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dehiscent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split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allowing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escape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ripe)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indehiscent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 they do not split open when ripe. 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45"/>
              </a:lnSpc>
              <a:buAutoNum type="romanL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Fruits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classified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fleshy fruits.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Writing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Classification: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a classification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based on convention i.e. how others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done it. But it </a:t>
            </a:r>
            <a:r>
              <a:rPr dirty="0" sz="1200" spc="-5">
                <a:latin typeface="Times New Roman"/>
                <a:cs typeface="Times New Roman"/>
              </a:rPr>
              <a:t>is mainly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classification.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categories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logical way.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types </a:t>
            </a:r>
            <a:r>
              <a:rPr dirty="0" sz="1200" spc="-5">
                <a:latin typeface="Times New Roman"/>
                <a:cs typeface="Times New Roman"/>
              </a:rPr>
              <a:t>of order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 marL="194945" indent="-182245">
              <a:lnSpc>
                <a:spcPts val="1315"/>
              </a:lnSpc>
              <a:buAutoNum type="romanLcParenBoth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according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(oldest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newest)</a:t>
            </a:r>
            <a:endParaRPr sz="1200">
              <a:latin typeface="Times New Roman"/>
              <a:cs typeface="Times New Roman"/>
            </a:endParaRPr>
          </a:p>
          <a:p>
            <a:pPr marL="236854" indent="-224790">
              <a:lnSpc>
                <a:spcPts val="1380"/>
              </a:lnSpc>
              <a:buAutoNum type="romanLcParenBoth"/>
              <a:tabLst>
                <a:tab pos="237490" algn="l"/>
              </a:tabLst>
            </a:pP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particular,</a:t>
            </a:r>
            <a:endParaRPr sz="1200">
              <a:latin typeface="Times New Roman"/>
              <a:cs typeface="Times New Roman"/>
            </a:endParaRPr>
          </a:p>
          <a:p>
            <a:pPr marL="279400" indent="-267335">
              <a:lnSpc>
                <a:spcPts val="1380"/>
              </a:lnSpc>
              <a:buAutoNum type="romanLcParenBoth"/>
              <a:tabLst>
                <a:tab pos="280035" algn="l"/>
              </a:tabLst>
            </a:pPr>
            <a:r>
              <a:rPr dirty="0" sz="1200" spc="-5">
                <a:latin typeface="Times New Roman"/>
                <a:cs typeface="Times New Roman"/>
              </a:rPr>
              <a:t>Scale: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alphaLcParenBoth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Importance: most</a:t>
            </a:r>
            <a:r>
              <a:rPr dirty="0" sz="1200">
                <a:latin typeface="Times New Roman"/>
                <a:cs typeface="Times New Roman"/>
              </a:rPr>
              <a:t> important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AutoNum type="alphaL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Size: largest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smallest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410"/>
              </a:lnSpc>
              <a:buAutoNum type="alphaLcParenBoth"/>
              <a:tabLst>
                <a:tab pos="220345" algn="l"/>
              </a:tabLst>
            </a:pPr>
            <a:r>
              <a:rPr dirty="0" sz="1200" spc="-5">
                <a:latin typeface="Times New Roman"/>
                <a:cs typeface="Times New Roman"/>
              </a:rPr>
              <a:t>Familiarity: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944710"/>
          <a:ext cx="5139055" cy="2095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6165"/>
                <a:gridCol w="2402205"/>
                <a:gridCol w="1669414"/>
              </a:tblGrid>
              <a:tr h="434143">
                <a:tc>
                  <a:txBody>
                    <a:bodyPr/>
                    <a:lstStyle/>
                    <a:p>
                      <a:pPr marL="31750">
                        <a:lnSpc>
                          <a:spcPts val="1275"/>
                        </a:lnSpc>
                      </a:pPr>
                      <a:r>
                        <a:rPr dirty="0" u="heavy" sz="1200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Practice</a:t>
                      </a:r>
                      <a:r>
                        <a:rPr dirty="0" u="heavy" sz="1200" spc="-45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heavy" sz="1200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6: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9850">
                        <a:lnSpc>
                          <a:spcPts val="14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(Sample)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50519"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Formal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930"/>
                </a:tc>
                <a:tc>
                  <a:txBody>
                    <a:bodyPr/>
                    <a:lstStyle/>
                    <a:p>
                      <a:pPr marL="79438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Education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930"/>
                </a:tc>
                <a:tc>
                  <a:txBody>
                    <a:bodyPr/>
                    <a:lstStyle/>
                    <a:p>
                      <a:pPr marL="2965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Informal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930"/>
                </a:tc>
              </a:tr>
              <a:tr h="258883">
                <a:tc>
                  <a:txBody>
                    <a:bodyPr/>
                    <a:lstStyle/>
                    <a:p>
                      <a:pPr marL="31750">
                        <a:lnSpc>
                          <a:spcPts val="1360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Full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  <a:tc>
                  <a:txBody>
                    <a:bodyPr/>
                    <a:lstStyle/>
                    <a:p>
                      <a:pPr marL="793750">
                        <a:lnSpc>
                          <a:spcPts val="1360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part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  <a:tc>
                  <a:txBody>
                    <a:bodyPr/>
                    <a:lstStyle/>
                    <a:p>
                      <a:pPr algn="r" marR="477520">
                        <a:lnSpc>
                          <a:spcPts val="1360"/>
                        </a:lnSpc>
                        <a:spcBef>
                          <a:spcPts val="5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3025"/>
                </a:tc>
              </a:tr>
              <a:tr h="3537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School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35915">
                        <a:lnSpc>
                          <a:spcPts val="13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evening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classes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correspondence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course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19710">
                        <a:lnSpc>
                          <a:spcPts val="13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Open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University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College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93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short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intensive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courses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7691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T.V.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broadcasts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522535">
                <a:tc>
                  <a:txBody>
                    <a:bodyPr/>
                    <a:lstStyle/>
                    <a:p>
                      <a:pPr marL="3175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University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655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research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based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study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radio broadcasts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57810" marR="4889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Adult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learning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centers </a:t>
                      </a:r>
                      <a:r>
                        <a:rPr dirty="0" sz="1200" spc="-2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Self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study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course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3193795"/>
            <a:ext cx="5628005" cy="2485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addressed.</a:t>
            </a:r>
            <a:endParaRPr sz="1200">
              <a:latin typeface="Times New Roman"/>
              <a:cs typeface="Times New Roman"/>
            </a:endParaRPr>
          </a:p>
          <a:p>
            <a:pPr algn="just" marL="927100" marR="352488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Dr.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#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41,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St. </a:t>
            </a:r>
            <a:r>
              <a:rPr dirty="0" sz="1200"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  <a:p>
            <a:pPr algn="just" marL="927100" marR="37242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Mohalla Araian  </a:t>
            </a:r>
            <a:r>
              <a:rPr dirty="0" sz="1200" spc="-5">
                <a:latin typeface="Times New Roman"/>
                <a:cs typeface="Times New Roman"/>
              </a:rPr>
              <a:t>Sialkot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Punjab.  </a:t>
            </a:r>
            <a:r>
              <a:rPr dirty="0" sz="1200" spc="-5">
                <a:latin typeface="Times New Roman"/>
                <a:cs typeface="Times New Roman"/>
              </a:rPr>
              <a:t>Pakistan.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logical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5">
                <a:latin typeface="Times New Roman"/>
                <a:cs typeface="Times New Roman"/>
              </a:rPr>
              <a:t> is,</a:t>
            </a:r>
            <a:r>
              <a:rPr dirty="0" sz="1200">
                <a:latin typeface="Times New Roman"/>
                <a:cs typeface="Times New Roman"/>
              </a:rPr>
              <a:t> 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smallest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(house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(country)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learned how texts are organized </a:t>
            </a:r>
            <a:r>
              <a:rPr dirty="0" sz="1200" spc="-5">
                <a:latin typeface="Times New Roman"/>
                <a:cs typeface="Times New Roman"/>
              </a:rPr>
              <a:t>according </a:t>
            </a:r>
            <a:r>
              <a:rPr dirty="0" sz="1200">
                <a:latin typeface="Times New Roman"/>
                <a:cs typeface="Times New Roman"/>
              </a:rPr>
              <a:t>to a pedestrian’s </a:t>
            </a:r>
            <a:r>
              <a:rPr dirty="0" sz="1200" spc="-5">
                <a:latin typeface="Times New Roman"/>
                <a:cs typeface="Times New Roman"/>
              </a:rPr>
              <a:t>view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bird’s </a:t>
            </a:r>
            <a:r>
              <a:rPr dirty="0" sz="1200" spc="-5">
                <a:latin typeface="Times New Roman"/>
                <a:cs typeface="Times New Roman"/>
              </a:rPr>
              <a:t>eye</a:t>
            </a:r>
            <a:r>
              <a:rPr dirty="0" sz="1200">
                <a:latin typeface="Times New Roman"/>
                <a:cs typeface="Times New Roman"/>
              </a:rPr>
              <a:t> view. You </a:t>
            </a:r>
            <a:r>
              <a:rPr dirty="0" sz="1200" spc="-5">
                <a:latin typeface="Times New Roman"/>
                <a:cs typeface="Times New Roman"/>
              </a:rPr>
              <a:t>became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 </a:t>
            </a:r>
            <a:r>
              <a:rPr dirty="0" sz="1200">
                <a:latin typeface="Times New Roman"/>
                <a:cs typeface="Times New Roman"/>
              </a:rPr>
              <a:t>of location and learned how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them in writing. You also learned how data can be classified and </a:t>
            </a:r>
            <a:r>
              <a:rPr dirty="0" sz="1200" spc="-5">
                <a:latin typeface="Times New Roman"/>
                <a:cs typeface="Times New Roman"/>
              </a:rPr>
              <a:t>arranged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diagrams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texts.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familiar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expressions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classification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will</a:t>
            </a:r>
            <a:r>
              <a:rPr dirty="0" sz="1200">
                <a:latin typeface="Times New Roman"/>
                <a:cs typeface="Times New Roman"/>
              </a:rPr>
              <a:t> be able to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sentences and </a:t>
            </a:r>
            <a:r>
              <a:rPr dirty="0" sz="1200" spc="-5">
                <a:latin typeface="Times New Roman"/>
                <a:cs typeface="Times New Roman"/>
              </a:rPr>
              <a:t>texts.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4960620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-40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Skills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Paraphrasing</a:t>
            </a:r>
            <a:endParaRPr sz="1200">
              <a:latin typeface="Times New Roman"/>
              <a:cs typeface="Times New Roman"/>
            </a:endParaRPr>
          </a:p>
          <a:p>
            <a:pPr algn="just" marL="12700" marR="2857500">
              <a:lnSpc>
                <a:spcPts val="138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-5">
                <a:latin typeface="Times New Roman"/>
                <a:cs typeface="Times New Roman"/>
              </a:rPr>
              <a:t> lesson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will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two </a:t>
            </a:r>
            <a:r>
              <a:rPr dirty="0" sz="1200">
                <a:latin typeface="Times New Roman"/>
                <a:cs typeface="Times New Roman"/>
              </a:rPr>
              <a:t>things;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paraphrase</a:t>
            </a:r>
            <a:endParaRPr sz="1200">
              <a:latin typeface="Times New Roman"/>
              <a:cs typeface="Times New Roman"/>
            </a:endParaRPr>
          </a:p>
          <a:p>
            <a:pPr algn="just" marL="177165" indent="-165100">
              <a:lnSpc>
                <a:spcPts val="1315"/>
              </a:lnSpc>
              <a:buAutoNum type="arabicPlain" startAt="2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of the things you have to learn in studying English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how to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yourself in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 than one </a:t>
            </a:r>
            <a:r>
              <a:rPr dirty="0" sz="1200" spc="-5">
                <a:latin typeface="Times New Roman"/>
                <a:cs typeface="Times New Roman"/>
              </a:rPr>
              <a:t>ways. </a:t>
            </a:r>
            <a:r>
              <a:rPr dirty="0" sz="1200">
                <a:latin typeface="Times New Roman"/>
                <a:cs typeface="Times New Roman"/>
              </a:rPr>
              <a:t>This can be best done by practice in paraphrasing.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paraphrase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 of the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passage </a:t>
            </a:r>
            <a:r>
              <a:rPr dirty="0" sz="1200">
                <a:latin typeface="Times New Roman"/>
                <a:cs typeface="Times New Roman"/>
              </a:rPr>
              <a:t>in a different way. Paraphrasing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 skill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(s)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>
                <a:latin typeface="Times New Roman"/>
                <a:cs typeface="Times New Roman"/>
              </a:rPr>
              <a:t>in other </a:t>
            </a:r>
            <a:r>
              <a:rPr dirty="0" sz="1200" spc="-5">
                <a:latin typeface="Times New Roman"/>
                <a:cs typeface="Times New Roman"/>
              </a:rPr>
              <a:t>words, </a:t>
            </a:r>
            <a:r>
              <a:rPr dirty="0" sz="1200">
                <a:latin typeface="Times New Roman"/>
                <a:cs typeface="Times New Roman"/>
              </a:rPr>
              <a:t>writing the given information in different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i.e. you re-phrase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without changing </a:t>
            </a:r>
            <a:r>
              <a:rPr dirty="0" sz="1200" spc="-5">
                <a:latin typeface="Times New Roman"/>
                <a:cs typeface="Times New Roman"/>
              </a:rPr>
              <a:t>its original meaning. </a:t>
            </a:r>
            <a:r>
              <a:rPr dirty="0" sz="1200">
                <a:latin typeface="Times New Roman"/>
                <a:cs typeface="Times New Roman"/>
              </a:rPr>
              <a:t>Paraphrasing </a:t>
            </a:r>
            <a:r>
              <a:rPr dirty="0" sz="1200" spc="-5">
                <a:latin typeface="Times New Roman"/>
                <a:cs typeface="Times New Roman"/>
              </a:rPr>
              <a:t>is often used in place of direct </a:t>
            </a:r>
            <a:r>
              <a:rPr dirty="0" sz="1200">
                <a:latin typeface="Times New Roman"/>
                <a:cs typeface="Times New Roman"/>
              </a:rPr>
              <a:t> quoting what a writer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said.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skill and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to </a:t>
            </a:r>
            <a:r>
              <a:rPr dirty="0" sz="1200" spc="-5">
                <a:latin typeface="Times New Roman"/>
                <a:cs typeface="Times New Roman"/>
              </a:rPr>
              <a:t>rewrite short selections,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series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 or paragraphs. A paraphrase is usually as </a:t>
            </a:r>
            <a:r>
              <a:rPr dirty="0" sz="1200">
                <a:latin typeface="Times New Roman"/>
                <a:cs typeface="Times New Roman"/>
              </a:rPr>
              <a:t>long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original </a:t>
            </a:r>
            <a:r>
              <a:rPr dirty="0" sz="1200">
                <a:latin typeface="Times New Roman"/>
                <a:cs typeface="Times New Roman"/>
              </a:rPr>
              <a:t>text in order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communicate </a:t>
            </a:r>
            <a:r>
              <a:rPr dirty="0" sz="1200" spc="-5">
                <a:latin typeface="Times New Roman"/>
                <a:cs typeface="Times New Roman"/>
              </a:rPr>
              <a:t>its full </a:t>
            </a:r>
            <a:r>
              <a:rPr dirty="0" sz="1200">
                <a:latin typeface="Times New Roman"/>
                <a:cs typeface="Times New Roman"/>
              </a:rPr>
              <a:t>meaning. </a:t>
            </a:r>
            <a:r>
              <a:rPr dirty="0" sz="1200" spc="-5">
                <a:latin typeface="Times New Roman"/>
                <a:cs typeface="Times New Roman"/>
              </a:rPr>
              <a:t>Here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some techniques </a:t>
            </a:r>
            <a:r>
              <a:rPr dirty="0" sz="1200">
                <a:latin typeface="Times New Roman"/>
                <a:cs typeface="Times New Roman"/>
              </a:rPr>
              <a:t>that can help you in writing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paragraph.</a:t>
            </a:r>
            <a:endParaRPr sz="1200">
              <a:latin typeface="Times New Roman"/>
              <a:cs typeface="Times New Roman"/>
            </a:endParaRPr>
          </a:p>
          <a:p>
            <a:pPr algn="just" lvl="1" marL="469900" indent="-228600">
              <a:lnSpc>
                <a:spcPts val="1315"/>
              </a:lnSpc>
              <a:buAutoNum type="arabicPeriod"/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paraphrase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original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use</a:t>
            </a:r>
            <a:endParaRPr sz="1200">
              <a:latin typeface="Times New Roman"/>
              <a:cs typeface="Times New Roman"/>
            </a:endParaRPr>
          </a:p>
          <a:p>
            <a:pPr algn="just" marL="469265">
              <a:lnSpc>
                <a:spcPts val="138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synonyms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possible.</a:t>
            </a:r>
            <a:endParaRPr sz="1200">
              <a:latin typeface="Times New Roman"/>
              <a:cs typeface="Times New Roman"/>
            </a:endParaRPr>
          </a:p>
          <a:p>
            <a:pPr algn="just" lvl="1" marL="469900" indent="-228600">
              <a:lnSpc>
                <a:spcPts val="1380"/>
              </a:lnSpc>
              <a:buFont typeface="Times New Roman"/>
              <a:buAutoNum type="arabicPeriod" startAt="2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quotations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reported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speech</a:t>
            </a:r>
            <a:endParaRPr sz="1200">
              <a:latin typeface="Times New Roman"/>
              <a:cs typeface="Times New Roman"/>
            </a:endParaRPr>
          </a:p>
          <a:p>
            <a:pPr algn="just" lvl="1" marL="469900" indent="-228600">
              <a:lnSpc>
                <a:spcPts val="1410"/>
              </a:lnSpc>
              <a:buAutoNum type="arabicPeriod" startAt="2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active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passive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vice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versa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1. </a:t>
            </a:r>
            <a:r>
              <a:rPr dirty="0" sz="1200">
                <a:latin typeface="Times New Roman"/>
                <a:cs typeface="Times New Roman"/>
              </a:rPr>
              <a:t>Read the</a:t>
            </a:r>
            <a:r>
              <a:rPr dirty="0" sz="1200" spc="-5">
                <a:latin typeface="Times New Roman"/>
                <a:cs typeface="Times New Roman"/>
              </a:rPr>
              <a:t> passage</a:t>
            </a:r>
            <a:r>
              <a:rPr dirty="0" sz="1200">
                <a:latin typeface="Times New Roman"/>
                <a:cs typeface="Times New Roman"/>
              </a:rPr>
              <a:t> carefully a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till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 it fully.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b="1">
                <a:latin typeface="Times New Roman"/>
                <a:cs typeface="Times New Roman"/>
              </a:rPr>
              <a:t> 2.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dictionary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synonyms</a:t>
            </a:r>
            <a:r>
              <a:rPr dirty="0" sz="1200">
                <a:latin typeface="Times New Roman"/>
                <a:cs typeface="Times New Roman"/>
              </a:rPr>
              <a:t> 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Jot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endParaRPr sz="1200">
              <a:latin typeface="Times New Roman"/>
              <a:cs typeface="Times New Roman"/>
            </a:endParaRPr>
          </a:p>
          <a:p>
            <a:pPr marL="12700" marR="1378585">
              <a:lnSpc>
                <a:spcPts val="1380"/>
              </a:lnSpc>
              <a:spcBef>
                <a:spcPts val="70"/>
              </a:spcBef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4.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outline with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help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points you have </a:t>
            </a:r>
            <a:r>
              <a:rPr dirty="0" sz="1200">
                <a:latin typeface="Times New Roman"/>
                <a:cs typeface="Times New Roman"/>
              </a:rPr>
              <a:t>jotted </a:t>
            </a:r>
            <a:r>
              <a:rPr dirty="0" sz="1200" spc="-5">
                <a:latin typeface="Times New Roman"/>
                <a:cs typeface="Times New Roman"/>
              </a:rPr>
              <a:t>down.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outline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5996432"/>
            <a:ext cx="14033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131" y="5996432"/>
            <a:ext cx="281051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primary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6522211"/>
            <a:ext cx="5628005" cy="1960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Step</a:t>
            </a:r>
            <a:r>
              <a:rPr dirty="0" sz="1200" b="1">
                <a:latin typeface="Times New Roman"/>
                <a:cs typeface="Times New Roman"/>
              </a:rPr>
              <a:t> 5.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paraphrase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-5">
                <a:latin typeface="Times New Roman"/>
                <a:cs typeface="Times New Roman"/>
              </a:rPr>
              <a:t> words</a:t>
            </a:r>
            <a:r>
              <a:rPr dirty="0" sz="1200">
                <a:latin typeface="Times New Roman"/>
                <a:cs typeface="Times New Roman"/>
              </a:rPr>
              <a:t> without </a:t>
            </a:r>
            <a:r>
              <a:rPr dirty="0" sz="1200" spc="-5">
                <a:latin typeface="Times New Roman"/>
                <a:cs typeface="Times New Roman"/>
              </a:rPr>
              <a:t>omitting </a:t>
            </a:r>
            <a:r>
              <a:rPr dirty="0" sz="1200">
                <a:latin typeface="Times New Roman"/>
                <a:cs typeface="Times New Roman"/>
              </a:rPr>
              <a:t>any essential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Step </a:t>
            </a:r>
            <a:r>
              <a:rPr dirty="0" sz="1200" b="1">
                <a:latin typeface="Times New Roman"/>
                <a:cs typeface="Times New Roman"/>
              </a:rPr>
              <a:t>6. </a:t>
            </a:r>
            <a:r>
              <a:rPr dirty="0" sz="1200" spc="-5">
                <a:latin typeface="Times New Roman"/>
                <a:cs typeface="Times New Roman"/>
              </a:rPr>
              <a:t>Polish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paraphrase.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said that, when in 1998, Brazil lost the </a:t>
            </a:r>
            <a:r>
              <a:rPr dirty="0" sz="1200" spc="-5">
                <a:latin typeface="Times New Roman"/>
                <a:cs typeface="Times New Roman"/>
              </a:rPr>
              <a:t>World </a:t>
            </a:r>
            <a:r>
              <a:rPr dirty="0" sz="1200">
                <a:latin typeface="Times New Roman"/>
                <a:cs typeface="Times New Roman"/>
              </a:rPr>
              <a:t>Cup to France; the </a:t>
            </a:r>
            <a:r>
              <a:rPr dirty="0" sz="1200" spc="-5">
                <a:latin typeface="Times New Roman"/>
                <a:cs typeface="Times New Roman"/>
              </a:rPr>
              <a:t>Brazilians </a:t>
            </a:r>
            <a:r>
              <a:rPr dirty="0" sz="1200">
                <a:latin typeface="Times New Roman"/>
                <a:cs typeface="Times New Roman"/>
              </a:rPr>
              <a:t>were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 disheartened that one had the </a:t>
            </a:r>
            <a:r>
              <a:rPr dirty="0" sz="1200" spc="-5">
                <a:latin typeface="Times New Roman"/>
                <a:cs typeface="Times New Roman"/>
              </a:rPr>
              <a:t>impression </a:t>
            </a:r>
            <a:r>
              <a:rPr dirty="0" sz="1200">
                <a:latin typeface="Times New Roman"/>
                <a:cs typeface="Times New Roman"/>
              </a:rPr>
              <a:t>that a big national disaster </a:t>
            </a:r>
            <a:r>
              <a:rPr dirty="0" sz="1200" spc="-5">
                <a:latin typeface="Times New Roman"/>
                <a:cs typeface="Times New Roman"/>
              </a:rPr>
              <a:t>had taken place and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country itself had died. They say that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did die of </a:t>
            </a:r>
            <a:r>
              <a:rPr dirty="0" sz="1200" spc="-5">
                <a:latin typeface="Times New Roman"/>
                <a:cs typeface="Times New Roman"/>
              </a:rPr>
              <a:t>sadness. </a:t>
            </a:r>
            <a:r>
              <a:rPr dirty="0" sz="1200">
                <a:latin typeface="Times New Roman"/>
                <a:cs typeface="Times New Roman"/>
              </a:rPr>
              <a:t>Defeat in </a:t>
            </a:r>
            <a:r>
              <a:rPr dirty="0" sz="1200" spc="-5">
                <a:latin typeface="Times New Roman"/>
                <a:cs typeface="Times New Roman"/>
              </a:rPr>
              <a:t>championship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matches has often caused heart attacks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the despair </a:t>
            </a:r>
            <a:r>
              <a:rPr dirty="0" sz="1200">
                <a:latin typeface="Times New Roman"/>
                <a:cs typeface="Times New Roman"/>
              </a:rPr>
              <a:t>of the public </a:t>
            </a:r>
            <a:r>
              <a:rPr dirty="0" sz="1200" spc="-5">
                <a:latin typeface="Times New Roman"/>
                <a:cs typeface="Times New Roman"/>
              </a:rPr>
              <a:t>is usually so great 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take their own lives. Such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passion</a:t>
            </a:r>
            <a:r>
              <a:rPr dirty="0" sz="1200">
                <a:latin typeface="Times New Roman"/>
                <a:cs typeface="Times New Roman"/>
              </a:rPr>
              <a:t> of football fans.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Outline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405"/>
              </a:lnSpc>
              <a:tabLst>
                <a:tab pos="5029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	</a:t>
            </a:r>
            <a:r>
              <a:rPr dirty="0" sz="1200">
                <a:latin typeface="Times New Roman"/>
                <a:cs typeface="Times New Roman"/>
              </a:rPr>
              <a:t>Brazil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World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1998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72751" y="8450071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44190" y="8450071"/>
            <a:ext cx="11430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3335" marR="5080" indent="-127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Entire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9900" y="8975850"/>
            <a:ext cx="127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59000" y="8975850"/>
            <a:ext cx="23666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387600" y="913892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845013" y="913892"/>
            <a:ext cx="8255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Heart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attacks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Suicides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264411"/>
            <a:ext cx="5629275" cy="7746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0">
              <a:lnSpc>
                <a:spcPts val="1415"/>
              </a:lnSpc>
              <a:spcBef>
                <a:spcPts val="100"/>
              </a:spcBef>
              <a:tabLst>
                <a:tab pos="1155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	</a:t>
            </a:r>
            <a:r>
              <a:rPr dirty="0" sz="1200">
                <a:latin typeface="Times New Roman"/>
                <a:cs typeface="Times New Roman"/>
              </a:rPr>
              <a:t>Football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emotional.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Paraphrase: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In 1998 Brazil lost the </a:t>
            </a:r>
            <a:r>
              <a:rPr dirty="0" sz="1200" spc="-5">
                <a:latin typeface="Times New Roman"/>
                <a:cs typeface="Times New Roman"/>
              </a:rPr>
              <a:t>World </a:t>
            </a:r>
            <a:r>
              <a:rPr dirty="0" sz="1200">
                <a:latin typeface="Times New Roman"/>
                <a:cs typeface="Times New Roman"/>
              </a:rPr>
              <a:t>Cup to France. The entire country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overcome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sadness; some </a:t>
            </a:r>
            <a:r>
              <a:rPr dirty="0" sz="1200">
                <a:latin typeface="Times New Roman"/>
                <a:cs typeface="Times New Roman"/>
              </a:rPr>
              <a:t>people even died. </a:t>
            </a:r>
            <a:r>
              <a:rPr dirty="0" sz="1200" spc="-5">
                <a:latin typeface="Times New Roman"/>
                <a:cs typeface="Times New Roman"/>
              </a:rPr>
              <a:t>Defeat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championship matches causes </a:t>
            </a:r>
            <a:r>
              <a:rPr dirty="0" sz="1200">
                <a:latin typeface="Times New Roman"/>
                <a:cs typeface="Times New Roman"/>
              </a:rPr>
              <a:t>strong reaction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fans, from heart attacks to </a:t>
            </a:r>
            <a:r>
              <a:rPr dirty="0" sz="1200" spc="-5">
                <a:latin typeface="Times New Roman"/>
                <a:cs typeface="Times New Roman"/>
              </a:rPr>
              <a:t>even suicides. Football fans are very emotional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game.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 algn="just" marL="12700" marR="698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best approach to students’ </a:t>
            </a:r>
            <a:r>
              <a:rPr dirty="0" sz="1200" spc="-5">
                <a:latin typeface="Times New Roman"/>
                <a:cs typeface="Times New Roman"/>
              </a:rPr>
              <a:t>co-operation is </a:t>
            </a:r>
            <a:r>
              <a:rPr dirty="0" sz="1200">
                <a:latin typeface="Times New Roman"/>
                <a:cs typeface="Times New Roman"/>
              </a:rPr>
              <a:t>the organization of </a:t>
            </a:r>
            <a:r>
              <a:rPr dirty="0" sz="1200" b="1">
                <a:latin typeface="Times New Roman"/>
                <a:cs typeface="Times New Roman"/>
              </a:rPr>
              <a:t>thrift </a:t>
            </a:r>
            <a:r>
              <a:rPr dirty="0" sz="1200">
                <a:latin typeface="Times New Roman"/>
                <a:cs typeface="Times New Roman"/>
              </a:rPr>
              <a:t>societies.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principle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thrift</a:t>
            </a:r>
            <a:r>
              <a:rPr dirty="0" sz="1200" spc="7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co-operative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educational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view.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Thrift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foundation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character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habit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one’s early life. In the </a:t>
            </a:r>
            <a:r>
              <a:rPr dirty="0" sz="1200" spc="-5">
                <a:latin typeface="Times New Roman"/>
                <a:cs typeface="Times New Roman"/>
              </a:rPr>
              <a:t>process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formation </a:t>
            </a:r>
            <a:r>
              <a:rPr dirty="0" sz="1200">
                <a:latin typeface="Times New Roman"/>
                <a:cs typeface="Times New Roman"/>
              </a:rPr>
              <a:t>of this habit, the young student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have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exercise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rigorous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self-discipline</a:t>
            </a:r>
            <a:r>
              <a:rPr dirty="0" sz="1200">
                <a:latin typeface="Times New Roman"/>
                <a:cs typeface="Times New Roman"/>
              </a:rPr>
              <a:t> 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effect</a:t>
            </a:r>
            <a:r>
              <a:rPr dirty="0" sz="1200">
                <a:latin typeface="Times New Roman"/>
                <a:cs typeface="Times New Roman"/>
              </a:rPr>
              <a:t> on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spiritual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</a:t>
            </a:r>
            <a:r>
              <a:rPr dirty="0" sz="1200">
                <a:latin typeface="Times New Roman"/>
                <a:cs typeface="Times New Roman"/>
              </a:rPr>
              <a:t> but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react</a:t>
            </a:r>
            <a:r>
              <a:rPr dirty="0" sz="1200">
                <a:latin typeface="Times New Roman"/>
                <a:cs typeface="Times New Roman"/>
              </a:rPr>
              <a:t> on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through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>
                <a:latin typeface="Times New Roman"/>
                <a:cs typeface="Times New Roman"/>
              </a:rPr>
              <a:t> on </a:t>
            </a:r>
            <a:r>
              <a:rPr dirty="0" sz="1200" spc="-5">
                <a:latin typeface="Times New Roman"/>
                <a:cs typeface="Times New Roman"/>
              </a:rPr>
              <a:t>society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whole.</a:t>
            </a:r>
            <a:endParaRPr sz="1200">
              <a:latin typeface="Times New Roman"/>
              <a:cs typeface="Times New Roman"/>
            </a:endParaRPr>
          </a:p>
          <a:p>
            <a:pPr marL="12700" marR="3453129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Words: Thrift = saving, </a:t>
            </a:r>
            <a:r>
              <a:rPr dirty="0" sz="1200" spc="-5">
                <a:latin typeface="Times New Roman"/>
                <a:cs typeface="Times New Roman"/>
              </a:rPr>
              <a:t>economy. </a:t>
            </a:r>
            <a:r>
              <a:rPr dirty="0" sz="1200">
                <a:latin typeface="Times New Roman"/>
                <a:cs typeface="Times New Roman"/>
              </a:rPr>
              <a:t> Rigorous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firm,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demanding,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strict.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20"/>
              </a:lnSpc>
            </a:pPr>
            <a:r>
              <a:rPr dirty="0" sz="1200" spc="-5" b="1">
                <a:latin typeface="Times New Roman"/>
                <a:cs typeface="Times New Roman"/>
              </a:rPr>
              <a:t>Outline: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students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cooperate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thrift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societies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threefold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thrift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foundation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character -- </a:t>
            </a:r>
            <a:r>
              <a:rPr dirty="0" sz="1200" spc="-5">
                <a:latin typeface="Times New Roman"/>
                <a:cs typeface="Times New Roman"/>
              </a:rPr>
              <a:t>formation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habits </a:t>
            </a:r>
            <a:r>
              <a:rPr dirty="0" sz="1200">
                <a:latin typeface="Times New Roman"/>
                <a:cs typeface="Times New Roman"/>
              </a:rPr>
              <a:t>-- </a:t>
            </a:r>
            <a:r>
              <a:rPr dirty="0" sz="1200" spc="-5">
                <a:latin typeface="Times New Roman"/>
                <a:cs typeface="Times New Roman"/>
              </a:rPr>
              <a:t>exercise of strict disciplines </a:t>
            </a:r>
            <a:r>
              <a:rPr dirty="0" sz="1200">
                <a:latin typeface="Times New Roman"/>
                <a:cs typeface="Times New Roman"/>
              </a:rPr>
              <a:t>-- </a:t>
            </a:r>
            <a:r>
              <a:rPr dirty="0" sz="1200" spc="-5">
                <a:latin typeface="Times New Roman"/>
                <a:cs typeface="Times New Roman"/>
              </a:rPr>
              <a:t>effect </a:t>
            </a:r>
            <a:r>
              <a:rPr dirty="0" sz="1200">
                <a:latin typeface="Times New Roman"/>
                <a:cs typeface="Times New Roman"/>
              </a:rPr>
              <a:t>of thrift --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 deeper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influence,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spiritually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financially.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ct val="95900"/>
              </a:lnSpc>
              <a:spcBef>
                <a:spcPts val="25"/>
              </a:spcBef>
              <a:tabLst>
                <a:tab pos="4622800" algn="l"/>
                <a:tab pos="5231765" algn="l"/>
              </a:tabLst>
            </a:pP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 is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brief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sojourn</a:t>
            </a:r>
            <a:r>
              <a:rPr dirty="0" sz="1200" spc="-5">
                <a:latin typeface="Times New Roman"/>
                <a:cs typeface="Times New Roman"/>
              </a:rPr>
              <a:t>; 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knows  </a:t>
            </a:r>
            <a:r>
              <a:rPr dirty="0" sz="1200">
                <a:latin typeface="Times New Roman"/>
                <a:cs typeface="Times New Roman"/>
              </a:rPr>
              <a:t>not.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Though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>
                <a:latin typeface="Times New Roman"/>
                <a:cs typeface="Times New Roman"/>
              </a:rPr>
              <a:t>thinks he feels it, but from the point of view of daily life, </a:t>
            </a:r>
            <a:r>
              <a:rPr dirty="0" sz="1200" spc="-5">
                <a:latin typeface="Times New Roman"/>
                <a:cs typeface="Times New Roman"/>
              </a:rPr>
              <a:t>without going deeper,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exist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fellowmen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---in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next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those, </a:t>
            </a:r>
            <a:r>
              <a:rPr dirty="0" sz="1200" spc="-5">
                <a:latin typeface="Times New Roman"/>
                <a:cs typeface="Times New Roman"/>
              </a:rPr>
              <a:t>unknown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us personally with whose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destinies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bound up by the tie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sympathy. A </a:t>
            </a:r>
            <a:r>
              <a:rPr dirty="0" sz="1200">
                <a:latin typeface="Times New Roman"/>
                <a:cs typeface="Times New Roman"/>
              </a:rPr>
              <a:t>hundred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>
                <a:latin typeface="Times New Roman"/>
                <a:cs typeface="Times New Roman"/>
              </a:rPr>
              <a:t>every day I </a:t>
            </a:r>
            <a:r>
              <a:rPr dirty="0" sz="1200" spc="-5">
                <a:latin typeface="Times New Roman"/>
                <a:cs typeface="Times New Roman"/>
              </a:rPr>
              <a:t>remind </a:t>
            </a:r>
            <a:r>
              <a:rPr dirty="0" sz="1200">
                <a:latin typeface="Times New Roman"/>
                <a:cs typeface="Times New Roman"/>
              </a:rPr>
              <a:t>myself that my inner and outer life depends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the labors of other men, </a:t>
            </a:r>
            <a:r>
              <a:rPr dirty="0" sz="1200" spc="-5">
                <a:latin typeface="Times New Roman"/>
                <a:cs typeface="Times New Roman"/>
              </a:rPr>
              <a:t>living </a:t>
            </a:r>
            <a:r>
              <a:rPr dirty="0" sz="1200">
                <a:latin typeface="Times New Roman"/>
                <a:cs typeface="Times New Roman"/>
              </a:rPr>
              <a:t>and dead, and that I </a:t>
            </a:r>
            <a:r>
              <a:rPr dirty="0" sz="1200" spc="-5">
                <a:latin typeface="Times New Roman"/>
                <a:cs typeface="Times New Roman"/>
              </a:rPr>
              <a:t>must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exert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myself </a:t>
            </a:r>
            <a:r>
              <a:rPr dirty="0" sz="1200">
                <a:latin typeface="Times New Roman"/>
                <a:cs typeface="Times New Roman"/>
              </a:rPr>
              <a:t>in order to </a:t>
            </a:r>
            <a:r>
              <a:rPr dirty="0" sz="1200" spc="-5">
                <a:latin typeface="Times New Roman"/>
                <a:cs typeface="Times New Roman"/>
              </a:rPr>
              <a:t>give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e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measure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I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ave received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>
                <a:latin typeface="Times New Roman"/>
                <a:cs typeface="Times New Roman"/>
              </a:rPr>
              <a:t> receiving.	-	</a:t>
            </a:r>
            <a:r>
              <a:rPr dirty="0" sz="1200" i="1">
                <a:latin typeface="Times New Roman"/>
                <a:cs typeface="Times New Roman"/>
              </a:rPr>
              <a:t>Albert  </a:t>
            </a:r>
            <a:r>
              <a:rPr dirty="0" sz="1200" spc="-5" i="1">
                <a:latin typeface="Times New Roman"/>
                <a:cs typeface="Times New Roman"/>
              </a:rPr>
              <a:t>Einstein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3481704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Sojourn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stay,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stopover,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Destiny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fate,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fortunes </a:t>
            </a:r>
            <a:r>
              <a:rPr dirty="0" sz="1200">
                <a:latin typeface="Times New Roman"/>
                <a:cs typeface="Times New Roman"/>
              </a:rPr>
              <a:t> Exert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effort, </a:t>
            </a:r>
            <a:r>
              <a:rPr dirty="0" sz="1200" spc="-5">
                <a:latin typeface="Times New Roman"/>
                <a:cs typeface="Times New Roman"/>
              </a:rPr>
              <a:t>apply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Measure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amount,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portion,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Outline: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Our life brief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-- purpose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unknown-- but simply felt -- our </a:t>
            </a:r>
            <a:r>
              <a:rPr dirty="0" sz="1200">
                <a:latin typeface="Times New Roman"/>
                <a:cs typeface="Times New Roman"/>
              </a:rPr>
              <a:t>immediate </a:t>
            </a:r>
            <a:r>
              <a:rPr dirty="0" sz="1200" spc="-5">
                <a:latin typeface="Times New Roman"/>
                <a:cs typeface="Times New Roman"/>
              </a:rPr>
              <a:t>relation first </a:t>
            </a:r>
            <a:r>
              <a:rPr dirty="0" sz="1200">
                <a:latin typeface="Times New Roman"/>
                <a:cs typeface="Times New Roman"/>
              </a:rPr>
              <a:t>to those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whom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intimate, </a:t>
            </a:r>
            <a:r>
              <a:rPr dirty="0" sz="1200">
                <a:latin typeface="Times New Roman"/>
                <a:cs typeface="Times New Roman"/>
              </a:rPr>
              <a:t>then to those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allied with </a:t>
            </a:r>
            <a:r>
              <a:rPr dirty="0" sz="1200" spc="-5">
                <a:latin typeface="Times New Roman"/>
                <a:cs typeface="Times New Roman"/>
              </a:rPr>
              <a:t>by sympathy </a:t>
            </a:r>
            <a:r>
              <a:rPr dirty="0" sz="1200">
                <a:latin typeface="Times New Roman"/>
                <a:cs typeface="Times New Roman"/>
              </a:rPr>
              <a:t>-- </a:t>
            </a:r>
            <a:r>
              <a:rPr dirty="0" sz="1200" spc="-5">
                <a:latin typeface="Times New Roman"/>
                <a:cs typeface="Times New Roman"/>
              </a:rPr>
              <a:t>the dependence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</a:t>
            </a:r>
            <a:r>
              <a:rPr dirty="0" sz="1200">
                <a:latin typeface="Times New Roman"/>
                <a:cs typeface="Times New Roman"/>
              </a:rPr>
              <a:t> 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labor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living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duty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Paraphrase</a:t>
            </a:r>
            <a:r>
              <a:rPr dirty="0" sz="1200" b="1">
                <a:latin typeface="Times New Roman"/>
                <a:cs typeface="Times New Roman"/>
              </a:rPr>
              <a:t> the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passage. </a:t>
            </a:r>
            <a:r>
              <a:rPr dirty="0" sz="1200" spc="-5" b="1">
                <a:latin typeface="Times New Roman"/>
                <a:cs typeface="Times New Roman"/>
              </a:rPr>
              <a:t>Follow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 </a:t>
            </a:r>
            <a:r>
              <a:rPr dirty="0" sz="1200" spc="-5" b="1">
                <a:latin typeface="Times New Roman"/>
                <a:cs typeface="Times New Roman"/>
              </a:rPr>
              <a:t>steps</a:t>
            </a:r>
            <a:r>
              <a:rPr dirty="0" sz="1200" b="1">
                <a:latin typeface="Times New Roman"/>
                <a:cs typeface="Times New Roman"/>
              </a:rPr>
              <a:t> given earlier.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562861" y="5652515"/>
            <a:ext cx="38100" cy="7620"/>
          </a:xfrm>
          <a:custGeom>
            <a:avLst/>
            <a:gdLst/>
            <a:ahLst/>
            <a:cxnLst/>
            <a:rect l="l" t="t" r="r" b="b"/>
            <a:pathLst>
              <a:path w="38100" h="7620">
                <a:moveTo>
                  <a:pt x="38100" y="0"/>
                </a:moveTo>
                <a:lnTo>
                  <a:pt x="0" y="0"/>
                </a:lnTo>
                <a:lnTo>
                  <a:pt x="0" y="7620"/>
                </a:lnTo>
                <a:lnTo>
                  <a:pt x="38100" y="7620"/>
                </a:lnTo>
                <a:lnTo>
                  <a:pt x="381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Kaleem Omar, the </a:t>
            </a:r>
            <a:r>
              <a:rPr dirty="0" sz="1200" spc="-5">
                <a:latin typeface="Times New Roman"/>
                <a:cs typeface="Times New Roman"/>
              </a:rPr>
              <a:t>journalist,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studied Japanese </a:t>
            </a:r>
            <a:r>
              <a:rPr dirty="0" sz="1200" spc="-5">
                <a:latin typeface="Times New Roman"/>
                <a:cs typeface="Times New Roman"/>
              </a:rPr>
              <a:t>business customs </a:t>
            </a:r>
            <a:r>
              <a:rPr dirty="0" sz="1200">
                <a:latin typeface="Times New Roman"/>
                <a:cs typeface="Times New Roman"/>
              </a:rPr>
              <a:t>and habits. </a:t>
            </a:r>
            <a:r>
              <a:rPr dirty="0" sz="1200" spc="-5">
                <a:latin typeface="Times New Roman"/>
                <a:cs typeface="Times New Roman"/>
              </a:rPr>
              <a:t>He says </a:t>
            </a:r>
            <a:r>
              <a:rPr dirty="0" sz="1200">
                <a:latin typeface="Times New Roman"/>
                <a:cs typeface="Times New Roman"/>
              </a:rPr>
              <a:t> that the Japanese prefer to work collectively </a:t>
            </a:r>
            <a:r>
              <a:rPr dirty="0" sz="1200" spc="-5">
                <a:latin typeface="Times New Roman"/>
                <a:cs typeface="Times New Roman"/>
              </a:rPr>
              <a:t>as members </a:t>
            </a:r>
            <a:r>
              <a:rPr dirty="0" sz="1200">
                <a:latin typeface="Times New Roman"/>
                <a:cs typeface="Times New Roman"/>
              </a:rPr>
              <a:t>of groups rather than individually.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This, he </a:t>
            </a:r>
            <a:r>
              <a:rPr dirty="0" sz="1200" spc="-5">
                <a:latin typeface="Times New Roman"/>
                <a:cs typeface="Times New Roman"/>
              </a:rPr>
              <a:t>says,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of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Japan’s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Outline.</a:t>
            </a:r>
            <a:endParaRPr sz="1200">
              <a:latin typeface="Times New Roman"/>
              <a:cs typeface="Times New Roman"/>
            </a:endParaRPr>
          </a:p>
          <a:p>
            <a:pPr marL="469900" indent="-457200">
              <a:lnSpc>
                <a:spcPts val="1375"/>
              </a:lnSpc>
              <a:buFont typeface="Times New Roman"/>
              <a:buAutoNum type="alphaUcPeriod"/>
              <a:tabLst>
                <a:tab pos="469265" algn="l"/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Reported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groups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individual.</a:t>
            </a:r>
            <a:endParaRPr sz="1200">
              <a:latin typeface="Times New Roman"/>
              <a:cs typeface="Times New Roman"/>
            </a:endParaRPr>
          </a:p>
          <a:p>
            <a:pPr marL="456565" indent="-444500">
              <a:lnSpc>
                <a:spcPts val="1410"/>
              </a:lnSpc>
              <a:buFont typeface="Times New Roman"/>
              <a:buAutoNum type="alphaUcPeriod"/>
              <a:tabLst>
                <a:tab pos="456565" algn="l"/>
                <a:tab pos="4572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reason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economic success.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Paraphrase: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K.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Omar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journalist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Japanese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singly.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believes that this feature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 of the </a:t>
            </a:r>
            <a:r>
              <a:rPr dirty="0" sz="1200" spc="-5">
                <a:latin typeface="Times New Roman"/>
                <a:cs typeface="Times New Roman"/>
              </a:rPr>
              <a:t>most important factors </a:t>
            </a:r>
            <a:r>
              <a:rPr dirty="0" sz="1200">
                <a:latin typeface="Times New Roman"/>
                <a:cs typeface="Times New Roman"/>
              </a:rPr>
              <a:t>responsible for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Japanese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economic success.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319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POEM</a:t>
            </a:r>
            <a:endParaRPr sz="1200">
              <a:latin typeface="Times New Roman"/>
              <a:cs typeface="Times New Roman"/>
            </a:endParaRPr>
          </a:p>
          <a:p>
            <a:pPr marL="469900" marR="343344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Lives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sublime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departing leave behind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 Footprints on the sands of </a:t>
            </a:r>
            <a:r>
              <a:rPr dirty="0" sz="1200" spc="-5">
                <a:latin typeface="Times New Roman"/>
                <a:cs typeface="Times New Roman"/>
              </a:rPr>
              <a:t>time, </a:t>
            </a:r>
            <a:r>
              <a:rPr dirty="0" sz="1200">
                <a:latin typeface="Times New Roman"/>
                <a:cs typeface="Times New Roman"/>
              </a:rPr>
              <a:t> Footprints that perhaps another,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Sailing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o’er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life’s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solemn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469900" marR="321945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forlorn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shipwrecked brother,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698500" indent="-457200">
              <a:lnSpc>
                <a:spcPts val="1410"/>
              </a:lnSpc>
              <a:buAutoNum type="romanLcParenBoth"/>
              <a:tabLst>
                <a:tab pos="697865" algn="l"/>
                <a:tab pos="698500" algn="l"/>
              </a:tabLst>
            </a:pPr>
            <a:r>
              <a:rPr dirty="0" sz="1200" spc="-5">
                <a:latin typeface="Times New Roman"/>
                <a:cs typeface="Times New Roman"/>
              </a:rPr>
              <a:t>Substituting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words:</a:t>
            </a:r>
            <a:endParaRPr sz="1200">
              <a:latin typeface="Times New Roman"/>
              <a:cs typeface="Times New Roman"/>
            </a:endParaRPr>
          </a:p>
          <a:p>
            <a:pPr marL="12700" marR="2924810">
              <a:lnSpc>
                <a:spcPts val="1380"/>
              </a:lnSpc>
              <a:spcBef>
                <a:spcPts val="65"/>
              </a:spcBef>
            </a:pPr>
            <a:r>
              <a:rPr dirty="0" sz="1200" spc="-5" b="1">
                <a:latin typeface="Times New Roman"/>
                <a:cs typeface="Times New Roman"/>
              </a:rPr>
              <a:t>Sublime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lofty,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exalted,</a:t>
            </a:r>
            <a:r>
              <a:rPr dirty="0" sz="1200" spc="-5">
                <a:latin typeface="Times New Roman"/>
                <a:cs typeface="Times New Roman"/>
              </a:rPr>
              <a:t> eminent, </a:t>
            </a:r>
            <a:r>
              <a:rPr dirty="0" sz="1200">
                <a:latin typeface="Times New Roman"/>
                <a:cs typeface="Times New Roman"/>
              </a:rPr>
              <a:t>grand,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noble-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Forlorn- </a:t>
            </a:r>
            <a:r>
              <a:rPr dirty="0" sz="1200" spc="-5">
                <a:latin typeface="Times New Roman"/>
                <a:cs typeface="Times New Roman"/>
              </a:rPr>
              <a:t>abandoned, deserted, friendless,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Solemn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serious,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sober,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grave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(obs.)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sea</a:t>
            </a:r>
            <a:endParaRPr sz="1200">
              <a:latin typeface="Times New Roman"/>
              <a:cs typeface="Times New Roman"/>
            </a:endParaRPr>
          </a:p>
          <a:p>
            <a:pPr marL="12700" marR="271780" indent="190500">
              <a:lnSpc>
                <a:spcPts val="1390"/>
              </a:lnSpc>
              <a:spcBef>
                <a:spcPts val="60"/>
              </a:spcBef>
              <a:buAutoNum type="romanLcParenBoth" startAt="2"/>
              <a:tabLst>
                <a:tab pos="44005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central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idea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above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lives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of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all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great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men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remind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us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of </a:t>
            </a:r>
            <a:r>
              <a:rPr dirty="0" sz="1200" spc="-28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certain duties</a:t>
            </a:r>
            <a:endParaRPr sz="1200">
              <a:latin typeface="Times New Roman"/>
              <a:cs typeface="Times New Roman"/>
            </a:endParaRPr>
          </a:p>
          <a:p>
            <a:pPr marL="127000">
              <a:lnSpc>
                <a:spcPts val="1330"/>
              </a:lnSpc>
            </a:pPr>
            <a:r>
              <a:rPr dirty="0" sz="1200" spc="-5">
                <a:latin typeface="Times New Roman"/>
                <a:cs typeface="Times New Roman"/>
              </a:rPr>
              <a:t>Removing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Outline: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may make </a:t>
            </a:r>
            <a:r>
              <a:rPr dirty="0" sz="1200">
                <a:latin typeface="Times New Roman"/>
                <a:cs typeface="Times New Roman"/>
              </a:rPr>
              <a:t>our lives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great--- </a:t>
            </a:r>
            <a:r>
              <a:rPr dirty="0" sz="1200">
                <a:latin typeface="Times New Roman"/>
                <a:cs typeface="Times New Roman"/>
              </a:rPr>
              <a:t>Departing, </a:t>
            </a:r>
            <a:r>
              <a:rPr dirty="0" sz="1200" spc="-5">
                <a:latin typeface="Times New Roman"/>
                <a:cs typeface="Times New Roman"/>
              </a:rPr>
              <a:t>we may </a:t>
            </a:r>
            <a:r>
              <a:rPr dirty="0" sz="1200">
                <a:latin typeface="Times New Roman"/>
                <a:cs typeface="Times New Roman"/>
              </a:rPr>
              <a:t>leave </a:t>
            </a:r>
            <a:r>
              <a:rPr dirty="0" sz="1200" spc="-5">
                <a:latin typeface="Times New Roman"/>
                <a:cs typeface="Times New Roman"/>
              </a:rPr>
              <a:t>behind us </a:t>
            </a:r>
            <a:r>
              <a:rPr dirty="0" sz="1200">
                <a:latin typeface="Times New Roman"/>
                <a:cs typeface="Times New Roman"/>
              </a:rPr>
              <a:t>footprints on the </a:t>
            </a:r>
            <a:r>
              <a:rPr dirty="0" sz="1200" spc="-5">
                <a:latin typeface="Times New Roman"/>
                <a:cs typeface="Times New Roman"/>
              </a:rPr>
              <a:t>sands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time---There may </a:t>
            </a:r>
            <a:r>
              <a:rPr dirty="0" sz="1200">
                <a:latin typeface="Times New Roman"/>
                <a:cs typeface="Times New Roman"/>
              </a:rPr>
              <a:t>be footprints </a:t>
            </a:r>
            <a:r>
              <a:rPr dirty="0" sz="1200" spc="-5">
                <a:latin typeface="Times New Roman"/>
                <a:cs typeface="Times New Roman"/>
              </a:rPr>
              <a:t>which may </a:t>
            </a:r>
            <a:r>
              <a:rPr dirty="0" sz="1200">
                <a:latin typeface="Times New Roman"/>
                <a:cs typeface="Times New Roman"/>
              </a:rPr>
              <a:t>be seen by a </a:t>
            </a:r>
            <a:r>
              <a:rPr dirty="0" sz="1200" spc="-5">
                <a:latin typeface="Times New Roman"/>
                <a:cs typeface="Times New Roman"/>
              </a:rPr>
              <a:t>shipwrecked </a:t>
            </a:r>
            <a:r>
              <a:rPr dirty="0" sz="1200">
                <a:latin typeface="Times New Roman"/>
                <a:cs typeface="Times New Roman"/>
              </a:rPr>
              <a:t>brother and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 help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take heart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Paraphrase: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 great</a:t>
            </a:r>
            <a:r>
              <a:rPr dirty="0" sz="1200" spc="-5">
                <a:latin typeface="Times New Roman"/>
                <a:cs typeface="Times New Roman"/>
              </a:rPr>
              <a:t> men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remind 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we 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-5">
                <a:latin typeface="Times New Roman"/>
                <a:cs typeface="Times New Roman"/>
              </a:rPr>
              <a:t> (make) </a:t>
            </a:r>
            <a:r>
              <a:rPr dirty="0" sz="1200">
                <a:latin typeface="Times New Roman"/>
                <a:cs typeface="Times New Roman"/>
              </a:rPr>
              <a:t>noble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(sublime)</a:t>
            </a:r>
            <a:r>
              <a:rPr dirty="0" sz="1200">
                <a:latin typeface="Times New Roman"/>
                <a:cs typeface="Times New Roman"/>
              </a:rPr>
              <a:t> lives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die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(departing)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leave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(footprints) </a:t>
            </a:r>
            <a:r>
              <a:rPr dirty="0" sz="1200">
                <a:latin typeface="Times New Roman"/>
                <a:cs typeface="Times New Roman"/>
              </a:rPr>
              <a:t>in this world </a:t>
            </a:r>
            <a:r>
              <a:rPr dirty="0" sz="1200" spc="-5">
                <a:latin typeface="Times New Roman"/>
                <a:cs typeface="Times New Roman"/>
              </a:rPr>
              <a:t>(sands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time) </a:t>
            </a:r>
            <a:r>
              <a:rPr dirty="0" sz="1200">
                <a:latin typeface="Times New Roman"/>
                <a:cs typeface="Times New Roman"/>
              </a:rPr>
              <a:t>like the </a:t>
            </a:r>
            <a:r>
              <a:rPr dirty="0" sz="1200" spc="-5">
                <a:latin typeface="Times New Roman"/>
                <a:cs typeface="Times New Roman"/>
              </a:rPr>
              <a:t>marks of footsteps </a:t>
            </a:r>
            <a:r>
              <a:rPr dirty="0" sz="1200">
                <a:latin typeface="Times New Roman"/>
                <a:cs typeface="Times New Roman"/>
              </a:rPr>
              <a:t>left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travelers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sands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seashore.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(foot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prints)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noticed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serious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grave </a:t>
            </a:r>
            <a:r>
              <a:rPr dirty="0" sz="1200" spc="-5">
                <a:latin typeface="Times New Roman"/>
                <a:cs typeface="Times New Roman"/>
              </a:rPr>
              <a:t>person </a:t>
            </a:r>
            <a:r>
              <a:rPr dirty="0" sz="1200">
                <a:latin typeface="Times New Roman"/>
                <a:cs typeface="Times New Roman"/>
              </a:rPr>
              <a:t>(a </a:t>
            </a:r>
            <a:r>
              <a:rPr dirty="0" sz="1200" spc="-5">
                <a:latin typeface="Times New Roman"/>
                <a:cs typeface="Times New Roman"/>
              </a:rPr>
              <a:t>shipwrecked brother) </a:t>
            </a:r>
            <a:r>
              <a:rPr dirty="0" sz="1200">
                <a:latin typeface="Times New Roman"/>
                <a:cs typeface="Times New Roman"/>
              </a:rPr>
              <a:t>who has no one to guide him (forlorn) and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 encourage</a:t>
            </a:r>
            <a:r>
              <a:rPr dirty="0" sz="1200" spc="-5">
                <a:latin typeface="Times New Roman"/>
                <a:cs typeface="Times New Roman"/>
              </a:rPr>
              <a:t> him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(to take </a:t>
            </a:r>
            <a:r>
              <a:rPr dirty="0" sz="1200" spc="-5">
                <a:latin typeface="Times New Roman"/>
                <a:cs typeface="Times New Roman"/>
              </a:rPr>
              <a:t>heart)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-5">
                <a:latin typeface="Times New Roman"/>
                <a:cs typeface="Times New Roman"/>
              </a:rPr>
              <a:t> his distress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sorrow.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marL="220345" indent="-208279">
              <a:lnSpc>
                <a:spcPts val="1410"/>
              </a:lnSpc>
              <a:spcBef>
                <a:spcPts val="1070"/>
              </a:spcBef>
              <a:buFont typeface="Times New Roman"/>
              <a:buAutoNum type="romanLcParenR" startAt="4"/>
              <a:tabLst>
                <a:tab pos="220979" algn="l"/>
              </a:tabLst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Polishing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paraphrase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as: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The lives of all great </a:t>
            </a:r>
            <a:r>
              <a:rPr dirty="0" sz="1200" spc="-5">
                <a:latin typeface="Times New Roman"/>
                <a:cs typeface="Times New Roman"/>
              </a:rPr>
              <a:t>men </a:t>
            </a:r>
            <a:r>
              <a:rPr dirty="0" sz="1200">
                <a:latin typeface="Times New Roman"/>
                <a:cs typeface="Times New Roman"/>
              </a:rPr>
              <a:t>inspire </a:t>
            </a:r>
            <a:r>
              <a:rPr dirty="0" sz="1200" spc="-5">
                <a:latin typeface="Times New Roman"/>
                <a:cs typeface="Times New Roman"/>
              </a:rPr>
              <a:t>us so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live noble lives, and that, when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behind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noble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deeds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footprints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traveler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sands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sea </a:t>
            </a:r>
            <a:r>
              <a:rPr dirty="0" sz="1200">
                <a:latin typeface="Times New Roman"/>
                <a:cs typeface="Times New Roman"/>
              </a:rPr>
              <a:t>shore.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records </a:t>
            </a:r>
            <a:r>
              <a:rPr dirty="0" sz="1200" spc="-5">
                <a:latin typeface="Times New Roman"/>
                <a:cs typeface="Times New Roman"/>
              </a:rPr>
              <a:t>may, </a:t>
            </a:r>
            <a:r>
              <a:rPr dirty="0" sz="1200">
                <a:latin typeface="Times New Roman"/>
                <a:cs typeface="Times New Roman"/>
              </a:rPr>
              <a:t>by chance, read by some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unfortunate person who, having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a wreck of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life,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grip of despair, and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give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fresh </a:t>
            </a:r>
            <a:r>
              <a:rPr dirty="0" sz="1200" spc="-5">
                <a:latin typeface="Times New Roman"/>
                <a:cs typeface="Times New Roman"/>
              </a:rPr>
              <a:t>encouragement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loneliness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misery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new </a:t>
            </a:r>
            <a:r>
              <a:rPr dirty="0" sz="1200">
                <a:latin typeface="Times New Roman"/>
                <a:cs typeface="Times New Roman"/>
              </a:rPr>
              <a:t>start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News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Item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Karachi APP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Rescue workers </a:t>
            </a:r>
            <a:r>
              <a:rPr dirty="0" sz="1200">
                <a:latin typeface="Times New Roman"/>
                <a:cs typeface="Times New Roman"/>
              </a:rPr>
              <a:t>located the </a:t>
            </a:r>
            <a:r>
              <a:rPr dirty="0" sz="1200" spc="-5">
                <a:latin typeface="Times New Roman"/>
                <a:cs typeface="Times New Roman"/>
              </a:rPr>
              <a:t>body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New Karachi teenager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beach 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Clifton, one day after a </a:t>
            </a:r>
            <a:r>
              <a:rPr dirty="0" sz="1200" spc="-5">
                <a:latin typeface="Times New Roman"/>
                <a:cs typeface="Times New Roman"/>
              </a:rPr>
              <a:t>sand bar where he was walking with his friends washed out in the </a:t>
            </a:r>
            <a:r>
              <a:rPr dirty="0" sz="1200">
                <a:latin typeface="Times New Roman"/>
                <a:cs typeface="Times New Roman"/>
              </a:rPr>
              <a:t> rising tide. Police </a:t>
            </a:r>
            <a:r>
              <a:rPr dirty="0" sz="1200" spc="-5">
                <a:latin typeface="Times New Roman"/>
                <a:cs typeface="Times New Roman"/>
              </a:rPr>
              <a:t>sources </a:t>
            </a:r>
            <a:r>
              <a:rPr dirty="0" sz="1200">
                <a:latin typeface="Times New Roman"/>
                <a:cs typeface="Times New Roman"/>
              </a:rPr>
              <a:t>said the body of Mohammad Irfan, 15,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recovered on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beach on Sunday </a:t>
            </a:r>
            <a:r>
              <a:rPr dirty="0" sz="1200" spc="-5">
                <a:latin typeface="Times New Roman"/>
                <a:cs typeface="Times New Roman"/>
              </a:rPr>
              <a:t>morning. </a:t>
            </a:r>
            <a:r>
              <a:rPr dirty="0" sz="1200">
                <a:latin typeface="Times New Roman"/>
                <a:cs typeface="Times New Roman"/>
              </a:rPr>
              <a:t>The body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found 2½ </a:t>
            </a:r>
            <a:r>
              <a:rPr dirty="0" sz="1200" spc="-5">
                <a:latin typeface="Times New Roman"/>
                <a:cs typeface="Times New Roman"/>
              </a:rPr>
              <a:t>miles </a:t>
            </a:r>
            <a:r>
              <a:rPr dirty="0" sz="1200">
                <a:latin typeface="Times New Roman"/>
                <a:cs typeface="Times New Roman"/>
              </a:rPr>
              <a:t>away from the area where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fell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6:15 pm., Saturday </a:t>
            </a:r>
            <a:r>
              <a:rPr dirty="0" sz="1200">
                <a:latin typeface="Times New Roman"/>
                <a:cs typeface="Times New Roman"/>
              </a:rPr>
              <a:t>after </a:t>
            </a:r>
            <a:r>
              <a:rPr dirty="0" sz="1200" spc="-5">
                <a:latin typeface="Times New Roman"/>
                <a:cs typeface="Times New Roman"/>
              </a:rPr>
              <a:t>noon.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boy and his </a:t>
            </a:r>
            <a:r>
              <a:rPr dirty="0" sz="1200">
                <a:latin typeface="Times New Roman"/>
                <a:cs typeface="Times New Roman"/>
              </a:rPr>
              <a:t>friend, </a:t>
            </a:r>
            <a:r>
              <a:rPr dirty="0" sz="1200" spc="-5">
                <a:latin typeface="Times New Roman"/>
                <a:cs typeface="Times New Roman"/>
              </a:rPr>
              <a:t>Ali Zaman, </a:t>
            </a:r>
            <a:r>
              <a:rPr dirty="0" sz="1200">
                <a:latin typeface="Times New Roman"/>
                <a:cs typeface="Times New Roman"/>
              </a:rPr>
              <a:t>were walking 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sand bar with other teens when the sand washed </a:t>
            </a:r>
            <a:r>
              <a:rPr dirty="0" sz="1200">
                <a:latin typeface="Times New Roman"/>
                <a:cs typeface="Times New Roman"/>
              </a:rPr>
              <a:t>out form under them, said the </a:t>
            </a:r>
            <a:r>
              <a:rPr dirty="0" sz="1200" spc="-5">
                <a:latin typeface="Times New Roman"/>
                <a:cs typeface="Times New Roman"/>
              </a:rPr>
              <a:t>victim’s </a:t>
            </a:r>
            <a:r>
              <a:rPr dirty="0" sz="1200">
                <a:latin typeface="Times New Roman"/>
                <a:cs typeface="Times New Roman"/>
              </a:rPr>
              <a:t> mother, Zainab Khatoon. </a:t>
            </a:r>
            <a:r>
              <a:rPr dirty="0" sz="1200" spc="-5">
                <a:latin typeface="Times New Roman"/>
                <a:cs typeface="Times New Roman"/>
              </a:rPr>
              <a:t>Passers-by</a:t>
            </a:r>
            <a:r>
              <a:rPr dirty="0" sz="1200">
                <a:latin typeface="Times New Roman"/>
                <a:cs typeface="Times New Roman"/>
              </a:rPr>
              <a:t> pulled </a:t>
            </a:r>
            <a:r>
              <a:rPr dirty="0" sz="1200" spc="-5">
                <a:latin typeface="Times New Roman"/>
                <a:cs typeface="Times New Roman"/>
              </a:rPr>
              <a:t>Ali Zaman </a:t>
            </a:r>
            <a:r>
              <a:rPr dirty="0" sz="1200">
                <a:latin typeface="Times New Roman"/>
                <a:cs typeface="Times New Roman"/>
              </a:rPr>
              <a:t>to safety,</a:t>
            </a:r>
            <a:r>
              <a:rPr dirty="0" sz="1200" spc="-5">
                <a:latin typeface="Times New Roman"/>
                <a:cs typeface="Times New Roman"/>
              </a:rPr>
              <a:t> witnesses </a:t>
            </a:r>
            <a:r>
              <a:rPr dirty="0" sz="1200">
                <a:latin typeface="Times New Roman"/>
                <a:cs typeface="Times New Roman"/>
              </a:rPr>
              <a:t>said.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Pharaphrase: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On Sunday,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body of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young man who was drowned while walking on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sand bar,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washed </a:t>
            </a:r>
            <a:r>
              <a:rPr dirty="0" sz="1200">
                <a:latin typeface="Times New Roman"/>
                <a:cs typeface="Times New Roman"/>
              </a:rPr>
              <a:t>away by the </a:t>
            </a:r>
            <a:r>
              <a:rPr dirty="0" sz="1200" spc="-5">
                <a:latin typeface="Times New Roman"/>
                <a:cs typeface="Times New Roman"/>
              </a:rPr>
              <a:t>tide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was discovered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 spc="-5">
                <a:latin typeface="Times New Roman"/>
                <a:cs typeface="Times New Roman"/>
              </a:rPr>
              <a:t>Clifton beach on Saturday afternoon. </a:t>
            </a:r>
            <a:r>
              <a:rPr dirty="0" sz="1200" spc="-10">
                <a:latin typeface="Times New Roman"/>
                <a:cs typeface="Times New Roman"/>
              </a:rPr>
              <a:t>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with him 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time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accident had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 rescued 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passers</a:t>
            </a:r>
            <a:r>
              <a:rPr dirty="0" sz="1200">
                <a:latin typeface="Times New Roman"/>
                <a:cs typeface="Times New Roman"/>
              </a:rPr>
              <a:t> – </a:t>
            </a:r>
            <a:r>
              <a:rPr dirty="0" sz="1200" spc="-5">
                <a:latin typeface="Times New Roman"/>
                <a:cs typeface="Times New Roman"/>
              </a:rPr>
              <a:t>by.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examples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paraphrase:</a:t>
            </a:r>
            <a:endParaRPr sz="1200">
              <a:latin typeface="Times New Roman"/>
              <a:cs typeface="Times New Roman"/>
            </a:endParaRPr>
          </a:p>
          <a:p>
            <a:pPr lvl="1" marL="469900" marR="271780" indent="-228600">
              <a:lnSpc>
                <a:spcPts val="1380"/>
              </a:lnSpc>
              <a:spcBef>
                <a:spcPts val="60"/>
              </a:spcBef>
              <a:buAutoNum type="arabicParenR"/>
              <a:tabLst>
                <a:tab pos="469900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religion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hate,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(Swift)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religion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true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kind,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opposite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teaching.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algn="just" lvl="1" marL="177800" indent="-165735">
              <a:lnSpc>
                <a:spcPts val="1410"/>
              </a:lnSpc>
              <a:buAutoNum type="arabicParenR" startAt="2"/>
              <a:tabLst>
                <a:tab pos="1784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narrowest hinge on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>
                <a:latin typeface="Times New Roman"/>
                <a:cs typeface="Times New Roman"/>
              </a:rPr>
              <a:t> hand puts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scorn</a:t>
            </a:r>
            <a:r>
              <a:rPr dirty="0" sz="1200">
                <a:latin typeface="Times New Roman"/>
                <a:cs typeface="Times New Roman"/>
              </a:rPr>
              <a:t> all </a:t>
            </a:r>
            <a:r>
              <a:rPr dirty="0" sz="1200" spc="-5">
                <a:latin typeface="Times New Roman"/>
                <a:cs typeface="Times New Roman"/>
              </a:rPr>
              <a:t>machinery.</a:t>
            </a:r>
            <a:r>
              <a:rPr dirty="0" sz="1200" spc="295">
                <a:latin typeface="Times New Roman"/>
                <a:cs typeface="Times New Roman"/>
              </a:rPr>
              <a:t>   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Whitman)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bones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wonderful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lvl="1" marL="12700" marR="269240">
              <a:lnSpc>
                <a:spcPts val="1380"/>
              </a:lnSpc>
              <a:buAutoNum type="arabicParenR" startAt="3"/>
              <a:tabLst>
                <a:tab pos="207010" algn="l"/>
              </a:tabLst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argument </a:t>
            </a:r>
            <a:r>
              <a:rPr dirty="0" sz="1200">
                <a:latin typeface="Times New Roman"/>
                <a:cs typeface="Times New Roman"/>
              </a:rPr>
              <a:t>in favor of keeping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death </a:t>
            </a:r>
            <a:r>
              <a:rPr dirty="0" sz="1200" spc="-5">
                <a:latin typeface="Times New Roman"/>
                <a:cs typeface="Times New Roman"/>
              </a:rPr>
              <a:t>penalty for murder is that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frighten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</a:t>
            </a:r>
            <a:r>
              <a:rPr dirty="0" sz="1200">
                <a:latin typeface="Times New Roman"/>
                <a:cs typeface="Times New Roman"/>
              </a:rPr>
              <a:t> 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desire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crime.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preventive.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 argument </a:t>
            </a:r>
            <a:r>
              <a:rPr dirty="0" sz="1200">
                <a:latin typeface="Times New Roman"/>
                <a:cs typeface="Times New Roman"/>
              </a:rPr>
              <a:t>for retaining capital </a:t>
            </a:r>
            <a:r>
              <a:rPr dirty="0" sz="1200" spc="-5">
                <a:latin typeface="Times New Roman"/>
                <a:cs typeface="Times New Roman"/>
              </a:rPr>
              <a:t>punishment </a:t>
            </a:r>
            <a:r>
              <a:rPr dirty="0" sz="1200">
                <a:latin typeface="Times New Roman"/>
                <a:cs typeface="Times New Roman"/>
              </a:rPr>
              <a:t>for murder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it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act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deterrent.</a:t>
            </a:r>
            <a:endParaRPr sz="1200">
              <a:latin typeface="Times New Roman"/>
              <a:cs typeface="Times New Roman"/>
            </a:endParaRPr>
          </a:p>
          <a:p>
            <a:pPr algn="just" lvl="1" marL="12700" marR="270510">
              <a:lnSpc>
                <a:spcPts val="1380"/>
              </a:lnSpc>
              <a:buAutoNum type="arabicParenR" startAt="4"/>
              <a:tabLst>
                <a:tab pos="180975" algn="l"/>
                <a:tab pos="1709420" algn="l"/>
              </a:tabLst>
            </a:pPr>
            <a:r>
              <a:rPr dirty="0" sz="1200">
                <a:latin typeface="Times New Roman"/>
                <a:cs typeface="Times New Roman"/>
              </a:rPr>
              <a:t>There are no gains without pains; then help, hands, for I have no lands, or if I have, they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smartly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taxed.	</a:t>
            </a:r>
            <a:r>
              <a:rPr dirty="0" sz="1200" spc="-5">
                <a:latin typeface="Times New Roman"/>
                <a:cs typeface="Times New Roman"/>
              </a:rPr>
              <a:t>(Benjamin</a:t>
            </a:r>
            <a:r>
              <a:rPr dirty="0" sz="1200">
                <a:latin typeface="Times New Roman"/>
                <a:cs typeface="Times New Roman"/>
              </a:rPr>
              <a:t> Franklin)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Nothing can be earned without labour, </a:t>
            </a:r>
            <a:r>
              <a:rPr dirty="0" sz="1200" spc="-5">
                <a:latin typeface="Times New Roman"/>
                <a:cs typeface="Times New Roman"/>
              </a:rPr>
              <a:t>so set </a:t>
            </a:r>
            <a:r>
              <a:rPr dirty="0" sz="1200">
                <a:latin typeface="Times New Roman"/>
                <a:cs typeface="Times New Roman"/>
              </a:rPr>
              <a:t>to work,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hands, for what land I have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heavily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taxed.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lvl="1" marL="12700" marR="270510">
              <a:lnSpc>
                <a:spcPts val="1380"/>
              </a:lnSpc>
              <a:buAutoNum type="arabicParenR" startAt="5"/>
              <a:tabLst>
                <a:tab pos="205740" algn="l"/>
              </a:tabLst>
            </a:pPr>
            <a:r>
              <a:rPr dirty="0" sz="1200" spc="-5">
                <a:latin typeface="Times New Roman"/>
                <a:cs typeface="Times New Roman"/>
              </a:rPr>
              <a:t>No man is so </a:t>
            </a:r>
            <a:r>
              <a:rPr dirty="0" sz="1200">
                <a:latin typeface="Times New Roman"/>
                <a:cs typeface="Times New Roman"/>
              </a:rPr>
              <a:t>void of understanding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to prefer </a:t>
            </a:r>
            <a:r>
              <a:rPr dirty="0" sz="1200" spc="-5">
                <a:latin typeface="Times New Roman"/>
                <a:cs typeface="Times New Roman"/>
              </a:rPr>
              <a:t>war </a:t>
            </a:r>
            <a:r>
              <a:rPr dirty="0" sz="1200">
                <a:latin typeface="Times New Roman"/>
                <a:cs typeface="Times New Roman"/>
              </a:rPr>
              <a:t>before peace; for in the letter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 bury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fathers; </a:t>
            </a:r>
            <a:r>
              <a:rPr dirty="0" sz="1200">
                <a:latin typeface="Times New Roman"/>
                <a:cs typeface="Times New Roman"/>
              </a:rPr>
              <a:t>in the</a:t>
            </a:r>
            <a:r>
              <a:rPr dirty="0" sz="1200" spc="-5">
                <a:latin typeface="Times New Roman"/>
                <a:cs typeface="Times New Roman"/>
              </a:rPr>
              <a:t> former, </a:t>
            </a:r>
            <a:r>
              <a:rPr dirty="0" sz="1200">
                <a:latin typeface="Times New Roman"/>
                <a:cs typeface="Times New Roman"/>
              </a:rPr>
              <a:t>fathers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stupid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peace;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peace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young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bury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young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fighting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2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  <a:buAutoNum type="arabicParenR" startAt="6"/>
              <a:tabLst>
                <a:tab pos="186055" algn="l"/>
              </a:tabLst>
            </a:pPr>
            <a:r>
              <a:rPr dirty="0" sz="1200" spc="-5">
                <a:latin typeface="Times New Roman"/>
                <a:cs typeface="Times New Roman"/>
              </a:rPr>
              <a:t>Applicants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requested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exceptional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treatment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(NOTICE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A </a:t>
            </a:r>
            <a:r>
              <a:rPr dirty="0" sz="1200" spc="-10">
                <a:latin typeface="Times New Roman"/>
                <a:cs typeface="Times New Roman"/>
              </a:rPr>
              <a:t>HOSPITAL)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Applicants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need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-5">
                <a:latin typeface="Times New Roman"/>
                <a:cs typeface="Times New Roman"/>
              </a:rPr>
              <a:t> treatment.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rabicParenR" startAt="7"/>
              <a:tabLst>
                <a:tab pos="18224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drivers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visitors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hospital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strictly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forbidden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park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verge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Attention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public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park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available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Millat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Street.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parking on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road. Use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park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Millat Street.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arenR" startAt="7"/>
            </a:pPr>
            <a:endParaRPr sz="1200">
              <a:latin typeface="Times New Roman"/>
              <a:cs typeface="Times New Roman"/>
            </a:endParaRPr>
          </a:p>
          <a:p>
            <a:pPr algn="just" marL="12700" marR="268605">
              <a:lnSpc>
                <a:spcPts val="1380"/>
              </a:lnSpc>
              <a:buAutoNum type="arabicParenR" startAt="7"/>
              <a:tabLst>
                <a:tab pos="186690" algn="l"/>
              </a:tabLst>
            </a:pPr>
            <a:r>
              <a:rPr dirty="0" sz="1200">
                <a:latin typeface="Times New Roman"/>
                <a:cs typeface="Times New Roman"/>
              </a:rPr>
              <a:t>Civil </a:t>
            </a:r>
            <a:r>
              <a:rPr dirty="0" sz="1200" spc="-5">
                <a:latin typeface="Times New Roman"/>
                <a:cs typeface="Times New Roman"/>
              </a:rPr>
              <a:t>personnel </a:t>
            </a:r>
            <a:r>
              <a:rPr dirty="0" sz="120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halt </a:t>
            </a:r>
            <a:r>
              <a:rPr dirty="0" sz="1200">
                <a:latin typeface="Times New Roman"/>
                <a:cs typeface="Times New Roman"/>
              </a:rPr>
              <a:t>here and report their presence at the guard </a:t>
            </a:r>
            <a:r>
              <a:rPr dirty="0" sz="1200" spc="-5">
                <a:latin typeface="Times New Roman"/>
                <a:cs typeface="Times New Roman"/>
              </a:rPr>
              <a:t>room. </a:t>
            </a:r>
            <a:r>
              <a:rPr dirty="0" sz="1200">
                <a:latin typeface="Times New Roman"/>
                <a:cs typeface="Times New Roman"/>
              </a:rPr>
              <a:t>They will 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 account proceed further till vetted and </a:t>
            </a:r>
            <a:r>
              <a:rPr dirty="0" sz="1200" spc="-5">
                <a:latin typeface="Times New Roman"/>
                <a:cs typeface="Times New Roman"/>
              </a:rPr>
              <a:t>granted </a:t>
            </a:r>
            <a:r>
              <a:rPr dirty="0" sz="1200">
                <a:latin typeface="Times New Roman"/>
                <a:cs typeface="Times New Roman"/>
              </a:rPr>
              <a:t>clearance by the security officer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duty.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Offenders are warned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any failure to </a:t>
            </a:r>
            <a:r>
              <a:rPr dirty="0" sz="1200" spc="-5">
                <a:latin typeface="Times New Roman"/>
                <a:cs typeface="Times New Roman"/>
              </a:rPr>
              <a:t>observe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regulations </a:t>
            </a:r>
            <a:r>
              <a:rPr dirty="0" sz="120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result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detention 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prosecution.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civilians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report</a:t>
            </a:r>
            <a:r>
              <a:rPr dirty="0" sz="1200">
                <a:latin typeface="Times New Roman"/>
                <a:cs typeface="Times New Roman"/>
              </a:rPr>
              <a:t> 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guard</a:t>
            </a:r>
            <a:r>
              <a:rPr dirty="0" sz="1200">
                <a:latin typeface="Times New Roman"/>
                <a:cs typeface="Times New Roman"/>
              </a:rPr>
              <a:t> room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permission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Offenders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prosecuted.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buAutoNum type="arabicParenR" startAt="9"/>
              <a:tabLst>
                <a:tab pos="189865" algn="l"/>
              </a:tabLst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cases </a:t>
            </a:r>
            <a:r>
              <a:rPr dirty="0" sz="1200">
                <a:latin typeface="Times New Roman"/>
                <a:cs typeface="Times New Roman"/>
              </a:rPr>
              <a:t>where the school day </a:t>
            </a:r>
            <a:r>
              <a:rPr dirty="0" sz="1200" spc="-5">
                <a:latin typeface="Times New Roman"/>
                <a:cs typeface="Times New Roman"/>
              </a:rPr>
              <a:t>is terminated </a:t>
            </a:r>
            <a:r>
              <a:rPr dirty="0" sz="1200">
                <a:latin typeface="Times New Roman"/>
                <a:cs typeface="Times New Roman"/>
              </a:rPr>
              <a:t>earlier than the </a:t>
            </a:r>
            <a:r>
              <a:rPr dirty="0" sz="1200" spc="-5">
                <a:latin typeface="Times New Roman"/>
                <a:cs typeface="Times New Roman"/>
              </a:rPr>
              <a:t>normal time </a:t>
            </a:r>
            <a:r>
              <a:rPr dirty="0" sz="1200">
                <a:latin typeface="Times New Roman"/>
                <a:cs typeface="Times New Roman"/>
              </a:rPr>
              <a:t>owning 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necessity to get pupils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before the </a:t>
            </a:r>
            <a:r>
              <a:rPr dirty="0" sz="1200" spc="-5">
                <a:latin typeface="Times New Roman"/>
                <a:cs typeface="Times New Roman"/>
              </a:rPr>
              <a:t>onset </a:t>
            </a:r>
            <a:r>
              <a:rPr dirty="0" sz="1200">
                <a:latin typeface="Times New Roman"/>
                <a:cs typeface="Times New Roman"/>
              </a:rPr>
              <a:t>of monsoon rains, a careful note of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relevant circumstances </a:t>
            </a:r>
            <a:r>
              <a:rPr dirty="0" sz="1200">
                <a:latin typeface="Times New Roman"/>
                <a:cs typeface="Times New Roman"/>
              </a:rPr>
              <a:t>must be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transmitted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Education </a:t>
            </a:r>
            <a:r>
              <a:rPr dirty="0" sz="1200" spc="-5">
                <a:latin typeface="Times New Roman"/>
                <a:cs typeface="Times New Roman"/>
              </a:rPr>
              <a:t>Office </a:t>
            </a:r>
            <a:r>
              <a:rPr dirty="0" sz="1200">
                <a:latin typeface="Times New Roman"/>
                <a:cs typeface="Times New Roman"/>
              </a:rPr>
              <a:t>at the </a:t>
            </a:r>
            <a:r>
              <a:rPr dirty="0" sz="1200" spc="-5">
                <a:latin typeface="Times New Roman"/>
                <a:cs typeface="Times New Roman"/>
              </a:rPr>
              <a:t>earliest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opportunity.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case the school day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shortened owing to </a:t>
            </a:r>
            <a:r>
              <a:rPr dirty="0" sz="1200" spc="-5">
                <a:latin typeface="Times New Roman"/>
                <a:cs typeface="Times New Roman"/>
              </a:rPr>
              <a:t>monsoon </a:t>
            </a:r>
            <a:r>
              <a:rPr dirty="0" sz="1200">
                <a:latin typeface="Times New Roman"/>
                <a:cs typeface="Times New Roman"/>
              </a:rPr>
              <a:t>rains, the Education Office must 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informed immediately.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Education Office must be </a:t>
            </a:r>
            <a:r>
              <a:rPr dirty="0" sz="1200" spc="-5">
                <a:latin typeface="Times New Roman"/>
                <a:cs typeface="Times New Roman"/>
              </a:rPr>
              <a:t>informed as </a:t>
            </a:r>
            <a:r>
              <a:rPr dirty="0" sz="1200">
                <a:latin typeface="Times New Roman"/>
                <a:cs typeface="Times New Roman"/>
              </a:rPr>
              <a:t>soon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possible if </a:t>
            </a:r>
            <a:r>
              <a:rPr dirty="0" sz="1200" spc="-5">
                <a:latin typeface="Times New Roman"/>
                <a:cs typeface="Times New Roman"/>
              </a:rPr>
              <a:t>monsoon </a:t>
            </a:r>
            <a:r>
              <a:rPr dirty="0" sz="1200">
                <a:latin typeface="Times New Roman"/>
                <a:cs typeface="Times New Roman"/>
              </a:rPr>
              <a:t>rains </a:t>
            </a:r>
            <a:r>
              <a:rPr dirty="0" sz="1200" spc="-5">
                <a:latin typeface="Times New Roman"/>
                <a:cs typeface="Times New Roman"/>
              </a:rPr>
              <a:t>make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end school earlier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looked at different </a:t>
            </a:r>
            <a:r>
              <a:rPr dirty="0" sz="1200" spc="-5">
                <a:latin typeface="Times New Roman"/>
                <a:cs typeface="Times New Roman"/>
              </a:rPr>
              <a:t>samples </a:t>
            </a:r>
            <a:r>
              <a:rPr dirty="0" sz="1200">
                <a:latin typeface="Times New Roman"/>
                <a:cs typeface="Times New Roman"/>
              </a:rPr>
              <a:t>of paraphrases – single sentences, </a:t>
            </a:r>
            <a:r>
              <a:rPr dirty="0" sz="1200" spc="-5">
                <a:latin typeface="Times New Roman"/>
                <a:cs typeface="Times New Roman"/>
              </a:rPr>
              <a:t>short prose passages,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poem, </a:t>
            </a:r>
            <a:r>
              <a:rPr dirty="0" sz="1200">
                <a:latin typeface="Times New Roman"/>
                <a:cs typeface="Times New Roman"/>
              </a:rPr>
              <a:t>and a </a:t>
            </a:r>
            <a:r>
              <a:rPr dirty="0" sz="1200" spc="-5">
                <a:latin typeface="Times New Roman"/>
                <a:cs typeface="Times New Roman"/>
              </a:rPr>
              <a:t>news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410"/>
              </a:lnSpc>
              <a:spcBef>
                <a:spcPts val="5"/>
              </a:spcBef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Paraphrasing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time. </a:t>
            </a:r>
            <a:r>
              <a:rPr dirty="0" sz="1200">
                <a:latin typeface="Times New Roman"/>
                <a:cs typeface="Times New Roman"/>
              </a:rPr>
              <a:t>It cannot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hastily.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69545" algn="l"/>
              </a:tabLst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paraphrase on no account, you must </a:t>
            </a:r>
            <a:r>
              <a:rPr dirty="0" sz="1200">
                <a:latin typeface="Times New Roman"/>
                <a:cs typeface="Times New Roman"/>
              </a:rPr>
              <a:t>introduce anything which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original, </a:t>
            </a:r>
            <a:r>
              <a:rPr dirty="0" sz="1200">
                <a:latin typeface="Times New Roman"/>
                <a:cs typeface="Times New Roman"/>
              </a:rPr>
              <a:t> however,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much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wish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to;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paraphrase.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original.</a:t>
            </a:r>
            <a:r>
              <a:rPr dirty="0" sz="1200" spc="-5">
                <a:latin typeface="Times New Roman"/>
                <a:cs typeface="Times New Roman"/>
              </a:rPr>
              <a:t> Some words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cannot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suitably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replaced.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paraphrase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neither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expansion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begin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you learned how to </a:t>
            </a:r>
            <a:r>
              <a:rPr dirty="0" sz="1200" spc="-5">
                <a:latin typeface="Times New Roman"/>
                <a:cs typeface="Times New Roman"/>
              </a:rPr>
              <a:t>express yourself </a:t>
            </a:r>
            <a:r>
              <a:rPr dirty="0" sz="1200">
                <a:latin typeface="Times New Roman"/>
                <a:cs typeface="Times New Roman"/>
              </a:rPr>
              <a:t>in a different </a:t>
            </a:r>
            <a:r>
              <a:rPr dirty="0" sz="1200" spc="-5">
                <a:latin typeface="Times New Roman"/>
                <a:cs typeface="Times New Roman"/>
              </a:rPr>
              <a:t>way. Paraphrasing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useful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skill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develop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abilities.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-41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Writing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Summary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Today’s lesson deals with another </a:t>
            </a:r>
            <a:r>
              <a:rPr dirty="0" sz="1200" spc="-5">
                <a:latin typeface="Times New Roman"/>
                <a:cs typeface="Times New Roman"/>
              </a:rPr>
              <a:t>writing skill </a:t>
            </a:r>
            <a:r>
              <a:rPr dirty="0" sz="1200">
                <a:latin typeface="Times New Roman"/>
                <a:cs typeface="Times New Roman"/>
              </a:rPr>
              <a:t>– how to write a </a:t>
            </a:r>
            <a:r>
              <a:rPr dirty="0" sz="1200" spc="-5">
                <a:latin typeface="Times New Roman"/>
                <a:cs typeface="Times New Roman"/>
              </a:rPr>
              <a:t>summary. A summary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 </a:t>
            </a:r>
            <a:r>
              <a:rPr dirty="0" sz="1200">
                <a:latin typeface="Times New Roman"/>
                <a:cs typeface="Times New Roman"/>
              </a:rPr>
              <a:t>to a paraphrase except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a summary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usually </a:t>
            </a:r>
            <a:r>
              <a:rPr dirty="0" sz="1200" spc="-5">
                <a:latin typeface="Times New Roman"/>
                <a:cs typeface="Times New Roman"/>
              </a:rPr>
              <a:t>shorter. When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summarize,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compress </a:t>
            </a:r>
            <a:r>
              <a:rPr dirty="0" sz="1200">
                <a:latin typeface="Times New Roman"/>
                <a:cs typeface="Times New Roman"/>
              </a:rPr>
              <a:t>large </a:t>
            </a:r>
            <a:r>
              <a:rPr dirty="0" sz="1200" spc="-5">
                <a:latin typeface="Times New Roman"/>
                <a:cs typeface="Times New Roman"/>
              </a:rPr>
              <a:t>amounts </a:t>
            </a:r>
            <a:r>
              <a:rPr dirty="0" sz="1200">
                <a:latin typeface="Times New Roman"/>
                <a:cs typeface="Times New Roman"/>
              </a:rPr>
              <a:t>of information into the </a:t>
            </a:r>
            <a:r>
              <a:rPr dirty="0" sz="1200" spc="-5">
                <a:latin typeface="Times New Roman"/>
                <a:cs typeface="Times New Roman"/>
              </a:rPr>
              <a:t>fewest </a:t>
            </a:r>
            <a:r>
              <a:rPr dirty="0" sz="1200">
                <a:latin typeface="Times New Roman"/>
                <a:cs typeface="Times New Roman"/>
              </a:rPr>
              <a:t>possible sentences. In order to do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include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only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points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supporting points,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leaving out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details.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summary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precis (French word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b="1">
                <a:latin typeface="Times New Roman"/>
                <a:cs typeface="Times New Roman"/>
              </a:rPr>
              <a:t>brief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clear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b="1">
                <a:latin typeface="Times New Roman"/>
                <a:cs typeface="Times New Roman"/>
              </a:rPr>
              <a:t>connected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b="1">
                <a:latin typeface="Times New Roman"/>
                <a:cs typeface="Times New Roman"/>
              </a:rPr>
              <a:t>readable </a:t>
            </a:r>
            <a:r>
              <a:rPr dirty="0" sz="1200" spc="-5" b="1">
                <a:latin typeface="Times New Roman"/>
                <a:cs typeface="Times New Roman"/>
              </a:rPr>
              <a:t>shape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substance of </a:t>
            </a:r>
            <a:r>
              <a:rPr dirty="0" sz="1200">
                <a:latin typeface="Times New Roman"/>
                <a:cs typeface="Times New Roman"/>
              </a:rPr>
              <a:t>a longer </a:t>
            </a:r>
            <a:r>
              <a:rPr dirty="0" sz="1200" spc="-5">
                <a:latin typeface="Times New Roman"/>
                <a:cs typeface="Times New Roman"/>
              </a:rPr>
              <a:t>passage. </a:t>
            </a:r>
            <a:r>
              <a:rPr dirty="0" sz="1200">
                <a:latin typeface="Times New Roman"/>
                <a:cs typeface="Times New Roman"/>
              </a:rPr>
              <a:t> Definitions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useful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dull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summarize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really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sensible.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Definition: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summary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precis (French word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brief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clear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statement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connected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readable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shape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substance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foreign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examiners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ability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English. A </a:t>
            </a:r>
            <a:r>
              <a:rPr dirty="0" sz="1200">
                <a:latin typeface="Times New Roman"/>
                <a:cs typeface="Times New Roman"/>
              </a:rPr>
              <a:t>summary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you;</a:t>
            </a:r>
            <a:endParaRPr sz="1200">
              <a:latin typeface="Times New Roman"/>
              <a:cs typeface="Times New Roman"/>
            </a:endParaRPr>
          </a:p>
          <a:p>
            <a:pPr marL="143510" indent="-131445">
              <a:lnSpc>
                <a:spcPts val="1315"/>
              </a:lnSpc>
              <a:buAutoNum type="romanLcParenR"/>
              <a:tabLst>
                <a:tab pos="144145" algn="l"/>
              </a:tabLst>
            </a:pP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thinking.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romanLcParenR"/>
              <a:tabLst>
                <a:tab pos="19748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enables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own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somebody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else’s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those ideas.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15"/>
              </a:lnSpc>
              <a:buAutoNum type="romanLcParenR"/>
              <a:tabLst>
                <a:tab pos="229235" algn="l"/>
              </a:tabLst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carefully.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80"/>
              </a:lnSpc>
              <a:buAutoNum type="romanLcParenR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Read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contains. 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points.</a:t>
            </a: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65"/>
              </a:spcBef>
              <a:buAutoNum type="romanLcParenR"/>
              <a:tabLst>
                <a:tab pos="246379" algn="l"/>
              </a:tabLst>
            </a:pPr>
            <a:r>
              <a:rPr dirty="0" sz="1200">
                <a:latin typeface="Times New Roman"/>
                <a:cs typeface="Times New Roman"/>
              </a:rPr>
              <a:t>Strike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essential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meaning,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repetitions,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illustrations,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anecdotes,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comparisons, </a:t>
            </a:r>
            <a:r>
              <a:rPr dirty="0" sz="1200">
                <a:latin typeface="Times New Roman"/>
                <a:cs typeface="Times New Roman"/>
              </a:rPr>
              <a:t>etc...</a:t>
            </a:r>
            <a:endParaRPr sz="1200">
              <a:latin typeface="Times New Roman"/>
              <a:cs typeface="Times New Roman"/>
            </a:endParaRPr>
          </a:p>
          <a:p>
            <a:pPr marL="219710" indent="-207645">
              <a:lnSpc>
                <a:spcPts val="1315"/>
              </a:lnSpc>
              <a:buAutoNum type="romanLcParenR"/>
              <a:tabLst>
                <a:tab pos="220345" algn="l"/>
              </a:tabLst>
            </a:pPr>
            <a:r>
              <a:rPr dirty="0" sz="1200">
                <a:latin typeface="Times New Roman"/>
                <a:cs typeface="Times New Roman"/>
              </a:rPr>
              <a:t>Arrange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way.</a:t>
            </a:r>
            <a:endParaRPr sz="1200">
              <a:latin typeface="Times New Roman"/>
              <a:cs typeface="Times New Roman"/>
            </a:endParaRPr>
          </a:p>
          <a:p>
            <a:pPr marL="262890" indent="-250825">
              <a:lnSpc>
                <a:spcPts val="1410"/>
              </a:lnSpc>
              <a:buAutoNum type="romanLcParenR"/>
              <a:tabLst>
                <a:tab pos="263525" algn="l"/>
              </a:tabLst>
            </a:pPr>
            <a:r>
              <a:rPr dirty="0" sz="1200" spc="-5">
                <a:latin typeface="Times New Roman"/>
                <a:cs typeface="Times New Roman"/>
              </a:rPr>
              <a:t>Write summary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first draft.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Polish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draft: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summary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brief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clear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connected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readable</a:t>
            </a:r>
            <a:r>
              <a:rPr dirty="0" sz="1200" spc="2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shape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substance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longer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passage.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noticed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underlined.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middle </a:t>
            </a:r>
            <a:r>
              <a:rPr dirty="0" sz="1200">
                <a:latin typeface="Times New Roman"/>
                <a:cs typeface="Times New Roman"/>
              </a:rPr>
              <a:t>ages people had no ideas of </a:t>
            </a:r>
            <a:r>
              <a:rPr dirty="0" sz="1200" spc="-5">
                <a:latin typeface="Times New Roman"/>
                <a:cs typeface="Times New Roman"/>
              </a:rPr>
              <a:t>scientific farming. </a:t>
            </a:r>
            <a:r>
              <a:rPr dirty="0" sz="1200">
                <a:latin typeface="Times New Roman"/>
                <a:cs typeface="Times New Roman"/>
              </a:rPr>
              <a:t>Spare cattle were killed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salted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winter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eating.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Spices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East.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Turks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supply. Voyages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exploration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undertaken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find</a:t>
            </a:r>
            <a:r>
              <a:rPr dirty="0" sz="1200" spc="-10">
                <a:latin typeface="Times New Roman"/>
                <a:cs typeface="Times New Roman"/>
              </a:rPr>
              <a:t> spices.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people in the </a:t>
            </a:r>
            <a:r>
              <a:rPr dirty="0" sz="1200" spc="-5">
                <a:latin typeface="Times New Roman"/>
                <a:cs typeface="Times New Roman"/>
              </a:rPr>
              <a:t>middle </a:t>
            </a:r>
            <a:r>
              <a:rPr dirty="0" sz="1200">
                <a:latin typeface="Times New Roman"/>
                <a:cs typeface="Times New Roman"/>
              </a:rPr>
              <a:t>ages had no idea of </a:t>
            </a:r>
            <a:r>
              <a:rPr dirty="0" sz="1200" spc="-5">
                <a:latin typeface="Times New Roman"/>
                <a:cs typeface="Times New Roman"/>
              </a:rPr>
              <a:t>scientific farming, </a:t>
            </a:r>
            <a:r>
              <a:rPr dirty="0" sz="1200">
                <a:latin typeface="Times New Roman"/>
                <a:cs typeface="Times New Roman"/>
              </a:rPr>
              <a:t>spare </a:t>
            </a:r>
            <a:r>
              <a:rPr dirty="0" sz="1200" spc="-5">
                <a:latin typeface="Times New Roman"/>
                <a:cs typeface="Times New Roman"/>
              </a:rPr>
              <a:t>cattle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 to be</a:t>
            </a:r>
            <a:r>
              <a:rPr dirty="0" sz="1200" spc="-5">
                <a:latin typeface="Times New Roman"/>
                <a:cs typeface="Times New Roman"/>
              </a:rPr>
              <a:t> killed </a:t>
            </a:r>
            <a:r>
              <a:rPr dirty="0" sz="1200">
                <a:latin typeface="Times New Roman"/>
                <a:cs typeface="Times New Roman"/>
              </a:rPr>
              <a:t> and salted for winter eating.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This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unappetizing meat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led to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demand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spices,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reason</a:t>
            </a:r>
            <a:r>
              <a:rPr dirty="0" sz="1200">
                <a:latin typeface="Times New Roman"/>
                <a:cs typeface="Times New Roman"/>
              </a:rPr>
              <a:t> for the great voyages of exploration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the shortage of </a:t>
            </a:r>
            <a:r>
              <a:rPr dirty="0" sz="1200" spc="-5">
                <a:latin typeface="Times New Roman"/>
                <a:cs typeface="Times New Roman"/>
              </a:rPr>
              <a:t>spices </a:t>
            </a:r>
            <a:r>
              <a:rPr dirty="0" sz="1200">
                <a:latin typeface="Times New Roman"/>
                <a:cs typeface="Times New Roman"/>
              </a:rPr>
              <a:t>when the trucks cut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overland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supply.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10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>
                <a:latin typeface="Times New Roman"/>
                <a:cs typeface="Times New Roman"/>
              </a:rPr>
              <a:t> of phrases that </a:t>
            </a:r>
            <a:r>
              <a:rPr dirty="0" sz="1200" spc="-5">
                <a:latin typeface="Times New Roman"/>
                <a:cs typeface="Times New Roman"/>
              </a:rPr>
              <a:t>would be </a:t>
            </a:r>
            <a:r>
              <a:rPr dirty="0" sz="1200">
                <a:latin typeface="Times New Roman"/>
                <a:cs typeface="Times New Roman"/>
              </a:rPr>
              <a:t>better expressed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138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50165" marR="4254500" indent="-63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disagreeable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nature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delightful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description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brief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manner</a:t>
            </a:r>
            <a:endParaRPr sz="1200">
              <a:latin typeface="Times New Roman"/>
              <a:cs typeface="Times New Roman"/>
            </a:endParaRPr>
          </a:p>
          <a:p>
            <a:pPr marL="50800" marR="4869815" indent="-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stupid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kind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some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wordily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wordiness </a:t>
            </a:r>
            <a:r>
              <a:rPr dirty="0" sz="1200">
                <a:latin typeface="Times New Roman"/>
                <a:cs typeface="Times New Roman"/>
              </a:rPr>
              <a:t>might be avoided.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2491231"/>
            <a:ext cx="227012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-Boys whose way of life is cast </a:t>
            </a:r>
            <a:r>
              <a:rPr dirty="0" sz="1200">
                <a:latin typeface="Times New Roman"/>
                <a:cs typeface="Times New Roman"/>
              </a:rPr>
              <a:t>in 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urban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environment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243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2031" y="2666492"/>
            <a:ext cx="1126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3017011"/>
            <a:ext cx="110998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88265" marR="5080" indent="-762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(5)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02283" y="3192271"/>
            <a:ext cx="614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3542791"/>
            <a:ext cx="177355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88265" marR="731520" indent="-762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attention 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88265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activities with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eye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cultivation of the qualities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initiative, </a:t>
            </a:r>
            <a:r>
              <a:rPr dirty="0" sz="1200">
                <a:latin typeface="Times New Roman"/>
                <a:cs typeface="Times New Roman"/>
              </a:rPr>
              <a:t>etc.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(18)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45287" y="3542791"/>
            <a:ext cx="178625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attention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endParaRPr sz="1200">
              <a:latin typeface="Times New Roman"/>
              <a:cs typeface="Times New Roman"/>
            </a:endParaRPr>
          </a:p>
          <a:p>
            <a:pPr marL="125730" marR="5080" indent="4572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activities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cultivate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initiative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(10)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4594352"/>
            <a:ext cx="132207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0" marR="5080" indent="-1143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Judged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light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(7)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45704" y="4594352"/>
            <a:ext cx="16306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Judge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(4)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5120132"/>
            <a:ext cx="124079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88900" marR="5080" indent="-762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(7)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45388" y="5120132"/>
            <a:ext cx="1659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(5)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5647435"/>
            <a:ext cx="5628005" cy="3538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Writing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Briefly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&amp;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Clearly: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7462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connection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duration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team,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punishments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tendency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 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progresses.</a:t>
            </a:r>
            <a:r>
              <a:rPr dirty="0" sz="1200">
                <a:latin typeface="Times New Roman"/>
                <a:cs typeface="Times New Roman"/>
              </a:rPr>
              <a:t> (29)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interesting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punishments</a:t>
            </a:r>
            <a:r>
              <a:rPr dirty="0" sz="1200">
                <a:latin typeface="Times New Roman"/>
                <a:cs typeface="Times New Roman"/>
              </a:rPr>
              <a:t> increase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progresses</a:t>
            </a:r>
            <a:r>
              <a:rPr dirty="0" sz="1200">
                <a:latin typeface="Times New Roman"/>
                <a:cs typeface="Times New Roman"/>
              </a:rPr>
              <a:t> (13)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buAutoNum type="arabicPeriod" startAt="2"/>
              <a:tabLst>
                <a:tab pos="174625" algn="l"/>
              </a:tabLst>
            </a:pPr>
            <a:r>
              <a:rPr dirty="0" sz="1200">
                <a:latin typeface="Times New Roman"/>
                <a:cs typeface="Times New Roman"/>
              </a:rPr>
              <a:t>Having regard to the recent </a:t>
            </a:r>
            <a:r>
              <a:rPr dirty="0" sz="1200" spc="-5">
                <a:latin typeface="Times New Roman"/>
                <a:cs typeface="Times New Roman"/>
              </a:rPr>
              <a:t>increase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cases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malaria </a:t>
            </a:r>
            <a:r>
              <a:rPr dirty="0" sz="1200">
                <a:latin typeface="Times New Roman"/>
                <a:cs typeface="Times New Roman"/>
              </a:rPr>
              <a:t>in this area,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clearly desirable that the </a:t>
            </a:r>
            <a:r>
              <a:rPr dirty="0" sz="1200" spc="-5">
                <a:latin typeface="Times New Roman"/>
                <a:cs typeface="Times New Roman"/>
              </a:rPr>
              <a:t>scheme</a:t>
            </a:r>
            <a:r>
              <a:rPr dirty="0" sz="1200">
                <a:latin typeface="Times New Roman"/>
                <a:cs typeface="Times New Roman"/>
              </a:rPr>
              <a:t> for the </a:t>
            </a:r>
            <a:r>
              <a:rPr dirty="0" sz="1200" spc="-5">
                <a:latin typeface="Times New Roman"/>
                <a:cs typeface="Times New Roman"/>
              </a:rPr>
              <a:t>provision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doctors should be put into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effect.</a:t>
            </a:r>
            <a:r>
              <a:rPr dirty="0" sz="1200" spc="-5">
                <a:latin typeface="Times New Roman"/>
                <a:cs typeface="Times New Roman"/>
              </a:rPr>
              <a:t> (34)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recent increase in the </a:t>
            </a:r>
            <a:r>
              <a:rPr dirty="0" sz="1200" spc="-5" i="1">
                <a:latin typeface="Times New Roman"/>
                <a:cs typeface="Times New Roman"/>
              </a:rPr>
              <a:t>number </a:t>
            </a:r>
            <a:r>
              <a:rPr dirty="0" sz="1200" i="1">
                <a:latin typeface="Times New Roman"/>
                <a:cs typeface="Times New Roman"/>
              </a:rPr>
              <a:t>of </a:t>
            </a:r>
            <a:r>
              <a:rPr dirty="0" sz="1200" spc="-5" i="1">
                <a:latin typeface="Times New Roman"/>
                <a:cs typeface="Times New Roman"/>
              </a:rPr>
              <a:t>malaria cases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this area requires </a:t>
            </a:r>
            <a:r>
              <a:rPr dirty="0" sz="1200" i="1">
                <a:latin typeface="Times New Roman"/>
                <a:cs typeface="Times New Roman"/>
              </a:rPr>
              <a:t>that </a:t>
            </a:r>
            <a:r>
              <a:rPr dirty="0" sz="1200" spc="-5" i="1">
                <a:latin typeface="Times New Roman"/>
                <a:cs typeface="Times New Roman"/>
              </a:rPr>
              <a:t>more doctors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should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 posted (19)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AutoNum type="arabicPeriod" startAt="3"/>
              <a:tabLst>
                <a:tab pos="172085" algn="l"/>
              </a:tabLst>
            </a:pPr>
            <a:r>
              <a:rPr dirty="0" sz="120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men sustained serious bodily </a:t>
            </a:r>
            <a:r>
              <a:rPr dirty="0" sz="1200">
                <a:latin typeface="Times New Roman"/>
                <a:cs typeface="Times New Roman"/>
              </a:rPr>
              <a:t>injury when their </a:t>
            </a:r>
            <a:r>
              <a:rPr dirty="0" sz="1200" spc="-5">
                <a:latin typeface="Times New Roman"/>
                <a:cs typeface="Times New Roman"/>
              </a:rPr>
              <a:t>car came </a:t>
            </a:r>
            <a:r>
              <a:rPr dirty="0" sz="120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collision </a:t>
            </a:r>
            <a:r>
              <a:rPr dirty="0" sz="1200">
                <a:latin typeface="Times New Roman"/>
                <a:cs typeface="Times New Roman"/>
              </a:rPr>
              <a:t>with a </a:t>
            </a:r>
            <a:r>
              <a:rPr dirty="0" sz="1200" spc="-5">
                <a:latin typeface="Times New Roman"/>
                <a:cs typeface="Times New Roman"/>
              </a:rPr>
              <a:t>truck </a:t>
            </a:r>
            <a:r>
              <a:rPr dirty="0" sz="1200">
                <a:latin typeface="Times New Roman"/>
                <a:cs typeface="Times New Roman"/>
              </a:rPr>
              <a:t> today.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(16)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25"/>
              </a:lnSpc>
            </a:pPr>
            <a:r>
              <a:rPr dirty="0" sz="1200" i="1">
                <a:latin typeface="Times New Roman"/>
                <a:cs typeface="Times New Roman"/>
              </a:rPr>
              <a:t>Today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two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seriously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injured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when their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collided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with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truck.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(13)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REPETIITON: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People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seem,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sometime,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impressive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say</a:t>
            </a:r>
            <a:r>
              <a:rPr dirty="0" sz="1200">
                <a:latin typeface="Times New Roman"/>
                <a:cs typeface="Times New Roman"/>
              </a:rPr>
              <a:t> once. Actually repetition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weakness</a:t>
            </a:r>
            <a:r>
              <a:rPr dirty="0" sz="1200">
                <a:latin typeface="Times New Roman"/>
                <a:cs typeface="Times New Roman"/>
              </a:rPr>
              <a:t> not strength.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Avoiding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Useless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Repetition.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river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flood;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affairs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whole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without cease.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flood.</a:t>
            </a:r>
            <a:endParaRPr sz="1200">
              <a:latin typeface="Times New Roman"/>
              <a:cs typeface="Times New Roman"/>
            </a:endParaRPr>
          </a:p>
          <a:p>
            <a:pPr marL="12700" marR="226695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In the end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eventually agreed to </a:t>
            </a:r>
            <a:r>
              <a:rPr dirty="0" sz="1200" spc="-5">
                <a:latin typeface="Times New Roman"/>
                <a:cs typeface="Times New Roman"/>
              </a:rPr>
              <a:t>go by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route.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r>
              <a:rPr dirty="0" sz="1200">
                <a:latin typeface="Times New Roman"/>
                <a:cs typeface="Times New Roman"/>
              </a:rPr>
              <a:t> agreed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 </a:t>
            </a:r>
            <a:r>
              <a:rPr dirty="0" sz="1200">
                <a:latin typeface="Times New Roman"/>
                <a:cs typeface="Times New Roman"/>
              </a:rPr>
              <a:t>route.</a:t>
            </a:r>
            <a:endParaRPr sz="1200">
              <a:latin typeface="Times New Roman"/>
              <a:cs typeface="Times New Roman"/>
            </a:endParaRPr>
          </a:p>
          <a:p>
            <a:pPr marL="12700" marR="187706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warning,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unexpected,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unheralded,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us.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Without </a:t>
            </a:r>
            <a:r>
              <a:rPr dirty="0" sz="1200">
                <a:latin typeface="Times New Roman"/>
                <a:cs typeface="Times New Roman"/>
              </a:rPr>
              <a:t>warning the storm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broke on </a:t>
            </a:r>
            <a:r>
              <a:rPr dirty="0" sz="1200" spc="-5">
                <a:latin typeface="Times New Roman"/>
                <a:cs typeface="Times New Roman"/>
              </a:rPr>
              <a:t>us.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Putting Ideas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Together: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can do this by subordinating the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important ideas e.g.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dark;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risen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thief carefully opened the door of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house and </a:t>
            </a:r>
            <a:r>
              <a:rPr dirty="0" sz="1200" spc="-5">
                <a:latin typeface="Times New Roman"/>
                <a:cs typeface="Times New Roman"/>
              </a:rPr>
              <a:t>prepared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go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-5">
                <a:latin typeface="Times New Roman"/>
                <a:cs typeface="Times New Roman"/>
              </a:rPr>
              <a:t>his business. (36) </a:t>
            </a:r>
            <a:r>
              <a:rPr dirty="0" sz="1200">
                <a:latin typeface="Times New Roman"/>
                <a:cs typeface="Times New Roman"/>
              </a:rPr>
              <a:t> (Here,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phrases).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hour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after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sunset,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one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dark,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moonless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night,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thief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crept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about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business </a:t>
            </a:r>
            <a:r>
              <a:rPr dirty="0" sz="1200" i="1">
                <a:latin typeface="Times New Roman"/>
                <a:cs typeface="Times New Roman"/>
              </a:rPr>
              <a:t>(20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words)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(Here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instead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36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little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same).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26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Shorten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efforts,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although,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best he could make, ended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failure.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efforts failed.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Athar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green.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Athar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came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upon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green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horses,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purpose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playing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polo,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 to 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Mondays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every </a:t>
            </a:r>
            <a:r>
              <a:rPr dirty="0" sz="1200" spc="-5">
                <a:latin typeface="Times New Roman"/>
                <a:cs typeface="Times New Roman"/>
              </a:rPr>
              <a:t>two weeks.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0"/>
              </a:lnSpc>
            </a:pP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i="1">
                <a:latin typeface="Times New Roman"/>
                <a:cs typeface="Times New Roman"/>
              </a:rPr>
              <a:t> used </a:t>
            </a:r>
            <a:r>
              <a:rPr dirty="0" sz="1200" spc="-5" i="1">
                <a:latin typeface="Times New Roman"/>
                <a:cs typeface="Times New Roman"/>
              </a:rPr>
              <a:t>his</a:t>
            </a:r>
            <a:r>
              <a:rPr dirty="0" sz="1200" i="1">
                <a:latin typeface="Times New Roman"/>
                <a:cs typeface="Times New Roman"/>
              </a:rPr>
              <a:t> two </a:t>
            </a:r>
            <a:r>
              <a:rPr dirty="0" sz="1200" spc="-5" i="1">
                <a:latin typeface="Times New Roman"/>
                <a:cs typeface="Times New Roman"/>
              </a:rPr>
              <a:t>horses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i="1">
                <a:latin typeface="Times New Roman"/>
                <a:cs typeface="Times New Roman"/>
              </a:rPr>
              <a:t> playing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polo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Mondays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every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fortnight.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Four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samples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summary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writing: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 </a:t>
            </a:r>
            <a:r>
              <a:rPr dirty="0" sz="1200" spc="-5">
                <a:latin typeface="Times New Roman"/>
                <a:cs typeface="Times New Roman"/>
              </a:rPr>
              <a:t>Working </a:t>
            </a:r>
            <a:r>
              <a:rPr dirty="0" sz="1200">
                <a:latin typeface="Times New Roman"/>
                <a:cs typeface="Times New Roman"/>
              </a:rPr>
              <a:t>conditions in the nineteenth century seem barbaric today: </a:t>
            </a:r>
            <a:r>
              <a:rPr dirty="0" sz="1200" spc="-5">
                <a:latin typeface="Times New Roman"/>
                <a:cs typeface="Times New Roman"/>
              </a:rPr>
              <a:t>twelve-to-fourteen </a:t>
            </a:r>
            <a:r>
              <a:rPr dirty="0" sz="1200">
                <a:latin typeface="Times New Roman"/>
                <a:cs typeface="Times New Roman"/>
              </a:rPr>
              <a:t> hour work days; seven day </a:t>
            </a:r>
            <a:r>
              <a:rPr dirty="0" sz="1200" spc="-5">
                <a:latin typeface="Times New Roman"/>
                <a:cs typeface="Times New Roman"/>
              </a:rPr>
              <a:t>weeks; cramped, unsafe </a:t>
            </a:r>
            <a:r>
              <a:rPr dirty="0" sz="1200">
                <a:latin typeface="Times New Roman"/>
                <a:cs typeface="Times New Roman"/>
              </a:rPr>
              <a:t>factories; </a:t>
            </a:r>
            <a:r>
              <a:rPr dirty="0" sz="1200" spc="-5">
                <a:latin typeface="Times New Roman"/>
                <a:cs typeface="Times New Roman"/>
              </a:rPr>
              <a:t>marginal wages, </a:t>
            </a:r>
            <a:r>
              <a:rPr dirty="0" sz="1200">
                <a:latin typeface="Times New Roman"/>
                <a:cs typeface="Times New Roman"/>
              </a:rPr>
              <a:t>and no legal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protection. </a:t>
            </a:r>
            <a:r>
              <a:rPr dirty="0" sz="1200" spc="-5">
                <a:latin typeface="Times New Roman"/>
                <a:cs typeface="Times New Roman"/>
              </a:rPr>
              <a:t>Yet employers </a:t>
            </a:r>
            <a:r>
              <a:rPr dirty="0" sz="1200">
                <a:latin typeface="Times New Roman"/>
                <a:cs typeface="Times New Roman"/>
              </a:rPr>
              <a:t>seldom had </a:t>
            </a:r>
            <a:r>
              <a:rPr dirty="0" sz="1200" spc="-5">
                <a:latin typeface="Times New Roman"/>
                <a:cs typeface="Times New Roman"/>
              </a:rPr>
              <a:t>problems motivating </a:t>
            </a:r>
            <a:r>
              <a:rPr dirty="0" sz="1200">
                <a:latin typeface="Times New Roman"/>
                <a:cs typeface="Times New Roman"/>
              </a:rPr>
              <a:t>their workers: poverty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unemployment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5">
                <a:latin typeface="Times New Roman"/>
                <a:cs typeface="Times New Roman"/>
              </a:rPr>
              <a:t> so </a:t>
            </a:r>
            <a:r>
              <a:rPr dirty="0" sz="1200">
                <a:latin typeface="Times New Roman"/>
                <a:cs typeface="Times New Roman"/>
              </a:rPr>
              <a:t>widespread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welcome.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  <a:spcBef>
                <a:spcPts val="10"/>
              </a:spcBef>
            </a:pPr>
            <a:r>
              <a:rPr dirty="0" sz="1200" i="1">
                <a:latin typeface="Times New Roman"/>
                <a:cs typeface="Times New Roman"/>
              </a:rPr>
              <a:t>- Widespread poverty and unemployment made </a:t>
            </a:r>
            <a:r>
              <a:rPr dirty="0" sz="1200" spc="-5" i="1">
                <a:latin typeface="Times New Roman"/>
                <a:cs typeface="Times New Roman"/>
              </a:rPr>
              <a:t>nineteenth-century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workers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willing to </a:t>
            </a:r>
            <a:r>
              <a:rPr dirty="0" sz="1200" spc="-5" i="1">
                <a:latin typeface="Times New Roman"/>
                <a:cs typeface="Times New Roman"/>
              </a:rPr>
              <a:t>put </a:t>
            </a:r>
            <a:r>
              <a:rPr dirty="0" sz="1200" i="1">
                <a:latin typeface="Times New Roman"/>
                <a:cs typeface="Times New Roman"/>
              </a:rPr>
              <a:t> up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terrible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working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conditions.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Compromise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effective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coping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directly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conflict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frustration. We often recognize </a:t>
            </a:r>
            <a:r>
              <a:rPr dirty="0" sz="1200" spc="-5">
                <a:latin typeface="Times New Roman"/>
                <a:cs typeface="Times New Roman"/>
              </a:rPr>
              <a:t>that we </a:t>
            </a:r>
            <a:r>
              <a:rPr dirty="0" sz="1200">
                <a:latin typeface="Times New Roman"/>
                <a:cs typeface="Times New Roman"/>
              </a:rPr>
              <a:t>cannot </a:t>
            </a:r>
            <a:r>
              <a:rPr dirty="0" sz="1200" spc="-5">
                <a:latin typeface="Times New Roman"/>
                <a:cs typeface="Times New Roman"/>
              </a:rPr>
              <a:t>have </a:t>
            </a:r>
            <a:r>
              <a:rPr dirty="0" sz="1200">
                <a:latin typeface="Times New Roman"/>
                <a:cs typeface="Times New Roman"/>
              </a:rPr>
              <a:t>everything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want and that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cannot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like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compromise,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deciding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realistic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goal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goal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practical.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559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person who loves </a:t>
            </a:r>
            <a:r>
              <a:rPr dirty="0" sz="1200" spc="-5">
                <a:latin typeface="Times New Roman"/>
                <a:cs typeface="Times New Roman"/>
              </a:rPr>
              <a:t>animals </a:t>
            </a:r>
            <a:r>
              <a:rPr dirty="0" sz="1200">
                <a:latin typeface="Times New Roman"/>
                <a:cs typeface="Times New Roman"/>
              </a:rPr>
              <a:t>and greatly </a:t>
            </a:r>
            <a:r>
              <a:rPr dirty="0" sz="1200" spc="-5">
                <a:latin typeface="Times New Roman"/>
                <a:cs typeface="Times New Roman"/>
              </a:rPr>
              <a:t>wishes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become </a:t>
            </a:r>
            <a:r>
              <a:rPr dirty="0" sz="1200">
                <a:latin typeface="Times New Roman"/>
                <a:cs typeface="Times New Roman"/>
              </a:rPr>
              <a:t>a veterinarian may discover he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aptitude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biology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hoped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dissecting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distasteful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could never bring </a:t>
            </a:r>
            <a:r>
              <a:rPr dirty="0" sz="1200" spc="-5">
                <a:latin typeface="Times New Roman"/>
                <a:cs typeface="Times New Roman"/>
              </a:rPr>
              <a:t>himself </a:t>
            </a:r>
            <a:r>
              <a:rPr dirty="0" sz="1200">
                <a:latin typeface="Times New Roman"/>
                <a:cs typeface="Times New Roman"/>
              </a:rPr>
              <a:t>to operate on </a:t>
            </a:r>
            <a:r>
              <a:rPr dirty="0" sz="1200" spc="-5">
                <a:latin typeface="Times New Roman"/>
                <a:cs typeface="Times New Roman"/>
              </a:rPr>
              <a:t>animals.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compromise,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>
                <a:latin typeface="Times New Roman"/>
                <a:cs typeface="Times New Roman"/>
              </a:rPr>
              <a:t>decide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animal</a:t>
            </a:r>
            <a:r>
              <a:rPr dirty="0" sz="1200">
                <a:latin typeface="Times New Roman"/>
                <a:cs typeface="Times New Roman"/>
              </a:rPr>
              <a:t> technician, a person</a:t>
            </a:r>
            <a:r>
              <a:rPr dirty="0" sz="1200" spc="-5">
                <a:latin typeface="Times New Roman"/>
                <a:cs typeface="Times New Roman"/>
              </a:rPr>
              <a:t> who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assistant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veterinarian.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 indent="38100">
              <a:lnSpc>
                <a:spcPts val="138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-Compromise is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direct way of coping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which we decide on </a:t>
            </a:r>
            <a:r>
              <a:rPr dirty="0" sz="1200" i="1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more realistic solution </a:t>
            </a:r>
            <a:r>
              <a:rPr dirty="0" sz="1200" spc="-10" i="1">
                <a:latin typeface="Times New Roman"/>
                <a:cs typeface="Times New Roman"/>
              </a:rPr>
              <a:t>or 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goal since an ideal solution </a:t>
            </a:r>
            <a:r>
              <a:rPr dirty="0" sz="1200" spc="-5" i="1">
                <a:latin typeface="Times New Roman"/>
                <a:cs typeface="Times New Roman"/>
              </a:rPr>
              <a:t>or </a:t>
            </a:r>
            <a:r>
              <a:rPr dirty="0" sz="1200" i="1">
                <a:latin typeface="Times New Roman"/>
                <a:cs typeface="Times New Roman"/>
              </a:rPr>
              <a:t>goal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not practical.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example, a </a:t>
            </a:r>
            <a:r>
              <a:rPr dirty="0" sz="1200" spc="-5" i="1">
                <a:latin typeface="Times New Roman"/>
                <a:cs typeface="Times New Roman"/>
              </a:rPr>
              <a:t>person </a:t>
            </a:r>
            <a:r>
              <a:rPr dirty="0" sz="1200" i="1">
                <a:latin typeface="Times New Roman"/>
                <a:cs typeface="Times New Roman"/>
              </a:rPr>
              <a:t>not good in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biology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may decide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be 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animal </a:t>
            </a:r>
            <a:r>
              <a:rPr dirty="0" sz="1200" i="1">
                <a:latin typeface="Times New Roman"/>
                <a:cs typeface="Times New Roman"/>
              </a:rPr>
              <a:t>technician</a:t>
            </a:r>
            <a:r>
              <a:rPr dirty="0" sz="1200" spc="-5" i="1">
                <a:latin typeface="Times New Roman"/>
                <a:cs typeface="Times New Roman"/>
              </a:rPr>
              <a:t> rather </a:t>
            </a:r>
            <a:r>
              <a:rPr dirty="0" sz="1200" i="1">
                <a:latin typeface="Times New Roman"/>
                <a:cs typeface="Times New Roman"/>
              </a:rPr>
              <a:t>than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veterinarian.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33464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categorized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extended </a:t>
            </a:r>
            <a:r>
              <a:rPr dirty="0" sz="1200" spc="-5">
                <a:latin typeface="Times New Roman"/>
                <a:cs typeface="Times New Roman"/>
              </a:rPr>
              <a:t>family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which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than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generations of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kinship live together </a:t>
            </a:r>
            <a:r>
              <a:rPr dirty="0" sz="1200" spc="-5">
                <a:latin typeface="Times New Roman"/>
                <a:cs typeface="Times New Roman"/>
              </a:rPr>
              <a:t>either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 house or in </a:t>
            </a:r>
            <a:r>
              <a:rPr dirty="0" sz="1200" spc="-5">
                <a:latin typeface="Times New Roman"/>
                <a:cs typeface="Times New Roman"/>
              </a:rPr>
              <a:t>adjacent </a:t>
            </a:r>
            <a:r>
              <a:rPr dirty="0" sz="1200">
                <a:latin typeface="Times New Roman"/>
                <a:cs typeface="Times New Roman"/>
              </a:rPr>
              <a:t>dwellings. The </a:t>
            </a:r>
            <a:r>
              <a:rPr dirty="0" sz="1200" spc="-5">
                <a:latin typeface="Times New Roman"/>
                <a:cs typeface="Times New Roman"/>
              </a:rPr>
              <a:t>extended family, which is commonly found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traditional,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pre-industrial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societies,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large: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generations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contrast, the nuclear family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one in which the </a:t>
            </a:r>
            <a:r>
              <a:rPr dirty="0" sz="1200" spc="-5">
                <a:latin typeface="Times New Roman"/>
                <a:cs typeface="Times New Roman"/>
              </a:rPr>
              <a:t>family group consists only of </a:t>
            </a:r>
            <a:r>
              <a:rPr dirty="0" sz="1200">
                <a:latin typeface="Times New Roman"/>
                <a:cs typeface="Times New Roman"/>
              </a:rPr>
              <a:t> the parents and their dependent children. The nuclear </a:t>
            </a:r>
            <a:r>
              <a:rPr dirty="0" sz="1200" spc="-5">
                <a:latin typeface="Times New Roman"/>
                <a:cs typeface="Times New Roman"/>
              </a:rPr>
              <a:t>family is </a:t>
            </a:r>
            <a:r>
              <a:rPr dirty="0" sz="1200">
                <a:latin typeface="Times New Roman"/>
                <a:cs typeface="Times New Roman"/>
              </a:rPr>
              <a:t>the usual type in virtually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modern </a:t>
            </a:r>
            <a:r>
              <a:rPr dirty="0" sz="1200">
                <a:latin typeface="Times New Roman"/>
                <a:cs typeface="Times New Roman"/>
              </a:rPr>
              <a:t>industrialized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societies.</a:t>
            </a:r>
            <a:endParaRPr sz="1200">
              <a:latin typeface="Times New Roman"/>
              <a:cs typeface="Times New Roman"/>
            </a:endParaRPr>
          </a:p>
          <a:p>
            <a:pPr marL="12700" marR="619125">
              <a:lnSpc>
                <a:spcPts val="138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-There are </a:t>
            </a:r>
            <a:r>
              <a:rPr dirty="0" sz="1200" i="1">
                <a:latin typeface="Times New Roman"/>
                <a:cs typeface="Times New Roman"/>
              </a:rPr>
              <a:t>two basic types of families. </a:t>
            </a:r>
            <a:r>
              <a:rPr dirty="0" sz="1200" spc="-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extended family, which </a:t>
            </a:r>
            <a:r>
              <a:rPr dirty="0" sz="1200" spc="-5" i="1">
                <a:latin typeface="Times New Roman"/>
                <a:cs typeface="Times New Roman"/>
              </a:rPr>
              <a:t>is more </a:t>
            </a:r>
            <a:r>
              <a:rPr dirty="0" sz="1200" i="1">
                <a:latin typeface="Times New Roman"/>
                <a:cs typeface="Times New Roman"/>
              </a:rPr>
              <a:t>than 2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generations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living together,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i="1">
                <a:latin typeface="Times New Roman"/>
                <a:cs typeface="Times New Roman"/>
              </a:rPr>
              <a:t> common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pre-industrial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societies.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nuclear</a:t>
            </a:r>
            <a:r>
              <a:rPr dirty="0" sz="1200" i="1">
                <a:latin typeface="Times New Roman"/>
                <a:cs typeface="Times New Roman"/>
              </a:rPr>
              <a:t> family,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up of</a:t>
            </a:r>
            <a:r>
              <a:rPr dirty="0" sz="1200" spc="-5" i="1">
                <a:latin typeface="Times New Roman"/>
                <a:cs typeface="Times New Roman"/>
              </a:rPr>
              <a:t> parents</a:t>
            </a:r>
            <a:r>
              <a:rPr dirty="0" sz="1200" i="1">
                <a:latin typeface="Times New Roman"/>
                <a:cs typeface="Times New Roman"/>
              </a:rPr>
              <a:t> 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their dependant</a:t>
            </a:r>
            <a:r>
              <a:rPr dirty="0" sz="1200" spc="-5" i="1">
                <a:latin typeface="Times New Roman"/>
                <a:cs typeface="Times New Roman"/>
              </a:rPr>
              <a:t> children,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 usual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 industrialized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societies.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304165">
              <a:lnSpc>
                <a:spcPts val="1380"/>
              </a:lnSpc>
              <a:spcBef>
                <a:spcPts val="5"/>
              </a:spcBef>
              <a:buAutoNum type="arabicPeriod" startAt="4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Again, when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feel fear of the dog,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learn to avoid </a:t>
            </a:r>
            <a:r>
              <a:rPr dirty="0" sz="1200" spc="-5">
                <a:latin typeface="Times New Roman"/>
                <a:cs typeface="Times New Roman"/>
              </a:rPr>
              <a:t>similar </a:t>
            </a:r>
            <a:r>
              <a:rPr dirty="0" sz="1200">
                <a:latin typeface="Times New Roman"/>
                <a:cs typeface="Times New Roman"/>
              </a:rPr>
              <a:t>situations. Finally,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emotions </a:t>
            </a:r>
            <a:r>
              <a:rPr dirty="0" sz="1200">
                <a:latin typeface="Times New Roman"/>
                <a:cs typeface="Times New Roman"/>
              </a:rPr>
              <a:t>help regulate social interaction. </a:t>
            </a:r>
            <a:r>
              <a:rPr dirty="0" sz="1200" spc="-5">
                <a:latin typeface="Times New Roman"/>
                <a:cs typeface="Times New Roman"/>
              </a:rPr>
              <a:t>Our </a:t>
            </a:r>
            <a:r>
              <a:rPr dirty="0" sz="1200">
                <a:latin typeface="Times New Roman"/>
                <a:cs typeface="Times New Roman"/>
              </a:rPr>
              <a:t>observation of other people’s </a:t>
            </a:r>
            <a:r>
              <a:rPr dirty="0" sz="1200" spc="-5">
                <a:latin typeface="Times New Roman"/>
                <a:cs typeface="Times New Roman"/>
              </a:rPr>
              <a:t>emotional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determines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respond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 person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experiencing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fear,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may be </a:t>
            </a:r>
            <a:r>
              <a:rPr dirty="0" sz="1200" spc="-5">
                <a:latin typeface="Times New Roman"/>
                <a:cs typeface="Times New Roman"/>
              </a:rPr>
              <a:t>moved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comfort</a:t>
            </a:r>
            <a:r>
              <a:rPr dirty="0" sz="1200">
                <a:latin typeface="Times New Roman"/>
                <a:cs typeface="Times New Roman"/>
              </a:rPr>
              <a:t> and reassure </a:t>
            </a:r>
            <a:r>
              <a:rPr dirty="0" sz="1200" spc="-5"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  <a:p>
            <a:pPr marL="12700" marR="290830" indent="38100">
              <a:lnSpc>
                <a:spcPts val="1380"/>
              </a:lnSpc>
              <a:spcBef>
                <a:spcPts val="5"/>
              </a:spcBef>
            </a:pPr>
            <a:r>
              <a:rPr dirty="0" sz="1200" i="1">
                <a:latin typeface="Times New Roman"/>
                <a:cs typeface="Times New Roman"/>
              </a:rPr>
              <a:t>-Psychologist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distinguished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3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functions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emotions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our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lives.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Emotions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prepare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take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action,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shape</a:t>
            </a:r>
            <a:r>
              <a:rPr dirty="0" sz="1200" spc="-5" i="1">
                <a:latin typeface="Times New Roman"/>
                <a:cs typeface="Times New Roman"/>
              </a:rPr>
              <a:t> our </a:t>
            </a:r>
            <a:r>
              <a:rPr dirty="0" sz="1200" i="1">
                <a:latin typeface="Times New Roman"/>
                <a:cs typeface="Times New Roman"/>
              </a:rPr>
              <a:t>future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behavior,</a:t>
            </a:r>
            <a:r>
              <a:rPr dirty="0" sz="1200" spc="-5" i="1">
                <a:latin typeface="Times New Roman"/>
                <a:cs typeface="Times New Roman"/>
              </a:rPr>
              <a:t> or </a:t>
            </a:r>
            <a:r>
              <a:rPr dirty="0" sz="1200" i="1">
                <a:latin typeface="Times New Roman"/>
                <a:cs typeface="Times New Roman"/>
              </a:rPr>
              <a:t>regulate</a:t>
            </a:r>
            <a:r>
              <a:rPr dirty="0" sz="1200" spc="-5" i="1">
                <a:latin typeface="Times New Roman"/>
                <a:cs typeface="Times New Roman"/>
              </a:rPr>
              <a:t> our social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interaction.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28892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Today’s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dealt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writing</a:t>
            </a:r>
            <a:r>
              <a:rPr dirty="0" sz="1200">
                <a:latin typeface="Times New Roman"/>
                <a:cs typeface="Times New Roman"/>
              </a:rPr>
              <a:t> skill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>
                <a:latin typeface="Times New Roman"/>
                <a:cs typeface="Times New Roman"/>
              </a:rPr>
              <a:t>summarizing</a:t>
            </a:r>
            <a:r>
              <a:rPr dirty="0" sz="1200">
                <a:latin typeface="Times New Roman"/>
                <a:cs typeface="Times New Roman"/>
              </a:rPr>
              <a:t> 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required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>
                <a:latin typeface="Times New Roman"/>
                <a:cs typeface="Times New Roman"/>
              </a:rPr>
              <a:t> given practice in summarizing &amp; </a:t>
            </a:r>
            <a:r>
              <a:rPr dirty="0" sz="1200" spc="-5">
                <a:latin typeface="Times New Roman"/>
                <a:cs typeface="Times New Roman"/>
              </a:rPr>
              <a:t>shown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samples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summaries.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996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-42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Tenses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Passive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this lesson first, we shall discuss </a:t>
            </a:r>
            <a:r>
              <a:rPr dirty="0" sz="1200">
                <a:latin typeface="Times New Roman"/>
                <a:cs typeface="Times New Roman"/>
              </a:rPr>
              <a:t>verb tenses and the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pose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learners of </a:t>
            </a:r>
            <a:r>
              <a:rPr dirty="0" sz="1200">
                <a:latin typeface="Times New Roman"/>
                <a:cs typeface="Times New Roman"/>
              </a:rPr>
              <a:t> 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we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5">
                <a:latin typeface="Times New Roman"/>
                <a:cs typeface="Times New Roman"/>
              </a:rPr>
              <a:t> examine passive tenses.</a:t>
            </a: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an English sentence, the verb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important word.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through the action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described </a:t>
            </a:r>
            <a:r>
              <a:rPr dirty="0" sz="1200">
                <a:latin typeface="Times New Roman"/>
                <a:cs typeface="Times New Roman"/>
              </a:rPr>
              <a:t>by the </a:t>
            </a:r>
            <a:r>
              <a:rPr dirty="0" sz="1200" spc="-5">
                <a:latin typeface="Times New Roman"/>
                <a:cs typeface="Times New Roman"/>
              </a:rPr>
              <a:t>verb that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 comes alive. As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result, </a:t>
            </a:r>
            <a:r>
              <a:rPr dirty="0" sz="1200">
                <a:latin typeface="Times New Roman"/>
                <a:cs typeface="Times New Roman"/>
              </a:rPr>
              <a:t>the verb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lifeblood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Among </a:t>
            </a:r>
            <a:r>
              <a:rPr dirty="0" sz="1200">
                <a:latin typeface="Times New Roman"/>
                <a:cs typeface="Times New Roman"/>
              </a:rPr>
              <a:t>other properties, verbs tell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5">
                <a:latin typeface="Times New Roman"/>
                <a:cs typeface="Times New Roman"/>
              </a:rPr>
              <a:t>specifying </a:t>
            </a:r>
            <a:r>
              <a:rPr dirty="0" sz="1200">
                <a:latin typeface="Times New Roman"/>
                <a:cs typeface="Times New Roman"/>
              </a:rPr>
              <a:t>when the action occurred. This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>
                <a:latin typeface="Times New Roman"/>
                <a:cs typeface="Times New Roman"/>
              </a:rPr>
              <a:t> feature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tense.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1.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Base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Form: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dictionary.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subjects </a:t>
            </a:r>
            <a:r>
              <a:rPr dirty="0" sz="1200">
                <a:latin typeface="Times New Roman"/>
                <a:cs typeface="Times New Roman"/>
              </a:rPr>
              <a:t>except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singular subjects.</a:t>
            </a:r>
            <a:endParaRPr sz="1200">
              <a:latin typeface="Times New Roman"/>
              <a:cs typeface="Times New Roman"/>
            </a:endParaRPr>
          </a:p>
          <a:p>
            <a:pPr marL="177800" indent="-165100">
              <a:lnSpc>
                <a:spcPts val="1315"/>
              </a:lnSpc>
              <a:buChar char="-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kababs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lunch.</a:t>
            </a:r>
            <a:endParaRPr sz="1200">
              <a:latin typeface="Times New Roman"/>
              <a:cs typeface="Times New Roman"/>
            </a:endParaRPr>
          </a:p>
          <a:p>
            <a:pPr marL="139065" indent="-127000">
              <a:lnSpc>
                <a:spcPts val="1410"/>
              </a:lnSpc>
              <a:buChar char="-"/>
              <a:tabLst>
                <a:tab pos="139700" algn="l"/>
              </a:tabLst>
            </a:pPr>
            <a:r>
              <a:rPr dirty="0" sz="1200" spc="-5">
                <a:latin typeface="Times New Roman"/>
                <a:cs typeface="Times New Roman"/>
              </a:rPr>
              <a:t>Saima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kababs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lunch.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Form: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past-tense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most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form.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prais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president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bold</a:t>
            </a:r>
            <a:r>
              <a:rPr dirty="0" sz="1200">
                <a:latin typeface="Times New Roman"/>
                <a:cs typeface="Times New Roman"/>
              </a:rPr>
              <a:t> speech.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gym.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Present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Participle: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participle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with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helping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verbs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am</a:t>
            </a:r>
            <a:r>
              <a:rPr dirty="0" sz="1200" spc="-5" i="1">
                <a:latin typeface="Times New Roman"/>
                <a:cs typeface="Times New Roman"/>
              </a:rPr>
              <a:t>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-5" i="1">
                <a:latin typeface="Times New Roman"/>
                <a:cs typeface="Times New Roman"/>
              </a:rPr>
              <a:t>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sz="1200" spc="-5" i="1">
                <a:latin typeface="Times New Roman"/>
                <a:cs typeface="Times New Roman"/>
              </a:rPr>
              <a:t>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, or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show </a:t>
            </a:r>
            <a:r>
              <a:rPr dirty="0" sz="1200">
                <a:latin typeface="Times New Roman"/>
                <a:cs typeface="Times New Roman"/>
              </a:rPr>
              <a:t>continuing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 spreading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sheet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ground.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gathering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clothes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line,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blew</a:t>
            </a:r>
            <a:r>
              <a:rPr dirty="0" sz="1200">
                <a:latin typeface="Times New Roman"/>
                <a:cs typeface="Times New Roman"/>
              </a:rPr>
              <a:t> away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508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Participle: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 indent="3810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participle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participle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the form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is used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the helping verbs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</a:t>
            </a:r>
            <a:r>
              <a:rPr dirty="0" sz="1200" spc="-5">
                <a:latin typeface="Times New Roman"/>
                <a:cs typeface="Times New Roman"/>
              </a:rPr>
              <a:t>, and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and with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am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is, are, was,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were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01600" indent="-89535">
              <a:lnSpc>
                <a:spcPts val="1315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girl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asked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raise.</a:t>
            </a:r>
            <a:endParaRPr sz="1200">
              <a:latin typeface="Times New Roman"/>
              <a:cs typeface="Times New Roman"/>
            </a:endParaRPr>
          </a:p>
          <a:p>
            <a:pPr algn="just"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kitchen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jammed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regular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7427804"/>
          <a:ext cx="4351020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5340"/>
                <a:gridCol w="1140460"/>
                <a:gridCol w="1298575"/>
                <a:gridCol w="1097279"/>
              </a:tblGrid>
              <a:tr h="172016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Basic</a:t>
                      </a:r>
                      <a:r>
                        <a:rPr dirty="0" u="sng" sz="1200" spc="-3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Form</a:t>
                      </a:r>
                      <a:r>
                        <a:rPr dirty="0" u="sng" sz="1200" spc="-1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ts val="1255"/>
                        </a:lnSpc>
                      </a:pP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Past</a:t>
                      </a:r>
                      <a:r>
                        <a:rPr dirty="0" u="sng" sz="1200" spc="-2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Tense</a:t>
                      </a:r>
                      <a:r>
                        <a:rPr dirty="0" u="sng" sz="1200" spc="-2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Form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55"/>
                        </a:lnSpc>
                      </a:pP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Present</a:t>
                      </a:r>
                      <a:r>
                        <a:rPr dirty="0" u="sng" sz="1200" spc="-4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Participle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ts val="1255"/>
                        </a:lnSpc>
                      </a:pPr>
                      <a:r>
                        <a:rPr dirty="0" u="sng" sz="1200" spc="-1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Past</a:t>
                      </a:r>
                      <a:r>
                        <a:rPr dirty="0" u="sng" sz="1200" spc="-5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 spc="-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Participle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Jump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jumped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51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jumping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jumped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Smile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smiled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511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smiling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smiled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Hope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hoped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hoping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hoped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626856"/>
            <a:ext cx="901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Main</a:t>
            </a:r>
            <a:r>
              <a:rPr dirty="0" sz="1200" spc="-7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six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English.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perfect,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future</a:t>
            </a:r>
            <a:r>
              <a:rPr dirty="0" sz="1200">
                <a:latin typeface="Times New Roman"/>
                <a:cs typeface="Times New Roman"/>
              </a:rPr>
              <a:t> perfect.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chart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six </a:t>
            </a:r>
            <a:r>
              <a:rPr dirty="0" sz="1200">
                <a:latin typeface="Times New Roman"/>
                <a:cs typeface="Times New Roman"/>
              </a:rPr>
              <a:t>basic </a:t>
            </a:r>
            <a:r>
              <a:rPr dirty="0" sz="1200" spc="-5">
                <a:latin typeface="Times New Roman"/>
                <a:cs typeface="Times New Roman"/>
              </a:rPr>
              <a:t>tenses</a:t>
            </a:r>
            <a:r>
              <a:rPr dirty="0" sz="1200">
                <a:latin typeface="Times New Roman"/>
                <a:cs typeface="Times New Roman"/>
              </a:rPr>
              <a:t> of the verb </a:t>
            </a:r>
            <a:r>
              <a:rPr dirty="0" sz="1200" spc="-5">
                <a:latin typeface="Times New Roman"/>
                <a:cs typeface="Times New Roman"/>
              </a:rPr>
              <a:t>‘jump’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439671"/>
            <a:ext cx="935990" cy="12598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46609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Tense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  </a:t>
            </a:r>
            <a:r>
              <a:rPr dirty="0" sz="1200" spc="-5">
                <a:latin typeface="Times New Roman"/>
                <a:cs typeface="Times New Roman"/>
              </a:rPr>
              <a:t>Past </a:t>
            </a:r>
            <a:r>
              <a:rPr dirty="0" sz="1200">
                <a:latin typeface="Times New Roman"/>
                <a:cs typeface="Times New Roman"/>
              </a:rPr>
              <a:t> Future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perfect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 </a:t>
            </a:r>
            <a:r>
              <a:rPr dirty="0" sz="1200">
                <a:latin typeface="Times New Roman"/>
                <a:cs typeface="Times New Roman"/>
              </a:rPr>
              <a:t>perfect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perfect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1882" y="1439671"/>
            <a:ext cx="1172845" cy="12598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61087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xa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ple 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jump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</a:t>
            </a:r>
            <a:endParaRPr sz="1200">
              <a:latin typeface="Times New Roman"/>
              <a:cs typeface="Times New Roman"/>
            </a:endParaRPr>
          </a:p>
          <a:p>
            <a:pPr marL="13335" marR="280035" indent="-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jumped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841752"/>
            <a:ext cx="5628005" cy="6342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greater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Present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happening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condition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exists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regardless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Susan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works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20"/>
              </a:lnSpc>
              <a:buAutoNum type="arabicPeriod"/>
              <a:tabLst>
                <a:tab pos="165735" algn="l"/>
              </a:tabLst>
            </a:pPr>
            <a:r>
              <a:rPr dirty="0" sz="1200" i="1">
                <a:latin typeface="Times New Roman"/>
                <a:cs typeface="Times New Roman"/>
              </a:rPr>
              <a:t>Children’s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toys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third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floor.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(Habitual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action)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  <a:tab pos="309816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neighbor’s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dog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smells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our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plants.	(Present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action)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The Historical Present: The </a:t>
            </a:r>
            <a:r>
              <a:rPr dirty="0" sz="1200" spc="-5">
                <a:latin typeface="Times New Roman"/>
                <a:cs typeface="Times New Roman"/>
              </a:rPr>
              <a:t>present </a:t>
            </a:r>
            <a:r>
              <a:rPr dirty="0" sz="1200">
                <a:latin typeface="Times New Roman"/>
                <a:cs typeface="Times New Roman"/>
              </a:rPr>
              <a:t>tense </a:t>
            </a:r>
            <a:r>
              <a:rPr dirty="0" sz="1200" spc="-5">
                <a:latin typeface="Times New Roman"/>
                <a:cs typeface="Times New Roman"/>
              </a:rPr>
              <a:t>is used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make more </a:t>
            </a:r>
            <a:r>
              <a:rPr dirty="0" sz="1200">
                <a:latin typeface="Times New Roman"/>
                <a:cs typeface="Times New Roman"/>
              </a:rPr>
              <a:t>vivid </a:t>
            </a:r>
            <a:r>
              <a:rPr dirty="0" sz="1200" spc="-5">
                <a:latin typeface="Times New Roman"/>
                <a:cs typeface="Times New Roman"/>
              </a:rPr>
              <a:t>description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 past actions through a </a:t>
            </a:r>
            <a:r>
              <a:rPr dirty="0" sz="1200" spc="-5">
                <a:latin typeface="Times New Roman"/>
                <a:cs typeface="Times New Roman"/>
              </a:rPr>
              <a:t>restatement </a:t>
            </a:r>
            <a:r>
              <a:rPr dirty="0" sz="1200">
                <a:latin typeface="Times New Roman"/>
                <a:cs typeface="Times New Roman"/>
              </a:rPr>
              <a:t>or a </a:t>
            </a:r>
            <a:r>
              <a:rPr dirty="0" sz="1200" spc="-5">
                <a:latin typeface="Times New Roman"/>
                <a:cs typeface="Times New Roman"/>
              </a:rPr>
              <a:t>summarization </a:t>
            </a:r>
            <a:r>
              <a:rPr dirty="0" sz="1200">
                <a:latin typeface="Times New Roman"/>
                <a:cs typeface="Times New Roman"/>
              </a:rPr>
              <a:t>of the facts from a book or a report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etc….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buAutoNum type="arabicPeriod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report </a:t>
            </a:r>
            <a:r>
              <a:rPr dirty="0" sz="1200" spc="-5">
                <a:latin typeface="Times New Roman"/>
                <a:cs typeface="Times New Roman"/>
              </a:rPr>
              <a:t>Mr. Farook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states</a:t>
            </a:r>
            <a:r>
              <a:rPr dirty="0" sz="1200" spc="-5">
                <a:latin typeface="Times New Roman"/>
                <a:cs typeface="Times New Roman"/>
              </a:rPr>
              <a:t> that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president will </a:t>
            </a:r>
            <a:r>
              <a:rPr dirty="0" sz="1200">
                <a:latin typeface="Times New Roman"/>
                <a:cs typeface="Times New Roman"/>
              </a:rPr>
              <a:t>call </a:t>
            </a:r>
            <a:r>
              <a:rPr dirty="0" sz="1200" spc="-5">
                <a:latin typeface="Times New Roman"/>
                <a:cs typeface="Times New Roman"/>
              </a:rPr>
              <a:t>candidates for interview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algn="just" marL="202565" indent="-190500">
              <a:lnSpc>
                <a:spcPts val="1345"/>
              </a:lnSpc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“Revenge”,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Lord</a:t>
            </a:r>
            <a:r>
              <a:rPr dirty="0" sz="1200" spc="-5">
                <a:latin typeface="Times New Roman"/>
                <a:cs typeface="Times New Roman"/>
              </a:rPr>
              <a:t> “is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mine”.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(Bible)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historical present is used when we write </a:t>
            </a:r>
            <a:r>
              <a:rPr dirty="0" sz="1200">
                <a:latin typeface="Times New Roman"/>
                <a:cs typeface="Times New Roman"/>
              </a:rPr>
              <a:t>about events or </a:t>
            </a:r>
            <a:r>
              <a:rPr dirty="0" sz="1200" spc="-5">
                <a:latin typeface="Times New Roman"/>
                <a:cs typeface="Times New Roman"/>
              </a:rPr>
              <a:t>happenings </a:t>
            </a:r>
            <a:r>
              <a:rPr dirty="0" sz="1200">
                <a:latin typeface="Times New Roman"/>
                <a:cs typeface="Times New Roman"/>
              </a:rPr>
              <a:t>in a </a:t>
            </a:r>
            <a:r>
              <a:rPr dirty="0" sz="1200" spc="-5">
                <a:latin typeface="Times New Roman"/>
                <a:cs typeface="Times New Roman"/>
              </a:rPr>
              <a:t>work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literature.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rationale for using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present </a:t>
            </a:r>
            <a:r>
              <a:rPr dirty="0" sz="1200">
                <a:latin typeface="Times New Roman"/>
                <a:cs typeface="Times New Roman"/>
              </a:rPr>
              <a:t>tense </a:t>
            </a:r>
            <a:r>
              <a:rPr dirty="0" sz="1200" spc="-5">
                <a:latin typeface="Times New Roman"/>
                <a:cs typeface="Times New Roman"/>
              </a:rPr>
              <a:t>is that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happenings of literature are </a:t>
            </a:r>
            <a:r>
              <a:rPr dirty="0" sz="1200">
                <a:latin typeface="Times New Roman"/>
                <a:cs typeface="Times New Roman"/>
              </a:rPr>
              <a:t> unchangeable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permanently </a:t>
            </a:r>
            <a:r>
              <a:rPr dirty="0" sz="1200"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2413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Past</a:t>
            </a:r>
            <a:r>
              <a:rPr dirty="0" sz="1200" spc="-10" b="1">
                <a:latin typeface="Times New Roman"/>
                <a:cs typeface="Times New Roman"/>
              </a:rPr>
              <a:t> Tense: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-5">
                <a:latin typeface="Times New Roman"/>
                <a:cs typeface="Times New Roman"/>
              </a:rPr>
              <a:t> or state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occurred some time</a:t>
            </a:r>
            <a:r>
              <a:rPr dirty="0" sz="1200">
                <a:latin typeface="Times New Roman"/>
                <a:cs typeface="Times New Roman"/>
              </a:rPr>
              <a:t> in the</a:t>
            </a:r>
            <a:r>
              <a:rPr dirty="0" sz="1200" spc="-5">
                <a:latin typeface="Times New Roman"/>
                <a:cs typeface="Times New Roman"/>
              </a:rPr>
              <a:t> past.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yesterday’s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party,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remark.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were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delivered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algn="just" marL="202565" indent="-15240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032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Future</a:t>
            </a:r>
            <a:r>
              <a:rPr dirty="0" sz="1200" spc="-10" b="1">
                <a:latin typeface="Times New Roman"/>
                <a:cs typeface="Times New Roman"/>
              </a:rPr>
              <a:t> Tense: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to </a:t>
            </a:r>
            <a:r>
              <a:rPr dirty="0" sz="1200" spc="-5">
                <a:latin typeface="Times New Roman"/>
                <a:cs typeface="Times New Roman"/>
              </a:rPr>
              <a:t>indicate </a:t>
            </a:r>
            <a:r>
              <a:rPr dirty="0" sz="120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action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take </a:t>
            </a:r>
            <a:r>
              <a:rPr dirty="0" sz="1200" spc="-5">
                <a:latin typeface="Times New Roman"/>
                <a:cs typeface="Times New Roman"/>
              </a:rPr>
              <a:t>place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future </a:t>
            </a:r>
            <a:r>
              <a:rPr dirty="0" sz="1200">
                <a:latin typeface="Times New Roman"/>
                <a:cs typeface="Times New Roman"/>
              </a:rPr>
              <a:t>or a state or </a:t>
            </a:r>
            <a:r>
              <a:rPr dirty="0" sz="1200" spc="-5">
                <a:latin typeface="Times New Roman"/>
                <a:cs typeface="Times New Roman"/>
              </a:rPr>
              <a:t>condition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exist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in the </a:t>
            </a:r>
            <a:r>
              <a:rPr dirty="0" sz="1200" spc="-5">
                <a:latin typeface="Times New Roman"/>
                <a:cs typeface="Times New Roman"/>
              </a:rPr>
              <a:t>future.</a:t>
            </a: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  <a:buAutoNum type="arabicPeriod"/>
              <a:tabLst>
                <a:tab pos="171450" algn="l"/>
              </a:tabLst>
            </a:pPr>
            <a:r>
              <a:rPr dirty="0" sz="1200" spc="-5">
                <a:latin typeface="Times New Roman"/>
                <a:cs typeface="Times New Roman"/>
              </a:rPr>
              <a:t>According </a:t>
            </a:r>
            <a:r>
              <a:rPr dirty="0" sz="1200">
                <a:latin typeface="Times New Roman"/>
                <a:cs typeface="Times New Roman"/>
              </a:rPr>
              <a:t>to the college </a:t>
            </a:r>
            <a:r>
              <a:rPr dirty="0" sz="1200" spc="-5">
                <a:latin typeface="Times New Roman"/>
                <a:cs typeface="Times New Roman"/>
              </a:rPr>
              <a:t>schedule,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examination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 be held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the Basemen at 9:00.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a.m.</a:t>
            </a:r>
            <a:endParaRPr sz="1200">
              <a:latin typeface="Times New Roman"/>
              <a:cs typeface="Times New Roman"/>
            </a:endParaRPr>
          </a:p>
          <a:p>
            <a:pPr algn="just" marL="164465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succeed,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realistic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goals.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future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placing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shall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past,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and shall </a:t>
            </a:r>
            <a:r>
              <a:rPr dirty="0" sz="1200" spc="-5">
                <a:latin typeface="Times New Roman"/>
                <a:cs typeface="Times New Roman"/>
              </a:rPr>
              <a:t>was prescribed but </a:t>
            </a:r>
            <a:r>
              <a:rPr dirty="0" sz="1200">
                <a:latin typeface="Times New Roman"/>
                <a:cs typeface="Times New Roman"/>
              </a:rPr>
              <a:t>in today’s language </a:t>
            </a:r>
            <a:r>
              <a:rPr dirty="0" sz="1200" spc="-5">
                <a:latin typeface="Times New Roman"/>
                <a:cs typeface="Times New Roman"/>
              </a:rPr>
              <a:t>usage,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typically used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ordinary future tense and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to </a:t>
            </a:r>
            <a:r>
              <a:rPr dirty="0" sz="1200" spc="-5">
                <a:latin typeface="Times New Roman"/>
                <a:cs typeface="Times New Roman"/>
              </a:rPr>
              <a:t>express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demand </a:t>
            </a:r>
            <a:r>
              <a:rPr dirty="0" sz="1200">
                <a:latin typeface="Times New Roman"/>
                <a:cs typeface="Times New Roman"/>
              </a:rPr>
              <a:t>or is used with </a:t>
            </a:r>
            <a:r>
              <a:rPr dirty="0" sz="1200" spc="-5">
                <a:latin typeface="Times New Roman"/>
                <a:cs typeface="Times New Roman"/>
              </a:rPr>
              <a:t>laws,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policies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contracts.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8005" cy="791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shall have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term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paper </a:t>
            </a:r>
            <a:r>
              <a:rPr dirty="0" sz="1200" spc="-5">
                <a:latin typeface="Times New Roman"/>
                <a:cs typeface="Times New Roman"/>
              </a:rPr>
              <a:t>submitted </a:t>
            </a:r>
            <a:r>
              <a:rPr dirty="0" sz="1200">
                <a:latin typeface="Times New Roman"/>
                <a:cs typeface="Times New Roman"/>
              </a:rPr>
              <a:t>on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Invigilators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shall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ensure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examination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fully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implemented.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meet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deadline,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reap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benefits.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The Three </a:t>
            </a:r>
            <a:r>
              <a:rPr dirty="0" sz="1200" b="1">
                <a:latin typeface="Times New Roman"/>
                <a:cs typeface="Times New Roman"/>
              </a:rPr>
              <a:t>Perfect </a:t>
            </a:r>
            <a:r>
              <a:rPr dirty="0" sz="1200" spc="-5" b="1">
                <a:latin typeface="Times New Roman"/>
                <a:cs typeface="Times New Roman"/>
              </a:rPr>
              <a:t>Tenses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formed by </a:t>
            </a:r>
            <a:r>
              <a:rPr dirty="0" sz="1200">
                <a:latin typeface="Times New Roman"/>
                <a:cs typeface="Times New Roman"/>
              </a:rPr>
              <a:t>adding the helping verb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, or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 participle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verb. The </a:t>
            </a:r>
            <a:r>
              <a:rPr dirty="0" sz="1200">
                <a:latin typeface="Times New Roman"/>
                <a:cs typeface="Times New Roman"/>
              </a:rPr>
              <a:t>past </a:t>
            </a:r>
            <a:r>
              <a:rPr dirty="0" sz="1200" spc="-5">
                <a:latin typeface="Times New Roman"/>
                <a:cs typeface="Times New Roman"/>
              </a:rPr>
              <a:t>participle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regular verb is simply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form </a:t>
            </a:r>
            <a:r>
              <a:rPr dirty="0" sz="1200">
                <a:latin typeface="Times New Roman"/>
                <a:cs typeface="Times New Roman"/>
              </a:rPr>
              <a:t>that ends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-ed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buAutoNum type="arabicPeriod" startAt="4"/>
              <a:tabLst>
                <a:tab pos="187325" algn="l"/>
              </a:tabLst>
            </a:pP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1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Present</a:t>
            </a:r>
            <a:r>
              <a:rPr dirty="0" sz="1200" spc="1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Perfect</a:t>
            </a:r>
            <a:r>
              <a:rPr dirty="0" sz="1200" spc="1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</a:t>
            </a:r>
            <a:r>
              <a:rPr dirty="0" sz="1200" spc="1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finished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continuing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present</a:t>
            </a:r>
            <a:r>
              <a:rPr dirty="0" sz="1200">
                <a:latin typeface="Times New Roman"/>
                <a:cs typeface="Times New Roman"/>
              </a:rPr>
              <a:t> perfect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we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plus the past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participle.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Marina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After great efforts 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police,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has</a:t>
            </a:r>
            <a:r>
              <a:rPr dirty="0" sz="1200" spc="3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been</a:t>
            </a:r>
            <a:r>
              <a:rPr dirty="0" sz="1200" i="1">
                <a:latin typeface="Times New Roman"/>
                <a:cs typeface="Times New Roman"/>
              </a:rPr>
              <a:t> 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evacuated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Perfect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>
                <a:latin typeface="Times New Roman"/>
                <a:cs typeface="Times New Roman"/>
              </a:rPr>
              <a:t> when</a:t>
            </a:r>
            <a:r>
              <a:rPr dirty="0" sz="1200" spc="-5">
                <a:latin typeface="Times New Roman"/>
                <a:cs typeface="Times New Roman"/>
              </a:rPr>
              <a:t> we</a:t>
            </a:r>
            <a:r>
              <a:rPr dirty="0" sz="1200">
                <a:latin typeface="Times New Roman"/>
                <a:cs typeface="Times New Roman"/>
              </a:rPr>
              <a:t> add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participle.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Marina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 worked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of </a:t>
            </a:r>
            <a:r>
              <a:rPr dirty="0" sz="1200" spc="-5">
                <a:latin typeface="Times New Roman"/>
                <a:cs typeface="Times New Roman"/>
              </a:rPr>
              <a:t>TV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programs</a:t>
            </a:r>
            <a:r>
              <a:rPr dirty="0" sz="1200">
                <a:latin typeface="Times New Roman"/>
                <a:cs typeface="Times New Roman"/>
              </a:rPr>
              <a:t> before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joined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company.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reached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office,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Lylla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returned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6.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Future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Perfect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It describes an action that 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-5">
                <a:latin typeface="Times New Roman"/>
                <a:cs typeface="Times New Roman"/>
              </a:rPr>
              <a:t>completed before some time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the future.The future </a:t>
            </a:r>
            <a:r>
              <a:rPr dirty="0" sz="1200">
                <a:latin typeface="Times New Roman"/>
                <a:cs typeface="Times New Roman"/>
              </a:rPr>
              <a:t> perfect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shall</a:t>
            </a:r>
            <a:r>
              <a:rPr dirty="0" u="sng" sz="1200" spc="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9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participle.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year,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contractors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have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completed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block.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Mr.</a:t>
            </a:r>
            <a:r>
              <a:rPr dirty="0" sz="1200">
                <a:latin typeface="Times New Roman"/>
                <a:cs typeface="Times New Roman"/>
              </a:rPr>
              <a:t> Saeed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 have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been</a:t>
            </a:r>
            <a:r>
              <a:rPr dirty="0" sz="1200" spc="-5">
                <a:latin typeface="Times New Roman"/>
                <a:cs typeface="Times New Roman"/>
              </a:rPr>
              <a:t> employed</a:t>
            </a:r>
            <a:r>
              <a:rPr dirty="0" sz="1200">
                <a:latin typeface="Times New Roman"/>
                <a:cs typeface="Times New Roman"/>
              </a:rPr>
              <a:t> by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printing</a:t>
            </a:r>
            <a:r>
              <a:rPr dirty="0" sz="1200">
                <a:latin typeface="Times New Roman"/>
                <a:cs typeface="Times New Roman"/>
              </a:rPr>
              <a:t> firm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years in </a:t>
            </a:r>
            <a:r>
              <a:rPr dirty="0" sz="1200" spc="-5">
                <a:latin typeface="Times New Roman"/>
                <a:cs typeface="Times New Roman"/>
              </a:rPr>
              <a:t>December.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secretary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shall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entered</a:t>
            </a:r>
            <a:r>
              <a:rPr dirty="0" sz="1200" spc="-5">
                <a:latin typeface="Times New Roman"/>
                <a:cs typeface="Times New Roman"/>
              </a:rPr>
              <a:t> 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Saturday.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Three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Progressive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Tenses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</a:t>
            </a:r>
            <a:r>
              <a:rPr dirty="0" sz="1200" spc="-5" i="1">
                <a:latin typeface="Times New Roman"/>
                <a:cs typeface="Times New Roman"/>
              </a:rPr>
              <a:t>progress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particular time. They are made by </a:t>
            </a:r>
            <a:r>
              <a:rPr dirty="0" sz="1200">
                <a:latin typeface="Times New Roman"/>
                <a:cs typeface="Times New Roman"/>
              </a:rPr>
              <a:t>adding a form of the helping verb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-be</a:t>
            </a:r>
            <a:r>
              <a:rPr dirty="0" sz="1200">
                <a:latin typeface="Times New Roman"/>
                <a:cs typeface="Times New Roman"/>
              </a:rPr>
              <a:t> 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-ing</a:t>
            </a:r>
            <a:r>
              <a:rPr dirty="0" sz="1200">
                <a:latin typeface="Times New Roman"/>
                <a:cs typeface="Times New Roman"/>
              </a:rPr>
              <a:t> form of the verb.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Present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Progressive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moment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future.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Marina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working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am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bookstore.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Progressive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expresses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progress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5">
                <a:latin typeface="Times New Roman"/>
                <a:cs typeface="Times New Roman"/>
              </a:rPr>
              <a:t> time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Marina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working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yesterday.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 practicing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night.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5" b="1">
                <a:latin typeface="Times New Roman"/>
                <a:cs typeface="Times New Roman"/>
              </a:rPr>
              <a:t> Future Progressive Tense: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progressive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a </a:t>
            </a:r>
            <a:r>
              <a:rPr dirty="0" sz="1200" spc="-5">
                <a:latin typeface="Times New Roman"/>
                <a:cs typeface="Times New Roman"/>
              </a:rPr>
              <a:t>certain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future.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Marina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tomorrow.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visitors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 pacing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reception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Unnecessary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shift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tense: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  <a:buAutoNum type="arabicPeriod" startAt="3"/>
              <a:tabLst>
                <a:tab pos="189865" algn="l"/>
              </a:tabLst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dream,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snake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slithered</a:t>
            </a:r>
            <a:r>
              <a:rPr dirty="0" sz="1200" spc="1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slips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onto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pillow.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(Inconsistent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Spot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wrong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7272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sister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flames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smoke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room,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reacted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quickly.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picks </a:t>
            </a:r>
            <a:r>
              <a:rPr dirty="0" sz="1200">
                <a:latin typeface="Times New Roman"/>
                <a:cs typeface="Times New Roman"/>
              </a:rPr>
              <a:t>up her handbag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pictures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 </a:t>
            </a:r>
            <a:r>
              <a:rPr dirty="0" sz="1200" spc="-5">
                <a:latin typeface="Times New Roman"/>
                <a:cs typeface="Times New Roman"/>
              </a:rPr>
              <a:t>family.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rushed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buAutoNum type="arabicPeriod"/>
              <a:tabLst>
                <a:tab pos="182245" algn="l"/>
              </a:tabLst>
            </a:pPr>
            <a:r>
              <a:rPr dirty="0" sz="1200">
                <a:latin typeface="Times New Roman"/>
                <a:cs typeface="Times New Roman"/>
              </a:rPr>
              <a:t>Pink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flowers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blossom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peach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tree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every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spring.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tiny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buds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appeared.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peaches</a:t>
            </a:r>
            <a:r>
              <a:rPr dirty="0" sz="1200" spc="-5">
                <a:latin typeface="Times New Roman"/>
                <a:cs typeface="Times New Roman"/>
              </a:rPr>
              <a:t> grow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sweet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fruit.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Spot the tense shifts.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In his oversized T-shirt, the little boy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looked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 </a:t>
            </a:r>
            <a:r>
              <a:rPr dirty="0" sz="1200" spc="-5">
                <a:latin typeface="Times New Roman"/>
                <a:cs typeface="Times New Roman"/>
              </a:rPr>
              <a:t>smaller </a:t>
            </a:r>
            <a:r>
              <a:rPr dirty="0" sz="1200">
                <a:latin typeface="Times New Roman"/>
                <a:cs typeface="Times New Roman"/>
              </a:rPr>
              <a:t>than 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. His </a:t>
            </a:r>
            <a:r>
              <a:rPr dirty="0" sz="1200">
                <a:latin typeface="Times New Roman"/>
                <a:cs typeface="Times New Roman"/>
              </a:rPr>
              <a:t>skinny </a:t>
            </a:r>
            <a:r>
              <a:rPr dirty="0" sz="1200" spc="-5">
                <a:latin typeface="Times New Roman"/>
                <a:cs typeface="Times New Roman"/>
              </a:rPr>
              <a:t>arms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stretch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flopping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sleeves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reach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wrists.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needed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haircut;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has </a:t>
            </a:r>
            <a:r>
              <a:rPr dirty="0" sz="1200" b="1" i="1">
                <a:latin typeface="Times New Roman"/>
                <a:cs typeface="Times New Roman"/>
              </a:rPr>
              <a:t>to </a:t>
            </a:r>
            <a:r>
              <a:rPr dirty="0" sz="1200" spc="-5" b="1" i="1">
                <a:latin typeface="Times New Roman"/>
                <a:cs typeface="Times New Roman"/>
              </a:rPr>
              <a:t>push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hair out of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eyes to see.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eyes </a:t>
            </a:r>
            <a:r>
              <a:rPr dirty="0" sz="1200" b="1" i="1">
                <a:latin typeface="Times New Roman"/>
                <a:cs typeface="Times New Roman"/>
              </a:rPr>
              <a:t>fail </a:t>
            </a:r>
            <a:r>
              <a:rPr dirty="0" sz="1200">
                <a:latin typeface="Times New Roman"/>
                <a:cs typeface="Times New Roman"/>
              </a:rPr>
              <a:t>to meet those of the people </a:t>
            </a:r>
            <a:r>
              <a:rPr dirty="0" sz="1200" spc="-5">
                <a:latin typeface="Times New Roman"/>
                <a:cs typeface="Times New Roman"/>
              </a:rPr>
              <a:t>passing </a:t>
            </a:r>
            <a:r>
              <a:rPr dirty="0" sz="1200">
                <a:latin typeface="Times New Roman"/>
                <a:cs typeface="Times New Roman"/>
              </a:rPr>
              <a:t> by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them,</a:t>
            </a:r>
            <a:r>
              <a:rPr dirty="0" sz="1200">
                <a:latin typeface="Times New Roman"/>
                <a:cs typeface="Times New Roman"/>
              </a:rPr>
              <a:t> ‘Can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give 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five rupees”?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Spot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verb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each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that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same </a:t>
            </a:r>
            <a:r>
              <a:rPr dirty="0" sz="1200" spc="-5" b="1">
                <a:latin typeface="Times New Roman"/>
                <a:cs typeface="Times New Roman"/>
              </a:rPr>
              <a:t>tense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others.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0"/>
              </a:spcBef>
              <a:buAutoNum type="arabicPeriod"/>
              <a:tabLst>
                <a:tab pos="170180" algn="l"/>
              </a:tabLst>
            </a:pPr>
            <a:r>
              <a:rPr dirty="0" sz="1200">
                <a:latin typeface="Times New Roman"/>
                <a:cs typeface="Times New Roman"/>
              </a:rPr>
              <a:t>Hafeez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doorbell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several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minutes.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Finally,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disappointed.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15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campers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drove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away, 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saw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716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came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wasn’t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feeling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discovers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wife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key.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buAutoNum type="arabicPeriod"/>
              <a:tabLst>
                <a:tab pos="179705" algn="l"/>
              </a:tabLst>
            </a:pPr>
            <a:r>
              <a:rPr dirty="0" sz="1200" spc="-5">
                <a:latin typeface="Times New Roman"/>
                <a:cs typeface="Times New Roman"/>
              </a:rPr>
              <a:t>Our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library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 if they can’t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 it yet.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Review: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Fill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blanks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required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correct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(T/F).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1883410" algn="l"/>
                <a:tab pos="3165475" algn="l"/>
                <a:tab pos="350837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past,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5">
                <a:latin typeface="Times New Roman"/>
                <a:cs typeface="Times New Roman"/>
              </a:rPr>
              <a:t> perfect,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future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perfect.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74625" algn="l"/>
                <a:tab pos="3888740" algn="l"/>
                <a:tab pos="433895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regular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  <a:tab pos="93535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5">
                <a:latin typeface="Times New Roman"/>
                <a:cs typeface="Times New Roman"/>
              </a:rPr>
              <a:t> is formed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70"/>
              </a:spcBef>
              <a:buAutoNum type="arabicPeriod"/>
              <a:tabLst>
                <a:tab pos="175260" algn="l"/>
                <a:tab pos="91630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tenses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helping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have,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had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participle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2616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 marR="271145">
              <a:lnSpc>
                <a:spcPts val="1380"/>
              </a:lnSpc>
              <a:spcBef>
                <a:spcPts val="5"/>
              </a:spcBef>
              <a:buAutoNum type="arabicPeriod" startAt="6"/>
              <a:tabLst>
                <a:tab pos="179070" algn="l"/>
                <a:tab pos="695325" algn="l"/>
                <a:tab pos="110299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action.</a:t>
            </a:r>
            <a:endParaRPr sz="1200">
              <a:latin typeface="Times New Roman"/>
              <a:cs typeface="Times New Roman"/>
            </a:endParaRPr>
          </a:p>
          <a:p>
            <a:pPr marL="176530" indent="-163830">
              <a:lnSpc>
                <a:spcPts val="1315"/>
              </a:lnSpc>
              <a:buAutoNum type="arabicPeriod" startAt="6"/>
              <a:tabLst>
                <a:tab pos="17653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progressive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correct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1968500" algn="l"/>
              </a:tabLst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-s,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–ed</a:t>
            </a:r>
            <a:r>
              <a:rPr dirty="0" sz="1200" spc="-5">
                <a:latin typeface="Times New Roman"/>
                <a:cs typeface="Times New Roman"/>
              </a:rPr>
              <a:t>?)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0795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Active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Passive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Voices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active </a:t>
            </a:r>
            <a:r>
              <a:rPr dirty="0" sz="1200">
                <a:latin typeface="Times New Roman"/>
                <a:cs typeface="Times New Roman"/>
              </a:rPr>
              <a:t>voice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emphasize </a:t>
            </a:r>
            <a:r>
              <a:rPr dirty="0" sz="1200" spc="-5">
                <a:latin typeface="Times New Roman"/>
                <a:cs typeface="Times New Roman"/>
              </a:rPr>
              <a:t>the performer </a:t>
            </a:r>
            <a:r>
              <a:rPr dirty="0" sz="1200">
                <a:latin typeface="Times New Roman"/>
                <a:cs typeface="Times New Roman"/>
              </a:rPr>
              <a:t>of 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214629" algn="l"/>
              </a:tabLst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passive</a:t>
            </a:r>
            <a:r>
              <a:rPr dirty="0" sz="1200">
                <a:latin typeface="Times New Roman"/>
                <a:cs typeface="Times New Roman"/>
              </a:rPr>
              <a:t> voice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de-emphasize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emphasizing </a:t>
            </a:r>
            <a:r>
              <a:rPr dirty="0" sz="1200">
                <a:latin typeface="Times New Roman"/>
                <a:cs typeface="Times New Roman"/>
              </a:rPr>
              <a:t>the object of the action.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0033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Structure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Active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Voice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Sentences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3223089"/>
          <a:ext cx="5203190" cy="3672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8519"/>
                <a:gridCol w="320040"/>
                <a:gridCol w="1035685"/>
                <a:gridCol w="1435100"/>
                <a:gridCol w="1553210"/>
              </a:tblGrid>
              <a:tr h="521011">
                <a:tc>
                  <a:txBody>
                    <a:bodyPr/>
                    <a:lstStyle/>
                    <a:p>
                      <a:pPr marL="222250">
                        <a:lnSpc>
                          <a:spcPts val="127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Subject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1750" marR="4127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 estate 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anage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54330" marR="3175">
                        <a:lnSpc>
                          <a:spcPts val="131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Verb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40335" marR="3175">
                        <a:lnSpc>
                          <a:spcPts val="13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prosecute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44195">
                        <a:lnSpc>
                          <a:spcPts val="131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Direct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Object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R="542925">
                        <a:lnSpc>
                          <a:spcPts val="13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trespassers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ts val="131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Complement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Passengers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63195" marR="317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may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purchase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tickets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airline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office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Students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91795" marR="317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laboratory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You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8895" marR="317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should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medicine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once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daily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352044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984250">
                        <a:lnSpc>
                          <a:spcPts val="1360"/>
                        </a:lnSpc>
                      </a:pPr>
                      <a:r>
                        <a:rPr dirty="0" u="heavy" sz="1200" spc="-5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Structure </a:t>
                      </a:r>
                      <a:r>
                        <a:rPr dirty="0" u="heavy" sz="1200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u="heavy" sz="1200" spc="-5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Active</a:t>
                      </a:r>
                      <a:r>
                        <a:rPr dirty="0" u="heavy" sz="1200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Voice </a:t>
                      </a:r>
                      <a:r>
                        <a:rPr dirty="0" u="heavy" sz="1200" spc="-5" b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Sentences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1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4063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22250">
                        <a:lnSpc>
                          <a:spcPct val="10000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Subject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14655" marR="3175">
                        <a:lnSpc>
                          <a:spcPct val="10000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Verb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31495">
                        <a:lnSpc>
                          <a:spcPct val="10000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Direct</a:t>
                      </a:r>
                      <a:r>
                        <a:rPr dirty="0" sz="1200" spc="-7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Object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23215">
                        <a:lnSpc>
                          <a:spcPct val="10000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Complement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/>
                </a:tc>
              </a:tr>
              <a:tr h="525018">
                <a:tc gridSpan="2">
                  <a:txBody>
                    <a:bodyPr/>
                    <a:lstStyle/>
                    <a:p>
                      <a:pPr marL="31750" marR="361315">
                        <a:lnSpc>
                          <a:spcPts val="1380"/>
                        </a:lnSpc>
                        <a:spcBef>
                          <a:spcPts val="67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estate </a:t>
                      </a:r>
                      <a:r>
                        <a:rPr dirty="0" sz="1200" spc="-2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anag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572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 algn="r" marR="38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will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prosecute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 marL="5695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trespassers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438150">
                <a:tc gridSpan="2"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Passengers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may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purchase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64579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tickets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any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airline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office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4295"/>
                </a:tc>
              </a:tr>
              <a:tr h="525779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tabLst>
                          <a:tab pos="48831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3.	Students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28955" marR="3175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use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69595">
                        <a:lnSpc>
                          <a:spcPct val="10000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computers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15925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laboratory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</a:tr>
              <a:tr h="34727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360"/>
                        </a:lnSpc>
                        <a:tabLst>
                          <a:tab pos="48831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4.	You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r" marR="66675">
                        <a:lnSpc>
                          <a:spcPts val="136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should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31495">
                        <a:lnSpc>
                          <a:spcPts val="136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medicine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88950">
                        <a:lnSpc>
                          <a:spcPts val="136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once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/>
                </a:tc>
              </a:tr>
            </a:tbl>
          </a:graphicData>
        </a:graphic>
      </p:graphicFrame>
      <p:sp>
        <p:nvSpPr>
          <p:cNvPr id="17" name="object 1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6874256"/>
            <a:ext cx="2768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55265" algn="l"/>
              </a:tabLst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Structure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Passive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Voice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Sentences	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7224774"/>
            <a:ext cx="85090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Subject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1.Trespassers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63951" y="7224774"/>
            <a:ext cx="723265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Verb</a:t>
            </a:r>
            <a:endParaRPr sz="1200">
              <a:latin typeface="Times New Roman"/>
              <a:cs typeface="Times New Roman"/>
            </a:endParaRPr>
          </a:p>
          <a:p>
            <a:pPr marL="50165" marR="5080" indent="-63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prosecuted  may </a:t>
            </a:r>
            <a:r>
              <a:rPr dirty="0" sz="1200">
                <a:latin typeface="Times New Roman"/>
                <a:cs typeface="Times New Roman"/>
              </a:rPr>
              <a:t>be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purchased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54596" y="7224774"/>
            <a:ext cx="863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Complement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7749030"/>
            <a:ext cx="5892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2.Tickets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16300" y="8099550"/>
            <a:ext cx="12153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airline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274810"/>
            <a:ext cx="8083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3.Computers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01397" y="8274810"/>
            <a:ext cx="5295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53424" y="8450071"/>
            <a:ext cx="10337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laboratory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8625330"/>
            <a:ext cx="973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4.The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medicine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463749" y="8625330"/>
            <a:ext cx="61404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88900" marR="5080" indent="-768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shoul</a:t>
            </a:r>
            <a:r>
              <a:rPr dirty="0" sz="120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be  </a:t>
            </a:r>
            <a:r>
              <a:rPr dirty="0" sz="1200">
                <a:latin typeface="Times New Roman"/>
                <a:cs typeface="Times New Roman"/>
              </a:rPr>
              <a:t>taken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54455" y="8800590"/>
            <a:ext cx="655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once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daily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398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Formation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Passive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composed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parts.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Subject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+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some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tense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+ Past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Participle </a:t>
            </a:r>
            <a:r>
              <a:rPr dirty="0" sz="1200" b="1">
                <a:latin typeface="Times New Roman"/>
                <a:cs typeface="Times New Roman"/>
              </a:rPr>
              <a:t>+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Agent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object of an </a:t>
            </a:r>
            <a:r>
              <a:rPr dirty="0" sz="1200" spc="-5">
                <a:latin typeface="Times New Roman"/>
                <a:cs typeface="Times New Roman"/>
              </a:rPr>
              <a:t>active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subject</a:t>
            </a:r>
            <a:r>
              <a:rPr dirty="0" sz="1200">
                <a:latin typeface="Times New Roman"/>
                <a:cs typeface="Times New Roman"/>
              </a:rPr>
              <a:t> of the </a:t>
            </a:r>
            <a:r>
              <a:rPr dirty="0" sz="1200" spc="-5">
                <a:latin typeface="Times New Roman"/>
                <a:cs typeface="Times New Roman"/>
              </a:rPr>
              <a:t>passive</a:t>
            </a:r>
            <a:r>
              <a:rPr dirty="0" sz="1200">
                <a:latin typeface="Times New Roman"/>
                <a:cs typeface="Times New Roman"/>
              </a:rPr>
              <a:t> sentence.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-BE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 subject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active</a:t>
            </a:r>
            <a:r>
              <a:rPr dirty="0" sz="1200" spc="-5">
                <a:latin typeface="Times New Roman"/>
                <a:cs typeface="Times New Roman"/>
              </a:rPr>
              <a:t> sentence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becomes</a:t>
            </a:r>
            <a:r>
              <a:rPr dirty="0" sz="1200">
                <a:latin typeface="Times New Roman"/>
                <a:cs typeface="Times New Roman"/>
              </a:rPr>
              <a:t> the agent of the </a:t>
            </a:r>
            <a:r>
              <a:rPr dirty="0" sz="1200" spc="-5">
                <a:latin typeface="Times New Roman"/>
                <a:cs typeface="Times New Roman"/>
              </a:rPr>
              <a:t>passive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-5">
                <a:latin typeface="Times New Roman"/>
                <a:cs typeface="Times New Roman"/>
              </a:rPr>
              <a:t> may sometimes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omitted.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3843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Verb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Tenses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</a:t>
            </a:r>
            <a:r>
              <a:rPr dirty="0" u="heavy" sz="1200" spc="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Passive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Sentences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PRESENT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TENSES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Simple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Present: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i="1">
                <a:latin typeface="Times New Roman"/>
                <a:cs typeface="Times New Roman"/>
              </a:rPr>
              <a:t>Jewels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bought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Present </a:t>
            </a:r>
            <a:r>
              <a:rPr dirty="0" sz="1200" spc="-10" b="1">
                <a:latin typeface="Times New Roman"/>
                <a:cs typeface="Times New Roman"/>
              </a:rPr>
              <a:t>Continuous: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405"/>
              </a:lnSpc>
            </a:pPr>
            <a:r>
              <a:rPr dirty="0" sz="1200" i="1">
                <a:latin typeface="Times New Roman"/>
                <a:cs typeface="Times New Roman"/>
              </a:rPr>
              <a:t>Jewels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being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bought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ladies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Present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Perfect: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i="1">
                <a:latin typeface="Times New Roman"/>
                <a:cs typeface="Times New Roman"/>
              </a:rPr>
              <a:t>Ladies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have been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advised</a:t>
            </a:r>
            <a:r>
              <a:rPr dirty="0" sz="1200" i="1">
                <a:latin typeface="Times New Roman"/>
                <a:cs typeface="Times New Roman"/>
              </a:rPr>
              <a:t> to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declare</a:t>
            </a:r>
            <a:r>
              <a:rPr dirty="0" sz="1200" i="1">
                <a:latin typeface="Times New Roman"/>
                <a:cs typeface="Times New Roman"/>
              </a:rPr>
              <a:t> their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jewelry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their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wealth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tax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Present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Modals: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i="1">
                <a:latin typeface="Times New Roman"/>
                <a:cs typeface="Times New Roman"/>
              </a:rPr>
              <a:t>Steps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must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taken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educate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public about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filling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tax</a:t>
            </a:r>
            <a:r>
              <a:rPr dirty="0" sz="1200" spc="-10" i="1">
                <a:latin typeface="Times New Roman"/>
                <a:cs typeface="Times New Roman"/>
              </a:rPr>
              <a:t> returns.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PAST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TENSES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Simple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Past: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i="1">
                <a:latin typeface="Times New Roman"/>
                <a:cs typeface="Times New Roman"/>
              </a:rPr>
              <a:t>Maps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rebel’s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hide-out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were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shown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press.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Past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continuous: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i="1">
                <a:latin typeface="Times New Roman"/>
                <a:cs typeface="Times New Roman"/>
              </a:rPr>
              <a:t>Until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recently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hand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crafted</a:t>
            </a:r>
            <a:r>
              <a:rPr dirty="0" sz="1200" spc="-5" i="1">
                <a:latin typeface="Times New Roman"/>
                <a:cs typeface="Times New Roman"/>
              </a:rPr>
              <a:t> jewelry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being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designed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locally.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Past</a:t>
            </a:r>
            <a:r>
              <a:rPr dirty="0" u="heavy" sz="12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Perfect: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i="1">
                <a:latin typeface="Times New Roman"/>
                <a:cs typeface="Times New Roman"/>
              </a:rPr>
              <a:t>Pakistani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carpets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always</a:t>
            </a:r>
            <a:r>
              <a:rPr dirty="0" sz="1200" spc="-5" i="1">
                <a:latin typeface="Times New Roman"/>
                <a:cs typeface="Times New Roman"/>
              </a:rPr>
              <a:t> been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designed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local</a:t>
            </a:r>
            <a:r>
              <a:rPr dirty="0" sz="1200" spc="-10" i="1">
                <a:latin typeface="Times New Roman"/>
                <a:cs typeface="Times New Roman"/>
              </a:rPr>
              <a:t> artists.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Perfect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Modals:</a:t>
            </a:r>
            <a:endParaRPr sz="1200">
              <a:latin typeface="Times New Roman"/>
              <a:cs typeface="Times New Roman"/>
            </a:endParaRPr>
          </a:p>
          <a:p>
            <a:pPr marL="12700" marR="1283335">
              <a:lnSpc>
                <a:spcPts val="1380"/>
              </a:lnSpc>
              <a:spcBef>
                <a:spcPts val="60"/>
              </a:spcBef>
            </a:pP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textile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industry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might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been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required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government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pay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taxes.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FUTUR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 T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NS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tabLst>
                <a:tab pos="9264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‘will’</a:t>
            </a:r>
            <a:r>
              <a:rPr dirty="0" sz="1200" b="1">
                <a:latin typeface="Times New Roman"/>
                <a:cs typeface="Times New Roman"/>
              </a:rPr>
              <a:t> -	</a:t>
            </a:r>
            <a:r>
              <a:rPr dirty="0" sz="1200" i="1">
                <a:latin typeface="Times New Roman"/>
                <a:cs typeface="Times New Roman"/>
              </a:rPr>
              <a:t>Teaching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assistants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1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u="sng" sz="1200" spc="1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used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assist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teachers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evaluating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students’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examination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scripts.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0"/>
              </a:lnSpc>
            </a:pPr>
            <a:r>
              <a:rPr dirty="0" sz="1200" b="1">
                <a:latin typeface="Times New Roman"/>
                <a:cs typeface="Times New Roman"/>
              </a:rPr>
              <a:t>‘going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to’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Factories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going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built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new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export promoting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zone.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470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Future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Perfect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405"/>
              </a:lnSpc>
              <a:tabLst>
                <a:tab pos="278765" algn="l"/>
              </a:tabLst>
            </a:pPr>
            <a:r>
              <a:rPr dirty="0" sz="1200">
                <a:latin typeface="Times New Roman"/>
                <a:cs typeface="Times New Roman"/>
              </a:rPr>
              <a:t>-	</a:t>
            </a:r>
            <a:r>
              <a:rPr dirty="0" sz="1200" i="1">
                <a:latin typeface="Times New Roman"/>
                <a:cs typeface="Times New Roman"/>
              </a:rPr>
              <a:t>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2010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canal</a:t>
            </a:r>
            <a:r>
              <a:rPr dirty="0" sz="1200" spc="-5" i="1">
                <a:latin typeface="Times New Roman"/>
                <a:cs typeface="Times New Roman"/>
              </a:rPr>
              <a:t> system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will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been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put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into</a:t>
            </a:r>
            <a:r>
              <a:rPr dirty="0" sz="1200" spc="-5" i="1">
                <a:latin typeface="Times New Roman"/>
                <a:cs typeface="Times New Roman"/>
              </a:rPr>
              <a:t> regular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Agent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Passive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Sentences: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405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passive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or </a:t>
            </a: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agent.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With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Agent: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passive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by</a:t>
            </a:r>
            <a:r>
              <a:rPr dirty="0" u="sng" sz="1200" spc="2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whom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by</a:t>
            </a:r>
            <a:r>
              <a:rPr dirty="0" u="sng" sz="1200" spc="229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what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action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performed.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named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important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0"/>
              </a:lnSpc>
            </a:pPr>
            <a:r>
              <a:rPr dirty="0" sz="1200" i="1">
                <a:latin typeface="Times New Roman"/>
                <a:cs typeface="Times New Roman"/>
              </a:rPr>
              <a:t>- The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accident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was caused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by</a:t>
            </a:r>
            <a:r>
              <a:rPr dirty="0" u="sng" sz="12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cyclist</a:t>
            </a:r>
            <a:r>
              <a:rPr dirty="0" sz="1200" i="1">
                <a:latin typeface="Times New Roman"/>
                <a:cs typeface="Times New Roman"/>
              </a:rPr>
              <a:t>.- </a:t>
            </a:r>
            <a:r>
              <a:rPr dirty="0" sz="1200" spc="-5" i="1">
                <a:latin typeface="Times New Roman"/>
                <a:cs typeface="Times New Roman"/>
              </a:rPr>
              <a:t>Noise</a:t>
            </a:r>
            <a:r>
              <a:rPr dirty="0" sz="1200" i="1">
                <a:latin typeface="Times New Roman"/>
                <a:cs typeface="Times New Roman"/>
              </a:rPr>
              <a:t> in our</a:t>
            </a:r>
            <a:r>
              <a:rPr dirty="0" sz="1200" spc="-5" i="1">
                <a:latin typeface="Times New Roman"/>
                <a:cs typeface="Times New Roman"/>
              </a:rPr>
              <a:t> neighborhood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produced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by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trains.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Without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Agent: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passive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named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5">
                <a:latin typeface="Times New Roman"/>
                <a:cs typeface="Times New Roman"/>
              </a:rPr>
              <a:t> conditions.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 When </a:t>
            </a:r>
            <a:r>
              <a:rPr dirty="0" sz="1200">
                <a:latin typeface="Times New Roman"/>
                <a:cs typeface="Times New Roman"/>
              </a:rPr>
              <a:t>the identity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mentioned.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5"/>
              </a:lnSpc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president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re-elected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another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year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(by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council)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Shina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spoken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many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parts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5" i="1">
                <a:latin typeface="Times New Roman"/>
                <a:cs typeface="Times New Roman"/>
              </a:rPr>
              <a:t> northern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areas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</a:t>
            </a:r>
            <a:r>
              <a:rPr dirty="0" sz="1200" i="1">
                <a:latin typeface="Times New Roman"/>
                <a:cs typeface="Times New Roman"/>
              </a:rPr>
              <a:t>Pakistan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(by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people)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2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agent</a:t>
            </a:r>
            <a:r>
              <a:rPr dirty="0" sz="1200" spc="-5">
                <a:latin typeface="Times New Roman"/>
                <a:cs typeface="Times New Roman"/>
              </a:rPr>
              <a:t> is unimportant. </a:t>
            </a:r>
            <a:r>
              <a:rPr dirty="0" sz="1200">
                <a:latin typeface="Times New Roman"/>
                <a:cs typeface="Times New Roman"/>
              </a:rPr>
              <a:t>e.g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Pakistan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television</a:t>
            </a:r>
            <a:r>
              <a:rPr dirty="0" sz="1200" spc="-5" i="1">
                <a:latin typeface="Times New Roman"/>
                <a:cs typeface="Times New Roman"/>
              </a:rPr>
              <a:t> newscasts are </a:t>
            </a:r>
            <a:r>
              <a:rPr dirty="0" sz="1200" i="1">
                <a:latin typeface="Times New Roman"/>
                <a:cs typeface="Times New Roman"/>
              </a:rPr>
              <a:t>translated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both English and Arabic. (by someone)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5"/>
              </a:lnSpc>
              <a:buAutoNum type="arabicPeriod" startAt="3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unknown: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 i="1">
                <a:latin typeface="Times New Roman"/>
                <a:cs typeface="Times New Roman"/>
              </a:rPr>
              <a:t>-An</a:t>
            </a:r>
            <a:r>
              <a:rPr dirty="0" sz="1200" spc="-5" i="1">
                <a:latin typeface="Times New Roman"/>
                <a:cs typeface="Times New Roman"/>
              </a:rPr>
              <a:t> error has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made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computer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input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data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(by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someone)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USES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PASSIVE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67640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you want to give your writing an </a:t>
            </a:r>
            <a:r>
              <a:rPr dirty="0" sz="1200" spc="-5">
                <a:latin typeface="Times New Roman"/>
                <a:cs typeface="Times New Roman"/>
              </a:rPr>
              <a:t>objective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impersonal </a:t>
            </a:r>
            <a:r>
              <a:rPr dirty="0" sz="1200">
                <a:latin typeface="Times New Roman"/>
                <a:cs typeface="Times New Roman"/>
              </a:rPr>
              <a:t>tone. It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often used 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scientific,</a:t>
            </a:r>
            <a:r>
              <a:rPr dirty="0" sz="1200" spc="-5">
                <a:latin typeface="Times New Roman"/>
                <a:cs typeface="Times New Roman"/>
              </a:rPr>
              <a:t> business</a:t>
            </a:r>
            <a:r>
              <a:rPr dirty="0" sz="1200">
                <a:latin typeface="Times New Roman"/>
                <a:cs typeface="Times New Roman"/>
              </a:rPr>
              <a:t> writing and newspaper reports.</a:t>
            </a:r>
            <a:endParaRPr sz="1200">
              <a:latin typeface="Times New Roman"/>
              <a:cs typeface="Times New Roman"/>
            </a:endParaRPr>
          </a:p>
          <a:p>
            <a:pPr algn="just"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you want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focus </a:t>
            </a:r>
            <a:r>
              <a:rPr dirty="0" sz="1200" spc="-5">
                <a:latin typeface="Times New Roman"/>
                <a:cs typeface="Times New Roman"/>
              </a:rPr>
              <a:t>attention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the receiver of 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action. e.g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If you are writing a paper about a </a:t>
            </a:r>
            <a:r>
              <a:rPr dirty="0" sz="1200" spc="-5">
                <a:latin typeface="Times New Roman"/>
                <a:cs typeface="Times New Roman"/>
              </a:rPr>
              <a:t>discovery, the use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passive will focus </a:t>
            </a:r>
            <a:r>
              <a:rPr dirty="0" sz="1200">
                <a:latin typeface="Times New Roman"/>
                <a:cs typeface="Times New Roman"/>
              </a:rPr>
              <a:t>on the </a:t>
            </a:r>
            <a:r>
              <a:rPr dirty="0" sz="1200" spc="-5">
                <a:latin typeface="Times New Roman"/>
                <a:cs typeface="Times New Roman"/>
              </a:rPr>
              <a:t>discovery. </a:t>
            </a:r>
            <a:r>
              <a:rPr dirty="0" sz="1200">
                <a:latin typeface="Times New Roman"/>
                <a:cs typeface="Times New Roman"/>
              </a:rPr>
              <a:t> But if you were to write with active verbs, the reader </a:t>
            </a:r>
            <a:r>
              <a:rPr dirty="0" sz="1200" spc="-5">
                <a:latin typeface="Times New Roman"/>
                <a:cs typeface="Times New Roman"/>
              </a:rPr>
              <a:t>might </a:t>
            </a:r>
            <a:r>
              <a:rPr dirty="0" sz="1200">
                <a:latin typeface="Times New Roman"/>
                <a:cs typeface="Times New Roman"/>
              </a:rPr>
              <a:t>think your paper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about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discovery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itself.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1922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5046980">
              <a:lnSpc>
                <a:spcPct val="1917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-43 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Word Order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lessons </a:t>
            </a:r>
            <a:r>
              <a:rPr dirty="0" sz="1200">
                <a:latin typeface="Times New Roman"/>
                <a:cs typeface="Times New Roman"/>
              </a:rPr>
              <a:t>on writing and, even in those on reading,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looked at how ideas 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organized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within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sentences.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today’s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lesson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shall </a:t>
            </a:r>
            <a:r>
              <a:rPr dirty="0" sz="1200" spc="-5">
                <a:latin typeface="Times New Roman"/>
                <a:cs typeface="Times New Roman"/>
              </a:rPr>
              <a:t>look </a:t>
            </a:r>
            <a:r>
              <a:rPr dirty="0" sz="1200">
                <a:latin typeface="Times New Roman"/>
                <a:cs typeface="Times New Roman"/>
              </a:rPr>
              <a:t>at the </a:t>
            </a:r>
            <a:r>
              <a:rPr dirty="0" sz="1200" spc="-5">
                <a:latin typeface="Times New Roman"/>
                <a:cs typeface="Times New Roman"/>
              </a:rPr>
              <a:t>way certain words </a:t>
            </a:r>
            <a:r>
              <a:rPr dirty="0" sz="1200">
                <a:latin typeface="Times New Roman"/>
                <a:cs typeface="Times New Roman"/>
              </a:rPr>
              <a:t>like </a:t>
            </a:r>
            <a:r>
              <a:rPr dirty="0" sz="1200" spc="-5">
                <a:latin typeface="Times New Roman"/>
                <a:cs typeface="Times New Roman"/>
              </a:rPr>
              <a:t>adverbs, which </a:t>
            </a:r>
            <a:r>
              <a:rPr dirty="0" sz="1200">
                <a:latin typeface="Times New Roman"/>
                <a:cs typeface="Times New Roman"/>
              </a:rPr>
              <a:t>cause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to learners of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English, are placed in </a:t>
            </a:r>
            <a:r>
              <a:rPr dirty="0" sz="1200" spc="-5">
                <a:latin typeface="Times New Roman"/>
                <a:cs typeface="Times New Roman"/>
              </a:rPr>
              <a:t>the sentence. </a:t>
            </a:r>
            <a:r>
              <a:rPr dirty="0" sz="1200">
                <a:latin typeface="Times New Roman"/>
                <a:cs typeface="Times New Roman"/>
              </a:rPr>
              <a:t>We are </a:t>
            </a:r>
            <a:r>
              <a:rPr dirty="0" sz="1200" spc="-5">
                <a:latin typeface="Times New Roman"/>
                <a:cs typeface="Times New Roman"/>
              </a:rPr>
              <a:t>going </a:t>
            </a:r>
            <a:r>
              <a:rPr dirty="0" sz="1200">
                <a:latin typeface="Times New Roman"/>
                <a:cs typeface="Times New Roman"/>
              </a:rPr>
              <a:t>to look at </a:t>
            </a:r>
            <a:r>
              <a:rPr dirty="0" sz="1200" spc="-5">
                <a:latin typeface="Times New Roman"/>
                <a:cs typeface="Times New Roman"/>
              </a:rPr>
              <a:t>ways words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positioned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practice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228600" indent="-216535">
              <a:lnSpc>
                <a:spcPts val="1410"/>
              </a:lnSpc>
              <a:buFont typeface="Times New Roman"/>
              <a:buAutoNum type="arabicParenBoth"/>
              <a:tabLst>
                <a:tab pos="229235" algn="l"/>
              </a:tabLst>
            </a:pPr>
            <a:r>
              <a:rPr dirty="0" sz="1200" b="1" i="1">
                <a:latin typeface="Times New Roman"/>
                <a:cs typeface="Times New Roman"/>
              </a:rPr>
              <a:t>Verb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+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object </a:t>
            </a:r>
            <a:r>
              <a:rPr dirty="0" sz="1200" b="1" i="1">
                <a:latin typeface="Times New Roman"/>
                <a:cs typeface="Times New Roman"/>
              </a:rPr>
              <a:t>-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place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and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time</a:t>
            </a:r>
            <a:endParaRPr sz="1200">
              <a:latin typeface="Times New Roman"/>
              <a:cs typeface="Times New Roman"/>
            </a:endParaRPr>
          </a:p>
          <a:p>
            <a:pPr marL="227965" indent="-215900">
              <a:lnSpc>
                <a:spcPts val="1380"/>
              </a:lnSpc>
              <a:buAutoNum type="arabicParenBoth"/>
              <a:tabLst>
                <a:tab pos="2286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probably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am,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is,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…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Font typeface="Times New Roman"/>
              <a:buAutoNum type="arabicParenBoth"/>
              <a:tabLst>
                <a:tab pos="229235" algn="l"/>
              </a:tabLst>
            </a:pPr>
            <a:r>
              <a:rPr dirty="0" sz="1200" b="1" i="1">
                <a:latin typeface="Times New Roman"/>
                <a:cs typeface="Times New Roman"/>
              </a:rPr>
              <a:t>Still,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yet,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anymore,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spc="-10" b="1" i="1">
                <a:latin typeface="Times New Roman"/>
                <a:cs typeface="Times New Roman"/>
              </a:rPr>
              <a:t>any </a:t>
            </a:r>
            <a:r>
              <a:rPr dirty="0" sz="1200" spc="-5" b="1" i="1">
                <a:latin typeface="Times New Roman"/>
                <a:cs typeface="Times New Roman"/>
              </a:rPr>
              <a:t>longer, no longer</a:t>
            </a:r>
            <a:endParaRPr sz="1200">
              <a:latin typeface="Times New Roman"/>
              <a:cs typeface="Times New Roman"/>
            </a:endParaRPr>
          </a:p>
          <a:p>
            <a:pPr marL="266700" indent="-216535">
              <a:lnSpc>
                <a:spcPts val="1380"/>
              </a:lnSpc>
              <a:buFont typeface="Times New Roman"/>
              <a:buAutoNum type="arabicParenBoth"/>
              <a:tabLst>
                <a:tab pos="267335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Although, </a:t>
            </a:r>
            <a:r>
              <a:rPr dirty="0" sz="1200" b="1" i="1">
                <a:latin typeface="Times New Roman"/>
                <a:cs typeface="Times New Roman"/>
              </a:rPr>
              <a:t>yet,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even</a:t>
            </a:r>
            <a:r>
              <a:rPr dirty="0" sz="1200" spc="-5" b="1" i="1">
                <a:latin typeface="Times New Roman"/>
                <a:cs typeface="Times New Roman"/>
              </a:rPr>
              <a:t> though,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in</a:t>
            </a:r>
            <a:r>
              <a:rPr dirty="0" sz="1200" b="1" i="1">
                <a:latin typeface="Times New Roman"/>
                <a:cs typeface="Times New Roman"/>
              </a:rPr>
              <a:t> spite</a:t>
            </a:r>
            <a:r>
              <a:rPr dirty="0" sz="1200" spc="-5" b="1" i="1">
                <a:latin typeface="Times New Roman"/>
                <a:cs typeface="Times New Roman"/>
              </a:rPr>
              <a:t> of, despite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Font typeface="Times New Roman"/>
              <a:buAutoNum type="arabicParenBoth"/>
              <a:tabLst>
                <a:tab pos="229235" algn="l"/>
              </a:tabLst>
            </a:pPr>
            <a:r>
              <a:rPr dirty="0" sz="1200" b="1" i="1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380"/>
              </a:lnSpc>
              <a:buFont typeface="Times New Roman"/>
              <a:buAutoNum type="arabicParenBoth"/>
              <a:tabLst>
                <a:tab pos="229235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As</a:t>
            </a:r>
            <a:r>
              <a:rPr dirty="0" sz="1200" spc="-2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(time)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as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10" b="1" i="1">
                <a:latin typeface="Times New Roman"/>
                <a:cs typeface="Times New Roman"/>
              </a:rPr>
              <a:t>(reason)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410"/>
              </a:lnSpc>
              <a:buAutoNum type="arabi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like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tabLst>
                <a:tab pos="279400" algn="l"/>
              </a:tabLst>
            </a:pPr>
            <a:r>
              <a:rPr dirty="0" sz="1200" b="1">
                <a:latin typeface="Times New Roman"/>
                <a:cs typeface="Times New Roman"/>
              </a:rPr>
              <a:t>1.	</a:t>
            </a:r>
            <a:r>
              <a:rPr dirty="0" sz="1200" spc="-5" b="1">
                <a:latin typeface="Times New Roman"/>
                <a:cs typeface="Times New Roman"/>
              </a:rPr>
              <a:t>Verb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Object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object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 </a:t>
            </a:r>
            <a:r>
              <a:rPr dirty="0" sz="1200">
                <a:latin typeface="Times New Roman"/>
                <a:cs typeface="Times New Roman"/>
              </a:rPr>
              <a:t>e.g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244508" y="4594352"/>
            <a:ext cx="550545" cy="384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7500">
              <a:lnSpc>
                <a:spcPts val="1415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V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tabLst>
                <a:tab pos="316865" algn="l"/>
              </a:tabLst>
            </a:pPr>
            <a:r>
              <a:rPr dirty="0" sz="1200" i="1">
                <a:latin typeface="Times New Roman"/>
                <a:cs typeface="Times New Roman"/>
              </a:rPr>
              <a:t>I	like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260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462920" y="4594352"/>
            <a:ext cx="1329690" cy="384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2434">
              <a:lnSpc>
                <a:spcPts val="1415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O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  <a:tabLst>
                <a:tab pos="6477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animals	</a:t>
            </a:r>
            <a:r>
              <a:rPr dirty="0" sz="1200" i="1">
                <a:latin typeface="Times New Roman"/>
                <a:cs typeface="Times New Roman"/>
              </a:rPr>
              <a:t>very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much.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4945634"/>
            <a:ext cx="5626100" cy="4238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32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27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5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very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much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animals.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203200" indent="-191135">
              <a:lnSpc>
                <a:spcPts val="1410"/>
              </a:lnSpc>
              <a:buAutoNum type="arabicPeriod"/>
              <a:tabLst>
                <a:tab pos="2038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Did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see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Fahd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yesterday?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Shazia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often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plays</a:t>
            </a:r>
            <a:r>
              <a:rPr dirty="0" sz="1200" spc="-2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tennis</a:t>
            </a:r>
            <a:r>
              <a:rPr dirty="0" sz="1200" spc="-5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165100" marR="3004820" indent="-152400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Do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house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every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fortnight?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clean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every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fortnight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house?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AutoNum type="arabicPeriod"/>
            </a:pPr>
            <a:endParaRPr sz="1150">
              <a:latin typeface="Times New Roman"/>
              <a:cs typeface="Times New Roman"/>
            </a:endParaRPr>
          </a:p>
          <a:p>
            <a:pPr marL="165100" marR="2835910" indent="-152400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Everybody enjoyed the picnic very </a:t>
            </a:r>
            <a:r>
              <a:rPr dirty="0" sz="1200" spc="-5">
                <a:latin typeface="Times New Roman"/>
                <a:cs typeface="Times New Roman"/>
              </a:rPr>
              <a:t>much. </a:t>
            </a:r>
            <a:r>
              <a:rPr dirty="0" sz="1200">
                <a:latin typeface="Times New Roman"/>
                <a:cs typeface="Times New Roman"/>
              </a:rPr>
              <a:t> Everybody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enjoyed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very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much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picnic.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165100" marR="3429000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 guide spoke French fluently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spoke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fluently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French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money,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jewelry.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money,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lost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also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jewelry.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65100" marR="1771014" indent="-152400">
              <a:lnSpc>
                <a:spcPts val="1380"/>
              </a:lnSpc>
              <a:buAutoNum type="arabicPeriod" startAt="7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>
                <a:latin typeface="Times New Roman"/>
                <a:cs typeface="Times New Roman"/>
              </a:rPr>
              <a:t>the end of the road you’ll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>
                <a:latin typeface="Times New Roman"/>
                <a:cs typeface="Times New Roman"/>
              </a:rPr>
              <a:t>a petrol </a:t>
            </a:r>
            <a:r>
              <a:rPr dirty="0" sz="1200" spc="-5">
                <a:latin typeface="Times New Roman"/>
                <a:cs typeface="Times New Roman"/>
              </a:rPr>
              <a:t>pump </a:t>
            </a:r>
            <a:r>
              <a:rPr dirty="0" sz="1200">
                <a:latin typeface="Times New Roman"/>
                <a:cs typeface="Times New Roman"/>
              </a:rPr>
              <a:t>on your left.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see </a:t>
            </a:r>
            <a:r>
              <a:rPr dirty="0" sz="1200" spc="-10" b="1">
                <a:latin typeface="Times New Roman"/>
                <a:cs typeface="Times New Roman"/>
              </a:rPr>
              <a:t>on </a:t>
            </a:r>
            <a:r>
              <a:rPr dirty="0" sz="1200" b="1">
                <a:latin typeface="Times New Roman"/>
                <a:cs typeface="Times New Roman"/>
              </a:rPr>
              <a:t>your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left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petrol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pump.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3065" algn="l"/>
              </a:tabLst>
            </a:pPr>
            <a:r>
              <a:rPr dirty="0" sz="1200" b="1">
                <a:latin typeface="Times New Roman"/>
                <a:cs typeface="Times New Roman"/>
              </a:rPr>
              <a:t>B)	Place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Time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(1)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(where?)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mentioned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(when?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often?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long?) e.g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2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65100" marR="3399790" indent="-15240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Huma </a:t>
            </a:r>
            <a:r>
              <a:rPr dirty="0" sz="1200">
                <a:latin typeface="Times New Roman"/>
                <a:cs typeface="Times New Roman"/>
              </a:rPr>
              <a:t>walks to work every </a:t>
            </a:r>
            <a:r>
              <a:rPr dirty="0" sz="1200" spc="-5">
                <a:latin typeface="Times New Roman"/>
                <a:cs typeface="Times New Roman"/>
              </a:rPr>
              <a:t>morning.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walks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every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morning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family</a:t>
            </a:r>
            <a:r>
              <a:rPr dirty="0" sz="1200" spc="-5">
                <a:latin typeface="Times New Roman"/>
                <a:cs typeface="Times New Roman"/>
              </a:rPr>
              <a:t> has been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-5">
                <a:latin typeface="Times New Roman"/>
                <a:cs typeface="Times New Roman"/>
              </a:rPr>
              <a:t> States since last</a:t>
            </a:r>
            <a:r>
              <a:rPr dirty="0" sz="1200">
                <a:latin typeface="Times New Roman"/>
                <a:cs typeface="Times New Roman"/>
              </a:rPr>
              <a:t> year.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arrived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railway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165100" marR="3848735" indent="-15240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I’m going to Sibi on Monday.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going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Monday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Sibi.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Times New Roman"/>
              <a:buAutoNum type="arabicPeriod"/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ct val="100000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night?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Decide whether</a:t>
            </a:r>
            <a:r>
              <a:rPr dirty="0" sz="1200" b="1">
                <a:latin typeface="Times New Roman"/>
                <a:cs typeface="Times New Roman"/>
              </a:rPr>
              <a:t> the </a:t>
            </a:r>
            <a:r>
              <a:rPr dirty="0" sz="1200" spc="-5" b="1">
                <a:latin typeface="Times New Roman"/>
                <a:cs typeface="Times New Roman"/>
              </a:rPr>
              <a:t>word</a:t>
            </a:r>
            <a:r>
              <a:rPr dirty="0" sz="1200" b="1">
                <a:latin typeface="Times New Roman"/>
                <a:cs typeface="Times New Roman"/>
              </a:rPr>
              <a:t> order </a:t>
            </a:r>
            <a:r>
              <a:rPr dirty="0" sz="1200" spc="-5" b="1">
                <a:latin typeface="Times New Roman"/>
                <a:cs typeface="Times New Roman"/>
              </a:rPr>
              <a:t>is </a:t>
            </a:r>
            <a:r>
              <a:rPr dirty="0" sz="1200" b="1">
                <a:latin typeface="Times New Roman"/>
                <a:cs typeface="Times New Roman"/>
              </a:rPr>
              <a:t>right</a:t>
            </a:r>
            <a:r>
              <a:rPr dirty="0" sz="1200" spc="-5" b="1">
                <a:latin typeface="Times New Roman"/>
                <a:cs typeface="Times New Roman"/>
              </a:rPr>
              <a:t> (R)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-5" b="1">
                <a:latin typeface="Times New Roman"/>
                <a:cs typeface="Times New Roman"/>
              </a:rPr>
              <a:t> wrong </a:t>
            </a:r>
            <a:r>
              <a:rPr dirty="0" sz="1200" b="1">
                <a:latin typeface="Times New Roman"/>
                <a:cs typeface="Times New Roman"/>
              </a:rPr>
              <a:t>(W)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  <a:tab pos="2624455" algn="l"/>
              </a:tabLst>
            </a:pPr>
            <a:r>
              <a:rPr dirty="0" sz="1200">
                <a:latin typeface="Times New Roman"/>
                <a:cs typeface="Times New Roman"/>
              </a:rPr>
              <a:t>Tony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walks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morning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331720" algn="l"/>
              </a:tabLst>
            </a:pPr>
            <a:r>
              <a:rPr dirty="0" sz="1200">
                <a:latin typeface="Times New Roman"/>
                <a:cs typeface="Times New Roman"/>
              </a:rPr>
              <a:t>Maha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speaks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French.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3220720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quickly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breakfast,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204279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3152775" algn="l"/>
              </a:tabLst>
            </a:pP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things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today?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  <a:tab pos="3249295" algn="l"/>
              </a:tabLst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name.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228600" indent="-216535">
              <a:lnSpc>
                <a:spcPts val="1405"/>
              </a:lnSpc>
              <a:buAutoNum type="arabicParenBoth" startAt="2"/>
              <a:tabLst>
                <a:tab pos="2292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Adverbs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Verb:</a:t>
            </a:r>
            <a:endParaRPr sz="1200">
              <a:latin typeface="Times New Roman"/>
              <a:cs typeface="Times New Roman"/>
            </a:endParaRPr>
          </a:p>
          <a:p>
            <a:pPr algn="just" lvl="1" marL="12700" marR="271145">
              <a:lnSpc>
                <a:spcPts val="1380"/>
              </a:lnSpc>
              <a:spcBef>
                <a:spcPts val="60"/>
              </a:spcBef>
              <a:buAutoNum type="alphaLcParenBoth"/>
              <a:tabLst>
                <a:tab pos="22923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There are some </a:t>
            </a:r>
            <a:r>
              <a:rPr dirty="0" sz="1200">
                <a:latin typeface="Times New Roman"/>
                <a:cs typeface="Times New Roman"/>
              </a:rPr>
              <a:t>adverbs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‘always’, </a:t>
            </a:r>
            <a:r>
              <a:rPr dirty="0" sz="1200" spc="-5">
                <a:latin typeface="Times New Roman"/>
                <a:cs typeface="Times New Roman"/>
              </a:rPr>
              <a:t>‘also’, </a:t>
            </a:r>
            <a:r>
              <a:rPr dirty="0" sz="1200">
                <a:latin typeface="Times New Roman"/>
                <a:cs typeface="Times New Roman"/>
              </a:rPr>
              <a:t>‘probably’ that </a:t>
            </a:r>
            <a:r>
              <a:rPr dirty="0" sz="1200" spc="-5">
                <a:latin typeface="Times New Roman"/>
                <a:cs typeface="Times New Roman"/>
              </a:rPr>
              <a:t>are generally put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verb in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middle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 sentence. This </a:t>
            </a:r>
            <a:r>
              <a:rPr dirty="0" sz="1200" spc="-5">
                <a:latin typeface="Times New Roman"/>
                <a:cs typeface="Times New Roman"/>
              </a:rPr>
              <a:t>happens when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verb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one word</a:t>
            </a:r>
            <a:r>
              <a:rPr dirty="0" sz="1200" spc="-5">
                <a:latin typeface="Times New Roman"/>
                <a:cs typeface="Times New Roman"/>
              </a:rPr>
              <a:t>. (Such as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goes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fall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e.g.</a:t>
            </a:r>
            <a:endParaRPr sz="1200">
              <a:latin typeface="Times New Roman"/>
              <a:cs typeface="Times New Roman"/>
            </a:endParaRPr>
          </a:p>
          <a:p>
            <a:pPr marL="139065" indent="-89535">
              <a:lnSpc>
                <a:spcPts val="1315"/>
              </a:lnSpc>
              <a:buChar char="-"/>
              <a:tabLst>
                <a:tab pos="139700" algn="l"/>
              </a:tabLst>
            </a:pPr>
            <a:r>
              <a:rPr dirty="0" sz="1200" spc="-5">
                <a:latin typeface="Times New Roman"/>
                <a:cs typeface="Times New Roman"/>
              </a:rPr>
              <a:t>Huma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always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bus.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feeling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tired.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hungry.</a:t>
            </a:r>
            <a:endParaRPr sz="1200">
              <a:latin typeface="Times New Roman"/>
              <a:cs typeface="Times New Roman"/>
            </a:endParaRPr>
          </a:p>
          <a:p>
            <a:pPr marL="12700" marR="3176270">
              <a:lnSpc>
                <a:spcPts val="1380"/>
              </a:lnSpc>
              <a:spcBef>
                <a:spcPts val="70"/>
              </a:spcBef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Your bike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probably</a:t>
            </a:r>
            <a:r>
              <a:rPr dirty="0" sz="1200">
                <a:latin typeface="Times New Roman"/>
                <a:cs typeface="Times New Roman"/>
              </a:rPr>
              <a:t> been stolen.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sz="1200" i="1">
                <a:latin typeface="Times New Roman"/>
                <a:cs typeface="Times New Roman"/>
              </a:rPr>
              <a:t>Always’,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‘often’,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‘also’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to’</a:t>
            </a:r>
            <a:endParaRPr sz="1200">
              <a:latin typeface="Times New Roman"/>
              <a:cs typeface="Times New Roman"/>
            </a:endParaRPr>
          </a:p>
          <a:p>
            <a:pPr marL="12700" marR="271145" indent="38100">
              <a:lnSpc>
                <a:spcPts val="1380"/>
              </a:lnSpc>
              <a:buChar char="-"/>
              <a:tabLst>
                <a:tab pos="1612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always</a:t>
            </a:r>
            <a:r>
              <a:rPr dirty="0" u="sng" sz="1200" spc="1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have</a:t>
            </a:r>
            <a:r>
              <a:rPr dirty="0" u="sng" sz="1200" spc="1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professor.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after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verbs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i="1">
                <a:latin typeface="Times New Roman"/>
                <a:cs typeface="Times New Roman"/>
              </a:rPr>
              <a:t>am, is,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was, were</a:t>
            </a:r>
            <a:endParaRPr sz="1200">
              <a:latin typeface="Times New Roman"/>
              <a:cs typeface="Times New Roman"/>
            </a:endParaRPr>
          </a:p>
          <a:p>
            <a:pPr marL="139065" indent="-88900">
              <a:lnSpc>
                <a:spcPts val="1345"/>
              </a:lnSpc>
              <a:buChar char="-"/>
              <a:tabLst>
                <a:tab pos="1397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also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hungry.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24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(b) </a:t>
            </a:r>
            <a:r>
              <a:rPr dirty="0" sz="1200" spc="-5">
                <a:latin typeface="Times New Roman"/>
                <a:cs typeface="Times New Roman"/>
              </a:rPr>
              <a:t>Sometimes </a:t>
            </a:r>
            <a:r>
              <a:rPr dirty="0" sz="1200">
                <a:latin typeface="Times New Roman"/>
                <a:cs typeface="Times New Roman"/>
              </a:rPr>
              <a:t>when a verb </a:t>
            </a:r>
            <a:r>
              <a:rPr dirty="0" sz="1200" spc="-5">
                <a:latin typeface="Times New Roman"/>
                <a:cs typeface="Times New Roman"/>
              </a:rPr>
              <a:t>is composed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more words </a:t>
            </a:r>
            <a:r>
              <a:rPr dirty="0" sz="1200">
                <a:latin typeface="Times New Roman"/>
                <a:cs typeface="Times New Roman"/>
              </a:rPr>
              <a:t>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i="1">
                <a:latin typeface="Times New Roman"/>
                <a:cs typeface="Times New Roman"/>
              </a:rPr>
              <a:t>can </a:t>
            </a:r>
            <a:r>
              <a:rPr dirty="0" sz="1200" spc="-5" i="1">
                <a:latin typeface="Times New Roman"/>
                <a:cs typeface="Times New Roman"/>
              </a:rPr>
              <a:t>remember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doesn’t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drive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5" i="1">
                <a:latin typeface="Times New Roman"/>
                <a:cs typeface="Times New Roman"/>
              </a:rPr>
              <a:t>has </a:t>
            </a:r>
            <a:r>
              <a:rPr dirty="0" sz="1200" i="1">
                <a:latin typeface="Times New Roman"/>
                <a:cs typeface="Times New Roman"/>
              </a:rPr>
              <a:t>/ </a:t>
            </a:r>
            <a:r>
              <a:rPr dirty="0" sz="1200" spc="-5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been eaten;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adverb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first</a:t>
            </a:r>
            <a:r>
              <a:rPr dirty="0" sz="1200" b="1" i="1">
                <a:latin typeface="Times New Roman"/>
                <a:cs typeface="Times New Roman"/>
              </a:rPr>
              <a:t> part </a:t>
            </a:r>
            <a:r>
              <a:rPr dirty="0" sz="1200" spc="-5" b="1" i="1">
                <a:latin typeface="Times New Roman"/>
                <a:cs typeface="Times New Roman"/>
              </a:rPr>
              <a:t>of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the </a:t>
            </a:r>
            <a:r>
              <a:rPr dirty="0" sz="1200" b="1" i="1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6950" y="7427806"/>
          <a:ext cx="4025265" cy="889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655"/>
                <a:gridCol w="855344"/>
                <a:gridCol w="958850"/>
                <a:gridCol w="1415414"/>
              </a:tblGrid>
              <a:tr h="1910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310"/>
                        </a:lnSpc>
                      </a:pPr>
                      <a:r>
                        <a:rPr dirty="0" baseline="-6944" sz="1800" spc="-7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9550">
                        <a:lnSpc>
                          <a:spcPts val="1385"/>
                        </a:lnSpc>
                        <a:spcBef>
                          <a:spcPts val="2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ADV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/>
                </a:tc>
                <a:tc>
                  <a:txBody>
                    <a:bodyPr/>
                    <a:lstStyle/>
                    <a:p>
                      <a:pPr algn="ctr" marL="15875">
                        <a:lnSpc>
                          <a:spcPts val="1310"/>
                        </a:lnSpc>
                      </a:pPr>
                      <a:r>
                        <a:rPr dirty="0" baseline="-6944" sz="1800" spc="-7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can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95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never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573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remember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name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don’t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95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usually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smoke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you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95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definitely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resigning?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 marL="3175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Your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bike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ts val="125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has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probably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been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stolen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1016000" y="9011496"/>
            <a:ext cx="3869054" cy="4273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probably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won’t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marL="1539240">
              <a:lnSpc>
                <a:spcPct val="100000"/>
              </a:lnSpc>
              <a:spcBef>
                <a:spcPts val="46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270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8644382"/>
            <a:ext cx="42614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negative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probably </a:t>
            </a:r>
            <a:r>
              <a:rPr dirty="0" sz="1200">
                <a:latin typeface="Times New Roman"/>
                <a:cs typeface="Times New Roman"/>
              </a:rPr>
              <a:t>goes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negative.</a:t>
            </a:r>
            <a:r>
              <a:rPr dirty="0" sz="1200" spc="-5">
                <a:latin typeface="Times New Roman"/>
                <a:cs typeface="Times New Roman"/>
              </a:rPr>
              <a:t> So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have: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will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probably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see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 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Decide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whether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underlined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correct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order.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wrong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R </a:t>
            </a:r>
            <a:r>
              <a:rPr dirty="0" sz="1200" b="1">
                <a:latin typeface="Times New Roman"/>
                <a:cs typeface="Times New Roman"/>
              </a:rPr>
              <a:t>for right.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  <a:tab pos="330962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washed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clothes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also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cooked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dinner. 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380"/>
              </a:lnSpc>
              <a:buAutoNum type="arabicPeriod"/>
              <a:tabLst>
                <a:tab pos="203200" algn="l"/>
                <a:tab pos="3359785" algn="l"/>
              </a:tabLst>
            </a:pP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tourists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French.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623185" algn="l"/>
              </a:tabLst>
            </a:pP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hardly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angry.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3366135" algn="l"/>
                <a:tab pos="367157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usually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3515995" algn="l"/>
                <a:tab pos="3897629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usually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work.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030095" algn="l"/>
                <a:tab pos="241173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probably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see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  <a:tab pos="2449830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won’t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 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(3)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position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still, </a:t>
            </a:r>
            <a:r>
              <a:rPr dirty="0" sz="1200" b="1" i="1">
                <a:latin typeface="Times New Roman"/>
                <a:cs typeface="Times New Roman"/>
              </a:rPr>
              <a:t>yet, </a:t>
            </a:r>
            <a:r>
              <a:rPr dirty="0" sz="1200" spc="-5" b="1" i="1">
                <a:latin typeface="Times New Roman"/>
                <a:cs typeface="Times New Roman"/>
              </a:rPr>
              <a:t>anymore,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any </a:t>
            </a:r>
            <a:r>
              <a:rPr dirty="0" sz="1200" b="1" i="1">
                <a:latin typeface="Times New Roman"/>
                <a:cs typeface="Times New Roman"/>
              </a:rPr>
              <a:t>longer, </a:t>
            </a:r>
            <a:r>
              <a:rPr dirty="0" sz="1200" spc="-5" b="1" i="1">
                <a:latin typeface="Times New Roman"/>
                <a:cs typeface="Times New Roman"/>
              </a:rPr>
              <a:t>no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longer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sentence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</a:pPr>
            <a:r>
              <a:rPr dirty="0" sz="1200" b="1" i="1">
                <a:latin typeface="Times New Roman"/>
                <a:cs typeface="Times New Roman"/>
              </a:rPr>
              <a:t>Still</a:t>
            </a:r>
            <a:r>
              <a:rPr dirty="0" sz="1200" spc="1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continuing.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Still</a:t>
            </a:r>
            <a:r>
              <a:rPr dirty="0" sz="1200" spc="1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middle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verb. </a:t>
            </a:r>
            <a:r>
              <a:rPr dirty="0" sz="1200">
                <a:latin typeface="Times New Roman"/>
                <a:cs typeface="Times New Roman"/>
              </a:rPr>
              <a:t>e.g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11:00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Sara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working.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moved?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-Do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 want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go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post</a:t>
            </a:r>
            <a:r>
              <a:rPr dirty="0" sz="1200" spc="-5">
                <a:latin typeface="Times New Roman"/>
                <a:cs typeface="Times New Roman"/>
              </a:rPr>
              <a:t> office,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 b="1" i="1">
                <a:latin typeface="Times New Roman"/>
                <a:cs typeface="Times New Roman"/>
              </a:rPr>
              <a:t>Yet</a:t>
            </a:r>
            <a:r>
              <a:rPr dirty="0" sz="1200" spc="23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happened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Yet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negative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u="heavy" sz="12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Yet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finished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suitcase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yet?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o’clock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typist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arrived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-We’re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hungry.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dinner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yet?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90550" indent="38100">
              <a:lnSpc>
                <a:spcPts val="138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 finished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washing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dress </a:t>
            </a:r>
            <a:r>
              <a:rPr dirty="0" sz="1200">
                <a:latin typeface="Times New Roman"/>
                <a:cs typeface="Times New Roman"/>
              </a:rPr>
              <a:t>yet?).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still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 b="1" i="1">
                <a:latin typeface="Times New Roman"/>
                <a:cs typeface="Times New Roman"/>
              </a:rPr>
              <a:t>yet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following sentences.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still</a:t>
            </a:r>
            <a:r>
              <a:rPr dirty="0" sz="1200" spc="-5" i="1">
                <a:latin typeface="Times New Roman"/>
                <a:cs typeface="Times New Roman"/>
              </a:rPr>
              <a:t> unemployed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hasn’t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found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yet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still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raining?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stopped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yet</a:t>
            </a:r>
            <a:r>
              <a:rPr dirty="0" sz="1200" spc="-5">
                <a:latin typeface="Times New Roman"/>
                <a:cs typeface="Times New Roman"/>
              </a:rPr>
              <a:t>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  <a:spcBef>
                <a:spcPts val="5"/>
              </a:spcBef>
            </a:pPr>
            <a:r>
              <a:rPr dirty="0" sz="1200" b="1" i="1">
                <a:latin typeface="Times New Roman"/>
                <a:cs typeface="Times New Roman"/>
              </a:rPr>
              <a:t>Still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negative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-She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 she </a:t>
            </a:r>
            <a:r>
              <a:rPr dirty="0" sz="1200" spc="-5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half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hour ago,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still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5" i="1">
                <a:latin typeface="Times New Roman"/>
                <a:cs typeface="Times New Roman"/>
              </a:rPr>
              <a:t>n’t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come.</a:t>
            </a:r>
            <a:endParaRPr sz="1200">
              <a:latin typeface="Times New Roman"/>
              <a:cs typeface="Times New Roman"/>
            </a:endParaRPr>
          </a:p>
          <a:p>
            <a:pPr marL="12700" marR="270510" indent="38100">
              <a:lnSpc>
                <a:spcPts val="1380"/>
              </a:lnSpc>
              <a:spcBef>
                <a:spcPts val="65"/>
              </a:spcBef>
            </a:pPr>
            <a:r>
              <a:rPr dirty="0" sz="1200" i="1">
                <a:latin typeface="Times New Roman"/>
                <a:cs typeface="Times New Roman"/>
              </a:rPr>
              <a:t>‘She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still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hasn’t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come’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stronger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feeling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impatience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sentences: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soon)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have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now)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 indent="38100">
              <a:lnSpc>
                <a:spcPts val="1380"/>
              </a:lnSpc>
            </a:pPr>
            <a:r>
              <a:rPr dirty="0" sz="1200" spc="-5" b="1" i="1">
                <a:latin typeface="Times New Roman"/>
                <a:cs typeface="Times New Roman"/>
              </a:rPr>
              <a:t>not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…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anymore,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not…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any</a:t>
            </a:r>
            <a:r>
              <a:rPr dirty="0" sz="1200" spc="1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longer</a:t>
            </a:r>
            <a:r>
              <a:rPr dirty="0" sz="1200" spc="195" b="1" i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no…</a:t>
            </a:r>
            <a:r>
              <a:rPr dirty="0" sz="1200" spc="9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longer</a:t>
            </a:r>
            <a:r>
              <a:rPr dirty="0" sz="1200" spc="9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changed.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longer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>
                <a:latin typeface="Times New Roman"/>
                <a:cs typeface="Times New Roman"/>
              </a:rPr>
              <a:t> 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end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sentence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992444"/>
            <a:ext cx="3869054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Mir doesn’t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2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longer.</a:t>
            </a:r>
            <a:endParaRPr sz="1200">
              <a:latin typeface="Times New Roman"/>
              <a:cs typeface="Times New Roman"/>
            </a:endParaRPr>
          </a:p>
          <a:p>
            <a:pPr marL="153924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271</a:t>
            </a:fld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00965" indent="-88900">
              <a:lnSpc>
                <a:spcPct val="100000"/>
              </a:lnSpc>
              <a:spcBef>
                <a:spcPts val="1070"/>
              </a:spcBef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once,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friends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any</a:t>
            </a:r>
            <a:r>
              <a:rPr dirty="0" sz="1200" spc="-5" i="1">
                <a:latin typeface="Times New Roman"/>
                <a:cs typeface="Times New Roman"/>
              </a:rPr>
              <a:t> more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longer.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Char char="-"/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 i="1">
                <a:latin typeface="Times New Roman"/>
                <a:cs typeface="Times New Roman"/>
              </a:rPr>
              <a:t>No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longer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middle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longer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friends.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longer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b="1" i="1">
                <a:latin typeface="Times New Roman"/>
                <a:cs typeface="Times New Roman"/>
              </a:rPr>
              <a:t>no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more’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cannot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have: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He is </a:t>
            </a:r>
            <a:r>
              <a:rPr dirty="0" sz="1200" i="1">
                <a:latin typeface="Times New Roman"/>
                <a:cs typeface="Times New Roman"/>
              </a:rPr>
              <a:t>no longer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employee.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*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employee.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Change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still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174117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65100" algn="l"/>
                <a:tab pos="2801620" algn="l"/>
              </a:tabLst>
            </a:pPr>
            <a:r>
              <a:rPr dirty="0" sz="1200">
                <a:latin typeface="Times New Roman"/>
                <a:cs typeface="Times New Roman"/>
              </a:rPr>
              <a:t>Tony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beard.	(still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hair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but..).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(Tony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still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hair, 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doesn’t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.)</a:t>
            </a:r>
            <a:endParaRPr sz="1200">
              <a:latin typeface="Times New Roman"/>
              <a:cs typeface="Times New Roman"/>
            </a:endParaRPr>
          </a:p>
          <a:p>
            <a:pPr marL="88900" marR="1953260" indent="-76200">
              <a:lnSpc>
                <a:spcPts val="1380"/>
              </a:lnSpc>
              <a:buAutoNum type="arabicPeriod"/>
              <a:tabLst>
                <a:tab pos="165100" algn="l"/>
                <a:tab pos="2692400" algn="l"/>
              </a:tabLst>
            </a:pPr>
            <a:r>
              <a:rPr dirty="0" sz="1200">
                <a:latin typeface="Times New Roman"/>
                <a:cs typeface="Times New Roman"/>
              </a:rPr>
              <a:t>Teddy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tennis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football.	(still / tennis but).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(Teddy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still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plays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tennis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doesn’t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play </a:t>
            </a:r>
            <a:r>
              <a:rPr dirty="0" sz="1200">
                <a:latin typeface="Times New Roman"/>
                <a:cs typeface="Times New Roman"/>
              </a:rPr>
              <a:t>football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.)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Mother</a:t>
            </a:r>
            <a:r>
              <a:rPr dirty="0" sz="1200" spc="-5">
                <a:latin typeface="Times New Roman"/>
                <a:cs typeface="Times New Roman"/>
              </a:rPr>
              <a:t> was </a:t>
            </a:r>
            <a:r>
              <a:rPr dirty="0" sz="1200">
                <a:latin typeface="Times New Roman"/>
                <a:cs typeface="Times New Roman"/>
              </a:rPr>
              <a:t>in hospital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she was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critical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condition.</a:t>
            </a:r>
            <a:r>
              <a:rPr dirty="0" sz="1200" spc="-5">
                <a:latin typeface="Times New Roman"/>
                <a:cs typeface="Times New Roman"/>
              </a:rPr>
              <a:t> (still </a:t>
            </a:r>
            <a:r>
              <a:rPr dirty="0" sz="1200">
                <a:latin typeface="Times New Roman"/>
                <a:cs typeface="Times New Roman"/>
              </a:rPr>
              <a:t>/ hospital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but...)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Mother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still </a:t>
            </a:r>
            <a:r>
              <a:rPr dirty="0" sz="1200">
                <a:latin typeface="Times New Roman"/>
                <a:cs typeface="Times New Roman"/>
              </a:rPr>
              <a:t>in hospital but</a:t>
            </a:r>
            <a:r>
              <a:rPr dirty="0" sz="1200" spc="-5">
                <a:latin typeface="Times New Roman"/>
                <a:cs typeface="Times New Roman"/>
              </a:rPr>
              <a:t> she </a:t>
            </a:r>
            <a:r>
              <a:rPr dirty="0" sz="1200" i="1">
                <a:latin typeface="Times New Roman"/>
                <a:cs typeface="Times New Roman"/>
              </a:rPr>
              <a:t>isn’t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critical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995930" algn="l"/>
              </a:tabLst>
            </a:pPr>
            <a:r>
              <a:rPr dirty="0" sz="1200" spc="-5">
                <a:latin typeface="Times New Roman"/>
                <a:cs typeface="Times New Roman"/>
              </a:rPr>
              <a:t>4. </a:t>
            </a:r>
            <a:r>
              <a:rPr dirty="0" sz="1200">
                <a:latin typeface="Times New Roman"/>
                <a:cs typeface="Times New Roman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>
                <a:latin typeface="Times New Roman"/>
                <a:cs typeface="Times New Roman"/>
              </a:rPr>
              <a:t>to like</a:t>
            </a:r>
            <a:r>
              <a:rPr dirty="0" sz="1200" spc="-5">
                <a:latin typeface="Times New Roman"/>
                <a:cs typeface="Times New Roman"/>
              </a:rPr>
              <a:t> Kathy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Karen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(still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Kathy	but…)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still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Kathy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Karen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5.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a 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batsman,</a:t>
            </a:r>
            <a:r>
              <a:rPr dirty="0" sz="1200">
                <a:latin typeface="Times New Roman"/>
                <a:cs typeface="Times New Roman"/>
              </a:rPr>
              <a:t> and he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>
                <a:latin typeface="Times New Roman"/>
                <a:cs typeface="Times New Roman"/>
              </a:rPr>
              <a:t> in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team.</a:t>
            </a:r>
            <a:r>
              <a:rPr dirty="0" sz="1200">
                <a:latin typeface="Times New Roman"/>
                <a:cs typeface="Times New Roman"/>
              </a:rPr>
              <a:t> (still / 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batsman</a:t>
            </a:r>
            <a:r>
              <a:rPr dirty="0" sz="1200">
                <a:latin typeface="Times New Roman"/>
                <a:cs typeface="Times New Roman"/>
              </a:rPr>
              <a:t> but)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still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good batsman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isn’t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best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team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2699385" algn="l"/>
              </a:tabLst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feeling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depressed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homesick.	</a:t>
            </a:r>
            <a:r>
              <a:rPr dirty="0" sz="1200">
                <a:latin typeface="Times New Roman"/>
                <a:cs typeface="Times New Roman"/>
              </a:rPr>
              <a:t>(still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depressed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but….)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 am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 </a:t>
            </a:r>
            <a:r>
              <a:rPr dirty="0" sz="1200" spc="-5">
                <a:latin typeface="Times New Roman"/>
                <a:cs typeface="Times New Roman"/>
              </a:rPr>
              <a:t>feeling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depressed</a:t>
            </a:r>
            <a:r>
              <a:rPr dirty="0" sz="1200">
                <a:latin typeface="Times New Roman"/>
                <a:cs typeface="Times New Roman"/>
              </a:rPr>
              <a:t> but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homesick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anymore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3105785">
              <a:lnSpc>
                <a:spcPts val="1380"/>
              </a:lnSpc>
              <a:buFont typeface="Times New Roman"/>
              <a:buAutoNum type="arabicParenBoth" startAt="4"/>
              <a:tabLst>
                <a:tab pos="26733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although </a:t>
            </a:r>
            <a:r>
              <a:rPr dirty="0" sz="1200" b="1" i="1">
                <a:latin typeface="Times New Roman"/>
                <a:cs typeface="Times New Roman"/>
              </a:rPr>
              <a:t>/</a:t>
            </a:r>
            <a:r>
              <a:rPr dirty="0" sz="1200" spc="-5" b="1" i="1">
                <a:latin typeface="Times New Roman"/>
                <a:cs typeface="Times New Roman"/>
              </a:rPr>
              <a:t> though </a:t>
            </a:r>
            <a:r>
              <a:rPr dirty="0" sz="1200" b="1" i="1">
                <a:latin typeface="Times New Roman"/>
                <a:cs typeface="Times New Roman"/>
              </a:rPr>
              <a:t>/</a:t>
            </a:r>
            <a:r>
              <a:rPr dirty="0" sz="1200" spc="-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even </a:t>
            </a:r>
            <a:r>
              <a:rPr dirty="0" sz="1200" spc="-28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though </a:t>
            </a:r>
            <a:r>
              <a:rPr dirty="0" sz="1200" b="1" i="1">
                <a:latin typeface="Times New Roman"/>
                <a:cs typeface="Times New Roman"/>
              </a:rPr>
              <a:t>/ </a:t>
            </a:r>
            <a:r>
              <a:rPr dirty="0" sz="1200" spc="-5" b="1" i="1">
                <a:latin typeface="Times New Roman"/>
                <a:cs typeface="Times New Roman"/>
              </a:rPr>
              <a:t>in</a:t>
            </a:r>
            <a:r>
              <a:rPr dirty="0" sz="1200" b="1" i="1">
                <a:latin typeface="Times New Roman"/>
                <a:cs typeface="Times New Roman"/>
              </a:rPr>
              <a:t> spite </a:t>
            </a:r>
            <a:r>
              <a:rPr dirty="0" sz="1200" spc="-5" b="1" i="1">
                <a:latin typeface="Times New Roman"/>
                <a:cs typeface="Times New Roman"/>
              </a:rPr>
              <a:t>of</a:t>
            </a:r>
            <a:r>
              <a:rPr dirty="0" sz="1200" b="1" i="1">
                <a:latin typeface="Times New Roman"/>
                <a:cs typeface="Times New Roman"/>
              </a:rPr>
              <a:t> /</a:t>
            </a:r>
            <a:r>
              <a:rPr dirty="0" sz="1200" spc="-5" b="1" i="1">
                <a:latin typeface="Times New Roman"/>
                <a:cs typeface="Times New Roman"/>
              </a:rPr>
              <a:t> despite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1" marL="262255" indent="-250190">
              <a:lnSpc>
                <a:spcPts val="1315"/>
              </a:lnSpc>
              <a:buAutoNum type="alphaUcParenBoth"/>
              <a:tabLst>
                <a:tab pos="262890" algn="l"/>
              </a:tabLst>
            </a:pP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healthy.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rained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holidays.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although 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had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necessary qualifications.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noun,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-ing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5" i="1">
                <a:latin typeface="Times New Roman"/>
                <a:cs typeface="Times New Roman"/>
              </a:rPr>
              <a:t> spite 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/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despite.</a:t>
            </a:r>
            <a:endParaRPr sz="1200">
              <a:latin typeface="Times New Roman"/>
              <a:cs typeface="Times New Roman"/>
            </a:endParaRPr>
          </a:p>
          <a:p>
            <a:pPr marL="139700" indent="-89535">
              <a:lnSpc>
                <a:spcPts val="1380"/>
              </a:lnSpc>
              <a:buFont typeface="Times New Roman"/>
              <a:buChar char="-"/>
              <a:tabLst>
                <a:tab pos="140335" algn="l"/>
              </a:tabLst>
            </a:pP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rain),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enjoyed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holidays.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(working)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Despite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(what)</a:t>
            </a:r>
            <a:r>
              <a:rPr dirty="0" sz="1200" spc="-5">
                <a:latin typeface="Times New Roman"/>
                <a:cs typeface="Times New Roman"/>
              </a:rPr>
              <a:t> she said,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still</a:t>
            </a:r>
            <a:r>
              <a:rPr dirty="0" sz="1200" spc="-5">
                <a:latin typeface="Times New Roman"/>
                <a:cs typeface="Times New Roman"/>
              </a:rPr>
              <a:t> think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is worthless.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Note</a:t>
            </a:r>
            <a:r>
              <a:rPr dirty="0" sz="1200" spc="-5">
                <a:latin typeface="Times New Roman"/>
                <a:cs typeface="Times New Roman"/>
              </a:rPr>
              <a:t>:‘In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spite’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‘despite’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doesn’t</a:t>
            </a:r>
            <a:endParaRPr sz="1200">
              <a:latin typeface="Times New Roman"/>
              <a:cs typeface="Times New Roman"/>
            </a:endParaRPr>
          </a:p>
          <a:p>
            <a:pPr marL="220345" indent="-208279">
              <a:lnSpc>
                <a:spcPts val="1380"/>
              </a:lnSpc>
              <a:buFont typeface="Times New Roman"/>
              <a:buAutoNum type="alphaLcParenBoth"/>
              <a:tabLst>
                <a:tab pos="220979" algn="l"/>
              </a:tabLst>
            </a:pP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of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resigned,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completed</a:t>
            </a:r>
            <a:r>
              <a:rPr dirty="0" sz="1200" spc="-5">
                <a:latin typeface="Times New Roman"/>
                <a:cs typeface="Times New Roman"/>
              </a:rPr>
              <a:t> 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assignment.</a:t>
            </a:r>
            <a:endParaRPr sz="1200">
              <a:latin typeface="Times New Roman"/>
              <a:cs typeface="Times New Roman"/>
            </a:endParaRPr>
          </a:p>
          <a:p>
            <a:pPr marL="228600" indent="-216535">
              <a:lnSpc>
                <a:spcPts val="1410"/>
              </a:lnSpc>
              <a:buAutoNum type="alphaLcParenBoth"/>
              <a:tabLst>
                <a:tab pos="22923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Despite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fact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he </a:t>
            </a:r>
            <a:r>
              <a:rPr dirty="0" sz="1200" spc="-5">
                <a:latin typeface="Times New Roman"/>
                <a:cs typeface="Times New Roman"/>
              </a:rPr>
              <a:t>smokes </a:t>
            </a:r>
            <a:r>
              <a:rPr dirty="0" sz="1200">
                <a:latin typeface="Times New Roman"/>
                <a:cs typeface="Times New Roman"/>
              </a:rPr>
              <a:t>5 </a:t>
            </a:r>
            <a:r>
              <a:rPr dirty="0" sz="1200" spc="-5">
                <a:latin typeface="Times New Roman"/>
                <a:cs typeface="Times New Roman"/>
              </a:rPr>
              <a:t>cigarette </a:t>
            </a:r>
            <a:r>
              <a:rPr dirty="0" sz="1200">
                <a:latin typeface="Times New Roman"/>
                <a:cs typeface="Times New Roman"/>
              </a:rPr>
              <a:t>packets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healthy.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Compare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although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in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spite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of </a:t>
            </a:r>
            <a:r>
              <a:rPr dirty="0" sz="1200" b="1" i="1">
                <a:latin typeface="Times New Roman"/>
                <a:cs typeface="Times New Roman"/>
              </a:rPr>
              <a:t>/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despite.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morning,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traffic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jam,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arrived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8992444"/>
            <a:ext cx="3869054" cy="4464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sleep,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tired.</a:t>
            </a:r>
            <a:endParaRPr sz="1200">
              <a:latin typeface="Times New Roman"/>
              <a:cs typeface="Times New Roman"/>
            </a:endParaRPr>
          </a:p>
          <a:p>
            <a:pPr marL="153924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Times New Roman"/>
                <a:cs typeface="Times New Roman"/>
              </a:rPr>
              <a:t>© </a:t>
            </a:r>
            <a:r>
              <a:rPr dirty="0" sz="1100" spc="-25">
                <a:latin typeface="Times New Roman"/>
                <a:cs typeface="Times New Roman"/>
              </a:rPr>
              <a:t>Copyright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Virtual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University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of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Pakistan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272</a:t>
            </a:fld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couldn’t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despite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hungry.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though</a:t>
            </a:r>
            <a:r>
              <a:rPr dirty="0" sz="1200" spc="18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instead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although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English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though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coming at the </a:t>
            </a:r>
            <a:r>
              <a:rPr dirty="0" sz="1200" spc="-5">
                <a:latin typeface="Times New Roman"/>
                <a:cs typeface="Times New Roman"/>
              </a:rPr>
              <a:t>end </a:t>
            </a:r>
            <a:r>
              <a:rPr dirty="0" sz="1200">
                <a:latin typeface="Times New Roman"/>
                <a:cs typeface="Times New Roman"/>
              </a:rPr>
              <a:t>of a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nice,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though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>
                <a:latin typeface="Times New Roman"/>
                <a:cs typeface="Times New Roman"/>
              </a:rPr>
              <a:t>-I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everyday.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though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 b="1" i="1">
                <a:latin typeface="Times New Roman"/>
                <a:cs typeface="Times New Roman"/>
              </a:rPr>
              <a:t>Even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though</a:t>
            </a:r>
            <a:r>
              <a:rPr dirty="0" sz="1200" spc="-15" b="1" i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more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emphatic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form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although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0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 she is </a:t>
            </a:r>
            <a:r>
              <a:rPr dirty="0" sz="1200">
                <a:latin typeface="Times New Roman"/>
                <a:cs typeface="Times New Roman"/>
              </a:rPr>
              <a:t>honest.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(A).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these sentences 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 </a:t>
            </a:r>
            <a:r>
              <a:rPr dirty="0" sz="1200" i="1">
                <a:latin typeface="Times New Roman"/>
                <a:cs typeface="Times New Roman"/>
              </a:rPr>
              <a:t>although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phrase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from</a:t>
            </a:r>
            <a:r>
              <a:rPr dirty="0" sz="1200" i="1">
                <a:latin typeface="Times New Roman"/>
                <a:cs typeface="Times New Roman"/>
              </a:rPr>
              <a:t> the </a:t>
            </a:r>
            <a:r>
              <a:rPr dirty="0" sz="1200" spc="-5" i="1">
                <a:latin typeface="Times New Roman"/>
                <a:cs typeface="Times New Roman"/>
              </a:rPr>
              <a:t>box.</a:t>
            </a:r>
            <a:endParaRPr sz="1200">
              <a:latin typeface="Times New Roman"/>
              <a:cs typeface="Times New Roman"/>
            </a:endParaRPr>
          </a:p>
          <a:p>
            <a:pPr marL="5080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chilly</a:t>
            </a:r>
            <a:endParaRPr sz="1200">
              <a:latin typeface="Times New Roman"/>
              <a:cs typeface="Times New Roman"/>
            </a:endParaRPr>
          </a:p>
          <a:p>
            <a:pPr marL="469900" marR="375602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rude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aunt.</a:t>
            </a:r>
            <a:endParaRPr sz="1200">
              <a:latin typeface="Times New Roman"/>
              <a:cs typeface="Times New Roman"/>
            </a:endParaRPr>
          </a:p>
          <a:p>
            <a:pPr marL="469900" marR="3484879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holds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office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5">
                <a:latin typeface="Times New Roman"/>
                <a:cs typeface="Times New Roman"/>
              </a:rPr>
              <a:t> promised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time`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  <a:tab pos="1388745" algn="l"/>
              </a:tabLst>
            </a:pP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1388745" algn="l"/>
              </a:tabLst>
            </a:pP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photograph.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2733675" algn="l"/>
              </a:tabLst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shawl, </a:t>
            </a:r>
            <a:r>
              <a:rPr dirty="0" sz="1200">
                <a:latin typeface="Times New Roman"/>
                <a:cs typeface="Times New Roman"/>
              </a:rPr>
              <a:t>although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  <a:tab pos="2881630" algn="l"/>
                <a:tab pos="5282565" algn="l"/>
              </a:tabLst>
            </a:pPr>
            <a:r>
              <a:rPr dirty="0" sz="1200">
                <a:latin typeface="Times New Roman"/>
                <a:cs typeface="Times New Roman"/>
              </a:rPr>
              <a:t>They decided to invite </a:t>
            </a:r>
            <a:r>
              <a:rPr dirty="0" sz="1200" spc="-5">
                <a:latin typeface="Times New Roman"/>
                <a:cs typeface="Times New Roman"/>
              </a:rPr>
              <a:t>her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function,	although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buAutoNum type="arabicPeriod"/>
              <a:tabLst>
                <a:tab pos="165100" algn="l"/>
                <a:tab pos="2784475" algn="l"/>
              </a:tabLst>
            </a:pPr>
            <a:r>
              <a:rPr dirty="0" sz="1200">
                <a:latin typeface="Times New Roman"/>
                <a:cs typeface="Times New Roman"/>
              </a:rPr>
              <a:t>They were late, although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(B).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Complete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i="1">
                <a:latin typeface="Times New Roman"/>
                <a:cs typeface="Times New Roman"/>
              </a:rPr>
              <a:t>although’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i="1">
                <a:latin typeface="Times New Roman"/>
                <a:cs typeface="Times New Roman"/>
              </a:rPr>
              <a:t>in </a:t>
            </a:r>
            <a:r>
              <a:rPr dirty="0" sz="1200" i="1">
                <a:latin typeface="Times New Roman"/>
                <a:cs typeface="Times New Roman"/>
              </a:rPr>
              <a:t>spite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of’.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2400">
              <a:lnSpc>
                <a:spcPts val="1410"/>
              </a:lnSpc>
              <a:spcBef>
                <a:spcPts val="5"/>
              </a:spcBef>
              <a:buAutoNum type="arabicPeriod"/>
              <a:tabLst>
                <a:tab pos="165100" algn="l"/>
                <a:tab pos="7747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wrong.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5461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everything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carefully,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many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went wrong.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137477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 </a:t>
            </a:r>
            <a:r>
              <a:rPr dirty="0" sz="1200" spc="-5">
                <a:latin typeface="Times New Roman"/>
                <a:cs typeface="Times New Roman"/>
              </a:rPr>
              <a:t>music,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  <a:tab pos="6223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midnight.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  <a:tab pos="3259454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the air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conditioners were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working, but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pretty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(C).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words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brackets</a:t>
            </a:r>
            <a:r>
              <a:rPr dirty="0" sz="1200" spc="-5">
                <a:latin typeface="Times New Roman"/>
                <a:cs typeface="Times New Roman"/>
              </a:rPr>
              <a:t> make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though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 He’s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nice. </a:t>
            </a:r>
            <a:r>
              <a:rPr dirty="0" sz="1200" spc="-5">
                <a:latin typeface="Times New Roman"/>
                <a:cs typeface="Times New Roman"/>
              </a:rPr>
              <a:t>(Don’t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wife).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Char char="-"/>
              <a:tabLst>
                <a:tab pos="177800" algn="l"/>
                <a:tab pos="1858010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nice.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-2.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(windy).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Char char="-"/>
              <a:tabLst>
                <a:tab pos="178435" algn="l"/>
                <a:tab pos="1708785" algn="l"/>
              </a:tabLst>
            </a:pP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warm.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-3.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pudding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(ate).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410"/>
              </a:lnSpc>
              <a:buChar char="-"/>
              <a:tabLst>
                <a:tab pos="177800" algn="l"/>
                <a:tab pos="2429510" algn="l"/>
              </a:tabLst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didn’t like the pudding.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227965" indent="-215900">
              <a:lnSpc>
                <a:spcPts val="1405"/>
              </a:lnSpc>
              <a:buAutoNum type="arabicParenBoth" startAt="5"/>
              <a:tabLst>
                <a:tab pos="2286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‘EVEN’</a:t>
            </a:r>
            <a:endParaRPr sz="1200">
              <a:latin typeface="Times New Roman"/>
              <a:cs typeface="Times New Roman"/>
            </a:endParaRPr>
          </a:p>
          <a:p>
            <a:pPr lvl="1" marL="262255" indent="-250190">
              <a:lnSpc>
                <a:spcPts val="1375"/>
              </a:lnSpc>
              <a:buFont typeface="Times New Roman"/>
              <a:buAutoNum type="alphaUcParenBoth"/>
              <a:tabLst>
                <a:tab pos="262890" algn="l"/>
              </a:tabLst>
            </a:pP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something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unusual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surprising .e.g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good;</a:t>
            </a:r>
            <a:r>
              <a:rPr dirty="0" sz="1200" spc="-5">
                <a:latin typeface="Times New Roman"/>
                <a:cs typeface="Times New Roman"/>
              </a:rPr>
              <a:t> e</a:t>
            </a:r>
            <a:r>
              <a:rPr dirty="0" sz="1200" spc="-5" i="1">
                <a:latin typeface="Times New Roman"/>
                <a:cs typeface="Times New Roman"/>
              </a:rPr>
              <a:t>ven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273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always</a:t>
            </a:r>
            <a:r>
              <a:rPr dirty="0" sz="1200" spc="-5">
                <a:latin typeface="Times New Roman"/>
                <a:cs typeface="Times New Roman"/>
              </a:rPr>
              <a:t> wears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shawl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summer.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(B)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5">
                <a:latin typeface="Times New Roman"/>
                <a:cs typeface="Times New Roman"/>
              </a:rPr>
              <a:t> ‘</a:t>
            </a:r>
            <a:r>
              <a:rPr dirty="0" sz="1200" spc="-5" i="1">
                <a:latin typeface="Times New Roman"/>
                <a:cs typeface="Times New Roman"/>
              </a:rPr>
              <a:t>even’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middle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sentence.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always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wears</a:t>
            </a:r>
            <a:r>
              <a:rPr dirty="0" sz="1200">
                <a:latin typeface="Times New Roman"/>
                <a:cs typeface="Times New Roman"/>
              </a:rPr>
              <a:t>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watch.</a:t>
            </a:r>
            <a:r>
              <a:rPr dirty="0" sz="1200" spc="-5">
                <a:latin typeface="Times New Roman"/>
                <a:cs typeface="Times New Roman"/>
              </a:rPr>
              <a:t> She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wears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even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has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>
                <a:latin typeface="Times New Roman"/>
                <a:cs typeface="Times New Roman"/>
              </a:rPr>
              <a:t>own private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are </a:t>
            </a:r>
            <a:r>
              <a:rPr dirty="0" sz="1200" spc="-10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with </a:t>
            </a:r>
            <a:r>
              <a:rPr dirty="0" sz="1200" spc="-5" b="1" i="1">
                <a:latin typeface="Times New Roman"/>
                <a:cs typeface="Times New Roman"/>
              </a:rPr>
              <a:t>not</a:t>
            </a:r>
            <a:r>
              <a:rPr dirty="0" sz="1200" spc="5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even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She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just </a:t>
            </a:r>
            <a:r>
              <a:rPr dirty="0" sz="1200" spc="-5">
                <a:latin typeface="Times New Roman"/>
                <a:cs typeface="Times New Roman"/>
              </a:rPr>
              <a:t>climbed</a:t>
            </a:r>
            <a:r>
              <a:rPr dirty="0" sz="1200">
                <a:latin typeface="Times New Roman"/>
                <a:cs typeface="Times New Roman"/>
              </a:rPr>
              <a:t> ten flights of </a:t>
            </a:r>
            <a:r>
              <a:rPr dirty="0" sz="1200" spc="-5">
                <a:latin typeface="Times New Roman"/>
                <a:cs typeface="Times New Roman"/>
              </a:rPr>
              <a:t>stairs</a:t>
            </a:r>
            <a:r>
              <a:rPr dirty="0" sz="1200">
                <a:latin typeface="Times New Roman"/>
                <a:cs typeface="Times New Roman"/>
              </a:rPr>
              <a:t> and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not even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 of breath.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unfriendly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lot.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‘hi’.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Nobody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money;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friend.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(C)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sz="1200" i="1">
                <a:latin typeface="Times New Roman"/>
                <a:cs typeface="Times New Roman"/>
              </a:rPr>
              <a:t>Even’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often 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‘comparative form’.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yesterday,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it’s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colder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5:00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 </a:t>
            </a:r>
            <a:r>
              <a:rPr dirty="0" sz="1200" spc="-5" i="1">
                <a:latin typeface="Times New Roman"/>
                <a:cs typeface="Times New Roman"/>
              </a:rPr>
              <a:t>even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earlier.</a:t>
            </a:r>
            <a:endParaRPr sz="1200">
              <a:latin typeface="Times New Roman"/>
              <a:cs typeface="Times New Roman"/>
            </a:endParaRPr>
          </a:p>
          <a:p>
            <a:pPr marL="12700" marR="269240">
              <a:lnSpc>
                <a:spcPts val="1380"/>
              </a:lnSpc>
              <a:spcBef>
                <a:spcPts val="65"/>
              </a:spcBef>
              <a:buChar char="-"/>
              <a:tabLst>
                <a:tab pos="10287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surprised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 her.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more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surprised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(D)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‘Even’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’,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sz="1200" spc="-5" i="1">
                <a:latin typeface="Times New Roman"/>
                <a:cs typeface="Times New Roman"/>
              </a:rPr>
              <a:t>when’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</a:t>
            </a:r>
            <a:r>
              <a:rPr dirty="0" sz="1200" i="1">
                <a:latin typeface="Times New Roman"/>
                <a:cs typeface="Times New Roman"/>
              </a:rPr>
              <a:t>though’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  <a:spcBef>
                <a:spcPts val="65"/>
              </a:spcBef>
              <a:buChar char="-"/>
              <a:tabLst>
                <a:tab pos="114300" algn="l"/>
              </a:tabLst>
            </a:pPr>
            <a:r>
              <a:rPr dirty="0" sz="1200">
                <a:latin typeface="Times New Roman"/>
                <a:cs typeface="Times New Roman"/>
              </a:rPr>
              <a:t>I’ll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probably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tomorrow.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90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if</a:t>
            </a:r>
            <a:r>
              <a:rPr dirty="0" sz="1200" spc="95" b="1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we’re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 of the week.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15"/>
              </a:lnSpc>
              <a:buChar char="-"/>
              <a:tabLst>
                <a:tab pos="102235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loud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when</a:t>
            </a:r>
            <a:r>
              <a:rPr dirty="0" sz="1200" spc="-1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angry.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She</a:t>
            </a:r>
            <a:r>
              <a:rPr dirty="0" sz="1200" spc="-5">
                <a:latin typeface="Times New Roman"/>
                <a:cs typeface="Times New Roman"/>
              </a:rPr>
              <a:t> has </a:t>
            </a:r>
            <a:r>
              <a:rPr dirty="0" sz="1200">
                <a:latin typeface="Times New Roman"/>
                <a:cs typeface="Times New Roman"/>
              </a:rPr>
              <a:t>bought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pressure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cooker,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though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Complete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sentence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even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+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comparative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  <a:tab pos="3838575" algn="l"/>
                <a:tab pos="425767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bought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cheap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umbrella,</a:t>
            </a:r>
            <a:r>
              <a:rPr dirty="0" sz="1200">
                <a:latin typeface="Times New Roman"/>
                <a:cs typeface="Times New Roman"/>
              </a:rPr>
              <a:t> but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Julie bought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/>
              <a:tabLst>
                <a:tab pos="165100" algn="l"/>
                <a:tab pos="4358640" algn="l"/>
                <a:tab pos="4776470" algn="l"/>
              </a:tabLst>
            </a:pPr>
            <a:r>
              <a:rPr dirty="0" sz="1200">
                <a:latin typeface="Times New Roman"/>
                <a:cs typeface="Times New Roman"/>
              </a:rPr>
              <a:t>This house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hundred years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old, but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mosque </a:t>
            </a:r>
            <a:r>
              <a:rPr dirty="0" sz="1200" spc="-5">
                <a:latin typeface="Times New Roman"/>
                <a:cs typeface="Times New Roman"/>
              </a:rPr>
              <a:t>next </a:t>
            </a:r>
            <a:r>
              <a:rPr dirty="0" sz="1200">
                <a:latin typeface="Times New Roman"/>
                <a:cs typeface="Times New Roman"/>
              </a:rPr>
              <a:t>to 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  <a:tab pos="3453129" algn="l"/>
                <a:tab pos="3948429" algn="l"/>
                <a:tab pos="4481195" algn="l"/>
              </a:tabLst>
            </a:pPr>
            <a:r>
              <a:rPr dirty="0" sz="1200">
                <a:latin typeface="Times New Roman"/>
                <a:cs typeface="Times New Roman"/>
              </a:rPr>
              <a:t>The restaurant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crowded, 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6.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 </a:t>
            </a:r>
            <a:r>
              <a:rPr dirty="0" sz="1200" b="1">
                <a:latin typeface="Times New Roman"/>
                <a:cs typeface="Times New Roman"/>
              </a:rPr>
              <a:t>of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b="1">
                <a:latin typeface="Times New Roman"/>
                <a:cs typeface="Times New Roman"/>
              </a:rPr>
              <a:t> (Time) </a:t>
            </a:r>
            <a:r>
              <a:rPr dirty="0" sz="1200" spc="-5" b="1">
                <a:latin typeface="Times New Roman"/>
                <a:cs typeface="Times New Roman"/>
              </a:rPr>
              <a:t>and As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(Reason)</a:t>
            </a:r>
            <a:endParaRPr sz="1200">
              <a:latin typeface="Times New Roman"/>
              <a:cs typeface="Times New Roman"/>
            </a:endParaRPr>
          </a:p>
          <a:p>
            <a:pPr marL="12700" marR="269875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(time)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time: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1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watched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opened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parcel.</a:t>
            </a:r>
            <a:endParaRPr sz="1200">
              <a:latin typeface="Times New Roman"/>
              <a:cs typeface="Times New Roman"/>
            </a:endParaRPr>
          </a:p>
          <a:p>
            <a:pPr marL="63500" indent="-51435">
              <a:lnSpc>
                <a:spcPts val="1380"/>
              </a:lnSpc>
              <a:buFont typeface="Times New Roman"/>
              <a:buChar char="-"/>
              <a:tabLst>
                <a:tab pos="64135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walked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along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street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looked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windows.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Turn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out,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please.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Char char="-"/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‘As’</a:t>
            </a:r>
            <a:r>
              <a:rPr dirty="0" sz="1200" spc="-5">
                <a:latin typeface="Times New Roman"/>
                <a:cs typeface="Times New Roman"/>
              </a:rPr>
              <a:t> is used</a:t>
            </a:r>
            <a:r>
              <a:rPr dirty="0" sz="1200">
                <a:latin typeface="Times New Roman"/>
                <a:cs typeface="Times New Roman"/>
              </a:rPr>
              <a:t> especially for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actions,</a:t>
            </a:r>
            <a:r>
              <a:rPr dirty="0" sz="1200" spc="-5">
                <a:latin typeface="Times New Roman"/>
                <a:cs typeface="Times New Roman"/>
              </a:rPr>
              <a:t> happening</a:t>
            </a:r>
            <a:r>
              <a:rPr dirty="0" sz="1200">
                <a:latin typeface="Times New Roman"/>
                <a:cs typeface="Times New Roman"/>
              </a:rPr>
              <a:t> 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Hamid arrived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i="1">
                <a:latin typeface="Times New Roman"/>
                <a:cs typeface="Times New Roman"/>
              </a:rPr>
              <a:t> I left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(he arrived &amp; I left at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(=</a:t>
            </a:r>
            <a:r>
              <a:rPr dirty="0" sz="1200" spc="-5">
                <a:latin typeface="Times New Roman"/>
                <a:cs typeface="Times New Roman"/>
              </a:rPr>
              <a:t> exactly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that moment) is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 marL="139700" indent="-127635">
              <a:lnSpc>
                <a:spcPts val="1380"/>
              </a:lnSpc>
              <a:buFont typeface="Times New Roman"/>
              <a:buChar char="-"/>
              <a:tabLst>
                <a:tab pos="1403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Hamid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arrived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left.</a:t>
            </a:r>
            <a:endParaRPr sz="1200">
              <a:latin typeface="Times New Roman"/>
              <a:cs typeface="Times New Roman"/>
            </a:endParaRPr>
          </a:p>
          <a:p>
            <a:pPr marL="139700" indent="-127635">
              <a:lnSpc>
                <a:spcPts val="1410"/>
              </a:lnSpc>
              <a:buFont typeface="Times New Roman"/>
              <a:buChar char="-"/>
              <a:tabLst>
                <a:tab pos="140335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down,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phone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rang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also 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changes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 the</a:t>
            </a:r>
            <a:r>
              <a:rPr dirty="0" sz="1200" spc="-5">
                <a:latin typeface="Times New Roman"/>
                <a:cs typeface="Times New Roman"/>
              </a:rPr>
              <a:t> same </a:t>
            </a:r>
            <a:r>
              <a:rPr dirty="0" sz="1200">
                <a:latin typeface="Times New Roman"/>
                <a:cs typeface="Times New Roman"/>
              </a:rPr>
              <a:t>period of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endParaRPr sz="1200">
              <a:latin typeface="Times New Roman"/>
              <a:cs typeface="Times New Roman"/>
            </a:endParaRPr>
          </a:p>
          <a:p>
            <a:pPr marL="139700" indent="-127635">
              <a:lnSpc>
                <a:spcPts val="1410"/>
              </a:lnSpc>
              <a:buFont typeface="Times New Roman"/>
              <a:buChar char="-"/>
              <a:tabLst>
                <a:tab pos="140335" algn="l"/>
              </a:tabLst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day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sz="1200" i="1">
                <a:latin typeface="Times New Roman"/>
                <a:cs typeface="Times New Roman"/>
              </a:rPr>
              <a:t>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weather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got</a:t>
            </a:r>
            <a:r>
              <a:rPr dirty="0" sz="1200" spc="-5" i="1">
                <a:latin typeface="Times New Roman"/>
                <a:cs typeface="Times New Roman"/>
              </a:rPr>
              <a:t> worse.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274</a:t>
            </a:fld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141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began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enjoy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used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(time):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happening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middle </a:t>
            </a:r>
            <a:r>
              <a:rPr dirty="0" sz="1200">
                <a:latin typeface="Times New Roman"/>
                <a:cs typeface="Times New Roman"/>
              </a:rPr>
              <a:t>of doing </a:t>
            </a:r>
            <a:r>
              <a:rPr dirty="0" sz="1200" spc="-5">
                <a:latin typeface="Times New Roman"/>
                <a:cs typeface="Times New Roman"/>
              </a:rPr>
              <a:t>something </a:t>
            </a:r>
            <a:r>
              <a:rPr dirty="0" sz="1200">
                <a:latin typeface="Times New Roman"/>
                <a:cs typeface="Times New Roman"/>
              </a:rPr>
              <a:t>else. When ‘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used in this way, both actions are usually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woman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slipped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getting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off</a:t>
            </a:r>
            <a:r>
              <a:rPr dirty="0" u="sng" sz="1200" spc="2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bus.</a:t>
            </a:r>
            <a:endParaRPr sz="1200">
              <a:latin typeface="Times New Roman"/>
              <a:cs typeface="Times New Roman"/>
            </a:endParaRPr>
          </a:p>
          <a:p>
            <a:pPr algn="just" marL="139700" indent="-127635">
              <a:lnSpc>
                <a:spcPts val="1410"/>
              </a:lnSpc>
              <a:buFont typeface="Times New Roman"/>
              <a:buChar char="-"/>
              <a:tabLst>
                <a:tab pos="140335" algn="l"/>
              </a:tabLst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burned</a:t>
            </a:r>
            <a:r>
              <a:rPr dirty="0" sz="1200" spc="-5" i="1">
                <a:latin typeface="Times New Roman"/>
                <a:cs typeface="Times New Roman"/>
              </a:rPr>
              <a:t> my </a:t>
            </a:r>
            <a:r>
              <a:rPr dirty="0" sz="1200" i="1">
                <a:latin typeface="Times New Roman"/>
                <a:cs typeface="Times New Roman"/>
              </a:rPr>
              <a:t>hands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was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taking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cake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out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 the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oven.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Font typeface="Times New Roman"/>
              <a:buChar char="-"/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The use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5" b="1">
                <a:latin typeface="Times New Roman"/>
                <a:cs typeface="Times New Roman"/>
              </a:rPr>
              <a:t> is </a:t>
            </a:r>
            <a:r>
              <a:rPr dirty="0" sz="1200" b="1">
                <a:latin typeface="Times New Roman"/>
                <a:cs typeface="Times New Roman"/>
              </a:rPr>
              <a:t>also very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common.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75"/>
              </a:lnSpc>
              <a:buFont typeface="Times New Roman"/>
              <a:buChar char="-"/>
              <a:tabLst>
                <a:tab pos="178435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telephone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rang.</a:t>
            </a:r>
            <a:endParaRPr sz="1200">
              <a:latin typeface="Times New Roman"/>
              <a:cs typeface="Times New Roman"/>
            </a:endParaRPr>
          </a:p>
          <a:p>
            <a:pPr marL="177165" indent="-165100">
              <a:lnSpc>
                <a:spcPts val="1380"/>
              </a:lnSpc>
              <a:buChar char="-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conversation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interesting.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5"/>
              </a:lnSpc>
            </a:pPr>
            <a:r>
              <a:rPr dirty="0" sz="1200" spc="-5" b="1">
                <a:latin typeface="Times New Roman"/>
                <a:cs typeface="Times New Roman"/>
              </a:rPr>
              <a:t>Note</a:t>
            </a:r>
            <a:r>
              <a:rPr dirty="0" sz="1200" spc="-5">
                <a:latin typeface="Times New Roman"/>
                <a:cs typeface="Times New Roman"/>
              </a:rPr>
              <a:t>:Do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action follows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another.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lvl="1" marL="215900" indent="-127635">
              <a:lnSpc>
                <a:spcPts val="1385"/>
              </a:lnSpc>
              <a:buFont typeface="Times New Roman"/>
              <a:buChar char="-"/>
              <a:tabLst>
                <a:tab pos="216535" algn="l"/>
              </a:tabLst>
            </a:pPr>
            <a:r>
              <a:rPr dirty="0" sz="1200" spc="-5" b="1" i="1">
                <a:latin typeface="Times New Roman"/>
                <a:cs typeface="Times New Roman"/>
              </a:rPr>
              <a:t>*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home,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took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bath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(wrong)</a:t>
            </a:r>
            <a:endParaRPr sz="1200">
              <a:latin typeface="Times New Roman"/>
              <a:cs typeface="Times New Roman"/>
            </a:endParaRPr>
          </a:p>
          <a:p>
            <a:pPr lvl="1" marL="253365" indent="-165735">
              <a:lnSpc>
                <a:spcPts val="1410"/>
              </a:lnSpc>
              <a:buChar char="-"/>
              <a:tabLst>
                <a:tab pos="254000" algn="l"/>
              </a:tabLst>
            </a:pPr>
            <a:r>
              <a:rPr dirty="0" sz="1200" i="1">
                <a:latin typeface="Times New Roman"/>
                <a:cs typeface="Times New Roman"/>
              </a:rPr>
              <a:t>When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got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home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took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bath.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4216400" y="3893311"/>
            <a:ext cx="2061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(Meaning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because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tired….)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274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28700" y="3719576"/>
            <a:ext cx="4293870" cy="733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1405"/>
              </a:lnSpc>
              <a:spcBef>
                <a:spcPts val="100"/>
              </a:spcBef>
              <a:tabLst>
                <a:tab pos="4565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C)	As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(reason):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meaning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‘because’</a:t>
            </a:r>
            <a:endParaRPr sz="1200">
              <a:latin typeface="Times New Roman"/>
              <a:cs typeface="Times New Roman"/>
            </a:endParaRPr>
          </a:p>
          <a:p>
            <a:pPr marL="114300">
              <a:lnSpc>
                <a:spcPts val="1375"/>
              </a:lnSpc>
              <a:tabLst>
                <a:tab pos="456565" algn="l"/>
              </a:tabLst>
            </a:pPr>
            <a:r>
              <a:rPr dirty="0" sz="1200">
                <a:latin typeface="Times New Roman"/>
                <a:cs typeface="Times New Roman"/>
              </a:rPr>
              <a:t>-	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feeling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tired,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went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early.</a:t>
            </a:r>
            <a:endParaRPr sz="1200">
              <a:latin typeface="Times New Roman"/>
              <a:cs typeface="Times New Roman"/>
            </a:endParaRPr>
          </a:p>
          <a:p>
            <a:pPr marL="456565" indent="-343535">
              <a:lnSpc>
                <a:spcPts val="1385"/>
              </a:lnSpc>
              <a:buChar char="-"/>
              <a:tabLst>
                <a:tab pos="456565" algn="l"/>
                <a:tab pos="4572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near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meet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quite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often.</a:t>
            </a:r>
            <a:endParaRPr sz="1200">
              <a:latin typeface="Times New Roman"/>
              <a:cs typeface="Times New Roman"/>
            </a:endParaRPr>
          </a:p>
          <a:p>
            <a:pPr marL="431165" indent="-318135">
              <a:lnSpc>
                <a:spcPts val="1410"/>
              </a:lnSpc>
              <a:buChar char="-"/>
              <a:tabLst>
                <a:tab pos="430530" algn="l"/>
                <a:tab pos="4318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tomorrow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a national </a:t>
            </a:r>
            <a:r>
              <a:rPr dirty="0" sz="1200" spc="-5" i="1">
                <a:latin typeface="Times New Roman"/>
                <a:cs typeface="Times New Roman"/>
              </a:rPr>
              <a:t>holiday,</a:t>
            </a:r>
            <a:r>
              <a:rPr dirty="0" sz="1200" i="1">
                <a:latin typeface="Times New Roman"/>
                <a:cs typeface="Times New Roman"/>
              </a:rPr>
              <a:t> all the </a:t>
            </a:r>
            <a:r>
              <a:rPr dirty="0" sz="1200" spc="-5" i="1">
                <a:latin typeface="Times New Roman"/>
                <a:cs typeface="Times New Roman"/>
              </a:rPr>
              <a:t>shops</a:t>
            </a:r>
            <a:r>
              <a:rPr dirty="0" sz="1200" i="1">
                <a:latin typeface="Times New Roman"/>
                <a:cs typeface="Times New Roman"/>
              </a:rPr>
              <a:t> will </a:t>
            </a:r>
            <a:r>
              <a:rPr dirty="0" sz="1200" spc="-5" i="1">
                <a:latin typeface="Times New Roman"/>
                <a:cs typeface="Times New Roman"/>
              </a:rPr>
              <a:t>be</a:t>
            </a:r>
            <a:r>
              <a:rPr dirty="0" sz="1200" i="1">
                <a:latin typeface="Times New Roman"/>
                <a:cs typeface="Times New Roman"/>
              </a:rPr>
              <a:t> closed.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4595876"/>
            <a:ext cx="4927600" cy="3011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Rewrite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showing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one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thing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happens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during</a:t>
            </a:r>
            <a:r>
              <a:rPr dirty="0" sz="1200" spc="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another.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0" marR="1888489" indent="-114300">
              <a:lnSpc>
                <a:spcPts val="1380"/>
              </a:lnSpc>
              <a:spcBef>
                <a:spcPts val="5"/>
              </a:spcBef>
              <a:buAutoNum type="arabicPeriod"/>
              <a:tabLst>
                <a:tab pos="165735" algn="l"/>
                <a:tab pos="1455420" algn="l"/>
              </a:tabLst>
            </a:pPr>
            <a:r>
              <a:rPr dirty="0" sz="1200">
                <a:latin typeface="Times New Roman"/>
                <a:cs typeface="Times New Roman"/>
              </a:rPr>
              <a:t>Saeed </a:t>
            </a:r>
            <a:r>
              <a:rPr dirty="0" sz="1200" spc="-5">
                <a:latin typeface="Times New Roman"/>
                <a:cs typeface="Times New Roman"/>
              </a:rPr>
              <a:t>was climbing </a:t>
            </a:r>
            <a:r>
              <a:rPr dirty="0" sz="1200">
                <a:latin typeface="Times New Roman"/>
                <a:cs typeface="Times New Roman"/>
              </a:rPr>
              <a:t>out of the </a:t>
            </a:r>
            <a:r>
              <a:rPr dirty="0" sz="1200" spc="-5">
                <a:latin typeface="Times New Roman"/>
                <a:cs typeface="Times New Roman"/>
              </a:rPr>
              <a:t>window.He </a:t>
            </a:r>
            <a:r>
              <a:rPr dirty="0" sz="1200">
                <a:latin typeface="Times New Roman"/>
                <a:cs typeface="Times New Roman"/>
              </a:rPr>
              <a:t>fell.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Saeed fell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marR="1263015" indent="-152400">
              <a:lnSpc>
                <a:spcPts val="1380"/>
              </a:lnSpc>
              <a:buAutoNum type="arabicPeriod"/>
              <a:tabLst>
                <a:tab pos="165100" algn="l"/>
                <a:tab pos="1138555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road.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cat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165100" marR="1512570" indent="-152400">
              <a:lnSpc>
                <a:spcPts val="1380"/>
              </a:lnSpc>
              <a:buAutoNum type="arabicPeriod"/>
              <a:tabLst>
                <a:tab pos="165100" algn="l"/>
                <a:tab pos="1193165" algn="l"/>
              </a:tabLst>
            </a:pPr>
            <a:r>
              <a:rPr dirty="0" sz="1200" spc="-5">
                <a:latin typeface="Times New Roman"/>
                <a:cs typeface="Times New Roman"/>
              </a:rPr>
              <a:t>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</a:t>
            </a:r>
            <a:r>
              <a:rPr dirty="0" sz="1200" spc="-5">
                <a:latin typeface="Times New Roman"/>
                <a:cs typeface="Times New Roman"/>
              </a:rPr>
              <a:t> She </a:t>
            </a:r>
            <a:r>
              <a:rPr dirty="0" sz="1200">
                <a:latin typeface="Times New Roman"/>
                <a:cs typeface="Times New Roman"/>
              </a:rPr>
              <a:t>dropped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keys.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7.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Like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A) </a:t>
            </a:r>
            <a:r>
              <a:rPr dirty="0" sz="1200" b="1">
                <a:latin typeface="Times New Roman"/>
                <a:cs typeface="Times New Roman"/>
              </a:rPr>
              <a:t>Like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>
                <a:latin typeface="Times New Roman"/>
                <a:cs typeface="Times New Roman"/>
              </a:rPr>
              <a:t> to/the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example:</a:t>
            </a:r>
            <a:endParaRPr sz="1200">
              <a:latin typeface="Times New Roman"/>
              <a:cs typeface="Times New Roman"/>
            </a:endParaRPr>
          </a:p>
          <a:p>
            <a:pPr marL="139700" indent="-127635">
              <a:lnSpc>
                <a:spcPts val="1380"/>
              </a:lnSpc>
              <a:buFont typeface="Times New Roman"/>
              <a:buChar char="-"/>
              <a:tabLst>
                <a:tab pos="140335" algn="l"/>
                <a:tab pos="2856865" algn="l"/>
              </a:tabLst>
            </a:pPr>
            <a:r>
              <a:rPr dirty="0" sz="1200" i="1">
                <a:latin typeface="Times New Roman"/>
                <a:cs typeface="Times New Roman"/>
              </a:rPr>
              <a:t>What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beautiful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scene!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Its’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u="sng" sz="12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picture</a:t>
            </a:r>
            <a:r>
              <a:rPr dirty="0" sz="1200" spc="-5" i="1">
                <a:latin typeface="Times New Roman"/>
                <a:cs typeface="Times New Roman"/>
              </a:rPr>
              <a:t>.	</a:t>
            </a:r>
            <a:r>
              <a:rPr dirty="0" sz="1200">
                <a:latin typeface="Times New Roman"/>
                <a:cs typeface="Times New Roman"/>
              </a:rPr>
              <a:t>(not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picture)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What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Saima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do?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teacher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(not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me)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41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preposition</a:t>
            </a:r>
            <a:r>
              <a:rPr dirty="0" sz="1200" spc="-5">
                <a:latin typeface="Times New Roman"/>
                <a:cs typeface="Times New Roman"/>
              </a:rPr>
              <a:t>, 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 spc="-5" b="1">
                <a:latin typeface="Times New Roman"/>
                <a:cs typeface="Times New Roman"/>
              </a:rPr>
              <a:t>followed 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7573771"/>
            <a:ext cx="119824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265" indent="-457200">
              <a:lnSpc>
                <a:spcPts val="1410"/>
              </a:lnSpc>
              <a:spcBef>
                <a:spcPts val="100"/>
              </a:spcBef>
              <a:buAutoNum type="alphaLcParenBoth"/>
              <a:tabLst>
                <a:tab pos="469265" algn="l"/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noun: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Font typeface="Times New Roman"/>
              <a:buAutoNum type="alphaLcParenBoth"/>
              <a:tabLst>
                <a:tab pos="469265" algn="l"/>
                <a:tab pos="469900" algn="l"/>
              </a:tabLst>
            </a:pP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pronoun</a:t>
            </a:r>
            <a:r>
              <a:rPr dirty="0" sz="1200">
                <a:latin typeface="Times New Roman"/>
                <a:cs typeface="Times New Roman"/>
              </a:rPr>
              <a:t>:  </a:t>
            </a:r>
            <a:r>
              <a:rPr dirty="0" sz="1200">
                <a:latin typeface="Times New Roman"/>
                <a:cs typeface="Times New Roman"/>
              </a:rPr>
              <a:t>(c)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52115" y="7924292"/>
            <a:ext cx="5461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0855" algn="l"/>
              </a:tabLst>
            </a:pP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5" b="1">
                <a:latin typeface="Times New Roman"/>
                <a:cs typeface="Times New Roman"/>
              </a:rPr>
              <a:t>ing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44800" y="7573771"/>
            <a:ext cx="169735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41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picture,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like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b="1" i="1">
                <a:latin typeface="Times New Roman"/>
                <a:cs typeface="Times New Roman"/>
              </a:rPr>
              <a:t>me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walking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crying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8274811"/>
            <a:ext cx="302196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565275" algn="l"/>
              </a:tabLst>
            </a:pP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5">
                <a:latin typeface="Times New Roman"/>
                <a:cs typeface="Times New Roman"/>
              </a:rPr>
              <a:t>“What’s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sound?”	</a:t>
            </a:r>
            <a:r>
              <a:rPr dirty="0" sz="1200" spc="-5">
                <a:latin typeface="Times New Roman"/>
                <a:cs typeface="Times New Roman"/>
              </a:rPr>
              <a:t>‘Sounds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crying’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b="1">
                <a:latin typeface="Times New Roman"/>
                <a:cs typeface="Times New Roman"/>
              </a:rPr>
              <a:t>B)</a:t>
            </a:r>
            <a:r>
              <a:rPr dirty="0" sz="1200" spc="-5" b="1">
                <a:latin typeface="Times New Roman"/>
                <a:cs typeface="Times New Roman"/>
              </a:rPr>
              <a:t> As is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used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before</a:t>
            </a:r>
            <a:r>
              <a:rPr dirty="0" sz="1200" b="1">
                <a:latin typeface="Times New Roman"/>
                <a:cs typeface="Times New Roman"/>
              </a:rPr>
              <a:t> a</a:t>
            </a:r>
            <a:r>
              <a:rPr dirty="0" sz="1200" spc="-5" b="1">
                <a:latin typeface="Times New Roman"/>
                <a:cs typeface="Times New Roman"/>
              </a:rPr>
              <a:t> subject </a:t>
            </a:r>
            <a:r>
              <a:rPr dirty="0" sz="1200" b="1">
                <a:latin typeface="Times New Roman"/>
                <a:cs typeface="Times New Roman"/>
              </a:rPr>
              <a:t>+ verb.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anything.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everything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71716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 spc="-5">
                <a:latin typeface="Times New Roman"/>
                <a:cs typeface="Times New Roman"/>
              </a:rPr>
              <a:t>Compare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  <a:tab pos="2779395" algn="l"/>
              </a:tabLst>
            </a:pP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should’ve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u="sng" sz="1200" spc="2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this</a:t>
            </a:r>
            <a:r>
              <a:rPr dirty="0" sz="1200" i="1">
                <a:latin typeface="Times New Roman"/>
                <a:cs typeface="Times New Roman"/>
              </a:rPr>
              <a:t>.	</a:t>
            </a:r>
            <a:r>
              <a:rPr dirty="0" sz="1200" spc="-5">
                <a:latin typeface="Times New Roman"/>
                <a:cs typeface="Times New Roman"/>
              </a:rPr>
              <a:t>(like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ProN)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  <a:tab pos="2793365" algn="l"/>
              </a:tabLst>
            </a:pP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should’ve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</a:t>
            </a:r>
            <a:r>
              <a:rPr dirty="0" sz="1200" spc="-5" i="1">
                <a:latin typeface="Times New Roman"/>
                <a:cs typeface="Times New Roman"/>
              </a:rPr>
              <a:t> as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showed</a:t>
            </a:r>
            <a:r>
              <a:rPr dirty="0" u="sng" sz="1200" spc="2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you.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(as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Note: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usual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usual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88900" marR="4450715" indent="-76200">
              <a:lnSpc>
                <a:spcPts val="1390"/>
              </a:lnSpc>
              <a:spcBef>
                <a:spcPts val="55"/>
              </a:spcBef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You’re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late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usual.</a:t>
            </a:r>
            <a:endParaRPr sz="1200">
              <a:latin typeface="Times New Roman"/>
              <a:cs typeface="Times New Roman"/>
            </a:endParaRPr>
          </a:p>
          <a:p>
            <a:pPr marL="88900" marR="4450715">
              <a:lnSpc>
                <a:spcPts val="1390"/>
              </a:lnSpc>
            </a:pPr>
            <a:r>
              <a:rPr dirty="0" sz="1200" spc="-5" i="1">
                <a:latin typeface="Times New Roman"/>
                <a:cs typeface="Times New Roman"/>
              </a:rPr>
              <a:t>You’re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late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usual.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 spc="-5" b="1">
                <a:latin typeface="Times New Roman"/>
                <a:cs typeface="Times New Roman"/>
              </a:rPr>
              <a:t>C)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As </a:t>
            </a:r>
            <a:r>
              <a:rPr dirty="0" sz="1200" b="1">
                <a:latin typeface="Times New Roman"/>
                <a:cs typeface="Times New Roman"/>
              </a:rPr>
              <a:t>+ </a:t>
            </a:r>
            <a:r>
              <a:rPr dirty="0" sz="1200" spc="-5" b="1">
                <a:latin typeface="Times New Roman"/>
                <a:cs typeface="Times New Roman"/>
              </a:rPr>
              <a:t>S </a:t>
            </a:r>
            <a:r>
              <a:rPr dirty="0" sz="1200" b="1">
                <a:latin typeface="Times New Roman"/>
                <a:cs typeface="Times New Roman"/>
              </a:rPr>
              <a:t>+ </a:t>
            </a:r>
            <a:r>
              <a:rPr dirty="0" sz="1200" spc="-5" b="1">
                <a:latin typeface="Times New Roman"/>
                <a:cs typeface="Times New Roman"/>
              </a:rPr>
              <a:t>V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 </a:t>
            </a:r>
            <a:r>
              <a:rPr dirty="0" sz="1200" b="1">
                <a:latin typeface="Times New Roman"/>
                <a:cs typeface="Times New Roman"/>
              </a:rPr>
              <a:t>have other</a:t>
            </a:r>
            <a:r>
              <a:rPr dirty="0" sz="1200" spc="-5" b="1">
                <a:latin typeface="Times New Roman"/>
                <a:cs typeface="Times New Roman"/>
              </a:rPr>
              <a:t> meanings.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7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Do as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are </a:t>
            </a:r>
            <a:r>
              <a:rPr dirty="0" sz="1200" i="1">
                <a:latin typeface="Times New Roman"/>
                <a:cs typeface="Times New Roman"/>
              </a:rPr>
              <a:t>told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told)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They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did </a:t>
            </a:r>
            <a:r>
              <a:rPr dirty="0" sz="1200" spc="-5" i="1">
                <a:latin typeface="Times New Roman"/>
                <a:cs typeface="Times New Roman"/>
              </a:rPr>
              <a:t>as</a:t>
            </a:r>
            <a:r>
              <a:rPr dirty="0" sz="1200" i="1">
                <a:latin typeface="Times New Roman"/>
                <a:cs typeface="Times New Roman"/>
              </a:rPr>
              <a:t> they </a:t>
            </a:r>
            <a:r>
              <a:rPr dirty="0" sz="1200" spc="-5" i="1">
                <a:latin typeface="Times New Roman"/>
                <a:cs typeface="Times New Roman"/>
              </a:rPr>
              <a:t>promised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(They did what they </a:t>
            </a:r>
            <a:r>
              <a:rPr dirty="0" sz="1200" spc="-5">
                <a:latin typeface="Times New Roman"/>
                <a:cs typeface="Times New Roman"/>
              </a:rPr>
              <a:t>promised.)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Char char="-"/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 you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know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we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expected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said.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380"/>
              </a:lnSpc>
              <a:buFont typeface="Times New Roman"/>
              <a:buChar char="-"/>
              <a:tabLst>
                <a:tab pos="178435" algn="l"/>
              </a:tabLst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know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it’s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birthday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  <a:p>
            <a:pPr marL="177800" indent="-165735">
              <a:lnSpc>
                <a:spcPts val="1410"/>
              </a:lnSpc>
              <a:buFont typeface="Times New Roman"/>
              <a:buChar char="-"/>
              <a:tabLst>
                <a:tab pos="17843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failed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driving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test,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expected.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Char char="-"/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really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especially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talk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someone’s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how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1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few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weeks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ago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working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conductor.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8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Asad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just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found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job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clerk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 have 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car, </a:t>
            </a:r>
            <a:r>
              <a:rPr dirty="0" sz="1200" spc="-5" i="1">
                <a:latin typeface="Times New Roman"/>
                <a:cs typeface="Times New Roman"/>
              </a:rPr>
              <a:t>so</a:t>
            </a:r>
            <a:r>
              <a:rPr dirty="0" sz="1200" i="1">
                <a:latin typeface="Times New Roman"/>
                <a:cs typeface="Times New Roman"/>
              </a:rPr>
              <a:t> we</a:t>
            </a:r>
            <a:r>
              <a:rPr dirty="0" sz="1200" spc="-5" i="1">
                <a:latin typeface="Times New Roman"/>
                <a:cs typeface="Times New Roman"/>
              </a:rPr>
              <a:t> use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garage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store room</a:t>
            </a:r>
            <a:r>
              <a:rPr dirty="0" sz="1200" spc="-5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things.</a:t>
            </a:r>
            <a:endParaRPr sz="1200">
              <a:latin typeface="Times New Roman"/>
              <a:cs typeface="Times New Roman"/>
            </a:endParaRPr>
          </a:p>
          <a:p>
            <a:pPr marL="102235" marR="3885565" indent="-102235">
              <a:lnSpc>
                <a:spcPts val="1390"/>
              </a:lnSpc>
              <a:spcBef>
                <a:spcPts val="60"/>
              </a:spcBef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She </a:t>
            </a:r>
            <a:r>
              <a:rPr dirty="0" sz="1200" spc="-5" i="1">
                <a:latin typeface="Times New Roman"/>
                <a:cs typeface="Times New Roman"/>
              </a:rPr>
              <a:t>is beautiful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 a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princess</a:t>
            </a:r>
            <a:r>
              <a:rPr dirty="0" sz="1200" spc="-5" i="1">
                <a:latin typeface="Times New Roman"/>
                <a:cs typeface="Times New Roman"/>
              </a:rPr>
              <a:t>.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(She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really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isn’t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princess.)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30"/>
              </a:lnSpc>
              <a:buFont typeface="Times New Roman"/>
              <a:buChar char="-"/>
              <a:tabLst>
                <a:tab pos="101600" algn="l"/>
                <a:tab pos="3791585" algn="l"/>
              </a:tabLst>
            </a:pPr>
            <a:r>
              <a:rPr dirty="0" sz="1200" i="1">
                <a:latin typeface="Times New Roman"/>
                <a:cs typeface="Times New Roman"/>
              </a:rPr>
              <a:t>Everyone</a:t>
            </a:r>
            <a:r>
              <a:rPr dirty="0" sz="1200" spc="-5" i="1">
                <a:latin typeface="Times New Roman"/>
                <a:cs typeface="Times New Roman"/>
              </a:rPr>
              <a:t> is</a:t>
            </a:r>
            <a:r>
              <a:rPr dirty="0" sz="1200" i="1">
                <a:latin typeface="Times New Roman"/>
                <a:cs typeface="Times New Roman"/>
              </a:rPr>
              <a:t> sick in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 </a:t>
            </a:r>
            <a:r>
              <a:rPr dirty="0" sz="1200" spc="-5" i="1">
                <a:latin typeface="Times New Roman"/>
                <a:cs typeface="Times New Roman"/>
              </a:rPr>
              <a:t>college</a:t>
            </a:r>
            <a:r>
              <a:rPr dirty="0" sz="1200" i="1">
                <a:latin typeface="Times New Roman"/>
                <a:cs typeface="Times New Roman"/>
              </a:rPr>
              <a:t> hostel. </a:t>
            </a:r>
            <a:r>
              <a:rPr dirty="0" sz="1200" spc="-5" i="1">
                <a:latin typeface="Times New Roman"/>
                <a:cs typeface="Times New Roman"/>
              </a:rPr>
              <a:t>It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sz="1200" spc="305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hospital.</a:t>
            </a:r>
            <a:r>
              <a:rPr dirty="0" sz="1200" i="1">
                <a:latin typeface="Times New Roman"/>
                <a:cs typeface="Times New Roman"/>
              </a:rPr>
              <a:t>	(It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isn’t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really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hospital)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7: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Put in</a:t>
            </a:r>
            <a:r>
              <a:rPr dirty="0" sz="1200" b="1">
                <a:latin typeface="Times New Roman"/>
                <a:cs typeface="Times New Roman"/>
              </a:rPr>
              <a:t> l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ike</a:t>
            </a:r>
            <a:r>
              <a:rPr dirty="0" sz="1200" b="1">
                <a:latin typeface="Times New Roman"/>
                <a:cs typeface="Times New Roman"/>
              </a:rPr>
              <a:t> or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sentences.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375"/>
              </a:lnSpc>
              <a:buAutoNum type="arabicPeriod"/>
              <a:tabLst>
                <a:tab pos="241300" algn="l"/>
                <a:tab pos="33782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Your </a:t>
            </a:r>
            <a:r>
              <a:rPr dirty="0" sz="1200" i="1">
                <a:latin typeface="Times New Roman"/>
                <a:cs typeface="Times New Roman"/>
              </a:rPr>
              <a:t>Arabic </a:t>
            </a:r>
            <a:r>
              <a:rPr dirty="0" sz="1200" spc="-5" i="1">
                <a:latin typeface="Times New Roman"/>
                <a:cs typeface="Times New Roman"/>
              </a:rPr>
              <a:t>is </a:t>
            </a:r>
            <a:r>
              <a:rPr dirty="0" sz="1200" i="1">
                <a:latin typeface="Times New Roman"/>
                <a:cs typeface="Times New Roman"/>
              </a:rPr>
              <a:t>very fluent.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 wish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could speak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marL="241300" indent="-228600">
              <a:lnSpc>
                <a:spcPts val="1380"/>
              </a:lnSpc>
              <a:buAutoNum type="arabicPeriod"/>
              <a:tabLst>
                <a:tab pos="241300" algn="l"/>
              </a:tabLst>
            </a:pPr>
            <a:r>
              <a:rPr dirty="0" sz="1200" i="1">
                <a:latin typeface="Times New Roman"/>
                <a:cs typeface="Times New Roman"/>
              </a:rPr>
              <a:t>You don’t listen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 anyone. </a:t>
            </a:r>
            <a:r>
              <a:rPr dirty="0" sz="1200" spc="-5" i="1">
                <a:latin typeface="Times New Roman"/>
                <a:cs typeface="Times New Roman"/>
              </a:rPr>
              <a:t>Do</a:t>
            </a:r>
            <a:r>
              <a:rPr dirty="0" u="heavy" sz="1200" spc="2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3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like.</a:t>
            </a:r>
            <a:endParaRPr sz="1200">
              <a:latin typeface="Times New Roman"/>
              <a:cs typeface="Times New Roman"/>
            </a:endParaRPr>
          </a:p>
          <a:p>
            <a:pPr marL="240665" indent="-228600">
              <a:lnSpc>
                <a:spcPts val="1375"/>
              </a:lnSpc>
              <a:buAutoNum type="arabicPeriod"/>
              <a:tabLst>
                <a:tab pos="241300" algn="l"/>
              </a:tabLst>
            </a:pP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don’t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 change. You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can go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out</a:t>
            </a:r>
            <a:r>
              <a:rPr dirty="0" u="heavy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are.</a:t>
            </a:r>
            <a:endParaRPr sz="1200">
              <a:latin typeface="Times New Roman"/>
              <a:cs typeface="Times New Roman"/>
            </a:endParaRPr>
          </a:p>
          <a:p>
            <a:pPr marL="203200" indent="-190500">
              <a:lnSpc>
                <a:spcPts val="1405"/>
              </a:lnSpc>
              <a:buAutoNum type="arabicPeriod"/>
              <a:tabLst>
                <a:tab pos="203200" algn="l"/>
              </a:tabLst>
            </a:pPr>
            <a:r>
              <a:rPr dirty="0" sz="1200" i="1">
                <a:latin typeface="Times New Roman"/>
                <a:cs typeface="Times New Roman"/>
              </a:rPr>
              <a:t>Arifa </a:t>
            </a:r>
            <a:r>
              <a:rPr dirty="0" sz="1200" spc="-5" i="1">
                <a:latin typeface="Times New Roman"/>
                <a:cs typeface="Times New Roman"/>
              </a:rPr>
              <a:t>has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been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working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dirty="0" sz="1200" i="1">
                <a:latin typeface="Times New Roman"/>
                <a:cs typeface="Times New Roman"/>
              </a:rPr>
              <a:t> a</a:t>
            </a:r>
            <a:r>
              <a:rPr dirty="0" sz="1200" spc="-5" i="1">
                <a:latin typeface="Times New Roman"/>
                <a:cs typeface="Times New Roman"/>
              </a:rPr>
              <a:t> waitress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for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last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few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weeks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today’s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looked at often pose </a:t>
            </a:r>
            <a:r>
              <a:rPr dirty="0" sz="1200" spc="-5">
                <a:latin typeface="Times New Roman"/>
                <a:cs typeface="Times New Roman"/>
              </a:rPr>
              <a:t>problems </a:t>
            </a:r>
            <a:r>
              <a:rPr dirty="0" sz="1200">
                <a:latin typeface="Times New Roman"/>
                <a:cs typeface="Times New Roman"/>
              </a:rPr>
              <a:t>for learners of English in their writing. I hope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 clarified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words.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274</a:t>
            </a:fld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-44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Articles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Their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grammarians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English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categories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major</a:t>
            </a:r>
            <a:r>
              <a:rPr dirty="0" sz="1200">
                <a:latin typeface="Times New Roman"/>
                <a:cs typeface="Times New Roman"/>
              </a:rPr>
              <a:t> category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like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adjectives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adverbs.</a:t>
            </a:r>
            <a:r>
              <a:rPr dirty="0" sz="1200">
                <a:latin typeface="Times New Roman"/>
                <a:cs typeface="Times New Roman"/>
              </a:rPr>
              <a:t> These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 e.g. they’re the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you would send in a telegram “Arriving </a:t>
            </a:r>
            <a:r>
              <a:rPr dirty="0" sz="1200" spc="-10">
                <a:latin typeface="Times New Roman"/>
                <a:cs typeface="Times New Roman"/>
              </a:rPr>
              <a:t>PK </a:t>
            </a:r>
            <a:r>
              <a:rPr dirty="0" sz="1200">
                <a:latin typeface="Times New Roman"/>
                <a:cs typeface="Times New Roman"/>
              </a:rPr>
              <a:t>421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Sunday”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“Send </a:t>
            </a:r>
            <a:r>
              <a:rPr dirty="0" sz="1200" spc="-5">
                <a:latin typeface="Times New Roman"/>
                <a:cs typeface="Times New Roman"/>
              </a:rPr>
              <a:t>money</a:t>
            </a:r>
            <a:r>
              <a:rPr dirty="0" sz="1200">
                <a:latin typeface="Times New Roman"/>
                <a:cs typeface="Times New Roman"/>
              </a:rPr>
              <a:t> broke”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minor </a:t>
            </a:r>
            <a:r>
              <a:rPr dirty="0" sz="1200">
                <a:latin typeface="Times New Roman"/>
                <a:cs typeface="Times New Roman"/>
              </a:rPr>
              <a:t>category are</a:t>
            </a:r>
            <a:r>
              <a:rPr dirty="0" sz="1200" spc="-5">
                <a:latin typeface="Times New Roman"/>
                <a:cs typeface="Times New Roman"/>
              </a:rPr>
              <a:t> determiners,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prepositions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conjunctions.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Minor words express or signal </a:t>
            </a:r>
            <a:r>
              <a:rPr dirty="0" sz="1200" spc="-5">
                <a:latin typeface="Times New Roman"/>
                <a:cs typeface="Times New Roman"/>
              </a:rPr>
              <a:t>subtle shades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meaning, </a:t>
            </a:r>
            <a:r>
              <a:rPr dirty="0" sz="1200">
                <a:latin typeface="Times New Roman"/>
                <a:cs typeface="Times New Roman"/>
              </a:rPr>
              <a:t>obvious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>
                <a:latin typeface="Times New Roman"/>
                <a:cs typeface="Times New Roman"/>
              </a:rPr>
              <a:t>or redundant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grammatical information </a:t>
            </a:r>
            <a:r>
              <a:rPr dirty="0" sz="1200">
                <a:latin typeface="Times New Roman"/>
                <a:cs typeface="Times New Roman"/>
              </a:rPr>
              <a:t>i.e.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perform no particular function. </a:t>
            </a:r>
            <a:r>
              <a:rPr dirty="0" sz="1200">
                <a:latin typeface="Times New Roman"/>
                <a:cs typeface="Times New Roman"/>
              </a:rPr>
              <a:t>Minor </a:t>
            </a:r>
            <a:r>
              <a:rPr dirty="0" sz="1200" spc="-5">
                <a:latin typeface="Times New Roman"/>
                <a:cs typeface="Times New Roman"/>
              </a:rPr>
              <a:t>class words </a:t>
            </a:r>
            <a:r>
              <a:rPr dirty="0" sz="1200">
                <a:latin typeface="Times New Roman"/>
                <a:cs typeface="Times New Roman"/>
              </a:rPr>
              <a:t> occur </a:t>
            </a: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>
                <a:latin typeface="Times New Roman"/>
                <a:cs typeface="Times New Roman"/>
              </a:rPr>
              <a:t>frequently than </a:t>
            </a:r>
            <a:r>
              <a:rPr dirty="0" sz="1200" spc="-5">
                <a:latin typeface="Times New Roman"/>
                <a:cs typeface="Times New Roman"/>
              </a:rPr>
              <a:t>members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major classes.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around 50 of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10">
                <a:latin typeface="Times New Roman"/>
                <a:cs typeface="Times New Roman"/>
              </a:rPr>
              <a:t>words </a:t>
            </a:r>
            <a:r>
              <a:rPr dirty="0" sz="1200" spc="-5">
                <a:latin typeface="Times New Roman"/>
                <a:cs typeface="Times New Roman"/>
              </a:rPr>
              <a:t> and they are very common. All of </a:t>
            </a: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fifty words are </a:t>
            </a:r>
            <a:r>
              <a:rPr dirty="0" sz="1200" spc="-10">
                <a:latin typeface="Times New Roman"/>
                <a:cs typeface="Times New Roman"/>
              </a:rPr>
              <a:t>function </a:t>
            </a:r>
            <a:r>
              <a:rPr dirty="0" sz="1200" spc="-5">
                <a:latin typeface="Times New Roman"/>
                <a:cs typeface="Times New Roman"/>
              </a:rPr>
              <a:t>words;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make up </a:t>
            </a:r>
            <a:r>
              <a:rPr dirty="0" sz="1200">
                <a:latin typeface="Times New Roman"/>
                <a:cs typeface="Times New Roman"/>
              </a:rPr>
              <a:t>about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60%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45%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minor </a:t>
            </a:r>
            <a:r>
              <a:rPr dirty="0" sz="1200">
                <a:latin typeface="Times New Roman"/>
                <a:cs typeface="Times New Roman"/>
              </a:rPr>
              <a:t>words are like bricks </a:t>
            </a:r>
            <a:r>
              <a:rPr dirty="0" sz="1200" spc="-5">
                <a:latin typeface="Times New Roman"/>
                <a:cs typeface="Times New Roman"/>
              </a:rPr>
              <a:t>that cement together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content words. For this reason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 words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also known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structure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Determiners</a:t>
            </a:r>
            <a:r>
              <a:rPr dirty="0" sz="1200" spc="16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minor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determiner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precedes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adjectives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15"/>
              </a:lnSpc>
              <a:buChar char="-"/>
              <a:tabLst>
                <a:tab pos="1016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5">
                <a:latin typeface="Times New Roman"/>
                <a:cs typeface="Times New Roman"/>
              </a:rPr>
              <a:t> sat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(art,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poss)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(indef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deter)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yogurt?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(indef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deter)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Char char="-"/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Major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</a:t>
            </a:r>
            <a:r>
              <a:rPr dirty="0" sz="1200" spc="-5" b="1">
                <a:latin typeface="Times New Roman"/>
                <a:cs typeface="Times New Roman"/>
              </a:rPr>
              <a:t> Content 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Noun,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Verb,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Adjective,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Adverb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Minor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/ </a:t>
            </a:r>
            <a:r>
              <a:rPr dirty="0" sz="1200" spc="-5" b="1">
                <a:latin typeface="Times New Roman"/>
                <a:cs typeface="Times New Roman"/>
              </a:rPr>
              <a:t>Function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words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Determiners,</a:t>
            </a:r>
            <a:r>
              <a:rPr dirty="0" sz="1200" spc="-5">
                <a:latin typeface="Times New Roman"/>
                <a:cs typeface="Times New Roman"/>
              </a:rPr>
              <a:t> Pronouns,Prepositions, Conjunctions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Determiners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5">
                <a:latin typeface="Times New Roman"/>
                <a:cs typeface="Times New Roman"/>
              </a:rPr>
              <a:t> &amp; </a:t>
            </a:r>
            <a:r>
              <a:rPr dirty="0" sz="1200">
                <a:latin typeface="Times New Roman"/>
                <a:cs typeface="Times New Roman"/>
              </a:rPr>
              <a:t>adjectives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</a:t>
            </a:r>
            <a:r>
              <a:rPr dirty="0" sz="1200" spc="-5">
                <a:latin typeface="Times New Roman"/>
                <a:cs typeface="Times New Roman"/>
              </a:rPr>
              <a:t> sat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(art,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poss)</a:t>
            </a:r>
            <a:endParaRPr sz="1200">
              <a:latin typeface="Times New Roman"/>
              <a:cs typeface="Times New Roman"/>
            </a:endParaRPr>
          </a:p>
          <a:p>
            <a:pPr marL="101600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(indef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deter)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some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yogurt?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(indef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deter)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There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5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main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types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determiners.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94945" indent="-182880">
              <a:lnSpc>
                <a:spcPts val="1410"/>
              </a:lnSpc>
              <a:buFont typeface="Times New Roman"/>
              <a:buAutoNum type="romanLcParenBoth"/>
              <a:tabLst>
                <a:tab pos="195580" algn="l"/>
              </a:tabLst>
            </a:pPr>
            <a:r>
              <a:rPr dirty="0" sz="1200" b="1">
                <a:latin typeface="Times New Roman"/>
                <a:cs typeface="Times New Roman"/>
              </a:rPr>
              <a:t>Articles:</a:t>
            </a:r>
            <a:r>
              <a:rPr dirty="0" sz="1200" spc="26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237490" indent="-224790">
              <a:lnSpc>
                <a:spcPts val="1380"/>
              </a:lnSpc>
              <a:buFont typeface="Times New Roman"/>
              <a:buAutoNum type="romanLcParenBoth"/>
              <a:tabLst>
                <a:tab pos="23749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Demonstratives: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endParaRPr sz="1200">
              <a:latin typeface="Times New Roman"/>
              <a:cs typeface="Times New Roman"/>
            </a:endParaRPr>
          </a:p>
          <a:p>
            <a:pPr marL="280035" indent="-267970">
              <a:lnSpc>
                <a:spcPts val="1380"/>
              </a:lnSpc>
              <a:buFont typeface="Times New Roman"/>
              <a:buAutoNum type="romanLcParenBoth"/>
              <a:tabLst>
                <a:tab pos="28067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Possessives: </a:t>
            </a:r>
            <a:r>
              <a:rPr dirty="0" sz="1200" spc="-5">
                <a:latin typeface="Times New Roman"/>
                <a:cs typeface="Times New Roman"/>
              </a:rPr>
              <a:t>my,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endParaRPr sz="1200">
              <a:latin typeface="Times New Roman"/>
              <a:cs typeface="Times New Roman"/>
            </a:endParaRPr>
          </a:p>
          <a:p>
            <a:pPr marL="12700" marR="270510">
              <a:lnSpc>
                <a:spcPts val="1380"/>
              </a:lnSpc>
              <a:spcBef>
                <a:spcPts val="70"/>
              </a:spcBef>
              <a:buFont typeface="Times New Roman"/>
              <a:buAutoNum type="romanLcParenBoth"/>
              <a:tabLst>
                <a:tab pos="2978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Quantifiers:</a:t>
            </a:r>
            <a:r>
              <a:rPr dirty="0" sz="1200" spc="2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enough,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few,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much,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more,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fewer, less, either, neither</a:t>
            </a:r>
            <a:endParaRPr sz="1200">
              <a:latin typeface="Times New Roman"/>
              <a:cs typeface="Times New Roman"/>
            </a:endParaRPr>
          </a:p>
          <a:p>
            <a:pPr marL="12700" marR="1952625">
              <a:lnSpc>
                <a:spcPts val="1380"/>
              </a:lnSpc>
              <a:buFont typeface="Times New Roman"/>
              <a:buAutoNum type="romanLcParenBoth"/>
              <a:tabLst>
                <a:tab pos="2292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Wh-determiners: </a:t>
            </a:r>
            <a:r>
              <a:rPr dirty="0" sz="1200">
                <a:latin typeface="Times New Roman"/>
                <a:cs typeface="Times New Roman"/>
              </a:rPr>
              <a:t>what (ever)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>
                <a:latin typeface="Times New Roman"/>
                <a:cs typeface="Times New Roman"/>
              </a:rPr>
              <a:t>(ever) whoever, </a:t>
            </a:r>
            <a:r>
              <a:rPr dirty="0" sz="1200" spc="-5">
                <a:latin typeface="Times New Roman"/>
                <a:cs typeface="Times New Roman"/>
              </a:rPr>
              <a:t>whose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party will be</a:t>
            </a:r>
            <a:r>
              <a:rPr dirty="0" sz="1200">
                <a:latin typeface="Times New Roman"/>
                <a:cs typeface="Times New Roman"/>
              </a:rPr>
              <a:t> the /di/ </a:t>
            </a:r>
            <a:r>
              <a:rPr dirty="0" sz="1200" spc="-5">
                <a:latin typeface="Times New Roman"/>
                <a:cs typeface="Times New Roman"/>
              </a:rPr>
              <a:t>social</a:t>
            </a:r>
            <a:r>
              <a:rPr dirty="0" sz="1200">
                <a:latin typeface="Times New Roman"/>
                <a:cs typeface="Times New Roman"/>
              </a:rPr>
              <a:t> event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week.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6987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reason</a:t>
            </a:r>
            <a:r>
              <a:rPr dirty="0" sz="1200">
                <a:latin typeface="Times New Roman"/>
                <a:cs typeface="Times New Roman"/>
              </a:rPr>
              <a:t> why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going to </a:t>
            </a:r>
            <a:r>
              <a:rPr dirty="0" sz="1200" spc="-5">
                <a:latin typeface="Times New Roman"/>
                <a:cs typeface="Times New Roman"/>
              </a:rPr>
              <a:t>look </a:t>
            </a:r>
            <a:r>
              <a:rPr dirty="0" sz="1200">
                <a:latin typeface="Times New Roman"/>
                <a:cs typeface="Times New Roman"/>
              </a:rPr>
              <a:t>at articles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Pakistani learners of English make 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most mistakes </a:t>
            </a:r>
            <a:r>
              <a:rPr dirty="0" sz="1200">
                <a:latin typeface="Times New Roman"/>
                <a:cs typeface="Times New Roman"/>
              </a:rPr>
              <a:t>in the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of articles. They </a:t>
            </a:r>
            <a:r>
              <a:rPr dirty="0" sz="1200" spc="-5">
                <a:latin typeface="Times New Roman"/>
                <a:cs typeface="Times New Roman"/>
              </a:rPr>
              <a:t>insert </a:t>
            </a:r>
            <a:r>
              <a:rPr dirty="0" sz="1200">
                <a:latin typeface="Times New Roman"/>
                <a:cs typeface="Times New Roman"/>
              </a:rPr>
              <a:t>articles where they are not </a:t>
            </a:r>
            <a:r>
              <a:rPr dirty="0" sz="1200" spc="-5">
                <a:latin typeface="Times New Roman"/>
                <a:cs typeface="Times New Roman"/>
              </a:rPr>
              <a:t>required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use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required.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274</a:t>
            </a:fld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8005" cy="19608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In today’s </a:t>
            </a:r>
            <a:r>
              <a:rPr dirty="0" sz="1200" spc="-5">
                <a:latin typeface="Times New Roman"/>
                <a:cs typeface="Times New Roman"/>
              </a:rPr>
              <a:t>lesson we </a:t>
            </a:r>
            <a:r>
              <a:rPr dirty="0" sz="1200">
                <a:latin typeface="Times New Roman"/>
                <a:cs typeface="Times New Roman"/>
              </a:rPr>
              <a:t>shall only </a:t>
            </a:r>
            <a:r>
              <a:rPr dirty="0" sz="1200" spc="-5">
                <a:latin typeface="Times New Roman"/>
                <a:cs typeface="Times New Roman"/>
              </a:rPr>
              <a:t>examine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articles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subclass of determiners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detail. </a:t>
            </a:r>
            <a:r>
              <a:rPr dirty="0" sz="1200">
                <a:latin typeface="Times New Roman"/>
                <a:cs typeface="Times New Roman"/>
              </a:rPr>
              <a:t>There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2 </a:t>
            </a:r>
            <a:r>
              <a:rPr dirty="0" sz="1200" spc="-5">
                <a:latin typeface="Times New Roman"/>
                <a:cs typeface="Times New Roman"/>
              </a:rPr>
              <a:t>articles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English,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definite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‘the’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the indefinite.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/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Articles </a:t>
            </a:r>
            <a:r>
              <a:rPr dirty="0" sz="1200">
                <a:latin typeface="Times New Roman"/>
                <a:cs typeface="Times New Roman"/>
              </a:rPr>
              <a:t>are easily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recognized and indicate that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nouns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 articles have a single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: </a:t>
            </a:r>
            <a:r>
              <a:rPr dirty="0" sz="1200">
                <a:latin typeface="Times New Roman"/>
                <a:cs typeface="Times New Roman"/>
              </a:rPr>
              <a:t>they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modify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the </a:t>
            </a:r>
            <a:r>
              <a:rPr dirty="0" sz="1200" spc="-5">
                <a:latin typeface="Times New Roman"/>
                <a:cs typeface="Times New Roman"/>
              </a:rPr>
              <a:t>head noun in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noun phrase, their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meaning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quite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complex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Forms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Articles: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Pronunciation: </a:t>
            </a:r>
            <a:r>
              <a:rPr dirty="0" sz="1200">
                <a:latin typeface="Times New Roman"/>
                <a:cs typeface="Times New Roman"/>
              </a:rPr>
              <a:t>The spelling of the indefinite article </a:t>
            </a:r>
            <a:r>
              <a:rPr dirty="0" sz="1200" spc="-5" b="1">
                <a:latin typeface="Times New Roman"/>
                <a:cs typeface="Times New Roman"/>
              </a:rPr>
              <a:t>‘a’ </a:t>
            </a:r>
            <a:r>
              <a:rPr dirty="0" sz="1200">
                <a:latin typeface="Times New Roman"/>
                <a:cs typeface="Times New Roman"/>
              </a:rPr>
              <a:t>and the pronunciation of both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 and indefinite </a:t>
            </a:r>
            <a:r>
              <a:rPr dirty="0" sz="1200" spc="-5">
                <a:latin typeface="Times New Roman"/>
                <a:cs typeface="Times New Roman"/>
              </a:rPr>
              <a:t>articles depend on the initial sound of the word that follows. </a:t>
            </a:r>
            <a:r>
              <a:rPr dirty="0" sz="1200" spc="-10">
                <a:latin typeface="Times New Roman"/>
                <a:cs typeface="Times New Roman"/>
              </a:rPr>
              <a:t>Articles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normally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stressed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but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stressed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emphasis.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278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3192271"/>
            <a:ext cx="496125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tabLst>
                <a:tab pos="1243965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unstressed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article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the’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pronounced</a:t>
            </a:r>
            <a:r>
              <a:rPr dirty="0" sz="1200">
                <a:latin typeface="Times New Roman"/>
                <a:cs typeface="Times New Roman"/>
              </a:rPr>
              <a:t> /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consonants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	i/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vowels.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indefinite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’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pronounced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consonants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-/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n/-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5">
                <a:latin typeface="Times New Roman"/>
                <a:cs typeface="Times New Roman"/>
              </a:rPr>
              <a:t> vowels.</a:t>
            </a:r>
            <a:r>
              <a:rPr dirty="0" sz="1200">
                <a:latin typeface="Times New Roman"/>
                <a:cs typeface="Times New Roman"/>
              </a:rPr>
              <a:t> e.g.</a:t>
            </a:r>
            <a:endParaRPr sz="1200">
              <a:latin typeface="Times New Roman"/>
              <a:cs typeface="Times New Roman"/>
            </a:endParaRPr>
          </a:p>
          <a:p>
            <a:pPr marL="927100" marR="224409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 girl,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pilot, the </a:t>
            </a:r>
            <a:r>
              <a:rPr dirty="0" sz="1200" spc="-5">
                <a:latin typeface="Times New Roman"/>
                <a:cs typeface="Times New Roman"/>
              </a:rPr>
              <a:t>bridge 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aunt,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egg,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octopus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22522" y="3192271"/>
            <a:ext cx="51943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4243832"/>
            <a:ext cx="5627370" cy="3538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271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girl,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pilot,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bridge</a:t>
            </a:r>
            <a:endParaRPr sz="1200">
              <a:latin typeface="Times New Roman"/>
              <a:cs typeface="Times New Roman"/>
            </a:endParaRPr>
          </a:p>
          <a:p>
            <a:pPr marL="927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octopus,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egg.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stressed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 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i/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excellence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superiority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Mrs.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Butt?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No.</a:t>
            </a:r>
            <a:r>
              <a:rPr dirty="0" sz="1200" spc="-5">
                <a:latin typeface="Times New Roman"/>
                <a:cs typeface="Times New Roman"/>
              </a:rPr>
              <a:t> she’s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Mrs.</a:t>
            </a:r>
            <a:r>
              <a:rPr dirty="0" sz="1200">
                <a:latin typeface="Times New Roman"/>
                <a:cs typeface="Times New Roman"/>
              </a:rPr>
              <a:t> Butt,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famous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/di/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social event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spcBef>
                <a:spcPts val="5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Article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Usage: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75"/>
              </a:lnSpc>
            </a:pP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general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rules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are:</a:t>
            </a:r>
            <a:endParaRPr sz="1200">
              <a:latin typeface="Times New Roman"/>
              <a:cs typeface="Times New Roman"/>
            </a:endParaRPr>
          </a:p>
          <a:p>
            <a:pPr marL="12700" marR="45085">
              <a:lnSpc>
                <a:spcPts val="1380"/>
              </a:lnSpc>
              <a:spcBef>
                <a:spcPts val="60"/>
              </a:spcBef>
              <a:tabLst>
                <a:tab pos="1277620" algn="l"/>
              </a:tabLst>
            </a:pPr>
            <a:r>
              <a:rPr dirty="0" sz="1200">
                <a:latin typeface="Times New Roman"/>
                <a:cs typeface="Times New Roman"/>
              </a:rPr>
              <a:t>(a).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 ‘the’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used</a:t>
            </a:r>
            <a:r>
              <a:rPr dirty="0" sz="1200" spc="-5">
                <a:latin typeface="Times New Roman"/>
                <a:cs typeface="Times New Roman"/>
              </a:rPr>
              <a:t> 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kinds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5">
                <a:latin typeface="Times New Roman"/>
                <a:cs typeface="Times New Roman"/>
              </a:rPr>
              <a:t> except most </a:t>
            </a:r>
            <a:r>
              <a:rPr dirty="0" sz="1200">
                <a:latin typeface="Times New Roman"/>
                <a:cs typeface="Times New Roman"/>
              </a:rPr>
              <a:t>proper nouns.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sing. </a:t>
            </a:r>
            <a:r>
              <a:rPr dirty="0" sz="1200">
                <a:latin typeface="Times New Roman"/>
                <a:cs typeface="Times New Roman"/>
              </a:rPr>
              <a:t>count</a:t>
            </a:r>
            <a:r>
              <a:rPr dirty="0" sz="1200" spc="-5">
                <a:latin typeface="Times New Roman"/>
                <a:cs typeface="Times New Roman"/>
              </a:rPr>
              <a:t> nouns: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dog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endParaRPr sz="1200">
              <a:latin typeface="Times New Roman"/>
              <a:cs typeface="Times New Roman"/>
            </a:endParaRPr>
          </a:p>
          <a:p>
            <a:pPr marL="12700" marR="2652395">
              <a:lnSpc>
                <a:spcPts val="1380"/>
              </a:lnSpc>
              <a:tabLst>
                <a:tab pos="1341120" algn="l"/>
              </a:tabLst>
            </a:pP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nouns:	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Sing. </a:t>
            </a:r>
            <a:r>
              <a:rPr dirty="0" sz="1200" spc="-5">
                <a:latin typeface="Times New Roman"/>
                <a:cs typeface="Times New Roman"/>
              </a:rPr>
              <a:t>mass</a:t>
            </a:r>
            <a:r>
              <a:rPr dirty="0" sz="1200">
                <a:latin typeface="Times New Roman"/>
                <a:cs typeface="Times New Roman"/>
              </a:rPr>
              <a:t> nouns:	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water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469900" marR="5080" indent="-4572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‘a/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an’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normally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singular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nouns: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ball / child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5">
                <a:latin typeface="Times New Roman"/>
                <a:cs typeface="Times New Roman"/>
              </a:rPr>
              <a:t>exams</a:t>
            </a:r>
            <a:endParaRPr sz="1200">
              <a:latin typeface="Times New Roman"/>
              <a:cs typeface="Times New Roman"/>
            </a:endParaRPr>
          </a:p>
          <a:p>
            <a:pPr marL="12700" marR="2342515">
              <a:lnSpc>
                <a:spcPts val="1380"/>
              </a:lnSpc>
              <a:tabLst>
                <a:tab pos="1417955" algn="l"/>
              </a:tabLst>
            </a:pPr>
            <a:r>
              <a:rPr dirty="0" sz="1200">
                <a:latin typeface="Times New Roman"/>
                <a:cs typeface="Times New Roman"/>
              </a:rPr>
              <a:t>plural count nouns:	</a:t>
            </a:r>
            <a:r>
              <a:rPr dirty="0" sz="1200" spc="-5">
                <a:latin typeface="Times New Roman"/>
                <a:cs typeface="Times New Roman"/>
              </a:rPr>
              <a:t>(some) </a:t>
            </a:r>
            <a:r>
              <a:rPr dirty="0" sz="1200">
                <a:latin typeface="Times New Roman"/>
                <a:cs typeface="Times New Roman"/>
              </a:rPr>
              <a:t>balls/children/ </a:t>
            </a:r>
            <a:r>
              <a:rPr dirty="0" sz="1200" spc="-5">
                <a:latin typeface="Times New Roman"/>
                <a:cs typeface="Times New Roman"/>
              </a:rPr>
              <a:t>exams </a:t>
            </a:r>
            <a:r>
              <a:rPr dirty="0" sz="1200">
                <a:latin typeface="Times New Roman"/>
                <a:cs typeface="Times New Roman"/>
              </a:rPr>
              <a:t> singular</a:t>
            </a:r>
            <a:r>
              <a:rPr dirty="0" sz="1200" spc="-5">
                <a:latin typeface="Times New Roman"/>
                <a:cs typeface="Times New Roman"/>
              </a:rPr>
              <a:t> mass </a:t>
            </a:r>
            <a:r>
              <a:rPr dirty="0" sz="1200">
                <a:latin typeface="Times New Roman"/>
                <a:cs typeface="Times New Roman"/>
              </a:rPr>
              <a:t>nouns: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(some)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silver/milk/ </a:t>
            </a:r>
            <a:r>
              <a:rPr dirty="0" sz="1200">
                <a:latin typeface="Times New Roman"/>
                <a:cs typeface="Times New Roman"/>
              </a:rPr>
              <a:t>knowledge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nouns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zero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 article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used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indefinite meaning.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8274811"/>
            <a:ext cx="3860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summarizes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5">
                <a:latin typeface="Times New Roman"/>
                <a:cs typeface="Times New Roman"/>
              </a:rPr>
              <a:t> rules.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20900" y="8625332"/>
            <a:ext cx="108712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ctr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endParaRPr sz="1200">
              <a:latin typeface="Times New Roman"/>
              <a:cs typeface="Times New Roman"/>
            </a:endParaRPr>
          </a:p>
          <a:p>
            <a:pPr algn="ctr" marL="36195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06883" y="8625332"/>
            <a:ext cx="118046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63195" marR="5080" indent="-15113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</a:t>
            </a:r>
            <a:endParaRPr sz="1200">
              <a:latin typeface="Times New Roman"/>
              <a:cs typeface="Times New Roman"/>
            </a:endParaRPr>
          </a:p>
          <a:p>
            <a:pPr marL="165735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(some)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8800592"/>
            <a:ext cx="103695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sing.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3892"/>
            <a:ext cx="1964055" cy="560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83665" algn="l"/>
              </a:tabLst>
            </a:pP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>
                <a:latin typeface="Times New Roman"/>
                <a:cs typeface="Times New Roman"/>
              </a:rPr>
              <a:t> noun	the silver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Definite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Article: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759571" y="913892"/>
            <a:ext cx="8255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(some)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silver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614931"/>
            <a:ext cx="5628005" cy="75692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‘the’,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reader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</a:t>
            </a:r>
            <a:r>
              <a:rPr dirty="0" sz="1200" spc="-5">
                <a:latin typeface="Times New Roman"/>
                <a:cs typeface="Times New Roman"/>
              </a:rPr>
              <a:t> referred </a:t>
            </a:r>
            <a:r>
              <a:rPr dirty="0" sz="1200">
                <a:latin typeface="Times New Roman"/>
                <a:cs typeface="Times New Roman"/>
              </a:rPr>
              <a:t>to, </a:t>
            </a:r>
            <a:r>
              <a:rPr dirty="0" sz="1200" spc="-5">
                <a:latin typeface="Times New Roman"/>
                <a:cs typeface="Times New Roman"/>
              </a:rPr>
              <a:t>or know what is being </a:t>
            </a:r>
            <a:r>
              <a:rPr dirty="0" sz="1200">
                <a:latin typeface="Times New Roman"/>
                <a:cs typeface="Times New Roman"/>
              </a:rPr>
              <a:t>talked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saw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film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(reader/hearer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case</a:t>
            </a:r>
            <a:r>
              <a:rPr dirty="0" sz="1200">
                <a:latin typeface="Times New Roman"/>
                <a:cs typeface="Times New Roman"/>
              </a:rPr>
              <a:t> when</a:t>
            </a:r>
            <a:r>
              <a:rPr dirty="0" sz="1200" spc="-5">
                <a:latin typeface="Times New Roman"/>
                <a:cs typeface="Times New Roman"/>
              </a:rPr>
              <a:t> we use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indefinite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article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‘a’ </a:t>
            </a:r>
            <a:r>
              <a:rPr dirty="0" sz="1200">
                <a:latin typeface="Times New Roman"/>
                <a:cs typeface="Times New Roman"/>
              </a:rPr>
              <a:t>/ ‘an’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  <a:tabLst>
                <a:tab pos="926465" algn="l"/>
              </a:tabLst>
            </a:pPr>
            <a:r>
              <a:rPr dirty="0" sz="1200" i="1">
                <a:latin typeface="Times New Roman"/>
                <a:cs typeface="Times New Roman"/>
              </a:rPr>
              <a:t>I saw a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film	</a:t>
            </a:r>
            <a:r>
              <a:rPr dirty="0" sz="1200" spc="-5">
                <a:latin typeface="Times New Roman"/>
                <a:cs typeface="Times New Roman"/>
              </a:rPr>
              <a:t>(reader</a:t>
            </a:r>
            <a:r>
              <a:rPr dirty="0" sz="1200">
                <a:latin typeface="Times New Roman"/>
                <a:cs typeface="Times New Roman"/>
              </a:rPr>
              <a:t> /</a:t>
            </a:r>
            <a:r>
              <a:rPr dirty="0" sz="1200" spc="-5">
                <a:latin typeface="Times New Roman"/>
                <a:cs typeface="Times New Roman"/>
              </a:rPr>
              <a:t> hearer doesn’t know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one).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amount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20"/>
              </a:lnSpc>
              <a:buChar char="-"/>
              <a:tabLst>
                <a:tab pos="101600" algn="l"/>
              </a:tabLst>
            </a:pPr>
            <a:r>
              <a:rPr dirty="0" sz="1200" i="1">
                <a:latin typeface="Times New Roman"/>
                <a:cs typeface="Times New Roman"/>
              </a:rPr>
              <a:t>Would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soda?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75"/>
              </a:lnSpc>
              <a:buChar char="-"/>
              <a:tabLst>
                <a:tab pos="10160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Do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you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like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chocolate?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(zero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‘chocolate’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05"/>
              </a:lnSpc>
              <a:buAutoNum type="arabicPeriod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sing.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count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nouns: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nouns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showing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‘one’:</a:t>
            </a:r>
            <a:endParaRPr sz="1200">
              <a:latin typeface="Times New Roman"/>
              <a:cs typeface="Times New Roman"/>
            </a:endParaRPr>
          </a:p>
          <a:p>
            <a:pPr marL="126364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girl,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chair,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ts val="1380"/>
              </a:lnSpc>
              <a:buAutoNum type="arabicPeriod" startAt="2"/>
              <a:tabLst>
                <a:tab pos="1651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plural count nouns: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‘more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one’: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girls,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chairs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 startAt="3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mass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nouns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advertising,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butter,evidence,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arises.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for: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Referring –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Back</a:t>
            </a:r>
            <a:r>
              <a:rPr dirty="0" sz="1200" b="1">
                <a:latin typeface="Times New Roman"/>
                <a:cs typeface="Times New Roman"/>
              </a:rPr>
              <a:t> Use</a:t>
            </a:r>
            <a:r>
              <a:rPr dirty="0" sz="1200">
                <a:latin typeface="Times New Roman"/>
                <a:cs typeface="Times New Roman"/>
              </a:rPr>
              <a:t>: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identity</a:t>
            </a:r>
            <a:r>
              <a:rPr dirty="0" sz="1200" spc="-5">
                <a:latin typeface="Times New Roman"/>
                <a:cs typeface="Times New Roman"/>
              </a:rPr>
              <a:t> has</a:t>
            </a:r>
            <a:r>
              <a:rPr dirty="0" sz="1200">
                <a:latin typeface="Times New Roman"/>
                <a:cs typeface="Times New Roman"/>
              </a:rPr>
              <a:t> been</a:t>
            </a:r>
            <a:r>
              <a:rPr dirty="0" sz="1200" spc="-5">
                <a:latin typeface="Times New Roman"/>
                <a:cs typeface="Times New Roman"/>
              </a:rPr>
              <a:t> established</a:t>
            </a:r>
            <a:r>
              <a:rPr dirty="0" sz="1200">
                <a:latin typeface="Times New Roman"/>
                <a:cs typeface="Times New Roman"/>
              </a:rPr>
              <a:t>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earlier </a:t>
            </a:r>
            <a:r>
              <a:rPr dirty="0" sz="1200" spc="-5">
                <a:latin typeface="Times New Roman"/>
                <a:cs typeface="Times New Roman"/>
              </a:rPr>
              <a:t>mention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 marR="6350" indent="3810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Saba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bought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TV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and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video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recorder,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but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she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returned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video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recorder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second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mention).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Forward-Pointing</a:t>
            </a:r>
            <a:r>
              <a:rPr dirty="0" sz="1200" spc="2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identity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established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post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modification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follows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Saba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returned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view-recorder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bought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yesterday</a:t>
            </a:r>
            <a:r>
              <a:rPr dirty="0" sz="1200" i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buFont typeface="Times New Roman"/>
              <a:buAutoNum type="arabicParenBoth" startAt="3"/>
              <a:tabLst>
                <a:tab pos="23114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 Unique Use </a:t>
            </a:r>
            <a:r>
              <a:rPr dirty="0" sz="1200">
                <a:latin typeface="Times New Roman"/>
                <a:cs typeface="Times New Roman"/>
              </a:rPr>
              <a:t>of ‘The’: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>
                <a:latin typeface="Times New Roman"/>
                <a:cs typeface="Times New Roman"/>
              </a:rPr>
              <a:t>the object or group </a:t>
            </a:r>
            <a:r>
              <a:rPr dirty="0" sz="1200" spc="-5">
                <a:latin typeface="Times New Roman"/>
                <a:cs typeface="Times New Roman"/>
              </a:rPr>
              <a:t>of objects or </a:t>
            </a:r>
            <a:r>
              <a:rPr dirty="0" sz="1200" spc="-10">
                <a:latin typeface="Times New Roman"/>
                <a:cs typeface="Times New Roman"/>
              </a:rPr>
              <a:t>things </a:t>
            </a:r>
            <a:r>
              <a:rPr dirty="0" sz="1200" spc="-5">
                <a:latin typeface="Times New Roman"/>
                <a:cs typeface="Times New Roman"/>
              </a:rPr>
              <a:t>is the only one </a:t>
            </a:r>
            <a:r>
              <a:rPr dirty="0" sz="1200">
                <a:latin typeface="Times New Roman"/>
                <a:cs typeface="Times New Roman"/>
              </a:rPr>
              <a:t> that </a:t>
            </a:r>
            <a:r>
              <a:rPr dirty="0" sz="1200" spc="-5">
                <a:latin typeface="Times New Roman"/>
                <a:cs typeface="Times New Roman"/>
              </a:rPr>
              <a:t>exists </a:t>
            </a:r>
            <a:r>
              <a:rPr dirty="0" sz="120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existed </a:t>
            </a:r>
            <a:r>
              <a:rPr dirty="0" sz="1200" spc="-5">
                <a:latin typeface="Times New Roman"/>
                <a:cs typeface="Times New Roman"/>
              </a:rPr>
              <a:t>such as: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moon,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earth, the South Pole, the equator,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Moghals,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human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race</a:t>
            </a:r>
            <a:r>
              <a:rPr dirty="0" sz="1200">
                <a:latin typeface="Times New Roman"/>
                <a:cs typeface="Times New Roman"/>
              </a:rPr>
              <a:t>. This </a:t>
            </a:r>
            <a:r>
              <a:rPr dirty="0" sz="1200" spc="-5">
                <a:latin typeface="Times New Roman"/>
                <a:cs typeface="Times New Roman"/>
              </a:rPr>
              <a:t>unique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‘the’ also occurs when the thing being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referred to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understood to be unique in the context. e.g. </a:t>
            </a:r>
            <a:r>
              <a:rPr dirty="0" sz="1200" i="1">
                <a:latin typeface="Times New Roman"/>
                <a:cs typeface="Times New Roman"/>
              </a:rPr>
              <a:t>the kitchen, the town-hall, the 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President,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arenBoth" startAt="3"/>
            </a:pPr>
            <a:endParaRPr sz="1200">
              <a:latin typeface="Times New Roman"/>
              <a:cs typeface="Times New Roman"/>
            </a:endParaRPr>
          </a:p>
          <a:p>
            <a:pPr marL="12700" marR="6985">
              <a:lnSpc>
                <a:spcPts val="1380"/>
              </a:lnSpc>
              <a:spcBef>
                <a:spcPts val="5"/>
              </a:spcBef>
              <a:buFont typeface="Times New Roman"/>
              <a:buAutoNum type="arabicParenBoth" startAt="3"/>
              <a:tabLst>
                <a:tab pos="23685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Institutional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‘The’: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reference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something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shared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5">
                <a:latin typeface="Times New Roman"/>
                <a:cs typeface="Times New Roman"/>
              </a:rPr>
              <a:t> as: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radio,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telephone,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papers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What’s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paper(s)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today?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‘the’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be </a:t>
            </a:r>
            <a:r>
              <a:rPr dirty="0" sz="1200" spc="-5">
                <a:latin typeface="Times New Roman"/>
                <a:cs typeface="Times New Roman"/>
              </a:rPr>
              <a:t>omitted</a:t>
            </a:r>
            <a:r>
              <a:rPr dirty="0" sz="1200">
                <a:latin typeface="Times New Roman"/>
                <a:cs typeface="Times New Roman"/>
              </a:rPr>
              <a:t> in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institutional</a:t>
            </a:r>
            <a:r>
              <a:rPr dirty="0" sz="1200">
                <a:latin typeface="Times New Roman"/>
                <a:cs typeface="Times New Roman"/>
              </a:rPr>
              <a:t> use.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‘the’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Generic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Typical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-5">
                <a:latin typeface="Times New Roman"/>
                <a:cs typeface="Times New Roman"/>
              </a:rPr>
              <a:t> class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things.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of ‘the’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count.</a:t>
            </a:r>
            <a:r>
              <a:rPr dirty="0" sz="1200" spc="-5">
                <a:latin typeface="Times New Roman"/>
                <a:cs typeface="Times New Roman"/>
              </a:rPr>
              <a:t> Nouns.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44145" indent="-132080">
              <a:lnSpc>
                <a:spcPts val="1315"/>
              </a:lnSpc>
              <a:buFont typeface="Times New Roman"/>
              <a:buAutoNum type="romanLcParenR"/>
              <a:tabLst>
                <a:tab pos="14478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‘</a:t>
            </a: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’ peacock is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5" i="1">
                <a:latin typeface="Times New Roman"/>
                <a:cs typeface="Times New Roman"/>
              </a:rPr>
              <a:t> beautiful</a:t>
            </a:r>
            <a:r>
              <a:rPr dirty="0" sz="1200" i="1">
                <a:latin typeface="Times New Roman"/>
                <a:cs typeface="Times New Roman"/>
              </a:rPr>
              <a:t> bird.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Here ‘the’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indicates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birds,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individual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class.</a:t>
            </a:r>
            <a:endParaRPr sz="1200">
              <a:latin typeface="Times New Roman"/>
              <a:cs typeface="Times New Roman"/>
            </a:endParaRPr>
          </a:p>
          <a:p>
            <a:pPr marL="186690" indent="-174625">
              <a:lnSpc>
                <a:spcPts val="1410"/>
              </a:lnSpc>
              <a:buFont typeface="Times New Roman"/>
              <a:buAutoNum type="romanLcParenR" startAt="2"/>
              <a:tabLst>
                <a:tab pos="187325" algn="l"/>
              </a:tabLst>
            </a:pPr>
            <a:r>
              <a:rPr dirty="0" sz="1200" i="1">
                <a:latin typeface="Times New Roman"/>
                <a:cs typeface="Times New Roman"/>
              </a:rPr>
              <a:t>Peacocks</a:t>
            </a:r>
            <a:r>
              <a:rPr dirty="0" sz="1200" spc="-5" i="1">
                <a:latin typeface="Times New Roman"/>
                <a:cs typeface="Times New Roman"/>
              </a:rPr>
              <a:t> are </a:t>
            </a:r>
            <a:r>
              <a:rPr dirty="0" sz="1200" i="1">
                <a:latin typeface="Times New Roman"/>
                <a:cs typeface="Times New Roman"/>
              </a:rPr>
              <a:t>beautiful </a:t>
            </a:r>
            <a:r>
              <a:rPr dirty="0" sz="1200" spc="-5" i="1">
                <a:latin typeface="Times New Roman"/>
                <a:cs typeface="Times New Roman"/>
              </a:rPr>
              <a:t>birds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(General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317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iii)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peacock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beautiful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bird.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(generic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singular).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You will </a:t>
            </a:r>
            <a:r>
              <a:rPr dirty="0" sz="1200">
                <a:latin typeface="Times New Roman"/>
                <a:cs typeface="Times New Roman"/>
              </a:rPr>
              <a:t>have noticed that sentence 1 expresses the </a:t>
            </a:r>
            <a:r>
              <a:rPr dirty="0" sz="1200" spc="-5">
                <a:latin typeface="Times New Roman"/>
                <a:cs typeface="Times New Roman"/>
              </a:rPr>
              <a:t>same meaning as sentences </a:t>
            </a:r>
            <a:r>
              <a:rPr dirty="0" sz="1200">
                <a:latin typeface="Times New Roman"/>
                <a:cs typeface="Times New Roman"/>
              </a:rPr>
              <a:t>2 &amp; </a:t>
            </a:r>
            <a:r>
              <a:rPr dirty="0" sz="1200" spc="-5">
                <a:latin typeface="Times New Roman"/>
                <a:cs typeface="Times New Roman"/>
              </a:rPr>
              <a:t>3. Now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means </a:t>
            </a:r>
            <a:r>
              <a:rPr dirty="0" sz="1200">
                <a:latin typeface="Times New Roman"/>
                <a:cs typeface="Times New Roman"/>
              </a:rPr>
              <a:t>that when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dealing </a:t>
            </a:r>
            <a:r>
              <a:rPr dirty="0" sz="1200">
                <a:latin typeface="Times New Roman"/>
                <a:cs typeface="Times New Roman"/>
              </a:rPr>
              <a:t>with a whole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of things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difference between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indefinite,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singular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We can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peacock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(generic) refers to the </a:t>
            </a:r>
            <a:r>
              <a:rPr dirty="0" sz="1200" spc="-5">
                <a:latin typeface="Times New Roman"/>
                <a:cs typeface="Times New Roman"/>
              </a:rPr>
              <a:t>species as </a:t>
            </a:r>
            <a:r>
              <a:rPr dirty="0" sz="1200">
                <a:latin typeface="Times New Roman"/>
                <a:cs typeface="Times New Roman"/>
              </a:rPr>
              <a:t>a whole, while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 peacock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(generic)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member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species.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r>
              <a:rPr dirty="0" sz="1200">
                <a:latin typeface="Times New Roman"/>
                <a:cs typeface="Times New Roman"/>
              </a:rPr>
              <a:t> 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15"/>
              </a:lnSpc>
            </a:pPr>
            <a:r>
              <a:rPr dirty="0" u="sng" sz="120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peacock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danger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becoming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extinct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415"/>
              </a:lnSpc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peacock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danger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becoming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extinct.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Let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look at the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of the </a:t>
            </a:r>
            <a:r>
              <a:rPr dirty="0" sz="1200" spc="-5">
                <a:latin typeface="Times New Roman"/>
                <a:cs typeface="Times New Roman"/>
              </a:rPr>
              <a:t>definite </a:t>
            </a:r>
            <a:r>
              <a:rPr dirty="0" sz="1200">
                <a:latin typeface="Times New Roman"/>
                <a:cs typeface="Times New Roman"/>
              </a:rPr>
              <a:t>article </a:t>
            </a:r>
            <a:r>
              <a:rPr dirty="0" sz="1200" spc="-5">
                <a:latin typeface="Times New Roman"/>
                <a:cs typeface="Times New Roman"/>
              </a:rPr>
              <a:t>with nouns.The </a:t>
            </a:r>
            <a:r>
              <a:rPr dirty="0" sz="1200">
                <a:latin typeface="Times New Roman"/>
                <a:cs typeface="Times New Roman"/>
              </a:rPr>
              <a:t>following table illustrates the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 </a:t>
            </a:r>
            <a:r>
              <a:rPr dirty="0" sz="1200">
                <a:latin typeface="Times New Roman"/>
                <a:cs typeface="Times New Roman"/>
              </a:rPr>
              <a:t>of expressing generic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469900">
              <a:lnSpc>
                <a:spcPct val="100000"/>
              </a:lnSpc>
              <a:tabLst>
                <a:tab pos="18415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Count Nouns	Mass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Nouns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473200" y="3893311"/>
            <a:ext cx="74993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peacock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peacock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peacocks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1465" y="4068571"/>
            <a:ext cx="364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water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4595876"/>
            <a:ext cx="5626735" cy="2136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Specific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vs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Generic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Meaning: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Another way of explaining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 of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definite </a:t>
            </a:r>
            <a:r>
              <a:rPr dirty="0" sz="1200">
                <a:latin typeface="Times New Roman"/>
                <a:cs typeface="Times New Roman"/>
              </a:rPr>
              <a:t>article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look at it from the specific </a:t>
            </a:r>
            <a:r>
              <a:rPr dirty="0" sz="1200" spc="-5">
                <a:latin typeface="Times New Roman"/>
                <a:cs typeface="Times New Roman"/>
              </a:rPr>
              <a:t>vs </a:t>
            </a:r>
            <a:r>
              <a:rPr dirty="0" sz="1200">
                <a:latin typeface="Times New Roman"/>
                <a:cs typeface="Times New Roman"/>
              </a:rPr>
              <a:t> generic </a:t>
            </a:r>
            <a:r>
              <a:rPr dirty="0" sz="1200" spc="-5">
                <a:latin typeface="Times New Roman"/>
                <a:cs typeface="Times New Roman"/>
              </a:rPr>
              <a:t>meaning. </a:t>
            </a: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examples illustrate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>
                <a:latin typeface="Times New Roman"/>
                <a:cs typeface="Times New Roman"/>
              </a:rPr>
              <a:t>of the definite article with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 typical </a:t>
            </a:r>
            <a:r>
              <a:rPr dirty="0" sz="1200" spc="-5">
                <a:latin typeface="Times New Roman"/>
                <a:cs typeface="Times New Roman"/>
              </a:rPr>
              <a:t>meaning.</a:t>
            </a:r>
            <a:endParaRPr sz="1200">
              <a:latin typeface="Times New Roman"/>
              <a:cs typeface="Times New Roman"/>
            </a:endParaRPr>
          </a:p>
          <a:p>
            <a:pPr marL="165100" marR="2773680" indent="-152400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I like </a:t>
            </a:r>
            <a:r>
              <a:rPr dirty="0" sz="1200" spc="-5">
                <a:latin typeface="Times New Roman"/>
                <a:cs typeface="Times New Roman"/>
              </a:rPr>
              <a:t>milk,</a:t>
            </a:r>
            <a:r>
              <a:rPr dirty="0" sz="1200">
                <a:latin typeface="Times New Roman"/>
                <a:cs typeface="Times New Roman"/>
              </a:rPr>
              <a:t> Belgian </a:t>
            </a:r>
            <a:r>
              <a:rPr dirty="0" sz="1200" spc="-5">
                <a:latin typeface="Times New Roman"/>
                <a:cs typeface="Times New Roman"/>
              </a:rPr>
              <a:t>glass,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Burmese </a:t>
            </a:r>
            <a:r>
              <a:rPr dirty="0" sz="1200">
                <a:latin typeface="Times New Roman"/>
                <a:cs typeface="Times New Roman"/>
              </a:rPr>
              <a:t>wood..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(concrete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article)</a:t>
            </a:r>
            <a:endParaRPr sz="1200">
              <a:latin typeface="Times New Roman"/>
              <a:cs typeface="Times New Roman"/>
            </a:endParaRPr>
          </a:p>
          <a:p>
            <a:pPr marL="165100" marR="2038985" indent="-152400">
              <a:lnSpc>
                <a:spcPts val="1380"/>
              </a:lnSpc>
              <a:buAutoNum type="alphaLcParenR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I like </a:t>
            </a:r>
            <a:r>
              <a:rPr dirty="0" sz="1200" spc="-5">
                <a:latin typeface="Times New Roman"/>
                <a:cs typeface="Times New Roman"/>
              </a:rPr>
              <a:t>music, </a:t>
            </a:r>
            <a:r>
              <a:rPr dirty="0" sz="1200">
                <a:latin typeface="Times New Roman"/>
                <a:cs typeface="Times New Roman"/>
              </a:rPr>
              <a:t>Punjabi </a:t>
            </a:r>
            <a:r>
              <a:rPr dirty="0" sz="1200" spc="-5">
                <a:latin typeface="Times New Roman"/>
                <a:cs typeface="Times New Roman"/>
              </a:rPr>
              <a:t>mystical </a:t>
            </a:r>
            <a:r>
              <a:rPr dirty="0" sz="1200">
                <a:latin typeface="Times New Roman"/>
                <a:cs typeface="Times New Roman"/>
              </a:rPr>
              <a:t>poetry, </a:t>
            </a:r>
            <a:r>
              <a:rPr dirty="0" sz="1200" spc="-5">
                <a:latin typeface="Times New Roman"/>
                <a:cs typeface="Times New Roman"/>
              </a:rPr>
              <a:t>contemporary </a:t>
            </a:r>
            <a:r>
              <a:rPr dirty="0" sz="1200">
                <a:latin typeface="Times New Roman"/>
                <a:cs typeface="Times New Roman"/>
              </a:rPr>
              <a:t>art.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(abstract</a:t>
            </a:r>
            <a:r>
              <a:rPr dirty="0" sz="1200" spc="-5">
                <a:latin typeface="Times New Roman"/>
                <a:cs typeface="Times New Roman"/>
              </a:rPr>
              <a:t> mass </a:t>
            </a:r>
            <a:r>
              <a:rPr dirty="0" sz="1200">
                <a:latin typeface="Times New Roman"/>
                <a:cs typeface="Times New Roman"/>
              </a:rPr>
              <a:t>noun; def.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used)</a:t>
            </a:r>
            <a:endParaRPr sz="1200">
              <a:latin typeface="Times New Roman"/>
              <a:cs typeface="Times New Roman"/>
            </a:endParaRPr>
          </a:p>
          <a:p>
            <a:pPr marL="169545" marR="2774950" indent="-169545">
              <a:lnSpc>
                <a:spcPts val="1380"/>
              </a:lnSpc>
              <a:buAutoNum type="alphaLcParenR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I like dogs, </a:t>
            </a:r>
            <a:r>
              <a:rPr dirty="0" sz="1200" spc="-5">
                <a:latin typeface="Times New Roman"/>
                <a:cs typeface="Times New Roman"/>
              </a:rPr>
              <a:t>horses, oriental </a:t>
            </a:r>
            <a:r>
              <a:rPr dirty="0" sz="1200">
                <a:latin typeface="Times New Roman"/>
                <a:cs typeface="Times New Roman"/>
              </a:rPr>
              <a:t>languages.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(definite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plural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But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how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nouns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take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definite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article.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6698995"/>
            <a:ext cx="1528445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556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Specific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use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31799" y="6698995"/>
            <a:ext cx="1837689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1625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Generic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use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Butter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7223250"/>
            <a:ext cx="16637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50800" marR="5080" indent="-381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music was </a:t>
            </a:r>
            <a:r>
              <a:rPr dirty="0" sz="1200">
                <a:latin typeface="Times New Roman"/>
                <a:cs typeface="Times New Roman"/>
              </a:rPr>
              <a:t>super.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16300" y="7223250"/>
            <a:ext cx="193928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music.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7749032"/>
            <a:ext cx="158750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c)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Japan,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language.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15609" y="7749032"/>
            <a:ext cx="160147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Linguistics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language.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8450071"/>
            <a:ext cx="5627370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Notice that in English, </a:t>
            </a:r>
            <a:r>
              <a:rPr dirty="0" sz="1200" spc="-5">
                <a:latin typeface="Times New Roman"/>
                <a:cs typeface="Times New Roman"/>
              </a:rPr>
              <a:t>mass </a:t>
            </a:r>
            <a:r>
              <a:rPr dirty="0" sz="1200">
                <a:latin typeface="Times New Roman"/>
                <a:cs typeface="Times New Roman"/>
              </a:rPr>
              <a:t>nouns and plural </a:t>
            </a:r>
            <a:r>
              <a:rPr dirty="0" sz="1200" spc="-5">
                <a:latin typeface="Times New Roman"/>
                <a:cs typeface="Times New Roman"/>
              </a:rPr>
              <a:t>nouns </a:t>
            </a:r>
            <a:r>
              <a:rPr dirty="0" sz="1200">
                <a:latin typeface="Times New Roman"/>
                <a:cs typeface="Times New Roman"/>
              </a:rPr>
              <a:t>are treated </a:t>
            </a:r>
            <a:r>
              <a:rPr dirty="0" sz="1200" spc="-5">
                <a:latin typeface="Times New Roman"/>
                <a:cs typeface="Times New Roman"/>
              </a:rPr>
              <a:t>as generic and they do not </a:t>
            </a:r>
            <a:r>
              <a:rPr dirty="0" sz="1200">
                <a:latin typeface="Times New Roman"/>
                <a:cs typeface="Times New Roman"/>
              </a:rPr>
              <a:t> take the definite article. When these nouns </a:t>
            </a:r>
            <a:r>
              <a:rPr dirty="0" sz="1200" spc="-5">
                <a:latin typeface="Times New Roman"/>
                <a:cs typeface="Times New Roman"/>
              </a:rPr>
              <a:t>(mass </a:t>
            </a:r>
            <a:r>
              <a:rPr dirty="0" sz="1200">
                <a:latin typeface="Times New Roman"/>
                <a:cs typeface="Times New Roman"/>
              </a:rPr>
              <a:t>&amp; plural) are </a:t>
            </a:r>
            <a:r>
              <a:rPr dirty="0" sz="1200" spc="-5">
                <a:latin typeface="Times New Roman"/>
                <a:cs typeface="Times New Roman"/>
              </a:rPr>
              <a:t>modified </a:t>
            </a:r>
            <a:r>
              <a:rPr dirty="0" sz="1200">
                <a:latin typeface="Times New Roman"/>
                <a:cs typeface="Times New Roman"/>
              </a:rPr>
              <a:t>by an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 of</a:t>
            </a:r>
            <a:r>
              <a:rPr dirty="0" sz="1200">
                <a:latin typeface="Times New Roman"/>
                <a:cs typeface="Times New Roman"/>
              </a:rPr>
              <a:t> phrase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-5">
                <a:latin typeface="Times New Roman"/>
                <a:cs typeface="Times New Roman"/>
              </a:rPr>
              <a:t> is normally </a:t>
            </a:r>
            <a:r>
              <a:rPr dirty="0" sz="1200">
                <a:latin typeface="Times New Roman"/>
                <a:cs typeface="Times New Roman"/>
              </a:rPr>
              <a:t>used,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especially</a:t>
            </a:r>
            <a:r>
              <a:rPr dirty="0" sz="1200" spc="-5">
                <a:latin typeface="Times New Roman"/>
                <a:cs typeface="Times New Roman"/>
              </a:rPr>
              <a:t> with </a:t>
            </a:r>
            <a:r>
              <a:rPr dirty="0" sz="1200">
                <a:latin typeface="Times New Roman"/>
                <a:cs typeface="Times New Roman"/>
              </a:rPr>
              <a:t>abstract</a:t>
            </a:r>
            <a:r>
              <a:rPr dirty="0" sz="1200" spc="-5">
                <a:latin typeface="Times New Roman"/>
                <a:cs typeface="Times New Roman"/>
              </a:rPr>
              <a:t> mass </a:t>
            </a:r>
            <a:r>
              <a:rPr dirty="0" sz="1200">
                <a:latin typeface="Times New Roman"/>
                <a:cs typeface="Times New Roman"/>
              </a:rPr>
              <a:t>nouns.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687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following</a:t>
            </a:r>
            <a:r>
              <a:rPr dirty="0" sz="1200">
                <a:latin typeface="Times New Roman"/>
                <a:cs typeface="Times New Roman"/>
              </a:rPr>
              <a:t> table </a:t>
            </a:r>
            <a:r>
              <a:rPr dirty="0" sz="1200" spc="-5">
                <a:latin typeface="Times New Roman"/>
                <a:cs typeface="Times New Roman"/>
              </a:rPr>
              <a:t>will make</a:t>
            </a:r>
            <a:r>
              <a:rPr dirty="0" sz="1200">
                <a:latin typeface="Times New Roman"/>
                <a:cs typeface="Times New Roman"/>
              </a:rPr>
              <a:t> this </a:t>
            </a:r>
            <a:r>
              <a:rPr dirty="0" sz="1200" spc="-5">
                <a:latin typeface="Times New Roman"/>
                <a:cs typeface="Times New Roman"/>
              </a:rPr>
              <a:t>clear.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264411"/>
            <a:ext cx="120586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ts val="1410"/>
              </a:lnSpc>
              <a:spcBef>
                <a:spcPts val="100"/>
              </a:spcBef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Japanes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history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Pakistani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society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Moghal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Child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behavior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844757" y="1264411"/>
            <a:ext cx="241681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1019175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 history of Japan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society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Pakistan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architecture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early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Moghal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behavior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140711"/>
            <a:ext cx="50317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concrete </a:t>
            </a:r>
            <a:r>
              <a:rPr dirty="0" sz="1200" spc="-5">
                <a:latin typeface="Times New Roman"/>
                <a:cs typeface="Times New Roman"/>
              </a:rPr>
              <a:t>mass </a:t>
            </a:r>
            <a:r>
              <a:rPr dirty="0" sz="1200">
                <a:latin typeface="Times New Roman"/>
                <a:cs typeface="Times New Roman"/>
              </a:rPr>
              <a:t>nouns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‘the’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can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omitted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315971"/>
            <a:ext cx="178752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-5" i="1">
                <a:latin typeface="Times New Roman"/>
                <a:cs typeface="Times New Roman"/>
              </a:rPr>
              <a:t>eighteenth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century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furniture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tropical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birds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63900" y="2315971"/>
            <a:ext cx="221805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(the)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furniture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eighteenth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century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(the)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birds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tropics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2843276"/>
            <a:ext cx="2620645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6.</a:t>
            </a:r>
            <a:r>
              <a:rPr dirty="0" sz="1200" spc="-5" b="1">
                <a:latin typeface="Times New Roman"/>
                <a:cs typeface="Times New Roman"/>
              </a:rPr>
              <a:t> Adjectives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5" b="1">
                <a:latin typeface="Times New Roman"/>
                <a:cs typeface="Times New Roman"/>
              </a:rPr>
              <a:t> Group Nouns: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Times New Roman"/>
                <a:cs typeface="Times New Roman"/>
              </a:rPr>
              <a:t>‘The’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adjectives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show: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54100" y="3192271"/>
            <a:ext cx="1193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11300" y="3192271"/>
            <a:ext cx="513207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class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people: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poor,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rich,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disabled,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wealthy,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handicapped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10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marL="50165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abstract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quality: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the sublime,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ridiculous,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absurd.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54100" y="3542791"/>
            <a:ext cx="1619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3893310"/>
            <a:ext cx="5627370" cy="23114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4572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‘The’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adjectives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showing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nationality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especially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ending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‘ch’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‘sh’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Dutch,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English,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French,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Spanish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‘The’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group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like: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aristocracy,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public,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administration,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government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singular 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e.g.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15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audience</a:t>
            </a:r>
            <a:r>
              <a:rPr dirty="0" sz="1200" spc="-5" i="1">
                <a:latin typeface="Times New Roman"/>
                <a:cs typeface="Times New Roman"/>
              </a:rPr>
              <a:t> is/are enjoying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music.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Font typeface="Times New Roman"/>
              <a:buChar char="-"/>
              <a:tabLst>
                <a:tab pos="102235" algn="l"/>
              </a:tabLst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police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never</a:t>
            </a:r>
            <a:r>
              <a:rPr dirty="0" sz="1200" spc="-5" i="1">
                <a:latin typeface="Times New Roman"/>
                <a:cs typeface="Times New Roman"/>
              </a:rPr>
              <a:t> decide/decides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 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hurry.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Times New Roman"/>
                <a:cs typeface="Times New Roman"/>
              </a:rPr>
              <a:t>7.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Common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Nouns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Without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Article: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 following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list of groups of common nouns without article, which occur </a:t>
            </a:r>
            <a:r>
              <a:rPr dirty="0" sz="1200" spc="-5">
                <a:latin typeface="Times New Roman"/>
                <a:cs typeface="Times New Roman"/>
              </a:rPr>
              <a:t>mainly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idiomatic </a:t>
            </a:r>
            <a:r>
              <a:rPr dirty="0" sz="1200">
                <a:latin typeface="Times New Roman"/>
                <a:cs typeface="Times New Roman"/>
              </a:rPr>
              <a:t>expressions. These are given under </a:t>
            </a:r>
            <a:r>
              <a:rPr dirty="0" sz="1200" spc="-5">
                <a:latin typeface="Times New Roman"/>
                <a:cs typeface="Times New Roman"/>
              </a:rPr>
              <a:t>column </a:t>
            </a:r>
            <a:r>
              <a:rPr dirty="0" sz="1200">
                <a:latin typeface="Times New Roman"/>
                <a:cs typeface="Times New Roman"/>
              </a:rPr>
              <a:t>I. Under Column II are </a:t>
            </a:r>
            <a:r>
              <a:rPr dirty="0" sz="1200" spc="-5">
                <a:latin typeface="Times New Roman"/>
                <a:cs typeface="Times New Roman"/>
              </a:rPr>
              <a:t>examples </a:t>
            </a:r>
            <a:r>
              <a:rPr dirty="0" sz="1200">
                <a:latin typeface="Times New Roman"/>
                <a:cs typeface="Times New Roman"/>
              </a:rPr>
              <a:t> 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article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301494" y="915416"/>
            <a:ext cx="850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97208" y="915416"/>
            <a:ext cx="144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II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090676"/>
            <a:ext cx="96964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A)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Institutions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48875" y="1264411"/>
            <a:ext cx="50800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bed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church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prison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hospital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1824" y="1264411"/>
            <a:ext cx="189230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lie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down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bed</a:t>
            </a:r>
            <a:endParaRPr sz="1200">
              <a:latin typeface="Times New Roman"/>
              <a:cs typeface="Times New Roman"/>
            </a:endParaRPr>
          </a:p>
          <a:p>
            <a:pPr marL="6223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walk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church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drive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prison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hospital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1439671"/>
            <a:ext cx="33464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 go 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49094" y="2315971"/>
            <a:ext cx="63500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school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university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48861" y="2315971"/>
            <a:ext cx="193230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endParaRPr sz="1200">
              <a:latin typeface="Times New Roman"/>
              <a:cs typeface="Times New Roman"/>
            </a:endParaRPr>
          </a:p>
          <a:p>
            <a:pPr marL="13335" marR="5080" indent="-635">
              <a:lnSpc>
                <a:spcPts val="1380"/>
              </a:lnSpc>
              <a:spcBef>
                <a:spcPts val="6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tower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collapsed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out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towards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work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University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2491231"/>
            <a:ext cx="3175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3192271"/>
            <a:ext cx="14103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be at </a:t>
            </a:r>
            <a:r>
              <a:rPr dirty="0" sz="1200" spc="-5">
                <a:latin typeface="Times New Roman"/>
                <a:cs typeface="Times New Roman"/>
              </a:rPr>
              <a:t>home, </a:t>
            </a:r>
            <a:r>
              <a:rPr dirty="0" sz="1200">
                <a:latin typeface="Times New Roman"/>
                <a:cs typeface="Times New Roman"/>
              </a:rPr>
              <a:t>go </a:t>
            </a:r>
            <a:r>
              <a:rPr dirty="0" sz="1200" spc="-5">
                <a:latin typeface="Times New Roman"/>
                <a:cs typeface="Times New Roman"/>
              </a:rPr>
              <a:t>home </a:t>
            </a:r>
            <a:r>
              <a:rPr dirty="0" sz="1200">
                <a:latin typeface="Times New Roman"/>
                <a:cs typeface="Times New Roman"/>
              </a:rPr>
              <a:t> 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49090" y="3367530"/>
            <a:ext cx="1151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approach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3719576"/>
            <a:ext cx="156972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41300" marR="5080" indent="-228600">
              <a:lnSpc>
                <a:spcPts val="1380"/>
              </a:lnSpc>
              <a:spcBef>
                <a:spcPts val="195"/>
              </a:spcBef>
            </a:pPr>
            <a:r>
              <a:rPr dirty="0" sz="1200" spc="-5" b="1">
                <a:latin typeface="Times New Roman"/>
                <a:cs typeface="Times New Roman"/>
              </a:rPr>
              <a:t>(B) Means of </a:t>
            </a:r>
            <a:r>
              <a:rPr dirty="0" sz="1200" spc="-10" b="1">
                <a:latin typeface="Times New Roman"/>
                <a:cs typeface="Times New Roman"/>
              </a:rPr>
              <a:t>Transport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(no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063574" y="3894835"/>
            <a:ext cx="909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(With article)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149007" y="4243832"/>
            <a:ext cx="96075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bike/bicycle 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</a:t>
            </a:r>
            <a:endParaRPr sz="1200">
              <a:latin typeface="Times New Roman"/>
              <a:cs typeface="Times New Roman"/>
            </a:endParaRPr>
          </a:p>
          <a:p>
            <a:pPr marL="12700" marR="190500" indent="-63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boat/ship 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train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101327" y="4243832"/>
            <a:ext cx="1156335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ride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bicycle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bus</a:t>
            </a:r>
            <a:endParaRPr sz="1200">
              <a:latin typeface="Times New Roman"/>
              <a:cs typeface="Times New Roman"/>
            </a:endParaRPr>
          </a:p>
          <a:p>
            <a:pPr marL="13335" marR="131445" indent="-63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get on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16000" y="4419091"/>
            <a:ext cx="37274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travel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16000" y="5296915"/>
            <a:ext cx="1380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(C)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Times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87600" y="5645911"/>
            <a:ext cx="12947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down,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daybreak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139165" y="5645911"/>
            <a:ext cx="905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during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day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996950" y="6025726"/>
          <a:ext cx="5245735" cy="694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8825"/>
                <a:gridCol w="1995805"/>
                <a:gridCol w="2490470"/>
              </a:tblGrid>
              <a:tr h="172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sunrise,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sunset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132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admire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sunrise/sunset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meet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noon,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midnight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9941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afternoon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259">
                <a:tc>
                  <a:txBody>
                    <a:bodyPr/>
                    <a:lstStyle/>
                    <a:p>
                      <a:pPr marL="317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leave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dusk,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twilight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0050">
                        <a:lnSpc>
                          <a:spcPts val="12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invisible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dusk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2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night,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night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wake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up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middle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night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4" name="object 24"/>
          <p:cNvSpPr txBox="1"/>
          <p:nvPr/>
        </p:nvSpPr>
        <p:spPr>
          <a:xfrm>
            <a:off x="1016000" y="7049514"/>
            <a:ext cx="1739264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(D)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Meals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(no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article)</a:t>
            </a:r>
            <a:endParaRPr sz="1200">
              <a:latin typeface="Times New Roman"/>
              <a:cs typeface="Times New Roman"/>
            </a:endParaRPr>
          </a:p>
          <a:p>
            <a:pPr marL="12700" marR="5080" indent="22860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breakfast/lunch/tea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dinner/supper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01678" y="7049514"/>
            <a:ext cx="1783714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165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(with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article)</a:t>
            </a:r>
            <a:endParaRPr sz="1200">
              <a:latin typeface="Times New Roman"/>
              <a:cs typeface="Times New Roman"/>
            </a:endParaRPr>
          </a:p>
          <a:p>
            <a:pPr marL="13335" marR="415925" indent="-127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lunch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stars?</a:t>
            </a:r>
            <a:endParaRPr sz="1200">
              <a:latin typeface="Times New Roman"/>
              <a:cs typeface="Times New Roman"/>
            </a:endParaRPr>
          </a:p>
          <a:p>
            <a:pPr marL="12700" marR="5080" indent="381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tea?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dinner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cooked.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16000" y="7749032"/>
            <a:ext cx="10788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Dinner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eight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714500" y="1220724"/>
            <a:ext cx="684530" cy="914400"/>
          </a:xfrm>
          <a:custGeom>
            <a:avLst/>
            <a:gdLst/>
            <a:ahLst/>
            <a:cxnLst/>
            <a:rect l="l" t="t" r="r" b="b"/>
            <a:pathLst>
              <a:path w="684530" h="914400">
                <a:moveTo>
                  <a:pt x="684276" y="0"/>
                </a:moveTo>
                <a:lnTo>
                  <a:pt x="615317" y="1555"/>
                </a:lnTo>
                <a:lnTo>
                  <a:pt x="551092" y="6012"/>
                </a:lnTo>
                <a:lnTo>
                  <a:pt x="492975" y="13059"/>
                </a:lnTo>
                <a:lnTo>
                  <a:pt x="442341" y="22383"/>
                </a:lnTo>
                <a:lnTo>
                  <a:pt x="400564" y="33672"/>
                </a:lnTo>
                <a:lnTo>
                  <a:pt x="349088" y="60893"/>
                </a:lnTo>
                <a:lnTo>
                  <a:pt x="342137" y="76200"/>
                </a:lnTo>
                <a:lnTo>
                  <a:pt x="342137" y="381000"/>
                </a:lnTo>
                <a:lnTo>
                  <a:pt x="335187" y="396525"/>
                </a:lnTo>
                <a:lnTo>
                  <a:pt x="283711" y="423862"/>
                </a:lnTo>
                <a:lnTo>
                  <a:pt x="241934" y="435102"/>
                </a:lnTo>
                <a:lnTo>
                  <a:pt x="191300" y="444341"/>
                </a:lnTo>
                <a:lnTo>
                  <a:pt x="133183" y="451294"/>
                </a:lnTo>
                <a:lnTo>
                  <a:pt x="68958" y="455675"/>
                </a:lnTo>
                <a:lnTo>
                  <a:pt x="0" y="457200"/>
                </a:lnTo>
                <a:lnTo>
                  <a:pt x="68958" y="458755"/>
                </a:lnTo>
                <a:lnTo>
                  <a:pt x="133183" y="463212"/>
                </a:lnTo>
                <a:lnTo>
                  <a:pt x="191300" y="470259"/>
                </a:lnTo>
                <a:lnTo>
                  <a:pt x="241934" y="479583"/>
                </a:lnTo>
                <a:lnTo>
                  <a:pt x="283711" y="490872"/>
                </a:lnTo>
                <a:lnTo>
                  <a:pt x="335187" y="518093"/>
                </a:lnTo>
                <a:lnTo>
                  <a:pt x="342137" y="533400"/>
                </a:lnTo>
                <a:lnTo>
                  <a:pt x="342137" y="838200"/>
                </a:lnTo>
                <a:lnTo>
                  <a:pt x="349088" y="853725"/>
                </a:lnTo>
                <a:lnTo>
                  <a:pt x="400564" y="881062"/>
                </a:lnTo>
                <a:lnTo>
                  <a:pt x="442341" y="892301"/>
                </a:lnTo>
                <a:lnTo>
                  <a:pt x="492975" y="901541"/>
                </a:lnTo>
                <a:lnTo>
                  <a:pt x="551092" y="908494"/>
                </a:lnTo>
                <a:lnTo>
                  <a:pt x="615317" y="912876"/>
                </a:lnTo>
                <a:lnTo>
                  <a:pt x="684276" y="91440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1714500" y="2249423"/>
            <a:ext cx="729615" cy="929640"/>
          </a:xfrm>
          <a:custGeom>
            <a:avLst/>
            <a:gdLst/>
            <a:ahLst/>
            <a:cxnLst/>
            <a:rect l="l" t="t" r="r" b="b"/>
            <a:pathLst>
              <a:path w="729614" h="929639">
                <a:moveTo>
                  <a:pt x="729233" y="0"/>
                </a:moveTo>
                <a:lnTo>
                  <a:pt x="655826" y="1589"/>
                </a:lnTo>
                <a:lnTo>
                  <a:pt x="587454" y="6143"/>
                </a:lnTo>
                <a:lnTo>
                  <a:pt x="525583" y="13340"/>
                </a:lnTo>
                <a:lnTo>
                  <a:pt x="471677" y="22859"/>
                </a:lnTo>
                <a:lnTo>
                  <a:pt x="427202" y="34379"/>
                </a:lnTo>
                <a:lnTo>
                  <a:pt x="372397" y="62132"/>
                </a:lnTo>
                <a:lnTo>
                  <a:pt x="364997" y="77724"/>
                </a:lnTo>
                <a:lnTo>
                  <a:pt x="364997" y="387858"/>
                </a:lnTo>
                <a:lnTo>
                  <a:pt x="357565" y="403416"/>
                </a:lnTo>
                <a:lnTo>
                  <a:pt x="302552" y="430961"/>
                </a:lnTo>
                <a:lnTo>
                  <a:pt x="257936" y="442341"/>
                </a:lnTo>
                <a:lnTo>
                  <a:pt x="203891" y="451720"/>
                </a:lnTo>
                <a:lnTo>
                  <a:pt x="141898" y="458795"/>
                </a:lnTo>
                <a:lnTo>
                  <a:pt x="73440" y="463263"/>
                </a:lnTo>
                <a:lnTo>
                  <a:pt x="0" y="464820"/>
                </a:lnTo>
                <a:lnTo>
                  <a:pt x="73440" y="466409"/>
                </a:lnTo>
                <a:lnTo>
                  <a:pt x="141898" y="470963"/>
                </a:lnTo>
                <a:lnTo>
                  <a:pt x="203891" y="478160"/>
                </a:lnTo>
                <a:lnTo>
                  <a:pt x="257936" y="487680"/>
                </a:lnTo>
                <a:lnTo>
                  <a:pt x="302552" y="499199"/>
                </a:lnTo>
                <a:lnTo>
                  <a:pt x="357565" y="526952"/>
                </a:lnTo>
                <a:lnTo>
                  <a:pt x="364997" y="542544"/>
                </a:lnTo>
                <a:lnTo>
                  <a:pt x="364997" y="852678"/>
                </a:lnTo>
                <a:lnTo>
                  <a:pt x="372397" y="868236"/>
                </a:lnTo>
                <a:lnTo>
                  <a:pt x="427202" y="895781"/>
                </a:lnTo>
                <a:lnTo>
                  <a:pt x="471677" y="907161"/>
                </a:lnTo>
                <a:lnTo>
                  <a:pt x="525583" y="916540"/>
                </a:lnTo>
                <a:lnTo>
                  <a:pt x="587454" y="923615"/>
                </a:lnTo>
                <a:lnTo>
                  <a:pt x="655826" y="928083"/>
                </a:lnTo>
                <a:lnTo>
                  <a:pt x="729233" y="9296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2514600" y="2249423"/>
            <a:ext cx="569595" cy="914400"/>
          </a:xfrm>
          <a:custGeom>
            <a:avLst/>
            <a:gdLst/>
            <a:ahLst/>
            <a:cxnLst/>
            <a:rect l="l" t="t" r="r" b="b"/>
            <a:pathLst>
              <a:path w="569594" h="914400">
                <a:moveTo>
                  <a:pt x="0" y="0"/>
                </a:moveTo>
                <a:lnTo>
                  <a:pt x="65212" y="2021"/>
                </a:lnTo>
                <a:lnTo>
                  <a:pt x="125145" y="7775"/>
                </a:lnTo>
                <a:lnTo>
                  <a:pt x="178068" y="16795"/>
                </a:lnTo>
                <a:lnTo>
                  <a:pt x="222246" y="28613"/>
                </a:lnTo>
                <a:lnTo>
                  <a:pt x="277439" y="58782"/>
                </a:lnTo>
                <a:lnTo>
                  <a:pt x="284988" y="76200"/>
                </a:lnTo>
                <a:lnTo>
                  <a:pt x="284988" y="413766"/>
                </a:lnTo>
                <a:lnTo>
                  <a:pt x="292494" y="431183"/>
                </a:lnTo>
                <a:lnTo>
                  <a:pt x="347429" y="461352"/>
                </a:lnTo>
                <a:lnTo>
                  <a:pt x="391445" y="473170"/>
                </a:lnTo>
                <a:lnTo>
                  <a:pt x="444219" y="482190"/>
                </a:lnTo>
                <a:lnTo>
                  <a:pt x="504044" y="487944"/>
                </a:lnTo>
                <a:lnTo>
                  <a:pt x="569214" y="489966"/>
                </a:lnTo>
                <a:lnTo>
                  <a:pt x="504044" y="491947"/>
                </a:lnTo>
                <a:lnTo>
                  <a:pt x="444219" y="497608"/>
                </a:lnTo>
                <a:lnTo>
                  <a:pt x="391445" y="506521"/>
                </a:lnTo>
                <a:lnTo>
                  <a:pt x="347429" y="518259"/>
                </a:lnTo>
                <a:lnTo>
                  <a:pt x="292494" y="548508"/>
                </a:lnTo>
                <a:lnTo>
                  <a:pt x="284988" y="566166"/>
                </a:lnTo>
                <a:lnTo>
                  <a:pt x="284988" y="838200"/>
                </a:lnTo>
                <a:lnTo>
                  <a:pt x="277439" y="855857"/>
                </a:lnTo>
                <a:lnTo>
                  <a:pt x="222246" y="886106"/>
                </a:lnTo>
                <a:lnTo>
                  <a:pt x="178068" y="897844"/>
                </a:lnTo>
                <a:lnTo>
                  <a:pt x="125145" y="906757"/>
                </a:lnTo>
                <a:lnTo>
                  <a:pt x="65212" y="912418"/>
                </a:lnTo>
                <a:lnTo>
                  <a:pt x="0" y="91440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1714500" y="4075938"/>
            <a:ext cx="558165" cy="1160780"/>
          </a:xfrm>
          <a:custGeom>
            <a:avLst/>
            <a:gdLst/>
            <a:ahLst/>
            <a:cxnLst/>
            <a:rect l="l" t="t" r="r" b="b"/>
            <a:pathLst>
              <a:path w="558164" h="1160779">
                <a:moveTo>
                  <a:pt x="557783" y="0"/>
                </a:moveTo>
                <a:lnTo>
                  <a:pt x="493869" y="2561"/>
                </a:lnTo>
                <a:lnTo>
                  <a:pt x="435179" y="9854"/>
                </a:lnTo>
                <a:lnTo>
                  <a:pt x="383394" y="21293"/>
                </a:lnTo>
                <a:lnTo>
                  <a:pt x="340194" y="36291"/>
                </a:lnTo>
                <a:lnTo>
                  <a:pt x="286263" y="74618"/>
                </a:lnTo>
                <a:lnTo>
                  <a:pt x="278891" y="96774"/>
                </a:lnTo>
                <a:lnTo>
                  <a:pt x="278891" y="483870"/>
                </a:lnTo>
                <a:lnTo>
                  <a:pt x="271520" y="506025"/>
                </a:lnTo>
                <a:lnTo>
                  <a:pt x="217589" y="544352"/>
                </a:lnTo>
                <a:lnTo>
                  <a:pt x="174389" y="559350"/>
                </a:lnTo>
                <a:lnTo>
                  <a:pt x="122604" y="570789"/>
                </a:lnTo>
                <a:lnTo>
                  <a:pt x="63914" y="578082"/>
                </a:lnTo>
                <a:lnTo>
                  <a:pt x="0" y="580644"/>
                </a:lnTo>
                <a:lnTo>
                  <a:pt x="63914" y="583205"/>
                </a:lnTo>
                <a:lnTo>
                  <a:pt x="122604" y="590498"/>
                </a:lnTo>
                <a:lnTo>
                  <a:pt x="174389" y="601937"/>
                </a:lnTo>
                <a:lnTo>
                  <a:pt x="217589" y="616935"/>
                </a:lnTo>
                <a:lnTo>
                  <a:pt x="271520" y="655262"/>
                </a:lnTo>
                <a:lnTo>
                  <a:pt x="278891" y="677418"/>
                </a:lnTo>
                <a:lnTo>
                  <a:pt x="278891" y="1064514"/>
                </a:lnTo>
                <a:lnTo>
                  <a:pt x="286263" y="1086627"/>
                </a:lnTo>
                <a:lnTo>
                  <a:pt x="340194" y="1124696"/>
                </a:lnTo>
                <a:lnTo>
                  <a:pt x="383394" y="1139532"/>
                </a:lnTo>
                <a:lnTo>
                  <a:pt x="435179" y="1150822"/>
                </a:lnTo>
                <a:lnTo>
                  <a:pt x="493869" y="1158006"/>
                </a:lnTo>
                <a:lnTo>
                  <a:pt x="557783" y="116052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1714500" y="5693664"/>
            <a:ext cx="577215" cy="1257300"/>
          </a:xfrm>
          <a:custGeom>
            <a:avLst/>
            <a:gdLst/>
            <a:ahLst/>
            <a:cxnLst/>
            <a:rect l="l" t="t" r="r" b="b"/>
            <a:pathLst>
              <a:path w="577214" h="1257300">
                <a:moveTo>
                  <a:pt x="576833" y="0"/>
                </a:moveTo>
                <a:lnTo>
                  <a:pt x="510691" y="2785"/>
                </a:lnTo>
                <a:lnTo>
                  <a:pt x="449933" y="10716"/>
                </a:lnTo>
                <a:lnTo>
                  <a:pt x="396306" y="23153"/>
                </a:lnTo>
                <a:lnTo>
                  <a:pt x="351557" y="39455"/>
                </a:lnTo>
                <a:lnTo>
                  <a:pt x="317431" y="58982"/>
                </a:lnTo>
                <a:lnTo>
                  <a:pt x="288035" y="105155"/>
                </a:lnTo>
                <a:lnTo>
                  <a:pt x="288035" y="524256"/>
                </a:lnTo>
                <a:lnTo>
                  <a:pt x="280438" y="548273"/>
                </a:lnTo>
                <a:lnTo>
                  <a:pt x="224814" y="589656"/>
                </a:lnTo>
                <a:lnTo>
                  <a:pt x="180227" y="605796"/>
                </a:lnTo>
                <a:lnTo>
                  <a:pt x="126749" y="618084"/>
                </a:lnTo>
                <a:lnTo>
                  <a:pt x="66100" y="625906"/>
                </a:lnTo>
                <a:lnTo>
                  <a:pt x="0" y="628650"/>
                </a:lnTo>
                <a:lnTo>
                  <a:pt x="66100" y="631435"/>
                </a:lnTo>
                <a:lnTo>
                  <a:pt x="126749" y="639366"/>
                </a:lnTo>
                <a:lnTo>
                  <a:pt x="180227" y="651803"/>
                </a:lnTo>
                <a:lnTo>
                  <a:pt x="224814" y="668105"/>
                </a:lnTo>
                <a:lnTo>
                  <a:pt x="258791" y="687632"/>
                </a:lnTo>
                <a:lnTo>
                  <a:pt x="288035" y="733806"/>
                </a:lnTo>
                <a:lnTo>
                  <a:pt x="288035" y="1152906"/>
                </a:lnTo>
                <a:lnTo>
                  <a:pt x="295675" y="1176923"/>
                </a:lnTo>
                <a:lnTo>
                  <a:pt x="351557" y="1218306"/>
                </a:lnTo>
                <a:lnTo>
                  <a:pt x="396306" y="1234446"/>
                </a:lnTo>
                <a:lnTo>
                  <a:pt x="449933" y="1246734"/>
                </a:lnTo>
                <a:lnTo>
                  <a:pt x="510691" y="1254556"/>
                </a:lnTo>
                <a:lnTo>
                  <a:pt x="576833" y="125730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33" name="object 3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915416"/>
            <a:ext cx="1642110" cy="732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(E)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Parallel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Phrases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b="1">
                <a:latin typeface="Times New Roman"/>
                <a:cs typeface="Times New Roman"/>
              </a:rPr>
              <a:t>no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They walked arm in arm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walked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1797" y="1089152"/>
            <a:ext cx="169354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>
              <a:lnSpc>
                <a:spcPts val="141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(with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31115" indent="-6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took him by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arm.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two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bush.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She’s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wife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famous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790192"/>
            <a:ext cx="1676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husband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wife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317495"/>
            <a:ext cx="5626735" cy="1960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ARTICLES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NOUNS: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Proper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nouns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tabLst>
                <a:tab pos="688340" algn="l"/>
                <a:tab pos="188976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Personal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Name: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James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Brown,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Hilary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Shaw,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President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America	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Lord </a:t>
            </a:r>
            <a:r>
              <a:rPr dirty="0" sz="1200" spc="-5">
                <a:latin typeface="Times New Roman"/>
                <a:cs typeface="Times New Roman"/>
              </a:rPr>
              <a:t>(God)	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Edinburgh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Family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Terms: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article 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vocative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hello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mummy,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hello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daddy,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did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thank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aunty/uncle?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B.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Calendar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Items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4243832"/>
            <a:ext cx="476948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a)	Names of Festivals: Christmas, </a:t>
            </a:r>
            <a:r>
              <a:rPr dirty="0" sz="1200">
                <a:latin typeface="Times New Roman"/>
                <a:cs typeface="Times New Roman"/>
              </a:rPr>
              <a:t>Eid, Independence Day, Republic </a:t>
            </a:r>
            <a:r>
              <a:rPr dirty="0" sz="1200" spc="-5">
                <a:latin typeface="Times New Roman"/>
                <a:cs typeface="Times New Roman"/>
              </a:rPr>
              <a:t>Day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4769611"/>
            <a:ext cx="144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3047" y="4419091"/>
            <a:ext cx="2933065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346710" indent="-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months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January,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February,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Monday,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Tuesday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seasons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article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omitted: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4944871"/>
            <a:ext cx="15621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81368" y="4944871"/>
            <a:ext cx="3308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BUT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5120132"/>
            <a:ext cx="3796029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….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summer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1945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Geographical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Names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 spc="-5">
                <a:latin typeface="Times New Roman"/>
                <a:cs typeface="Times New Roman"/>
              </a:rPr>
              <a:t>Normally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pre-modified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a)Names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continents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(Central) Asia, (East) </a:t>
            </a:r>
            <a:r>
              <a:rPr dirty="0" sz="1200">
                <a:latin typeface="Times New Roman"/>
                <a:cs typeface="Times New Roman"/>
              </a:rPr>
              <a:t>Africa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Countries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73200" y="6346952"/>
            <a:ext cx="124841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Ancient </a:t>
            </a:r>
            <a:r>
              <a:rPr dirty="0" sz="1200" spc="-5">
                <a:latin typeface="Times New Roman"/>
                <a:cs typeface="Times New Roman"/>
              </a:rPr>
              <a:t>Bhutan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(Victorian)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02073" y="6346952"/>
            <a:ext cx="104648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modern Pakistan  </a:t>
            </a:r>
            <a:r>
              <a:rPr dirty="0" sz="1200" spc="-5">
                <a:latin typeface="Times New Roman"/>
                <a:cs typeface="Times New Roman"/>
              </a:rPr>
              <a:t>(medieval)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6872732"/>
            <a:ext cx="4059554" cy="5588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 b="1">
                <a:latin typeface="Times New Roman"/>
                <a:cs typeface="Times New Roman"/>
              </a:rPr>
              <a:t>Exceptions: </a:t>
            </a:r>
            <a:r>
              <a:rPr dirty="0" sz="1200">
                <a:latin typeface="Times New Roman"/>
                <a:cs typeface="Times New Roman"/>
              </a:rPr>
              <a:t>The Sahara, the Punjab,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Lebanon,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Middle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Crimea</a:t>
            </a:r>
            <a:r>
              <a:rPr dirty="0" sz="1200" spc="-5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c)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Cities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Towns: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Rome,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Lahore,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Karachi,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Sibi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71200" y="6872732"/>
            <a:ext cx="14712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East,   theUkraine, 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16000" y="7749032"/>
            <a:ext cx="3104515" cy="1435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Exceptions: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Hague,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West </a:t>
            </a:r>
            <a:r>
              <a:rPr dirty="0" sz="1200">
                <a:latin typeface="Times New Roman"/>
                <a:cs typeface="Times New Roman"/>
              </a:rPr>
              <a:t>End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lphaLcParenR" startAt="4"/>
              <a:tabLst>
                <a:tab pos="177800" algn="l"/>
              </a:tabLst>
            </a:pPr>
            <a:r>
              <a:rPr dirty="0" sz="1200">
                <a:latin typeface="Times New Roman"/>
                <a:cs typeface="Times New Roman"/>
              </a:rPr>
              <a:t>Lakes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Mountains: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Mount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Mount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K-2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Nouns:</a:t>
            </a:r>
            <a:endParaRPr sz="1200">
              <a:latin typeface="Times New Roman"/>
              <a:cs typeface="Times New Roman"/>
            </a:endParaRPr>
          </a:p>
          <a:p>
            <a:pPr marL="168910" indent="-156845">
              <a:lnSpc>
                <a:spcPts val="1315"/>
              </a:lnSpc>
              <a:buAutoNum type="alphaLcParenR" startAt="4"/>
              <a:tabLst>
                <a:tab pos="169545" algn="l"/>
              </a:tabLst>
            </a:pPr>
            <a:r>
              <a:rPr dirty="0" sz="1200">
                <a:latin typeface="Times New Roman"/>
                <a:cs typeface="Times New Roman"/>
              </a:rPr>
              <a:t>Plural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Himalayas,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Alps,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Rockies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-The </a:t>
            </a:r>
            <a:r>
              <a:rPr dirty="0" sz="1200" spc="-5">
                <a:latin typeface="Times New Roman"/>
                <a:cs typeface="Times New Roman"/>
              </a:rPr>
              <a:t>Austins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(meaning</a:t>
            </a:r>
            <a:r>
              <a:rPr dirty="0" sz="1200">
                <a:latin typeface="Times New Roman"/>
                <a:cs typeface="Times New Roman"/>
              </a:rPr>
              <a:t> ‘the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Austin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family)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Netherlands,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Midlands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Indus,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Ravi,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Atlantic,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Pacific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037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-The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Suez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Canal,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Panama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69900" algn="l"/>
              </a:tabLst>
            </a:pPr>
            <a:r>
              <a:rPr dirty="0" sz="1200" spc="-5">
                <a:latin typeface="Times New Roman"/>
                <a:cs typeface="Times New Roman"/>
              </a:rPr>
              <a:t>f)	Public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439671"/>
            <a:ext cx="129540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-hotels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&amp;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-cinemas,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clubs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-museum,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2843872" y="1439671"/>
            <a:ext cx="161417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0" indent="-88900">
              <a:lnSpc>
                <a:spcPts val="1410"/>
              </a:lnSpc>
              <a:spcBef>
                <a:spcPts val="100"/>
              </a:spcBef>
              <a:buChar char="-"/>
              <a:tabLst>
                <a:tab pos="10223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Moghal,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Hilton</a:t>
            </a:r>
            <a:endParaRPr sz="1200">
              <a:latin typeface="Times New Roman"/>
              <a:cs typeface="Times New Roman"/>
            </a:endParaRPr>
          </a:p>
          <a:p>
            <a:pPr marL="102235" indent="-89535">
              <a:lnSpc>
                <a:spcPts val="1380"/>
              </a:lnSpc>
              <a:buChar char="-"/>
              <a:tabLst>
                <a:tab pos="10287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globe,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gymkhana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Lahore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Museum,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965452"/>
            <a:ext cx="5626100" cy="1437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British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Museum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tabLst>
                <a:tab pos="469265" algn="l"/>
              </a:tabLst>
            </a:pPr>
            <a:r>
              <a:rPr dirty="0" sz="1200">
                <a:latin typeface="Times New Roman"/>
                <a:cs typeface="Times New Roman"/>
              </a:rPr>
              <a:t>g)	Magazines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periodicals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normally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article: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Newsweek,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Punch,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Mag,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Scientist.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Insert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</a:t>
            </a:r>
            <a:r>
              <a:rPr dirty="0" sz="1200" b="1">
                <a:latin typeface="Times New Roman"/>
                <a:cs typeface="Times New Roman"/>
              </a:rPr>
              <a:t> article </a:t>
            </a:r>
            <a:r>
              <a:rPr dirty="0" sz="1200" spc="-5" b="1">
                <a:latin typeface="Times New Roman"/>
                <a:cs typeface="Times New Roman"/>
              </a:rPr>
              <a:t>where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you </a:t>
            </a:r>
            <a:r>
              <a:rPr dirty="0" sz="1200" spc="-5" b="1">
                <a:latin typeface="Times New Roman"/>
                <a:cs typeface="Times New Roman"/>
              </a:rPr>
              <a:t>think</a:t>
            </a:r>
            <a:r>
              <a:rPr dirty="0" sz="1200" b="1">
                <a:latin typeface="Times New Roman"/>
                <a:cs typeface="Times New Roman"/>
              </a:rPr>
              <a:t> it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needed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3542790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169" y="3542790"/>
            <a:ext cx="371602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833755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went </a:t>
            </a:r>
            <a:r>
              <a:rPr dirty="0" sz="1200">
                <a:latin typeface="Times New Roman"/>
                <a:cs typeface="Times New Roman"/>
              </a:rPr>
              <a:t>to most expensive </a:t>
            </a:r>
            <a:r>
              <a:rPr dirty="0" sz="1200" spc="-5">
                <a:latin typeface="Times New Roman"/>
                <a:cs typeface="Times New Roman"/>
              </a:rPr>
              <a:t>restaurant </a:t>
            </a:r>
            <a:r>
              <a:rPr dirty="0" sz="1200">
                <a:latin typeface="Times New Roman"/>
                <a:cs typeface="Times New Roman"/>
              </a:rPr>
              <a:t>in town.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you want to watch television this evening?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night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went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meal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restaurant.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Braille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blind.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4420614"/>
            <a:ext cx="303085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Choose the </a:t>
            </a:r>
            <a:r>
              <a:rPr dirty="0" sz="1200" b="1">
                <a:latin typeface="Times New Roman"/>
                <a:cs typeface="Times New Roman"/>
              </a:rPr>
              <a:t>correct form,</a:t>
            </a:r>
            <a:r>
              <a:rPr dirty="0" sz="1200" spc="-5" b="1">
                <a:latin typeface="Times New Roman"/>
                <a:cs typeface="Times New Roman"/>
              </a:rPr>
              <a:t> with</a:t>
            </a:r>
            <a:r>
              <a:rPr dirty="0" sz="1200" b="1">
                <a:latin typeface="Times New Roman"/>
                <a:cs typeface="Times New Roman"/>
              </a:rPr>
              <a:t> or</a:t>
            </a:r>
            <a:r>
              <a:rPr dirty="0" sz="1200" spc="-5" b="1">
                <a:latin typeface="Times New Roman"/>
                <a:cs typeface="Times New Roman"/>
              </a:rPr>
              <a:t> without </a:t>
            </a:r>
            <a:r>
              <a:rPr dirty="0" sz="1200" b="1">
                <a:latin typeface="Times New Roman"/>
                <a:cs typeface="Times New Roman"/>
              </a:rPr>
              <a:t>‘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the’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5120132"/>
            <a:ext cx="140335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7.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29648" y="5120132"/>
            <a:ext cx="4341495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afraid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dogs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dogs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salt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salt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please?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>
                <a:latin typeface="Times New Roman"/>
                <a:cs typeface="Times New Roman"/>
              </a:rPr>
              <a:t> / the </a:t>
            </a:r>
            <a:r>
              <a:rPr dirty="0" sz="1200" spc="-5">
                <a:latin typeface="Times New Roman"/>
                <a:cs typeface="Times New Roman"/>
              </a:rPr>
              <a:t>women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</a:t>
            </a:r>
            <a:r>
              <a:rPr dirty="0" sz="1200" spc="-5">
                <a:latin typeface="Times New Roman"/>
                <a:cs typeface="Times New Roman"/>
              </a:rPr>
              <a:t>sometimes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teachers</a:t>
            </a:r>
            <a:r>
              <a:rPr dirty="0" sz="1200">
                <a:latin typeface="Times New Roman"/>
                <a:cs typeface="Times New Roman"/>
              </a:rPr>
              <a:t> than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men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Second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World War</a:t>
            </a:r>
            <a:r>
              <a:rPr dirty="0" sz="1200">
                <a:latin typeface="Times New Roman"/>
                <a:cs typeface="Times New Roman"/>
              </a:rPr>
              <a:t> 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Second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World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War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1945.</a:t>
            </a:r>
            <a:endParaRPr sz="1200">
              <a:latin typeface="Times New Roman"/>
              <a:cs typeface="Times New Roman"/>
            </a:endParaRPr>
          </a:p>
          <a:p>
            <a:pPr marL="12700" marR="680720">
              <a:lnSpc>
                <a:spcPts val="1380"/>
              </a:lnSpc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books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/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books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top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shelf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 </a:t>
            </a:r>
            <a:r>
              <a:rPr dirty="0" sz="1200">
                <a:latin typeface="Times New Roman"/>
                <a:cs typeface="Times New Roman"/>
              </a:rPr>
              <a:t> Tom </a:t>
            </a:r>
            <a:r>
              <a:rPr dirty="0" sz="1200" spc="-5">
                <a:latin typeface="Times New Roman"/>
                <a:cs typeface="Times New Roman"/>
              </a:rPr>
              <a:t>left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college</a:t>
            </a:r>
            <a:r>
              <a:rPr dirty="0" sz="1200">
                <a:latin typeface="Times New Roman"/>
                <a:cs typeface="Times New Roman"/>
              </a:rPr>
              <a:t> /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college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without taking </a:t>
            </a:r>
            <a:r>
              <a:rPr dirty="0" sz="1200" spc="-5">
                <a:latin typeface="Times New Roman"/>
                <a:cs typeface="Times New Roman"/>
              </a:rPr>
              <a:t>his exams. </a:t>
            </a:r>
            <a:r>
              <a:rPr dirty="0" sz="1200">
                <a:latin typeface="Times New Roman"/>
                <a:cs typeface="Times New Roman"/>
              </a:rPr>
              <a:t> After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work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</a:t>
            </a:r>
            <a:r>
              <a:rPr dirty="0" sz="1200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home</a:t>
            </a:r>
            <a:r>
              <a:rPr dirty="0" sz="1200" spc="-5">
                <a:latin typeface="Times New Roman"/>
                <a:cs typeface="Times New Roman"/>
              </a:rPr>
              <a:t>/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home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6523735"/>
            <a:ext cx="562737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following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sentences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are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correct,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but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need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definite</a:t>
            </a:r>
            <a:r>
              <a:rPr dirty="0" sz="1200" spc="1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article.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Can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you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spot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those</a:t>
            </a:r>
            <a:r>
              <a:rPr dirty="0" sz="1200" b="1">
                <a:latin typeface="Times New Roman"/>
                <a:cs typeface="Times New Roman"/>
              </a:rPr>
              <a:t> that </a:t>
            </a:r>
            <a:r>
              <a:rPr dirty="0" sz="1200" spc="-5" b="1">
                <a:latin typeface="Times New Roman"/>
                <a:cs typeface="Times New Roman"/>
              </a:rPr>
              <a:t>need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correction?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6000" y="7223250"/>
            <a:ext cx="140335" cy="1435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7.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8.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11391" y="7223250"/>
            <a:ext cx="4921250" cy="143510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0480" marR="1906905">
              <a:lnSpc>
                <a:spcPts val="1380"/>
              </a:lnSpc>
              <a:spcBef>
                <a:spcPts val="195"/>
              </a:spcBef>
              <a:tabLst>
                <a:tab pos="2468245" algn="l"/>
                <a:tab pos="3006090" algn="l"/>
              </a:tabLst>
            </a:pPr>
            <a:r>
              <a:rPr dirty="0" sz="1200" spc="-5">
                <a:latin typeface="Times New Roman"/>
                <a:cs typeface="Times New Roman"/>
              </a:rPr>
              <a:t>Next </a:t>
            </a:r>
            <a:r>
              <a:rPr dirty="0" sz="1200">
                <a:latin typeface="Times New Roman"/>
                <a:cs typeface="Times New Roman"/>
              </a:rPr>
              <a:t>year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going skiing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5">
                <a:latin typeface="Times New Roman"/>
                <a:cs typeface="Times New Roman"/>
              </a:rPr>
              <a:t>Swiss Alps.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Nile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Africa.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30480">
              <a:lnSpc>
                <a:spcPts val="1315"/>
              </a:lnSpc>
              <a:tabLst>
                <a:tab pos="3860800" algn="l"/>
              </a:tabLst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languages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spoken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East.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30480" marR="369570">
              <a:lnSpc>
                <a:spcPts val="1380"/>
              </a:lnSpc>
              <a:spcBef>
                <a:spcPts val="65"/>
              </a:spcBef>
              <a:tabLst>
                <a:tab pos="2896870" algn="l"/>
                <a:tab pos="4542790" algn="l"/>
              </a:tabLst>
            </a:pP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Arab</a:t>
            </a:r>
            <a:r>
              <a:rPr dirty="0" sz="1200" spc="-5">
                <a:latin typeface="Times New Roman"/>
                <a:cs typeface="Times New Roman"/>
              </a:rPr>
              <a:t> Emirates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Arab</a:t>
            </a:r>
            <a:r>
              <a:rPr dirty="0" sz="1200" spc="-5">
                <a:latin typeface="Times New Roman"/>
                <a:cs typeface="Times New Roman"/>
              </a:rPr>
              <a:t> Emirates.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South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England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warmer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north.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30480" marR="5080" indent="-18415">
              <a:lnSpc>
                <a:spcPts val="1380"/>
              </a:lnSpc>
              <a:tabLst>
                <a:tab pos="3112770" algn="l"/>
                <a:tab pos="4907915" algn="l"/>
              </a:tabLst>
            </a:pP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Kingdom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consists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Britain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Northern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Ireland.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Plains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Punjab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June.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  <a:p>
            <a:pPr marL="30480">
              <a:lnSpc>
                <a:spcPts val="1345"/>
              </a:lnSpc>
              <a:tabLst>
                <a:tab pos="2900680" algn="l"/>
              </a:tabLst>
            </a:pPr>
            <a:r>
              <a:rPr dirty="0" sz="1200">
                <a:latin typeface="Times New Roman"/>
                <a:cs typeface="Times New Roman"/>
              </a:rPr>
              <a:t>Malta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republic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1974.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388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Practice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Choose the </a:t>
            </a:r>
            <a:r>
              <a:rPr dirty="0" sz="1200" b="1">
                <a:latin typeface="Times New Roman"/>
                <a:cs typeface="Times New Roman"/>
              </a:rPr>
              <a:t>correct form</a:t>
            </a:r>
            <a:r>
              <a:rPr dirty="0" sz="1200" spc="-5" b="1">
                <a:latin typeface="Times New Roman"/>
                <a:cs typeface="Times New Roman"/>
              </a:rPr>
              <a:t> with</a:t>
            </a:r>
            <a:r>
              <a:rPr dirty="0" sz="1200" b="1">
                <a:latin typeface="Times New Roman"/>
                <a:cs typeface="Times New Roman"/>
              </a:rPr>
              <a:t> or</a:t>
            </a:r>
            <a:r>
              <a:rPr dirty="0" sz="1200" spc="-5" b="1">
                <a:latin typeface="Times New Roman"/>
                <a:cs typeface="Times New Roman"/>
              </a:rPr>
              <a:t> without</a:t>
            </a:r>
            <a:r>
              <a:rPr dirty="0" sz="1200" b="1">
                <a:latin typeface="Times New Roman"/>
                <a:cs typeface="Times New Roman"/>
              </a:rPr>
              <a:t> ‘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the’</a:t>
            </a:r>
            <a:r>
              <a:rPr dirty="0" sz="1200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1.One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 oldest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buildings in </a:t>
            </a:r>
            <a:r>
              <a:rPr dirty="0" sz="1200" spc="-5">
                <a:latin typeface="Times New Roman"/>
                <a:cs typeface="Times New Roman"/>
              </a:rPr>
              <a:t>Lahore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Old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Fort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Old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Fort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790192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529648" y="1790192"/>
            <a:ext cx="511238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“Which </a:t>
            </a:r>
            <a:r>
              <a:rPr dirty="0" sz="1200">
                <a:latin typeface="Times New Roman"/>
                <a:cs typeface="Times New Roman"/>
              </a:rPr>
              <a:t>hotel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at?”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Sheraton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u="sng" sz="1200" spc="2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Sheraton.”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Yesterday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opened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account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Standard</a:t>
            </a:r>
            <a:r>
              <a:rPr dirty="0" u="sng" sz="1200" spc="4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Chartered</a:t>
            </a:r>
            <a:r>
              <a:rPr dirty="0" u="sng" sz="1200" spc="4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Bank</a:t>
            </a:r>
            <a:r>
              <a:rPr dirty="0" u="sng" sz="1200" spc="4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4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Standard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2140711"/>
            <a:ext cx="542861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Chartered</a:t>
            </a:r>
            <a:r>
              <a:rPr dirty="0" u="sng" sz="12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Bank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  <a:tabLst>
                <a:tab pos="525780" algn="l"/>
              </a:tabLst>
            </a:pPr>
            <a:r>
              <a:rPr dirty="0" sz="1200">
                <a:latin typeface="Times New Roman"/>
                <a:cs typeface="Times New Roman"/>
              </a:rPr>
              <a:t>4.	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visited</a:t>
            </a:r>
            <a:r>
              <a:rPr dirty="0" sz="1200" spc="5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2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University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Management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Sciences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University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73200" y="2491231"/>
            <a:ext cx="5168900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8580">
              <a:lnSpc>
                <a:spcPts val="1410"/>
              </a:lnSpc>
              <a:spcBef>
                <a:spcPts val="100"/>
              </a:spcBef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Management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Sciences?</a:t>
            </a:r>
            <a:endParaRPr sz="1200">
              <a:latin typeface="Times New Roman"/>
              <a:cs typeface="Times New Roman"/>
            </a:endParaRPr>
          </a:p>
          <a:p>
            <a:pPr marL="685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‘Where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shoes?’‘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Service’s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Services’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President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President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United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States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lives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House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White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House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6858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“Is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cinema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here?”</a:t>
            </a:r>
            <a:endParaRPr sz="1200">
              <a:latin typeface="Times New Roman"/>
              <a:cs typeface="Times New Roman"/>
            </a:endParaRPr>
          </a:p>
          <a:p>
            <a:pPr marL="69215">
              <a:lnSpc>
                <a:spcPts val="1410"/>
              </a:lnSpc>
              <a:tabLst>
                <a:tab pos="3213735" algn="l"/>
              </a:tabLst>
            </a:pPr>
            <a:r>
              <a:rPr dirty="0" sz="1200" spc="-5">
                <a:latin typeface="Times New Roman"/>
                <a:cs typeface="Times New Roman"/>
              </a:rPr>
              <a:t>“Yes,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Odeon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Odeon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Montgomery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Road </a:t>
            </a:r>
            <a:r>
              <a:rPr dirty="0" sz="1200">
                <a:latin typeface="Times New Roman"/>
                <a:cs typeface="Times New Roman"/>
              </a:rPr>
              <a:t>/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Montgomery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Road.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000" y="2666492"/>
            <a:ext cx="14033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192271"/>
            <a:ext cx="14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6664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Lesson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-45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Language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Forms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Functions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69240">
              <a:lnSpc>
                <a:spcPts val="138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Knowing </a:t>
            </a:r>
            <a:r>
              <a:rPr dirty="0" sz="1200">
                <a:latin typeface="Times New Roman"/>
                <a:cs typeface="Times New Roman"/>
              </a:rPr>
              <a:t>a language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being able to </a:t>
            </a:r>
            <a:r>
              <a:rPr dirty="0" sz="1200" spc="-5">
                <a:latin typeface="Times New Roman"/>
                <a:cs typeface="Times New Roman"/>
              </a:rPr>
              <a:t>communicate </a:t>
            </a:r>
            <a:r>
              <a:rPr dirty="0" sz="1200">
                <a:latin typeface="Times New Roman"/>
                <a:cs typeface="Times New Roman"/>
              </a:rPr>
              <a:t>one’s ideas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opinions to others.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foreign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linguistic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</a:t>
            </a:r>
            <a:r>
              <a:rPr dirty="0" sz="1200">
                <a:latin typeface="Times New Roman"/>
                <a:cs typeface="Times New Roman"/>
              </a:rPr>
              <a:t> 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learning</a:t>
            </a:r>
            <a:endParaRPr sz="1200">
              <a:latin typeface="Times New Roman"/>
              <a:cs typeface="Times New Roman"/>
            </a:endParaRPr>
          </a:p>
          <a:p>
            <a:pPr algn="just" marL="12700" marR="27114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- in your case, English - but </a:t>
            </a:r>
            <a:r>
              <a:rPr dirty="0" sz="1200" spc="-5">
                <a:latin typeface="Times New Roman"/>
                <a:cs typeface="Times New Roman"/>
              </a:rPr>
              <a:t>unless </a:t>
            </a:r>
            <a:r>
              <a:rPr dirty="0" sz="1200">
                <a:latin typeface="Times New Roman"/>
                <a:cs typeface="Times New Roman"/>
              </a:rPr>
              <a:t>he or </a:t>
            </a:r>
            <a:r>
              <a:rPr dirty="0" sz="1200" spc="-5">
                <a:latin typeface="Times New Roman"/>
                <a:cs typeface="Times New Roman"/>
              </a:rPr>
              <a:t>she </a:t>
            </a:r>
            <a:r>
              <a:rPr dirty="0" sz="1200">
                <a:latin typeface="Times New Roman"/>
                <a:cs typeface="Times New Roman"/>
              </a:rPr>
              <a:t>learns to </a:t>
            </a:r>
            <a:r>
              <a:rPr dirty="0" sz="1200" spc="-5">
                <a:latin typeface="Times New Roman"/>
                <a:cs typeface="Times New Roman"/>
              </a:rPr>
              <a:t>demonstrate or use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knowledge </a:t>
            </a:r>
            <a:r>
              <a:rPr dirty="0" sz="1200">
                <a:latin typeface="Times New Roman"/>
                <a:cs typeface="Times New Roman"/>
              </a:rPr>
              <a:t> appropriately, the learner would not be </a:t>
            </a:r>
            <a:r>
              <a:rPr dirty="0" sz="1200" spc="-5">
                <a:latin typeface="Times New Roman"/>
                <a:cs typeface="Times New Roman"/>
              </a:rPr>
              <a:t>considered </a:t>
            </a:r>
            <a:r>
              <a:rPr dirty="0" sz="1200">
                <a:latin typeface="Times New Roman"/>
                <a:cs typeface="Times New Roman"/>
              </a:rPr>
              <a:t>fully competent in the language that he /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she is </a:t>
            </a:r>
            <a:r>
              <a:rPr dirty="0" sz="1200">
                <a:latin typeface="Times New Roman"/>
                <a:cs typeface="Times New Roman"/>
              </a:rPr>
              <a:t>learning. In today’s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- which </a:t>
            </a:r>
            <a:r>
              <a:rPr dirty="0" sz="1200" spc="-5">
                <a:latin typeface="Times New Roman"/>
                <a:cs typeface="Times New Roman"/>
              </a:rPr>
              <a:t>is the </a:t>
            </a:r>
            <a:r>
              <a:rPr dirty="0" sz="1200">
                <a:latin typeface="Times New Roman"/>
                <a:cs typeface="Times New Roman"/>
              </a:rPr>
              <a:t>last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of this course - you shall learn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 </a:t>
            </a:r>
            <a:r>
              <a:rPr dirty="0" sz="1200" spc="-5">
                <a:latin typeface="Times New Roman"/>
                <a:cs typeface="Times New Roman"/>
              </a:rPr>
              <a:t>forms</a:t>
            </a:r>
            <a:r>
              <a:rPr dirty="0" sz="1200">
                <a:latin typeface="Times New Roman"/>
                <a:cs typeface="Times New Roman"/>
              </a:rPr>
              <a:t> &amp; how they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 to perform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language function? A language function, </a:t>
            </a:r>
            <a:r>
              <a:rPr dirty="0" sz="1200">
                <a:latin typeface="Times New Roman"/>
                <a:cs typeface="Times New Roman"/>
              </a:rPr>
              <a:t>to put it very </a:t>
            </a:r>
            <a:r>
              <a:rPr dirty="0" sz="1200" spc="-5">
                <a:latin typeface="Times New Roman"/>
                <a:cs typeface="Times New Roman"/>
              </a:rPr>
              <a:t>simply, is something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 to do with language. The </a:t>
            </a:r>
            <a:r>
              <a:rPr dirty="0" sz="1200" spc="-5">
                <a:latin typeface="Times New Roman"/>
                <a:cs typeface="Times New Roman"/>
              </a:rPr>
              <a:t>primary </a:t>
            </a:r>
            <a:r>
              <a:rPr dirty="0" sz="1200">
                <a:latin typeface="Times New Roman"/>
                <a:cs typeface="Times New Roman"/>
              </a:rPr>
              <a:t>function of language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give factual </a:t>
            </a:r>
            <a:r>
              <a:rPr dirty="0" sz="1200" spc="-5">
                <a:latin typeface="Times New Roman"/>
                <a:cs typeface="Times New Roman"/>
              </a:rPr>
              <a:t>information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convey essential commands, feelings and emotions. Have you ever asked yourself the </a:t>
            </a:r>
            <a:r>
              <a:rPr dirty="0" sz="1200">
                <a:latin typeface="Times New Roman"/>
                <a:cs typeface="Times New Roman"/>
              </a:rPr>
              <a:t> question what are people trying to do when </a:t>
            </a:r>
            <a:r>
              <a:rPr dirty="0" sz="1200" spc="-5">
                <a:latin typeface="Times New Roman"/>
                <a:cs typeface="Times New Roman"/>
              </a:rPr>
              <a:t>they speak?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aims </a:t>
            </a:r>
            <a:r>
              <a:rPr dirty="0" sz="1200">
                <a:latin typeface="Times New Roman"/>
                <a:cs typeface="Times New Roman"/>
              </a:rPr>
              <a:t>of speaking involve not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 broad functions such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>
                <a:latin typeface="Times New Roman"/>
                <a:cs typeface="Times New Roman"/>
              </a:rPr>
              <a:t>conveying </a:t>
            </a:r>
            <a:r>
              <a:rPr dirty="0" sz="1200" spc="-5">
                <a:latin typeface="Times New Roman"/>
                <a:cs typeface="Times New Roman"/>
              </a:rPr>
              <a:t>information, </a:t>
            </a:r>
            <a:r>
              <a:rPr dirty="0" sz="1200">
                <a:latin typeface="Times New Roman"/>
                <a:cs typeface="Times New Roman"/>
              </a:rPr>
              <a:t>expressing </a:t>
            </a:r>
            <a:r>
              <a:rPr dirty="0" sz="1200" spc="-5">
                <a:latin typeface="Times New Roman"/>
                <a:cs typeface="Times New Roman"/>
              </a:rPr>
              <a:t>emotion, </a:t>
            </a:r>
            <a:r>
              <a:rPr dirty="0" sz="1200">
                <a:latin typeface="Times New Roman"/>
                <a:cs typeface="Times New Roman"/>
              </a:rPr>
              <a:t>keeping in touch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socially, and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on…, but also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specific purposes for which language can be used,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245354"/>
            <a:ext cx="1332865" cy="55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Utterance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375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Where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suitcase?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410"/>
              </a:lnSpc>
              <a:buChar char="-"/>
              <a:tabLst>
                <a:tab pos="101600" algn="l"/>
              </a:tabLst>
            </a:pPr>
            <a:r>
              <a:rPr dirty="0" sz="1200">
                <a:latin typeface="Times New Roman"/>
                <a:cs typeface="Times New Roman"/>
              </a:rPr>
              <a:t>Open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window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279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3303000" y="4245354"/>
            <a:ext cx="1459230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953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Purpose</a:t>
            </a:r>
            <a:endParaRPr sz="1200">
              <a:latin typeface="Times New Roman"/>
              <a:cs typeface="Times New Roman"/>
            </a:endParaRPr>
          </a:p>
          <a:p>
            <a:pPr marL="139065" indent="-90170">
              <a:lnSpc>
                <a:spcPts val="1375"/>
              </a:lnSpc>
              <a:buChar char="-"/>
              <a:tabLst>
                <a:tab pos="1397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</a:t>
            </a:r>
            <a:endParaRPr sz="1200">
              <a:latin typeface="Times New Roman"/>
              <a:cs typeface="Times New Roman"/>
            </a:endParaRPr>
          </a:p>
          <a:p>
            <a:pPr marL="100965" indent="-88900">
              <a:lnSpc>
                <a:spcPts val="1380"/>
              </a:lnSpc>
              <a:buChar char="-"/>
              <a:tabLst>
                <a:tab pos="101600" algn="l"/>
              </a:tabLst>
            </a:pP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someone</a:t>
            </a:r>
            <a:endParaRPr sz="1200">
              <a:latin typeface="Times New Roman"/>
              <a:cs typeface="Times New Roman"/>
            </a:endParaRPr>
          </a:p>
          <a:p>
            <a:pPr marL="58293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something.</a:t>
            </a:r>
            <a:endParaRPr sz="1200">
              <a:latin typeface="Times New Roman"/>
              <a:cs typeface="Times New Roman"/>
            </a:endParaRPr>
          </a:p>
          <a:p>
            <a:pPr marL="101600" indent="-89535">
              <a:lnSpc>
                <a:spcPts val="1410"/>
              </a:lnSpc>
              <a:buChar char="-"/>
              <a:tabLst>
                <a:tab pos="102235" algn="l"/>
              </a:tabLst>
            </a:pPr>
            <a:r>
              <a:rPr dirty="0" sz="1200" spc="-5">
                <a:latin typeface="Times New Roman"/>
                <a:cs typeface="Times New Roman"/>
              </a:rPr>
              <a:t>make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promise.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4944870"/>
            <a:ext cx="14871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5295390"/>
            <a:ext cx="5627370" cy="38887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How many </a:t>
            </a:r>
            <a:r>
              <a:rPr dirty="0" sz="1200">
                <a:latin typeface="Times New Roman"/>
                <a:cs typeface="Times New Roman"/>
              </a:rPr>
              <a:t>language functions there are,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do not know exactly. But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do know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 are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>
                <a:latin typeface="Times New Roman"/>
                <a:cs typeface="Times New Roman"/>
              </a:rPr>
              <a:t>language functions that are regularly required for the purposes of </a:t>
            </a:r>
            <a:r>
              <a:rPr dirty="0" sz="1200" spc="-5">
                <a:latin typeface="Times New Roman"/>
                <a:cs typeface="Times New Roman"/>
              </a:rPr>
              <a:t>normal </a:t>
            </a:r>
            <a:r>
              <a:rPr dirty="0" sz="1200">
                <a:latin typeface="Times New Roman"/>
                <a:cs typeface="Times New Roman"/>
              </a:rPr>
              <a:t> everyday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some</a:t>
            </a:r>
            <a:r>
              <a:rPr dirty="0" sz="1200">
                <a:latin typeface="Times New Roman"/>
                <a:cs typeface="Times New Roman"/>
              </a:rPr>
              <a:t> 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functions.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Requesting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information: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ask,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request,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inquire.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38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Giving</a:t>
            </a:r>
            <a:r>
              <a:rPr dirty="0" sz="1200" spc="-5">
                <a:latin typeface="Times New Roman"/>
                <a:cs typeface="Times New Roman"/>
              </a:rPr>
              <a:t> information</a:t>
            </a:r>
            <a:r>
              <a:rPr dirty="0" sz="1200">
                <a:latin typeface="Times New Roman"/>
                <a:cs typeface="Times New Roman"/>
              </a:rPr>
              <a:t> 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announce,</a:t>
            </a:r>
            <a:r>
              <a:rPr dirty="0" sz="1200" spc="-5">
                <a:latin typeface="Times New Roman"/>
                <a:cs typeface="Times New Roman"/>
              </a:rPr>
              <a:t> describe,</a:t>
            </a:r>
            <a:r>
              <a:rPr dirty="0" sz="1200">
                <a:latin typeface="Times New Roman"/>
                <a:cs typeface="Times New Roman"/>
              </a:rPr>
              <a:t> explain, </a:t>
            </a:r>
            <a:r>
              <a:rPr dirty="0" sz="1200" spc="-5">
                <a:latin typeface="Times New Roman"/>
                <a:cs typeface="Times New Roman"/>
              </a:rPr>
              <a:t>instruct,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summarize...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spcBef>
                <a:spcPts val="65"/>
              </a:spcBef>
              <a:buAutoNum type="arabicPeriod"/>
              <a:tabLst>
                <a:tab pos="183515" algn="l"/>
              </a:tabLst>
            </a:pPr>
            <a:r>
              <a:rPr dirty="0" sz="1200">
                <a:latin typeface="Times New Roman"/>
                <a:cs typeface="Times New Roman"/>
              </a:rPr>
              <a:t>Establishing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contact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interpersonal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greet,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welcome,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introduce,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farewell,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interrupt…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  <a:buAutoNum type="arabicPeriod"/>
              <a:tabLst>
                <a:tab pos="198120" algn="l"/>
              </a:tabLst>
            </a:pPr>
            <a:r>
              <a:rPr dirty="0" sz="1200">
                <a:latin typeface="Times New Roman"/>
                <a:cs typeface="Times New Roman"/>
              </a:rPr>
              <a:t>Responding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others’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behavior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statements: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apologize,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deny,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disagree,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thank,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etc...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Expressing </a:t>
            </a:r>
            <a:r>
              <a:rPr dirty="0" sz="1200" spc="-5">
                <a:latin typeface="Times New Roman"/>
                <a:cs typeface="Times New Roman"/>
              </a:rPr>
              <a:t>emotions</a:t>
            </a:r>
            <a:r>
              <a:rPr dirty="0" sz="1200">
                <a:latin typeface="Times New Roman"/>
                <a:cs typeface="Times New Roman"/>
              </a:rPr>
              <a:t> / inclinations: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fear, </a:t>
            </a:r>
            <a:r>
              <a:rPr dirty="0" sz="1200">
                <a:latin typeface="Times New Roman"/>
                <a:cs typeface="Times New Roman"/>
              </a:rPr>
              <a:t>happiness,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shock, </a:t>
            </a:r>
            <a:r>
              <a:rPr dirty="0" sz="1200" spc="-5">
                <a:latin typeface="Times New Roman"/>
                <a:cs typeface="Times New Roman"/>
              </a:rPr>
              <a:t>surprise,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dislike,</a:t>
            </a:r>
            <a:r>
              <a:rPr dirty="0" sz="1200">
                <a:latin typeface="Times New Roman"/>
                <a:cs typeface="Times New Roman"/>
              </a:rPr>
              <a:t> etc…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Influencing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others’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behavior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allow,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blame,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discourage,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warn.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Judging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evaluating: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complain,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compare, </a:t>
            </a:r>
            <a:r>
              <a:rPr dirty="0" sz="1200">
                <a:latin typeface="Times New Roman"/>
                <a:cs typeface="Times New Roman"/>
              </a:rPr>
              <a:t>criticize, disapprove,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praise,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etc…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To be </a:t>
            </a:r>
            <a:r>
              <a:rPr dirty="0" sz="1200" spc="-5">
                <a:latin typeface="Times New Roman"/>
                <a:cs typeface="Times New Roman"/>
              </a:rPr>
              <a:t>competent </a:t>
            </a:r>
            <a:r>
              <a:rPr dirty="0" sz="1200">
                <a:latin typeface="Times New Roman"/>
                <a:cs typeface="Times New Roman"/>
              </a:rPr>
              <a:t>in a language, the learner should know how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speakers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language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ways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predicted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linguistic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alone.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learner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must be aware of the various devices / </a:t>
            </a:r>
            <a:r>
              <a:rPr dirty="0" sz="1200" spc="-5">
                <a:latin typeface="Times New Roman"/>
                <a:cs typeface="Times New Roman"/>
              </a:rPr>
              <a:t>structures</a:t>
            </a:r>
            <a:r>
              <a:rPr dirty="0" sz="1200">
                <a:latin typeface="Times New Roman"/>
                <a:cs typeface="Times New Roman"/>
              </a:rPr>
              <a:t> / </a:t>
            </a:r>
            <a:r>
              <a:rPr dirty="0" sz="1200" spc="-5">
                <a:latin typeface="Times New Roman"/>
                <a:cs typeface="Times New Roman"/>
              </a:rPr>
              <a:t>forms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 by native speakers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writers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knit </a:t>
            </a:r>
            <a:r>
              <a:rPr dirty="0" sz="1200">
                <a:latin typeface="Times New Roman"/>
                <a:cs typeface="Times New Roman"/>
              </a:rPr>
              <a:t>their </a:t>
            </a:r>
            <a:r>
              <a:rPr dirty="0" sz="1200" spc="-5">
                <a:latin typeface="Times New Roman"/>
                <a:cs typeface="Times New Roman"/>
              </a:rPr>
              <a:t>speech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writing </a:t>
            </a:r>
            <a:r>
              <a:rPr dirty="0" sz="1200">
                <a:latin typeface="Times New Roman"/>
                <a:cs typeface="Times New Roman"/>
              </a:rPr>
              <a:t>into a comprehensible whole. </a:t>
            </a:r>
            <a:r>
              <a:rPr dirty="0" sz="1200" spc="-5">
                <a:latin typeface="Times New Roman"/>
                <a:cs typeface="Times New Roman"/>
              </a:rPr>
              <a:t>This is done by using </a:t>
            </a:r>
            <a:r>
              <a:rPr dirty="0" sz="1200">
                <a:latin typeface="Times New Roman"/>
                <a:cs typeface="Times New Roman"/>
              </a:rPr>
              <a:t> appropriate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forms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somebody expresses </a:t>
            </a:r>
            <a:r>
              <a:rPr dirty="0" sz="1200">
                <a:latin typeface="Times New Roman"/>
                <a:cs typeface="Times New Roman"/>
              </a:rPr>
              <a:t>an opinion and you want to disagree with it, the first thought that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come</a:t>
            </a:r>
            <a:r>
              <a:rPr dirty="0" sz="1200">
                <a:latin typeface="Times New Roman"/>
                <a:cs typeface="Times New Roman"/>
              </a:rPr>
              <a:t> into your </a:t>
            </a:r>
            <a:r>
              <a:rPr dirty="0" sz="1200" spc="-5">
                <a:latin typeface="Times New Roman"/>
                <a:cs typeface="Times New Roman"/>
              </a:rPr>
              <a:t>mind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‘Disagree!’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1089152"/>
            <a:ext cx="5628005" cy="791972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The next </a:t>
            </a:r>
            <a:r>
              <a:rPr dirty="0" sz="1200" spc="-5">
                <a:latin typeface="Times New Roman"/>
                <a:cs typeface="Times New Roman"/>
              </a:rPr>
              <a:t>thing </a:t>
            </a:r>
            <a:r>
              <a:rPr dirty="0" sz="120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do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decide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language forms </a:t>
            </a:r>
            <a:r>
              <a:rPr dirty="0" sz="1200">
                <a:latin typeface="Times New Roman"/>
                <a:cs typeface="Times New Roman"/>
              </a:rPr>
              <a:t>or structures that you </a:t>
            </a:r>
            <a:r>
              <a:rPr dirty="0" sz="1200" spc="-5">
                <a:latin typeface="Times New Roman"/>
                <a:cs typeface="Times New Roman"/>
              </a:rPr>
              <a:t>will use </a:t>
            </a:r>
            <a:r>
              <a:rPr dirty="0" sz="1200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 </a:t>
            </a:r>
            <a:r>
              <a:rPr dirty="0" sz="120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disagreement. </a:t>
            </a:r>
            <a:r>
              <a:rPr dirty="0" sz="1200">
                <a:latin typeface="Times New Roman"/>
                <a:cs typeface="Times New Roman"/>
              </a:rPr>
              <a:t>i.e. you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decide what </a:t>
            </a:r>
            <a:r>
              <a:rPr dirty="0" sz="1200" spc="-5">
                <a:latin typeface="Times New Roman"/>
                <a:cs typeface="Times New Roman"/>
              </a:rPr>
              <a:t>grammatical </a:t>
            </a:r>
            <a:r>
              <a:rPr dirty="0" sz="1200">
                <a:latin typeface="Times New Roman"/>
                <a:cs typeface="Times New Roman"/>
              </a:rPr>
              <a:t>structures, what vocabulary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items, </a:t>
            </a:r>
            <a:r>
              <a:rPr dirty="0" sz="1200">
                <a:latin typeface="Times New Roman"/>
                <a:cs typeface="Times New Roman"/>
              </a:rPr>
              <a:t>what intonation patterns are to be </a:t>
            </a:r>
            <a:r>
              <a:rPr dirty="0" sz="1200" spc="-5">
                <a:latin typeface="Times New Roman"/>
                <a:cs typeface="Times New Roman"/>
              </a:rPr>
              <a:t>used. </a:t>
            </a:r>
            <a:r>
              <a:rPr dirty="0" sz="1200">
                <a:latin typeface="Times New Roman"/>
                <a:cs typeface="Times New Roman"/>
              </a:rPr>
              <a:t>There are a variety of </a:t>
            </a:r>
            <a:r>
              <a:rPr dirty="0" sz="1200" spc="-5">
                <a:latin typeface="Times New Roman"/>
                <a:cs typeface="Times New Roman"/>
              </a:rPr>
              <a:t>forms </a:t>
            </a:r>
            <a:r>
              <a:rPr dirty="0" sz="1200">
                <a:latin typeface="Times New Roman"/>
                <a:cs typeface="Times New Roman"/>
              </a:rPr>
              <a:t>to choose and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situation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person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speaking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instance, </a:t>
            </a:r>
            <a:r>
              <a:rPr dirty="0" sz="1200">
                <a:latin typeface="Times New Roman"/>
                <a:cs typeface="Times New Roman"/>
              </a:rPr>
              <a:t> 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friend,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say, ‘Shut</a:t>
            </a:r>
            <a:r>
              <a:rPr dirty="0" sz="1200">
                <a:latin typeface="Times New Roman"/>
                <a:cs typeface="Times New Roman"/>
              </a:rPr>
              <a:t> up!</a:t>
            </a:r>
            <a:r>
              <a:rPr dirty="0" sz="1200" spc="-5">
                <a:latin typeface="Times New Roman"/>
                <a:cs typeface="Times New Roman"/>
              </a:rPr>
              <a:t> It’s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true.”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boss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somebody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higher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rank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status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might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‘Excuse 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sir</a:t>
            </a:r>
            <a:r>
              <a:rPr dirty="0" sz="1200">
                <a:latin typeface="Times New Roman"/>
                <a:cs typeface="Times New Roman"/>
              </a:rPr>
              <a:t> / </a:t>
            </a:r>
            <a:r>
              <a:rPr dirty="0" sz="1200" spc="-5">
                <a:latin typeface="Times New Roman"/>
                <a:cs typeface="Times New Roman"/>
              </a:rPr>
              <a:t>madam;</a:t>
            </a:r>
            <a:r>
              <a:rPr dirty="0" sz="1200">
                <a:latin typeface="Times New Roman"/>
                <a:cs typeface="Times New Roman"/>
              </a:rPr>
              <a:t> you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not be quite right there.’</a:t>
            </a:r>
            <a:endParaRPr sz="1200">
              <a:latin typeface="Times New Roman"/>
              <a:cs typeface="Times New Roman"/>
            </a:endParaRPr>
          </a:p>
          <a:p>
            <a:pPr marL="12700" marR="34544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speaking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 </a:t>
            </a:r>
            <a:r>
              <a:rPr dirty="0" sz="1200">
                <a:latin typeface="Times New Roman"/>
                <a:cs typeface="Times New Roman"/>
              </a:rPr>
              <a:t>influence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Look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example:</a:t>
            </a: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conversation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provided.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language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underlined </a:t>
            </a:r>
            <a:r>
              <a:rPr dirty="0" sz="1200" spc="-10">
                <a:latin typeface="Times New Roman"/>
                <a:cs typeface="Times New Roman"/>
              </a:rPr>
              <a:t>words).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267462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Saba: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Junaid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Jamshed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awful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Naila: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>
                <a:latin typeface="Times New Roman"/>
                <a:cs typeface="Times New Roman"/>
              </a:rPr>
              <a:t>you?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think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he’s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marvelous.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algn="just" marL="12700" marR="635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When Naila </a:t>
            </a:r>
            <a:r>
              <a:rPr dirty="0" sz="1200" spc="-5">
                <a:latin typeface="Times New Roman"/>
                <a:cs typeface="Times New Roman"/>
              </a:rPr>
              <a:t>says </a:t>
            </a:r>
            <a:r>
              <a:rPr dirty="0" sz="1200">
                <a:latin typeface="Times New Roman"/>
                <a:cs typeface="Times New Roman"/>
              </a:rPr>
              <a:t>“I think he’s </a:t>
            </a:r>
            <a:r>
              <a:rPr dirty="0" sz="1200" spc="-5">
                <a:latin typeface="Times New Roman"/>
                <a:cs typeface="Times New Roman"/>
              </a:rPr>
              <a:t>marvelous,” what </a:t>
            </a:r>
            <a:r>
              <a:rPr dirty="0" sz="1200">
                <a:latin typeface="Times New Roman"/>
                <a:cs typeface="Times New Roman"/>
              </a:rPr>
              <a:t>language function </a:t>
            </a:r>
            <a:r>
              <a:rPr dirty="0" sz="1200" spc="-5">
                <a:latin typeface="Times New Roman"/>
                <a:cs typeface="Times New Roman"/>
              </a:rPr>
              <a:t>is being carried out? </a:t>
            </a:r>
            <a:r>
              <a:rPr dirty="0" sz="1200" spc="-10">
                <a:latin typeface="Times New Roman"/>
                <a:cs typeface="Times New Roman"/>
              </a:rPr>
              <a:t>Is </a:t>
            </a:r>
            <a:r>
              <a:rPr dirty="0" sz="1200" spc="-5">
                <a:latin typeface="Times New Roman"/>
                <a:cs typeface="Times New Roman"/>
              </a:rPr>
              <a:t> she </a:t>
            </a:r>
            <a:r>
              <a:rPr dirty="0" sz="1200">
                <a:latin typeface="Times New Roman"/>
                <a:cs typeface="Times New Roman"/>
              </a:rPr>
              <a:t>agreeing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Saba?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she </a:t>
            </a:r>
            <a:r>
              <a:rPr dirty="0" sz="1200">
                <a:latin typeface="Times New Roman"/>
                <a:cs typeface="Times New Roman"/>
              </a:rPr>
              <a:t>criticizing</a:t>
            </a:r>
            <a:r>
              <a:rPr dirty="0" sz="1200" spc="-5">
                <a:latin typeface="Times New Roman"/>
                <a:cs typeface="Times New Roman"/>
              </a:rPr>
              <a:t> Junaid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Jamshed?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is she admiring him?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Because Naila’s answer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‘I think he’s </a:t>
            </a:r>
            <a:r>
              <a:rPr dirty="0" sz="1200" spc="-5">
                <a:latin typeface="Times New Roman"/>
                <a:cs typeface="Times New Roman"/>
              </a:rPr>
              <a:t>marvelous’ </a:t>
            </a:r>
            <a:r>
              <a:rPr dirty="0" sz="1200">
                <a:latin typeface="Times New Roman"/>
                <a:cs typeface="Times New Roman"/>
              </a:rPr>
              <a:t>it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that </a:t>
            </a:r>
            <a:r>
              <a:rPr dirty="0" sz="1200" spc="-5">
                <a:latin typeface="Times New Roman"/>
                <a:cs typeface="Times New Roman"/>
              </a:rPr>
              <a:t>she admires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singer. So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can </a:t>
            </a:r>
            <a:r>
              <a:rPr dirty="0" sz="1200" spc="-5">
                <a:latin typeface="Times New Roman"/>
                <a:cs typeface="Times New Roman"/>
              </a:rPr>
              <a:t>say she is admiring him. </a:t>
            </a:r>
            <a:r>
              <a:rPr dirty="0" sz="1200">
                <a:latin typeface="Times New Roman"/>
                <a:cs typeface="Times New Roman"/>
              </a:rPr>
              <a:t>If </a:t>
            </a:r>
            <a:r>
              <a:rPr dirty="0" sz="1200" spc="-5">
                <a:latin typeface="Times New Roman"/>
                <a:cs typeface="Times New Roman"/>
              </a:rPr>
              <a:t>she was </a:t>
            </a:r>
            <a:r>
              <a:rPr dirty="0" sz="1200">
                <a:latin typeface="Times New Roman"/>
                <a:cs typeface="Times New Roman"/>
              </a:rPr>
              <a:t>criticizing him she would not have used these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words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5">
                <a:latin typeface="Times New Roman"/>
                <a:cs typeface="Times New Roman"/>
              </a:rPr>
              <a:t>admiration.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12700" marR="635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Now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practice,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identifying</a:t>
            </a:r>
            <a:r>
              <a:rPr dirty="0" sz="1200" spc="-5">
                <a:latin typeface="Times New Roman"/>
                <a:cs typeface="Times New Roman"/>
              </a:rPr>
              <a:t> statements</a:t>
            </a:r>
            <a:r>
              <a:rPr dirty="0" sz="1200">
                <a:latin typeface="Times New Roman"/>
                <a:cs typeface="Times New Roman"/>
              </a:rPr>
              <a:t> which </a:t>
            </a:r>
            <a:r>
              <a:rPr dirty="0" sz="1200" spc="-5">
                <a:latin typeface="Times New Roman"/>
                <a:cs typeface="Times New Roman"/>
              </a:rPr>
              <a:t>illustrate</a:t>
            </a:r>
            <a:r>
              <a:rPr dirty="0" sz="1200">
                <a:latin typeface="Times New Roman"/>
                <a:cs typeface="Times New Roman"/>
              </a:rPr>
              <a:t> the function required.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I.Identifying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Functions: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Parts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conversation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provided.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alternatives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best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describes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functions 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underlined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conversation.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15"/>
              </a:lnSpc>
              <a:buAutoNum type="arabi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Ahmed: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man, </a:t>
            </a:r>
            <a:r>
              <a:rPr dirty="0" sz="1200">
                <a:latin typeface="Times New Roman"/>
                <a:cs typeface="Times New Roman"/>
              </a:rPr>
              <a:t>drive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 </a:t>
            </a:r>
            <a:r>
              <a:rPr dirty="0" sz="1200">
                <a:latin typeface="Times New Roman"/>
                <a:cs typeface="Times New Roman"/>
              </a:rPr>
              <a:t>faster.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  <a:tabLst>
                <a:tab pos="545465" algn="l"/>
              </a:tabLst>
            </a:pPr>
            <a:r>
              <a:rPr dirty="0" sz="1200">
                <a:latin typeface="Times New Roman"/>
                <a:cs typeface="Times New Roman"/>
              </a:rPr>
              <a:t>Saleh:	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rate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he's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driving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won’t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get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airport in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time,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fear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anxiety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disappointment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shock.</a:t>
            </a:r>
            <a:endParaRPr sz="1200">
              <a:latin typeface="Times New Roman"/>
              <a:cs typeface="Times New Roman"/>
            </a:endParaRPr>
          </a:p>
          <a:p>
            <a:pPr marL="165100" marR="716280" indent="-152400">
              <a:lnSpc>
                <a:spcPts val="1380"/>
              </a:lnSpc>
              <a:spcBef>
                <a:spcPts val="65"/>
              </a:spcBef>
              <a:buAutoNum type="arabicPeriod" startAt="2"/>
              <a:tabLst>
                <a:tab pos="165100" algn="l"/>
                <a:tab pos="622300" algn="l"/>
              </a:tabLst>
            </a:pPr>
            <a:r>
              <a:rPr dirty="0" sz="1200">
                <a:latin typeface="Times New Roman"/>
                <a:cs typeface="Times New Roman"/>
              </a:rPr>
              <a:t>Aziza: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was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nice of you to invite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my mother 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well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 your party last night.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Bibi:	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at all.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was </a:t>
            </a:r>
            <a:r>
              <a:rPr dirty="0" sz="1200">
                <a:latin typeface="Times New Roman"/>
                <a:cs typeface="Times New Roman"/>
              </a:rPr>
              <a:t>nice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1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agreement.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appreciation.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sympathy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41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invitation.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rabicPeriod" startAt="3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Jane: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vase!</a:t>
            </a:r>
            <a:endParaRPr sz="1200">
              <a:latin typeface="Times New Roman"/>
              <a:cs typeface="Times New Roman"/>
            </a:endParaRPr>
          </a:p>
          <a:p>
            <a:pPr marL="126364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Hina: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Too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late!…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Such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beautiful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vase.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fear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16000" y="8992446"/>
            <a:ext cx="14224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sympathy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287</a:t>
            </a:fld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401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express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admiration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dismay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64465" marR="2655570" indent="-152400">
              <a:lnSpc>
                <a:spcPts val="1380"/>
              </a:lnSpc>
              <a:spcBef>
                <a:spcPts val="5"/>
              </a:spcBef>
              <a:buAutoNum type="arabicPeriod" startAt="4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Son: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double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Father: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I’m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afraid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you’re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got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15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 allow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insist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forgive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fear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0510">
              <a:lnSpc>
                <a:spcPts val="1380"/>
              </a:lnSpc>
              <a:buAutoNum type="arabicPeriod" startAt="5"/>
              <a:tabLst>
                <a:tab pos="189230" algn="l"/>
              </a:tabLst>
            </a:pPr>
            <a:r>
              <a:rPr dirty="0" sz="1200">
                <a:latin typeface="Times New Roman"/>
                <a:cs typeface="Times New Roman"/>
              </a:rPr>
              <a:t>You have been regular in your </a:t>
            </a:r>
            <a:r>
              <a:rPr dirty="0" sz="1200" spc="-5">
                <a:latin typeface="Times New Roman"/>
                <a:cs typeface="Times New Roman"/>
              </a:rPr>
              <a:t>payment </a:t>
            </a:r>
            <a:r>
              <a:rPr dirty="0" sz="1200">
                <a:latin typeface="Times New Roman"/>
                <a:cs typeface="Times New Roman"/>
              </a:rPr>
              <a:t>in the past. But </a:t>
            </a:r>
            <a:r>
              <a:rPr dirty="0" sz="1200" spc="-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notice from our records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dating from </a:t>
            </a:r>
            <a:r>
              <a:rPr dirty="0" sz="1200" spc="-5">
                <a:latin typeface="Times New Roman"/>
                <a:cs typeface="Times New Roman"/>
              </a:rPr>
              <a:t>six months </a:t>
            </a:r>
            <a:r>
              <a:rPr dirty="0" sz="1200">
                <a:latin typeface="Times New Roman"/>
                <a:cs typeface="Times New Roman"/>
              </a:rPr>
              <a:t>ago that your </a:t>
            </a:r>
            <a:r>
              <a:rPr dirty="0" sz="1200" spc="-5">
                <a:latin typeface="Times New Roman"/>
                <a:cs typeface="Times New Roman"/>
              </a:rPr>
              <a:t>payment has </a:t>
            </a:r>
            <a:r>
              <a:rPr dirty="0" sz="1200">
                <a:latin typeface="Times New Roman"/>
                <a:cs typeface="Times New Roman"/>
              </a:rPr>
              <a:t>not been received.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Kindly send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cheque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within seven days without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fail.</a:t>
            </a:r>
            <a:endParaRPr sz="1200">
              <a:latin typeface="Times New Roman"/>
              <a:cs typeface="Times New Roman"/>
            </a:endParaRPr>
          </a:p>
          <a:p>
            <a:pPr algn="just" lvl="1" marL="156210" indent="-144145">
              <a:lnSpc>
                <a:spcPts val="131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plead</a:t>
            </a:r>
            <a:endParaRPr sz="1200">
              <a:latin typeface="Times New Roman"/>
              <a:cs typeface="Times New Roman"/>
            </a:endParaRPr>
          </a:p>
          <a:p>
            <a:pPr algn="just"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consent</a:t>
            </a:r>
            <a:endParaRPr sz="1200">
              <a:latin typeface="Times New Roman"/>
              <a:cs typeface="Times New Roman"/>
            </a:endParaRPr>
          </a:p>
          <a:p>
            <a:pPr algn="just"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 persuade</a:t>
            </a:r>
            <a:endParaRPr sz="1200">
              <a:latin typeface="Times New Roman"/>
              <a:cs typeface="Times New Roman"/>
            </a:endParaRPr>
          </a:p>
          <a:p>
            <a:pPr algn="just"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to instruct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algn="just" marL="12700" marR="27178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Faraz: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hope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don’t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mind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saying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what</a:t>
            </a:r>
            <a:r>
              <a:rPr dirty="0" u="sng" sz="1200" spc="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you’ve</a:t>
            </a:r>
            <a:r>
              <a:rPr dirty="0" u="sng" sz="1200" spc="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first</a:t>
            </a:r>
            <a:r>
              <a:rPr dirty="0" u="sng" sz="1200" spc="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said</a:t>
            </a:r>
            <a:r>
              <a:rPr dirty="0" u="sng" sz="1200" spc="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u="sng" sz="1200" spc="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exactly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true.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419091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6388100" y="9261432"/>
            <a:ext cx="2540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288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2948" y="4419091"/>
            <a:ext cx="72009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sy</a:t>
            </a:r>
            <a:r>
              <a:rPr dirty="0" sz="1200" spc="-1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pathize  </a:t>
            </a:r>
            <a:r>
              <a:rPr dirty="0" sz="1200" spc="-5">
                <a:latin typeface="Times New Roman"/>
                <a:cs typeface="Times New Roman"/>
              </a:rPr>
              <a:t>scold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disagree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surprise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295391"/>
            <a:ext cx="5625465" cy="38887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40665" marR="408940" indent="-22860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Sara: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literacy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educate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women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girls.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Zara: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think the same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1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compliment</a:t>
            </a:r>
            <a:endParaRPr sz="1200">
              <a:latin typeface="Times New Roman"/>
              <a:cs typeface="Times New Roman"/>
            </a:endParaRPr>
          </a:p>
          <a:p>
            <a:pPr marL="156845" indent="-144780">
              <a:lnSpc>
                <a:spcPts val="1380"/>
              </a:lnSpc>
              <a:buAutoNum type="alphaLcPeriod"/>
              <a:tabLst>
                <a:tab pos="15748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reject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persuade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203200" marR="3141345" indent="-190500">
              <a:lnSpc>
                <a:spcPts val="1380"/>
              </a:lnSpc>
              <a:buAutoNum type="arabicPeriod" startAt="8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Zain: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There’s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desk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Faraz:</a:t>
            </a:r>
            <a:r>
              <a:rPr dirty="0" sz="1200" spc="-5">
                <a:latin typeface="Times New Roman"/>
                <a:cs typeface="Times New Roman"/>
              </a:rPr>
              <a:t> Ah, </a:t>
            </a:r>
            <a:r>
              <a:rPr dirty="0" sz="1200">
                <a:latin typeface="Times New Roman"/>
                <a:cs typeface="Times New Roman"/>
              </a:rPr>
              <a:t>yes,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5">
                <a:latin typeface="Times New Roman"/>
                <a:cs typeface="Times New Roman"/>
              </a:rPr>
              <a:t> is.</a:t>
            </a:r>
            <a:endParaRPr sz="1200">
              <a:latin typeface="Times New Roman"/>
              <a:cs typeface="Times New Roman"/>
            </a:endParaRPr>
          </a:p>
          <a:p>
            <a:pPr marL="240029" marR="1803400" indent="-3746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Zain: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Why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don’t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 open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now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who is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 from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Faraz: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wait.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1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administration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curiosity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dissatisfaction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instruction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380"/>
              </a:lnSpc>
              <a:buAutoNum type="arabicPeriod" startAt="9"/>
              <a:tabLst>
                <a:tab pos="172085" algn="l"/>
              </a:tabLst>
            </a:pPr>
            <a:r>
              <a:rPr dirty="0" sz="1200" spc="-5">
                <a:latin typeface="Times New Roman"/>
                <a:cs typeface="Times New Roman"/>
              </a:rPr>
              <a:t>Boss: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typing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you’ve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done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</a:t>
            </a:r>
            <a:r>
              <a:rPr dirty="0" u="sng" sz="1200" spc="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hopeless.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full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mistakes.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You’ll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again.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Secretary: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sir.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regret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warn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criticize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74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demand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279400" marR="1310005" indent="-26670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John: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news?</a:t>
            </a:r>
            <a:r>
              <a:rPr dirty="0" sz="1200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principal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sack.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Jane: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Oh.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No!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15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anger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sympathy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disbelief</a:t>
            </a:r>
            <a:endParaRPr sz="1200">
              <a:latin typeface="Times New Roman"/>
              <a:cs typeface="Times New Roman"/>
            </a:endParaRPr>
          </a:p>
          <a:p>
            <a:pPr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regret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279400" marR="2870835" indent="-266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11.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Jill: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How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about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going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theatre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tonight</a:t>
            </a:r>
            <a:r>
              <a:rPr dirty="0" sz="1200">
                <a:latin typeface="Times New Roman"/>
                <a:cs typeface="Times New Roman"/>
              </a:rPr>
              <a:t>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Pat: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Sorry. I’ve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56210" indent="-144145">
              <a:lnSpc>
                <a:spcPts val="1410"/>
              </a:lnSpc>
              <a:spcBef>
                <a:spcPts val="5"/>
              </a:spcBef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suggestion</a:t>
            </a:r>
            <a:endParaRPr sz="1200">
              <a:latin typeface="Times New Roman"/>
              <a:cs typeface="Times New Roman"/>
            </a:endParaRPr>
          </a:p>
          <a:p>
            <a:pPr marL="202565" indent="-152400">
              <a:lnSpc>
                <a:spcPts val="1380"/>
              </a:lnSpc>
              <a:buAutoNum type="alphaLcPeriod"/>
              <a:tabLst>
                <a:tab pos="203200" algn="l"/>
              </a:tabLst>
            </a:pPr>
            <a:r>
              <a:rPr dirty="0" sz="1200" spc="-10">
                <a:latin typeface="Times New Roman"/>
                <a:cs typeface="Times New Roman"/>
              </a:rPr>
              <a:t>announcement</a:t>
            </a:r>
            <a:endParaRPr sz="1200">
              <a:latin typeface="Times New Roman"/>
              <a:cs typeface="Times New Roman"/>
            </a:endParaRPr>
          </a:p>
          <a:p>
            <a:pPr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request</a:t>
            </a:r>
            <a:endParaRPr sz="12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welcome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05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B.</a:t>
            </a:r>
            <a:r>
              <a:rPr dirty="0" sz="1200" spc="2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Extended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conversation</a:t>
            </a:r>
            <a:endParaRPr sz="1200">
              <a:latin typeface="Times New Roman"/>
              <a:cs typeface="Times New Roman"/>
            </a:endParaRPr>
          </a:p>
          <a:p>
            <a:pPr marL="127000">
              <a:lnSpc>
                <a:spcPts val="1375"/>
              </a:lnSpc>
            </a:pP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underlined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response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function.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Father: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Sajid,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don’t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like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moving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around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with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that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friend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yours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80"/>
              </a:lnSpc>
              <a:buAutoNum type="alphaLcParenR"/>
              <a:tabLst>
                <a:tab pos="207645" algn="l"/>
              </a:tabLst>
            </a:pPr>
            <a:r>
              <a:rPr dirty="0" sz="1200" spc="-5">
                <a:latin typeface="Times New Roman"/>
                <a:cs typeface="Times New Roman"/>
              </a:rPr>
              <a:t>accuse</a:t>
            </a:r>
            <a:endParaRPr sz="1200">
              <a:latin typeface="Times New Roman"/>
              <a:cs typeface="Times New Roman"/>
            </a:endParaRPr>
          </a:p>
          <a:p>
            <a:pPr marL="215265" indent="-203200">
              <a:lnSpc>
                <a:spcPts val="1380"/>
              </a:lnSpc>
              <a:buAutoNum type="alphaLcParenR"/>
              <a:tabLst>
                <a:tab pos="215900" algn="l"/>
              </a:tabLst>
            </a:pPr>
            <a:r>
              <a:rPr dirty="0" sz="1200" spc="-5">
                <a:latin typeface="Times New Roman"/>
                <a:cs typeface="Times New Roman"/>
              </a:rPr>
              <a:t>deny</a:t>
            </a:r>
            <a:endParaRPr sz="1200">
              <a:latin typeface="Times New Roman"/>
              <a:cs typeface="Times New Roman"/>
            </a:endParaRPr>
          </a:p>
          <a:p>
            <a:pPr marL="207010" indent="-194945">
              <a:lnSpc>
                <a:spcPts val="1380"/>
              </a:lnSpc>
              <a:buAutoNum type="alphaLcParenR"/>
              <a:tabLst>
                <a:tab pos="207645" algn="l"/>
              </a:tabLst>
            </a:pPr>
            <a:r>
              <a:rPr dirty="0" sz="1200">
                <a:latin typeface="Times New Roman"/>
                <a:cs typeface="Times New Roman"/>
              </a:rPr>
              <a:t>disapprove</a:t>
            </a:r>
            <a:endParaRPr sz="1200">
              <a:latin typeface="Times New Roman"/>
              <a:cs typeface="Times New Roman"/>
            </a:endParaRPr>
          </a:p>
          <a:p>
            <a:pPr marL="215265" indent="-203200">
              <a:lnSpc>
                <a:spcPts val="1410"/>
              </a:lnSpc>
              <a:buAutoNum type="alphaLcParenR"/>
              <a:tabLst>
                <a:tab pos="215900" algn="l"/>
              </a:tabLst>
            </a:pPr>
            <a:r>
              <a:rPr dirty="0" sz="1200" spc="-5">
                <a:latin typeface="Times New Roman"/>
                <a:cs typeface="Times New Roman"/>
              </a:rPr>
              <a:t>explain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 startAt="2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Sajid: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Why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not?</a:t>
            </a:r>
            <a:endParaRPr sz="1200">
              <a:latin typeface="Times New Roman"/>
              <a:cs typeface="Times New Roman"/>
            </a:endParaRPr>
          </a:p>
          <a:p>
            <a:pPr lvl="1" marL="194310" indent="-182245">
              <a:lnSpc>
                <a:spcPts val="1380"/>
              </a:lnSpc>
              <a:buAutoNum type="alphaLcPeriod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disagree</a:t>
            </a:r>
            <a:endParaRPr sz="1200">
              <a:latin typeface="Times New Roman"/>
              <a:cs typeface="Times New Roman"/>
            </a:endParaRPr>
          </a:p>
          <a:p>
            <a:pPr lvl="1" marL="202565" indent="-190500">
              <a:lnSpc>
                <a:spcPts val="1380"/>
              </a:lnSpc>
              <a:buAutoNum type="alphaLcPeriod"/>
              <a:tabLst>
                <a:tab pos="203200" algn="l"/>
              </a:tabLst>
            </a:pPr>
            <a:r>
              <a:rPr dirty="0" sz="1200" spc="-5">
                <a:latin typeface="Times New Roman"/>
                <a:cs typeface="Times New Roman"/>
              </a:rPr>
              <a:t>question</a:t>
            </a:r>
            <a:endParaRPr sz="1200">
              <a:latin typeface="Times New Roman"/>
              <a:cs typeface="Times New Roman"/>
            </a:endParaRPr>
          </a:p>
          <a:p>
            <a:pPr lvl="1" marL="194310" indent="-182245">
              <a:lnSpc>
                <a:spcPts val="1380"/>
              </a:lnSpc>
              <a:buAutoNum type="alphaLcPeriod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reject</a:t>
            </a:r>
            <a:endParaRPr sz="1200">
              <a:latin typeface="Times New Roman"/>
              <a:cs typeface="Times New Roman"/>
            </a:endParaRPr>
          </a:p>
          <a:p>
            <a:pPr lvl="1" marL="203200" indent="-191135">
              <a:lnSpc>
                <a:spcPts val="1410"/>
              </a:lnSpc>
              <a:buAutoNum type="alphaLcPeriod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claim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 startAt="3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Father: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He’s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bad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influence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instruct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advise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command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explain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spcBef>
                <a:spcPts val="5"/>
              </a:spcBef>
              <a:buAutoNum type="arabicPeriod" startAt="4"/>
              <a:tabLst>
                <a:tab pos="165735" algn="l"/>
              </a:tabLst>
            </a:pPr>
            <a:r>
              <a:rPr dirty="0" sz="1200" b="1">
                <a:latin typeface="Times New Roman"/>
                <a:cs typeface="Times New Roman"/>
              </a:rPr>
              <a:t>Father: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I’ve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heard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he’s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drugs.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anxiety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condemn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warn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explain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Times New Roman"/>
              <a:cs typeface="Times New Roman"/>
            </a:endParaRPr>
          </a:p>
          <a:p>
            <a:pPr marL="203200" indent="-190500">
              <a:lnSpc>
                <a:spcPts val="1410"/>
              </a:lnSpc>
              <a:spcBef>
                <a:spcPts val="5"/>
              </a:spcBef>
              <a:buFont typeface="Times New Roman"/>
              <a:buAutoNum type="arabicPeriod" startAt="5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Sajid: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On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drugs!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shock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admiration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41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curiosity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289</a:t>
            </a:fld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8573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sympathy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6"/>
              <a:tabLst>
                <a:tab pos="1657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Sajid: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don’t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believe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lvl="1" marL="194945" indent="-182880">
              <a:lnSpc>
                <a:spcPts val="1380"/>
              </a:lnSpc>
              <a:buAutoNum type="alphaLcPeriod"/>
              <a:tabLst>
                <a:tab pos="195580" algn="l"/>
              </a:tabLst>
            </a:pPr>
            <a:r>
              <a:rPr dirty="0" sz="1200" spc="-5">
                <a:latin typeface="Times New Roman"/>
                <a:cs typeface="Times New Roman"/>
              </a:rPr>
              <a:t>interest</a:t>
            </a:r>
            <a:endParaRPr sz="1200">
              <a:latin typeface="Times New Roman"/>
              <a:cs typeface="Times New Roman"/>
            </a:endParaRPr>
          </a:p>
          <a:p>
            <a:pPr lvl="1" marL="202565" indent="-190500">
              <a:lnSpc>
                <a:spcPts val="1380"/>
              </a:lnSpc>
              <a:buAutoNum type="alphaLcPeriod"/>
              <a:tabLst>
                <a:tab pos="203200" algn="l"/>
              </a:tabLst>
            </a:pPr>
            <a:r>
              <a:rPr dirty="0" sz="1200" spc="-5">
                <a:latin typeface="Times New Roman"/>
                <a:cs typeface="Times New Roman"/>
              </a:rPr>
              <a:t>declined</a:t>
            </a:r>
            <a:endParaRPr sz="1200">
              <a:latin typeface="Times New Roman"/>
              <a:cs typeface="Times New Roman"/>
            </a:endParaRPr>
          </a:p>
          <a:p>
            <a:pPr lvl="1" marL="194310" indent="-182245">
              <a:lnSpc>
                <a:spcPts val="1380"/>
              </a:lnSpc>
              <a:buAutoNum type="alphaLcPeriod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deny</a:t>
            </a:r>
            <a:endParaRPr sz="1200">
              <a:latin typeface="Times New Roman"/>
              <a:cs typeface="Times New Roman"/>
            </a:endParaRPr>
          </a:p>
          <a:p>
            <a:pPr lvl="1" marL="202565" indent="-190500">
              <a:lnSpc>
                <a:spcPts val="1410"/>
              </a:lnSpc>
              <a:buAutoNum type="alphaLcPeriod"/>
              <a:tabLst>
                <a:tab pos="203200" algn="l"/>
              </a:tabLst>
            </a:pPr>
            <a:r>
              <a:rPr dirty="0" sz="1200" spc="-5">
                <a:latin typeface="Times New Roman"/>
                <a:cs typeface="Times New Roman"/>
              </a:rPr>
              <a:t>disbelief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203200" indent="-191135">
              <a:lnSpc>
                <a:spcPts val="1410"/>
              </a:lnSpc>
              <a:buAutoNum type="arabicPeriod" startAt="7"/>
              <a:tabLst>
                <a:tab pos="203835" algn="l"/>
              </a:tabLst>
            </a:pPr>
            <a:r>
              <a:rPr dirty="0" sz="1200" b="1">
                <a:latin typeface="Times New Roman"/>
                <a:cs typeface="Times New Roman"/>
              </a:rPr>
              <a:t>Father: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Just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stay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away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from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him.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suggest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order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say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threaten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C.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Conversation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telephone: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Rafia: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Mama.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you?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Mother:</a:t>
            </a:r>
            <a:r>
              <a:rPr dirty="0" sz="1200" spc="-5">
                <a:latin typeface="Times New Roman"/>
                <a:cs typeface="Times New Roman"/>
              </a:rPr>
              <a:t> Yes. What is it?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You’re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all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right,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aren’t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?</a:t>
            </a:r>
            <a:endParaRPr sz="1200">
              <a:latin typeface="Times New Roman"/>
              <a:cs typeface="Times New Roman"/>
            </a:endParaRPr>
          </a:p>
          <a:p>
            <a:pPr lvl="1" marL="194310" indent="-182245">
              <a:lnSpc>
                <a:spcPts val="1380"/>
              </a:lnSpc>
              <a:buAutoNum type="alphaLcPeriod"/>
              <a:tabLst>
                <a:tab pos="194945" algn="l"/>
              </a:tabLst>
            </a:pPr>
            <a:r>
              <a:rPr dirty="0" sz="1200" spc="-5">
                <a:latin typeface="Times New Roman"/>
                <a:cs typeface="Times New Roman"/>
              </a:rPr>
              <a:t>disappointment</a:t>
            </a:r>
            <a:endParaRPr sz="1200">
              <a:latin typeface="Times New Roman"/>
              <a:cs typeface="Times New Roman"/>
            </a:endParaRPr>
          </a:p>
          <a:p>
            <a:pPr lvl="1" marL="202565" indent="-190500">
              <a:lnSpc>
                <a:spcPts val="1380"/>
              </a:lnSpc>
              <a:buAutoNum type="alphaLcPeriod"/>
              <a:tabLst>
                <a:tab pos="203200" algn="l"/>
              </a:tabLst>
            </a:pPr>
            <a:r>
              <a:rPr dirty="0" sz="1200" spc="-10">
                <a:latin typeface="Times New Roman"/>
                <a:cs typeface="Times New Roman"/>
              </a:rPr>
              <a:t>surprise</a:t>
            </a:r>
            <a:endParaRPr sz="1200">
              <a:latin typeface="Times New Roman"/>
              <a:cs typeface="Times New Roman"/>
            </a:endParaRPr>
          </a:p>
          <a:p>
            <a:pPr lvl="1" marL="194310" indent="-182245">
              <a:lnSpc>
                <a:spcPts val="1380"/>
              </a:lnSpc>
              <a:buAutoNum type="alphaLcPeriod"/>
              <a:tabLst>
                <a:tab pos="194945" algn="l"/>
              </a:tabLst>
            </a:pPr>
            <a:r>
              <a:rPr dirty="0" sz="1200">
                <a:latin typeface="Times New Roman"/>
                <a:cs typeface="Times New Roman"/>
              </a:rPr>
              <a:t>worry</a:t>
            </a:r>
            <a:endParaRPr sz="1200">
              <a:latin typeface="Times New Roman"/>
              <a:cs typeface="Times New Roman"/>
            </a:endParaRPr>
          </a:p>
          <a:p>
            <a:pPr lvl="1" marL="202565" indent="-190500">
              <a:lnSpc>
                <a:spcPts val="1410"/>
              </a:lnSpc>
              <a:buAutoNum type="alphaL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interest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203200" indent="-191135">
              <a:lnSpc>
                <a:spcPts val="1410"/>
              </a:lnSpc>
              <a:buAutoNum type="arabicPeriod" startAt="2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Rafia: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I’ve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some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good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news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tell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lvl="1" marL="156210" indent="-143510">
              <a:lnSpc>
                <a:spcPts val="1380"/>
              </a:lnSpc>
              <a:buAutoNum type="alphaLcPeriod"/>
              <a:tabLst>
                <a:tab pos="156210" algn="l"/>
              </a:tabLst>
            </a:pPr>
            <a:r>
              <a:rPr dirty="0" sz="1200">
                <a:latin typeface="Times New Roman"/>
                <a:cs typeface="Times New Roman"/>
              </a:rPr>
              <a:t>describe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suggest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confirm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announce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635" indent="-115570">
              <a:lnSpc>
                <a:spcPts val="1410"/>
              </a:lnSpc>
              <a:buSzPct val="91666"/>
              <a:buAutoNum type="arabicPeriod" startAt="3"/>
              <a:tabLst>
                <a:tab pos="128270" algn="l"/>
              </a:tabLst>
            </a:pPr>
            <a:r>
              <a:rPr dirty="0" sz="1200" spc="-5">
                <a:latin typeface="Times New Roman"/>
                <a:cs typeface="Times New Roman"/>
              </a:rPr>
              <a:t>Rafia</a:t>
            </a:r>
            <a:r>
              <a:rPr dirty="0" sz="1200" spc="-5" b="1">
                <a:latin typeface="Times New Roman"/>
                <a:cs typeface="Times New Roman"/>
              </a:rPr>
              <a:t>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I’ve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won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scholarship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study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abroad.</a:t>
            </a:r>
            <a:endParaRPr sz="1200">
              <a:latin typeface="Times New Roman"/>
              <a:cs typeface="Times New Roman"/>
            </a:endParaRPr>
          </a:p>
          <a:p>
            <a:pPr lvl="1" marL="155575" indent="-143510">
              <a:lnSpc>
                <a:spcPts val="1380"/>
              </a:lnSpc>
              <a:buAutoNum type="alphaLcPeriod"/>
              <a:tabLst>
                <a:tab pos="156210" algn="l"/>
              </a:tabLst>
            </a:pPr>
            <a:r>
              <a:rPr dirty="0" sz="1200" spc="-5">
                <a:latin typeface="Times New Roman"/>
                <a:cs typeface="Times New Roman"/>
              </a:rPr>
              <a:t>request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accept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tell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41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claim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203200" indent="-191135">
              <a:lnSpc>
                <a:spcPts val="1410"/>
              </a:lnSpc>
              <a:buAutoNum type="arabicPeriod" startAt="4"/>
              <a:tabLst>
                <a:tab pos="203835" algn="l"/>
              </a:tabLst>
            </a:pPr>
            <a:r>
              <a:rPr dirty="0" sz="1200">
                <a:latin typeface="Times New Roman"/>
                <a:cs typeface="Times New Roman"/>
              </a:rPr>
              <a:t>Mother: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Oh,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that’s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wonderful.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I’m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so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glad.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interest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praise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preference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41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happiness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5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Manager: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Where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should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set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up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new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mill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?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showing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anxiety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explaining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asking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announcing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289</a:t>
            </a:fld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3841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203200" indent="-190500">
              <a:lnSpc>
                <a:spcPts val="1410"/>
              </a:lnSpc>
              <a:spcBef>
                <a:spcPts val="1070"/>
              </a:spcBef>
              <a:buAutoNum type="arabicPeriod" startAt="6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Supervisor</a:t>
            </a:r>
            <a:r>
              <a:rPr dirty="0" sz="1200" b="1">
                <a:latin typeface="Times New Roman"/>
                <a:cs typeface="Times New Roman"/>
              </a:rPr>
              <a:t>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would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say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across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river.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suggesting</a:t>
            </a:r>
            <a:endParaRPr sz="1200">
              <a:latin typeface="Times New Roman"/>
              <a:cs typeface="Times New Roman"/>
            </a:endParaRPr>
          </a:p>
          <a:p>
            <a:pPr lvl="1" marL="165100" indent="-153035">
              <a:lnSpc>
                <a:spcPts val="1380"/>
              </a:lnSpc>
              <a:buAutoNum type="alphaLcPeriod"/>
              <a:tabLst>
                <a:tab pos="165735" algn="l"/>
              </a:tabLst>
            </a:pPr>
            <a:r>
              <a:rPr dirty="0" sz="1200">
                <a:latin typeface="Times New Roman"/>
                <a:cs typeface="Times New Roman"/>
              </a:rPr>
              <a:t>uncertainty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explaining</a:t>
            </a:r>
            <a:endParaRPr sz="1200">
              <a:latin typeface="Times New Roman"/>
              <a:cs typeface="Times New Roman"/>
            </a:endParaRPr>
          </a:p>
          <a:p>
            <a:pPr lvl="1" marL="165100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>
                <a:latin typeface="Times New Roman"/>
                <a:cs typeface="Times New Roman"/>
              </a:rPr>
              <a:t>announcing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65100" indent="-153035">
              <a:lnSpc>
                <a:spcPts val="1410"/>
              </a:lnSpc>
              <a:buAutoNum type="arabicPeriod" startAt="7"/>
              <a:tabLst>
                <a:tab pos="165735" algn="l"/>
              </a:tabLst>
            </a:pPr>
            <a:r>
              <a:rPr dirty="0" sz="1200" spc="-5">
                <a:latin typeface="Times New Roman"/>
                <a:cs typeface="Times New Roman"/>
              </a:rPr>
              <a:t>Manager</a:t>
            </a:r>
            <a:r>
              <a:rPr dirty="0" sz="1200" spc="-5" b="1">
                <a:latin typeface="Times New Roman"/>
                <a:cs typeface="Times New Roman"/>
              </a:rPr>
              <a:t>: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Are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you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sure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it would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be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the right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place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?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 spc="-5">
                <a:latin typeface="Times New Roman"/>
                <a:cs typeface="Times New Roman"/>
              </a:rPr>
              <a:t>suggesting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38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doubting</a:t>
            </a:r>
            <a:endParaRPr sz="1200">
              <a:latin typeface="Times New Roman"/>
              <a:cs typeface="Times New Roman"/>
            </a:endParaRPr>
          </a:p>
          <a:p>
            <a:pPr lvl="1" marL="156210" indent="-144145">
              <a:lnSpc>
                <a:spcPts val="1380"/>
              </a:lnSpc>
              <a:buAutoNum type="alphaLcPeriod"/>
              <a:tabLst>
                <a:tab pos="156845" algn="l"/>
              </a:tabLst>
            </a:pPr>
            <a:r>
              <a:rPr dirty="0" sz="1200">
                <a:latin typeface="Times New Roman"/>
                <a:cs typeface="Times New Roman"/>
              </a:rPr>
              <a:t>explaining</a:t>
            </a:r>
            <a:endParaRPr sz="1200">
              <a:latin typeface="Times New Roman"/>
              <a:cs typeface="Times New Roman"/>
            </a:endParaRPr>
          </a:p>
          <a:p>
            <a:pPr lvl="1" marL="164465" indent="-152400">
              <a:lnSpc>
                <a:spcPts val="1410"/>
              </a:lnSpc>
              <a:buAutoNum type="alphaLcPeriod"/>
              <a:tabLst>
                <a:tab pos="165100" algn="l"/>
              </a:tabLst>
            </a:pPr>
            <a:r>
              <a:rPr dirty="0" sz="1200" spc="-5">
                <a:latin typeface="Times New Roman"/>
                <a:cs typeface="Times New Roman"/>
              </a:rPr>
              <a:t>questioning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0"/>
              </a:spcBef>
              <a:buFont typeface="Times New Roman"/>
              <a:buAutoNum type="alphaLcPeriod"/>
            </a:pPr>
            <a:endParaRPr sz="1150">
              <a:latin typeface="Times New Roman"/>
              <a:cs typeface="Times New Roman"/>
            </a:endParaRPr>
          </a:p>
          <a:p>
            <a:pPr lvl="2" marL="469900" indent="-228600">
              <a:lnSpc>
                <a:spcPct val="100000"/>
              </a:lnSpc>
              <a:buAutoNum type="romanUcPeriod"/>
              <a:tabLst>
                <a:tab pos="469265" algn="l"/>
                <a:tab pos="469900" algn="l"/>
              </a:tabLst>
            </a:pPr>
            <a:r>
              <a:rPr dirty="0" u="heavy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Response Identification: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71780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responses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choose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appropriate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matches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given.</a:t>
            </a:r>
            <a:endParaRPr sz="1200">
              <a:latin typeface="Times New Roman"/>
              <a:cs typeface="Times New Roman"/>
            </a:endParaRPr>
          </a:p>
          <a:p>
            <a:pPr marL="12700" marR="272415">
              <a:lnSpc>
                <a:spcPts val="1380"/>
              </a:lnSpc>
              <a:tabLst>
                <a:tab pos="790575" algn="l"/>
              </a:tabLst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254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Zohra:	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wanted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telephone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girls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hostel.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Well,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I’ve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managed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345"/>
              </a:lnSpc>
            </a:pPr>
            <a:r>
              <a:rPr dirty="0" sz="1200" spc="-5" b="1">
                <a:latin typeface="Times New Roman"/>
                <a:cs typeface="Times New Roman"/>
              </a:rPr>
              <a:t>Jabeen: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show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gratitude)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6000" y="4243832"/>
            <a:ext cx="13970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289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473162" y="4243832"/>
            <a:ext cx="146367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I’ve already got it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That’s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kind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Tell </a:t>
            </a:r>
            <a:r>
              <a:rPr dirty="0" sz="1200" spc="-5">
                <a:latin typeface="Times New Roman"/>
                <a:cs typeface="Times New Roman"/>
              </a:rPr>
              <a:t>me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number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Yes, </a:t>
            </a:r>
            <a:r>
              <a:rPr dirty="0" sz="1200">
                <a:latin typeface="Times New Roman"/>
                <a:cs typeface="Times New Roman"/>
              </a:rPr>
              <a:t>good.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5120132"/>
            <a:ext cx="3830954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Saira: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leaving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college.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job.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Bina:</a:t>
            </a:r>
            <a:r>
              <a:rPr dirty="0" sz="1200" spc="254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discourage)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5470652"/>
            <a:ext cx="13970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108" y="5470652"/>
            <a:ext cx="157099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That’s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foolish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5821171"/>
            <a:ext cx="431736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paid?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wouldn’t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Mina: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return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money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you?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ts val="1410"/>
              </a:lnSpc>
              <a:tabLst>
                <a:tab pos="6889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Sana: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express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regrets)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6697470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3108" y="6697470"/>
            <a:ext cx="237934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week.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money?</a:t>
            </a:r>
            <a:endParaRPr sz="1200">
              <a:latin typeface="Times New Roman"/>
              <a:cs typeface="Times New Roman"/>
            </a:endParaRPr>
          </a:p>
          <a:p>
            <a:pPr marL="12700" marR="14986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forgot.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7573770"/>
            <a:ext cx="5626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3502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4.</a:t>
            </a:r>
            <a:r>
              <a:rPr dirty="0" sz="1200" spc="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Wendy:	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think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able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money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month?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07717" y="7749030"/>
            <a:ext cx="7740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200" spc="-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promise)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73223" y="7924290"/>
            <a:ext cx="187515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Depends when </a:t>
            </a:r>
            <a:r>
              <a:rPr dirty="0" sz="1200">
                <a:latin typeface="Times New Roman"/>
                <a:cs typeface="Times New Roman"/>
              </a:rPr>
              <a:t>I get </a:t>
            </a:r>
            <a:r>
              <a:rPr dirty="0" sz="1200" spc="-10">
                <a:latin typeface="Times New Roman"/>
                <a:cs typeface="Times New Roman"/>
              </a:rPr>
              <a:t>my </a:t>
            </a:r>
            <a:r>
              <a:rPr dirty="0" sz="1200">
                <a:latin typeface="Times New Roman"/>
                <a:cs typeface="Times New Roman"/>
              </a:rPr>
              <a:t>salary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Give </a:t>
            </a:r>
            <a:r>
              <a:rPr dirty="0" sz="1200" spc="-10">
                <a:latin typeface="Times New Roman"/>
                <a:cs typeface="Times New Roman"/>
              </a:rPr>
              <a:t>me</a:t>
            </a:r>
            <a:r>
              <a:rPr dirty="0" sz="1200" spc="-5">
                <a:latin typeface="Times New Roman"/>
                <a:cs typeface="Times New Roman"/>
              </a:rPr>
              <a:t> some more</a:t>
            </a:r>
            <a:r>
              <a:rPr dirty="0" sz="1200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7749030"/>
            <a:ext cx="474345" cy="909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Cindy: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73192" y="8274810"/>
            <a:ext cx="18542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 indent="-63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Sure,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back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broke.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6000" y="8800590"/>
            <a:ext cx="562673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Manager:</a:t>
            </a:r>
            <a:r>
              <a:rPr dirty="0" sz="1200" spc="14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You’ll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harder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stay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company.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168400" y="913892"/>
            <a:ext cx="2236470" cy="90931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16865" marR="5080" indent="-304800">
              <a:lnSpc>
                <a:spcPts val="1380"/>
              </a:lnSpc>
              <a:spcBef>
                <a:spcPts val="195"/>
              </a:spcBef>
            </a:pPr>
            <a:r>
              <a:rPr dirty="0" sz="1200" b="1">
                <a:latin typeface="Times New Roman"/>
                <a:cs typeface="Times New Roman"/>
              </a:rPr>
              <a:t>Employee: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express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</a:t>
            </a:r>
            <a:r>
              <a:rPr dirty="0" u="sng" sz="12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intention)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that?</a:t>
            </a:r>
            <a:endParaRPr sz="1200">
              <a:latin typeface="Times New Roman"/>
              <a:cs typeface="Times New Roman"/>
            </a:endParaRPr>
          </a:p>
          <a:p>
            <a:pPr marL="3175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You’re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biased.</a:t>
            </a:r>
            <a:endParaRPr sz="1200">
              <a:latin typeface="Times New Roman"/>
              <a:cs typeface="Times New Roman"/>
            </a:endParaRPr>
          </a:p>
          <a:p>
            <a:pPr marL="317500" marR="441959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harder.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 my </a:t>
            </a:r>
            <a:r>
              <a:rPr dirty="0" sz="1200">
                <a:latin typeface="Times New Roman"/>
                <a:cs typeface="Times New Roman"/>
              </a:rPr>
              <a:t>best.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292</a:t>
            </a:fld>
          </a:p>
        </p:txBody>
      </p:sp>
      <p:sp>
        <p:nvSpPr>
          <p:cNvPr id="5" name="object 5"/>
          <p:cNvSpPr txBox="1"/>
          <p:nvPr/>
        </p:nvSpPr>
        <p:spPr>
          <a:xfrm>
            <a:off x="1016000" y="1089152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6000" y="1965452"/>
            <a:ext cx="495046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6.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Andy: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vacancy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my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factory.</a:t>
            </a:r>
            <a:r>
              <a:rPr dirty="0" sz="1200" spc="-5">
                <a:latin typeface="Times New Roman"/>
                <a:cs typeface="Times New Roman"/>
              </a:rPr>
              <a:t> Would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here?</a:t>
            </a:r>
            <a:endParaRPr sz="1200">
              <a:latin typeface="Times New Roman"/>
              <a:cs typeface="Times New Roman"/>
            </a:endParaRPr>
          </a:p>
          <a:p>
            <a:pPr marL="202565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Brenda: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show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interest)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6000" y="2315971"/>
            <a:ext cx="13970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3070" y="2315971"/>
            <a:ext cx="233616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710565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settled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I’ll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arrange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interview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package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offered?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6000" y="3542791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6000" y="3192271"/>
            <a:ext cx="4812665" cy="1084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  <a:tabLst>
                <a:tab pos="279400" algn="l"/>
              </a:tabLst>
            </a:pPr>
            <a:r>
              <a:rPr dirty="0" sz="1200" b="1">
                <a:latin typeface="Times New Roman"/>
                <a:cs typeface="Times New Roman"/>
              </a:rPr>
              <a:t>7.	</a:t>
            </a:r>
            <a:r>
              <a:rPr dirty="0" sz="1200" spc="-5" b="1">
                <a:latin typeface="Times New Roman"/>
                <a:cs typeface="Times New Roman"/>
              </a:rPr>
              <a:t>Aziz: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heard Abida</a:t>
            </a:r>
            <a:r>
              <a:rPr dirty="0" sz="1200" spc="-5">
                <a:latin typeface="Times New Roman"/>
                <a:cs typeface="Times New Roman"/>
              </a:rPr>
              <a:t> is returning from </a:t>
            </a:r>
            <a:r>
              <a:rPr dirty="0" sz="1200">
                <a:latin typeface="Times New Roman"/>
                <a:cs typeface="Times New Roman"/>
              </a:rPr>
              <a:t>London </a:t>
            </a:r>
            <a:r>
              <a:rPr dirty="0" sz="1200" spc="-5">
                <a:latin typeface="Times New Roman"/>
                <a:cs typeface="Times New Roman"/>
              </a:rPr>
              <a:t>tomorrow </a:t>
            </a:r>
            <a:r>
              <a:rPr dirty="0" sz="1200">
                <a:latin typeface="Times New Roman"/>
                <a:cs typeface="Times New Roman"/>
              </a:rPr>
              <a:t>morning.</a:t>
            </a:r>
            <a:endParaRPr sz="1200">
              <a:latin typeface="Times New Roman"/>
              <a:cs typeface="Times New Roman"/>
            </a:endParaRPr>
          </a:p>
          <a:p>
            <a:pPr marL="278765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Bina: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express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surprise)</a:t>
            </a:r>
            <a:endParaRPr sz="1200">
              <a:latin typeface="Times New Roman"/>
              <a:cs typeface="Times New Roman"/>
            </a:endParaRPr>
          </a:p>
          <a:p>
            <a:pPr marL="469900" marR="1858010" indent="-635">
              <a:lnSpc>
                <a:spcPts val="1380"/>
              </a:lnSpc>
              <a:spcBef>
                <a:spcPts val="65"/>
              </a:spcBef>
            </a:pPr>
            <a:r>
              <a:rPr dirty="0" sz="1200" spc="-5">
                <a:latin typeface="Times New Roman"/>
                <a:cs typeface="Times New Roman"/>
              </a:rPr>
              <a:t>Yes,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right.</a:t>
            </a:r>
            <a:r>
              <a:rPr dirty="0" sz="1200" spc="-5">
                <a:latin typeface="Times New Roman"/>
                <a:cs typeface="Times New Roman"/>
              </a:rPr>
              <a:t> She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did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>
                <a:latin typeface="Times New Roman"/>
                <a:cs typeface="Times New Roman"/>
              </a:rPr>
              <a:t>?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tomorrow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after.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No.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believe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!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Tomorrow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6000" y="4419091"/>
            <a:ext cx="520446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8.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Mechanic: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 car.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doesn’t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repairs.</a:t>
            </a:r>
            <a:endParaRPr sz="1200">
              <a:latin typeface="Times New Roman"/>
              <a:cs typeface="Times New Roman"/>
            </a:endParaRPr>
          </a:p>
          <a:p>
            <a:pPr marL="203200">
              <a:lnSpc>
                <a:spcPts val="1410"/>
              </a:lnSpc>
            </a:pPr>
            <a:r>
              <a:rPr dirty="0" sz="1200" spc="-5" b="1">
                <a:latin typeface="Times New Roman"/>
                <a:cs typeface="Times New Roman"/>
              </a:rPr>
              <a:t>Car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owner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express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relief)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6000" y="4769611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73070" y="4769611"/>
            <a:ext cx="1236345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21334" indent="-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You </a:t>
            </a:r>
            <a:r>
              <a:rPr dirty="0" sz="1200">
                <a:latin typeface="Times New Roman"/>
                <a:cs typeface="Times New Roman"/>
              </a:rPr>
              <a:t>sure?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Thank you.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Thank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6000" y="6171691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000" y="5645911"/>
            <a:ext cx="3195320" cy="1259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Saad: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I’m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can’t</a:t>
            </a:r>
            <a:r>
              <a:rPr dirty="0" sz="1200" spc="-5">
                <a:latin typeface="Times New Roman"/>
                <a:cs typeface="Times New Roman"/>
              </a:rPr>
              <a:t> accompany </a:t>
            </a:r>
            <a:r>
              <a:rPr dirty="0" sz="1200">
                <a:latin typeface="Times New Roman"/>
                <a:cs typeface="Times New Roman"/>
              </a:rPr>
              <a:t>you.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Fahd: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Why?</a:t>
            </a:r>
            <a:endParaRPr sz="1200">
              <a:latin typeface="Times New Roman"/>
              <a:cs typeface="Times New Roman"/>
            </a:endParaRPr>
          </a:p>
          <a:p>
            <a:pPr marL="241300">
              <a:lnSpc>
                <a:spcPts val="1380"/>
              </a:lnSpc>
            </a:pPr>
            <a:r>
              <a:rPr dirty="0" sz="1200" spc="-5" b="1">
                <a:latin typeface="Times New Roman"/>
                <a:cs typeface="Times New Roman"/>
              </a:rPr>
              <a:t>Saad: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(to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give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reason)</a:t>
            </a:r>
            <a:endParaRPr sz="1200">
              <a:latin typeface="Times New Roman"/>
              <a:cs typeface="Times New Roman"/>
            </a:endParaRPr>
          </a:p>
          <a:p>
            <a:pPr marL="469900" marR="5080" indent="-63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Why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to.</a:t>
            </a:r>
            <a:endParaRPr sz="1200">
              <a:latin typeface="Times New Roman"/>
              <a:cs typeface="Times New Roman"/>
            </a:endParaRPr>
          </a:p>
          <a:p>
            <a:pPr marL="469265" marR="123253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My mother’s </a:t>
            </a:r>
            <a:r>
              <a:rPr dirty="0" sz="1200">
                <a:latin typeface="Times New Roman"/>
                <a:cs typeface="Times New Roman"/>
              </a:rPr>
              <a:t>not well. 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It’s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lately.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16000" y="7047992"/>
            <a:ext cx="3792854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10.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Statement: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Illiteracy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serious problem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 country.</a:t>
            </a:r>
            <a:endParaRPr sz="1200">
              <a:latin typeface="Times New Roman"/>
              <a:cs typeface="Times New Roman"/>
            </a:endParaRPr>
          </a:p>
          <a:p>
            <a:pPr marL="1155065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someone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agrees).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6000" y="7398511"/>
            <a:ext cx="14033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b.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 spc="-5">
                <a:latin typeface="Times New Roman"/>
                <a:cs typeface="Times New Roman"/>
              </a:rPr>
              <a:t>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473101" y="7398511"/>
            <a:ext cx="1967230" cy="7340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325120" indent="-635">
              <a:lnSpc>
                <a:spcPts val="1380"/>
              </a:lnSpc>
              <a:spcBef>
                <a:spcPts val="195"/>
              </a:spcBef>
            </a:pP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understand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opinion?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ts val="1380"/>
              </a:lnSpc>
            </a:pPr>
            <a:r>
              <a:rPr dirty="0" sz="1200" spc="-5">
                <a:latin typeface="Times New Roman"/>
                <a:cs typeface="Times New Roman"/>
              </a:rPr>
              <a:t>Have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told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before?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Wouldn’t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16000" y="8276335"/>
            <a:ext cx="5628005" cy="90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ts val="1405"/>
              </a:lnSpc>
              <a:spcBef>
                <a:spcPts val="100"/>
              </a:spcBef>
            </a:pPr>
            <a:r>
              <a:rPr dirty="0" sz="1200" spc="-5" b="1">
                <a:latin typeface="Times New Roman"/>
                <a:cs typeface="Times New Roman"/>
              </a:rPr>
              <a:t>Recap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and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Final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Exam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38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Final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covered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lessons.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surprises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 depend on your common sense and any background knowledge you have of </a:t>
            </a:r>
            <a:r>
              <a:rPr dirty="0" sz="1200" spc="-10">
                <a:latin typeface="Times New Roman"/>
                <a:cs typeface="Times New Roman"/>
              </a:rPr>
              <a:t>English. </a:t>
            </a:r>
            <a:r>
              <a:rPr dirty="0" sz="1200" spc="-5">
                <a:latin typeface="Times New Roman"/>
                <a:cs typeface="Times New Roman"/>
              </a:rPr>
              <a:t> Please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lessons</a:t>
            </a:r>
            <a:r>
              <a:rPr dirty="0" sz="1200">
                <a:latin typeface="Times New Roman"/>
                <a:cs typeface="Times New Roman"/>
              </a:rPr>
              <a:t>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focus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ts val="1345"/>
              </a:lnSpc>
            </a:pPr>
            <a:r>
              <a:rPr dirty="0" sz="1200">
                <a:latin typeface="Times New Roman"/>
                <a:cs typeface="Times New Roman"/>
              </a:rPr>
              <a:t>Reading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Comprehension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000" y="435356"/>
            <a:ext cx="5892800" cy="1563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9465" algn="l"/>
              </a:tabLst>
            </a:pPr>
            <a:r>
              <a:rPr dirty="0" u="sng" sz="1100" spc="-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VU	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  <a:spcBef>
                <a:spcPts val="1070"/>
              </a:spcBef>
            </a:pPr>
            <a:r>
              <a:rPr dirty="0" sz="1200">
                <a:latin typeface="Times New Roman"/>
                <a:cs typeface="Times New Roman"/>
              </a:rPr>
              <a:t>Vocabulary</a:t>
            </a:r>
            <a:endParaRPr sz="1200">
              <a:latin typeface="Times New Roman"/>
              <a:cs typeface="Times New Roman"/>
            </a:endParaRPr>
          </a:p>
          <a:p>
            <a:pPr marL="12700" marR="3857625">
              <a:lnSpc>
                <a:spcPts val="1380"/>
              </a:lnSpc>
              <a:spcBef>
                <a:spcPts val="70"/>
              </a:spcBef>
            </a:pP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Supporting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Sentences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Paragraphs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Different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Organization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Patterns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Essays</a:t>
            </a:r>
            <a:endParaRPr sz="1200">
              <a:latin typeface="Times New Roman"/>
              <a:cs typeface="Times New Roman"/>
            </a:endParaRPr>
          </a:p>
          <a:p>
            <a:pPr marL="12700" marR="1945005">
              <a:lnSpc>
                <a:spcPts val="138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 functions of Introduction, </a:t>
            </a:r>
            <a:r>
              <a:rPr dirty="0" sz="1200" spc="-5">
                <a:latin typeface="Times New Roman"/>
                <a:cs typeface="Times New Roman"/>
              </a:rPr>
              <a:t>Body </a:t>
            </a:r>
            <a:r>
              <a:rPr dirty="0" sz="1200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Times New Roman"/>
                <a:cs typeface="Times New Roman"/>
              </a:rPr>
              <a:t>Conclusion </a:t>
            </a:r>
            <a:r>
              <a:rPr dirty="0" sz="1200">
                <a:latin typeface="Times New Roman"/>
                <a:cs typeface="Times New Roman"/>
              </a:rPr>
              <a:t>in an </a:t>
            </a:r>
            <a:r>
              <a:rPr dirty="0" sz="1200" spc="-5">
                <a:latin typeface="Times New Roman"/>
                <a:cs typeface="Times New Roman"/>
              </a:rPr>
              <a:t>Essay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Continuity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Transition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Devices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28700" y="9262871"/>
            <a:ext cx="5867400" cy="0"/>
          </a:xfrm>
          <a:custGeom>
            <a:avLst/>
            <a:gdLst/>
            <a:ahLst/>
            <a:cxnLst/>
            <a:rect l="l" t="t" r="r" b="b"/>
            <a:pathLst>
              <a:path w="5867400" h="0">
                <a:moveTo>
                  <a:pt x="0" y="0"/>
                </a:moveTo>
                <a:lnTo>
                  <a:pt x="5867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65"/>
              </a:lnSpc>
            </a:pPr>
            <a:r>
              <a:rPr dirty="0" spc="-5"/>
              <a:t>© </a:t>
            </a:r>
            <a:r>
              <a:rPr dirty="0" spc="-25"/>
              <a:t>Copyright</a:t>
            </a:r>
            <a:r>
              <a:rPr dirty="0" spc="5"/>
              <a:t> </a:t>
            </a:r>
            <a:r>
              <a:rPr dirty="0" spc="-30"/>
              <a:t>Virtual</a:t>
            </a:r>
            <a:r>
              <a:rPr dirty="0"/>
              <a:t> </a:t>
            </a:r>
            <a:r>
              <a:rPr dirty="0" spc="-35"/>
              <a:t>University</a:t>
            </a:r>
            <a:r>
              <a:rPr dirty="0"/>
              <a:t> </a:t>
            </a:r>
            <a:r>
              <a:rPr dirty="0" spc="-5"/>
              <a:t>of</a:t>
            </a:r>
            <a:r>
              <a:rPr dirty="0"/>
              <a:t> </a:t>
            </a:r>
            <a:r>
              <a:rPr dirty="0" spc="-25"/>
              <a:t>Pakistan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t>292</a:t>
            </a:fld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2021-04-21T09:50:02Z</dcterms:created>
  <dcterms:modified xsi:type="dcterms:W3CDTF">2021-04-21T09:50:02Z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2014-10-20T00:00:00Z</vt:filetime>
  </property>
  <property fmtid="{D5CDD505-2E9C-101B-9397-08002B2CF9AE}" pid="3" name="Creator">
    <vt:lpwstr>PScript5.dll Version 5.2.2</vt:lpwstr>
  </property>
  <property fmtid="{D5CDD505-2E9C-101B-9397-08002B2CF9AE}" pid="4" name="LastSaved">
    <vt:filetime>2021-04-21T00:00:00Z</vt:filetime>
  </property>
</Properties>
</file>