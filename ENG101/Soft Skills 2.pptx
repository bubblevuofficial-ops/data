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8" r:id="rId6"/>
    <p:sldId id="281" r:id="rId7"/>
    <p:sldId id="260" r:id="rId8"/>
    <p:sldId id="261" r:id="rId9"/>
    <p:sldId id="282" r:id="rId10"/>
    <p:sldId id="273" r:id="rId11"/>
    <p:sldId id="271" r:id="rId12"/>
    <p:sldId id="262" r:id="rId13"/>
    <p:sldId id="270" r:id="rId14"/>
    <p:sldId id="277" r:id="rId15"/>
    <p:sldId id="278" r:id="rId16"/>
    <p:sldId id="279" r:id="rId17"/>
    <p:sldId id="269" r:id="rId18"/>
    <p:sldId id="274" r:id="rId19"/>
    <p:sldId id="275" r:id="rId20"/>
    <p:sldId id="280" r:id="rId21"/>
    <p:sldId id="276" r:id="rId22"/>
    <p:sldId id="266" r:id="rId23"/>
    <p:sldId id="267" r:id="rId24"/>
    <p:sldId id="284" r:id="rId25"/>
    <p:sldId id="283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4017C1-F59B-4237-A360-48F566CE392F}" type="datetimeFigureOut">
              <a:rPr lang="en-US" smtClean="0"/>
              <a:pPr/>
              <a:t>5/2/2016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4C2F3-C798-498F-B2FF-B75BE618EC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02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Quotient means a degree or amount of a specified quality or characteristic.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Emotional intelligence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(EI) or 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emotional quotient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(EQ) is the capacity of individuals to recognize their own, and other people's 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emotions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to discriminate between different feelings and label them appropriately, and to use 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emotional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information to guide thinking and behavior.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64C2F3-C798-498F-B2FF-B75BE618ECD5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Assertive …. Acting confidently… decisive … determined. Able to make decisions</a:t>
            </a:r>
            <a:r>
              <a:rPr lang="en-US" baseline="0" dirty="0" smtClean="0"/>
              <a:t> quickly and firmly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64C2F3-C798-498F-B2FF-B75BE618ECD5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Obstinately</a:t>
            </a:r>
            <a:r>
              <a:rPr lang="en-US" baseline="0" dirty="0" smtClean="0"/>
              <a:t> continuing despite problems….. Constantly working or struggling despite difficulties.. You don’t give up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64C2F3-C798-498F-B2FF-B75BE618ECD5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open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64C2F3-C798-498F-B2FF-B75BE618ECD5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</a:t>
            </a:r>
            <a:r>
              <a:rPr lang="en-US" baseline="0" dirty="0" smtClean="0"/>
              <a:t> can tell </a:t>
            </a:r>
            <a:r>
              <a:rPr lang="en-US" baseline="0" dirty="0" err="1" smtClean="0"/>
              <a:t>abt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ur</a:t>
            </a:r>
            <a:r>
              <a:rPr lang="en-US" baseline="0" dirty="0" smtClean="0"/>
              <a:t> exp of group work… how did u coordinate with other members? Was there some clash? How did u solve it?</a:t>
            </a:r>
            <a:endParaRPr lang="en-US" dirty="0" smtClean="0"/>
          </a:p>
          <a:p>
            <a:r>
              <a:rPr lang="en-US" dirty="0" smtClean="0"/>
              <a:t>https://www.themuse.com/advice/how-to-test-for-soft-skills-in-an-interview .. For example u had to ask for help from</a:t>
            </a:r>
            <a:r>
              <a:rPr lang="en-US" baseline="0" dirty="0" smtClean="0"/>
              <a:t> a senior student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64C2F3-C798-498F-B2FF-B75BE618ECD5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Explain one by one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64C2F3-C798-498F-B2FF-B75BE618ECD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37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6075-E140-415B-9D7E-E5E8C2D4B98F}" type="datetimeFigureOut">
              <a:rPr lang="en-US" smtClean="0"/>
              <a:pPr/>
              <a:t>5/2/2016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1618E45-7668-4B2E-81E5-7968525F61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6075-E140-415B-9D7E-E5E8C2D4B98F}" type="datetimeFigureOut">
              <a:rPr lang="en-US" smtClean="0"/>
              <a:pPr/>
              <a:t>5/2/2016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61618E45-7668-4B2E-81E5-7968525F61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6075-E140-415B-9D7E-E5E8C2D4B98F}" type="datetimeFigureOut">
              <a:rPr lang="en-US" smtClean="0"/>
              <a:pPr/>
              <a:t>5/2/2016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1618E45-7668-4B2E-81E5-7968525F61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CFB26075-E140-415B-9D7E-E5E8C2D4B98F}" type="datetimeFigureOut">
              <a:rPr lang="en-US" smtClean="0"/>
              <a:pPr/>
              <a:t>5/2/2016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8E45-7668-4B2E-81E5-7968525F61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6075-E140-415B-9D7E-E5E8C2D4B98F}" type="datetimeFigureOut">
              <a:rPr lang="en-US" smtClean="0"/>
              <a:pPr/>
              <a:t>5/2/2016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61618E45-7668-4B2E-81E5-7968525F61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6075-E140-415B-9D7E-E5E8C2D4B98F}" type="datetimeFigureOut">
              <a:rPr lang="en-US" smtClean="0"/>
              <a:pPr/>
              <a:t>5/2/2016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61618E45-7668-4B2E-81E5-7968525F61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6075-E140-415B-9D7E-E5E8C2D4B98F}" type="datetimeFigureOut">
              <a:rPr lang="en-US" smtClean="0"/>
              <a:pPr/>
              <a:t>5/2/2016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1618E45-7668-4B2E-81E5-7968525F61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1618E45-7668-4B2E-81E5-7968525F61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6075-E140-415B-9D7E-E5E8C2D4B98F}" type="datetimeFigureOut">
              <a:rPr lang="en-US" smtClean="0"/>
              <a:pPr/>
              <a:t>5/2/2016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61618E45-7668-4B2E-81E5-7968525F61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CFB26075-E140-415B-9D7E-E5E8C2D4B98F}" type="datetimeFigureOut">
              <a:rPr lang="en-US" smtClean="0"/>
              <a:pPr/>
              <a:t>5/2/2016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6075-E140-415B-9D7E-E5E8C2D4B98F}" type="datetimeFigureOut">
              <a:rPr lang="en-US" smtClean="0"/>
              <a:pPr/>
              <a:t>5/2/2016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8E45-7668-4B2E-81E5-7968525F61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61618E45-7668-4B2E-81E5-7968525F61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6075-E140-415B-9D7E-E5E8C2D4B98F}" type="datetimeFigureOut">
              <a:rPr lang="en-US" smtClean="0"/>
              <a:pPr/>
              <a:t>5/2/2016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CFB26075-E140-415B-9D7E-E5E8C2D4B98F}" type="datetimeFigureOut">
              <a:rPr lang="en-US" smtClean="0"/>
              <a:pPr/>
              <a:t>5/2/2016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1618E45-7668-4B2E-81E5-7968525F61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2400" dirty="0" smtClean="0"/>
          </a:p>
          <a:p>
            <a:r>
              <a:rPr lang="en-US" sz="2400" dirty="0" err="1" smtClean="0"/>
              <a:t>Sumbal</a:t>
            </a:r>
            <a:r>
              <a:rPr lang="en-US" sz="2400" dirty="0" smtClean="0"/>
              <a:t> Butt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Soft Skills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19091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 Skills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Soft skills</a:t>
            </a:r>
            <a:r>
              <a:rPr lang="en-US" dirty="0"/>
              <a:t> is a term often associated with a person's "</a:t>
            </a:r>
            <a:r>
              <a:rPr lang="en-US" dirty="0" smtClean="0"/>
              <a:t>EI" </a:t>
            </a:r>
            <a:r>
              <a:rPr lang="en-US" dirty="0"/>
              <a:t>(Emotional </a:t>
            </a:r>
            <a:r>
              <a:rPr lang="en-US" dirty="0" smtClean="0"/>
              <a:t>Intelligence), </a:t>
            </a:r>
            <a:r>
              <a:rPr lang="en-US" dirty="0"/>
              <a:t>which is </a:t>
            </a:r>
            <a:r>
              <a:rPr lang="en-US" dirty="0" smtClean="0"/>
              <a:t>a </a:t>
            </a:r>
            <a:r>
              <a:rPr lang="en-US" b="1" dirty="0" smtClean="0"/>
              <a:t>collection of </a:t>
            </a:r>
            <a:r>
              <a:rPr lang="en-US" b="1" dirty="0"/>
              <a:t>personality traits</a:t>
            </a:r>
            <a:r>
              <a:rPr lang="en-US" dirty="0"/>
              <a:t> that characterize one's relationships with other people. </a:t>
            </a:r>
            <a:endParaRPr lang="en-US" dirty="0" smtClean="0"/>
          </a:p>
          <a:p>
            <a:pPr algn="just"/>
            <a:r>
              <a:rPr lang="en-US" dirty="0" smtClean="0"/>
              <a:t>These </a:t>
            </a:r>
            <a:r>
              <a:rPr lang="en-US" dirty="0"/>
              <a:t>skills can include </a:t>
            </a:r>
            <a:r>
              <a:rPr lang="en-US" dirty="0" smtClean="0"/>
              <a:t>communication skills, effective teamwork and collaboration, </a:t>
            </a:r>
            <a:r>
              <a:rPr lang="en-US" dirty="0"/>
              <a:t>personal habits</a:t>
            </a:r>
            <a:r>
              <a:rPr lang="en-US" dirty="0" smtClean="0"/>
              <a:t>, and </a:t>
            </a:r>
            <a:r>
              <a:rPr lang="en-US" dirty="0"/>
              <a:t>leadership </a:t>
            </a:r>
            <a:r>
              <a:rPr lang="en-US" dirty="0" smtClean="0"/>
              <a:t>traits, etc. </a:t>
            </a:r>
            <a:endParaRPr lang="en-US" dirty="0" smtClean="0"/>
          </a:p>
          <a:p>
            <a:pPr algn="just"/>
            <a:r>
              <a:rPr lang="en-US" dirty="0" smtClean="0"/>
              <a:t>Soft </a:t>
            </a:r>
            <a:r>
              <a:rPr lang="en-US" dirty="0"/>
              <a:t>skills contrast with hard skills, which are generally easily quantifiable and measurable (such as software knowledge or </a:t>
            </a:r>
            <a:r>
              <a:rPr lang="en-US" dirty="0" smtClean="0"/>
              <a:t>fluent English).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52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 Skills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You'll likely see these "soft skills" popping up in job descriptions, next to demands for technical qualifications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Employment </a:t>
            </a:r>
            <a:r>
              <a:rPr lang="en-US" dirty="0"/>
              <a:t>experts agree that </a:t>
            </a:r>
            <a:r>
              <a:rPr lang="en-US" dirty="0" smtClean="0"/>
              <a:t>technical </a:t>
            </a:r>
            <a:r>
              <a:rPr lang="en-US" dirty="0"/>
              <a:t>skills may get you an interview, but these soft skills will get you the job—and help you keep </a:t>
            </a:r>
            <a:r>
              <a:rPr lang="en-US" dirty="0" smtClean="0"/>
              <a:t>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13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Communication Skills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5240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This </a:t>
            </a:r>
            <a:r>
              <a:rPr lang="en-US" sz="2400" dirty="0"/>
              <a:t>doesn't mean you have to be a brilliant orator or writer.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does</a:t>
            </a:r>
            <a:r>
              <a:rPr lang="en-US" sz="2400" i="1" dirty="0"/>
              <a:t> </a:t>
            </a:r>
            <a:r>
              <a:rPr lang="en-US" sz="2400" dirty="0"/>
              <a:t>mean you have to express yourself well, whether it's </a:t>
            </a:r>
            <a:r>
              <a:rPr lang="en-US" sz="2400" dirty="0" smtClean="0"/>
              <a:t>speaking in a job interview or viva, </a:t>
            </a:r>
            <a:r>
              <a:rPr lang="en-US" sz="2400" dirty="0"/>
              <a:t>persuading others with a presentation </a:t>
            </a:r>
            <a:r>
              <a:rPr lang="en-US" sz="2400" dirty="0" smtClean="0"/>
              <a:t>at the office or </a:t>
            </a:r>
            <a:r>
              <a:rPr lang="en-US" sz="2400" dirty="0"/>
              <a:t>just being able to calmly explain to a team member what you need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24578" name="Picture 2" descr="http://www.training-institutes-in-hyderabad.com/wp-content/uploads/2015/08/communication-skills-Training-in-Hyderab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4191000"/>
            <a:ext cx="6667500" cy="2209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37977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85800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Teamwork and Collaboration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Employers want employees who play well with others—who can effectively work as part of a team.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An effective team member works well with others giving constructive feedback and extending cooperation to his team despite personal differences.</a:t>
            </a:r>
          </a:p>
        </p:txBody>
      </p:sp>
      <p:pic>
        <p:nvPicPr>
          <p:cNvPr id="23554" name="Picture 2" descr="http://www.socialmediaexaminer.com/wp-content/uploads/2015/06/ar-team-shutterstock-13637060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43400" y="4876800"/>
            <a:ext cx="4572000" cy="1524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Teamwork and Collaboration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He can perform these tasks.</a:t>
            </a:r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sz="2800" dirty="0" smtClean="0">
                <a:solidFill>
                  <a:schemeClr val="tx1"/>
                </a:solidFill>
              </a:rPr>
              <a:t>being a leader </a:t>
            </a:r>
          </a:p>
          <a:p>
            <a:pPr lvl="1"/>
            <a:r>
              <a:rPr lang="en-US" sz="2800" dirty="0" smtClean="0">
                <a:solidFill>
                  <a:schemeClr val="tx1"/>
                </a:solidFill>
              </a:rPr>
              <a:t>a good follower</a:t>
            </a:r>
          </a:p>
          <a:p>
            <a:pPr lvl="1"/>
            <a:r>
              <a:rPr lang="en-US" sz="2800" dirty="0" smtClean="0">
                <a:solidFill>
                  <a:schemeClr val="tx1"/>
                </a:solidFill>
              </a:rPr>
              <a:t>monitoring the progress</a:t>
            </a:r>
          </a:p>
          <a:p>
            <a:pPr lvl="1"/>
            <a:r>
              <a:rPr lang="en-US" sz="2800" dirty="0" smtClean="0">
                <a:solidFill>
                  <a:schemeClr val="tx1"/>
                </a:solidFill>
              </a:rPr>
              <a:t>meeting deadlines </a:t>
            </a:r>
          </a:p>
          <a:p>
            <a:pPr lvl="1"/>
            <a:r>
              <a:rPr lang="en-US" sz="2800" dirty="0" smtClean="0">
                <a:solidFill>
                  <a:schemeClr val="tx1"/>
                </a:solidFill>
              </a:rPr>
              <a:t>working with others across the organization to achieve a common goal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Adaptability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The ability to change yourself to fit new circumstances</a:t>
            </a:r>
          </a:p>
          <a:p>
            <a:r>
              <a:rPr lang="en-US" dirty="0" smtClean="0"/>
              <a:t>Adapt yourself to the changing circumstances especially when you get the first job.</a:t>
            </a:r>
          </a:p>
          <a:p>
            <a:r>
              <a:rPr lang="en-US" dirty="0" smtClean="0"/>
              <a:t>Be flexible</a:t>
            </a:r>
          </a:p>
          <a:p>
            <a:r>
              <a:rPr lang="en-US" dirty="0" smtClean="0"/>
              <a:t>This </a:t>
            </a:r>
            <a:r>
              <a:rPr lang="en-US" dirty="0"/>
              <a:t>is especially important </a:t>
            </a:r>
            <a:r>
              <a:rPr lang="en-US" dirty="0" smtClean="0"/>
              <a:t>for senior </a:t>
            </a:r>
            <a:r>
              <a:rPr lang="en-US" dirty="0"/>
              <a:t>professionals to demonstrate, to </a:t>
            </a:r>
            <a:r>
              <a:rPr lang="en-US" dirty="0" smtClean="0"/>
              <a:t>challenge </a:t>
            </a:r>
            <a:r>
              <a:rPr lang="en-US" dirty="0"/>
              <a:t>the (</a:t>
            </a:r>
            <a:r>
              <a:rPr lang="en-US" dirty="0" smtClean="0"/>
              <a:t>often invalid) </a:t>
            </a:r>
            <a:r>
              <a:rPr lang="en-US" dirty="0"/>
              <a:t>opinion that older workers are too set in their ways. </a:t>
            </a:r>
            <a:endParaRPr lang="en-US" dirty="0" smtClean="0"/>
          </a:p>
          <a:p>
            <a:r>
              <a:rPr lang="en-US" dirty="0" smtClean="0"/>
              <a:t>On </a:t>
            </a:r>
            <a:r>
              <a:rPr lang="en-US" dirty="0"/>
              <a:t>your resume, </a:t>
            </a:r>
            <a:r>
              <a:rPr lang="en-US" dirty="0" smtClean="0"/>
              <a:t>and </a:t>
            </a:r>
            <a:r>
              <a:rPr lang="en-US" dirty="0"/>
              <a:t>in your interview, explain the ways you've continued to learn and grow throughout your </a:t>
            </a:r>
            <a:r>
              <a:rPr lang="en-US" dirty="0" smtClean="0"/>
              <a:t>career.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023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Conflict Resolution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</a:t>
            </a:r>
            <a:r>
              <a:rPr lang="en-US" sz="2400" dirty="0"/>
              <a:t>ability to persuade, negotiate and resolve conflicts is crucial if you plan to move </a:t>
            </a:r>
            <a:r>
              <a:rPr lang="en-US" sz="2400" dirty="0" smtClean="0"/>
              <a:t>up. </a:t>
            </a:r>
          </a:p>
          <a:p>
            <a:r>
              <a:rPr lang="en-US" sz="2400" dirty="0"/>
              <a:t>Conflict is a normal part of any healthy relationship. After all, two people can’t be expected to agree on </a:t>
            </a:r>
            <a:r>
              <a:rPr lang="en-US" sz="2400" dirty="0" smtClean="0"/>
              <a:t>everything </a:t>
            </a:r>
            <a:r>
              <a:rPr lang="en-US" sz="2400" dirty="0"/>
              <a:t>all the time. </a:t>
            </a:r>
            <a:endParaRPr lang="en-US" sz="2400" dirty="0" smtClean="0"/>
          </a:p>
          <a:p>
            <a:r>
              <a:rPr lang="en-US" sz="2400" dirty="0" smtClean="0"/>
              <a:t>When </a:t>
            </a:r>
            <a:r>
              <a:rPr lang="en-US" sz="2400" dirty="0"/>
              <a:t>conflict is mismanaged, it can cause great harm to a relationship, but when handled in a respectful, positive way, conflict provides an opportunity to strengthen the bond between two people.</a:t>
            </a:r>
          </a:p>
        </p:txBody>
      </p:sp>
      <p:pic>
        <p:nvPicPr>
          <p:cNvPr id="21506" name="Picture 2" descr="http://corporatetrainingoz.thecreativecollective.com.au/services/84732826%20Conflict%20Resize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0" y="4876800"/>
            <a:ext cx="3200400" cy="1828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546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3010" name="Picture 2" descr="http://cdn.slidesharecdn.com/ss_thumbnails/leadership-qualities-130109002128-phpapp01-thumbnail-4.jpg?cb=138061338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/>
          </p:cNvSpPr>
          <p:nvPr>
            <p:ph sz="quarter" idx="1"/>
          </p:nvPr>
        </p:nvSpPr>
        <p:spPr>
          <a:xfrm>
            <a:off x="228600" y="1143000"/>
            <a:ext cx="4608512" cy="4797425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 typeface="Arial" charset="0"/>
              <a:buNone/>
            </a:pPr>
            <a:r>
              <a:rPr lang="en-GB" altLang="en-US" sz="2200" b="1" dirty="0" smtClean="0"/>
              <a:t> </a:t>
            </a:r>
            <a:endParaRPr lang="en-GB" altLang="en-US" sz="2200" dirty="0"/>
          </a:p>
          <a:p>
            <a:pPr>
              <a:lnSpc>
                <a:spcPct val="80000"/>
              </a:lnSpc>
            </a:pPr>
            <a:endParaRPr lang="en-GB" altLang="en-US" sz="2200" dirty="0" smtClean="0"/>
          </a:p>
          <a:p>
            <a:pPr>
              <a:lnSpc>
                <a:spcPct val="80000"/>
              </a:lnSpc>
            </a:pPr>
            <a:r>
              <a:rPr lang="en-GB" altLang="en-US" sz="2200" dirty="0" smtClean="0"/>
              <a:t>Adaptable </a:t>
            </a:r>
            <a:r>
              <a:rPr lang="en-GB" altLang="en-US" sz="2200" dirty="0"/>
              <a:t>to situations </a:t>
            </a:r>
          </a:p>
          <a:p>
            <a:pPr>
              <a:lnSpc>
                <a:spcPct val="80000"/>
              </a:lnSpc>
            </a:pPr>
            <a:r>
              <a:rPr lang="en-GB" altLang="en-US" sz="2200" dirty="0" smtClean="0"/>
              <a:t>Clever</a:t>
            </a:r>
            <a:endParaRPr lang="en-GB" altLang="en-US" sz="2200" dirty="0"/>
          </a:p>
          <a:p>
            <a:pPr>
              <a:lnSpc>
                <a:spcPct val="80000"/>
              </a:lnSpc>
            </a:pPr>
            <a:r>
              <a:rPr lang="en-GB" altLang="en-US" sz="2200" dirty="0" smtClean="0"/>
              <a:t>Ambitious</a:t>
            </a:r>
            <a:endParaRPr lang="en-GB" altLang="en-US" sz="2200" dirty="0"/>
          </a:p>
          <a:p>
            <a:pPr>
              <a:lnSpc>
                <a:spcPct val="80000"/>
              </a:lnSpc>
            </a:pPr>
            <a:r>
              <a:rPr lang="en-GB" altLang="en-US" sz="2200" dirty="0"/>
              <a:t>Cooperative </a:t>
            </a:r>
          </a:p>
          <a:p>
            <a:pPr>
              <a:lnSpc>
                <a:spcPct val="80000"/>
              </a:lnSpc>
            </a:pPr>
            <a:r>
              <a:rPr lang="en-GB" altLang="en-US" sz="2200" dirty="0"/>
              <a:t>Decisive </a:t>
            </a:r>
          </a:p>
          <a:p>
            <a:pPr>
              <a:lnSpc>
                <a:spcPct val="80000"/>
              </a:lnSpc>
            </a:pPr>
            <a:r>
              <a:rPr lang="en-GB" altLang="en-US" sz="2200" dirty="0"/>
              <a:t>Dependable </a:t>
            </a:r>
            <a:endParaRPr lang="en-GB" altLang="en-US" sz="2200" dirty="0" smtClean="0"/>
          </a:p>
          <a:p>
            <a:pPr>
              <a:lnSpc>
                <a:spcPct val="80000"/>
              </a:lnSpc>
            </a:pPr>
            <a:r>
              <a:rPr lang="en-GB" altLang="en-US" sz="2200" dirty="0" smtClean="0"/>
              <a:t>Tactful (concerned about offending others)</a:t>
            </a:r>
            <a:endParaRPr lang="en-GB" altLang="en-US" sz="2200" dirty="0"/>
          </a:p>
          <a:p>
            <a:pPr>
              <a:lnSpc>
                <a:spcPct val="80000"/>
              </a:lnSpc>
            </a:pPr>
            <a:r>
              <a:rPr lang="en-GB" altLang="en-US" sz="2200" dirty="0"/>
              <a:t>Dominant (desire to influence others) </a:t>
            </a:r>
          </a:p>
          <a:p>
            <a:pPr>
              <a:lnSpc>
                <a:spcPct val="80000"/>
              </a:lnSpc>
            </a:pPr>
            <a:r>
              <a:rPr lang="en-GB" altLang="en-US" sz="2200" dirty="0"/>
              <a:t>Energetic (high activity level) </a:t>
            </a:r>
          </a:p>
          <a:p>
            <a:pPr>
              <a:lnSpc>
                <a:spcPct val="80000"/>
              </a:lnSpc>
            </a:pPr>
            <a:r>
              <a:rPr lang="en-GB" altLang="en-US" sz="2200" dirty="0"/>
              <a:t>Persistent </a:t>
            </a:r>
          </a:p>
          <a:p>
            <a:pPr>
              <a:lnSpc>
                <a:spcPct val="80000"/>
              </a:lnSpc>
            </a:pPr>
            <a:endParaRPr lang="en-GB" altLang="en-US" sz="2200" dirty="0" smtClean="0"/>
          </a:p>
          <a:p>
            <a:pPr>
              <a:lnSpc>
                <a:spcPct val="80000"/>
              </a:lnSpc>
            </a:pPr>
            <a:endParaRPr lang="en-GB" altLang="en-US" sz="2200" dirty="0"/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en-GB" altLang="en-US" sz="2200" dirty="0"/>
              <a:t>	</a:t>
            </a:r>
          </a:p>
          <a:p>
            <a:pPr>
              <a:lnSpc>
                <a:spcPct val="80000"/>
              </a:lnSpc>
            </a:pPr>
            <a:endParaRPr lang="en-GB" altLang="en-US" sz="2200" dirty="0"/>
          </a:p>
        </p:txBody>
      </p:sp>
      <p:sp>
        <p:nvSpPr>
          <p:cNvPr id="67591" name="Text Box 7"/>
          <p:cNvSpPr txBox="1">
            <a:spLocks noChangeArrowheads="1"/>
          </p:cNvSpPr>
          <p:nvPr/>
        </p:nvSpPr>
        <p:spPr bwMode="auto">
          <a:xfrm>
            <a:off x="0" y="304800"/>
            <a:ext cx="9144000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en-GB" altLang="en-US" sz="2800" dirty="0">
                <a:latin typeface="Arial" charset="0"/>
              </a:rPr>
              <a:t>Leadership </a:t>
            </a:r>
            <a:r>
              <a:rPr lang="en-GB" altLang="en-US" sz="2800" dirty="0" smtClean="0">
                <a:latin typeface="Arial" charset="0"/>
              </a:rPr>
              <a:t>Qualities </a:t>
            </a:r>
            <a:endParaRPr lang="en-GB" altLang="en-US" sz="2800" dirty="0">
              <a:latin typeface="Arial" charset="0"/>
            </a:endParaRPr>
          </a:p>
        </p:txBody>
      </p:sp>
      <p:sp>
        <p:nvSpPr>
          <p:cNvPr id="67592" name="Text Box 8"/>
          <p:cNvSpPr txBox="1">
            <a:spLocks noChangeArrowheads="1"/>
          </p:cNvSpPr>
          <p:nvPr/>
        </p:nvSpPr>
        <p:spPr bwMode="auto">
          <a:xfrm>
            <a:off x="539750" y="6092825"/>
            <a:ext cx="7777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67593" name="Rectangle 9"/>
          <p:cNvSpPr>
            <a:spLocks noChangeArrowheads="1"/>
          </p:cNvSpPr>
          <p:nvPr/>
        </p:nvSpPr>
        <p:spPr bwMode="auto">
          <a:xfrm>
            <a:off x="5257800" y="3124200"/>
            <a:ext cx="3657600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Clr>
                <a:srgbClr val="C00000"/>
              </a:buClr>
              <a:buSzPct val="120000"/>
              <a:buFont typeface="Arial" pitchFamily="34" charset="0"/>
              <a:buChar char="•"/>
            </a:pPr>
            <a:r>
              <a:rPr lang="en-GB" altLang="en-US" sz="2200" dirty="0" smtClean="0"/>
              <a:t>  Self-confident </a:t>
            </a:r>
          </a:p>
          <a:p>
            <a:pPr>
              <a:lnSpc>
                <a:spcPct val="80000"/>
              </a:lnSpc>
              <a:buClr>
                <a:srgbClr val="C00000"/>
              </a:buClr>
              <a:buSzPct val="120000"/>
              <a:buFont typeface="Arial" pitchFamily="34" charset="0"/>
              <a:buChar char="•"/>
            </a:pPr>
            <a:r>
              <a:rPr lang="en-GB" altLang="en-US" sz="2200" dirty="0" smtClean="0"/>
              <a:t>  Tolerant of stress </a:t>
            </a:r>
          </a:p>
          <a:p>
            <a:pPr>
              <a:lnSpc>
                <a:spcPct val="80000"/>
              </a:lnSpc>
              <a:buClr>
                <a:srgbClr val="C00000"/>
              </a:buClr>
              <a:buSzPct val="120000"/>
              <a:buFont typeface="Arial" pitchFamily="34" charset="0"/>
              <a:buChar char="•"/>
            </a:pPr>
            <a:r>
              <a:rPr lang="en-GB" altLang="en-US" sz="2200" dirty="0" smtClean="0"/>
              <a:t>  Willing to take up  responsibility </a:t>
            </a:r>
          </a:p>
          <a:p>
            <a:pPr>
              <a:lnSpc>
                <a:spcPct val="80000"/>
              </a:lnSpc>
              <a:buClr>
                <a:srgbClr val="C00000"/>
              </a:buClr>
              <a:buSzPct val="120000"/>
              <a:buFont typeface="Arial" pitchFamily="34" charset="0"/>
              <a:buChar char="•"/>
            </a:pPr>
            <a:r>
              <a:rPr lang="en-GB" altLang="en-US" sz="2200" dirty="0" smtClean="0"/>
              <a:t>  Fluent in speaking</a:t>
            </a:r>
            <a:endParaRPr lang="en-GB" altLang="en-US" sz="2200" dirty="0" smtClean="0">
              <a:latin typeface="Calibri" pitchFamily="34" charset="0"/>
            </a:endParaRPr>
          </a:p>
          <a:p>
            <a:endParaRPr lang="en-GB" altLang="en-US" sz="2200" dirty="0" smtClean="0">
              <a:latin typeface="Calibri" pitchFamily="34" charset="0"/>
            </a:endParaRPr>
          </a:p>
          <a:p>
            <a:r>
              <a:rPr lang="en-GB" altLang="en-US" sz="2200" dirty="0" smtClean="0">
                <a:latin typeface="Calibri" pitchFamily="34" charset="0"/>
              </a:rPr>
              <a:t>Leaders</a:t>
            </a:r>
            <a:r>
              <a:rPr lang="en-GB" altLang="en-US" sz="2000" dirty="0" smtClean="0">
                <a:latin typeface="Calibri" pitchFamily="34" charset="0"/>
              </a:rPr>
              <a:t> </a:t>
            </a:r>
            <a:r>
              <a:rPr lang="en-GB" altLang="en-US" sz="2000" dirty="0">
                <a:latin typeface="Calibri" pitchFamily="34" charset="0"/>
              </a:rPr>
              <a:t>will also use: </a:t>
            </a:r>
          </a:p>
          <a:p>
            <a:r>
              <a:rPr lang="en-GB" altLang="en-US" sz="2000" b="0" dirty="0" smtClean="0">
                <a:latin typeface="Calibri" pitchFamily="34" charset="0"/>
              </a:rPr>
              <a:t> </a:t>
            </a:r>
            <a:r>
              <a:rPr lang="en-GB" altLang="en-US" sz="2000" b="0" dirty="0">
                <a:latin typeface="Calibri" pitchFamily="34" charset="0"/>
              </a:rPr>
              <a:t>Honesty, Compassion, Humility </a:t>
            </a:r>
          </a:p>
        </p:txBody>
      </p:sp>
      <p:pic>
        <p:nvPicPr>
          <p:cNvPr id="20484" name="Picture 4" descr="https://encrypted-tbn0.gstatic.com/images?q=tbn:ANd9GcR0kBfuR-XWs_vUiiVhBpQAWPxLJueJb2b8AG71h2HFuqez9FCAp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0200" y="1524000"/>
            <a:ext cx="3238500" cy="14097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19044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dirty="0"/>
              <a:t>Ask Yourself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Can soft skills help you for a job interview or viva examination?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86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Highlighting Soft Skills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Two important scenarios in which soft skills can help the students are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Job interview</a:t>
            </a:r>
          </a:p>
          <a:p>
            <a:r>
              <a:rPr lang="en-US" dirty="0"/>
              <a:t>Viva </a:t>
            </a:r>
            <a:r>
              <a:rPr lang="en-US" dirty="0" smtClean="0"/>
              <a:t>examination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66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Highlighting Soft Skills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676400"/>
            <a:ext cx="6858000" cy="47091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During a job interview, you can highlight the following soft skills:</a:t>
            </a:r>
          </a:p>
          <a:p>
            <a:r>
              <a:rPr lang="en-US" dirty="0" smtClean="0"/>
              <a:t>Work Ethic</a:t>
            </a:r>
          </a:p>
          <a:p>
            <a:pPr lvl="1"/>
            <a:r>
              <a:rPr lang="en-US" dirty="0" smtClean="0"/>
              <a:t>As past performance is a predictor of future results, give examples from your past such as completing the projects on time and efficiently.</a:t>
            </a:r>
          </a:p>
          <a:p>
            <a:pPr lvl="1"/>
            <a:r>
              <a:rPr lang="en-US" dirty="0" smtClean="0"/>
              <a:t>Explain that you were always punctual and persistent towards your work.</a:t>
            </a:r>
          </a:p>
          <a:p>
            <a:r>
              <a:rPr lang="en-US" dirty="0" smtClean="0"/>
              <a:t>Positive attitude</a:t>
            </a:r>
          </a:p>
          <a:p>
            <a:pPr lvl="1"/>
            <a:r>
              <a:rPr lang="en-US" dirty="0" smtClean="0"/>
              <a:t>Give examples of how you motivated your colleagues or  those you managed in your past position.</a:t>
            </a:r>
          </a:p>
        </p:txBody>
      </p:sp>
      <p:pic>
        <p:nvPicPr>
          <p:cNvPr id="16386" name="Picture 2" descr="https://encrypted-tbn0.gstatic.com/images?q=tbn:ANd9GcQaHyktQncujQMQw-I8LeAFJMUf7MU7m2DZhNOXtuBl9iz6kepO5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0" y="1295400"/>
            <a:ext cx="2286000" cy="1743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Highlighting Soft Skills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Communication Skills</a:t>
            </a:r>
          </a:p>
          <a:p>
            <a:pPr lvl="1"/>
            <a:r>
              <a:rPr lang="en-US" dirty="0" smtClean="0"/>
              <a:t>Prepare and practice responses to showcase your best skills.</a:t>
            </a:r>
          </a:p>
          <a:p>
            <a:pPr lvl="1"/>
            <a:r>
              <a:rPr lang="en-US" dirty="0" smtClean="0"/>
              <a:t>Brings proofs of your achievements.</a:t>
            </a:r>
          </a:p>
          <a:p>
            <a:r>
              <a:rPr lang="en-US" dirty="0" smtClean="0"/>
              <a:t>Time management</a:t>
            </a:r>
          </a:p>
          <a:p>
            <a:pPr lvl="1"/>
            <a:r>
              <a:rPr lang="en-US" dirty="0" smtClean="0"/>
              <a:t>Explain how you prioritize the most important things, assign tasks to others when possible, etc.</a:t>
            </a:r>
          </a:p>
          <a:p>
            <a:r>
              <a:rPr lang="en-US" dirty="0" smtClean="0"/>
              <a:t>Self-confidence</a:t>
            </a:r>
          </a:p>
          <a:p>
            <a:pPr lvl="1"/>
            <a:r>
              <a:rPr lang="en-US" dirty="0" smtClean="0"/>
              <a:t>The way you dress, the way you explain your experiences shows self-confidence.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Body Language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A pleasant smile</a:t>
            </a:r>
          </a:p>
          <a:p>
            <a:pPr lvl="1"/>
            <a:r>
              <a:rPr lang="en-US" dirty="0" smtClean="0"/>
              <a:t>Confidence booster</a:t>
            </a:r>
          </a:p>
          <a:p>
            <a:r>
              <a:rPr lang="en-US" dirty="0" smtClean="0"/>
              <a:t>Open body language</a:t>
            </a:r>
          </a:p>
          <a:p>
            <a:pPr lvl="1"/>
            <a:r>
              <a:rPr lang="en-US" dirty="0" smtClean="0"/>
              <a:t>Don’t fold your hands or lock your fingers while answering questions</a:t>
            </a:r>
          </a:p>
          <a:p>
            <a:pPr lvl="1"/>
            <a:r>
              <a:rPr lang="en-US" dirty="0" smtClean="0"/>
              <a:t>Shows you’re open to learning</a:t>
            </a:r>
          </a:p>
          <a:p>
            <a:r>
              <a:rPr lang="en-US" dirty="0" smtClean="0"/>
              <a:t>Lean forward while answering questions</a:t>
            </a:r>
          </a:p>
          <a:p>
            <a:pPr lvl="1"/>
            <a:r>
              <a:rPr lang="en-US" dirty="0" smtClean="0"/>
              <a:t>Shows that you are enthusiastic and willing to answer a particular question</a:t>
            </a:r>
          </a:p>
          <a:p>
            <a:r>
              <a:rPr lang="en-US" dirty="0" smtClean="0"/>
              <a:t>Tone </a:t>
            </a:r>
          </a:p>
          <a:p>
            <a:pPr lvl="1"/>
            <a:r>
              <a:rPr lang="en-US" dirty="0" smtClean="0"/>
              <a:t> </a:t>
            </a:r>
            <a:r>
              <a:rPr lang="en-US" sz="2600" dirty="0" smtClean="0"/>
              <a:t>Be loud and clear throughout the interview.</a:t>
            </a:r>
          </a:p>
          <a:p>
            <a:pPr lvl="1"/>
            <a:r>
              <a:rPr lang="en-US" sz="2600" dirty="0" smtClean="0"/>
              <a:t>Speak in a confident sounding voice.</a:t>
            </a:r>
          </a:p>
        </p:txBody>
      </p:sp>
      <p:pic>
        <p:nvPicPr>
          <p:cNvPr id="14338" name="Picture 2" descr="https://encrypted-tbn3.gstatic.com/images?q=tbn:ANd9GcQlgbT6Rxjstalv5NAe6bpQaqYbTx4hC2ErgI7AaFIZIBaI18HaLQ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19800" y="228600"/>
            <a:ext cx="2905125" cy="15716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Body Language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Eye contact</a:t>
            </a:r>
          </a:p>
          <a:p>
            <a:pPr lvl="1"/>
            <a:r>
              <a:rPr lang="en-US" dirty="0" smtClean="0"/>
              <a:t>Maintain eye contact with the interviewer.</a:t>
            </a:r>
          </a:p>
          <a:p>
            <a:pPr lvl="2"/>
            <a:r>
              <a:rPr lang="en-US" dirty="0" smtClean="0"/>
              <a:t>It shows confidence.</a:t>
            </a:r>
          </a:p>
          <a:p>
            <a:pPr lvl="2"/>
            <a:r>
              <a:rPr lang="en-US" dirty="0" smtClean="0"/>
              <a:t>Answering without looking in the eye shows that you’re lying or not confident about your answer.</a:t>
            </a:r>
          </a:p>
          <a:p>
            <a:endParaRPr lang="en-US" dirty="0" smtClean="0"/>
          </a:p>
          <a:p>
            <a:r>
              <a:rPr lang="en-US" dirty="0" smtClean="0"/>
              <a:t>Nod</a:t>
            </a:r>
          </a:p>
          <a:p>
            <a:pPr lvl="1"/>
            <a:r>
              <a:rPr lang="en-US" sz="2400" dirty="0" smtClean="0"/>
              <a:t>Shows you’re attentively listening to the interviewer</a:t>
            </a:r>
          </a:p>
          <a:p>
            <a:pPr lvl="1"/>
            <a:r>
              <a:rPr lang="en-US" sz="2400" dirty="0" smtClean="0"/>
              <a:t>Presents you as an active listener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Activity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/>
              <a:t>Judging Soft Skills</a:t>
            </a:r>
          </a:p>
          <a:p>
            <a:pPr>
              <a:buNone/>
            </a:pPr>
            <a:endParaRPr lang="en-US" b="1" dirty="0" smtClean="0"/>
          </a:p>
          <a:p>
            <a:r>
              <a:rPr lang="en-US" sz="2600" b="1" dirty="0" smtClean="0"/>
              <a:t>Can you tell about a time when you worked as part of a group?</a:t>
            </a:r>
          </a:p>
          <a:p>
            <a:pPr>
              <a:buNone/>
            </a:pPr>
            <a:endParaRPr lang="en-US" sz="2600" b="1" dirty="0" smtClean="0"/>
          </a:p>
          <a:p>
            <a:r>
              <a:rPr lang="en-US" sz="2600" b="1" dirty="0" smtClean="0"/>
              <a:t>Can you tell about a time when you had to ask for help?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Tips for Viva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0574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Confirm the details</a:t>
            </a:r>
          </a:p>
          <a:p>
            <a:pPr lvl="1"/>
            <a:r>
              <a:rPr lang="en-US" dirty="0"/>
              <a:t>Be very clear about date, time, and venue of the </a:t>
            </a:r>
            <a:r>
              <a:rPr lang="en-US" dirty="0" smtClean="0"/>
              <a:t>viva examination.</a:t>
            </a:r>
            <a:endParaRPr lang="en-US" dirty="0"/>
          </a:p>
          <a:p>
            <a:r>
              <a:rPr lang="en-US" dirty="0" smtClean="0"/>
              <a:t>Get to re-know your thesis </a:t>
            </a:r>
          </a:p>
          <a:p>
            <a:pPr lvl="1"/>
            <a:r>
              <a:rPr lang="en-US" dirty="0"/>
              <a:t>Think about the broader implications of your </a:t>
            </a:r>
            <a:r>
              <a:rPr lang="en-US" dirty="0" smtClean="0"/>
              <a:t>research.</a:t>
            </a:r>
            <a:endParaRPr lang="en-US" dirty="0"/>
          </a:p>
          <a:p>
            <a:pPr lvl="1"/>
            <a:r>
              <a:rPr lang="en-US" dirty="0" smtClean="0"/>
              <a:t>Reread your thesis and make summary points from each page.</a:t>
            </a:r>
          </a:p>
          <a:p>
            <a:pPr lvl="1"/>
            <a:r>
              <a:rPr lang="en-US" dirty="0" smtClean="0"/>
              <a:t>Note the mistakes.</a:t>
            </a:r>
          </a:p>
          <a:p>
            <a:r>
              <a:rPr lang="en-US" dirty="0" smtClean="0"/>
              <a:t>Practice your exam responses</a:t>
            </a:r>
          </a:p>
          <a:p>
            <a:pPr lvl="1"/>
            <a:r>
              <a:rPr lang="en-US" dirty="0" smtClean="0"/>
              <a:t>Anticipate some common questions and try answering them.</a:t>
            </a:r>
          </a:p>
        </p:txBody>
      </p:sp>
      <p:pic>
        <p:nvPicPr>
          <p:cNvPr id="8194" name="Picture 2" descr="http://tjohncollege.com/img/TJC_MGMT_VIVA_VOCE%20center/img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29200" y="152400"/>
            <a:ext cx="3810000" cy="21717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29539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b="1" dirty="0" smtClean="0"/>
              <a:t>Tips for Viva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dirty="0"/>
              <a:t>Think about your </a:t>
            </a:r>
            <a:r>
              <a:rPr lang="en-US" sz="2400" dirty="0" smtClean="0"/>
              <a:t>examiners.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Examiners have different personalities, styles, and levels of experience. </a:t>
            </a:r>
            <a:r>
              <a:rPr lang="en-US" sz="2400" dirty="0" smtClean="0">
                <a:solidFill>
                  <a:schemeClr val="tx1"/>
                </a:solidFill>
              </a:rPr>
              <a:t> Some can be confrontational.</a:t>
            </a:r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It is important that you do not take offence. A relaxed, thoughtful, and non-confrontational response from you will help re-balance the discussion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T</a:t>
            </a:r>
            <a:r>
              <a:rPr lang="en-US" sz="2400" dirty="0" smtClean="0">
                <a:solidFill>
                  <a:schemeClr val="tx1"/>
                </a:solidFill>
              </a:rPr>
              <a:t>ake </a:t>
            </a:r>
            <a:r>
              <a:rPr lang="en-US" sz="2400" dirty="0">
                <a:solidFill>
                  <a:schemeClr val="tx1"/>
                </a:solidFill>
              </a:rPr>
              <a:t>time to consider before </a:t>
            </a:r>
            <a:r>
              <a:rPr lang="en-US" sz="2400" dirty="0" smtClean="0">
                <a:solidFill>
                  <a:schemeClr val="tx1"/>
                </a:solidFill>
              </a:rPr>
              <a:t>replying.</a:t>
            </a:r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R</a:t>
            </a:r>
            <a:r>
              <a:rPr lang="en-US" sz="2400" dirty="0" smtClean="0">
                <a:solidFill>
                  <a:schemeClr val="tx1"/>
                </a:solidFill>
              </a:rPr>
              <a:t>emember </a:t>
            </a:r>
            <a:r>
              <a:rPr lang="en-US" sz="2400" dirty="0">
                <a:solidFill>
                  <a:schemeClr val="tx1"/>
                </a:solidFill>
              </a:rPr>
              <a:t>to breathe and speak reasonably </a:t>
            </a:r>
            <a:r>
              <a:rPr lang="en-US" sz="2400" dirty="0" smtClean="0">
                <a:solidFill>
                  <a:schemeClr val="tx1"/>
                </a:solidFill>
              </a:rPr>
              <a:t>slowly.</a:t>
            </a:r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D</a:t>
            </a:r>
            <a:r>
              <a:rPr lang="en-US" sz="2400" dirty="0" smtClean="0">
                <a:solidFill>
                  <a:schemeClr val="tx1"/>
                </a:solidFill>
              </a:rPr>
              <a:t>o </a:t>
            </a:r>
            <a:r>
              <a:rPr lang="en-US" sz="2400" dirty="0">
                <a:solidFill>
                  <a:schemeClr val="tx1"/>
                </a:solidFill>
              </a:rPr>
              <a:t>not take the criticism </a:t>
            </a:r>
            <a:r>
              <a:rPr lang="en-US" sz="2400" dirty="0" smtClean="0">
                <a:solidFill>
                  <a:schemeClr val="tx1"/>
                </a:solidFill>
              </a:rPr>
              <a:t>personally.</a:t>
            </a:r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Enjoy </a:t>
            </a:r>
            <a:r>
              <a:rPr lang="en-US" sz="2400" dirty="0">
                <a:solidFill>
                  <a:schemeClr val="tx1"/>
                </a:solidFill>
              </a:rPr>
              <a:t>the opportunity to talk about your </a:t>
            </a:r>
            <a:r>
              <a:rPr lang="en-US" sz="2400" dirty="0" smtClean="0">
                <a:solidFill>
                  <a:schemeClr val="tx1"/>
                </a:solidFill>
              </a:rPr>
              <a:t>research.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1699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Tips for Viva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 smtClean="0"/>
              <a:t>Use the support available</a:t>
            </a:r>
          </a:p>
          <a:p>
            <a:endParaRPr lang="en-US" sz="2400" dirty="0" smtClean="0"/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Take help from your supervisors.</a:t>
            </a:r>
          </a:p>
          <a:p>
            <a:pPr lvl="1"/>
            <a:endParaRPr lang="en-US" sz="2400" dirty="0" smtClean="0">
              <a:solidFill>
                <a:schemeClr val="tx1"/>
              </a:solidFill>
            </a:endParaRP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They may help you by preparing questions and conducting a practice viva examination with you.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Tips for Viva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Think </a:t>
            </a:r>
            <a:r>
              <a:rPr lang="en-US" dirty="0" smtClean="0"/>
              <a:t>positively</a:t>
            </a:r>
          </a:p>
          <a:p>
            <a:endParaRPr lang="en-US" dirty="0" smtClean="0"/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Your study will have strengths and weaknesses, and the examiners will want to discuss these. </a:t>
            </a:r>
          </a:p>
          <a:p>
            <a:pPr lvl="1"/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It is considered positive, indeed essential, that you can discuss both strengths and weaknesses. </a:t>
            </a:r>
          </a:p>
          <a:p>
            <a:pPr lvl="1"/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You should not interpret criticism as an indication that you will not get a positive outcome.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39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Tips for Viva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/>
            <a:r>
              <a:rPr lang="en-US" dirty="0" smtClean="0"/>
              <a:t>Rehearse your presentation</a:t>
            </a:r>
          </a:p>
          <a:p>
            <a:pPr marL="0" indent="0"/>
            <a:endParaRPr lang="en-US" dirty="0" smtClean="0"/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Rehearse </a:t>
            </a:r>
            <a:r>
              <a:rPr lang="en-US" dirty="0">
                <a:solidFill>
                  <a:schemeClr val="tx1"/>
                </a:solidFill>
              </a:rPr>
              <a:t>in front of a small, intimate audience, such as a family member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lvl="1"/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You can also practice in front of a mirror. The </a:t>
            </a:r>
            <a:r>
              <a:rPr lang="en-US" dirty="0">
                <a:solidFill>
                  <a:schemeClr val="tx1"/>
                </a:solidFill>
              </a:rPr>
              <a:t>thought is that by rehearsing in front of a mirror, you'll see what your audience sees and can improve your delivery.</a:t>
            </a:r>
          </a:p>
        </p:txBody>
      </p:sp>
    </p:spTree>
    <p:extLst>
      <p:ext uri="{BB962C8B-B14F-4D97-AF65-F5344CB8AC3E}">
        <p14:creationId xmlns:p14="http://schemas.microsoft.com/office/powerpoint/2010/main" val="2499633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Some Extra Tips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Calm down and breathe.</a:t>
            </a:r>
          </a:p>
          <a:p>
            <a:r>
              <a:rPr lang="en-US" dirty="0" smtClean="0"/>
              <a:t>Do something fun.</a:t>
            </a:r>
          </a:p>
          <a:p>
            <a:r>
              <a:rPr lang="en-US" dirty="0" smtClean="0"/>
              <a:t>Believe in yourself.</a:t>
            </a:r>
          </a:p>
          <a:p>
            <a:r>
              <a:rPr lang="en-US" dirty="0" smtClean="0"/>
              <a:t>Go in with a good attitude.</a:t>
            </a:r>
          </a:p>
          <a:p>
            <a:r>
              <a:rPr lang="en-US" dirty="0" smtClean="0"/>
              <a:t>Look presentable.</a:t>
            </a:r>
          </a:p>
          <a:p>
            <a:r>
              <a:rPr lang="en-US" dirty="0" smtClean="0"/>
              <a:t>Make plans to celebrate it.</a:t>
            </a:r>
          </a:p>
          <a:p>
            <a:r>
              <a:rPr lang="en-US" dirty="0" smtClean="0"/>
              <a:t>Try to enjoy 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241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Oral Activity for the Next Session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Introduce yourself within 2-3 minutes.</a:t>
            </a:r>
          </a:p>
          <a:p>
            <a:r>
              <a:rPr lang="en-US" dirty="0" smtClean="0"/>
              <a:t>Tell your name, roll No., study program and current semester</a:t>
            </a:r>
          </a:p>
          <a:p>
            <a:r>
              <a:rPr lang="en-US" dirty="0" smtClean="0"/>
              <a:t>Describe your interests, career goals, etc. </a:t>
            </a:r>
          </a:p>
          <a:p>
            <a:pPr>
              <a:buNone/>
            </a:pPr>
            <a:r>
              <a:rPr lang="en-US" sz="3200" dirty="0" smtClean="0"/>
              <a:t>Guidelines</a:t>
            </a:r>
          </a:p>
          <a:p>
            <a:r>
              <a:rPr lang="en-US" dirty="0" smtClean="0"/>
              <a:t>Avoid </a:t>
            </a:r>
            <a:r>
              <a:rPr lang="en-US" dirty="0" smtClean="0"/>
              <a:t>reading </a:t>
            </a:r>
            <a:r>
              <a:rPr lang="en-US" smtClean="0"/>
              <a:t>out from a paper.</a:t>
            </a:r>
            <a:endParaRPr lang="en-US" dirty="0" smtClean="0"/>
          </a:p>
          <a:p>
            <a:r>
              <a:rPr lang="en-US" dirty="0" smtClean="0"/>
              <a:t>Your microphone should be in a working  condition.</a:t>
            </a:r>
          </a:p>
          <a:p>
            <a:r>
              <a:rPr lang="en-US" dirty="0" smtClean="0"/>
              <a:t>Minimize the background noise.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encrypted-tbn3.gstatic.com/images?q=tbn:ANd9GcTgESm287KWBAZRajnAZsPzEtnUGUoiVUUgYL1DZdwJyg_Qyf_J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2590800"/>
            <a:ext cx="2143125" cy="21431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1166</TotalTime>
  <Words>1056</Words>
  <Application>Microsoft Office PowerPoint</Application>
  <PresentationFormat>On-screen Show (4:3)</PresentationFormat>
  <Paragraphs>182</Paragraphs>
  <Slides>25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Civic</vt:lpstr>
      <vt:lpstr>Soft Skills </vt:lpstr>
      <vt:lpstr>Soft Skills </vt:lpstr>
      <vt:lpstr>Soft Skills</vt:lpstr>
      <vt:lpstr> Communication Skills </vt:lpstr>
      <vt:lpstr>        Teamwork and Collaboration </vt:lpstr>
      <vt:lpstr>  Teamwork and Collaboration </vt:lpstr>
      <vt:lpstr>Adaptability</vt:lpstr>
      <vt:lpstr>Conflict Resolution</vt:lpstr>
      <vt:lpstr>PowerPoint Presentation</vt:lpstr>
      <vt:lpstr>PowerPoint Presentation</vt:lpstr>
      <vt:lpstr>Ask Yourself</vt:lpstr>
      <vt:lpstr>Highlighting Soft Skills</vt:lpstr>
      <vt:lpstr>Highlighting Soft Skills</vt:lpstr>
      <vt:lpstr>Highlighting Soft Skills</vt:lpstr>
      <vt:lpstr>Body Language </vt:lpstr>
      <vt:lpstr>Body Language </vt:lpstr>
      <vt:lpstr>Activity</vt:lpstr>
      <vt:lpstr>Tips for Viva</vt:lpstr>
      <vt:lpstr>Tips for Viva</vt:lpstr>
      <vt:lpstr>Tips for Viva</vt:lpstr>
      <vt:lpstr>Tips for Viva</vt:lpstr>
      <vt:lpstr>Tips for Viva</vt:lpstr>
      <vt:lpstr>Some Extra Tips</vt:lpstr>
      <vt:lpstr>Oral Activity for the Next Session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Sumbal Butt</dc:creator>
  <cp:lastModifiedBy>Sumbal Butt</cp:lastModifiedBy>
  <cp:revision>231</cp:revision>
  <dcterms:created xsi:type="dcterms:W3CDTF">2016-04-28T04:36:45Z</dcterms:created>
  <dcterms:modified xsi:type="dcterms:W3CDTF">2016-05-02T05:52:04Z</dcterms:modified>
</cp:coreProperties>
</file>