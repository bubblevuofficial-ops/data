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55"/>
  </p:notesMasterIdLst>
  <p:sldIdLst>
    <p:sldId id="336" r:id="rId2"/>
    <p:sldId id="294" r:id="rId3"/>
    <p:sldId id="288" r:id="rId4"/>
    <p:sldId id="261" r:id="rId5"/>
    <p:sldId id="293" r:id="rId6"/>
    <p:sldId id="278" r:id="rId7"/>
    <p:sldId id="287" r:id="rId8"/>
    <p:sldId id="340" r:id="rId9"/>
    <p:sldId id="341" r:id="rId10"/>
    <p:sldId id="342" r:id="rId11"/>
    <p:sldId id="343" r:id="rId12"/>
    <p:sldId id="344" r:id="rId13"/>
    <p:sldId id="391" r:id="rId14"/>
    <p:sldId id="350" r:id="rId15"/>
    <p:sldId id="351" r:id="rId16"/>
    <p:sldId id="352" r:id="rId17"/>
    <p:sldId id="354" r:id="rId18"/>
    <p:sldId id="353" r:id="rId19"/>
    <p:sldId id="356" r:id="rId20"/>
    <p:sldId id="355" r:id="rId21"/>
    <p:sldId id="357" r:id="rId22"/>
    <p:sldId id="358" r:id="rId23"/>
    <p:sldId id="359" r:id="rId24"/>
    <p:sldId id="347" r:id="rId25"/>
    <p:sldId id="360" r:id="rId26"/>
    <p:sldId id="361" r:id="rId27"/>
    <p:sldId id="362" r:id="rId28"/>
    <p:sldId id="363" r:id="rId29"/>
    <p:sldId id="364" r:id="rId30"/>
    <p:sldId id="366" r:id="rId31"/>
    <p:sldId id="369" r:id="rId32"/>
    <p:sldId id="370" r:id="rId33"/>
    <p:sldId id="371" r:id="rId34"/>
    <p:sldId id="372" r:id="rId35"/>
    <p:sldId id="373" r:id="rId36"/>
    <p:sldId id="374" r:id="rId37"/>
    <p:sldId id="375" r:id="rId38"/>
    <p:sldId id="377" r:id="rId39"/>
    <p:sldId id="378" r:id="rId40"/>
    <p:sldId id="376" r:id="rId41"/>
    <p:sldId id="379" r:id="rId42"/>
    <p:sldId id="382" r:id="rId43"/>
    <p:sldId id="380" r:id="rId44"/>
    <p:sldId id="383" r:id="rId45"/>
    <p:sldId id="346" r:id="rId46"/>
    <p:sldId id="384" r:id="rId47"/>
    <p:sldId id="381" r:id="rId48"/>
    <p:sldId id="385" r:id="rId49"/>
    <p:sldId id="386" r:id="rId50"/>
    <p:sldId id="387" r:id="rId51"/>
    <p:sldId id="388" r:id="rId52"/>
    <p:sldId id="389" r:id="rId53"/>
    <p:sldId id="390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25F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83941" autoAdjust="0"/>
  </p:normalViewPr>
  <p:slideViewPr>
    <p:cSldViewPr snapToGrid="0">
      <p:cViewPr varScale="1">
        <p:scale>
          <a:sx n="106" d="100"/>
          <a:sy n="106" d="100"/>
        </p:scale>
        <p:origin x="79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605FAC-F4E1-443B-91BE-22C6277E36A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44C359-7308-4379-89E9-19E66492F1E3}">
      <dgm:prSet/>
      <dgm:spPr/>
      <dgm:t>
        <a:bodyPr/>
        <a:lstStyle/>
        <a:p>
          <a:r>
            <a:rPr lang="en-US" dirty="0"/>
            <a:t>Introduction of Threading.</a:t>
          </a:r>
        </a:p>
      </dgm:t>
    </dgm:pt>
    <dgm:pt modelId="{DDE39F89-4909-4F7C-B6EE-53FC58D6BFC9}" type="parTrans" cxnId="{5A7FBB75-A817-4E9D-AEC2-DB7B07048CA1}">
      <dgm:prSet/>
      <dgm:spPr/>
      <dgm:t>
        <a:bodyPr/>
        <a:lstStyle/>
        <a:p>
          <a:endParaRPr lang="en-US"/>
        </a:p>
      </dgm:t>
    </dgm:pt>
    <dgm:pt modelId="{C10B7116-E14F-4655-9E5A-B6D7DD37A5B9}" type="sibTrans" cxnId="{5A7FBB75-A817-4E9D-AEC2-DB7B07048CA1}">
      <dgm:prSet/>
      <dgm:spPr/>
      <dgm:t>
        <a:bodyPr/>
        <a:lstStyle/>
        <a:p>
          <a:endParaRPr lang="en-US"/>
        </a:p>
      </dgm:t>
    </dgm:pt>
    <dgm:pt modelId="{B52304F7-9CCF-4381-9DB7-D65E8FF69D98}">
      <dgm:prSet/>
      <dgm:spPr/>
      <dgm:t>
        <a:bodyPr/>
        <a:lstStyle/>
        <a:p>
          <a:r>
            <a:rPr lang="en-US" dirty="0"/>
            <a:t>Creating and Terminating Threads using POSIX API.</a:t>
          </a:r>
        </a:p>
      </dgm:t>
    </dgm:pt>
    <dgm:pt modelId="{5A3F200D-6884-4F08-B3E1-ED350FEF42E7}" type="parTrans" cxnId="{7D93A2FB-E493-4057-9321-1F6F3DDA93FB}">
      <dgm:prSet/>
      <dgm:spPr/>
      <dgm:t>
        <a:bodyPr/>
        <a:lstStyle/>
        <a:p>
          <a:endParaRPr lang="en-US"/>
        </a:p>
      </dgm:t>
    </dgm:pt>
    <dgm:pt modelId="{3B0ED119-AD1B-484D-96A0-C81E45281368}" type="sibTrans" cxnId="{7D93A2FB-E493-4057-9321-1F6F3DDA93FB}">
      <dgm:prSet/>
      <dgm:spPr/>
      <dgm:t>
        <a:bodyPr/>
        <a:lstStyle/>
        <a:p>
          <a:endParaRPr lang="en-US"/>
        </a:p>
      </dgm:t>
    </dgm:pt>
    <dgm:pt modelId="{203A11AC-6691-4719-A18C-2D6C7EA9F1B7}" type="pres">
      <dgm:prSet presAssocID="{AC605FAC-F4E1-443B-91BE-22C6277E36A9}" presName="root" presStyleCnt="0">
        <dgm:presLayoutVars>
          <dgm:dir/>
          <dgm:resizeHandles val="exact"/>
        </dgm:presLayoutVars>
      </dgm:prSet>
      <dgm:spPr/>
    </dgm:pt>
    <dgm:pt modelId="{600634BA-D74A-488D-87C2-97828914D25B}" type="pres">
      <dgm:prSet presAssocID="{ED44C359-7308-4379-89E9-19E66492F1E3}" presName="compNode" presStyleCnt="0"/>
      <dgm:spPr/>
    </dgm:pt>
    <dgm:pt modelId="{27611441-5FC4-4BBA-AB94-233AC5382243}" type="pres">
      <dgm:prSet presAssocID="{ED44C359-7308-4379-89E9-19E66492F1E3}" presName="bgRect" presStyleLbl="bgShp" presStyleIdx="0" presStyleCnt="2"/>
      <dgm:spPr/>
    </dgm:pt>
    <dgm:pt modelId="{C11A7D35-1FE6-446D-AE68-CDC0EA75C5EF}" type="pres">
      <dgm:prSet presAssocID="{ED44C359-7308-4379-89E9-19E66492F1E3}" presName="iconRect" presStyleLbl="node1" presStyleIdx="0" presStyleCnt="2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1E29CDAF-1E44-40CB-AADF-4B80555EE7A7}" type="pres">
      <dgm:prSet presAssocID="{ED44C359-7308-4379-89E9-19E66492F1E3}" presName="spaceRect" presStyleCnt="0"/>
      <dgm:spPr/>
    </dgm:pt>
    <dgm:pt modelId="{439E4229-80E6-49FA-AC66-32D790A69D10}" type="pres">
      <dgm:prSet presAssocID="{ED44C359-7308-4379-89E9-19E66492F1E3}" presName="parTx" presStyleLbl="revTx" presStyleIdx="0" presStyleCnt="2">
        <dgm:presLayoutVars>
          <dgm:chMax val="0"/>
          <dgm:chPref val="0"/>
        </dgm:presLayoutVars>
      </dgm:prSet>
      <dgm:spPr/>
    </dgm:pt>
    <dgm:pt modelId="{8618AEF0-E25F-4BEF-A69C-DFE10F40ECD4}" type="pres">
      <dgm:prSet presAssocID="{C10B7116-E14F-4655-9E5A-B6D7DD37A5B9}" presName="sibTrans" presStyleCnt="0"/>
      <dgm:spPr/>
    </dgm:pt>
    <dgm:pt modelId="{2B88366C-3DD7-4316-A04C-3130D68EB710}" type="pres">
      <dgm:prSet presAssocID="{B52304F7-9CCF-4381-9DB7-D65E8FF69D98}" presName="compNode" presStyleCnt="0"/>
      <dgm:spPr/>
    </dgm:pt>
    <dgm:pt modelId="{D75562AD-F78D-4876-92B4-3DD0643FB177}" type="pres">
      <dgm:prSet presAssocID="{B52304F7-9CCF-4381-9DB7-D65E8FF69D98}" presName="bgRect" presStyleLbl="bgShp" presStyleIdx="1" presStyleCnt="2"/>
      <dgm:spPr/>
    </dgm:pt>
    <dgm:pt modelId="{3807B6D7-BF48-4FDE-BD86-4D161441F3BF}" type="pres">
      <dgm:prSet presAssocID="{B52304F7-9CCF-4381-9DB7-D65E8FF69D98}" presName="iconRect" presStyleLbl="node1" presStyleIdx="1" presStyleCnt="2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07149938-3981-4A58-80D9-196D21EBC8A9}" type="pres">
      <dgm:prSet presAssocID="{B52304F7-9CCF-4381-9DB7-D65E8FF69D98}" presName="spaceRect" presStyleCnt="0"/>
      <dgm:spPr/>
    </dgm:pt>
    <dgm:pt modelId="{17273AB3-1C10-4C7C-8AEC-2DC6562CD53E}" type="pres">
      <dgm:prSet presAssocID="{B52304F7-9CCF-4381-9DB7-D65E8FF69D9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A7FBB75-A817-4E9D-AEC2-DB7B07048CA1}" srcId="{AC605FAC-F4E1-443B-91BE-22C6277E36A9}" destId="{ED44C359-7308-4379-89E9-19E66492F1E3}" srcOrd="0" destOrd="0" parTransId="{DDE39F89-4909-4F7C-B6EE-53FC58D6BFC9}" sibTransId="{C10B7116-E14F-4655-9E5A-B6D7DD37A5B9}"/>
    <dgm:cxn modelId="{EC3A6D8C-FF5E-4705-AD3B-8C9EF9B23F68}" type="presOf" srcId="{AC605FAC-F4E1-443B-91BE-22C6277E36A9}" destId="{203A11AC-6691-4719-A18C-2D6C7EA9F1B7}" srcOrd="0" destOrd="0" presId="urn:microsoft.com/office/officeart/2018/2/layout/IconVerticalSolidList"/>
    <dgm:cxn modelId="{EA474EB2-2FA0-4EB5-B43B-96F69CF80FDF}" type="presOf" srcId="{B52304F7-9CCF-4381-9DB7-D65E8FF69D98}" destId="{17273AB3-1C10-4C7C-8AEC-2DC6562CD53E}" srcOrd="0" destOrd="0" presId="urn:microsoft.com/office/officeart/2018/2/layout/IconVerticalSolidList"/>
    <dgm:cxn modelId="{7D93A2FB-E493-4057-9321-1F6F3DDA93FB}" srcId="{AC605FAC-F4E1-443B-91BE-22C6277E36A9}" destId="{B52304F7-9CCF-4381-9DB7-D65E8FF69D98}" srcOrd="1" destOrd="0" parTransId="{5A3F200D-6884-4F08-B3E1-ED350FEF42E7}" sibTransId="{3B0ED119-AD1B-484D-96A0-C81E45281368}"/>
    <dgm:cxn modelId="{B2B632FF-2735-4994-8822-858116B0A752}" type="presOf" srcId="{ED44C359-7308-4379-89E9-19E66492F1E3}" destId="{439E4229-80E6-49FA-AC66-32D790A69D10}" srcOrd="0" destOrd="0" presId="urn:microsoft.com/office/officeart/2018/2/layout/IconVerticalSolidList"/>
    <dgm:cxn modelId="{AAD0D948-0EFF-4B90-9F03-4B7F786F9A47}" type="presParOf" srcId="{203A11AC-6691-4719-A18C-2D6C7EA9F1B7}" destId="{600634BA-D74A-488D-87C2-97828914D25B}" srcOrd="0" destOrd="0" presId="urn:microsoft.com/office/officeart/2018/2/layout/IconVerticalSolidList"/>
    <dgm:cxn modelId="{F3D869F0-5B3A-470A-B684-2565F3A7987F}" type="presParOf" srcId="{600634BA-D74A-488D-87C2-97828914D25B}" destId="{27611441-5FC4-4BBA-AB94-233AC5382243}" srcOrd="0" destOrd="0" presId="urn:microsoft.com/office/officeart/2018/2/layout/IconVerticalSolidList"/>
    <dgm:cxn modelId="{5BA5ADD8-02C7-452C-BCDF-19BDA1F0B94D}" type="presParOf" srcId="{600634BA-D74A-488D-87C2-97828914D25B}" destId="{C11A7D35-1FE6-446D-AE68-CDC0EA75C5EF}" srcOrd="1" destOrd="0" presId="urn:microsoft.com/office/officeart/2018/2/layout/IconVerticalSolidList"/>
    <dgm:cxn modelId="{C127652F-989C-4112-82A7-2E03814BB3AD}" type="presParOf" srcId="{600634BA-D74A-488D-87C2-97828914D25B}" destId="{1E29CDAF-1E44-40CB-AADF-4B80555EE7A7}" srcOrd="2" destOrd="0" presId="urn:microsoft.com/office/officeart/2018/2/layout/IconVerticalSolidList"/>
    <dgm:cxn modelId="{D0FB2FCC-1D9A-4592-85F9-A92F9CF1A68C}" type="presParOf" srcId="{600634BA-D74A-488D-87C2-97828914D25B}" destId="{439E4229-80E6-49FA-AC66-32D790A69D10}" srcOrd="3" destOrd="0" presId="urn:microsoft.com/office/officeart/2018/2/layout/IconVerticalSolidList"/>
    <dgm:cxn modelId="{0785BBAD-7F37-43D2-8AA1-2BBFD54735DC}" type="presParOf" srcId="{203A11AC-6691-4719-A18C-2D6C7EA9F1B7}" destId="{8618AEF0-E25F-4BEF-A69C-DFE10F40ECD4}" srcOrd="1" destOrd="0" presId="urn:microsoft.com/office/officeart/2018/2/layout/IconVerticalSolidList"/>
    <dgm:cxn modelId="{0E7202EA-0A9A-4D44-BA99-A889DE4EB80F}" type="presParOf" srcId="{203A11AC-6691-4719-A18C-2D6C7EA9F1B7}" destId="{2B88366C-3DD7-4316-A04C-3130D68EB710}" srcOrd="2" destOrd="0" presId="urn:microsoft.com/office/officeart/2018/2/layout/IconVerticalSolidList"/>
    <dgm:cxn modelId="{517A2F4A-4697-4566-8D6B-41A3D9D6EC75}" type="presParOf" srcId="{2B88366C-3DD7-4316-A04C-3130D68EB710}" destId="{D75562AD-F78D-4876-92B4-3DD0643FB177}" srcOrd="0" destOrd="0" presId="urn:microsoft.com/office/officeart/2018/2/layout/IconVerticalSolidList"/>
    <dgm:cxn modelId="{57779C05-57C6-44B8-93EE-CACA27621853}" type="presParOf" srcId="{2B88366C-3DD7-4316-A04C-3130D68EB710}" destId="{3807B6D7-BF48-4FDE-BD86-4D161441F3BF}" srcOrd="1" destOrd="0" presId="urn:microsoft.com/office/officeart/2018/2/layout/IconVerticalSolidList"/>
    <dgm:cxn modelId="{4237C448-86CC-4DA7-AAAA-5B81A689F97F}" type="presParOf" srcId="{2B88366C-3DD7-4316-A04C-3130D68EB710}" destId="{07149938-3981-4A58-80D9-196D21EBC8A9}" srcOrd="2" destOrd="0" presId="urn:microsoft.com/office/officeart/2018/2/layout/IconVerticalSolidList"/>
    <dgm:cxn modelId="{340E6C38-EDD8-4385-BAA2-F752835D3561}" type="presParOf" srcId="{2B88366C-3DD7-4316-A04C-3130D68EB710}" destId="{17273AB3-1C10-4C7C-8AEC-2DC6562CD53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A65A4B-DA82-44A2-ACD4-E14089334F98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</dgm:pt>
    <dgm:pt modelId="{9EDC77E1-1888-4EE2-B76B-648D1B6F8EF5}">
      <dgm:prSet/>
      <dgm:spPr/>
      <dgm:t>
        <a:bodyPr/>
        <a:lstStyle/>
        <a:p>
          <a:pPr rtl="0"/>
          <a:r>
            <a:rPr lang="en-US" dirty="0"/>
            <a:t>In general</a:t>
          </a:r>
        </a:p>
        <a:p>
          <a:pPr rtl="0"/>
          <a:r>
            <a:rPr lang="en-US" dirty="0"/>
            <a:t> “A long, thin strand of cotton, fibers etc.,”</a:t>
          </a:r>
        </a:p>
      </dgm:t>
    </dgm:pt>
    <dgm:pt modelId="{7358A759-0BE6-4D53-9159-D13C457527AD}" type="parTrans" cxnId="{BD2269DC-BAE6-4782-8225-667B0ED66383}">
      <dgm:prSet/>
      <dgm:spPr/>
      <dgm:t>
        <a:bodyPr/>
        <a:lstStyle/>
        <a:p>
          <a:endParaRPr lang="en-US"/>
        </a:p>
      </dgm:t>
    </dgm:pt>
    <dgm:pt modelId="{61830BA8-FE79-4473-B036-9DC7A92D91E6}" type="sibTrans" cxnId="{BD2269DC-BAE6-4782-8225-667B0ED66383}">
      <dgm:prSet/>
      <dgm:spPr/>
      <dgm:t>
        <a:bodyPr/>
        <a:lstStyle/>
        <a:p>
          <a:endParaRPr lang="en-US"/>
        </a:p>
      </dgm:t>
    </dgm:pt>
    <dgm:pt modelId="{38F592C9-B256-42B3-97DA-BFE515729AE8}">
      <dgm:prSet phldrT="[Text]"/>
      <dgm:spPr/>
      <dgm:t>
        <a:bodyPr/>
        <a:lstStyle/>
        <a:p>
          <a:r>
            <a:rPr lang="en-US" altLang="x-none" dirty="0"/>
            <a:t>In Computing</a:t>
          </a:r>
        </a:p>
        <a:p>
          <a:r>
            <a:rPr lang="en-US" altLang="x-none" dirty="0"/>
            <a:t>       “A sequence of linked instructions”</a:t>
          </a:r>
          <a:endParaRPr lang="en-US" dirty="0"/>
        </a:p>
      </dgm:t>
    </dgm:pt>
    <dgm:pt modelId="{C57F1097-3878-4737-AE1F-954739DEF731}" type="parTrans" cxnId="{F1B0EE43-8F45-4C23-965C-CCAE41194A37}">
      <dgm:prSet/>
      <dgm:spPr/>
      <dgm:t>
        <a:bodyPr/>
        <a:lstStyle/>
        <a:p>
          <a:endParaRPr lang="en-US"/>
        </a:p>
      </dgm:t>
    </dgm:pt>
    <dgm:pt modelId="{B00FB5E4-DB38-4086-AA1D-D612A104B3D8}" type="sibTrans" cxnId="{F1B0EE43-8F45-4C23-965C-CCAE41194A37}">
      <dgm:prSet/>
      <dgm:spPr/>
      <dgm:t>
        <a:bodyPr/>
        <a:lstStyle/>
        <a:p>
          <a:endParaRPr lang="en-US"/>
        </a:p>
      </dgm:t>
    </dgm:pt>
    <dgm:pt modelId="{4B890A15-0304-40DC-83E4-04691B760F3E}">
      <dgm:prSet/>
      <dgm:spPr/>
      <dgm:t>
        <a:bodyPr/>
        <a:lstStyle/>
        <a:p>
          <a:r>
            <a:rPr lang="en-US" dirty="0" err="1"/>
            <a:t>movl</a:t>
          </a:r>
          <a:r>
            <a:rPr lang="en-US" dirty="0"/>
            <a:t>     $14,    %</a:t>
          </a:r>
          <a:r>
            <a:rPr lang="en-US" dirty="0" err="1"/>
            <a:t>eax</a:t>
          </a:r>
          <a:br>
            <a:rPr lang="en-US" dirty="0"/>
          </a:br>
          <a:r>
            <a:rPr lang="en-US" dirty="0"/>
            <a:t> </a:t>
          </a:r>
          <a:r>
            <a:rPr lang="en-US" dirty="0" err="1"/>
            <a:t>movl</a:t>
          </a:r>
          <a:r>
            <a:rPr lang="en-US" dirty="0"/>
            <a:t>     $10,     %</a:t>
          </a:r>
          <a:r>
            <a:rPr lang="en-US" dirty="0" err="1"/>
            <a:t>ebx</a:t>
          </a:r>
          <a:br>
            <a:rPr lang="en-US" dirty="0"/>
          </a:br>
          <a:r>
            <a:rPr lang="en-US" dirty="0"/>
            <a:t>   add     %</a:t>
          </a:r>
          <a:r>
            <a:rPr lang="en-US" dirty="0" err="1"/>
            <a:t>eax</a:t>
          </a:r>
          <a:r>
            <a:rPr lang="en-US" dirty="0"/>
            <a:t>,    %</a:t>
          </a:r>
          <a:r>
            <a:rPr lang="en-US" dirty="0" err="1"/>
            <a:t>ebx</a:t>
          </a:r>
          <a:endParaRPr lang="en-US" dirty="0"/>
        </a:p>
      </dgm:t>
    </dgm:pt>
    <dgm:pt modelId="{2A4A078C-32AB-4CA0-88C3-EE62E5EBABDB}" type="sibTrans" cxnId="{D40EED19-8361-4638-B052-3B3AA3D65C0E}">
      <dgm:prSet/>
      <dgm:spPr/>
      <dgm:t>
        <a:bodyPr/>
        <a:lstStyle/>
        <a:p>
          <a:endParaRPr lang="en-US"/>
        </a:p>
      </dgm:t>
    </dgm:pt>
    <dgm:pt modelId="{6D66F3A0-AFB9-4720-B773-FE5FA4324C56}" type="parTrans" cxnId="{D40EED19-8361-4638-B052-3B3AA3D65C0E}">
      <dgm:prSet/>
      <dgm:spPr/>
      <dgm:t>
        <a:bodyPr/>
        <a:lstStyle/>
        <a:p>
          <a:endParaRPr lang="en-US"/>
        </a:p>
      </dgm:t>
    </dgm:pt>
    <dgm:pt modelId="{C438CB1E-F38A-478C-87CD-6E0D3F01D6A4}" type="pres">
      <dgm:prSet presAssocID="{C1A65A4B-DA82-44A2-ACD4-E14089334F98}" presName="compositeShape" presStyleCnt="0">
        <dgm:presLayoutVars>
          <dgm:dir/>
          <dgm:resizeHandles/>
        </dgm:presLayoutVars>
      </dgm:prSet>
      <dgm:spPr/>
    </dgm:pt>
    <dgm:pt modelId="{915B38D8-4AFD-4D69-A414-2BE0602A7929}" type="pres">
      <dgm:prSet presAssocID="{C1A65A4B-DA82-44A2-ACD4-E14089334F98}" presName="pyramid" presStyleLbl="node1" presStyleIdx="0" presStyleCnt="1" custScaleX="89866" custScaleY="96301" custLinFactNeighborX="-11836" custLinFactNeighborY="740"/>
      <dgm:spPr>
        <a:solidFill>
          <a:schemeClr val="accent3"/>
        </a:solidFill>
      </dgm:spPr>
    </dgm:pt>
    <dgm:pt modelId="{0AA8B79E-D35E-4446-8508-0B1FE904A6E1}" type="pres">
      <dgm:prSet presAssocID="{C1A65A4B-DA82-44A2-ACD4-E14089334F98}" presName="theList" presStyleCnt="0"/>
      <dgm:spPr/>
    </dgm:pt>
    <dgm:pt modelId="{71060441-903E-4E66-8178-D4409D3511A4}" type="pres">
      <dgm:prSet presAssocID="{9EDC77E1-1888-4EE2-B76B-648D1B6F8EF5}" presName="aNode" presStyleLbl="fgAcc1" presStyleIdx="0" presStyleCnt="3" custScaleX="169704" custScaleY="137450" custLinFactY="-7312" custLinFactNeighborX="19348" custLinFactNeighborY="-100000">
        <dgm:presLayoutVars>
          <dgm:bulletEnabled val="1"/>
        </dgm:presLayoutVars>
      </dgm:prSet>
      <dgm:spPr/>
    </dgm:pt>
    <dgm:pt modelId="{E9E0B18B-02E8-4D6D-9A51-0E939403368C}" type="pres">
      <dgm:prSet presAssocID="{9EDC77E1-1888-4EE2-B76B-648D1B6F8EF5}" presName="aSpace" presStyleCnt="0"/>
      <dgm:spPr/>
    </dgm:pt>
    <dgm:pt modelId="{E953909A-9077-4F96-96DF-3CE0384953C4}" type="pres">
      <dgm:prSet presAssocID="{38F592C9-B256-42B3-97DA-BFE515729AE8}" presName="aNode" presStyleLbl="fgAcc1" presStyleIdx="1" presStyleCnt="3" custScaleX="169374" custScaleY="150259" custLinFactNeighborX="20486" custLinFactNeighborY="93235">
        <dgm:presLayoutVars>
          <dgm:bulletEnabled val="1"/>
        </dgm:presLayoutVars>
      </dgm:prSet>
      <dgm:spPr/>
    </dgm:pt>
    <dgm:pt modelId="{22674B8C-7F5C-40F0-8B46-8376EB711237}" type="pres">
      <dgm:prSet presAssocID="{38F592C9-B256-42B3-97DA-BFE515729AE8}" presName="aSpace" presStyleCnt="0"/>
      <dgm:spPr/>
    </dgm:pt>
    <dgm:pt modelId="{33749CCF-1E58-47A1-9F63-F00DD4AFFC57}" type="pres">
      <dgm:prSet presAssocID="{4B890A15-0304-40DC-83E4-04691B760F3E}" presName="aNode" presStyleLbl="fgAcc1" presStyleIdx="2" presStyleCnt="3" custScaleX="178476" custScaleY="176938" custLinFactY="9945" custLinFactNeighborX="25040" custLinFactNeighborY="100000">
        <dgm:presLayoutVars>
          <dgm:bulletEnabled val="1"/>
        </dgm:presLayoutVars>
      </dgm:prSet>
      <dgm:spPr/>
    </dgm:pt>
    <dgm:pt modelId="{598011C9-7609-4BBC-B1A7-09748B0B8A03}" type="pres">
      <dgm:prSet presAssocID="{4B890A15-0304-40DC-83E4-04691B760F3E}" presName="aSpace" presStyleCnt="0"/>
      <dgm:spPr/>
    </dgm:pt>
  </dgm:ptLst>
  <dgm:cxnLst>
    <dgm:cxn modelId="{FE1A9608-8F8D-41FF-B161-17797E70133F}" type="presOf" srcId="{C1A65A4B-DA82-44A2-ACD4-E14089334F98}" destId="{C438CB1E-F38A-478C-87CD-6E0D3F01D6A4}" srcOrd="0" destOrd="0" presId="urn:microsoft.com/office/officeart/2005/8/layout/pyramid2"/>
    <dgm:cxn modelId="{D40EED19-8361-4638-B052-3B3AA3D65C0E}" srcId="{C1A65A4B-DA82-44A2-ACD4-E14089334F98}" destId="{4B890A15-0304-40DC-83E4-04691B760F3E}" srcOrd="2" destOrd="0" parTransId="{6D66F3A0-AFB9-4720-B773-FE5FA4324C56}" sibTransId="{2A4A078C-32AB-4CA0-88C3-EE62E5EBABDB}"/>
    <dgm:cxn modelId="{38F0FC24-9586-4814-837C-A474648697B0}" type="presOf" srcId="{4B890A15-0304-40DC-83E4-04691B760F3E}" destId="{33749CCF-1E58-47A1-9F63-F00DD4AFFC57}" srcOrd="0" destOrd="0" presId="urn:microsoft.com/office/officeart/2005/8/layout/pyramid2"/>
    <dgm:cxn modelId="{94261630-7C89-453A-828F-6A40F82441DC}" type="presOf" srcId="{38F592C9-B256-42B3-97DA-BFE515729AE8}" destId="{E953909A-9077-4F96-96DF-3CE0384953C4}" srcOrd="0" destOrd="0" presId="urn:microsoft.com/office/officeart/2005/8/layout/pyramid2"/>
    <dgm:cxn modelId="{F1B0EE43-8F45-4C23-965C-CCAE41194A37}" srcId="{C1A65A4B-DA82-44A2-ACD4-E14089334F98}" destId="{38F592C9-B256-42B3-97DA-BFE515729AE8}" srcOrd="1" destOrd="0" parTransId="{C57F1097-3878-4737-AE1F-954739DEF731}" sibTransId="{B00FB5E4-DB38-4086-AA1D-D612A104B3D8}"/>
    <dgm:cxn modelId="{DAF21E68-2A94-405E-B704-F0918DA66D61}" type="presOf" srcId="{9EDC77E1-1888-4EE2-B76B-648D1B6F8EF5}" destId="{71060441-903E-4E66-8178-D4409D3511A4}" srcOrd="0" destOrd="0" presId="urn:microsoft.com/office/officeart/2005/8/layout/pyramid2"/>
    <dgm:cxn modelId="{BD2269DC-BAE6-4782-8225-667B0ED66383}" srcId="{C1A65A4B-DA82-44A2-ACD4-E14089334F98}" destId="{9EDC77E1-1888-4EE2-B76B-648D1B6F8EF5}" srcOrd="0" destOrd="0" parTransId="{7358A759-0BE6-4D53-9159-D13C457527AD}" sibTransId="{61830BA8-FE79-4473-B036-9DC7A92D91E6}"/>
    <dgm:cxn modelId="{0035E463-9504-4567-8218-14E5833AF252}" type="presParOf" srcId="{C438CB1E-F38A-478C-87CD-6E0D3F01D6A4}" destId="{915B38D8-4AFD-4D69-A414-2BE0602A7929}" srcOrd="0" destOrd="0" presId="urn:microsoft.com/office/officeart/2005/8/layout/pyramid2"/>
    <dgm:cxn modelId="{4AABA20E-F93E-47B3-9A99-1C5934689F91}" type="presParOf" srcId="{C438CB1E-F38A-478C-87CD-6E0D3F01D6A4}" destId="{0AA8B79E-D35E-4446-8508-0B1FE904A6E1}" srcOrd="1" destOrd="0" presId="urn:microsoft.com/office/officeart/2005/8/layout/pyramid2"/>
    <dgm:cxn modelId="{4EDD33EF-1E9D-4430-A794-FBAB37EF0D47}" type="presParOf" srcId="{0AA8B79E-D35E-4446-8508-0B1FE904A6E1}" destId="{71060441-903E-4E66-8178-D4409D3511A4}" srcOrd="0" destOrd="0" presId="urn:microsoft.com/office/officeart/2005/8/layout/pyramid2"/>
    <dgm:cxn modelId="{BC697921-3087-4C22-B020-BA20337E2327}" type="presParOf" srcId="{0AA8B79E-D35E-4446-8508-0B1FE904A6E1}" destId="{E9E0B18B-02E8-4D6D-9A51-0E939403368C}" srcOrd="1" destOrd="0" presId="urn:microsoft.com/office/officeart/2005/8/layout/pyramid2"/>
    <dgm:cxn modelId="{FC5D188E-A882-42C0-830B-070A25485ED6}" type="presParOf" srcId="{0AA8B79E-D35E-4446-8508-0B1FE904A6E1}" destId="{E953909A-9077-4F96-96DF-3CE0384953C4}" srcOrd="2" destOrd="0" presId="urn:microsoft.com/office/officeart/2005/8/layout/pyramid2"/>
    <dgm:cxn modelId="{6EA0DBB8-7FA7-488F-8BFE-60139C5F828E}" type="presParOf" srcId="{0AA8B79E-D35E-4446-8508-0B1FE904A6E1}" destId="{22674B8C-7F5C-40F0-8B46-8376EB711237}" srcOrd="3" destOrd="0" presId="urn:microsoft.com/office/officeart/2005/8/layout/pyramid2"/>
    <dgm:cxn modelId="{F0083FDF-039B-46A3-90F5-C021A8FCF5CC}" type="presParOf" srcId="{0AA8B79E-D35E-4446-8508-0B1FE904A6E1}" destId="{33749CCF-1E58-47A1-9F63-F00DD4AFFC57}" srcOrd="4" destOrd="0" presId="urn:microsoft.com/office/officeart/2005/8/layout/pyramid2"/>
    <dgm:cxn modelId="{26232DA3-9F4B-46CC-A543-3C17727C21C0}" type="presParOf" srcId="{0AA8B79E-D35E-4446-8508-0B1FE904A6E1}" destId="{598011C9-7609-4BBC-B1A7-09748B0B8A03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E0FD742-F3A2-448F-811B-8E6C8DED4AA1}" type="doc">
      <dgm:prSet loTypeId="urn:microsoft.com/office/officeart/2005/8/layout/vProcess5" loCatId="process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x-none"/>
        </a:p>
      </dgm:t>
    </dgm:pt>
    <dgm:pt modelId="{BDC14698-9E9E-4F93-B2A4-D5AC853E3DCD}">
      <dgm:prSet phldrT="[Text]"/>
      <dgm:spPr/>
      <dgm:t>
        <a:bodyPr/>
        <a:lstStyle/>
        <a:p>
          <a:r>
            <a:rPr lang="en-US" altLang="x-none" dirty="0"/>
            <a:t>Thread ID</a:t>
          </a:r>
          <a:endParaRPr lang="x-none" dirty="0"/>
        </a:p>
      </dgm:t>
    </dgm:pt>
    <dgm:pt modelId="{2513122B-8ED6-4A67-B61D-CDBC19205C73}" type="parTrans" cxnId="{9362A0FF-298B-4292-B78C-C502F7007F0C}">
      <dgm:prSet/>
      <dgm:spPr/>
      <dgm:t>
        <a:bodyPr/>
        <a:lstStyle/>
        <a:p>
          <a:endParaRPr lang="x-none"/>
        </a:p>
      </dgm:t>
    </dgm:pt>
    <dgm:pt modelId="{D6E2C8AD-B380-4568-B718-7EE95CF64705}" type="sibTrans" cxnId="{9362A0FF-298B-4292-B78C-C502F7007F0C}">
      <dgm:prSet/>
      <dgm:spPr/>
      <dgm:t>
        <a:bodyPr/>
        <a:lstStyle/>
        <a:p>
          <a:endParaRPr lang="x-none"/>
        </a:p>
      </dgm:t>
    </dgm:pt>
    <dgm:pt modelId="{B1963D82-68CB-45F8-8303-EF91230541E3}">
      <dgm:prSet phldrT="[Text]"/>
      <dgm:spPr/>
      <dgm:t>
        <a:bodyPr/>
        <a:lstStyle/>
        <a:p>
          <a:r>
            <a:rPr lang="en-US" altLang="x-none" dirty="0"/>
            <a:t>CPU Context</a:t>
          </a:r>
          <a:endParaRPr lang="x-none" dirty="0"/>
        </a:p>
      </dgm:t>
    </dgm:pt>
    <dgm:pt modelId="{C809F4D3-1ADA-4311-98F8-D803323E6316}" type="parTrans" cxnId="{D6665764-47DB-4985-8BF9-64ECA0836A96}">
      <dgm:prSet/>
      <dgm:spPr/>
      <dgm:t>
        <a:bodyPr/>
        <a:lstStyle/>
        <a:p>
          <a:endParaRPr lang="x-none"/>
        </a:p>
      </dgm:t>
    </dgm:pt>
    <dgm:pt modelId="{36FA9B9C-2EB8-4E34-871B-8538C8729B5A}" type="sibTrans" cxnId="{D6665764-47DB-4985-8BF9-64ECA0836A96}">
      <dgm:prSet/>
      <dgm:spPr/>
      <dgm:t>
        <a:bodyPr/>
        <a:lstStyle/>
        <a:p>
          <a:endParaRPr lang="x-none"/>
        </a:p>
      </dgm:t>
    </dgm:pt>
    <dgm:pt modelId="{E588376D-F129-4846-89D2-8043DF8348F7}">
      <dgm:prSet phldrT="[Text]"/>
      <dgm:spPr/>
      <dgm:t>
        <a:bodyPr/>
        <a:lstStyle/>
        <a:p>
          <a:r>
            <a:rPr lang="en-US" altLang="x-none" dirty="0"/>
            <a:t>Stack</a:t>
          </a:r>
          <a:endParaRPr lang="x-none" dirty="0"/>
        </a:p>
      </dgm:t>
    </dgm:pt>
    <dgm:pt modelId="{638DAA40-8DE8-45ED-9169-6450542EA567}" type="parTrans" cxnId="{EF98A911-6760-4627-8B4E-30FAB8FA661B}">
      <dgm:prSet/>
      <dgm:spPr/>
      <dgm:t>
        <a:bodyPr/>
        <a:lstStyle/>
        <a:p>
          <a:endParaRPr lang="x-none"/>
        </a:p>
      </dgm:t>
    </dgm:pt>
    <dgm:pt modelId="{A10783DB-AB70-4B0B-B69B-9762B37DDA7D}" type="sibTrans" cxnId="{EF98A911-6760-4627-8B4E-30FAB8FA661B}">
      <dgm:prSet/>
      <dgm:spPr/>
      <dgm:t>
        <a:bodyPr/>
        <a:lstStyle/>
        <a:p>
          <a:endParaRPr lang="x-none"/>
        </a:p>
      </dgm:t>
    </dgm:pt>
    <dgm:pt modelId="{4F5BFA9C-4E14-4A85-82E6-E0915863825C}">
      <dgm:prSet/>
      <dgm:spPr/>
      <dgm:t>
        <a:bodyPr/>
        <a:lstStyle/>
        <a:p>
          <a:r>
            <a:rPr lang="en-US" dirty="0"/>
            <a:t>Priority</a:t>
          </a:r>
        </a:p>
      </dgm:t>
    </dgm:pt>
    <dgm:pt modelId="{C3307738-8680-45DF-A9FD-DC6954D6FC92}" type="parTrans" cxnId="{D6E4D0ED-AF7B-493C-A9CC-254ADB648A3E}">
      <dgm:prSet/>
      <dgm:spPr/>
      <dgm:t>
        <a:bodyPr/>
        <a:lstStyle/>
        <a:p>
          <a:endParaRPr lang="en-US"/>
        </a:p>
      </dgm:t>
    </dgm:pt>
    <dgm:pt modelId="{E99EA486-50B5-471A-879C-F6410DBF7ED8}" type="sibTrans" cxnId="{D6E4D0ED-AF7B-493C-A9CC-254ADB648A3E}">
      <dgm:prSet/>
      <dgm:spPr/>
      <dgm:t>
        <a:bodyPr/>
        <a:lstStyle/>
        <a:p>
          <a:endParaRPr lang="x-none"/>
        </a:p>
      </dgm:t>
    </dgm:pt>
    <dgm:pt modelId="{FF7ECBE7-1616-4D76-A8C3-6A347BAF1F1A}">
      <dgm:prSet/>
      <dgm:spPr/>
      <dgm:t>
        <a:bodyPr/>
        <a:lstStyle/>
        <a:p>
          <a:r>
            <a:rPr lang="en-US" altLang="x-none"/>
            <a:t>Errno</a:t>
          </a:r>
          <a:r>
            <a:rPr lang="en-US"/>
            <a:t>.</a:t>
          </a:r>
          <a:endParaRPr lang="x-none" dirty="0"/>
        </a:p>
      </dgm:t>
    </dgm:pt>
    <dgm:pt modelId="{72751B9D-A059-4546-B9D1-D9979E2E54AD}" type="parTrans" cxnId="{979EEFCC-3B5E-4CCF-9A17-8693A236DE1E}">
      <dgm:prSet/>
      <dgm:spPr/>
      <dgm:t>
        <a:bodyPr/>
        <a:lstStyle/>
        <a:p>
          <a:endParaRPr lang="en-US"/>
        </a:p>
      </dgm:t>
    </dgm:pt>
    <dgm:pt modelId="{FB5AD657-5BBA-4518-BE4C-DEADDC858152}" type="sibTrans" cxnId="{979EEFCC-3B5E-4CCF-9A17-8693A236DE1E}">
      <dgm:prSet/>
      <dgm:spPr/>
      <dgm:t>
        <a:bodyPr/>
        <a:lstStyle/>
        <a:p>
          <a:endParaRPr lang="en-US"/>
        </a:p>
      </dgm:t>
    </dgm:pt>
    <dgm:pt modelId="{E5DF09FF-9122-4818-99C0-AB87D88AF105}" type="pres">
      <dgm:prSet presAssocID="{4E0FD742-F3A2-448F-811B-8E6C8DED4AA1}" presName="outerComposite" presStyleCnt="0">
        <dgm:presLayoutVars>
          <dgm:chMax val="5"/>
          <dgm:dir/>
          <dgm:resizeHandles val="exact"/>
        </dgm:presLayoutVars>
      </dgm:prSet>
      <dgm:spPr/>
    </dgm:pt>
    <dgm:pt modelId="{4B4438A5-C1C9-4A74-B64B-3E6A33928ACD}" type="pres">
      <dgm:prSet presAssocID="{4E0FD742-F3A2-448F-811B-8E6C8DED4AA1}" presName="dummyMaxCanvas" presStyleCnt="0">
        <dgm:presLayoutVars/>
      </dgm:prSet>
      <dgm:spPr/>
    </dgm:pt>
    <dgm:pt modelId="{3D43B2D2-4C8C-479E-B213-099B7FA23758}" type="pres">
      <dgm:prSet presAssocID="{4E0FD742-F3A2-448F-811B-8E6C8DED4AA1}" presName="FiveNodes_1" presStyleLbl="node1" presStyleIdx="0" presStyleCnt="5" custScaleY="78367" custLinFactNeighborX="2524" custLinFactNeighborY="-954">
        <dgm:presLayoutVars>
          <dgm:bulletEnabled val="1"/>
        </dgm:presLayoutVars>
      </dgm:prSet>
      <dgm:spPr/>
    </dgm:pt>
    <dgm:pt modelId="{9B4047BF-B8CB-4624-A3CD-7308FC944F98}" type="pres">
      <dgm:prSet presAssocID="{4E0FD742-F3A2-448F-811B-8E6C8DED4AA1}" presName="FiveNodes_2" presStyleLbl="node1" presStyleIdx="1" presStyleCnt="5" custScaleY="75824" custLinFactNeighborX="-1377" custLinFactNeighborY="-5726">
        <dgm:presLayoutVars>
          <dgm:bulletEnabled val="1"/>
        </dgm:presLayoutVars>
      </dgm:prSet>
      <dgm:spPr/>
    </dgm:pt>
    <dgm:pt modelId="{9094905E-6914-49FB-9118-470F5A12DC43}" type="pres">
      <dgm:prSet presAssocID="{4E0FD742-F3A2-448F-811B-8E6C8DED4AA1}" presName="FiveNodes_3" presStyleLbl="node1" presStyleIdx="2" presStyleCnt="5" custScaleY="86643" custLinFactNeighborX="-4452" custLinFactNeighborY="-8590">
        <dgm:presLayoutVars>
          <dgm:bulletEnabled val="1"/>
        </dgm:presLayoutVars>
      </dgm:prSet>
      <dgm:spPr/>
    </dgm:pt>
    <dgm:pt modelId="{B115F2F5-236A-41C3-8C71-C7987F371F5A}" type="pres">
      <dgm:prSet presAssocID="{4E0FD742-F3A2-448F-811B-8E6C8DED4AA1}" presName="FiveNodes_4" presStyleLbl="node1" presStyleIdx="3" presStyleCnt="5" custScaleY="77711" custLinFactNeighborX="-7423" custLinFactNeighborY="-17802">
        <dgm:presLayoutVars>
          <dgm:bulletEnabled val="1"/>
        </dgm:presLayoutVars>
      </dgm:prSet>
      <dgm:spPr/>
    </dgm:pt>
    <dgm:pt modelId="{0B18BA2F-3CDF-4CAD-9B8C-FD5AD13F8ACA}" type="pres">
      <dgm:prSet presAssocID="{4E0FD742-F3A2-448F-811B-8E6C8DED4AA1}" presName="FiveNodes_5" presStyleLbl="node1" presStyleIdx="4" presStyleCnt="5" custScaleY="63045" custLinFactNeighborX="-10553" custLinFactNeighborY="-40864">
        <dgm:presLayoutVars>
          <dgm:bulletEnabled val="1"/>
        </dgm:presLayoutVars>
      </dgm:prSet>
      <dgm:spPr/>
    </dgm:pt>
    <dgm:pt modelId="{9BE4A707-5611-4720-A148-89FCB9712EA8}" type="pres">
      <dgm:prSet presAssocID="{4E0FD742-F3A2-448F-811B-8E6C8DED4AA1}" presName="FiveConn_1-2" presStyleLbl="fgAccFollowNode1" presStyleIdx="0" presStyleCnt="4" custLinFactNeighborX="-1468" custLinFactNeighborY="22024">
        <dgm:presLayoutVars>
          <dgm:bulletEnabled val="1"/>
        </dgm:presLayoutVars>
      </dgm:prSet>
      <dgm:spPr/>
    </dgm:pt>
    <dgm:pt modelId="{38471A33-A32B-4756-9D8F-C28C2010CF14}" type="pres">
      <dgm:prSet presAssocID="{4E0FD742-F3A2-448F-811B-8E6C8DED4AA1}" presName="FiveConn_2-3" presStyleLbl="fgAccFollowNode1" presStyleIdx="1" presStyleCnt="4">
        <dgm:presLayoutVars>
          <dgm:bulletEnabled val="1"/>
        </dgm:presLayoutVars>
      </dgm:prSet>
      <dgm:spPr/>
    </dgm:pt>
    <dgm:pt modelId="{476B30B6-3B7B-4C81-ACD1-54081791B0C3}" type="pres">
      <dgm:prSet presAssocID="{4E0FD742-F3A2-448F-811B-8E6C8DED4AA1}" presName="FiveConn_3-4" presStyleLbl="fgAccFollowNode1" presStyleIdx="2" presStyleCnt="4" custLinFactNeighborX="-38175" custLinFactNeighborY="-4433">
        <dgm:presLayoutVars>
          <dgm:bulletEnabled val="1"/>
        </dgm:presLayoutVars>
      </dgm:prSet>
      <dgm:spPr/>
    </dgm:pt>
    <dgm:pt modelId="{D1445653-55DC-4C0A-9D04-121D95683DF4}" type="pres">
      <dgm:prSet presAssocID="{4E0FD742-F3A2-448F-811B-8E6C8DED4AA1}" presName="FiveConn_4-5" presStyleLbl="fgAccFollowNode1" presStyleIdx="3" presStyleCnt="4" custLinFactNeighborX="-51123" custLinFactNeighborY="-35906">
        <dgm:presLayoutVars>
          <dgm:bulletEnabled val="1"/>
        </dgm:presLayoutVars>
      </dgm:prSet>
      <dgm:spPr/>
    </dgm:pt>
    <dgm:pt modelId="{A403ABD4-E317-4B9E-9787-F1F6423FAF53}" type="pres">
      <dgm:prSet presAssocID="{4E0FD742-F3A2-448F-811B-8E6C8DED4AA1}" presName="FiveNodes_1_text" presStyleLbl="node1" presStyleIdx="4" presStyleCnt="5">
        <dgm:presLayoutVars>
          <dgm:bulletEnabled val="1"/>
        </dgm:presLayoutVars>
      </dgm:prSet>
      <dgm:spPr/>
    </dgm:pt>
    <dgm:pt modelId="{21066AE1-256B-40D3-9E44-342C341415BD}" type="pres">
      <dgm:prSet presAssocID="{4E0FD742-F3A2-448F-811B-8E6C8DED4AA1}" presName="FiveNodes_2_text" presStyleLbl="node1" presStyleIdx="4" presStyleCnt="5">
        <dgm:presLayoutVars>
          <dgm:bulletEnabled val="1"/>
        </dgm:presLayoutVars>
      </dgm:prSet>
      <dgm:spPr/>
    </dgm:pt>
    <dgm:pt modelId="{CF221DD7-F06D-402A-A577-25B0487A0628}" type="pres">
      <dgm:prSet presAssocID="{4E0FD742-F3A2-448F-811B-8E6C8DED4AA1}" presName="FiveNodes_3_text" presStyleLbl="node1" presStyleIdx="4" presStyleCnt="5">
        <dgm:presLayoutVars>
          <dgm:bulletEnabled val="1"/>
        </dgm:presLayoutVars>
      </dgm:prSet>
      <dgm:spPr/>
    </dgm:pt>
    <dgm:pt modelId="{120D03B9-C595-46AA-B449-6C5A9E13A466}" type="pres">
      <dgm:prSet presAssocID="{4E0FD742-F3A2-448F-811B-8E6C8DED4AA1}" presName="FiveNodes_4_text" presStyleLbl="node1" presStyleIdx="4" presStyleCnt="5">
        <dgm:presLayoutVars>
          <dgm:bulletEnabled val="1"/>
        </dgm:presLayoutVars>
      </dgm:prSet>
      <dgm:spPr/>
    </dgm:pt>
    <dgm:pt modelId="{6562F435-3B71-4A3E-8D5B-137B6AC4A21E}" type="pres">
      <dgm:prSet presAssocID="{4E0FD742-F3A2-448F-811B-8E6C8DED4AA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7E3FA300-2D39-49BA-B48B-10F2B7AE42F6}" type="presOf" srcId="{4F5BFA9C-4E14-4A85-82E6-E0915863825C}" destId="{B115F2F5-236A-41C3-8C71-C7987F371F5A}" srcOrd="0" destOrd="0" presId="urn:microsoft.com/office/officeart/2005/8/layout/vProcess5"/>
    <dgm:cxn modelId="{5272F304-5496-4573-A4BE-F1052A9BDE53}" type="presOf" srcId="{FF7ECBE7-1616-4D76-A8C3-6A347BAF1F1A}" destId="{0B18BA2F-3CDF-4CAD-9B8C-FD5AD13F8ACA}" srcOrd="0" destOrd="0" presId="urn:microsoft.com/office/officeart/2005/8/layout/vProcess5"/>
    <dgm:cxn modelId="{B64BB406-8080-4EF7-A3DC-643C5C8664BD}" type="presOf" srcId="{4E0FD742-F3A2-448F-811B-8E6C8DED4AA1}" destId="{E5DF09FF-9122-4818-99C0-AB87D88AF105}" srcOrd="0" destOrd="0" presId="urn:microsoft.com/office/officeart/2005/8/layout/vProcess5"/>
    <dgm:cxn modelId="{1D41780C-F7E0-482D-BF1C-F8E28CEDA4D8}" type="presOf" srcId="{4F5BFA9C-4E14-4A85-82E6-E0915863825C}" destId="{120D03B9-C595-46AA-B449-6C5A9E13A466}" srcOrd="1" destOrd="0" presId="urn:microsoft.com/office/officeart/2005/8/layout/vProcess5"/>
    <dgm:cxn modelId="{A3817911-495D-4C95-A832-59CB776F72D0}" type="presOf" srcId="{BDC14698-9E9E-4F93-B2A4-D5AC853E3DCD}" destId="{3D43B2D2-4C8C-479E-B213-099B7FA23758}" srcOrd="0" destOrd="0" presId="urn:microsoft.com/office/officeart/2005/8/layout/vProcess5"/>
    <dgm:cxn modelId="{EF98A911-6760-4627-8B4E-30FAB8FA661B}" srcId="{4E0FD742-F3A2-448F-811B-8E6C8DED4AA1}" destId="{E588376D-F129-4846-89D2-8043DF8348F7}" srcOrd="2" destOrd="0" parTransId="{638DAA40-8DE8-45ED-9169-6450542EA567}" sibTransId="{A10783DB-AB70-4B0B-B69B-9762B37DDA7D}"/>
    <dgm:cxn modelId="{A297B65B-A26A-46FA-AB14-D08D8E57725C}" type="presOf" srcId="{E588376D-F129-4846-89D2-8043DF8348F7}" destId="{9094905E-6914-49FB-9118-470F5A12DC43}" srcOrd="0" destOrd="0" presId="urn:microsoft.com/office/officeart/2005/8/layout/vProcess5"/>
    <dgm:cxn modelId="{19D17242-8AC8-422A-A292-02FFFD8DB54A}" type="presOf" srcId="{B1963D82-68CB-45F8-8303-EF91230541E3}" destId="{9B4047BF-B8CB-4624-A3CD-7308FC944F98}" srcOrd="0" destOrd="0" presId="urn:microsoft.com/office/officeart/2005/8/layout/vProcess5"/>
    <dgm:cxn modelId="{D6665764-47DB-4985-8BF9-64ECA0836A96}" srcId="{4E0FD742-F3A2-448F-811B-8E6C8DED4AA1}" destId="{B1963D82-68CB-45F8-8303-EF91230541E3}" srcOrd="1" destOrd="0" parTransId="{C809F4D3-1ADA-4311-98F8-D803323E6316}" sibTransId="{36FA9B9C-2EB8-4E34-871B-8538C8729B5A}"/>
    <dgm:cxn modelId="{AF78F647-5AC3-4BF7-87B7-DC76367AC779}" type="presOf" srcId="{E588376D-F129-4846-89D2-8043DF8348F7}" destId="{CF221DD7-F06D-402A-A577-25B0487A0628}" srcOrd="1" destOrd="0" presId="urn:microsoft.com/office/officeart/2005/8/layout/vProcess5"/>
    <dgm:cxn modelId="{D1FCAE59-D4E5-4B21-9E00-47F2DC0DCB75}" type="presOf" srcId="{D6E2C8AD-B380-4568-B718-7EE95CF64705}" destId="{9BE4A707-5611-4720-A148-89FCB9712EA8}" srcOrd="0" destOrd="0" presId="urn:microsoft.com/office/officeart/2005/8/layout/vProcess5"/>
    <dgm:cxn modelId="{E98BE483-E7D9-48A3-8384-0DB1E7C309A3}" type="presOf" srcId="{36FA9B9C-2EB8-4E34-871B-8538C8729B5A}" destId="{38471A33-A32B-4756-9D8F-C28C2010CF14}" srcOrd="0" destOrd="0" presId="urn:microsoft.com/office/officeart/2005/8/layout/vProcess5"/>
    <dgm:cxn modelId="{BECE368F-CC26-4E2E-AB43-C8A8965FDBAE}" type="presOf" srcId="{FF7ECBE7-1616-4D76-A8C3-6A347BAF1F1A}" destId="{6562F435-3B71-4A3E-8D5B-137B6AC4A21E}" srcOrd="1" destOrd="0" presId="urn:microsoft.com/office/officeart/2005/8/layout/vProcess5"/>
    <dgm:cxn modelId="{5FF114CB-D63C-4D32-A820-939864DF22CE}" type="presOf" srcId="{A10783DB-AB70-4B0B-B69B-9762B37DDA7D}" destId="{476B30B6-3B7B-4C81-ACD1-54081791B0C3}" srcOrd="0" destOrd="0" presId="urn:microsoft.com/office/officeart/2005/8/layout/vProcess5"/>
    <dgm:cxn modelId="{979EEFCC-3B5E-4CCF-9A17-8693A236DE1E}" srcId="{4E0FD742-F3A2-448F-811B-8E6C8DED4AA1}" destId="{FF7ECBE7-1616-4D76-A8C3-6A347BAF1F1A}" srcOrd="4" destOrd="0" parTransId="{72751B9D-A059-4546-B9D1-D9979E2E54AD}" sibTransId="{FB5AD657-5BBA-4518-BE4C-DEADDC858152}"/>
    <dgm:cxn modelId="{F54CBBE2-8FAA-44FD-BB83-1CAA9CCAB6EE}" type="presOf" srcId="{E99EA486-50B5-471A-879C-F6410DBF7ED8}" destId="{D1445653-55DC-4C0A-9D04-121D95683DF4}" srcOrd="0" destOrd="0" presId="urn:microsoft.com/office/officeart/2005/8/layout/vProcess5"/>
    <dgm:cxn modelId="{D6E4D0ED-AF7B-493C-A9CC-254ADB648A3E}" srcId="{4E0FD742-F3A2-448F-811B-8E6C8DED4AA1}" destId="{4F5BFA9C-4E14-4A85-82E6-E0915863825C}" srcOrd="3" destOrd="0" parTransId="{C3307738-8680-45DF-A9FD-DC6954D6FC92}" sibTransId="{E99EA486-50B5-471A-879C-F6410DBF7ED8}"/>
    <dgm:cxn modelId="{A61715F1-4021-49D0-8873-C19991D38EEA}" type="presOf" srcId="{B1963D82-68CB-45F8-8303-EF91230541E3}" destId="{21066AE1-256B-40D3-9E44-342C341415BD}" srcOrd="1" destOrd="0" presId="urn:microsoft.com/office/officeart/2005/8/layout/vProcess5"/>
    <dgm:cxn modelId="{BFA7D3F5-CAAE-4693-9A17-3793580D806A}" type="presOf" srcId="{BDC14698-9E9E-4F93-B2A4-D5AC853E3DCD}" destId="{A403ABD4-E317-4B9E-9787-F1F6423FAF53}" srcOrd="1" destOrd="0" presId="urn:microsoft.com/office/officeart/2005/8/layout/vProcess5"/>
    <dgm:cxn modelId="{9362A0FF-298B-4292-B78C-C502F7007F0C}" srcId="{4E0FD742-F3A2-448F-811B-8E6C8DED4AA1}" destId="{BDC14698-9E9E-4F93-B2A4-D5AC853E3DCD}" srcOrd="0" destOrd="0" parTransId="{2513122B-8ED6-4A67-B61D-CDBC19205C73}" sibTransId="{D6E2C8AD-B380-4568-B718-7EE95CF64705}"/>
    <dgm:cxn modelId="{D4A0FCAB-D3EC-4CAC-B0A9-2C7C6014C96A}" type="presParOf" srcId="{E5DF09FF-9122-4818-99C0-AB87D88AF105}" destId="{4B4438A5-C1C9-4A74-B64B-3E6A33928ACD}" srcOrd="0" destOrd="0" presId="urn:microsoft.com/office/officeart/2005/8/layout/vProcess5"/>
    <dgm:cxn modelId="{4F48691E-3F66-41B7-99E3-51A8367C298F}" type="presParOf" srcId="{E5DF09FF-9122-4818-99C0-AB87D88AF105}" destId="{3D43B2D2-4C8C-479E-B213-099B7FA23758}" srcOrd="1" destOrd="0" presId="urn:microsoft.com/office/officeart/2005/8/layout/vProcess5"/>
    <dgm:cxn modelId="{4A74172E-3491-4679-8878-793BDF678DAC}" type="presParOf" srcId="{E5DF09FF-9122-4818-99C0-AB87D88AF105}" destId="{9B4047BF-B8CB-4624-A3CD-7308FC944F98}" srcOrd="2" destOrd="0" presId="urn:microsoft.com/office/officeart/2005/8/layout/vProcess5"/>
    <dgm:cxn modelId="{48D93D12-12AE-4A10-A85F-54B272438660}" type="presParOf" srcId="{E5DF09FF-9122-4818-99C0-AB87D88AF105}" destId="{9094905E-6914-49FB-9118-470F5A12DC43}" srcOrd="3" destOrd="0" presId="urn:microsoft.com/office/officeart/2005/8/layout/vProcess5"/>
    <dgm:cxn modelId="{730A117F-14B5-4A62-99FE-8C740CCCDC28}" type="presParOf" srcId="{E5DF09FF-9122-4818-99C0-AB87D88AF105}" destId="{B115F2F5-236A-41C3-8C71-C7987F371F5A}" srcOrd="4" destOrd="0" presId="urn:microsoft.com/office/officeart/2005/8/layout/vProcess5"/>
    <dgm:cxn modelId="{F2329857-B2E3-4509-ADAB-C9971546F178}" type="presParOf" srcId="{E5DF09FF-9122-4818-99C0-AB87D88AF105}" destId="{0B18BA2F-3CDF-4CAD-9B8C-FD5AD13F8ACA}" srcOrd="5" destOrd="0" presId="urn:microsoft.com/office/officeart/2005/8/layout/vProcess5"/>
    <dgm:cxn modelId="{EC8E7B83-6860-4C16-BC63-F4182D018654}" type="presParOf" srcId="{E5DF09FF-9122-4818-99C0-AB87D88AF105}" destId="{9BE4A707-5611-4720-A148-89FCB9712EA8}" srcOrd="6" destOrd="0" presId="urn:microsoft.com/office/officeart/2005/8/layout/vProcess5"/>
    <dgm:cxn modelId="{9D4986AE-80BB-4322-90C4-95EF8F02F5FD}" type="presParOf" srcId="{E5DF09FF-9122-4818-99C0-AB87D88AF105}" destId="{38471A33-A32B-4756-9D8F-C28C2010CF14}" srcOrd="7" destOrd="0" presId="urn:microsoft.com/office/officeart/2005/8/layout/vProcess5"/>
    <dgm:cxn modelId="{48B69231-9479-4DEB-8DFA-277807F76305}" type="presParOf" srcId="{E5DF09FF-9122-4818-99C0-AB87D88AF105}" destId="{476B30B6-3B7B-4C81-ACD1-54081791B0C3}" srcOrd="8" destOrd="0" presId="urn:microsoft.com/office/officeart/2005/8/layout/vProcess5"/>
    <dgm:cxn modelId="{E9E0F1A1-91C5-40C7-8CA7-A6DAE54D3E2A}" type="presParOf" srcId="{E5DF09FF-9122-4818-99C0-AB87D88AF105}" destId="{D1445653-55DC-4C0A-9D04-121D95683DF4}" srcOrd="9" destOrd="0" presId="urn:microsoft.com/office/officeart/2005/8/layout/vProcess5"/>
    <dgm:cxn modelId="{EF7DB2BF-4FF1-4421-B43D-8E8EA0FFA230}" type="presParOf" srcId="{E5DF09FF-9122-4818-99C0-AB87D88AF105}" destId="{A403ABD4-E317-4B9E-9787-F1F6423FAF53}" srcOrd="10" destOrd="0" presId="urn:microsoft.com/office/officeart/2005/8/layout/vProcess5"/>
    <dgm:cxn modelId="{BACDA1FF-ADC3-4A24-BBDD-85542CAA5773}" type="presParOf" srcId="{E5DF09FF-9122-4818-99C0-AB87D88AF105}" destId="{21066AE1-256B-40D3-9E44-342C341415BD}" srcOrd="11" destOrd="0" presId="urn:microsoft.com/office/officeart/2005/8/layout/vProcess5"/>
    <dgm:cxn modelId="{E7244F88-9BFD-46E3-A290-BD409D677CE5}" type="presParOf" srcId="{E5DF09FF-9122-4818-99C0-AB87D88AF105}" destId="{CF221DD7-F06D-402A-A577-25B0487A0628}" srcOrd="12" destOrd="0" presId="urn:microsoft.com/office/officeart/2005/8/layout/vProcess5"/>
    <dgm:cxn modelId="{09E5CCAF-93BF-4B55-A80B-0F29CCAC1653}" type="presParOf" srcId="{E5DF09FF-9122-4818-99C0-AB87D88AF105}" destId="{120D03B9-C595-46AA-B449-6C5A9E13A466}" srcOrd="13" destOrd="0" presId="urn:microsoft.com/office/officeart/2005/8/layout/vProcess5"/>
    <dgm:cxn modelId="{5020D42C-0037-4DA3-A0F0-B0CB7C59B310}" type="presParOf" srcId="{E5DF09FF-9122-4818-99C0-AB87D88AF105}" destId="{6562F435-3B71-4A3E-8D5B-137B6AC4A21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DBFD4FB-C6FD-4DBB-9390-F7A7A71FE3E3}" type="doc">
      <dgm:prSet loTypeId="urn:microsoft.com/office/officeart/2005/8/layout/vProcess5" loCatId="process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C6CD62B-792B-4197-B285-287F91009B23}">
      <dgm:prSet/>
      <dgm:spPr/>
      <dgm:t>
        <a:bodyPr/>
        <a:lstStyle/>
        <a:p>
          <a:r>
            <a:rPr lang="en-US" altLang="x-none" dirty="0"/>
            <a:t>A thread is a piece of code within the process</a:t>
          </a:r>
        </a:p>
        <a:p>
          <a:r>
            <a:rPr lang="en-US" altLang="x-none" dirty="0"/>
            <a:t>               Executes within the address space of a process  </a:t>
          </a:r>
          <a:endParaRPr lang="en-US" dirty="0"/>
        </a:p>
      </dgm:t>
    </dgm:pt>
    <dgm:pt modelId="{395D8A00-B55D-4171-9F0A-E126EA1FF859}" type="parTrans" cxnId="{038B9808-E538-4116-835F-108165963CE9}">
      <dgm:prSet/>
      <dgm:spPr/>
      <dgm:t>
        <a:bodyPr/>
        <a:lstStyle/>
        <a:p>
          <a:endParaRPr lang="en-US"/>
        </a:p>
      </dgm:t>
    </dgm:pt>
    <dgm:pt modelId="{22E69D41-2870-4C93-9855-9D6D69FEDE33}" type="sibTrans" cxnId="{038B9808-E538-4116-835F-108165963CE9}">
      <dgm:prSet/>
      <dgm:spPr/>
      <dgm:t>
        <a:bodyPr/>
        <a:lstStyle/>
        <a:p>
          <a:endParaRPr lang="en-US"/>
        </a:p>
      </dgm:t>
    </dgm:pt>
    <dgm:pt modelId="{97BEF166-46D9-47CD-A5CC-C42CEBF458FD}">
      <dgm:prSet/>
      <dgm:spPr/>
      <dgm:t>
        <a:bodyPr/>
        <a:lstStyle/>
        <a:p>
          <a:r>
            <a:rPr lang="en-US" altLang="x-none" dirty="0"/>
            <a:t>Lightweight process</a:t>
          </a:r>
          <a:endParaRPr lang="en-US" dirty="0"/>
        </a:p>
      </dgm:t>
    </dgm:pt>
    <dgm:pt modelId="{FBEE11A8-B916-4E58-A92E-2149E10CDF52}" type="parTrans" cxnId="{CE11581B-50BA-42FD-905C-44D262A1F704}">
      <dgm:prSet/>
      <dgm:spPr/>
      <dgm:t>
        <a:bodyPr/>
        <a:lstStyle/>
        <a:p>
          <a:endParaRPr lang="en-US"/>
        </a:p>
      </dgm:t>
    </dgm:pt>
    <dgm:pt modelId="{94EEBF6A-1233-40F1-A207-DB57EC2029C3}" type="sibTrans" cxnId="{CE11581B-50BA-42FD-905C-44D262A1F704}">
      <dgm:prSet/>
      <dgm:spPr/>
      <dgm:t>
        <a:bodyPr/>
        <a:lstStyle/>
        <a:p>
          <a:endParaRPr lang="en-US"/>
        </a:p>
      </dgm:t>
    </dgm:pt>
    <dgm:pt modelId="{3B6F74DB-0149-4900-BF54-CE4E00988833}">
      <dgm:prSet/>
      <dgm:spPr/>
      <dgm:t>
        <a:bodyPr/>
        <a:lstStyle/>
        <a:p>
          <a:r>
            <a:rPr lang="en-US" altLang="x-none" dirty="0"/>
            <a:t>Can be scheduled to run on a CPU as an independent unit and terminate </a:t>
          </a:r>
          <a:endParaRPr lang="en-US" dirty="0"/>
        </a:p>
      </dgm:t>
    </dgm:pt>
    <dgm:pt modelId="{BD14514F-A25A-4E1B-9F99-29EFB218BEFD}" type="parTrans" cxnId="{BFB17CAC-D93E-4021-84D4-14AE54440405}">
      <dgm:prSet/>
      <dgm:spPr/>
      <dgm:t>
        <a:bodyPr/>
        <a:lstStyle/>
        <a:p>
          <a:endParaRPr lang="en-US"/>
        </a:p>
      </dgm:t>
    </dgm:pt>
    <dgm:pt modelId="{B7084219-FE28-4FA1-BDCF-22248CC47DAC}" type="sibTrans" cxnId="{BFB17CAC-D93E-4021-84D4-14AE54440405}">
      <dgm:prSet/>
      <dgm:spPr/>
      <dgm:t>
        <a:bodyPr/>
        <a:lstStyle/>
        <a:p>
          <a:endParaRPr lang="en-US"/>
        </a:p>
      </dgm:t>
    </dgm:pt>
    <dgm:pt modelId="{7552C02E-5F13-4041-BA37-B969A0F575DD}">
      <dgm:prSet/>
      <dgm:spPr/>
      <dgm:t>
        <a:bodyPr/>
        <a:lstStyle/>
        <a:p>
          <a:r>
            <a:rPr lang="en-US" altLang="x-none" dirty="0"/>
            <a:t>Multiple threads can run simultaneously </a:t>
          </a:r>
          <a:r>
            <a:rPr lang="en-US" dirty="0"/>
            <a:t>.</a:t>
          </a:r>
        </a:p>
      </dgm:t>
    </dgm:pt>
    <dgm:pt modelId="{6D4DA76C-9E3C-424D-AA67-34DE0D94800B}" type="parTrans" cxnId="{D2E8C1D5-EACD-4F3F-9E8E-F17E5974CC69}">
      <dgm:prSet/>
      <dgm:spPr/>
      <dgm:t>
        <a:bodyPr/>
        <a:lstStyle/>
        <a:p>
          <a:endParaRPr lang="en-US"/>
        </a:p>
      </dgm:t>
    </dgm:pt>
    <dgm:pt modelId="{1C3FFEED-B6C7-4BB6-9706-D2DC45A3AEBC}" type="sibTrans" cxnId="{D2E8C1D5-EACD-4F3F-9E8E-F17E5974CC69}">
      <dgm:prSet/>
      <dgm:spPr/>
      <dgm:t>
        <a:bodyPr/>
        <a:lstStyle/>
        <a:p>
          <a:endParaRPr lang="en-US"/>
        </a:p>
      </dgm:t>
    </dgm:pt>
    <dgm:pt modelId="{3E46501C-6D4A-4F3F-8329-DC4030F869D1}" type="pres">
      <dgm:prSet presAssocID="{2DBFD4FB-C6FD-4DBB-9390-F7A7A71FE3E3}" presName="outerComposite" presStyleCnt="0">
        <dgm:presLayoutVars>
          <dgm:chMax val="5"/>
          <dgm:dir/>
          <dgm:resizeHandles val="exact"/>
        </dgm:presLayoutVars>
      </dgm:prSet>
      <dgm:spPr/>
    </dgm:pt>
    <dgm:pt modelId="{5A3DD3BD-3AF0-4660-94BB-9723E00B85B7}" type="pres">
      <dgm:prSet presAssocID="{2DBFD4FB-C6FD-4DBB-9390-F7A7A71FE3E3}" presName="dummyMaxCanvas" presStyleCnt="0">
        <dgm:presLayoutVars/>
      </dgm:prSet>
      <dgm:spPr/>
    </dgm:pt>
    <dgm:pt modelId="{C42F0DB9-593E-49A3-BFC5-548BBF7E1B5B}" type="pres">
      <dgm:prSet presAssocID="{2DBFD4FB-C6FD-4DBB-9390-F7A7A71FE3E3}" presName="FourNodes_1" presStyleLbl="node1" presStyleIdx="0" presStyleCnt="4">
        <dgm:presLayoutVars>
          <dgm:bulletEnabled val="1"/>
        </dgm:presLayoutVars>
      </dgm:prSet>
      <dgm:spPr/>
    </dgm:pt>
    <dgm:pt modelId="{0E30BD2E-CD2E-42EF-B900-C93ABD563988}" type="pres">
      <dgm:prSet presAssocID="{2DBFD4FB-C6FD-4DBB-9390-F7A7A71FE3E3}" presName="FourNodes_2" presStyleLbl="node1" presStyleIdx="1" presStyleCnt="4">
        <dgm:presLayoutVars>
          <dgm:bulletEnabled val="1"/>
        </dgm:presLayoutVars>
      </dgm:prSet>
      <dgm:spPr/>
    </dgm:pt>
    <dgm:pt modelId="{68A71341-5AC0-4E14-BBEE-0B5FC0957F37}" type="pres">
      <dgm:prSet presAssocID="{2DBFD4FB-C6FD-4DBB-9390-F7A7A71FE3E3}" presName="FourNodes_3" presStyleLbl="node1" presStyleIdx="2" presStyleCnt="4">
        <dgm:presLayoutVars>
          <dgm:bulletEnabled val="1"/>
        </dgm:presLayoutVars>
      </dgm:prSet>
      <dgm:spPr/>
    </dgm:pt>
    <dgm:pt modelId="{500EE2B6-65AB-4944-9D94-49DD1ACA433F}" type="pres">
      <dgm:prSet presAssocID="{2DBFD4FB-C6FD-4DBB-9390-F7A7A71FE3E3}" presName="FourNodes_4" presStyleLbl="node1" presStyleIdx="3" presStyleCnt="4">
        <dgm:presLayoutVars>
          <dgm:bulletEnabled val="1"/>
        </dgm:presLayoutVars>
      </dgm:prSet>
      <dgm:spPr/>
    </dgm:pt>
    <dgm:pt modelId="{33CD8A7B-AFC7-4C3E-BB61-656B6F363D36}" type="pres">
      <dgm:prSet presAssocID="{2DBFD4FB-C6FD-4DBB-9390-F7A7A71FE3E3}" presName="FourConn_1-2" presStyleLbl="fgAccFollowNode1" presStyleIdx="0" presStyleCnt="3">
        <dgm:presLayoutVars>
          <dgm:bulletEnabled val="1"/>
        </dgm:presLayoutVars>
      </dgm:prSet>
      <dgm:spPr/>
    </dgm:pt>
    <dgm:pt modelId="{BCACED93-6D0A-4E3A-8B19-301AAF848474}" type="pres">
      <dgm:prSet presAssocID="{2DBFD4FB-C6FD-4DBB-9390-F7A7A71FE3E3}" presName="FourConn_2-3" presStyleLbl="fgAccFollowNode1" presStyleIdx="1" presStyleCnt="3">
        <dgm:presLayoutVars>
          <dgm:bulletEnabled val="1"/>
        </dgm:presLayoutVars>
      </dgm:prSet>
      <dgm:spPr/>
    </dgm:pt>
    <dgm:pt modelId="{9C6C9CAB-BF62-489E-9CFB-DB7DDDDD0C9A}" type="pres">
      <dgm:prSet presAssocID="{2DBFD4FB-C6FD-4DBB-9390-F7A7A71FE3E3}" presName="FourConn_3-4" presStyleLbl="fgAccFollowNode1" presStyleIdx="2" presStyleCnt="3">
        <dgm:presLayoutVars>
          <dgm:bulletEnabled val="1"/>
        </dgm:presLayoutVars>
      </dgm:prSet>
      <dgm:spPr/>
    </dgm:pt>
    <dgm:pt modelId="{7CA2842A-D7E5-4732-984F-1374F5743E84}" type="pres">
      <dgm:prSet presAssocID="{2DBFD4FB-C6FD-4DBB-9390-F7A7A71FE3E3}" presName="FourNodes_1_text" presStyleLbl="node1" presStyleIdx="3" presStyleCnt="4">
        <dgm:presLayoutVars>
          <dgm:bulletEnabled val="1"/>
        </dgm:presLayoutVars>
      </dgm:prSet>
      <dgm:spPr/>
    </dgm:pt>
    <dgm:pt modelId="{4DEAE8B0-BA6E-469C-9A95-1B8F713A61EA}" type="pres">
      <dgm:prSet presAssocID="{2DBFD4FB-C6FD-4DBB-9390-F7A7A71FE3E3}" presName="FourNodes_2_text" presStyleLbl="node1" presStyleIdx="3" presStyleCnt="4">
        <dgm:presLayoutVars>
          <dgm:bulletEnabled val="1"/>
        </dgm:presLayoutVars>
      </dgm:prSet>
      <dgm:spPr/>
    </dgm:pt>
    <dgm:pt modelId="{D4BFB632-EA74-46F3-8186-334D028365B0}" type="pres">
      <dgm:prSet presAssocID="{2DBFD4FB-C6FD-4DBB-9390-F7A7A71FE3E3}" presName="FourNodes_3_text" presStyleLbl="node1" presStyleIdx="3" presStyleCnt="4">
        <dgm:presLayoutVars>
          <dgm:bulletEnabled val="1"/>
        </dgm:presLayoutVars>
      </dgm:prSet>
      <dgm:spPr/>
    </dgm:pt>
    <dgm:pt modelId="{ADCC3FDF-9843-40A4-89A0-8F7B1D8D0CE5}" type="pres">
      <dgm:prSet presAssocID="{2DBFD4FB-C6FD-4DBB-9390-F7A7A71FE3E3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5681401-C0B3-459E-9E1E-B72B96E43841}" type="presOf" srcId="{7552C02E-5F13-4041-BA37-B969A0F575DD}" destId="{ADCC3FDF-9843-40A4-89A0-8F7B1D8D0CE5}" srcOrd="1" destOrd="0" presId="urn:microsoft.com/office/officeart/2005/8/layout/vProcess5"/>
    <dgm:cxn modelId="{4C1E4902-4532-40E3-AE7D-44E7459592F7}" type="presOf" srcId="{97BEF166-46D9-47CD-A5CC-C42CEBF458FD}" destId="{0E30BD2E-CD2E-42EF-B900-C93ABD563988}" srcOrd="0" destOrd="0" presId="urn:microsoft.com/office/officeart/2005/8/layout/vProcess5"/>
    <dgm:cxn modelId="{5683A603-0D64-4BBC-809B-A73276EC111C}" type="presOf" srcId="{5C6CD62B-792B-4197-B285-287F91009B23}" destId="{7CA2842A-D7E5-4732-984F-1374F5743E84}" srcOrd="1" destOrd="0" presId="urn:microsoft.com/office/officeart/2005/8/layout/vProcess5"/>
    <dgm:cxn modelId="{038B9808-E538-4116-835F-108165963CE9}" srcId="{2DBFD4FB-C6FD-4DBB-9390-F7A7A71FE3E3}" destId="{5C6CD62B-792B-4197-B285-287F91009B23}" srcOrd="0" destOrd="0" parTransId="{395D8A00-B55D-4171-9F0A-E126EA1FF859}" sibTransId="{22E69D41-2870-4C93-9855-9D6D69FEDE33}"/>
    <dgm:cxn modelId="{5739D810-4A98-47D7-86E8-830BA40ECA46}" type="presOf" srcId="{97BEF166-46D9-47CD-A5CC-C42CEBF458FD}" destId="{4DEAE8B0-BA6E-469C-9A95-1B8F713A61EA}" srcOrd="1" destOrd="0" presId="urn:microsoft.com/office/officeart/2005/8/layout/vProcess5"/>
    <dgm:cxn modelId="{CE11581B-50BA-42FD-905C-44D262A1F704}" srcId="{2DBFD4FB-C6FD-4DBB-9390-F7A7A71FE3E3}" destId="{97BEF166-46D9-47CD-A5CC-C42CEBF458FD}" srcOrd="1" destOrd="0" parTransId="{FBEE11A8-B916-4E58-A92E-2149E10CDF52}" sibTransId="{94EEBF6A-1233-40F1-A207-DB57EC2029C3}"/>
    <dgm:cxn modelId="{A09BA01F-51B2-4C6A-8793-31B263B1DFA9}" type="presOf" srcId="{3B6F74DB-0149-4900-BF54-CE4E00988833}" destId="{68A71341-5AC0-4E14-BBEE-0B5FC0957F37}" srcOrd="0" destOrd="0" presId="urn:microsoft.com/office/officeart/2005/8/layout/vProcess5"/>
    <dgm:cxn modelId="{B1F8CD5B-0715-4105-80AF-C5C9CBCF9B97}" type="presOf" srcId="{7552C02E-5F13-4041-BA37-B969A0F575DD}" destId="{500EE2B6-65AB-4944-9D94-49DD1ACA433F}" srcOrd="0" destOrd="0" presId="urn:microsoft.com/office/officeart/2005/8/layout/vProcess5"/>
    <dgm:cxn modelId="{DE355F41-A3FB-4A1F-A669-C5143C9A0D7B}" type="presOf" srcId="{22E69D41-2870-4C93-9855-9D6D69FEDE33}" destId="{33CD8A7B-AFC7-4C3E-BB61-656B6F363D36}" srcOrd="0" destOrd="0" presId="urn:microsoft.com/office/officeart/2005/8/layout/vProcess5"/>
    <dgm:cxn modelId="{6F84AB41-DDB3-45AA-B39B-C39DC6F0B3BA}" type="presOf" srcId="{5C6CD62B-792B-4197-B285-287F91009B23}" destId="{C42F0DB9-593E-49A3-BFC5-548BBF7E1B5B}" srcOrd="0" destOrd="0" presId="urn:microsoft.com/office/officeart/2005/8/layout/vProcess5"/>
    <dgm:cxn modelId="{89AA5167-3AAA-44A7-9EB8-8457F8E2745F}" type="presOf" srcId="{2DBFD4FB-C6FD-4DBB-9390-F7A7A71FE3E3}" destId="{3E46501C-6D4A-4F3F-8329-DC4030F869D1}" srcOrd="0" destOrd="0" presId="urn:microsoft.com/office/officeart/2005/8/layout/vProcess5"/>
    <dgm:cxn modelId="{84692072-59B2-4441-8664-65FFDEBE5B5B}" type="presOf" srcId="{B7084219-FE28-4FA1-BDCF-22248CC47DAC}" destId="{9C6C9CAB-BF62-489E-9CFB-DB7DDDDD0C9A}" srcOrd="0" destOrd="0" presId="urn:microsoft.com/office/officeart/2005/8/layout/vProcess5"/>
    <dgm:cxn modelId="{7ABCDA76-AEC8-479D-B3A6-F0C8A7087742}" type="presOf" srcId="{3B6F74DB-0149-4900-BF54-CE4E00988833}" destId="{D4BFB632-EA74-46F3-8186-334D028365B0}" srcOrd="1" destOrd="0" presId="urn:microsoft.com/office/officeart/2005/8/layout/vProcess5"/>
    <dgm:cxn modelId="{BFB17CAC-D93E-4021-84D4-14AE54440405}" srcId="{2DBFD4FB-C6FD-4DBB-9390-F7A7A71FE3E3}" destId="{3B6F74DB-0149-4900-BF54-CE4E00988833}" srcOrd="2" destOrd="0" parTransId="{BD14514F-A25A-4E1B-9F99-29EFB218BEFD}" sibTransId="{B7084219-FE28-4FA1-BDCF-22248CC47DAC}"/>
    <dgm:cxn modelId="{D2E8C1D5-EACD-4F3F-9E8E-F17E5974CC69}" srcId="{2DBFD4FB-C6FD-4DBB-9390-F7A7A71FE3E3}" destId="{7552C02E-5F13-4041-BA37-B969A0F575DD}" srcOrd="3" destOrd="0" parTransId="{6D4DA76C-9E3C-424D-AA67-34DE0D94800B}" sibTransId="{1C3FFEED-B6C7-4BB6-9706-D2DC45A3AEBC}"/>
    <dgm:cxn modelId="{D7C6E4DC-AF50-4F2C-ACCD-7FCB319D2DBC}" type="presOf" srcId="{94EEBF6A-1233-40F1-A207-DB57EC2029C3}" destId="{BCACED93-6D0A-4E3A-8B19-301AAF848474}" srcOrd="0" destOrd="0" presId="urn:microsoft.com/office/officeart/2005/8/layout/vProcess5"/>
    <dgm:cxn modelId="{364BCEF3-4624-4DB6-A285-B9DA799DED0E}" type="presParOf" srcId="{3E46501C-6D4A-4F3F-8329-DC4030F869D1}" destId="{5A3DD3BD-3AF0-4660-94BB-9723E00B85B7}" srcOrd="0" destOrd="0" presId="urn:microsoft.com/office/officeart/2005/8/layout/vProcess5"/>
    <dgm:cxn modelId="{B989C5EF-D05E-4A36-802C-D94C75819902}" type="presParOf" srcId="{3E46501C-6D4A-4F3F-8329-DC4030F869D1}" destId="{C42F0DB9-593E-49A3-BFC5-548BBF7E1B5B}" srcOrd="1" destOrd="0" presId="urn:microsoft.com/office/officeart/2005/8/layout/vProcess5"/>
    <dgm:cxn modelId="{C3F8274F-DD08-43CA-8EB0-831DC15081DE}" type="presParOf" srcId="{3E46501C-6D4A-4F3F-8329-DC4030F869D1}" destId="{0E30BD2E-CD2E-42EF-B900-C93ABD563988}" srcOrd="2" destOrd="0" presId="urn:microsoft.com/office/officeart/2005/8/layout/vProcess5"/>
    <dgm:cxn modelId="{374A4F66-2C55-4CCC-9E95-F11D0CFC48F6}" type="presParOf" srcId="{3E46501C-6D4A-4F3F-8329-DC4030F869D1}" destId="{68A71341-5AC0-4E14-BBEE-0B5FC0957F37}" srcOrd="3" destOrd="0" presId="urn:microsoft.com/office/officeart/2005/8/layout/vProcess5"/>
    <dgm:cxn modelId="{021FD075-F485-47AF-B205-DD6314DBF6F4}" type="presParOf" srcId="{3E46501C-6D4A-4F3F-8329-DC4030F869D1}" destId="{500EE2B6-65AB-4944-9D94-49DD1ACA433F}" srcOrd="4" destOrd="0" presId="urn:microsoft.com/office/officeart/2005/8/layout/vProcess5"/>
    <dgm:cxn modelId="{E0A267C1-8216-42F0-B476-FBCAD8C92C44}" type="presParOf" srcId="{3E46501C-6D4A-4F3F-8329-DC4030F869D1}" destId="{33CD8A7B-AFC7-4C3E-BB61-656B6F363D36}" srcOrd="5" destOrd="0" presId="urn:microsoft.com/office/officeart/2005/8/layout/vProcess5"/>
    <dgm:cxn modelId="{467BDFD7-7595-4464-B40C-47C4B6C79D5E}" type="presParOf" srcId="{3E46501C-6D4A-4F3F-8329-DC4030F869D1}" destId="{BCACED93-6D0A-4E3A-8B19-301AAF848474}" srcOrd="6" destOrd="0" presId="urn:microsoft.com/office/officeart/2005/8/layout/vProcess5"/>
    <dgm:cxn modelId="{1AF830DB-5DC3-470F-85D9-0A416F8A0590}" type="presParOf" srcId="{3E46501C-6D4A-4F3F-8329-DC4030F869D1}" destId="{9C6C9CAB-BF62-489E-9CFB-DB7DDDDD0C9A}" srcOrd="7" destOrd="0" presId="urn:microsoft.com/office/officeart/2005/8/layout/vProcess5"/>
    <dgm:cxn modelId="{13D92334-B6F4-4A8E-B7FB-ED421A8EB928}" type="presParOf" srcId="{3E46501C-6D4A-4F3F-8329-DC4030F869D1}" destId="{7CA2842A-D7E5-4732-984F-1374F5743E84}" srcOrd="8" destOrd="0" presId="urn:microsoft.com/office/officeart/2005/8/layout/vProcess5"/>
    <dgm:cxn modelId="{A1F8092C-E9CA-4EE3-B9D8-C3B205973991}" type="presParOf" srcId="{3E46501C-6D4A-4F3F-8329-DC4030F869D1}" destId="{4DEAE8B0-BA6E-469C-9A95-1B8F713A61EA}" srcOrd="9" destOrd="0" presId="urn:microsoft.com/office/officeart/2005/8/layout/vProcess5"/>
    <dgm:cxn modelId="{728279BB-34C6-48FF-B01B-776FC540A0BD}" type="presParOf" srcId="{3E46501C-6D4A-4F3F-8329-DC4030F869D1}" destId="{D4BFB632-EA74-46F3-8186-334D028365B0}" srcOrd="10" destOrd="0" presId="urn:microsoft.com/office/officeart/2005/8/layout/vProcess5"/>
    <dgm:cxn modelId="{1E9572D1-866D-4850-9E63-60ADDCF3C3D2}" type="presParOf" srcId="{3E46501C-6D4A-4F3F-8329-DC4030F869D1}" destId="{ADCC3FDF-9843-40A4-89A0-8F7B1D8D0CE5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C605FAC-F4E1-443B-91BE-22C6277E36A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03A11AC-6691-4719-A18C-2D6C7EA9F1B7}" type="pres">
      <dgm:prSet presAssocID="{AC605FAC-F4E1-443B-91BE-22C6277E36A9}" presName="root" presStyleCnt="0">
        <dgm:presLayoutVars>
          <dgm:dir/>
          <dgm:resizeHandles val="exact"/>
        </dgm:presLayoutVars>
      </dgm:prSet>
      <dgm:spPr/>
    </dgm:pt>
  </dgm:ptLst>
  <dgm:cxnLst>
    <dgm:cxn modelId="{EC3A6D8C-FF5E-4705-AD3B-8C9EF9B23F68}" type="presOf" srcId="{AC605FAC-F4E1-443B-91BE-22C6277E36A9}" destId="{203A11AC-6691-4719-A18C-2D6C7EA9F1B7}" srcOrd="0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C605FAC-F4E1-443B-91BE-22C6277E36A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03A11AC-6691-4719-A18C-2D6C7EA9F1B7}" type="pres">
      <dgm:prSet presAssocID="{AC605FAC-F4E1-443B-91BE-22C6277E36A9}" presName="root" presStyleCnt="0">
        <dgm:presLayoutVars>
          <dgm:dir/>
          <dgm:resizeHandles val="exact"/>
        </dgm:presLayoutVars>
      </dgm:prSet>
      <dgm:spPr/>
    </dgm:pt>
  </dgm:ptLst>
  <dgm:cxnLst>
    <dgm:cxn modelId="{EC3A6D8C-FF5E-4705-AD3B-8C9EF9B23F68}" type="presOf" srcId="{AC605FAC-F4E1-443B-91BE-22C6277E36A9}" destId="{203A11AC-6691-4719-A18C-2D6C7EA9F1B7}" srcOrd="0" destOrd="0" presId="urn:microsoft.com/office/officeart/2018/2/layout/IconVerticalSolidList"/>
  </dgm:cxnLst>
  <dgm:bg>
    <a:blipFill>
      <a:blip xmlns:r="http://schemas.openxmlformats.org/officeDocument/2006/relationships" r:embed="rId1">
        <a:extLst>
          <a:ext uri="{28A0092B-C50C-407E-A947-70E740481C1C}">
            <a14:useLocalDpi xmlns:a14="http://schemas.microsoft.com/office/drawing/2010/main" val="0"/>
          </a:ext>
        </a:extLst>
      </a:blip>
      <a:stretch>
        <a:fillRect/>
      </a:stretch>
    </a:blipFill>
    <a:effectLst>
      <a:outerShdw blurRad="50800" dist="38100" dir="8100000" algn="tr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C605FAC-F4E1-443B-91BE-22C6277E36A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44C359-7308-4379-89E9-19E66492F1E3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Introduction of Thread Model.</a:t>
          </a:r>
          <a:r>
            <a:rPr lang="en-US" dirty="0"/>
            <a:t>.</a:t>
          </a:r>
        </a:p>
      </dgm:t>
    </dgm:pt>
    <dgm:pt modelId="{DDE39F89-4909-4F7C-B6EE-53FC58D6BFC9}" type="parTrans" cxnId="{5A7FBB75-A817-4E9D-AEC2-DB7B07048CA1}">
      <dgm:prSet/>
      <dgm:spPr/>
      <dgm:t>
        <a:bodyPr/>
        <a:lstStyle/>
        <a:p>
          <a:endParaRPr lang="en-US"/>
        </a:p>
      </dgm:t>
    </dgm:pt>
    <dgm:pt modelId="{C10B7116-E14F-4655-9E5A-B6D7DD37A5B9}" type="sibTrans" cxnId="{5A7FBB75-A817-4E9D-AEC2-DB7B07048CA1}">
      <dgm:prSet/>
      <dgm:spPr/>
      <dgm:t>
        <a:bodyPr/>
        <a:lstStyle/>
        <a:p>
          <a:endParaRPr lang="en-US"/>
        </a:p>
      </dgm:t>
    </dgm:pt>
    <dgm:pt modelId="{B52304F7-9CCF-4381-9DB7-D65E8FF69D98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Logical Machine Model of Threads.</a:t>
          </a:r>
          <a:endParaRPr lang="en-US" dirty="0"/>
        </a:p>
      </dgm:t>
    </dgm:pt>
    <dgm:pt modelId="{5A3F200D-6884-4F08-B3E1-ED350FEF42E7}" type="parTrans" cxnId="{7D93A2FB-E493-4057-9321-1F6F3DDA93FB}">
      <dgm:prSet/>
      <dgm:spPr/>
      <dgm:t>
        <a:bodyPr/>
        <a:lstStyle/>
        <a:p>
          <a:endParaRPr lang="en-US"/>
        </a:p>
      </dgm:t>
    </dgm:pt>
    <dgm:pt modelId="{3B0ED119-AD1B-484D-96A0-C81E45281368}" type="sibTrans" cxnId="{7D93A2FB-E493-4057-9321-1F6F3DDA93FB}">
      <dgm:prSet/>
      <dgm:spPr/>
      <dgm:t>
        <a:bodyPr/>
        <a:lstStyle/>
        <a:p>
          <a:endParaRPr lang="en-US"/>
        </a:p>
      </dgm:t>
    </dgm:pt>
    <dgm:pt modelId="{203A11AC-6691-4719-A18C-2D6C7EA9F1B7}" type="pres">
      <dgm:prSet presAssocID="{AC605FAC-F4E1-443B-91BE-22C6277E36A9}" presName="root" presStyleCnt="0">
        <dgm:presLayoutVars>
          <dgm:dir/>
          <dgm:resizeHandles val="exact"/>
        </dgm:presLayoutVars>
      </dgm:prSet>
      <dgm:spPr/>
    </dgm:pt>
    <dgm:pt modelId="{600634BA-D74A-488D-87C2-97828914D25B}" type="pres">
      <dgm:prSet presAssocID="{ED44C359-7308-4379-89E9-19E66492F1E3}" presName="compNode" presStyleCnt="0"/>
      <dgm:spPr/>
    </dgm:pt>
    <dgm:pt modelId="{27611441-5FC4-4BBA-AB94-233AC5382243}" type="pres">
      <dgm:prSet presAssocID="{ED44C359-7308-4379-89E9-19E66492F1E3}" presName="bgRect" presStyleLbl="bgShp" presStyleIdx="0" presStyleCnt="2"/>
      <dgm:spPr/>
    </dgm:pt>
    <dgm:pt modelId="{C11A7D35-1FE6-446D-AE68-CDC0EA75C5EF}" type="pres">
      <dgm:prSet presAssocID="{ED44C359-7308-4379-89E9-19E66492F1E3}" presName="iconRect" presStyleLbl="node1" presStyleIdx="0" presStyleCnt="2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1E29CDAF-1E44-40CB-AADF-4B80555EE7A7}" type="pres">
      <dgm:prSet presAssocID="{ED44C359-7308-4379-89E9-19E66492F1E3}" presName="spaceRect" presStyleCnt="0"/>
      <dgm:spPr/>
    </dgm:pt>
    <dgm:pt modelId="{439E4229-80E6-49FA-AC66-32D790A69D10}" type="pres">
      <dgm:prSet presAssocID="{ED44C359-7308-4379-89E9-19E66492F1E3}" presName="parTx" presStyleLbl="revTx" presStyleIdx="0" presStyleCnt="2">
        <dgm:presLayoutVars>
          <dgm:chMax val="0"/>
          <dgm:chPref val="0"/>
        </dgm:presLayoutVars>
      </dgm:prSet>
      <dgm:spPr/>
    </dgm:pt>
    <dgm:pt modelId="{8618AEF0-E25F-4BEF-A69C-DFE10F40ECD4}" type="pres">
      <dgm:prSet presAssocID="{C10B7116-E14F-4655-9E5A-B6D7DD37A5B9}" presName="sibTrans" presStyleCnt="0"/>
      <dgm:spPr/>
    </dgm:pt>
    <dgm:pt modelId="{2B88366C-3DD7-4316-A04C-3130D68EB710}" type="pres">
      <dgm:prSet presAssocID="{B52304F7-9CCF-4381-9DB7-D65E8FF69D98}" presName="compNode" presStyleCnt="0"/>
      <dgm:spPr/>
    </dgm:pt>
    <dgm:pt modelId="{D75562AD-F78D-4876-92B4-3DD0643FB177}" type="pres">
      <dgm:prSet presAssocID="{B52304F7-9CCF-4381-9DB7-D65E8FF69D98}" presName="bgRect" presStyleLbl="bgShp" presStyleIdx="1" presStyleCnt="2"/>
      <dgm:spPr/>
    </dgm:pt>
    <dgm:pt modelId="{3807B6D7-BF48-4FDE-BD86-4D161441F3BF}" type="pres">
      <dgm:prSet presAssocID="{B52304F7-9CCF-4381-9DB7-D65E8FF69D98}" presName="iconRect" presStyleLbl="node1" presStyleIdx="1" presStyleCnt="2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07149938-3981-4A58-80D9-196D21EBC8A9}" type="pres">
      <dgm:prSet presAssocID="{B52304F7-9CCF-4381-9DB7-D65E8FF69D98}" presName="spaceRect" presStyleCnt="0"/>
      <dgm:spPr/>
    </dgm:pt>
    <dgm:pt modelId="{17273AB3-1C10-4C7C-8AEC-2DC6562CD53E}" type="pres">
      <dgm:prSet presAssocID="{B52304F7-9CCF-4381-9DB7-D65E8FF69D9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A7FBB75-A817-4E9D-AEC2-DB7B07048CA1}" srcId="{AC605FAC-F4E1-443B-91BE-22C6277E36A9}" destId="{ED44C359-7308-4379-89E9-19E66492F1E3}" srcOrd="0" destOrd="0" parTransId="{DDE39F89-4909-4F7C-B6EE-53FC58D6BFC9}" sibTransId="{C10B7116-E14F-4655-9E5A-B6D7DD37A5B9}"/>
    <dgm:cxn modelId="{EC3A6D8C-FF5E-4705-AD3B-8C9EF9B23F68}" type="presOf" srcId="{AC605FAC-F4E1-443B-91BE-22C6277E36A9}" destId="{203A11AC-6691-4719-A18C-2D6C7EA9F1B7}" srcOrd="0" destOrd="0" presId="urn:microsoft.com/office/officeart/2018/2/layout/IconVerticalSolidList"/>
    <dgm:cxn modelId="{EA474EB2-2FA0-4EB5-B43B-96F69CF80FDF}" type="presOf" srcId="{B52304F7-9CCF-4381-9DB7-D65E8FF69D98}" destId="{17273AB3-1C10-4C7C-8AEC-2DC6562CD53E}" srcOrd="0" destOrd="0" presId="urn:microsoft.com/office/officeart/2018/2/layout/IconVerticalSolidList"/>
    <dgm:cxn modelId="{7D93A2FB-E493-4057-9321-1F6F3DDA93FB}" srcId="{AC605FAC-F4E1-443B-91BE-22C6277E36A9}" destId="{B52304F7-9CCF-4381-9DB7-D65E8FF69D98}" srcOrd="1" destOrd="0" parTransId="{5A3F200D-6884-4F08-B3E1-ED350FEF42E7}" sibTransId="{3B0ED119-AD1B-484D-96A0-C81E45281368}"/>
    <dgm:cxn modelId="{B2B632FF-2735-4994-8822-858116B0A752}" type="presOf" srcId="{ED44C359-7308-4379-89E9-19E66492F1E3}" destId="{439E4229-80E6-49FA-AC66-32D790A69D10}" srcOrd="0" destOrd="0" presId="urn:microsoft.com/office/officeart/2018/2/layout/IconVerticalSolidList"/>
    <dgm:cxn modelId="{AAD0D948-0EFF-4B90-9F03-4B7F786F9A47}" type="presParOf" srcId="{203A11AC-6691-4719-A18C-2D6C7EA9F1B7}" destId="{600634BA-D74A-488D-87C2-97828914D25B}" srcOrd="0" destOrd="0" presId="urn:microsoft.com/office/officeart/2018/2/layout/IconVerticalSolidList"/>
    <dgm:cxn modelId="{F3D869F0-5B3A-470A-B684-2565F3A7987F}" type="presParOf" srcId="{600634BA-D74A-488D-87C2-97828914D25B}" destId="{27611441-5FC4-4BBA-AB94-233AC5382243}" srcOrd="0" destOrd="0" presId="urn:microsoft.com/office/officeart/2018/2/layout/IconVerticalSolidList"/>
    <dgm:cxn modelId="{5BA5ADD8-02C7-452C-BCDF-19BDA1F0B94D}" type="presParOf" srcId="{600634BA-D74A-488D-87C2-97828914D25B}" destId="{C11A7D35-1FE6-446D-AE68-CDC0EA75C5EF}" srcOrd="1" destOrd="0" presId="urn:microsoft.com/office/officeart/2018/2/layout/IconVerticalSolidList"/>
    <dgm:cxn modelId="{C127652F-989C-4112-82A7-2E03814BB3AD}" type="presParOf" srcId="{600634BA-D74A-488D-87C2-97828914D25B}" destId="{1E29CDAF-1E44-40CB-AADF-4B80555EE7A7}" srcOrd="2" destOrd="0" presId="urn:microsoft.com/office/officeart/2018/2/layout/IconVerticalSolidList"/>
    <dgm:cxn modelId="{D0FB2FCC-1D9A-4592-85F9-A92F9CF1A68C}" type="presParOf" srcId="{600634BA-D74A-488D-87C2-97828914D25B}" destId="{439E4229-80E6-49FA-AC66-32D790A69D10}" srcOrd="3" destOrd="0" presId="urn:microsoft.com/office/officeart/2018/2/layout/IconVerticalSolidList"/>
    <dgm:cxn modelId="{0785BBAD-7F37-43D2-8AA1-2BBFD54735DC}" type="presParOf" srcId="{203A11AC-6691-4719-A18C-2D6C7EA9F1B7}" destId="{8618AEF0-E25F-4BEF-A69C-DFE10F40ECD4}" srcOrd="1" destOrd="0" presId="urn:microsoft.com/office/officeart/2018/2/layout/IconVerticalSolidList"/>
    <dgm:cxn modelId="{0E7202EA-0A9A-4D44-BA99-A889DE4EB80F}" type="presParOf" srcId="{203A11AC-6691-4719-A18C-2D6C7EA9F1B7}" destId="{2B88366C-3DD7-4316-A04C-3130D68EB710}" srcOrd="2" destOrd="0" presId="urn:microsoft.com/office/officeart/2018/2/layout/IconVerticalSolidList"/>
    <dgm:cxn modelId="{517A2F4A-4697-4566-8D6B-41A3D9D6EC75}" type="presParOf" srcId="{2B88366C-3DD7-4316-A04C-3130D68EB710}" destId="{D75562AD-F78D-4876-92B4-3DD0643FB177}" srcOrd="0" destOrd="0" presId="urn:microsoft.com/office/officeart/2018/2/layout/IconVerticalSolidList"/>
    <dgm:cxn modelId="{57779C05-57C6-44B8-93EE-CACA27621853}" type="presParOf" srcId="{2B88366C-3DD7-4316-A04C-3130D68EB710}" destId="{3807B6D7-BF48-4FDE-BD86-4D161441F3BF}" srcOrd="1" destOrd="0" presId="urn:microsoft.com/office/officeart/2018/2/layout/IconVerticalSolidList"/>
    <dgm:cxn modelId="{4237C448-86CC-4DA7-AAAA-5B81A689F97F}" type="presParOf" srcId="{2B88366C-3DD7-4316-A04C-3130D68EB710}" destId="{07149938-3981-4A58-80D9-196D21EBC8A9}" srcOrd="2" destOrd="0" presId="urn:microsoft.com/office/officeart/2018/2/layout/IconVerticalSolidList"/>
    <dgm:cxn modelId="{340E6C38-EDD8-4385-BAA2-F752835D3561}" type="presParOf" srcId="{2B88366C-3DD7-4316-A04C-3130D68EB710}" destId="{17273AB3-1C10-4C7C-8AEC-2DC6562CD53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C605FAC-F4E1-443B-91BE-22C6277E36A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44C359-7308-4379-89E9-19E66492F1E3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What Is Thread API?</a:t>
          </a:r>
          <a:endParaRPr lang="en-US" dirty="0"/>
        </a:p>
      </dgm:t>
    </dgm:pt>
    <dgm:pt modelId="{DDE39F89-4909-4F7C-B6EE-53FC58D6BFC9}" type="parTrans" cxnId="{5A7FBB75-A817-4E9D-AEC2-DB7B07048CA1}">
      <dgm:prSet/>
      <dgm:spPr/>
      <dgm:t>
        <a:bodyPr/>
        <a:lstStyle/>
        <a:p>
          <a:endParaRPr lang="en-US"/>
        </a:p>
      </dgm:t>
    </dgm:pt>
    <dgm:pt modelId="{C10B7116-E14F-4655-9E5A-B6D7DD37A5B9}" type="sibTrans" cxnId="{5A7FBB75-A817-4E9D-AEC2-DB7B07048CA1}">
      <dgm:prSet/>
      <dgm:spPr/>
      <dgm:t>
        <a:bodyPr/>
        <a:lstStyle/>
        <a:p>
          <a:endParaRPr lang="en-US"/>
        </a:p>
      </dgm:t>
    </dgm:pt>
    <dgm:pt modelId="{B52304F7-9CCF-4381-9DB7-D65E8FF69D98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Thread Creation.</a:t>
          </a:r>
          <a:endParaRPr lang="en-US" dirty="0"/>
        </a:p>
      </dgm:t>
    </dgm:pt>
    <dgm:pt modelId="{5A3F200D-6884-4F08-B3E1-ED350FEF42E7}" type="parTrans" cxnId="{7D93A2FB-E493-4057-9321-1F6F3DDA93FB}">
      <dgm:prSet/>
      <dgm:spPr/>
      <dgm:t>
        <a:bodyPr/>
        <a:lstStyle/>
        <a:p>
          <a:endParaRPr lang="en-US"/>
        </a:p>
      </dgm:t>
    </dgm:pt>
    <dgm:pt modelId="{3B0ED119-AD1B-484D-96A0-C81E45281368}" type="sibTrans" cxnId="{7D93A2FB-E493-4057-9321-1F6F3DDA93FB}">
      <dgm:prSet/>
      <dgm:spPr/>
      <dgm:t>
        <a:bodyPr/>
        <a:lstStyle/>
        <a:p>
          <a:endParaRPr lang="en-US"/>
        </a:p>
      </dgm:t>
    </dgm:pt>
    <dgm:pt modelId="{203A11AC-6691-4719-A18C-2D6C7EA9F1B7}" type="pres">
      <dgm:prSet presAssocID="{AC605FAC-F4E1-443B-91BE-22C6277E36A9}" presName="root" presStyleCnt="0">
        <dgm:presLayoutVars>
          <dgm:dir/>
          <dgm:resizeHandles val="exact"/>
        </dgm:presLayoutVars>
      </dgm:prSet>
      <dgm:spPr/>
    </dgm:pt>
    <dgm:pt modelId="{600634BA-D74A-488D-87C2-97828914D25B}" type="pres">
      <dgm:prSet presAssocID="{ED44C359-7308-4379-89E9-19E66492F1E3}" presName="compNode" presStyleCnt="0"/>
      <dgm:spPr/>
    </dgm:pt>
    <dgm:pt modelId="{27611441-5FC4-4BBA-AB94-233AC5382243}" type="pres">
      <dgm:prSet presAssocID="{ED44C359-7308-4379-89E9-19E66492F1E3}" presName="bgRect" presStyleLbl="bgShp" presStyleIdx="0" presStyleCnt="2"/>
      <dgm:spPr/>
    </dgm:pt>
    <dgm:pt modelId="{C11A7D35-1FE6-446D-AE68-CDC0EA75C5EF}" type="pres">
      <dgm:prSet presAssocID="{ED44C359-7308-4379-89E9-19E66492F1E3}" presName="iconRect" presStyleLbl="node1" presStyleIdx="0" presStyleCnt="2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1E29CDAF-1E44-40CB-AADF-4B80555EE7A7}" type="pres">
      <dgm:prSet presAssocID="{ED44C359-7308-4379-89E9-19E66492F1E3}" presName="spaceRect" presStyleCnt="0"/>
      <dgm:spPr/>
    </dgm:pt>
    <dgm:pt modelId="{439E4229-80E6-49FA-AC66-32D790A69D10}" type="pres">
      <dgm:prSet presAssocID="{ED44C359-7308-4379-89E9-19E66492F1E3}" presName="parTx" presStyleLbl="revTx" presStyleIdx="0" presStyleCnt="2">
        <dgm:presLayoutVars>
          <dgm:chMax val="0"/>
          <dgm:chPref val="0"/>
        </dgm:presLayoutVars>
      </dgm:prSet>
      <dgm:spPr/>
    </dgm:pt>
    <dgm:pt modelId="{8618AEF0-E25F-4BEF-A69C-DFE10F40ECD4}" type="pres">
      <dgm:prSet presAssocID="{C10B7116-E14F-4655-9E5A-B6D7DD37A5B9}" presName="sibTrans" presStyleCnt="0"/>
      <dgm:spPr/>
    </dgm:pt>
    <dgm:pt modelId="{2B88366C-3DD7-4316-A04C-3130D68EB710}" type="pres">
      <dgm:prSet presAssocID="{B52304F7-9CCF-4381-9DB7-D65E8FF69D98}" presName="compNode" presStyleCnt="0"/>
      <dgm:spPr/>
    </dgm:pt>
    <dgm:pt modelId="{D75562AD-F78D-4876-92B4-3DD0643FB177}" type="pres">
      <dgm:prSet presAssocID="{B52304F7-9CCF-4381-9DB7-D65E8FF69D98}" presName="bgRect" presStyleLbl="bgShp" presStyleIdx="1" presStyleCnt="2"/>
      <dgm:spPr/>
    </dgm:pt>
    <dgm:pt modelId="{3807B6D7-BF48-4FDE-BD86-4D161441F3BF}" type="pres">
      <dgm:prSet presAssocID="{B52304F7-9CCF-4381-9DB7-D65E8FF69D98}" presName="iconRect" presStyleLbl="node1" presStyleIdx="1" presStyleCnt="2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07149938-3981-4A58-80D9-196D21EBC8A9}" type="pres">
      <dgm:prSet presAssocID="{B52304F7-9CCF-4381-9DB7-D65E8FF69D98}" presName="spaceRect" presStyleCnt="0"/>
      <dgm:spPr/>
    </dgm:pt>
    <dgm:pt modelId="{17273AB3-1C10-4C7C-8AEC-2DC6562CD53E}" type="pres">
      <dgm:prSet presAssocID="{B52304F7-9CCF-4381-9DB7-D65E8FF69D9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A7FBB75-A817-4E9D-AEC2-DB7B07048CA1}" srcId="{AC605FAC-F4E1-443B-91BE-22C6277E36A9}" destId="{ED44C359-7308-4379-89E9-19E66492F1E3}" srcOrd="0" destOrd="0" parTransId="{DDE39F89-4909-4F7C-B6EE-53FC58D6BFC9}" sibTransId="{C10B7116-E14F-4655-9E5A-B6D7DD37A5B9}"/>
    <dgm:cxn modelId="{EC3A6D8C-FF5E-4705-AD3B-8C9EF9B23F68}" type="presOf" srcId="{AC605FAC-F4E1-443B-91BE-22C6277E36A9}" destId="{203A11AC-6691-4719-A18C-2D6C7EA9F1B7}" srcOrd="0" destOrd="0" presId="urn:microsoft.com/office/officeart/2018/2/layout/IconVerticalSolidList"/>
    <dgm:cxn modelId="{EA474EB2-2FA0-4EB5-B43B-96F69CF80FDF}" type="presOf" srcId="{B52304F7-9CCF-4381-9DB7-D65E8FF69D98}" destId="{17273AB3-1C10-4C7C-8AEC-2DC6562CD53E}" srcOrd="0" destOrd="0" presId="urn:microsoft.com/office/officeart/2018/2/layout/IconVerticalSolidList"/>
    <dgm:cxn modelId="{7D93A2FB-E493-4057-9321-1F6F3DDA93FB}" srcId="{AC605FAC-F4E1-443B-91BE-22C6277E36A9}" destId="{B52304F7-9CCF-4381-9DB7-D65E8FF69D98}" srcOrd="1" destOrd="0" parTransId="{5A3F200D-6884-4F08-B3E1-ED350FEF42E7}" sibTransId="{3B0ED119-AD1B-484D-96A0-C81E45281368}"/>
    <dgm:cxn modelId="{B2B632FF-2735-4994-8822-858116B0A752}" type="presOf" srcId="{ED44C359-7308-4379-89E9-19E66492F1E3}" destId="{439E4229-80E6-49FA-AC66-32D790A69D10}" srcOrd="0" destOrd="0" presId="urn:microsoft.com/office/officeart/2018/2/layout/IconVerticalSolidList"/>
    <dgm:cxn modelId="{AAD0D948-0EFF-4B90-9F03-4B7F786F9A47}" type="presParOf" srcId="{203A11AC-6691-4719-A18C-2D6C7EA9F1B7}" destId="{600634BA-D74A-488D-87C2-97828914D25B}" srcOrd="0" destOrd="0" presId="urn:microsoft.com/office/officeart/2018/2/layout/IconVerticalSolidList"/>
    <dgm:cxn modelId="{F3D869F0-5B3A-470A-B684-2565F3A7987F}" type="presParOf" srcId="{600634BA-D74A-488D-87C2-97828914D25B}" destId="{27611441-5FC4-4BBA-AB94-233AC5382243}" srcOrd="0" destOrd="0" presId="urn:microsoft.com/office/officeart/2018/2/layout/IconVerticalSolidList"/>
    <dgm:cxn modelId="{5BA5ADD8-02C7-452C-BCDF-19BDA1F0B94D}" type="presParOf" srcId="{600634BA-D74A-488D-87C2-97828914D25B}" destId="{C11A7D35-1FE6-446D-AE68-CDC0EA75C5EF}" srcOrd="1" destOrd="0" presId="urn:microsoft.com/office/officeart/2018/2/layout/IconVerticalSolidList"/>
    <dgm:cxn modelId="{C127652F-989C-4112-82A7-2E03814BB3AD}" type="presParOf" srcId="{600634BA-D74A-488D-87C2-97828914D25B}" destId="{1E29CDAF-1E44-40CB-AADF-4B80555EE7A7}" srcOrd="2" destOrd="0" presId="urn:microsoft.com/office/officeart/2018/2/layout/IconVerticalSolidList"/>
    <dgm:cxn modelId="{D0FB2FCC-1D9A-4592-85F9-A92F9CF1A68C}" type="presParOf" srcId="{600634BA-D74A-488D-87C2-97828914D25B}" destId="{439E4229-80E6-49FA-AC66-32D790A69D10}" srcOrd="3" destOrd="0" presId="urn:microsoft.com/office/officeart/2018/2/layout/IconVerticalSolidList"/>
    <dgm:cxn modelId="{0785BBAD-7F37-43D2-8AA1-2BBFD54735DC}" type="presParOf" srcId="{203A11AC-6691-4719-A18C-2D6C7EA9F1B7}" destId="{8618AEF0-E25F-4BEF-A69C-DFE10F40ECD4}" srcOrd="1" destOrd="0" presId="urn:microsoft.com/office/officeart/2018/2/layout/IconVerticalSolidList"/>
    <dgm:cxn modelId="{0E7202EA-0A9A-4D44-BA99-A889DE4EB80F}" type="presParOf" srcId="{203A11AC-6691-4719-A18C-2D6C7EA9F1B7}" destId="{2B88366C-3DD7-4316-A04C-3130D68EB710}" srcOrd="2" destOrd="0" presId="urn:microsoft.com/office/officeart/2018/2/layout/IconVerticalSolidList"/>
    <dgm:cxn modelId="{517A2F4A-4697-4566-8D6B-41A3D9D6EC75}" type="presParOf" srcId="{2B88366C-3DD7-4316-A04C-3130D68EB710}" destId="{D75562AD-F78D-4876-92B4-3DD0643FB177}" srcOrd="0" destOrd="0" presId="urn:microsoft.com/office/officeart/2018/2/layout/IconVerticalSolidList"/>
    <dgm:cxn modelId="{57779C05-57C6-44B8-93EE-CACA27621853}" type="presParOf" srcId="{2B88366C-3DD7-4316-A04C-3130D68EB710}" destId="{3807B6D7-BF48-4FDE-BD86-4D161441F3BF}" srcOrd="1" destOrd="0" presId="urn:microsoft.com/office/officeart/2018/2/layout/IconVerticalSolidList"/>
    <dgm:cxn modelId="{4237C448-86CC-4DA7-AAAA-5B81A689F97F}" type="presParOf" srcId="{2B88366C-3DD7-4316-A04C-3130D68EB710}" destId="{07149938-3981-4A58-80D9-196D21EBC8A9}" srcOrd="2" destOrd="0" presId="urn:microsoft.com/office/officeart/2018/2/layout/IconVerticalSolidList"/>
    <dgm:cxn modelId="{340E6C38-EDD8-4385-BAA2-F752835D3561}" type="presParOf" srcId="{2B88366C-3DD7-4316-A04C-3130D68EB710}" destId="{17273AB3-1C10-4C7C-8AEC-2DC6562CD53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C605FAC-F4E1-443B-91BE-22C6277E36A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44C359-7308-4379-89E9-19E66492F1E3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Why Threads?</a:t>
          </a:r>
          <a:endParaRPr lang="en-US" dirty="0"/>
        </a:p>
      </dgm:t>
    </dgm:pt>
    <dgm:pt modelId="{DDE39F89-4909-4F7C-B6EE-53FC58D6BFC9}" type="parTrans" cxnId="{5A7FBB75-A817-4E9D-AEC2-DB7B07048CA1}">
      <dgm:prSet/>
      <dgm:spPr/>
      <dgm:t>
        <a:bodyPr/>
        <a:lstStyle/>
        <a:p>
          <a:endParaRPr lang="en-US"/>
        </a:p>
      </dgm:t>
    </dgm:pt>
    <dgm:pt modelId="{C10B7116-E14F-4655-9E5A-B6D7DD37A5B9}" type="sibTrans" cxnId="{5A7FBB75-A817-4E9D-AEC2-DB7B07048CA1}">
      <dgm:prSet/>
      <dgm:spPr/>
      <dgm:t>
        <a:bodyPr/>
        <a:lstStyle/>
        <a:p>
          <a:endParaRPr lang="en-US"/>
        </a:p>
      </dgm:t>
    </dgm:pt>
    <dgm:pt modelId="{B52304F7-9CCF-4381-9DB7-D65E8FF69D98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Characteristics of Threads.</a:t>
          </a:r>
          <a:endParaRPr lang="en-US" dirty="0"/>
        </a:p>
      </dgm:t>
    </dgm:pt>
    <dgm:pt modelId="{5A3F200D-6884-4F08-B3E1-ED350FEF42E7}" type="parTrans" cxnId="{7D93A2FB-E493-4057-9321-1F6F3DDA93FB}">
      <dgm:prSet/>
      <dgm:spPr/>
      <dgm:t>
        <a:bodyPr/>
        <a:lstStyle/>
        <a:p>
          <a:endParaRPr lang="en-US"/>
        </a:p>
      </dgm:t>
    </dgm:pt>
    <dgm:pt modelId="{3B0ED119-AD1B-484D-96A0-C81E45281368}" type="sibTrans" cxnId="{7D93A2FB-E493-4057-9321-1F6F3DDA93FB}">
      <dgm:prSet/>
      <dgm:spPr/>
      <dgm:t>
        <a:bodyPr/>
        <a:lstStyle/>
        <a:p>
          <a:endParaRPr lang="en-US"/>
        </a:p>
      </dgm:t>
    </dgm:pt>
    <dgm:pt modelId="{203A11AC-6691-4719-A18C-2D6C7EA9F1B7}" type="pres">
      <dgm:prSet presAssocID="{AC605FAC-F4E1-443B-91BE-22C6277E36A9}" presName="root" presStyleCnt="0">
        <dgm:presLayoutVars>
          <dgm:dir/>
          <dgm:resizeHandles val="exact"/>
        </dgm:presLayoutVars>
      </dgm:prSet>
      <dgm:spPr/>
    </dgm:pt>
    <dgm:pt modelId="{600634BA-D74A-488D-87C2-97828914D25B}" type="pres">
      <dgm:prSet presAssocID="{ED44C359-7308-4379-89E9-19E66492F1E3}" presName="compNode" presStyleCnt="0"/>
      <dgm:spPr/>
    </dgm:pt>
    <dgm:pt modelId="{27611441-5FC4-4BBA-AB94-233AC5382243}" type="pres">
      <dgm:prSet presAssocID="{ED44C359-7308-4379-89E9-19E66492F1E3}" presName="bgRect" presStyleLbl="bgShp" presStyleIdx="0" presStyleCnt="2"/>
      <dgm:spPr/>
    </dgm:pt>
    <dgm:pt modelId="{C11A7D35-1FE6-446D-AE68-CDC0EA75C5EF}" type="pres">
      <dgm:prSet presAssocID="{ED44C359-7308-4379-89E9-19E66492F1E3}" presName="iconRect" presStyleLbl="node1" presStyleIdx="0" presStyleCnt="2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1E29CDAF-1E44-40CB-AADF-4B80555EE7A7}" type="pres">
      <dgm:prSet presAssocID="{ED44C359-7308-4379-89E9-19E66492F1E3}" presName="spaceRect" presStyleCnt="0"/>
      <dgm:spPr/>
    </dgm:pt>
    <dgm:pt modelId="{439E4229-80E6-49FA-AC66-32D790A69D10}" type="pres">
      <dgm:prSet presAssocID="{ED44C359-7308-4379-89E9-19E66492F1E3}" presName="parTx" presStyleLbl="revTx" presStyleIdx="0" presStyleCnt="2">
        <dgm:presLayoutVars>
          <dgm:chMax val="0"/>
          <dgm:chPref val="0"/>
        </dgm:presLayoutVars>
      </dgm:prSet>
      <dgm:spPr/>
    </dgm:pt>
    <dgm:pt modelId="{8618AEF0-E25F-4BEF-A69C-DFE10F40ECD4}" type="pres">
      <dgm:prSet presAssocID="{C10B7116-E14F-4655-9E5A-B6D7DD37A5B9}" presName="sibTrans" presStyleCnt="0"/>
      <dgm:spPr/>
    </dgm:pt>
    <dgm:pt modelId="{2B88366C-3DD7-4316-A04C-3130D68EB710}" type="pres">
      <dgm:prSet presAssocID="{B52304F7-9CCF-4381-9DB7-D65E8FF69D98}" presName="compNode" presStyleCnt="0"/>
      <dgm:spPr/>
    </dgm:pt>
    <dgm:pt modelId="{D75562AD-F78D-4876-92B4-3DD0643FB177}" type="pres">
      <dgm:prSet presAssocID="{B52304F7-9CCF-4381-9DB7-D65E8FF69D98}" presName="bgRect" presStyleLbl="bgShp" presStyleIdx="1" presStyleCnt="2"/>
      <dgm:spPr/>
    </dgm:pt>
    <dgm:pt modelId="{3807B6D7-BF48-4FDE-BD86-4D161441F3BF}" type="pres">
      <dgm:prSet presAssocID="{B52304F7-9CCF-4381-9DB7-D65E8FF69D98}" presName="iconRect" presStyleLbl="node1" presStyleIdx="1" presStyleCnt="2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07149938-3981-4A58-80D9-196D21EBC8A9}" type="pres">
      <dgm:prSet presAssocID="{B52304F7-9CCF-4381-9DB7-D65E8FF69D98}" presName="spaceRect" presStyleCnt="0"/>
      <dgm:spPr/>
    </dgm:pt>
    <dgm:pt modelId="{17273AB3-1C10-4C7C-8AEC-2DC6562CD53E}" type="pres">
      <dgm:prSet presAssocID="{B52304F7-9CCF-4381-9DB7-D65E8FF69D9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A7FBB75-A817-4E9D-AEC2-DB7B07048CA1}" srcId="{AC605FAC-F4E1-443B-91BE-22C6277E36A9}" destId="{ED44C359-7308-4379-89E9-19E66492F1E3}" srcOrd="0" destOrd="0" parTransId="{DDE39F89-4909-4F7C-B6EE-53FC58D6BFC9}" sibTransId="{C10B7116-E14F-4655-9E5A-B6D7DD37A5B9}"/>
    <dgm:cxn modelId="{EC3A6D8C-FF5E-4705-AD3B-8C9EF9B23F68}" type="presOf" srcId="{AC605FAC-F4E1-443B-91BE-22C6277E36A9}" destId="{203A11AC-6691-4719-A18C-2D6C7EA9F1B7}" srcOrd="0" destOrd="0" presId="urn:microsoft.com/office/officeart/2018/2/layout/IconVerticalSolidList"/>
    <dgm:cxn modelId="{EA474EB2-2FA0-4EB5-B43B-96F69CF80FDF}" type="presOf" srcId="{B52304F7-9CCF-4381-9DB7-D65E8FF69D98}" destId="{17273AB3-1C10-4C7C-8AEC-2DC6562CD53E}" srcOrd="0" destOrd="0" presId="urn:microsoft.com/office/officeart/2018/2/layout/IconVerticalSolidList"/>
    <dgm:cxn modelId="{7D93A2FB-E493-4057-9321-1F6F3DDA93FB}" srcId="{AC605FAC-F4E1-443B-91BE-22C6277E36A9}" destId="{B52304F7-9CCF-4381-9DB7-D65E8FF69D98}" srcOrd="1" destOrd="0" parTransId="{5A3F200D-6884-4F08-B3E1-ED350FEF42E7}" sibTransId="{3B0ED119-AD1B-484D-96A0-C81E45281368}"/>
    <dgm:cxn modelId="{B2B632FF-2735-4994-8822-858116B0A752}" type="presOf" srcId="{ED44C359-7308-4379-89E9-19E66492F1E3}" destId="{439E4229-80E6-49FA-AC66-32D790A69D10}" srcOrd="0" destOrd="0" presId="urn:microsoft.com/office/officeart/2018/2/layout/IconVerticalSolidList"/>
    <dgm:cxn modelId="{AAD0D948-0EFF-4B90-9F03-4B7F786F9A47}" type="presParOf" srcId="{203A11AC-6691-4719-A18C-2D6C7EA9F1B7}" destId="{600634BA-D74A-488D-87C2-97828914D25B}" srcOrd="0" destOrd="0" presId="urn:microsoft.com/office/officeart/2018/2/layout/IconVerticalSolidList"/>
    <dgm:cxn modelId="{F3D869F0-5B3A-470A-B684-2565F3A7987F}" type="presParOf" srcId="{600634BA-D74A-488D-87C2-97828914D25B}" destId="{27611441-5FC4-4BBA-AB94-233AC5382243}" srcOrd="0" destOrd="0" presId="urn:microsoft.com/office/officeart/2018/2/layout/IconVerticalSolidList"/>
    <dgm:cxn modelId="{5BA5ADD8-02C7-452C-BCDF-19BDA1F0B94D}" type="presParOf" srcId="{600634BA-D74A-488D-87C2-97828914D25B}" destId="{C11A7D35-1FE6-446D-AE68-CDC0EA75C5EF}" srcOrd="1" destOrd="0" presId="urn:microsoft.com/office/officeart/2018/2/layout/IconVerticalSolidList"/>
    <dgm:cxn modelId="{C127652F-989C-4112-82A7-2E03814BB3AD}" type="presParOf" srcId="{600634BA-D74A-488D-87C2-97828914D25B}" destId="{1E29CDAF-1E44-40CB-AADF-4B80555EE7A7}" srcOrd="2" destOrd="0" presId="urn:microsoft.com/office/officeart/2018/2/layout/IconVerticalSolidList"/>
    <dgm:cxn modelId="{D0FB2FCC-1D9A-4592-85F9-A92F9CF1A68C}" type="presParOf" srcId="{600634BA-D74A-488D-87C2-97828914D25B}" destId="{439E4229-80E6-49FA-AC66-32D790A69D10}" srcOrd="3" destOrd="0" presId="urn:microsoft.com/office/officeart/2018/2/layout/IconVerticalSolidList"/>
    <dgm:cxn modelId="{0785BBAD-7F37-43D2-8AA1-2BBFD54735DC}" type="presParOf" srcId="{203A11AC-6691-4719-A18C-2D6C7EA9F1B7}" destId="{8618AEF0-E25F-4BEF-A69C-DFE10F40ECD4}" srcOrd="1" destOrd="0" presId="urn:microsoft.com/office/officeart/2018/2/layout/IconVerticalSolidList"/>
    <dgm:cxn modelId="{0E7202EA-0A9A-4D44-BA99-A889DE4EB80F}" type="presParOf" srcId="{203A11AC-6691-4719-A18C-2D6C7EA9F1B7}" destId="{2B88366C-3DD7-4316-A04C-3130D68EB710}" srcOrd="2" destOrd="0" presId="urn:microsoft.com/office/officeart/2018/2/layout/IconVerticalSolidList"/>
    <dgm:cxn modelId="{517A2F4A-4697-4566-8D6B-41A3D9D6EC75}" type="presParOf" srcId="{2B88366C-3DD7-4316-A04C-3130D68EB710}" destId="{D75562AD-F78D-4876-92B4-3DD0643FB177}" srcOrd="0" destOrd="0" presId="urn:microsoft.com/office/officeart/2018/2/layout/IconVerticalSolidList"/>
    <dgm:cxn modelId="{57779C05-57C6-44B8-93EE-CACA27621853}" type="presParOf" srcId="{2B88366C-3DD7-4316-A04C-3130D68EB710}" destId="{3807B6D7-BF48-4FDE-BD86-4D161441F3BF}" srcOrd="1" destOrd="0" presId="urn:microsoft.com/office/officeart/2018/2/layout/IconVerticalSolidList"/>
    <dgm:cxn modelId="{4237C448-86CC-4DA7-AAAA-5B81A689F97F}" type="presParOf" srcId="{2B88366C-3DD7-4316-A04C-3130D68EB710}" destId="{07149938-3981-4A58-80D9-196D21EBC8A9}" srcOrd="2" destOrd="0" presId="urn:microsoft.com/office/officeart/2018/2/layout/IconVerticalSolidList"/>
    <dgm:cxn modelId="{340E6C38-EDD8-4385-BAA2-F752835D3561}" type="presParOf" srcId="{2B88366C-3DD7-4316-A04C-3130D68EB710}" destId="{17273AB3-1C10-4C7C-8AEC-2DC6562CD53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C605FAC-F4E1-443B-91BE-22C6277E36A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44C359-7308-4379-89E9-19E66492F1E3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Introduction of Thread Synchronization</a:t>
          </a:r>
          <a:endParaRPr lang="en-US" dirty="0"/>
        </a:p>
      </dgm:t>
    </dgm:pt>
    <dgm:pt modelId="{DDE39F89-4909-4F7C-B6EE-53FC58D6BFC9}" type="parTrans" cxnId="{5A7FBB75-A817-4E9D-AEC2-DB7B07048CA1}">
      <dgm:prSet/>
      <dgm:spPr/>
      <dgm:t>
        <a:bodyPr/>
        <a:lstStyle/>
        <a:p>
          <a:endParaRPr lang="en-US"/>
        </a:p>
      </dgm:t>
    </dgm:pt>
    <dgm:pt modelId="{C10B7116-E14F-4655-9E5A-B6D7DD37A5B9}" type="sibTrans" cxnId="{5A7FBB75-A817-4E9D-AEC2-DB7B07048CA1}">
      <dgm:prSet/>
      <dgm:spPr/>
      <dgm:t>
        <a:bodyPr/>
        <a:lstStyle/>
        <a:p>
          <a:endParaRPr lang="en-US"/>
        </a:p>
      </dgm:t>
    </dgm:pt>
    <dgm:pt modelId="{B52304F7-9CCF-4381-9DB7-D65E8FF69D98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Logical Machine Model of Threads.</a:t>
          </a:r>
          <a:endParaRPr lang="en-US" dirty="0"/>
        </a:p>
      </dgm:t>
    </dgm:pt>
    <dgm:pt modelId="{5A3F200D-6884-4F08-B3E1-ED350FEF42E7}" type="parTrans" cxnId="{7D93A2FB-E493-4057-9321-1F6F3DDA93FB}">
      <dgm:prSet/>
      <dgm:spPr/>
      <dgm:t>
        <a:bodyPr/>
        <a:lstStyle/>
        <a:p>
          <a:endParaRPr lang="en-US"/>
        </a:p>
      </dgm:t>
    </dgm:pt>
    <dgm:pt modelId="{3B0ED119-AD1B-484D-96A0-C81E45281368}" type="sibTrans" cxnId="{7D93A2FB-E493-4057-9321-1F6F3DDA93FB}">
      <dgm:prSet/>
      <dgm:spPr/>
      <dgm:t>
        <a:bodyPr/>
        <a:lstStyle/>
        <a:p>
          <a:endParaRPr lang="en-US"/>
        </a:p>
      </dgm:t>
    </dgm:pt>
    <dgm:pt modelId="{203A11AC-6691-4719-A18C-2D6C7EA9F1B7}" type="pres">
      <dgm:prSet presAssocID="{AC605FAC-F4E1-443B-91BE-22C6277E36A9}" presName="root" presStyleCnt="0">
        <dgm:presLayoutVars>
          <dgm:dir/>
          <dgm:resizeHandles val="exact"/>
        </dgm:presLayoutVars>
      </dgm:prSet>
      <dgm:spPr/>
    </dgm:pt>
    <dgm:pt modelId="{600634BA-D74A-488D-87C2-97828914D25B}" type="pres">
      <dgm:prSet presAssocID="{ED44C359-7308-4379-89E9-19E66492F1E3}" presName="compNode" presStyleCnt="0"/>
      <dgm:spPr/>
    </dgm:pt>
    <dgm:pt modelId="{27611441-5FC4-4BBA-AB94-233AC5382243}" type="pres">
      <dgm:prSet presAssocID="{ED44C359-7308-4379-89E9-19E66492F1E3}" presName="bgRect" presStyleLbl="bgShp" presStyleIdx="0" presStyleCnt="2"/>
      <dgm:spPr/>
    </dgm:pt>
    <dgm:pt modelId="{C11A7D35-1FE6-446D-AE68-CDC0EA75C5EF}" type="pres">
      <dgm:prSet presAssocID="{ED44C359-7308-4379-89E9-19E66492F1E3}" presName="iconRect" presStyleLbl="node1" presStyleIdx="0" presStyleCnt="2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1E29CDAF-1E44-40CB-AADF-4B80555EE7A7}" type="pres">
      <dgm:prSet presAssocID="{ED44C359-7308-4379-89E9-19E66492F1E3}" presName="spaceRect" presStyleCnt="0"/>
      <dgm:spPr/>
    </dgm:pt>
    <dgm:pt modelId="{439E4229-80E6-49FA-AC66-32D790A69D10}" type="pres">
      <dgm:prSet presAssocID="{ED44C359-7308-4379-89E9-19E66492F1E3}" presName="parTx" presStyleLbl="revTx" presStyleIdx="0" presStyleCnt="2">
        <dgm:presLayoutVars>
          <dgm:chMax val="0"/>
          <dgm:chPref val="0"/>
        </dgm:presLayoutVars>
      </dgm:prSet>
      <dgm:spPr/>
    </dgm:pt>
    <dgm:pt modelId="{8618AEF0-E25F-4BEF-A69C-DFE10F40ECD4}" type="pres">
      <dgm:prSet presAssocID="{C10B7116-E14F-4655-9E5A-B6D7DD37A5B9}" presName="sibTrans" presStyleCnt="0"/>
      <dgm:spPr/>
    </dgm:pt>
    <dgm:pt modelId="{2B88366C-3DD7-4316-A04C-3130D68EB710}" type="pres">
      <dgm:prSet presAssocID="{B52304F7-9CCF-4381-9DB7-D65E8FF69D98}" presName="compNode" presStyleCnt="0"/>
      <dgm:spPr/>
    </dgm:pt>
    <dgm:pt modelId="{D75562AD-F78D-4876-92B4-3DD0643FB177}" type="pres">
      <dgm:prSet presAssocID="{B52304F7-9CCF-4381-9DB7-D65E8FF69D98}" presName="bgRect" presStyleLbl="bgShp" presStyleIdx="1" presStyleCnt="2"/>
      <dgm:spPr/>
    </dgm:pt>
    <dgm:pt modelId="{3807B6D7-BF48-4FDE-BD86-4D161441F3BF}" type="pres">
      <dgm:prSet presAssocID="{B52304F7-9CCF-4381-9DB7-D65E8FF69D98}" presName="iconRect" presStyleLbl="node1" presStyleIdx="1" presStyleCnt="2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07149938-3981-4A58-80D9-196D21EBC8A9}" type="pres">
      <dgm:prSet presAssocID="{B52304F7-9CCF-4381-9DB7-D65E8FF69D98}" presName="spaceRect" presStyleCnt="0"/>
      <dgm:spPr/>
    </dgm:pt>
    <dgm:pt modelId="{17273AB3-1C10-4C7C-8AEC-2DC6562CD53E}" type="pres">
      <dgm:prSet presAssocID="{B52304F7-9CCF-4381-9DB7-D65E8FF69D9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A7FBB75-A817-4E9D-AEC2-DB7B07048CA1}" srcId="{AC605FAC-F4E1-443B-91BE-22C6277E36A9}" destId="{ED44C359-7308-4379-89E9-19E66492F1E3}" srcOrd="0" destOrd="0" parTransId="{DDE39F89-4909-4F7C-B6EE-53FC58D6BFC9}" sibTransId="{C10B7116-E14F-4655-9E5A-B6D7DD37A5B9}"/>
    <dgm:cxn modelId="{EC3A6D8C-FF5E-4705-AD3B-8C9EF9B23F68}" type="presOf" srcId="{AC605FAC-F4E1-443B-91BE-22C6277E36A9}" destId="{203A11AC-6691-4719-A18C-2D6C7EA9F1B7}" srcOrd="0" destOrd="0" presId="urn:microsoft.com/office/officeart/2018/2/layout/IconVerticalSolidList"/>
    <dgm:cxn modelId="{EA474EB2-2FA0-4EB5-B43B-96F69CF80FDF}" type="presOf" srcId="{B52304F7-9CCF-4381-9DB7-D65E8FF69D98}" destId="{17273AB3-1C10-4C7C-8AEC-2DC6562CD53E}" srcOrd="0" destOrd="0" presId="urn:microsoft.com/office/officeart/2018/2/layout/IconVerticalSolidList"/>
    <dgm:cxn modelId="{7D93A2FB-E493-4057-9321-1F6F3DDA93FB}" srcId="{AC605FAC-F4E1-443B-91BE-22C6277E36A9}" destId="{B52304F7-9CCF-4381-9DB7-D65E8FF69D98}" srcOrd="1" destOrd="0" parTransId="{5A3F200D-6884-4F08-B3E1-ED350FEF42E7}" sibTransId="{3B0ED119-AD1B-484D-96A0-C81E45281368}"/>
    <dgm:cxn modelId="{B2B632FF-2735-4994-8822-858116B0A752}" type="presOf" srcId="{ED44C359-7308-4379-89E9-19E66492F1E3}" destId="{439E4229-80E6-49FA-AC66-32D790A69D10}" srcOrd="0" destOrd="0" presId="urn:microsoft.com/office/officeart/2018/2/layout/IconVerticalSolidList"/>
    <dgm:cxn modelId="{AAD0D948-0EFF-4B90-9F03-4B7F786F9A47}" type="presParOf" srcId="{203A11AC-6691-4719-A18C-2D6C7EA9F1B7}" destId="{600634BA-D74A-488D-87C2-97828914D25B}" srcOrd="0" destOrd="0" presId="urn:microsoft.com/office/officeart/2018/2/layout/IconVerticalSolidList"/>
    <dgm:cxn modelId="{F3D869F0-5B3A-470A-B684-2565F3A7987F}" type="presParOf" srcId="{600634BA-D74A-488D-87C2-97828914D25B}" destId="{27611441-5FC4-4BBA-AB94-233AC5382243}" srcOrd="0" destOrd="0" presId="urn:microsoft.com/office/officeart/2018/2/layout/IconVerticalSolidList"/>
    <dgm:cxn modelId="{5BA5ADD8-02C7-452C-BCDF-19BDA1F0B94D}" type="presParOf" srcId="{600634BA-D74A-488D-87C2-97828914D25B}" destId="{C11A7D35-1FE6-446D-AE68-CDC0EA75C5EF}" srcOrd="1" destOrd="0" presId="urn:microsoft.com/office/officeart/2018/2/layout/IconVerticalSolidList"/>
    <dgm:cxn modelId="{C127652F-989C-4112-82A7-2E03814BB3AD}" type="presParOf" srcId="{600634BA-D74A-488D-87C2-97828914D25B}" destId="{1E29CDAF-1E44-40CB-AADF-4B80555EE7A7}" srcOrd="2" destOrd="0" presId="urn:microsoft.com/office/officeart/2018/2/layout/IconVerticalSolidList"/>
    <dgm:cxn modelId="{D0FB2FCC-1D9A-4592-85F9-A92F9CF1A68C}" type="presParOf" srcId="{600634BA-D74A-488D-87C2-97828914D25B}" destId="{439E4229-80E6-49FA-AC66-32D790A69D10}" srcOrd="3" destOrd="0" presId="urn:microsoft.com/office/officeart/2018/2/layout/IconVerticalSolidList"/>
    <dgm:cxn modelId="{0785BBAD-7F37-43D2-8AA1-2BBFD54735DC}" type="presParOf" srcId="{203A11AC-6691-4719-A18C-2D6C7EA9F1B7}" destId="{8618AEF0-E25F-4BEF-A69C-DFE10F40ECD4}" srcOrd="1" destOrd="0" presId="urn:microsoft.com/office/officeart/2018/2/layout/IconVerticalSolidList"/>
    <dgm:cxn modelId="{0E7202EA-0A9A-4D44-BA99-A889DE4EB80F}" type="presParOf" srcId="{203A11AC-6691-4719-A18C-2D6C7EA9F1B7}" destId="{2B88366C-3DD7-4316-A04C-3130D68EB710}" srcOrd="2" destOrd="0" presId="urn:microsoft.com/office/officeart/2018/2/layout/IconVerticalSolidList"/>
    <dgm:cxn modelId="{517A2F4A-4697-4566-8D6B-41A3D9D6EC75}" type="presParOf" srcId="{2B88366C-3DD7-4316-A04C-3130D68EB710}" destId="{D75562AD-F78D-4876-92B4-3DD0643FB177}" srcOrd="0" destOrd="0" presId="urn:microsoft.com/office/officeart/2018/2/layout/IconVerticalSolidList"/>
    <dgm:cxn modelId="{57779C05-57C6-44B8-93EE-CACA27621853}" type="presParOf" srcId="{2B88366C-3DD7-4316-A04C-3130D68EB710}" destId="{3807B6D7-BF48-4FDE-BD86-4D161441F3BF}" srcOrd="1" destOrd="0" presId="urn:microsoft.com/office/officeart/2018/2/layout/IconVerticalSolidList"/>
    <dgm:cxn modelId="{4237C448-86CC-4DA7-AAAA-5B81A689F97F}" type="presParOf" srcId="{2B88366C-3DD7-4316-A04C-3130D68EB710}" destId="{07149938-3981-4A58-80D9-196D21EBC8A9}" srcOrd="2" destOrd="0" presId="urn:microsoft.com/office/officeart/2018/2/layout/IconVerticalSolidList"/>
    <dgm:cxn modelId="{340E6C38-EDD8-4385-BAA2-F752835D3561}" type="presParOf" srcId="{2B88366C-3DD7-4316-A04C-3130D68EB710}" destId="{17273AB3-1C10-4C7C-8AEC-2DC6562CD53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C605FAC-F4E1-443B-91BE-22C6277E36A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44C359-7308-4379-89E9-19E66492F1E3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What are Mutex Locks?</a:t>
          </a:r>
          <a:endParaRPr lang="en-US" dirty="0"/>
        </a:p>
      </dgm:t>
    </dgm:pt>
    <dgm:pt modelId="{DDE39F89-4909-4F7C-B6EE-53FC58D6BFC9}" type="parTrans" cxnId="{5A7FBB75-A817-4E9D-AEC2-DB7B07048CA1}">
      <dgm:prSet/>
      <dgm:spPr/>
      <dgm:t>
        <a:bodyPr/>
        <a:lstStyle/>
        <a:p>
          <a:endParaRPr lang="en-US"/>
        </a:p>
      </dgm:t>
    </dgm:pt>
    <dgm:pt modelId="{C10B7116-E14F-4655-9E5A-B6D7DD37A5B9}" type="sibTrans" cxnId="{5A7FBB75-A817-4E9D-AEC2-DB7B07048CA1}">
      <dgm:prSet/>
      <dgm:spPr/>
      <dgm:t>
        <a:bodyPr/>
        <a:lstStyle/>
        <a:p>
          <a:endParaRPr lang="en-US"/>
        </a:p>
      </dgm:t>
    </dgm:pt>
    <dgm:pt modelId="{B52304F7-9CCF-4381-9DB7-D65E8FF69D98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Uses and types of mutex.</a:t>
          </a:r>
          <a:endParaRPr lang="en-US" dirty="0"/>
        </a:p>
      </dgm:t>
    </dgm:pt>
    <dgm:pt modelId="{5A3F200D-6884-4F08-B3E1-ED350FEF42E7}" type="parTrans" cxnId="{7D93A2FB-E493-4057-9321-1F6F3DDA93FB}">
      <dgm:prSet/>
      <dgm:spPr/>
      <dgm:t>
        <a:bodyPr/>
        <a:lstStyle/>
        <a:p>
          <a:endParaRPr lang="en-US"/>
        </a:p>
      </dgm:t>
    </dgm:pt>
    <dgm:pt modelId="{3B0ED119-AD1B-484D-96A0-C81E45281368}" type="sibTrans" cxnId="{7D93A2FB-E493-4057-9321-1F6F3DDA93FB}">
      <dgm:prSet/>
      <dgm:spPr/>
      <dgm:t>
        <a:bodyPr/>
        <a:lstStyle/>
        <a:p>
          <a:endParaRPr lang="en-US"/>
        </a:p>
      </dgm:t>
    </dgm:pt>
    <dgm:pt modelId="{203A11AC-6691-4719-A18C-2D6C7EA9F1B7}" type="pres">
      <dgm:prSet presAssocID="{AC605FAC-F4E1-443B-91BE-22C6277E36A9}" presName="root" presStyleCnt="0">
        <dgm:presLayoutVars>
          <dgm:dir/>
          <dgm:resizeHandles val="exact"/>
        </dgm:presLayoutVars>
      </dgm:prSet>
      <dgm:spPr/>
    </dgm:pt>
    <dgm:pt modelId="{600634BA-D74A-488D-87C2-97828914D25B}" type="pres">
      <dgm:prSet presAssocID="{ED44C359-7308-4379-89E9-19E66492F1E3}" presName="compNode" presStyleCnt="0"/>
      <dgm:spPr/>
    </dgm:pt>
    <dgm:pt modelId="{27611441-5FC4-4BBA-AB94-233AC5382243}" type="pres">
      <dgm:prSet presAssocID="{ED44C359-7308-4379-89E9-19E66492F1E3}" presName="bgRect" presStyleLbl="bgShp" presStyleIdx="0" presStyleCnt="2"/>
      <dgm:spPr/>
    </dgm:pt>
    <dgm:pt modelId="{C11A7D35-1FE6-446D-AE68-CDC0EA75C5EF}" type="pres">
      <dgm:prSet presAssocID="{ED44C359-7308-4379-89E9-19E66492F1E3}" presName="iconRect" presStyleLbl="node1" presStyleIdx="0" presStyleCnt="2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1E29CDAF-1E44-40CB-AADF-4B80555EE7A7}" type="pres">
      <dgm:prSet presAssocID="{ED44C359-7308-4379-89E9-19E66492F1E3}" presName="spaceRect" presStyleCnt="0"/>
      <dgm:spPr/>
    </dgm:pt>
    <dgm:pt modelId="{439E4229-80E6-49FA-AC66-32D790A69D10}" type="pres">
      <dgm:prSet presAssocID="{ED44C359-7308-4379-89E9-19E66492F1E3}" presName="parTx" presStyleLbl="revTx" presStyleIdx="0" presStyleCnt="2">
        <dgm:presLayoutVars>
          <dgm:chMax val="0"/>
          <dgm:chPref val="0"/>
        </dgm:presLayoutVars>
      </dgm:prSet>
      <dgm:spPr/>
    </dgm:pt>
    <dgm:pt modelId="{8618AEF0-E25F-4BEF-A69C-DFE10F40ECD4}" type="pres">
      <dgm:prSet presAssocID="{C10B7116-E14F-4655-9E5A-B6D7DD37A5B9}" presName="sibTrans" presStyleCnt="0"/>
      <dgm:spPr/>
    </dgm:pt>
    <dgm:pt modelId="{2B88366C-3DD7-4316-A04C-3130D68EB710}" type="pres">
      <dgm:prSet presAssocID="{B52304F7-9CCF-4381-9DB7-D65E8FF69D98}" presName="compNode" presStyleCnt="0"/>
      <dgm:spPr/>
    </dgm:pt>
    <dgm:pt modelId="{D75562AD-F78D-4876-92B4-3DD0643FB177}" type="pres">
      <dgm:prSet presAssocID="{B52304F7-9CCF-4381-9DB7-D65E8FF69D98}" presName="bgRect" presStyleLbl="bgShp" presStyleIdx="1" presStyleCnt="2"/>
      <dgm:spPr/>
    </dgm:pt>
    <dgm:pt modelId="{3807B6D7-BF48-4FDE-BD86-4D161441F3BF}" type="pres">
      <dgm:prSet presAssocID="{B52304F7-9CCF-4381-9DB7-D65E8FF69D98}" presName="iconRect" presStyleLbl="node1" presStyleIdx="1" presStyleCnt="2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07149938-3981-4A58-80D9-196D21EBC8A9}" type="pres">
      <dgm:prSet presAssocID="{B52304F7-9CCF-4381-9DB7-D65E8FF69D98}" presName="spaceRect" presStyleCnt="0"/>
      <dgm:spPr/>
    </dgm:pt>
    <dgm:pt modelId="{17273AB3-1C10-4C7C-8AEC-2DC6562CD53E}" type="pres">
      <dgm:prSet presAssocID="{B52304F7-9CCF-4381-9DB7-D65E8FF69D9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A7FBB75-A817-4E9D-AEC2-DB7B07048CA1}" srcId="{AC605FAC-F4E1-443B-91BE-22C6277E36A9}" destId="{ED44C359-7308-4379-89E9-19E66492F1E3}" srcOrd="0" destOrd="0" parTransId="{DDE39F89-4909-4F7C-B6EE-53FC58D6BFC9}" sibTransId="{C10B7116-E14F-4655-9E5A-B6D7DD37A5B9}"/>
    <dgm:cxn modelId="{EC3A6D8C-FF5E-4705-AD3B-8C9EF9B23F68}" type="presOf" srcId="{AC605FAC-F4E1-443B-91BE-22C6277E36A9}" destId="{203A11AC-6691-4719-A18C-2D6C7EA9F1B7}" srcOrd="0" destOrd="0" presId="urn:microsoft.com/office/officeart/2018/2/layout/IconVerticalSolidList"/>
    <dgm:cxn modelId="{EA474EB2-2FA0-4EB5-B43B-96F69CF80FDF}" type="presOf" srcId="{B52304F7-9CCF-4381-9DB7-D65E8FF69D98}" destId="{17273AB3-1C10-4C7C-8AEC-2DC6562CD53E}" srcOrd="0" destOrd="0" presId="urn:microsoft.com/office/officeart/2018/2/layout/IconVerticalSolidList"/>
    <dgm:cxn modelId="{7D93A2FB-E493-4057-9321-1F6F3DDA93FB}" srcId="{AC605FAC-F4E1-443B-91BE-22C6277E36A9}" destId="{B52304F7-9CCF-4381-9DB7-D65E8FF69D98}" srcOrd="1" destOrd="0" parTransId="{5A3F200D-6884-4F08-B3E1-ED350FEF42E7}" sibTransId="{3B0ED119-AD1B-484D-96A0-C81E45281368}"/>
    <dgm:cxn modelId="{B2B632FF-2735-4994-8822-858116B0A752}" type="presOf" srcId="{ED44C359-7308-4379-89E9-19E66492F1E3}" destId="{439E4229-80E6-49FA-AC66-32D790A69D10}" srcOrd="0" destOrd="0" presId="urn:microsoft.com/office/officeart/2018/2/layout/IconVerticalSolidList"/>
    <dgm:cxn modelId="{AAD0D948-0EFF-4B90-9F03-4B7F786F9A47}" type="presParOf" srcId="{203A11AC-6691-4719-A18C-2D6C7EA9F1B7}" destId="{600634BA-D74A-488D-87C2-97828914D25B}" srcOrd="0" destOrd="0" presId="urn:microsoft.com/office/officeart/2018/2/layout/IconVerticalSolidList"/>
    <dgm:cxn modelId="{F3D869F0-5B3A-470A-B684-2565F3A7987F}" type="presParOf" srcId="{600634BA-D74A-488D-87C2-97828914D25B}" destId="{27611441-5FC4-4BBA-AB94-233AC5382243}" srcOrd="0" destOrd="0" presId="urn:microsoft.com/office/officeart/2018/2/layout/IconVerticalSolidList"/>
    <dgm:cxn modelId="{5BA5ADD8-02C7-452C-BCDF-19BDA1F0B94D}" type="presParOf" srcId="{600634BA-D74A-488D-87C2-97828914D25B}" destId="{C11A7D35-1FE6-446D-AE68-CDC0EA75C5EF}" srcOrd="1" destOrd="0" presId="urn:microsoft.com/office/officeart/2018/2/layout/IconVerticalSolidList"/>
    <dgm:cxn modelId="{C127652F-989C-4112-82A7-2E03814BB3AD}" type="presParOf" srcId="{600634BA-D74A-488D-87C2-97828914D25B}" destId="{1E29CDAF-1E44-40CB-AADF-4B80555EE7A7}" srcOrd="2" destOrd="0" presId="urn:microsoft.com/office/officeart/2018/2/layout/IconVerticalSolidList"/>
    <dgm:cxn modelId="{D0FB2FCC-1D9A-4592-85F9-A92F9CF1A68C}" type="presParOf" srcId="{600634BA-D74A-488D-87C2-97828914D25B}" destId="{439E4229-80E6-49FA-AC66-32D790A69D10}" srcOrd="3" destOrd="0" presId="urn:microsoft.com/office/officeart/2018/2/layout/IconVerticalSolidList"/>
    <dgm:cxn modelId="{0785BBAD-7F37-43D2-8AA1-2BBFD54735DC}" type="presParOf" srcId="{203A11AC-6691-4719-A18C-2D6C7EA9F1B7}" destId="{8618AEF0-E25F-4BEF-A69C-DFE10F40ECD4}" srcOrd="1" destOrd="0" presId="urn:microsoft.com/office/officeart/2018/2/layout/IconVerticalSolidList"/>
    <dgm:cxn modelId="{0E7202EA-0A9A-4D44-BA99-A889DE4EB80F}" type="presParOf" srcId="{203A11AC-6691-4719-A18C-2D6C7EA9F1B7}" destId="{2B88366C-3DD7-4316-A04C-3130D68EB710}" srcOrd="2" destOrd="0" presId="urn:microsoft.com/office/officeart/2018/2/layout/IconVerticalSolidList"/>
    <dgm:cxn modelId="{517A2F4A-4697-4566-8D6B-41A3D9D6EC75}" type="presParOf" srcId="{2B88366C-3DD7-4316-A04C-3130D68EB710}" destId="{D75562AD-F78D-4876-92B4-3DD0643FB177}" srcOrd="0" destOrd="0" presId="urn:microsoft.com/office/officeart/2018/2/layout/IconVerticalSolidList"/>
    <dgm:cxn modelId="{57779C05-57C6-44B8-93EE-CACA27621853}" type="presParOf" srcId="{2B88366C-3DD7-4316-A04C-3130D68EB710}" destId="{3807B6D7-BF48-4FDE-BD86-4D161441F3BF}" srcOrd="1" destOrd="0" presId="urn:microsoft.com/office/officeart/2018/2/layout/IconVerticalSolidList"/>
    <dgm:cxn modelId="{4237C448-86CC-4DA7-AAAA-5B81A689F97F}" type="presParOf" srcId="{2B88366C-3DD7-4316-A04C-3130D68EB710}" destId="{07149938-3981-4A58-80D9-196D21EBC8A9}" srcOrd="2" destOrd="0" presId="urn:microsoft.com/office/officeart/2018/2/layout/IconVerticalSolidList"/>
    <dgm:cxn modelId="{340E6C38-EDD8-4385-BAA2-F752835D3561}" type="presParOf" srcId="{2B88366C-3DD7-4316-A04C-3130D68EB710}" destId="{17273AB3-1C10-4C7C-8AEC-2DC6562CD53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C605FAC-F4E1-443B-91BE-22C6277E36A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44C359-7308-4379-89E9-19E66492F1E3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Problems with mutex</a:t>
          </a:r>
          <a:endParaRPr lang="en-US" dirty="0"/>
        </a:p>
      </dgm:t>
    </dgm:pt>
    <dgm:pt modelId="{DDE39F89-4909-4F7C-B6EE-53FC58D6BFC9}" type="parTrans" cxnId="{5A7FBB75-A817-4E9D-AEC2-DB7B07048CA1}">
      <dgm:prSet/>
      <dgm:spPr/>
      <dgm:t>
        <a:bodyPr/>
        <a:lstStyle/>
        <a:p>
          <a:endParaRPr lang="en-US"/>
        </a:p>
      </dgm:t>
    </dgm:pt>
    <dgm:pt modelId="{C10B7116-E14F-4655-9E5A-B6D7DD37A5B9}" type="sibTrans" cxnId="{5A7FBB75-A817-4E9D-AEC2-DB7B07048CA1}">
      <dgm:prSet/>
      <dgm:spPr/>
      <dgm:t>
        <a:bodyPr/>
        <a:lstStyle/>
        <a:p>
          <a:endParaRPr lang="en-US"/>
        </a:p>
      </dgm:t>
    </dgm:pt>
    <dgm:pt modelId="{B52304F7-9CCF-4381-9DB7-D65E8FF69D98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Introduction to conditional Variable.</a:t>
          </a:r>
          <a:endParaRPr lang="en-US" dirty="0"/>
        </a:p>
      </dgm:t>
    </dgm:pt>
    <dgm:pt modelId="{5A3F200D-6884-4F08-B3E1-ED350FEF42E7}" type="parTrans" cxnId="{7D93A2FB-E493-4057-9321-1F6F3DDA93FB}">
      <dgm:prSet/>
      <dgm:spPr/>
      <dgm:t>
        <a:bodyPr/>
        <a:lstStyle/>
        <a:p>
          <a:endParaRPr lang="en-US"/>
        </a:p>
      </dgm:t>
    </dgm:pt>
    <dgm:pt modelId="{3B0ED119-AD1B-484D-96A0-C81E45281368}" type="sibTrans" cxnId="{7D93A2FB-E493-4057-9321-1F6F3DDA93FB}">
      <dgm:prSet/>
      <dgm:spPr/>
      <dgm:t>
        <a:bodyPr/>
        <a:lstStyle/>
        <a:p>
          <a:endParaRPr lang="en-US"/>
        </a:p>
      </dgm:t>
    </dgm:pt>
    <dgm:pt modelId="{203A11AC-6691-4719-A18C-2D6C7EA9F1B7}" type="pres">
      <dgm:prSet presAssocID="{AC605FAC-F4E1-443B-91BE-22C6277E36A9}" presName="root" presStyleCnt="0">
        <dgm:presLayoutVars>
          <dgm:dir/>
          <dgm:resizeHandles val="exact"/>
        </dgm:presLayoutVars>
      </dgm:prSet>
      <dgm:spPr/>
    </dgm:pt>
    <dgm:pt modelId="{600634BA-D74A-488D-87C2-97828914D25B}" type="pres">
      <dgm:prSet presAssocID="{ED44C359-7308-4379-89E9-19E66492F1E3}" presName="compNode" presStyleCnt="0"/>
      <dgm:spPr/>
    </dgm:pt>
    <dgm:pt modelId="{27611441-5FC4-4BBA-AB94-233AC5382243}" type="pres">
      <dgm:prSet presAssocID="{ED44C359-7308-4379-89E9-19E66492F1E3}" presName="bgRect" presStyleLbl="bgShp" presStyleIdx="0" presStyleCnt="2"/>
      <dgm:spPr/>
    </dgm:pt>
    <dgm:pt modelId="{C11A7D35-1FE6-446D-AE68-CDC0EA75C5EF}" type="pres">
      <dgm:prSet presAssocID="{ED44C359-7308-4379-89E9-19E66492F1E3}" presName="iconRect" presStyleLbl="node1" presStyleIdx="0" presStyleCnt="2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1E29CDAF-1E44-40CB-AADF-4B80555EE7A7}" type="pres">
      <dgm:prSet presAssocID="{ED44C359-7308-4379-89E9-19E66492F1E3}" presName="spaceRect" presStyleCnt="0"/>
      <dgm:spPr/>
    </dgm:pt>
    <dgm:pt modelId="{439E4229-80E6-49FA-AC66-32D790A69D10}" type="pres">
      <dgm:prSet presAssocID="{ED44C359-7308-4379-89E9-19E66492F1E3}" presName="parTx" presStyleLbl="revTx" presStyleIdx="0" presStyleCnt="2">
        <dgm:presLayoutVars>
          <dgm:chMax val="0"/>
          <dgm:chPref val="0"/>
        </dgm:presLayoutVars>
      </dgm:prSet>
      <dgm:spPr/>
    </dgm:pt>
    <dgm:pt modelId="{8618AEF0-E25F-4BEF-A69C-DFE10F40ECD4}" type="pres">
      <dgm:prSet presAssocID="{C10B7116-E14F-4655-9E5A-B6D7DD37A5B9}" presName="sibTrans" presStyleCnt="0"/>
      <dgm:spPr/>
    </dgm:pt>
    <dgm:pt modelId="{2B88366C-3DD7-4316-A04C-3130D68EB710}" type="pres">
      <dgm:prSet presAssocID="{B52304F7-9CCF-4381-9DB7-D65E8FF69D98}" presName="compNode" presStyleCnt="0"/>
      <dgm:spPr/>
    </dgm:pt>
    <dgm:pt modelId="{D75562AD-F78D-4876-92B4-3DD0643FB177}" type="pres">
      <dgm:prSet presAssocID="{B52304F7-9CCF-4381-9DB7-D65E8FF69D98}" presName="bgRect" presStyleLbl="bgShp" presStyleIdx="1" presStyleCnt="2"/>
      <dgm:spPr/>
    </dgm:pt>
    <dgm:pt modelId="{3807B6D7-BF48-4FDE-BD86-4D161441F3BF}" type="pres">
      <dgm:prSet presAssocID="{B52304F7-9CCF-4381-9DB7-D65E8FF69D98}" presName="iconRect" presStyleLbl="node1" presStyleIdx="1" presStyleCnt="2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07149938-3981-4A58-80D9-196D21EBC8A9}" type="pres">
      <dgm:prSet presAssocID="{B52304F7-9CCF-4381-9DB7-D65E8FF69D98}" presName="spaceRect" presStyleCnt="0"/>
      <dgm:spPr/>
    </dgm:pt>
    <dgm:pt modelId="{17273AB3-1C10-4C7C-8AEC-2DC6562CD53E}" type="pres">
      <dgm:prSet presAssocID="{B52304F7-9CCF-4381-9DB7-D65E8FF69D9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A7FBB75-A817-4E9D-AEC2-DB7B07048CA1}" srcId="{AC605FAC-F4E1-443B-91BE-22C6277E36A9}" destId="{ED44C359-7308-4379-89E9-19E66492F1E3}" srcOrd="0" destOrd="0" parTransId="{DDE39F89-4909-4F7C-B6EE-53FC58D6BFC9}" sibTransId="{C10B7116-E14F-4655-9E5A-B6D7DD37A5B9}"/>
    <dgm:cxn modelId="{EC3A6D8C-FF5E-4705-AD3B-8C9EF9B23F68}" type="presOf" srcId="{AC605FAC-F4E1-443B-91BE-22C6277E36A9}" destId="{203A11AC-6691-4719-A18C-2D6C7EA9F1B7}" srcOrd="0" destOrd="0" presId="urn:microsoft.com/office/officeart/2018/2/layout/IconVerticalSolidList"/>
    <dgm:cxn modelId="{EA474EB2-2FA0-4EB5-B43B-96F69CF80FDF}" type="presOf" srcId="{B52304F7-9CCF-4381-9DB7-D65E8FF69D98}" destId="{17273AB3-1C10-4C7C-8AEC-2DC6562CD53E}" srcOrd="0" destOrd="0" presId="urn:microsoft.com/office/officeart/2018/2/layout/IconVerticalSolidList"/>
    <dgm:cxn modelId="{7D93A2FB-E493-4057-9321-1F6F3DDA93FB}" srcId="{AC605FAC-F4E1-443B-91BE-22C6277E36A9}" destId="{B52304F7-9CCF-4381-9DB7-D65E8FF69D98}" srcOrd="1" destOrd="0" parTransId="{5A3F200D-6884-4F08-B3E1-ED350FEF42E7}" sibTransId="{3B0ED119-AD1B-484D-96A0-C81E45281368}"/>
    <dgm:cxn modelId="{B2B632FF-2735-4994-8822-858116B0A752}" type="presOf" srcId="{ED44C359-7308-4379-89E9-19E66492F1E3}" destId="{439E4229-80E6-49FA-AC66-32D790A69D10}" srcOrd="0" destOrd="0" presId="urn:microsoft.com/office/officeart/2018/2/layout/IconVerticalSolidList"/>
    <dgm:cxn modelId="{AAD0D948-0EFF-4B90-9F03-4B7F786F9A47}" type="presParOf" srcId="{203A11AC-6691-4719-A18C-2D6C7EA9F1B7}" destId="{600634BA-D74A-488D-87C2-97828914D25B}" srcOrd="0" destOrd="0" presId="urn:microsoft.com/office/officeart/2018/2/layout/IconVerticalSolidList"/>
    <dgm:cxn modelId="{F3D869F0-5B3A-470A-B684-2565F3A7987F}" type="presParOf" srcId="{600634BA-D74A-488D-87C2-97828914D25B}" destId="{27611441-5FC4-4BBA-AB94-233AC5382243}" srcOrd="0" destOrd="0" presId="urn:microsoft.com/office/officeart/2018/2/layout/IconVerticalSolidList"/>
    <dgm:cxn modelId="{5BA5ADD8-02C7-452C-BCDF-19BDA1F0B94D}" type="presParOf" srcId="{600634BA-D74A-488D-87C2-97828914D25B}" destId="{C11A7D35-1FE6-446D-AE68-CDC0EA75C5EF}" srcOrd="1" destOrd="0" presId="urn:microsoft.com/office/officeart/2018/2/layout/IconVerticalSolidList"/>
    <dgm:cxn modelId="{C127652F-989C-4112-82A7-2E03814BB3AD}" type="presParOf" srcId="{600634BA-D74A-488D-87C2-97828914D25B}" destId="{1E29CDAF-1E44-40CB-AADF-4B80555EE7A7}" srcOrd="2" destOrd="0" presId="urn:microsoft.com/office/officeart/2018/2/layout/IconVerticalSolidList"/>
    <dgm:cxn modelId="{D0FB2FCC-1D9A-4592-85F9-A92F9CF1A68C}" type="presParOf" srcId="{600634BA-D74A-488D-87C2-97828914D25B}" destId="{439E4229-80E6-49FA-AC66-32D790A69D10}" srcOrd="3" destOrd="0" presId="urn:microsoft.com/office/officeart/2018/2/layout/IconVerticalSolidList"/>
    <dgm:cxn modelId="{0785BBAD-7F37-43D2-8AA1-2BBFD54735DC}" type="presParOf" srcId="{203A11AC-6691-4719-A18C-2D6C7EA9F1B7}" destId="{8618AEF0-E25F-4BEF-A69C-DFE10F40ECD4}" srcOrd="1" destOrd="0" presId="urn:microsoft.com/office/officeart/2018/2/layout/IconVerticalSolidList"/>
    <dgm:cxn modelId="{0E7202EA-0A9A-4D44-BA99-A889DE4EB80F}" type="presParOf" srcId="{203A11AC-6691-4719-A18C-2D6C7EA9F1B7}" destId="{2B88366C-3DD7-4316-A04C-3130D68EB710}" srcOrd="2" destOrd="0" presId="urn:microsoft.com/office/officeart/2018/2/layout/IconVerticalSolidList"/>
    <dgm:cxn modelId="{517A2F4A-4697-4566-8D6B-41A3D9D6EC75}" type="presParOf" srcId="{2B88366C-3DD7-4316-A04C-3130D68EB710}" destId="{D75562AD-F78D-4876-92B4-3DD0643FB177}" srcOrd="0" destOrd="0" presId="urn:microsoft.com/office/officeart/2018/2/layout/IconVerticalSolidList"/>
    <dgm:cxn modelId="{57779C05-57C6-44B8-93EE-CACA27621853}" type="presParOf" srcId="{2B88366C-3DD7-4316-A04C-3130D68EB710}" destId="{3807B6D7-BF48-4FDE-BD86-4D161441F3BF}" srcOrd="1" destOrd="0" presId="urn:microsoft.com/office/officeart/2018/2/layout/IconVerticalSolidList"/>
    <dgm:cxn modelId="{4237C448-86CC-4DA7-AAAA-5B81A689F97F}" type="presParOf" srcId="{2B88366C-3DD7-4316-A04C-3130D68EB710}" destId="{07149938-3981-4A58-80D9-196D21EBC8A9}" srcOrd="2" destOrd="0" presId="urn:microsoft.com/office/officeart/2018/2/layout/IconVerticalSolidList"/>
    <dgm:cxn modelId="{340E6C38-EDD8-4385-BAA2-F752835D3561}" type="presParOf" srcId="{2B88366C-3DD7-4316-A04C-3130D68EB710}" destId="{17273AB3-1C10-4C7C-8AEC-2DC6562CD53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DBFD4FB-C6FD-4DBB-9390-F7A7A71FE3E3}" type="doc">
      <dgm:prSet loTypeId="urn:microsoft.com/office/officeart/2005/8/layout/vProcess5" loCatId="process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7BEF166-46D9-47CD-A5CC-C42CEBF458FD}">
      <dgm:prSet custT="1"/>
      <dgm:spPr/>
      <dgm:t>
        <a:bodyPr anchor="ctr"/>
        <a:lstStyle/>
        <a:p>
          <a:pPr algn="l"/>
          <a:r>
            <a:rPr lang="en-US" altLang="en-US" sz="2100" dirty="0">
              <a:latin typeface="+mn-lt"/>
            </a:rPr>
            <a:t>Int </a:t>
          </a:r>
          <a:r>
            <a:rPr lang="en-US" altLang="en-US" sz="2100" dirty="0" err="1">
              <a:latin typeface="+mn-lt"/>
            </a:rPr>
            <a:t>pthread_mutex_trylock</a:t>
          </a:r>
          <a:r>
            <a:rPr lang="en-US" altLang="en-US" sz="2100" dirty="0">
              <a:latin typeface="+mn-lt"/>
            </a:rPr>
            <a:t> ( </a:t>
          </a:r>
          <a:r>
            <a:rPr lang="en-US" altLang="en-US" sz="2100" dirty="0" err="1">
              <a:latin typeface="+mn-lt"/>
            </a:rPr>
            <a:t>pthread_mutex_t</a:t>
          </a:r>
          <a:r>
            <a:rPr lang="en-US" altLang="en-US" sz="2100" dirty="0">
              <a:latin typeface="+mn-lt"/>
            </a:rPr>
            <a:t> *</a:t>
          </a:r>
          <a:r>
            <a:rPr lang="en-US" altLang="en-US" sz="2100" dirty="0" err="1">
              <a:latin typeface="+mn-lt"/>
            </a:rPr>
            <a:t>mutex_lock</a:t>
          </a:r>
          <a:r>
            <a:rPr lang="en-US" altLang="en-US" sz="2100" dirty="0">
              <a:latin typeface="+mn-lt"/>
            </a:rPr>
            <a:t>); </a:t>
          </a:r>
          <a:endParaRPr lang="en-US" sz="2100" dirty="0">
            <a:latin typeface="+mn-lt"/>
          </a:endParaRPr>
        </a:p>
      </dgm:t>
    </dgm:pt>
    <dgm:pt modelId="{FBEE11A8-B916-4E58-A92E-2149E10CDF52}" type="parTrans" cxnId="{CE11581B-50BA-42FD-905C-44D262A1F704}">
      <dgm:prSet/>
      <dgm:spPr/>
      <dgm:t>
        <a:bodyPr/>
        <a:lstStyle/>
        <a:p>
          <a:endParaRPr lang="en-US"/>
        </a:p>
      </dgm:t>
    </dgm:pt>
    <dgm:pt modelId="{94EEBF6A-1233-40F1-A207-DB57EC2029C3}" type="sibTrans" cxnId="{CE11581B-50BA-42FD-905C-44D262A1F704}">
      <dgm:prSet/>
      <dgm:spPr/>
      <dgm:t>
        <a:bodyPr/>
        <a:lstStyle/>
        <a:p>
          <a:endParaRPr lang="en-US"/>
        </a:p>
      </dgm:t>
    </dgm:pt>
    <dgm:pt modelId="{5811DE5D-1C93-4A7F-9DE7-D85E55E977E9}">
      <dgm:prSet custT="1"/>
      <dgm:spPr/>
      <dgm:t>
        <a:bodyPr/>
        <a:lstStyle/>
        <a:p>
          <a:pPr algn="just"/>
          <a:r>
            <a:rPr lang="en-US" altLang="en-US" sz="2100" dirty="0"/>
            <a:t>It is often possible to reduce the idling overhead associated with locks using an alternate function, </a:t>
          </a:r>
          <a:r>
            <a:rPr lang="en-US" altLang="en-US" sz="2100" dirty="0" err="1">
              <a:latin typeface="Courier" pitchFamily="49" charset="0"/>
            </a:rPr>
            <a:t>pthread_mutex_trylock</a:t>
          </a:r>
          <a:r>
            <a:rPr lang="en-US" altLang="en-US" sz="2000" dirty="0"/>
            <a:t>. </a:t>
          </a:r>
          <a:endParaRPr lang="en-US" sz="2000" dirty="0">
            <a:latin typeface="+mn-lt"/>
          </a:endParaRPr>
        </a:p>
      </dgm:t>
    </dgm:pt>
    <dgm:pt modelId="{F4ADC5D7-723F-4D29-AC86-57394EF9DA16}" type="parTrans" cxnId="{A95F25E7-B791-42A3-9D7C-AEC68F59D5AB}">
      <dgm:prSet/>
      <dgm:spPr/>
      <dgm:t>
        <a:bodyPr/>
        <a:lstStyle/>
        <a:p>
          <a:endParaRPr lang="en-US"/>
        </a:p>
      </dgm:t>
    </dgm:pt>
    <dgm:pt modelId="{95832741-9923-424E-BC32-636269CA7E37}" type="sibTrans" cxnId="{A95F25E7-B791-42A3-9D7C-AEC68F59D5AB}">
      <dgm:prSet/>
      <dgm:spPr/>
      <dgm:t>
        <a:bodyPr/>
        <a:lstStyle/>
        <a:p>
          <a:endParaRPr lang="en-US"/>
        </a:p>
      </dgm:t>
    </dgm:pt>
    <dgm:pt modelId="{6A778C11-B836-4C6D-A1B1-CA5398829CD2}">
      <dgm:prSet custT="1"/>
      <dgm:spPr/>
      <dgm:t>
        <a:bodyPr/>
        <a:lstStyle/>
        <a:p>
          <a:pPr algn="l"/>
          <a:r>
            <a:rPr lang="en-US" altLang="en-US" sz="2100" dirty="0" err="1">
              <a:latin typeface="+mn-lt"/>
            </a:rPr>
            <a:t>pthread_mutex_trylock</a:t>
          </a:r>
          <a:r>
            <a:rPr lang="en-US" altLang="en-US" sz="2100" dirty="0">
              <a:latin typeface="+mn-lt"/>
            </a:rPr>
            <a:t> is typically much faster than </a:t>
          </a:r>
          <a:r>
            <a:rPr lang="en-US" altLang="en-US" sz="2100" dirty="0" err="1">
              <a:latin typeface="+mn-lt"/>
            </a:rPr>
            <a:t>pthread_mutex_lock</a:t>
          </a:r>
          <a:r>
            <a:rPr lang="en-US" altLang="en-US" sz="2100" dirty="0">
              <a:latin typeface="+mn-lt"/>
            </a:rPr>
            <a:t> on typical systems </a:t>
          </a:r>
          <a:endParaRPr lang="en-US" sz="2100" dirty="0">
            <a:latin typeface="+mn-lt"/>
          </a:endParaRPr>
        </a:p>
      </dgm:t>
    </dgm:pt>
    <dgm:pt modelId="{6D2B5C53-EFB7-45E0-AB68-FCAB94CE2B16}" type="parTrans" cxnId="{072F7A86-7708-474D-923A-86FAB991FBDE}">
      <dgm:prSet/>
      <dgm:spPr/>
      <dgm:t>
        <a:bodyPr/>
        <a:lstStyle/>
        <a:p>
          <a:endParaRPr lang="en-US"/>
        </a:p>
      </dgm:t>
    </dgm:pt>
    <dgm:pt modelId="{21F0A508-BD01-4204-B462-1B43D42CD384}" type="sibTrans" cxnId="{072F7A86-7708-474D-923A-86FAB991FBDE}">
      <dgm:prSet/>
      <dgm:spPr/>
      <dgm:t>
        <a:bodyPr/>
        <a:lstStyle/>
        <a:p>
          <a:endParaRPr lang="en-US"/>
        </a:p>
      </dgm:t>
    </dgm:pt>
    <dgm:pt modelId="{3E46501C-6D4A-4F3F-8329-DC4030F869D1}" type="pres">
      <dgm:prSet presAssocID="{2DBFD4FB-C6FD-4DBB-9390-F7A7A71FE3E3}" presName="outerComposite" presStyleCnt="0">
        <dgm:presLayoutVars>
          <dgm:chMax val="5"/>
          <dgm:dir/>
          <dgm:resizeHandles val="exact"/>
        </dgm:presLayoutVars>
      </dgm:prSet>
      <dgm:spPr/>
    </dgm:pt>
    <dgm:pt modelId="{5A3DD3BD-3AF0-4660-94BB-9723E00B85B7}" type="pres">
      <dgm:prSet presAssocID="{2DBFD4FB-C6FD-4DBB-9390-F7A7A71FE3E3}" presName="dummyMaxCanvas" presStyleCnt="0">
        <dgm:presLayoutVars/>
      </dgm:prSet>
      <dgm:spPr/>
    </dgm:pt>
    <dgm:pt modelId="{3BBB19D1-BB8A-4148-8970-ABFC5CCDB5D7}" type="pres">
      <dgm:prSet presAssocID="{2DBFD4FB-C6FD-4DBB-9390-F7A7A71FE3E3}" presName="ThreeNodes_1" presStyleLbl="node1" presStyleIdx="0" presStyleCnt="3">
        <dgm:presLayoutVars>
          <dgm:bulletEnabled val="1"/>
        </dgm:presLayoutVars>
      </dgm:prSet>
      <dgm:spPr/>
    </dgm:pt>
    <dgm:pt modelId="{2D34C214-CC76-46C8-A31E-5D40A2FED3DE}" type="pres">
      <dgm:prSet presAssocID="{2DBFD4FB-C6FD-4DBB-9390-F7A7A71FE3E3}" presName="ThreeNodes_2" presStyleLbl="node1" presStyleIdx="1" presStyleCnt="3">
        <dgm:presLayoutVars>
          <dgm:bulletEnabled val="1"/>
        </dgm:presLayoutVars>
      </dgm:prSet>
      <dgm:spPr/>
    </dgm:pt>
    <dgm:pt modelId="{42F3398C-7170-4EB3-92E4-29A1D158FE35}" type="pres">
      <dgm:prSet presAssocID="{2DBFD4FB-C6FD-4DBB-9390-F7A7A71FE3E3}" presName="ThreeNodes_3" presStyleLbl="node1" presStyleIdx="2" presStyleCnt="3">
        <dgm:presLayoutVars>
          <dgm:bulletEnabled val="1"/>
        </dgm:presLayoutVars>
      </dgm:prSet>
      <dgm:spPr/>
    </dgm:pt>
    <dgm:pt modelId="{DC76D1E2-9ECB-48A0-9A17-B34FBD58A57C}" type="pres">
      <dgm:prSet presAssocID="{2DBFD4FB-C6FD-4DBB-9390-F7A7A71FE3E3}" presName="ThreeConn_1-2" presStyleLbl="fgAccFollowNode1" presStyleIdx="0" presStyleCnt="2">
        <dgm:presLayoutVars>
          <dgm:bulletEnabled val="1"/>
        </dgm:presLayoutVars>
      </dgm:prSet>
      <dgm:spPr/>
    </dgm:pt>
    <dgm:pt modelId="{F0C9F258-D9B8-4F90-855E-EA276507DFCA}" type="pres">
      <dgm:prSet presAssocID="{2DBFD4FB-C6FD-4DBB-9390-F7A7A71FE3E3}" presName="ThreeConn_2-3" presStyleLbl="fgAccFollowNode1" presStyleIdx="1" presStyleCnt="2" custLinFactNeighborX="-8804" custLinFactNeighborY="10132">
        <dgm:presLayoutVars>
          <dgm:bulletEnabled val="1"/>
        </dgm:presLayoutVars>
      </dgm:prSet>
      <dgm:spPr/>
    </dgm:pt>
    <dgm:pt modelId="{4DBFF385-2CC4-438D-80F8-A58CB24A22B8}" type="pres">
      <dgm:prSet presAssocID="{2DBFD4FB-C6FD-4DBB-9390-F7A7A71FE3E3}" presName="ThreeNodes_1_text" presStyleLbl="node1" presStyleIdx="2" presStyleCnt="3">
        <dgm:presLayoutVars>
          <dgm:bulletEnabled val="1"/>
        </dgm:presLayoutVars>
      </dgm:prSet>
      <dgm:spPr/>
    </dgm:pt>
    <dgm:pt modelId="{4E783F40-D3EE-4C1D-9287-6F3CC6F174B6}" type="pres">
      <dgm:prSet presAssocID="{2DBFD4FB-C6FD-4DBB-9390-F7A7A71FE3E3}" presName="ThreeNodes_2_text" presStyleLbl="node1" presStyleIdx="2" presStyleCnt="3">
        <dgm:presLayoutVars>
          <dgm:bulletEnabled val="1"/>
        </dgm:presLayoutVars>
      </dgm:prSet>
      <dgm:spPr/>
    </dgm:pt>
    <dgm:pt modelId="{72B19500-C002-4310-8616-8725A62BE697}" type="pres">
      <dgm:prSet presAssocID="{2DBFD4FB-C6FD-4DBB-9390-F7A7A71FE3E3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CE11581B-50BA-42FD-905C-44D262A1F704}" srcId="{2DBFD4FB-C6FD-4DBB-9390-F7A7A71FE3E3}" destId="{97BEF166-46D9-47CD-A5CC-C42CEBF458FD}" srcOrd="1" destOrd="0" parTransId="{FBEE11A8-B916-4E58-A92E-2149E10CDF52}" sibTransId="{94EEBF6A-1233-40F1-A207-DB57EC2029C3}"/>
    <dgm:cxn modelId="{D2C38B3F-4195-4CB8-A299-BEF918B225A3}" type="presOf" srcId="{6A778C11-B836-4C6D-A1B1-CA5398829CD2}" destId="{72B19500-C002-4310-8616-8725A62BE697}" srcOrd="1" destOrd="0" presId="urn:microsoft.com/office/officeart/2005/8/layout/vProcess5"/>
    <dgm:cxn modelId="{563EBC5B-4AE3-4299-A374-5A092A4FD0A6}" type="presOf" srcId="{2DBFD4FB-C6FD-4DBB-9390-F7A7A71FE3E3}" destId="{3E46501C-6D4A-4F3F-8329-DC4030F869D1}" srcOrd="0" destOrd="0" presId="urn:microsoft.com/office/officeart/2005/8/layout/vProcess5"/>
    <dgm:cxn modelId="{2F41404E-FF51-44CB-9724-887607211D81}" type="presOf" srcId="{6A778C11-B836-4C6D-A1B1-CA5398829CD2}" destId="{42F3398C-7170-4EB3-92E4-29A1D158FE35}" srcOrd="0" destOrd="0" presId="urn:microsoft.com/office/officeart/2005/8/layout/vProcess5"/>
    <dgm:cxn modelId="{1CE45352-809F-421E-8FD0-87D96B307C98}" type="presOf" srcId="{94EEBF6A-1233-40F1-A207-DB57EC2029C3}" destId="{F0C9F258-D9B8-4F90-855E-EA276507DFCA}" srcOrd="0" destOrd="0" presId="urn:microsoft.com/office/officeart/2005/8/layout/vProcess5"/>
    <dgm:cxn modelId="{1A09F279-3E07-4B7B-9CEC-2E2FE938A176}" type="presOf" srcId="{5811DE5D-1C93-4A7F-9DE7-D85E55E977E9}" destId="{3BBB19D1-BB8A-4148-8970-ABFC5CCDB5D7}" srcOrd="0" destOrd="0" presId="urn:microsoft.com/office/officeart/2005/8/layout/vProcess5"/>
    <dgm:cxn modelId="{072F7A86-7708-474D-923A-86FAB991FBDE}" srcId="{2DBFD4FB-C6FD-4DBB-9390-F7A7A71FE3E3}" destId="{6A778C11-B836-4C6D-A1B1-CA5398829CD2}" srcOrd="2" destOrd="0" parTransId="{6D2B5C53-EFB7-45E0-AB68-FCAB94CE2B16}" sibTransId="{21F0A508-BD01-4204-B462-1B43D42CD384}"/>
    <dgm:cxn modelId="{D99BE29F-B132-44A6-BF46-916296742BAF}" type="presOf" srcId="{97BEF166-46D9-47CD-A5CC-C42CEBF458FD}" destId="{2D34C214-CC76-46C8-A31E-5D40A2FED3DE}" srcOrd="0" destOrd="0" presId="urn:microsoft.com/office/officeart/2005/8/layout/vProcess5"/>
    <dgm:cxn modelId="{026879A4-4CF6-4A28-9CC7-187A6A645ACC}" type="presOf" srcId="{97BEF166-46D9-47CD-A5CC-C42CEBF458FD}" destId="{4E783F40-D3EE-4C1D-9287-6F3CC6F174B6}" srcOrd="1" destOrd="0" presId="urn:microsoft.com/office/officeart/2005/8/layout/vProcess5"/>
    <dgm:cxn modelId="{91EBFDC7-3449-4C1D-A862-840EAC308A62}" type="presOf" srcId="{5811DE5D-1C93-4A7F-9DE7-D85E55E977E9}" destId="{4DBFF385-2CC4-438D-80F8-A58CB24A22B8}" srcOrd="1" destOrd="0" presId="urn:microsoft.com/office/officeart/2005/8/layout/vProcess5"/>
    <dgm:cxn modelId="{A95F25E7-B791-42A3-9D7C-AEC68F59D5AB}" srcId="{2DBFD4FB-C6FD-4DBB-9390-F7A7A71FE3E3}" destId="{5811DE5D-1C93-4A7F-9DE7-D85E55E977E9}" srcOrd="0" destOrd="0" parTransId="{F4ADC5D7-723F-4D29-AC86-57394EF9DA16}" sibTransId="{95832741-9923-424E-BC32-636269CA7E37}"/>
    <dgm:cxn modelId="{08F78EFD-F97D-480D-B94B-74085F4C79EE}" type="presOf" srcId="{95832741-9923-424E-BC32-636269CA7E37}" destId="{DC76D1E2-9ECB-48A0-9A17-B34FBD58A57C}" srcOrd="0" destOrd="0" presId="urn:microsoft.com/office/officeart/2005/8/layout/vProcess5"/>
    <dgm:cxn modelId="{9E305E92-9A5B-4F7E-A30C-1B6A1B567EDC}" type="presParOf" srcId="{3E46501C-6D4A-4F3F-8329-DC4030F869D1}" destId="{5A3DD3BD-3AF0-4660-94BB-9723E00B85B7}" srcOrd="0" destOrd="0" presId="urn:microsoft.com/office/officeart/2005/8/layout/vProcess5"/>
    <dgm:cxn modelId="{15FE1655-6A61-4003-BA77-3E191E508523}" type="presParOf" srcId="{3E46501C-6D4A-4F3F-8329-DC4030F869D1}" destId="{3BBB19D1-BB8A-4148-8970-ABFC5CCDB5D7}" srcOrd="1" destOrd="0" presId="urn:microsoft.com/office/officeart/2005/8/layout/vProcess5"/>
    <dgm:cxn modelId="{CC056FDC-AFC1-41D8-8731-47FEC9D4948C}" type="presParOf" srcId="{3E46501C-6D4A-4F3F-8329-DC4030F869D1}" destId="{2D34C214-CC76-46C8-A31E-5D40A2FED3DE}" srcOrd="2" destOrd="0" presId="urn:microsoft.com/office/officeart/2005/8/layout/vProcess5"/>
    <dgm:cxn modelId="{6C3DDAC4-F273-4282-8D4E-857DA8C84545}" type="presParOf" srcId="{3E46501C-6D4A-4F3F-8329-DC4030F869D1}" destId="{42F3398C-7170-4EB3-92E4-29A1D158FE35}" srcOrd="3" destOrd="0" presId="urn:microsoft.com/office/officeart/2005/8/layout/vProcess5"/>
    <dgm:cxn modelId="{E71FC6FA-A438-423B-9D3C-0D95758FA7AF}" type="presParOf" srcId="{3E46501C-6D4A-4F3F-8329-DC4030F869D1}" destId="{DC76D1E2-9ECB-48A0-9A17-B34FBD58A57C}" srcOrd="4" destOrd="0" presId="urn:microsoft.com/office/officeart/2005/8/layout/vProcess5"/>
    <dgm:cxn modelId="{980C7845-9478-4081-AE2F-8CC1095A8513}" type="presParOf" srcId="{3E46501C-6D4A-4F3F-8329-DC4030F869D1}" destId="{F0C9F258-D9B8-4F90-855E-EA276507DFCA}" srcOrd="5" destOrd="0" presId="urn:microsoft.com/office/officeart/2005/8/layout/vProcess5"/>
    <dgm:cxn modelId="{708C28F4-416D-4A5D-A1D9-F20638B39DE3}" type="presParOf" srcId="{3E46501C-6D4A-4F3F-8329-DC4030F869D1}" destId="{4DBFF385-2CC4-438D-80F8-A58CB24A22B8}" srcOrd="6" destOrd="0" presId="urn:microsoft.com/office/officeart/2005/8/layout/vProcess5"/>
    <dgm:cxn modelId="{72045DBC-B46A-4D21-9EB3-4BC5B366CCB0}" type="presParOf" srcId="{3E46501C-6D4A-4F3F-8329-DC4030F869D1}" destId="{4E783F40-D3EE-4C1D-9287-6F3CC6F174B6}" srcOrd="7" destOrd="0" presId="urn:microsoft.com/office/officeart/2005/8/layout/vProcess5"/>
    <dgm:cxn modelId="{4D219AAE-B88F-40CD-B615-DFE54F7C07ED}" type="presParOf" srcId="{3E46501C-6D4A-4F3F-8329-DC4030F869D1}" destId="{72B19500-C002-4310-8616-8725A62BE697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11441-5FC4-4BBA-AB94-233AC5382243}">
      <dsp:nvSpPr>
        <dsp:cNvPr id="0" name=""/>
        <dsp:cNvSpPr/>
      </dsp:nvSpPr>
      <dsp:spPr>
        <a:xfrm>
          <a:off x="0" y="949585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1A7D35-1FE6-446D-AE68-CDC0EA75C5EF}">
      <dsp:nvSpPr>
        <dsp:cNvPr id="0" name=""/>
        <dsp:cNvSpPr/>
      </dsp:nvSpPr>
      <dsp:spPr>
        <a:xfrm>
          <a:off x="530307" y="1344029"/>
          <a:ext cx="964194" cy="964194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9E4229-80E6-49FA-AC66-32D790A69D10}">
      <dsp:nvSpPr>
        <dsp:cNvPr id="0" name=""/>
        <dsp:cNvSpPr/>
      </dsp:nvSpPr>
      <dsp:spPr>
        <a:xfrm>
          <a:off x="2024809" y="949585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Introduction of Threading.</a:t>
          </a:r>
        </a:p>
      </dsp:txBody>
      <dsp:txXfrm>
        <a:off x="2024809" y="949585"/>
        <a:ext cx="4978967" cy="1753081"/>
      </dsp:txXfrm>
    </dsp:sp>
    <dsp:sp modelId="{D75562AD-F78D-4876-92B4-3DD0643FB177}">
      <dsp:nvSpPr>
        <dsp:cNvPr id="0" name=""/>
        <dsp:cNvSpPr/>
      </dsp:nvSpPr>
      <dsp:spPr>
        <a:xfrm>
          <a:off x="0" y="3140937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07B6D7-BF48-4FDE-BD86-4D161441F3BF}">
      <dsp:nvSpPr>
        <dsp:cNvPr id="0" name=""/>
        <dsp:cNvSpPr/>
      </dsp:nvSpPr>
      <dsp:spPr>
        <a:xfrm>
          <a:off x="530307" y="3535381"/>
          <a:ext cx="964194" cy="964194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273AB3-1C10-4C7C-8AEC-2DC6562CD53E}">
      <dsp:nvSpPr>
        <dsp:cNvPr id="0" name=""/>
        <dsp:cNvSpPr/>
      </dsp:nvSpPr>
      <dsp:spPr>
        <a:xfrm>
          <a:off x="2024809" y="3140937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Creating and Terminating Threads using POSIX API.</a:t>
          </a:r>
        </a:p>
      </dsp:txBody>
      <dsp:txXfrm>
        <a:off x="2024809" y="3140937"/>
        <a:ext cx="4978967" cy="17530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5B38D8-4AFD-4D69-A414-2BE0602A7929}">
      <dsp:nvSpPr>
        <dsp:cNvPr id="0" name=""/>
        <dsp:cNvSpPr/>
      </dsp:nvSpPr>
      <dsp:spPr>
        <a:xfrm>
          <a:off x="868077" y="98481"/>
          <a:ext cx="3417690" cy="3662419"/>
        </a:xfrm>
        <a:prstGeom prst="triangle">
          <a:avLst/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060441-903E-4E66-8178-D4409D3511A4}">
      <dsp:nvSpPr>
        <dsp:cNvPr id="0" name=""/>
        <dsp:cNvSpPr/>
      </dsp:nvSpPr>
      <dsp:spPr>
        <a:xfrm>
          <a:off x="2643795" y="261673"/>
          <a:ext cx="4195103" cy="832088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 general</a:t>
          </a:r>
        </a:p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 “A long, thin strand of cotton, fibers etc.,”</a:t>
          </a:r>
        </a:p>
      </dsp:txBody>
      <dsp:txXfrm>
        <a:off x="2684414" y="302292"/>
        <a:ext cx="4113865" cy="750850"/>
      </dsp:txXfrm>
    </dsp:sp>
    <dsp:sp modelId="{E953909A-9077-4F96-96DF-3CE0384953C4}">
      <dsp:nvSpPr>
        <dsp:cNvPr id="0" name=""/>
        <dsp:cNvSpPr/>
      </dsp:nvSpPr>
      <dsp:spPr>
        <a:xfrm>
          <a:off x="2676006" y="1359923"/>
          <a:ext cx="4186946" cy="90963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x-none" sz="1500" kern="1200" dirty="0"/>
            <a:t>In Computing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x-none" sz="1500" kern="1200" dirty="0"/>
            <a:t>       “A sequence of linked instructions”</a:t>
          </a:r>
          <a:endParaRPr lang="en-US" sz="1500" kern="1200" dirty="0"/>
        </a:p>
      </dsp:txBody>
      <dsp:txXfrm>
        <a:off x="2720411" y="1404328"/>
        <a:ext cx="4098136" cy="820821"/>
      </dsp:txXfrm>
    </dsp:sp>
    <dsp:sp modelId="{33749CCF-1E58-47A1-9F63-F00DD4AFFC57}">
      <dsp:nvSpPr>
        <dsp:cNvPr id="0" name=""/>
        <dsp:cNvSpPr/>
      </dsp:nvSpPr>
      <dsp:spPr>
        <a:xfrm>
          <a:off x="2676080" y="2410550"/>
          <a:ext cx="4411948" cy="1071139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movl</a:t>
          </a:r>
          <a:r>
            <a:rPr lang="en-US" sz="1500" kern="1200" dirty="0"/>
            <a:t>     $14,    %</a:t>
          </a:r>
          <a:r>
            <a:rPr lang="en-US" sz="1500" kern="1200" dirty="0" err="1"/>
            <a:t>eax</a:t>
          </a:r>
          <a:br>
            <a:rPr lang="en-US" sz="1500" kern="1200" dirty="0"/>
          </a:br>
          <a:r>
            <a:rPr lang="en-US" sz="1500" kern="1200" dirty="0"/>
            <a:t> </a:t>
          </a:r>
          <a:r>
            <a:rPr lang="en-US" sz="1500" kern="1200" dirty="0" err="1"/>
            <a:t>movl</a:t>
          </a:r>
          <a:r>
            <a:rPr lang="en-US" sz="1500" kern="1200" dirty="0"/>
            <a:t>     $10,     %</a:t>
          </a:r>
          <a:r>
            <a:rPr lang="en-US" sz="1500" kern="1200" dirty="0" err="1"/>
            <a:t>ebx</a:t>
          </a:r>
          <a:br>
            <a:rPr lang="en-US" sz="1500" kern="1200" dirty="0"/>
          </a:br>
          <a:r>
            <a:rPr lang="en-US" sz="1500" kern="1200" dirty="0"/>
            <a:t>   add     %</a:t>
          </a:r>
          <a:r>
            <a:rPr lang="en-US" sz="1500" kern="1200" dirty="0" err="1"/>
            <a:t>eax</a:t>
          </a:r>
          <a:r>
            <a:rPr lang="en-US" sz="1500" kern="1200" dirty="0"/>
            <a:t>,    %</a:t>
          </a:r>
          <a:r>
            <a:rPr lang="en-US" sz="1500" kern="1200" dirty="0" err="1"/>
            <a:t>ebx</a:t>
          </a:r>
          <a:endParaRPr lang="en-US" sz="1500" kern="1200" dirty="0"/>
        </a:p>
      </dsp:txBody>
      <dsp:txXfrm>
        <a:off x="2728369" y="2462839"/>
        <a:ext cx="4307370" cy="9665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43B2D2-4C8C-479E-B213-099B7FA23758}">
      <dsp:nvSpPr>
        <dsp:cNvPr id="0" name=""/>
        <dsp:cNvSpPr/>
      </dsp:nvSpPr>
      <dsp:spPr>
        <a:xfrm>
          <a:off x="109350" y="102709"/>
          <a:ext cx="4332437" cy="8161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x-none" sz="2800" kern="1200" dirty="0"/>
            <a:t>Thread ID</a:t>
          </a:r>
          <a:endParaRPr lang="x-none" sz="2800" kern="1200" dirty="0"/>
        </a:p>
      </dsp:txBody>
      <dsp:txXfrm>
        <a:off x="133254" y="126613"/>
        <a:ext cx="3100015" cy="768320"/>
      </dsp:txXfrm>
    </dsp:sp>
    <dsp:sp modelId="{9B4047BF-B8CB-4624-A3CD-7308FC944F98}">
      <dsp:nvSpPr>
        <dsp:cNvPr id="0" name=""/>
        <dsp:cNvSpPr/>
      </dsp:nvSpPr>
      <dsp:spPr>
        <a:xfrm>
          <a:off x="263868" y="1252314"/>
          <a:ext cx="4332437" cy="7896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x-none" sz="2800" kern="1200" dirty="0"/>
            <a:t>CPU Context</a:t>
          </a:r>
          <a:endParaRPr lang="x-none" sz="2800" kern="1200" dirty="0"/>
        </a:p>
      </dsp:txBody>
      <dsp:txXfrm>
        <a:off x="286996" y="1275442"/>
        <a:ext cx="3285733" cy="743389"/>
      </dsp:txXfrm>
    </dsp:sp>
    <dsp:sp modelId="{9094905E-6914-49FB-9118-470F5A12DC43}">
      <dsp:nvSpPr>
        <dsp:cNvPr id="0" name=""/>
        <dsp:cNvSpPr/>
      </dsp:nvSpPr>
      <dsp:spPr>
        <a:xfrm>
          <a:off x="454172" y="2352213"/>
          <a:ext cx="4332437" cy="9023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x-none" sz="2800" kern="1200" dirty="0"/>
            <a:t>Stack</a:t>
          </a:r>
          <a:endParaRPr lang="x-none" sz="2800" kern="1200" dirty="0"/>
        </a:p>
      </dsp:txBody>
      <dsp:txXfrm>
        <a:off x="480600" y="2378641"/>
        <a:ext cx="3279133" cy="849460"/>
      </dsp:txXfrm>
    </dsp:sp>
    <dsp:sp modelId="{B115F2F5-236A-41C3-8C71-C7987F371F5A}">
      <dsp:nvSpPr>
        <dsp:cNvPr id="0" name=""/>
        <dsp:cNvSpPr/>
      </dsp:nvSpPr>
      <dsp:spPr>
        <a:xfrm>
          <a:off x="648981" y="3488847"/>
          <a:ext cx="4332437" cy="8092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Priority</a:t>
          </a:r>
        </a:p>
      </dsp:txBody>
      <dsp:txXfrm>
        <a:off x="672684" y="3512550"/>
        <a:ext cx="3284583" cy="761890"/>
      </dsp:txXfrm>
    </dsp:sp>
    <dsp:sp modelId="{0B18BA2F-3CDF-4CAD-9B8C-FD5AD13F8ACA}">
      <dsp:nvSpPr>
        <dsp:cNvPr id="0" name=""/>
        <dsp:cNvSpPr/>
      </dsp:nvSpPr>
      <dsp:spPr>
        <a:xfrm>
          <a:off x="836902" y="4511102"/>
          <a:ext cx="4332437" cy="65656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x-none" sz="2800" kern="1200"/>
            <a:t>Errno</a:t>
          </a:r>
          <a:r>
            <a:rPr lang="en-US" sz="2800" kern="1200"/>
            <a:t>.</a:t>
          </a:r>
          <a:endParaRPr lang="x-none" sz="2800" kern="1200" dirty="0"/>
        </a:p>
      </dsp:txBody>
      <dsp:txXfrm>
        <a:off x="856132" y="4530332"/>
        <a:ext cx="3293529" cy="618102"/>
      </dsp:txXfrm>
    </dsp:sp>
    <dsp:sp modelId="{9BE4A707-5611-4720-A148-89FCB9712EA8}">
      <dsp:nvSpPr>
        <dsp:cNvPr id="0" name=""/>
        <dsp:cNvSpPr/>
      </dsp:nvSpPr>
      <dsp:spPr>
        <a:xfrm>
          <a:off x="3645578" y="909899"/>
          <a:ext cx="676921" cy="67692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x-none" sz="3100" kern="1200"/>
        </a:p>
      </dsp:txBody>
      <dsp:txXfrm>
        <a:off x="3797885" y="909899"/>
        <a:ext cx="372307" cy="509383"/>
      </dsp:txXfrm>
    </dsp:sp>
    <dsp:sp modelId="{38471A33-A32B-4756-9D8F-C28C2010CF14}">
      <dsp:nvSpPr>
        <dsp:cNvPr id="0" name=""/>
        <dsp:cNvSpPr/>
      </dsp:nvSpPr>
      <dsp:spPr>
        <a:xfrm>
          <a:off x="3979041" y="1946873"/>
          <a:ext cx="676921" cy="67692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x-none" sz="3100" kern="1200"/>
        </a:p>
      </dsp:txBody>
      <dsp:txXfrm>
        <a:off x="4131348" y="1946873"/>
        <a:ext cx="372307" cy="509383"/>
      </dsp:txXfrm>
    </dsp:sp>
    <dsp:sp modelId="{476B30B6-3B7B-4C81-ACD1-54081791B0C3}">
      <dsp:nvSpPr>
        <dsp:cNvPr id="0" name=""/>
        <dsp:cNvSpPr/>
      </dsp:nvSpPr>
      <dsp:spPr>
        <a:xfrm>
          <a:off x="4044152" y="3085568"/>
          <a:ext cx="676921" cy="67692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x-none" sz="3100" kern="1200"/>
        </a:p>
      </dsp:txBody>
      <dsp:txXfrm>
        <a:off x="4196459" y="3085568"/>
        <a:ext cx="372307" cy="509383"/>
      </dsp:txXfrm>
    </dsp:sp>
    <dsp:sp modelId="{D1445653-55DC-4C0A-9D04-121D95683DF4}">
      <dsp:nvSpPr>
        <dsp:cNvPr id="0" name=""/>
        <dsp:cNvSpPr/>
      </dsp:nvSpPr>
      <dsp:spPr>
        <a:xfrm>
          <a:off x="4280031" y="4070152"/>
          <a:ext cx="676921" cy="676921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x-none" sz="3100" kern="1200"/>
        </a:p>
      </dsp:txBody>
      <dsp:txXfrm>
        <a:off x="4432338" y="4070152"/>
        <a:ext cx="372307" cy="5093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2F0DB9-593E-49A3-BFC5-548BBF7E1B5B}">
      <dsp:nvSpPr>
        <dsp:cNvPr id="0" name=""/>
        <dsp:cNvSpPr/>
      </dsp:nvSpPr>
      <dsp:spPr>
        <a:xfrm>
          <a:off x="0" y="0"/>
          <a:ext cx="8125224" cy="9534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x-none" sz="2100" kern="1200" dirty="0"/>
            <a:t>A thread is a piece of code within the process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x-none" sz="2100" kern="1200" dirty="0"/>
            <a:t>               Executes within the address space of a process  </a:t>
          </a:r>
          <a:endParaRPr lang="en-US" sz="2100" kern="1200" dirty="0"/>
        </a:p>
      </dsp:txBody>
      <dsp:txXfrm>
        <a:off x="27924" y="27924"/>
        <a:ext cx="7015859" cy="897561"/>
      </dsp:txXfrm>
    </dsp:sp>
    <dsp:sp modelId="{0E30BD2E-CD2E-42EF-B900-C93ABD563988}">
      <dsp:nvSpPr>
        <dsp:cNvPr id="0" name=""/>
        <dsp:cNvSpPr/>
      </dsp:nvSpPr>
      <dsp:spPr>
        <a:xfrm>
          <a:off x="680487" y="1126756"/>
          <a:ext cx="8125224" cy="9534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501784"/>
                <a:satOff val="-2116"/>
                <a:lumOff val="104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501784"/>
                <a:satOff val="-2116"/>
                <a:lumOff val="104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501784"/>
                <a:satOff val="-2116"/>
                <a:lumOff val="104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x-none" sz="2100" kern="1200" dirty="0"/>
            <a:t>Lightweight process</a:t>
          </a:r>
          <a:endParaRPr lang="en-US" sz="2100" kern="1200" dirty="0"/>
        </a:p>
      </dsp:txBody>
      <dsp:txXfrm>
        <a:off x="708411" y="1154680"/>
        <a:ext cx="6769173" cy="897561"/>
      </dsp:txXfrm>
    </dsp:sp>
    <dsp:sp modelId="{68A71341-5AC0-4E14-BBEE-0B5FC0957F37}">
      <dsp:nvSpPr>
        <dsp:cNvPr id="0" name=""/>
        <dsp:cNvSpPr/>
      </dsp:nvSpPr>
      <dsp:spPr>
        <a:xfrm>
          <a:off x="1350818" y="2253513"/>
          <a:ext cx="8125224" cy="9534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003569"/>
                <a:satOff val="-4231"/>
                <a:lumOff val="209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03569"/>
                <a:satOff val="-4231"/>
                <a:lumOff val="209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03569"/>
                <a:satOff val="-4231"/>
                <a:lumOff val="209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x-none" sz="2100" kern="1200" dirty="0"/>
            <a:t>Can be scheduled to run on a CPU as an independent unit and terminate </a:t>
          </a:r>
          <a:endParaRPr lang="en-US" sz="2100" kern="1200" dirty="0"/>
        </a:p>
      </dsp:txBody>
      <dsp:txXfrm>
        <a:off x="1378742" y="2281437"/>
        <a:ext cx="6779329" cy="897561"/>
      </dsp:txXfrm>
    </dsp:sp>
    <dsp:sp modelId="{500EE2B6-65AB-4944-9D94-49DD1ACA433F}">
      <dsp:nvSpPr>
        <dsp:cNvPr id="0" name=""/>
        <dsp:cNvSpPr/>
      </dsp:nvSpPr>
      <dsp:spPr>
        <a:xfrm>
          <a:off x="2031306" y="3380269"/>
          <a:ext cx="8125224" cy="9534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505353"/>
                <a:satOff val="-6347"/>
                <a:lumOff val="313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505353"/>
                <a:satOff val="-6347"/>
                <a:lumOff val="313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505353"/>
                <a:satOff val="-6347"/>
                <a:lumOff val="313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x-none" sz="2100" kern="1200" dirty="0"/>
            <a:t>Multiple threads can run simultaneously </a:t>
          </a:r>
          <a:r>
            <a:rPr lang="en-US" sz="2100" kern="1200" dirty="0"/>
            <a:t>.</a:t>
          </a:r>
        </a:p>
      </dsp:txBody>
      <dsp:txXfrm>
        <a:off x="2059230" y="3408193"/>
        <a:ext cx="6769173" cy="897561"/>
      </dsp:txXfrm>
    </dsp:sp>
    <dsp:sp modelId="{33CD8A7B-AFC7-4C3E-BB61-656B6F363D36}">
      <dsp:nvSpPr>
        <dsp:cNvPr id="0" name=""/>
        <dsp:cNvSpPr/>
      </dsp:nvSpPr>
      <dsp:spPr>
        <a:xfrm>
          <a:off x="7505508" y="730224"/>
          <a:ext cx="619716" cy="61971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644944" y="730224"/>
        <a:ext cx="340844" cy="466336"/>
      </dsp:txXfrm>
    </dsp:sp>
    <dsp:sp modelId="{BCACED93-6D0A-4E3A-8B19-301AAF848474}">
      <dsp:nvSpPr>
        <dsp:cNvPr id="0" name=""/>
        <dsp:cNvSpPr/>
      </dsp:nvSpPr>
      <dsp:spPr>
        <a:xfrm>
          <a:off x="8185996" y="1856981"/>
          <a:ext cx="619716" cy="61971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569419"/>
            <a:satOff val="467"/>
            <a:lumOff val="225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569419"/>
              <a:satOff val="467"/>
              <a:lumOff val="22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325432" y="1856981"/>
        <a:ext cx="340844" cy="466336"/>
      </dsp:txXfrm>
    </dsp:sp>
    <dsp:sp modelId="{9C6C9CAB-BF62-489E-9CFB-DB7DDDDD0C9A}">
      <dsp:nvSpPr>
        <dsp:cNvPr id="0" name=""/>
        <dsp:cNvSpPr/>
      </dsp:nvSpPr>
      <dsp:spPr>
        <a:xfrm>
          <a:off x="8856327" y="2983737"/>
          <a:ext cx="619716" cy="61971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138838"/>
            <a:satOff val="934"/>
            <a:lumOff val="451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1138838"/>
              <a:satOff val="934"/>
              <a:lumOff val="451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995763" y="2983737"/>
        <a:ext cx="340844" cy="46633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11441-5FC4-4BBA-AB94-233AC5382243}">
      <dsp:nvSpPr>
        <dsp:cNvPr id="0" name=""/>
        <dsp:cNvSpPr/>
      </dsp:nvSpPr>
      <dsp:spPr>
        <a:xfrm>
          <a:off x="0" y="949585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1A7D35-1FE6-446D-AE68-CDC0EA75C5EF}">
      <dsp:nvSpPr>
        <dsp:cNvPr id="0" name=""/>
        <dsp:cNvSpPr/>
      </dsp:nvSpPr>
      <dsp:spPr>
        <a:xfrm>
          <a:off x="530307" y="1344029"/>
          <a:ext cx="964194" cy="964194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9E4229-80E6-49FA-AC66-32D790A69D10}">
      <dsp:nvSpPr>
        <dsp:cNvPr id="0" name=""/>
        <dsp:cNvSpPr/>
      </dsp:nvSpPr>
      <dsp:spPr>
        <a:xfrm>
          <a:off x="2024809" y="949585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rial" panose="020B0604020202020204" pitchFamily="34" charset="0"/>
              <a:cs typeface="Arial" panose="020B0604020202020204" pitchFamily="34" charset="0"/>
            </a:rPr>
            <a:t>Introduction of Thread Model.</a:t>
          </a:r>
          <a:r>
            <a:rPr lang="en-US" sz="2500" kern="1200" dirty="0"/>
            <a:t>.</a:t>
          </a:r>
        </a:p>
      </dsp:txBody>
      <dsp:txXfrm>
        <a:off x="2024809" y="949585"/>
        <a:ext cx="4978967" cy="1753081"/>
      </dsp:txXfrm>
    </dsp:sp>
    <dsp:sp modelId="{D75562AD-F78D-4876-92B4-3DD0643FB177}">
      <dsp:nvSpPr>
        <dsp:cNvPr id="0" name=""/>
        <dsp:cNvSpPr/>
      </dsp:nvSpPr>
      <dsp:spPr>
        <a:xfrm>
          <a:off x="0" y="3140937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07B6D7-BF48-4FDE-BD86-4D161441F3BF}">
      <dsp:nvSpPr>
        <dsp:cNvPr id="0" name=""/>
        <dsp:cNvSpPr/>
      </dsp:nvSpPr>
      <dsp:spPr>
        <a:xfrm>
          <a:off x="530307" y="3535381"/>
          <a:ext cx="964194" cy="964194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273AB3-1C10-4C7C-8AEC-2DC6562CD53E}">
      <dsp:nvSpPr>
        <dsp:cNvPr id="0" name=""/>
        <dsp:cNvSpPr/>
      </dsp:nvSpPr>
      <dsp:spPr>
        <a:xfrm>
          <a:off x="2024809" y="3140937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rial" panose="020B0604020202020204" pitchFamily="34" charset="0"/>
              <a:cs typeface="Arial" panose="020B0604020202020204" pitchFamily="34" charset="0"/>
            </a:rPr>
            <a:t>Logical Machine Model of Threads.</a:t>
          </a:r>
          <a:endParaRPr lang="en-US" sz="2500" kern="1200" dirty="0"/>
        </a:p>
      </dsp:txBody>
      <dsp:txXfrm>
        <a:off x="2024809" y="3140937"/>
        <a:ext cx="4978967" cy="175308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11441-5FC4-4BBA-AB94-233AC5382243}">
      <dsp:nvSpPr>
        <dsp:cNvPr id="0" name=""/>
        <dsp:cNvSpPr/>
      </dsp:nvSpPr>
      <dsp:spPr>
        <a:xfrm>
          <a:off x="0" y="949585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1A7D35-1FE6-446D-AE68-CDC0EA75C5EF}">
      <dsp:nvSpPr>
        <dsp:cNvPr id="0" name=""/>
        <dsp:cNvSpPr/>
      </dsp:nvSpPr>
      <dsp:spPr>
        <a:xfrm>
          <a:off x="530307" y="1344029"/>
          <a:ext cx="964194" cy="964194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9E4229-80E6-49FA-AC66-32D790A69D10}">
      <dsp:nvSpPr>
        <dsp:cNvPr id="0" name=""/>
        <dsp:cNvSpPr/>
      </dsp:nvSpPr>
      <dsp:spPr>
        <a:xfrm>
          <a:off x="2024809" y="949585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rial" panose="020B0604020202020204" pitchFamily="34" charset="0"/>
              <a:cs typeface="Arial" panose="020B0604020202020204" pitchFamily="34" charset="0"/>
            </a:rPr>
            <a:t>What Is Thread API?</a:t>
          </a:r>
          <a:endParaRPr lang="en-US" sz="2500" kern="1200" dirty="0"/>
        </a:p>
      </dsp:txBody>
      <dsp:txXfrm>
        <a:off x="2024809" y="949585"/>
        <a:ext cx="4978967" cy="1753081"/>
      </dsp:txXfrm>
    </dsp:sp>
    <dsp:sp modelId="{D75562AD-F78D-4876-92B4-3DD0643FB177}">
      <dsp:nvSpPr>
        <dsp:cNvPr id="0" name=""/>
        <dsp:cNvSpPr/>
      </dsp:nvSpPr>
      <dsp:spPr>
        <a:xfrm>
          <a:off x="0" y="3140937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07B6D7-BF48-4FDE-BD86-4D161441F3BF}">
      <dsp:nvSpPr>
        <dsp:cNvPr id="0" name=""/>
        <dsp:cNvSpPr/>
      </dsp:nvSpPr>
      <dsp:spPr>
        <a:xfrm>
          <a:off x="530307" y="3535381"/>
          <a:ext cx="964194" cy="964194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273AB3-1C10-4C7C-8AEC-2DC6562CD53E}">
      <dsp:nvSpPr>
        <dsp:cNvPr id="0" name=""/>
        <dsp:cNvSpPr/>
      </dsp:nvSpPr>
      <dsp:spPr>
        <a:xfrm>
          <a:off x="2024809" y="3140937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rial" panose="020B0604020202020204" pitchFamily="34" charset="0"/>
              <a:cs typeface="Arial" panose="020B0604020202020204" pitchFamily="34" charset="0"/>
            </a:rPr>
            <a:t>Thread Creation.</a:t>
          </a:r>
          <a:endParaRPr lang="en-US" sz="2500" kern="1200" dirty="0"/>
        </a:p>
      </dsp:txBody>
      <dsp:txXfrm>
        <a:off x="2024809" y="3140937"/>
        <a:ext cx="4978967" cy="175308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11441-5FC4-4BBA-AB94-233AC5382243}">
      <dsp:nvSpPr>
        <dsp:cNvPr id="0" name=""/>
        <dsp:cNvSpPr/>
      </dsp:nvSpPr>
      <dsp:spPr>
        <a:xfrm>
          <a:off x="0" y="949585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1A7D35-1FE6-446D-AE68-CDC0EA75C5EF}">
      <dsp:nvSpPr>
        <dsp:cNvPr id="0" name=""/>
        <dsp:cNvSpPr/>
      </dsp:nvSpPr>
      <dsp:spPr>
        <a:xfrm>
          <a:off x="530307" y="1344029"/>
          <a:ext cx="964194" cy="964194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9E4229-80E6-49FA-AC66-32D790A69D10}">
      <dsp:nvSpPr>
        <dsp:cNvPr id="0" name=""/>
        <dsp:cNvSpPr/>
      </dsp:nvSpPr>
      <dsp:spPr>
        <a:xfrm>
          <a:off x="2024809" y="949585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rial" panose="020B0604020202020204" pitchFamily="34" charset="0"/>
              <a:cs typeface="Arial" panose="020B0604020202020204" pitchFamily="34" charset="0"/>
            </a:rPr>
            <a:t>Why Threads?</a:t>
          </a:r>
          <a:endParaRPr lang="en-US" sz="2500" kern="1200" dirty="0"/>
        </a:p>
      </dsp:txBody>
      <dsp:txXfrm>
        <a:off x="2024809" y="949585"/>
        <a:ext cx="4978967" cy="1753081"/>
      </dsp:txXfrm>
    </dsp:sp>
    <dsp:sp modelId="{D75562AD-F78D-4876-92B4-3DD0643FB177}">
      <dsp:nvSpPr>
        <dsp:cNvPr id="0" name=""/>
        <dsp:cNvSpPr/>
      </dsp:nvSpPr>
      <dsp:spPr>
        <a:xfrm>
          <a:off x="0" y="3140937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07B6D7-BF48-4FDE-BD86-4D161441F3BF}">
      <dsp:nvSpPr>
        <dsp:cNvPr id="0" name=""/>
        <dsp:cNvSpPr/>
      </dsp:nvSpPr>
      <dsp:spPr>
        <a:xfrm>
          <a:off x="530307" y="3535381"/>
          <a:ext cx="964194" cy="964194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273AB3-1C10-4C7C-8AEC-2DC6562CD53E}">
      <dsp:nvSpPr>
        <dsp:cNvPr id="0" name=""/>
        <dsp:cNvSpPr/>
      </dsp:nvSpPr>
      <dsp:spPr>
        <a:xfrm>
          <a:off x="2024809" y="3140937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rial" panose="020B0604020202020204" pitchFamily="34" charset="0"/>
              <a:cs typeface="Arial" panose="020B0604020202020204" pitchFamily="34" charset="0"/>
            </a:rPr>
            <a:t>Characteristics of Threads.</a:t>
          </a:r>
          <a:endParaRPr lang="en-US" sz="2500" kern="1200" dirty="0"/>
        </a:p>
      </dsp:txBody>
      <dsp:txXfrm>
        <a:off x="2024809" y="3140937"/>
        <a:ext cx="4978967" cy="175308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11441-5FC4-4BBA-AB94-233AC5382243}">
      <dsp:nvSpPr>
        <dsp:cNvPr id="0" name=""/>
        <dsp:cNvSpPr/>
      </dsp:nvSpPr>
      <dsp:spPr>
        <a:xfrm>
          <a:off x="0" y="949585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1A7D35-1FE6-446D-AE68-CDC0EA75C5EF}">
      <dsp:nvSpPr>
        <dsp:cNvPr id="0" name=""/>
        <dsp:cNvSpPr/>
      </dsp:nvSpPr>
      <dsp:spPr>
        <a:xfrm>
          <a:off x="530307" y="1344029"/>
          <a:ext cx="964194" cy="964194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9E4229-80E6-49FA-AC66-32D790A69D10}">
      <dsp:nvSpPr>
        <dsp:cNvPr id="0" name=""/>
        <dsp:cNvSpPr/>
      </dsp:nvSpPr>
      <dsp:spPr>
        <a:xfrm>
          <a:off x="2024809" y="949585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rial" panose="020B0604020202020204" pitchFamily="34" charset="0"/>
              <a:cs typeface="Arial" panose="020B0604020202020204" pitchFamily="34" charset="0"/>
            </a:rPr>
            <a:t>Introduction of Thread Synchronization</a:t>
          </a:r>
          <a:endParaRPr lang="en-US" sz="2500" kern="1200" dirty="0"/>
        </a:p>
      </dsp:txBody>
      <dsp:txXfrm>
        <a:off x="2024809" y="949585"/>
        <a:ext cx="4978967" cy="1753081"/>
      </dsp:txXfrm>
    </dsp:sp>
    <dsp:sp modelId="{D75562AD-F78D-4876-92B4-3DD0643FB177}">
      <dsp:nvSpPr>
        <dsp:cNvPr id="0" name=""/>
        <dsp:cNvSpPr/>
      </dsp:nvSpPr>
      <dsp:spPr>
        <a:xfrm>
          <a:off x="0" y="3140937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07B6D7-BF48-4FDE-BD86-4D161441F3BF}">
      <dsp:nvSpPr>
        <dsp:cNvPr id="0" name=""/>
        <dsp:cNvSpPr/>
      </dsp:nvSpPr>
      <dsp:spPr>
        <a:xfrm>
          <a:off x="530307" y="3535381"/>
          <a:ext cx="964194" cy="964194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273AB3-1C10-4C7C-8AEC-2DC6562CD53E}">
      <dsp:nvSpPr>
        <dsp:cNvPr id="0" name=""/>
        <dsp:cNvSpPr/>
      </dsp:nvSpPr>
      <dsp:spPr>
        <a:xfrm>
          <a:off x="2024809" y="3140937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rial" panose="020B0604020202020204" pitchFamily="34" charset="0"/>
              <a:cs typeface="Arial" panose="020B0604020202020204" pitchFamily="34" charset="0"/>
            </a:rPr>
            <a:t>Logical Machine Model of Threads.</a:t>
          </a:r>
          <a:endParaRPr lang="en-US" sz="2500" kern="1200" dirty="0"/>
        </a:p>
      </dsp:txBody>
      <dsp:txXfrm>
        <a:off x="2024809" y="3140937"/>
        <a:ext cx="4978967" cy="175308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11441-5FC4-4BBA-AB94-233AC5382243}">
      <dsp:nvSpPr>
        <dsp:cNvPr id="0" name=""/>
        <dsp:cNvSpPr/>
      </dsp:nvSpPr>
      <dsp:spPr>
        <a:xfrm>
          <a:off x="0" y="949585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1A7D35-1FE6-446D-AE68-CDC0EA75C5EF}">
      <dsp:nvSpPr>
        <dsp:cNvPr id="0" name=""/>
        <dsp:cNvSpPr/>
      </dsp:nvSpPr>
      <dsp:spPr>
        <a:xfrm>
          <a:off x="530307" y="1344029"/>
          <a:ext cx="964194" cy="964194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9E4229-80E6-49FA-AC66-32D790A69D10}">
      <dsp:nvSpPr>
        <dsp:cNvPr id="0" name=""/>
        <dsp:cNvSpPr/>
      </dsp:nvSpPr>
      <dsp:spPr>
        <a:xfrm>
          <a:off x="2024809" y="949585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rial" panose="020B0604020202020204" pitchFamily="34" charset="0"/>
              <a:cs typeface="Arial" panose="020B0604020202020204" pitchFamily="34" charset="0"/>
            </a:rPr>
            <a:t>What are Mutex Locks?</a:t>
          </a:r>
          <a:endParaRPr lang="en-US" sz="2500" kern="1200" dirty="0"/>
        </a:p>
      </dsp:txBody>
      <dsp:txXfrm>
        <a:off x="2024809" y="949585"/>
        <a:ext cx="4978967" cy="1753081"/>
      </dsp:txXfrm>
    </dsp:sp>
    <dsp:sp modelId="{D75562AD-F78D-4876-92B4-3DD0643FB177}">
      <dsp:nvSpPr>
        <dsp:cNvPr id="0" name=""/>
        <dsp:cNvSpPr/>
      </dsp:nvSpPr>
      <dsp:spPr>
        <a:xfrm>
          <a:off x="0" y="3140937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07B6D7-BF48-4FDE-BD86-4D161441F3BF}">
      <dsp:nvSpPr>
        <dsp:cNvPr id="0" name=""/>
        <dsp:cNvSpPr/>
      </dsp:nvSpPr>
      <dsp:spPr>
        <a:xfrm>
          <a:off x="530307" y="3535381"/>
          <a:ext cx="964194" cy="964194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273AB3-1C10-4C7C-8AEC-2DC6562CD53E}">
      <dsp:nvSpPr>
        <dsp:cNvPr id="0" name=""/>
        <dsp:cNvSpPr/>
      </dsp:nvSpPr>
      <dsp:spPr>
        <a:xfrm>
          <a:off x="2024809" y="3140937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rial" panose="020B0604020202020204" pitchFamily="34" charset="0"/>
              <a:cs typeface="Arial" panose="020B0604020202020204" pitchFamily="34" charset="0"/>
            </a:rPr>
            <a:t>Uses and types of mutex.</a:t>
          </a:r>
          <a:endParaRPr lang="en-US" sz="2500" kern="1200" dirty="0"/>
        </a:p>
      </dsp:txBody>
      <dsp:txXfrm>
        <a:off x="2024809" y="3140937"/>
        <a:ext cx="4978967" cy="175308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11441-5FC4-4BBA-AB94-233AC5382243}">
      <dsp:nvSpPr>
        <dsp:cNvPr id="0" name=""/>
        <dsp:cNvSpPr/>
      </dsp:nvSpPr>
      <dsp:spPr>
        <a:xfrm>
          <a:off x="0" y="949585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1A7D35-1FE6-446D-AE68-CDC0EA75C5EF}">
      <dsp:nvSpPr>
        <dsp:cNvPr id="0" name=""/>
        <dsp:cNvSpPr/>
      </dsp:nvSpPr>
      <dsp:spPr>
        <a:xfrm>
          <a:off x="530307" y="1344029"/>
          <a:ext cx="964194" cy="964194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9E4229-80E6-49FA-AC66-32D790A69D10}">
      <dsp:nvSpPr>
        <dsp:cNvPr id="0" name=""/>
        <dsp:cNvSpPr/>
      </dsp:nvSpPr>
      <dsp:spPr>
        <a:xfrm>
          <a:off x="2024809" y="949585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rial" panose="020B0604020202020204" pitchFamily="34" charset="0"/>
              <a:cs typeface="Arial" panose="020B0604020202020204" pitchFamily="34" charset="0"/>
            </a:rPr>
            <a:t>Problems with mutex</a:t>
          </a:r>
          <a:endParaRPr lang="en-US" sz="2500" kern="1200" dirty="0"/>
        </a:p>
      </dsp:txBody>
      <dsp:txXfrm>
        <a:off x="2024809" y="949585"/>
        <a:ext cx="4978967" cy="1753081"/>
      </dsp:txXfrm>
    </dsp:sp>
    <dsp:sp modelId="{D75562AD-F78D-4876-92B4-3DD0643FB177}">
      <dsp:nvSpPr>
        <dsp:cNvPr id="0" name=""/>
        <dsp:cNvSpPr/>
      </dsp:nvSpPr>
      <dsp:spPr>
        <a:xfrm>
          <a:off x="0" y="3140937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07B6D7-BF48-4FDE-BD86-4D161441F3BF}">
      <dsp:nvSpPr>
        <dsp:cNvPr id="0" name=""/>
        <dsp:cNvSpPr/>
      </dsp:nvSpPr>
      <dsp:spPr>
        <a:xfrm>
          <a:off x="530307" y="3535381"/>
          <a:ext cx="964194" cy="964194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273AB3-1C10-4C7C-8AEC-2DC6562CD53E}">
      <dsp:nvSpPr>
        <dsp:cNvPr id="0" name=""/>
        <dsp:cNvSpPr/>
      </dsp:nvSpPr>
      <dsp:spPr>
        <a:xfrm>
          <a:off x="2024809" y="3140937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rial" panose="020B0604020202020204" pitchFamily="34" charset="0"/>
              <a:cs typeface="Arial" panose="020B0604020202020204" pitchFamily="34" charset="0"/>
            </a:rPr>
            <a:t>Introduction to conditional Variable.</a:t>
          </a:r>
          <a:endParaRPr lang="en-US" sz="2500" kern="1200" dirty="0"/>
        </a:p>
      </dsp:txBody>
      <dsp:txXfrm>
        <a:off x="2024809" y="3140937"/>
        <a:ext cx="4978967" cy="175308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BB19D1-BB8A-4148-8970-ABFC5CCDB5D7}">
      <dsp:nvSpPr>
        <dsp:cNvPr id="0" name=""/>
        <dsp:cNvSpPr/>
      </dsp:nvSpPr>
      <dsp:spPr>
        <a:xfrm>
          <a:off x="0" y="0"/>
          <a:ext cx="6474788" cy="13001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kern="1200" dirty="0"/>
            <a:t>It is often possible to reduce the idling overhead associated with locks using an alternate function, </a:t>
          </a:r>
          <a:r>
            <a:rPr lang="en-US" altLang="en-US" sz="2100" kern="1200" dirty="0" err="1">
              <a:latin typeface="Courier" pitchFamily="49" charset="0"/>
            </a:rPr>
            <a:t>pthread_mutex_trylock</a:t>
          </a:r>
          <a:r>
            <a:rPr lang="en-US" altLang="en-US" sz="2000" kern="1200" dirty="0"/>
            <a:t>. </a:t>
          </a:r>
          <a:endParaRPr lang="en-US" sz="2000" kern="1200" dirty="0">
            <a:latin typeface="+mn-lt"/>
          </a:endParaRPr>
        </a:p>
      </dsp:txBody>
      <dsp:txXfrm>
        <a:off x="38079" y="38079"/>
        <a:ext cx="5071874" cy="1223945"/>
      </dsp:txXfrm>
    </dsp:sp>
    <dsp:sp modelId="{2D34C214-CC76-46C8-A31E-5D40A2FED3DE}">
      <dsp:nvSpPr>
        <dsp:cNvPr id="0" name=""/>
        <dsp:cNvSpPr/>
      </dsp:nvSpPr>
      <dsp:spPr>
        <a:xfrm>
          <a:off x="571304" y="1516787"/>
          <a:ext cx="6474788" cy="13001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752677"/>
                <a:satOff val="-3174"/>
                <a:lumOff val="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52677"/>
                <a:satOff val="-3174"/>
                <a:lumOff val="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52677"/>
                <a:satOff val="-3174"/>
                <a:lumOff val="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kern="1200" dirty="0">
              <a:latin typeface="+mn-lt"/>
            </a:rPr>
            <a:t>Int </a:t>
          </a:r>
          <a:r>
            <a:rPr lang="en-US" altLang="en-US" sz="2100" kern="1200" dirty="0" err="1">
              <a:latin typeface="+mn-lt"/>
            </a:rPr>
            <a:t>pthread_mutex_trylock</a:t>
          </a:r>
          <a:r>
            <a:rPr lang="en-US" altLang="en-US" sz="2100" kern="1200" dirty="0">
              <a:latin typeface="+mn-lt"/>
            </a:rPr>
            <a:t> ( </a:t>
          </a:r>
          <a:r>
            <a:rPr lang="en-US" altLang="en-US" sz="2100" kern="1200" dirty="0" err="1">
              <a:latin typeface="+mn-lt"/>
            </a:rPr>
            <a:t>pthread_mutex_t</a:t>
          </a:r>
          <a:r>
            <a:rPr lang="en-US" altLang="en-US" sz="2100" kern="1200" dirty="0">
              <a:latin typeface="+mn-lt"/>
            </a:rPr>
            <a:t> *</a:t>
          </a:r>
          <a:r>
            <a:rPr lang="en-US" altLang="en-US" sz="2100" kern="1200" dirty="0" err="1">
              <a:latin typeface="+mn-lt"/>
            </a:rPr>
            <a:t>mutex_lock</a:t>
          </a:r>
          <a:r>
            <a:rPr lang="en-US" altLang="en-US" sz="2100" kern="1200" dirty="0">
              <a:latin typeface="+mn-lt"/>
            </a:rPr>
            <a:t>); </a:t>
          </a:r>
          <a:endParaRPr lang="en-US" sz="2100" kern="1200" dirty="0">
            <a:latin typeface="+mn-lt"/>
          </a:endParaRPr>
        </a:p>
      </dsp:txBody>
      <dsp:txXfrm>
        <a:off x="609383" y="1554866"/>
        <a:ext cx="4982258" cy="1223945"/>
      </dsp:txXfrm>
    </dsp:sp>
    <dsp:sp modelId="{42F3398C-7170-4EB3-92E4-29A1D158FE35}">
      <dsp:nvSpPr>
        <dsp:cNvPr id="0" name=""/>
        <dsp:cNvSpPr/>
      </dsp:nvSpPr>
      <dsp:spPr>
        <a:xfrm>
          <a:off x="1142609" y="3033575"/>
          <a:ext cx="6474788" cy="13001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505353"/>
                <a:satOff val="-6347"/>
                <a:lumOff val="313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505353"/>
                <a:satOff val="-6347"/>
                <a:lumOff val="313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505353"/>
                <a:satOff val="-6347"/>
                <a:lumOff val="313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100" kern="1200" dirty="0" err="1">
              <a:latin typeface="+mn-lt"/>
            </a:rPr>
            <a:t>pthread_mutex_trylock</a:t>
          </a:r>
          <a:r>
            <a:rPr lang="en-US" altLang="en-US" sz="2100" kern="1200" dirty="0">
              <a:latin typeface="+mn-lt"/>
            </a:rPr>
            <a:t> is typically much faster than </a:t>
          </a:r>
          <a:r>
            <a:rPr lang="en-US" altLang="en-US" sz="2100" kern="1200" dirty="0" err="1">
              <a:latin typeface="+mn-lt"/>
            </a:rPr>
            <a:t>pthread_mutex_lock</a:t>
          </a:r>
          <a:r>
            <a:rPr lang="en-US" altLang="en-US" sz="2100" kern="1200" dirty="0">
              <a:latin typeface="+mn-lt"/>
            </a:rPr>
            <a:t> on typical systems </a:t>
          </a:r>
          <a:endParaRPr lang="en-US" sz="2100" kern="1200" dirty="0">
            <a:latin typeface="+mn-lt"/>
          </a:endParaRPr>
        </a:p>
      </dsp:txBody>
      <dsp:txXfrm>
        <a:off x="1180688" y="3071654"/>
        <a:ext cx="4982258" cy="1223945"/>
      </dsp:txXfrm>
    </dsp:sp>
    <dsp:sp modelId="{DC76D1E2-9ECB-48A0-9A17-B34FBD58A57C}">
      <dsp:nvSpPr>
        <dsp:cNvPr id="0" name=""/>
        <dsp:cNvSpPr/>
      </dsp:nvSpPr>
      <dsp:spPr>
        <a:xfrm>
          <a:off x="5629720" y="985911"/>
          <a:ext cx="845067" cy="8450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819860" y="985911"/>
        <a:ext cx="464787" cy="635913"/>
      </dsp:txXfrm>
    </dsp:sp>
    <dsp:sp modelId="{F0C9F258-D9B8-4F90-855E-EA276507DFCA}">
      <dsp:nvSpPr>
        <dsp:cNvPr id="0" name=""/>
        <dsp:cNvSpPr/>
      </dsp:nvSpPr>
      <dsp:spPr>
        <a:xfrm>
          <a:off x="6126626" y="2579654"/>
          <a:ext cx="845067" cy="8450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138838"/>
            <a:satOff val="934"/>
            <a:lumOff val="451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1138838"/>
              <a:satOff val="934"/>
              <a:lumOff val="451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316766" y="2579654"/>
        <a:ext cx="464787" cy="6359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40B9B-C9AE-4BE6-A302-3545C91AF698}" type="datetimeFigureOut">
              <a:rPr lang="x-none" smtClean="0"/>
              <a:t>6/23/2023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52EF2-9A63-441C-BEB0-04C32019A013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20510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general,</a:t>
            </a:r>
            <a:r>
              <a:rPr lang="en-US" baseline="0" dirty="0"/>
              <a:t> from dictionary definition, a thread is a long, thin strand of cotton, fibers among others.</a:t>
            </a:r>
          </a:p>
          <a:p>
            <a:r>
              <a:rPr lang="en-US" baseline="0" dirty="0"/>
              <a:t>In computing, thread is defined as a sequence of linked instructions i.e., order collection of instruction that perform a particular task.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 1 in the example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 the numeric value 14 into the general register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eax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 2 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tore the numeric value 10 into the general register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ebx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 3 add the values 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ebx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store the result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ebx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baseline="0" dirty="0"/>
          </a:p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79863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CPU utilization point of view, a thread is defined as basic unit of CPU utilization which have their own unique thread ID, CPU context, each thread have priority, and Error number among others.</a:t>
            </a:r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86876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18733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x-non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02763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38058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01939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11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360418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12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43560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13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712569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14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9737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x-non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15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966471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17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751422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18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02607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x-non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19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875840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x-non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20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243134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22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626863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23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330712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x-non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24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893794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x-non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25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764369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26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831033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27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876809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29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87485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x-non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30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919450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x-non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31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710553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x-non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32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774029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x-non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33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005486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x-non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34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55306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36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350665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37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538133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38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224117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39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839846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x-non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40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218712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x-non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41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125656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43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387301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x-non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44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677884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45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867543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46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8264204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47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7744384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x-non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48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4735487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x-none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49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628367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50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652296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51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9045525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52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7066357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52EF2-9A63-441C-BEB0-04C32019A013}" type="slidenum">
              <a:rPr lang="x-none" smtClean="0"/>
              <a:t>53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42998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6/23/2023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73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6/23/2023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037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6/23/2023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832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6/23/2023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095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6/23/2023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23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6/23/2023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03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6/23/2023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354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6/23/2023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71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6/23/2023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80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6/23/2023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77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6/23/2023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801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6/23/2023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399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9" r:id="rId8"/>
    <p:sldLayoutId id="2147483696" r:id="rId9"/>
    <p:sldLayoutId id="2147483697" r:id="rId10"/>
    <p:sldLayoutId id="214748369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fi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9.png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10.png"/><Relationship Id="rId9" Type="http://schemas.microsoft.com/office/2007/relationships/diagramDrawing" Target="../diagrams/drawin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9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0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10.png"/><Relationship Id="rId9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2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3.xml"/><Relationship Id="rId3" Type="http://schemas.openxmlformats.org/officeDocument/2006/relationships/image" Target="../media/image9.png"/><Relationship Id="rId7" Type="http://schemas.openxmlformats.org/officeDocument/2006/relationships/diagramQuickStyle" Target="../diagrams/quickStyle13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3.xml"/><Relationship Id="rId5" Type="http://schemas.openxmlformats.org/officeDocument/2006/relationships/diagramData" Target="../diagrams/data13.xml"/><Relationship Id="rId4" Type="http://schemas.openxmlformats.org/officeDocument/2006/relationships/image" Target="../media/image10.png"/><Relationship Id="rId9" Type="http://schemas.microsoft.com/office/2007/relationships/diagramDrawing" Target="../diagrams/drawing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19B4B-DD16-5DF2-E34B-4765F6BA2C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2" r="15486" b="-2"/>
          <a:stretch/>
        </p:blipFill>
        <p:spPr>
          <a:xfrm>
            <a:off x="5996628" y="-1308"/>
            <a:ext cx="6195372" cy="46182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2AEC3-B371-83A9-2DBA-0BB306161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876800"/>
            <a:ext cx="10003218" cy="121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x-none" sz="4100" dirty="0"/>
              <a:t>CS621 Parallel and Distributed Computing</a:t>
            </a:r>
            <a:endParaRPr lang="en-US" sz="4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7D0A4-286C-034D-8B8B-FADC6513A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-12211"/>
            <a:ext cx="5313452" cy="39359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just"/>
            <a:r>
              <a:rPr lang="en-US" altLang="x-none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 Muhammad </a:t>
            </a:r>
            <a:r>
              <a:rPr lang="en-US" altLang="x-none" sz="28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Anwaar</a:t>
            </a:r>
            <a:r>
              <a:rPr lang="en-US" altLang="x-none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Saeed</a:t>
            </a:r>
          </a:p>
          <a:p>
            <a:pPr algn="just"/>
            <a:r>
              <a:rPr lang="en-US" altLang="x-none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 Said Nabi</a:t>
            </a:r>
          </a:p>
          <a:p>
            <a:pPr algn="just"/>
            <a:r>
              <a:rPr lang="en-US" altLang="x-none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Ms. Hina Ishaq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2"/>
              </a:solidFill>
            </a:endParaRP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694E1E48-9782-AD50-E256-2B5B4CE334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"/>
            <a:ext cx="1773304" cy="112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248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19B4B-DD16-5DF2-E34B-4765F6BA2C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2" r="15486" b="-2"/>
          <a:stretch/>
        </p:blipFill>
        <p:spPr>
          <a:xfrm>
            <a:off x="3048" y="10"/>
            <a:ext cx="6195372" cy="46182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2AEC3-B371-83A9-2DBA-0BB306161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876800"/>
            <a:ext cx="10003218" cy="121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x-none" sz="4100" dirty="0"/>
              <a:t>CS621 Parallel and Distributed Computing</a:t>
            </a:r>
            <a:endParaRPr lang="en-US" sz="4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7D0A4-286C-034D-8B8B-FADC6513A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3200" y="369204"/>
            <a:ext cx="4800600" cy="39359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Thread?</a:t>
            </a:r>
          </a:p>
        </p:txBody>
      </p:sp>
    </p:spTree>
    <p:extLst>
      <p:ext uri="{BB962C8B-B14F-4D97-AF65-F5344CB8AC3E}">
        <p14:creationId xmlns:p14="http://schemas.microsoft.com/office/powerpoint/2010/main" val="476638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 altLang="x-none" sz="3700" dirty="0">
                <a:ea typeface="ＭＳ Ｐゴシック" panose="020B0600070205080204" pitchFamily="34" charset="-128"/>
              </a:rPr>
              <a:t>Objectives</a:t>
            </a:r>
            <a:endParaRPr lang="x-none" sz="3700"/>
          </a:p>
        </p:txBody>
      </p:sp>
      <p:graphicFrame>
        <p:nvGraphicFramePr>
          <p:cNvPr id="36" name="Rectangle 3">
            <a:extLst>
              <a:ext uri="{FF2B5EF4-FFF2-40B4-BE49-F238E27FC236}">
                <a16:creationId xmlns:a16="http://schemas.microsoft.com/office/drawing/2014/main" id="{BC8A9704-B22C-9F3F-529F-C75DC38357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2585394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5973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3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altLang="x-none" dirty="0">
                <a:ea typeface="ＭＳ Ｐゴシック" panose="020B0600070205080204" pitchFamily="34" charset="-128"/>
              </a:rPr>
              <a:t>What is Thread?</a:t>
            </a:r>
            <a:endParaRPr lang="x-non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69E26-8F07-424A-0E67-53B4EFCDEF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85875" y="2828925"/>
            <a:ext cx="8696325" cy="3468688"/>
          </a:xfrm>
        </p:spPr>
        <p:txBody>
          <a:bodyPr>
            <a:noAutofit/>
          </a:bodyPr>
          <a:lstStyle/>
          <a:p>
            <a:pPr marL="0" indent="0" algn="ctr" eaLnBrk="1" hangingPunct="1">
              <a:buNone/>
            </a:pPr>
            <a:endParaRPr lang="en-US" altLang="x-none" dirty="0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524453995"/>
              </p:ext>
            </p:extLst>
          </p:nvPr>
        </p:nvGraphicFramePr>
        <p:xfrm>
          <a:off x="2032000" y="2335237"/>
          <a:ext cx="7787249" cy="38030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2823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9828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98281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813"/>
            <a:ext cx="4965257" cy="5577934"/>
          </a:xfrm>
        </p:spPr>
        <p:txBody>
          <a:bodyPr>
            <a:normAutofit/>
          </a:bodyPr>
          <a:lstStyle/>
          <a:p>
            <a:pPr algn="ctr"/>
            <a:r>
              <a:rPr lang="en-US" altLang="x-none" sz="2400" dirty="0"/>
              <a:t>Threads in context of CPU Utilization:</a:t>
            </a:r>
            <a:br>
              <a:rPr lang="en-US" altLang="x-none" sz="2400" dirty="0"/>
            </a:br>
            <a:br>
              <a:rPr lang="en-US" altLang="x-none" dirty="0"/>
            </a:br>
            <a:r>
              <a:rPr lang="en-US" altLang="x-none" sz="2400" b="0" dirty="0"/>
              <a:t>“A thread is a basic unit of CPU utilization having…”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ECBAAFF1-4EE0-9C43-B0CF-7E874FE672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9345244"/>
              </p:ext>
            </p:extLst>
          </p:nvPr>
        </p:nvGraphicFramePr>
        <p:xfrm>
          <a:off x="6184458" y="343433"/>
          <a:ext cx="5626542" cy="5785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83859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D43B2D2-4C8C-479E-B213-099B7FA237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3D43B2D2-4C8C-479E-B213-099B7FA237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3D43B2D2-4C8C-479E-B213-099B7FA237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BE4A707-5611-4720-A148-89FCB9712E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9BE4A707-5611-4720-A148-89FCB9712E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9BE4A707-5611-4720-A148-89FCB9712E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B4047BF-B8CB-4624-A3CD-7308FC944F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graphicEl>
                                              <a:dgm id="{9B4047BF-B8CB-4624-A3CD-7308FC944F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graphicEl>
                                              <a:dgm id="{9B4047BF-B8CB-4624-A3CD-7308FC944F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8471A33-A32B-4756-9D8F-C28C2010CF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graphicEl>
                                              <a:dgm id="{38471A33-A32B-4756-9D8F-C28C2010CF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graphicEl>
                                              <a:dgm id="{38471A33-A32B-4756-9D8F-C28C2010CF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094905E-6914-49FB-9118-470F5A12DC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graphicEl>
                                              <a:dgm id="{9094905E-6914-49FB-9118-470F5A12DC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graphicEl>
                                              <a:dgm id="{9094905E-6914-49FB-9118-470F5A12DC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76B30B6-3B7B-4C81-ACD1-54081791B0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graphicEl>
                                              <a:dgm id="{476B30B6-3B7B-4C81-ACD1-54081791B0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graphicEl>
                                              <a:dgm id="{476B30B6-3B7B-4C81-ACD1-54081791B0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115F2F5-236A-41C3-8C71-C7987F371F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graphicEl>
                                              <a:dgm id="{B115F2F5-236A-41C3-8C71-C7987F371F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graphicEl>
                                              <a:dgm id="{B115F2F5-236A-41C3-8C71-C7987F371F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1445653-55DC-4C0A-9D04-121D95683D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graphicEl>
                                              <a:dgm id="{D1445653-55DC-4C0A-9D04-121D95683D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graphicEl>
                                              <a:dgm id="{D1445653-55DC-4C0A-9D04-121D95683D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B18BA2F-3CDF-4CAD-9B8C-FD5AD13F8A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graphicEl>
                                              <a:dgm id="{0B18BA2F-3CDF-4CAD-9B8C-FD5AD13F8A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graphicEl>
                                              <a:dgm id="{0B18BA2F-3CDF-4CAD-9B8C-FD5AD13F8A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283471"/>
          </a:xfrm>
        </p:spPr>
        <p:txBody>
          <a:bodyPr anchor="t"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Threads in context of process</a:t>
            </a:r>
            <a:endParaRPr lang="x-none" dirty="0">
              <a:solidFill>
                <a:schemeClr val="tx2"/>
              </a:solidFill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42"/>
          <a:stretch/>
        </p:blipFill>
        <p:spPr>
          <a:xfrm rot="10800000">
            <a:off x="-1" y="2719661"/>
            <a:ext cx="830249" cy="254834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0056976-1CE1-11FC-F764-C5DEB692F428}"/>
              </a:ext>
            </a:extLst>
          </p:cNvPr>
          <p:cNvSpPr txBox="1">
            <a:spLocks/>
          </p:cNvSpPr>
          <p:nvPr/>
        </p:nvSpPr>
        <p:spPr>
          <a:xfrm>
            <a:off x="952499" y="2409825"/>
            <a:ext cx="9401175" cy="30122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x-none" sz="2400" b="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7" name="Rectangle 3">
            <a:extLst>
              <a:ext uri="{FF2B5EF4-FFF2-40B4-BE49-F238E27FC236}">
                <a16:creationId xmlns:a16="http://schemas.microsoft.com/office/drawing/2014/main" id="{EB426E7D-3D22-0D01-77B9-728F01FF9B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869183"/>
              </p:ext>
            </p:extLst>
          </p:nvPr>
        </p:nvGraphicFramePr>
        <p:xfrm>
          <a:off x="1197268" y="1843284"/>
          <a:ext cx="10156531" cy="4333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4" name="Arrow: Right 3">
            <a:extLst>
              <a:ext uri="{FF2B5EF4-FFF2-40B4-BE49-F238E27FC236}">
                <a16:creationId xmlns:a16="http://schemas.microsoft.com/office/drawing/2014/main" id="{89A73419-409B-4FC0-AD4D-89BFC9B3AE69}"/>
              </a:ext>
            </a:extLst>
          </p:cNvPr>
          <p:cNvSpPr/>
          <p:nvPr/>
        </p:nvSpPr>
        <p:spPr>
          <a:xfrm>
            <a:off x="1422224" y="2235029"/>
            <a:ext cx="605293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graphicEl>
                                              <a:dgm id="{C42F0DB9-593E-49A3-BFC5-548BBF7E1B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">
                                            <p:graphicEl>
                                              <a:dgm id="{C42F0DB9-593E-49A3-BFC5-548BBF7E1B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">
                                            <p:graphicEl>
                                              <a:dgm id="{C42F0DB9-593E-49A3-BFC5-548BBF7E1B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graphicEl>
                                              <a:dgm id="{33CD8A7B-AFC7-4C3E-BB61-656B6F363D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7">
                                            <p:graphicEl>
                                              <a:dgm id="{33CD8A7B-AFC7-4C3E-BB61-656B6F363D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7">
                                            <p:graphicEl>
                                              <a:dgm id="{33CD8A7B-AFC7-4C3E-BB61-656B6F363D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graphicEl>
                                              <a:dgm id="{0E30BD2E-CD2E-42EF-B900-C93ABD5639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">
                                            <p:graphicEl>
                                              <a:dgm id="{0E30BD2E-CD2E-42EF-B900-C93ABD5639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">
                                            <p:graphicEl>
                                              <a:dgm id="{0E30BD2E-CD2E-42EF-B900-C93ABD5639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graphicEl>
                                              <a:dgm id="{BCACED93-6D0A-4E3A-8B19-301AAF8484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">
                                            <p:graphicEl>
                                              <a:dgm id="{BCACED93-6D0A-4E3A-8B19-301AAF8484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">
                                            <p:graphicEl>
                                              <a:dgm id="{BCACED93-6D0A-4E3A-8B19-301AAF8484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graphicEl>
                                              <a:dgm id="{68A71341-5AC0-4E14-BBEE-0B5FC0957F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>
                                            <p:graphicEl>
                                              <a:dgm id="{68A71341-5AC0-4E14-BBEE-0B5FC0957F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>
                                            <p:graphicEl>
                                              <a:dgm id="{68A71341-5AC0-4E14-BBEE-0B5FC0957F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graphicEl>
                                              <a:dgm id="{9C6C9CAB-BF62-489E-9CFB-DB7DDDDD0C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7">
                                            <p:graphicEl>
                                              <a:dgm id="{9C6C9CAB-BF62-489E-9CFB-DB7DDDDD0C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7">
                                            <p:graphicEl>
                                              <a:dgm id="{9C6C9CAB-BF62-489E-9CFB-DB7DDDDD0C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graphicEl>
                                              <a:dgm id="{500EE2B6-65AB-4944-9D94-49DD1ACA43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7">
                                            <p:graphicEl>
                                              <a:dgm id="{500EE2B6-65AB-4944-9D94-49DD1ACA43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7">
                                            <p:graphicEl>
                                              <a:dgm id="{500EE2B6-65AB-4944-9D94-49DD1ACA43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7" grpId="0" uiExpand="1">
        <p:bldSub>
          <a:bldDgm bld="one"/>
        </p:bldSub>
      </p:bldGraphic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2">
            <a:extLst>
              <a:ext uri="{FF2B5EF4-FFF2-40B4-BE49-F238E27FC236}">
                <a16:creationId xmlns:a16="http://schemas.microsoft.com/office/drawing/2014/main" id="{5A8C81AE-8F0D-49F3-9FB4-334B0DCD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1" name="Picture 44">
            <a:extLst>
              <a:ext uri="{FF2B5EF4-FFF2-40B4-BE49-F238E27FC236}">
                <a16:creationId xmlns:a16="http://schemas.microsoft.com/office/drawing/2014/main" id="{29DA4B2B-B54E-43B4-A1A4-EB704F7F3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01" t="54841" r="-1"/>
          <a:stretch/>
        </p:blipFill>
        <p:spPr>
          <a:xfrm>
            <a:off x="0" y="0"/>
            <a:ext cx="872377" cy="838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813"/>
            <a:ext cx="7341704" cy="1573786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Single thread vs Multiple threads</a:t>
            </a:r>
            <a:endParaRPr lang="x-none" sz="2800" dirty="0">
              <a:solidFill>
                <a:schemeClr val="tx2"/>
              </a:solidFill>
            </a:endParaRPr>
          </a:p>
        </p:txBody>
      </p:sp>
      <p:pic>
        <p:nvPicPr>
          <p:cNvPr id="52" name="Picture 46">
            <a:extLst>
              <a:ext uri="{FF2B5EF4-FFF2-40B4-BE49-F238E27FC236}">
                <a16:creationId xmlns:a16="http://schemas.microsoft.com/office/drawing/2014/main" id="{1C32610F-5445-4E12-87F6-F0591ABE7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5DC5E4-18FF-40EF-B822-5A38E6D534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1981200"/>
            <a:ext cx="2834579" cy="36957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pic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6D8402FB-4935-4C69-8040-E02C38D3A0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379" y="1936440"/>
            <a:ext cx="4129979" cy="37404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576272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 altLang="x-none" sz="3700" dirty="0">
                <a:ea typeface="ＭＳ Ｐゴシック" panose="020B0600070205080204" pitchFamily="34" charset="-128"/>
              </a:rPr>
              <a:t>Threads Example</a:t>
            </a:r>
            <a:endParaRPr lang="x-none" sz="3700" dirty="0"/>
          </a:p>
        </p:txBody>
      </p:sp>
      <p:graphicFrame>
        <p:nvGraphicFramePr>
          <p:cNvPr id="36" name="Rectangle 3">
            <a:extLst>
              <a:ext uri="{FF2B5EF4-FFF2-40B4-BE49-F238E27FC236}">
                <a16:creationId xmlns:a16="http://schemas.microsoft.com/office/drawing/2014/main" id="{BC8A9704-B22C-9F3F-529F-C75DC38357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1384341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8" name="Picture 6">
            <a:extLst>
              <a:ext uri="{FF2B5EF4-FFF2-40B4-BE49-F238E27FC236}">
                <a16:creationId xmlns:a16="http://schemas.microsoft.com/office/drawing/2014/main" id="{12980C63-C59A-4BAB-8665-68C61C45D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256" y="2673393"/>
            <a:ext cx="2450951" cy="22917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4">
            <a:extLst>
              <a:ext uri="{FF2B5EF4-FFF2-40B4-BE49-F238E27FC236}">
                <a16:creationId xmlns:a16="http://schemas.microsoft.com/office/drawing/2014/main" id="{736DE55D-3290-40C8-9323-CB277E8DB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7223" y="427986"/>
            <a:ext cx="2208820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square">
            <a:spAutoFit/>
          </a:bodyPr>
          <a:lstStyle/>
          <a:p>
            <a:pPr defTabSz="630936">
              <a:spcAft>
                <a:spcPts val="600"/>
              </a:spcAft>
            </a:pPr>
            <a:r>
              <a:rPr lang="en-US" b="1" dirty="0"/>
              <a:t>Word Processor</a:t>
            </a:r>
            <a:endParaRPr lang="en-US" altLang="x-none" b="1" dirty="0"/>
          </a:p>
        </p:txBody>
      </p:sp>
      <p:sp>
        <p:nvSpPr>
          <p:cNvPr id="10" name="Oval Callout 3">
            <a:extLst>
              <a:ext uri="{FF2B5EF4-FFF2-40B4-BE49-F238E27FC236}">
                <a16:creationId xmlns:a16="http://schemas.microsoft.com/office/drawing/2014/main" id="{811EDE6A-BEFC-4A42-98C5-B954B8435F4E}"/>
              </a:ext>
            </a:extLst>
          </p:cNvPr>
          <p:cNvSpPr/>
          <p:nvPr/>
        </p:nvSpPr>
        <p:spPr>
          <a:xfrm rot="21406310">
            <a:off x="9252377" y="4828315"/>
            <a:ext cx="2899430" cy="1849520"/>
          </a:xfrm>
          <a:prstGeom prst="wedgeEllipseCallout">
            <a:avLst>
              <a:gd name="adj1" fmla="val -46097"/>
              <a:gd name="adj2" fmla="val -9487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74520" lvl="1" defTabSz="630936"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Foreground thread processes user input  (keystrokes) </a:t>
            </a:r>
          </a:p>
        </p:txBody>
      </p:sp>
      <p:sp>
        <p:nvSpPr>
          <p:cNvPr id="11" name="Oval Callout 14">
            <a:extLst>
              <a:ext uri="{FF2B5EF4-FFF2-40B4-BE49-F238E27FC236}">
                <a16:creationId xmlns:a16="http://schemas.microsoft.com/office/drawing/2014/main" id="{C592AD83-B9F7-43F9-A045-5A55A0B1B57E}"/>
              </a:ext>
            </a:extLst>
          </p:cNvPr>
          <p:cNvSpPr/>
          <p:nvPr/>
        </p:nvSpPr>
        <p:spPr>
          <a:xfrm rot="676309">
            <a:off x="4620918" y="2420177"/>
            <a:ext cx="2467550" cy="1666060"/>
          </a:xfrm>
          <a:prstGeom prst="wedgeEllipseCallout">
            <a:avLst>
              <a:gd name="adj1" fmla="val 80390"/>
              <a:gd name="adj2" fmla="val 14086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30936">
              <a:spcAft>
                <a:spcPts val="600"/>
              </a:spcAft>
            </a:pPr>
            <a:endParaRPr lang="en-US" sz="1242" dirty="0"/>
          </a:p>
          <a:p>
            <a:pPr marL="74520" lvl="1" defTabSz="630936"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Background thread may check spelling and grammar </a:t>
            </a:r>
          </a:p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2" name="Oval Callout 18">
            <a:extLst>
              <a:ext uri="{FF2B5EF4-FFF2-40B4-BE49-F238E27FC236}">
                <a16:creationId xmlns:a16="http://schemas.microsoft.com/office/drawing/2014/main" id="{07CF873C-9C98-4E40-AAD7-972E7C6484FB}"/>
              </a:ext>
            </a:extLst>
          </p:cNvPr>
          <p:cNvSpPr/>
          <p:nvPr/>
        </p:nvSpPr>
        <p:spPr>
          <a:xfrm rot="21175165">
            <a:off x="4662683" y="5184113"/>
            <a:ext cx="3228193" cy="1466134"/>
          </a:xfrm>
          <a:prstGeom prst="wedgeEllipseCallout">
            <a:avLst>
              <a:gd name="adj1" fmla="val 61755"/>
              <a:gd name="adj2" fmla="val -70695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74520" lvl="1" defTabSz="630936">
              <a:spcAft>
                <a:spcPts val="600"/>
              </a:spcAft>
            </a:pPr>
            <a:endParaRPr lang="en-US" dirty="0">
              <a:solidFill>
                <a:schemeClr val="bg1"/>
              </a:solidFill>
            </a:endParaRPr>
          </a:p>
          <a:p>
            <a:pPr marL="74520" lvl="1" defTabSz="630936"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A third thread loads images from the hard drive, and </a:t>
            </a:r>
          </a:p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13" name="Oval Callout 20">
            <a:extLst>
              <a:ext uri="{FF2B5EF4-FFF2-40B4-BE49-F238E27FC236}">
                <a16:creationId xmlns:a16="http://schemas.microsoft.com/office/drawing/2014/main" id="{FEEDE433-ED52-40A3-9FCA-47FD7CD8DEFE}"/>
              </a:ext>
            </a:extLst>
          </p:cNvPr>
          <p:cNvSpPr/>
          <p:nvPr/>
        </p:nvSpPr>
        <p:spPr>
          <a:xfrm rot="21175165">
            <a:off x="8288193" y="778868"/>
            <a:ext cx="3690180" cy="1511287"/>
          </a:xfrm>
          <a:prstGeom prst="wedgeEllipseCallout">
            <a:avLst>
              <a:gd name="adj1" fmla="val -74259"/>
              <a:gd name="adj2" fmla="val 57131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74520" lvl="1" defTabSz="630936">
              <a:spcAft>
                <a:spcPts val="600"/>
              </a:spcAft>
            </a:pPr>
            <a:endParaRPr lang="en-US" sz="1242" dirty="0"/>
          </a:p>
          <a:p>
            <a:pPr marL="74520" lvl="1" defTabSz="630936"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Another thread does periodic automatic backups of the file being edited</a:t>
            </a:r>
          </a:p>
          <a:p>
            <a:pPr algn="ctr"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283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 altLang="x-none" sz="3700" dirty="0">
                <a:ea typeface="ＭＳ Ｐゴシック" panose="020B0600070205080204" pitchFamily="34" charset="-128"/>
              </a:rPr>
              <a:t>Threads Example</a:t>
            </a:r>
            <a:endParaRPr lang="x-none" sz="3700" dirty="0"/>
          </a:p>
        </p:txBody>
      </p:sp>
      <p:graphicFrame>
        <p:nvGraphicFramePr>
          <p:cNvPr id="36" name="Rectangle 3">
            <a:extLst>
              <a:ext uri="{FF2B5EF4-FFF2-40B4-BE49-F238E27FC236}">
                <a16:creationId xmlns:a16="http://schemas.microsoft.com/office/drawing/2014/main" id="{BC8A9704-B22C-9F3F-529F-C75DC38357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8004180"/>
              </p:ext>
            </p:extLst>
          </p:nvPr>
        </p:nvGraphicFramePr>
        <p:xfrm>
          <a:off x="7227497" y="1567450"/>
          <a:ext cx="2729394" cy="2840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Text Box 4">
            <a:extLst>
              <a:ext uri="{FF2B5EF4-FFF2-40B4-BE49-F238E27FC236}">
                <a16:creationId xmlns:a16="http://schemas.microsoft.com/office/drawing/2014/main" id="{736DE55D-3290-40C8-9323-CB277E8DB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505" y="566978"/>
            <a:ext cx="2208820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square">
            <a:spAutoFit/>
          </a:bodyPr>
          <a:lstStyle/>
          <a:p>
            <a:pPr defTabSz="822960">
              <a:spcAft>
                <a:spcPts val="600"/>
              </a:spcAft>
            </a:pPr>
            <a:r>
              <a:rPr lang="en-US" b="1" dirty="0"/>
              <a:t>Web Browser</a:t>
            </a:r>
          </a:p>
        </p:txBody>
      </p:sp>
      <p:sp>
        <p:nvSpPr>
          <p:cNvPr id="10" name="Oval Callout 3">
            <a:extLst>
              <a:ext uri="{FF2B5EF4-FFF2-40B4-BE49-F238E27FC236}">
                <a16:creationId xmlns:a16="http://schemas.microsoft.com/office/drawing/2014/main" id="{811EDE6A-BEFC-4A42-98C5-B954B8435F4E}"/>
              </a:ext>
            </a:extLst>
          </p:cNvPr>
          <p:cNvSpPr/>
          <p:nvPr/>
        </p:nvSpPr>
        <p:spPr>
          <a:xfrm rot="21406310">
            <a:off x="8955831" y="4836671"/>
            <a:ext cx="3196211" cy="1849520"/>
          </a:xfrm>
          <a:prstGeom prst="wedgeEllipseCallout">
            <a:avLst>
              <a:gd name="adj1" fmla="val -42217"/>
              <a:gd name="adj2" fmla="val -127863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822960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Web browser may have one thread to display images or text </a:t>
            </a:r>
          </a:p>
        </p:txBody>
      </p:sp>
      <p:sp>
        <p:nvSpPr>
          <p:cNvPr id="12" name="Oval Callout 18">
            <a:extLst>
              <a:ext uri="{FF2B5EF4-FFF2-40B4-BE49-F238E27FC236}">
                <a16:creationId xmlns:a16="http://schemas.microsoft.com/office/drawing/2014/main" id="{07CF873C-9C98-4E40-AAD7-972E7C6484FB}"/>
              </a:ext>
            </a:extLst>
          </p:cNvPr>
          <p:cNvSpPr/>
          <p:nvPr/>
        </p:nvSpPr>
        <p:spPr>
          <a:xfrm rot="21175165">
            <a:off x="4650051" y="4900152"/>
            <a:ext cx="3228193" cy="1466134"/>
          </a:xfrm>
          <a:prstGeom prst="wedgeEllipseCallout">
            <a:avLst>
              <a:gd name="adj1" fmla="val 51234"/>
              <a:gd name="adj2" fmla="val -126173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74520" lvl="1" defTabSz="630936">
              <a:spcAft>
                <a:spcPts val="600"/>
              </a:spcAft>
            </a:pPr>
            <a:endParaRPr lang="en-US" dirty="0">
              <a:solidFill>
                <a:schemeClr val="bg1"/>
              </a:solidFill>
            </a:endParaRPr>
          </a:p>
          <a:p>
            <a:pPr defTabSz="822960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Another thread retrieves data from the network</a:t>
            </a:r>
            <a:endParaRPr lang="en-US" altLang="x-none" sz="20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449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6" grpId="0">
        <p:bldAsOne/>
      </p:bldGraphic>
      <p:bldP spid="9" grpId="0" animBg="1"/>
      <p:bldP spid="10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19B4B-DD16-5DF2-E34B-4765F6BA2C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2" r="15486" b="-2"/>
          <a:stretch/>
        </p:blipFill>
        <p:spPr>
          <a:xfrm>
            <a:off x="3048" y="10"/>
            <a:ext cx="6195372" cy="46182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2AEC3-B371-83A9-2DBA-0BB306161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876800"/>
            <a:ext cx="10003218" cy="121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x-none" sz="4100" dirty="0"/>
              <a:t>CS621 Parallel and Distributed Computing</a:t>
            </a:r>
            <a:endParaRPr lang="en-US" sz="4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7D0A4-286C-034D-8B8B-FADC6513A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3200" y="369204"/>
            <a:ext cx="4800600" cy="39359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Model?</a:t>
            </a:r>
          </a:p>
        </p:txBody>
      </p:sp>
    </p:spTree>
    <p:extLst>
      <p:ext uri="{BB962C8B-B14F-4D97-AF65-F5344CB8AC3E}">
        <p14:creationId xmlns:p14="http://schemas.microsoft.com/office/powerpoint/2010/main" val="977240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 altLang="x-none" sz="3700" dirty="0">
                <a:ea typeface="ＭＳ Ｐゴシック" panose="020B0600070205080204" pitchFamily="34" charset="-128"/>
              </a:rPr>
              <a:t>Objectives</a:t>
            </a:r>
            <a:endParaRPr lang="x-none" sz="3700"/>
          </a:p>
        </p:txBody>
      </p:sp>
      <p:graphicFrame>
        <p:nvGraphicFramePr>
          <p:cNvPr id="36" name="Rectangle 3">
            <a:extLst>
              <a:ext uri="{FF2B5EF4-FFF2-40B4-BE49-F238E27FC236}">
                <a16:creationId xmlns:a16="http://schemas.microsoft.com/office/drawing/2014/main" id="{BC8A9704-B22C-9F3F-529F-C75DC38357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2379793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23561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3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altLang="x-none" dirty="0">
                <a:ea typeface="ＭＳ Ｐゴシック" panose="020B0600070205080204" pitchFamily="34" charset="-128"/>
              </a:rPr>
              <a:t>Thread Models</a:t>
            </a:r>
            <a:endParaRPr lang="x-non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04F393-2601-4DB8-A311-1017790451BF}"/>
              </a:ext>
            </a:extLst>
          </p:cNvPr>
          <p:cNvSpPr txBox="1"/>
          <p:nvPr/>
        </p:nvSpPr>
        <p:spPr>
          <a:xfrm>
            <a:off x="814812" y="2851841"/>
            <a:ext cx="31506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Many</a:t>
            </a:r>
            <a:r>
              <a:rPr lang="en-US" dirty="0"/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to Many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One to 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Many to One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84A056F-327E-434E-9417-D5356D2655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3024" y="2606674"/>
            <a:ext cx="7124164" cy="33567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13517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3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altLang="x-none" dirty="0">
                <a:ea typeface="ＭＳ Ｐゴシック" panose="020B0600070205080204" pitchFamily="34" charset="-128"/>
              </a:rPr>
              <a:t>What is Thread?</a:t>
            </a:r>
            <a:endParaRPr lang="x-none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81510A4B-BCE9-6953-8DA6-2DF33222F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197" y="2606674"/>
            <a:ext cx="7738403" cy="3691512"/>
          </a:xfrm>
        </p:spPr>
        <p:txBody>
          <a:bodyPr anchor="t">
            <a:normAutofit/>
          </a:bodyPr>
          <a:lstStyle/>
          <a:p>
            <a:r>
              <a:rPr lang="en-US" altLang="x-none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Example</a:t>
            </a:r>
          </a:p>
          <a:p>
            <a:pPr marL="0" indent="0">
              <a:buNone/>
            </a:pPr>
            <a:endParaRPr lang="en-PK" sz="1600" dirty="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FF10FE-4C9E-C47B-462C-7D69B43AA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207" y="3596810"/>
            <a:ext cx="8204542" cy="2225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7157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3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altLang="x-none" dirty="0">
                <a:ea typeface="ＭＳ Ｐゴシック" panose="020B0600070205080204" pitchFamily="34" charset="-128"/>
              </a:rPr>
              <a:t>What is Thread?</a:t>
            </a:r>
            <a:endParaRPr lang="x-none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2E0ADDE-6552-70BE-DCDC-DC09322CB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6040" y="2514600"/>
            <a:ext cx="6584877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square">
            <a:spAutoFit/>
          </a:bodyPr>
          <a:lstStyle/>
          <a:p>
            <a:pPr algn="just" defTabSz="621792">
              <a:spcAft>
                <a:spcPts val="600"/>
              </a:spcAft>
            </a:pPr>
            <a:r>
              <a:rPr lang="en-US" sz="2000" kern="1200" dirty="0">
                <a:solidFill>
                  <a:schemeClr val="tx1"/>
                </a:solidFill>
              </a:rPr>
              <a:t>All memory in the logical machine model of a thread is globally accessible to every thread</a:t>
            </a:r>
            <a:endParaRPr lang="en-US" altLang="x-none" sz="2000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60997554-FDC0-019D-FE50-2820A05449D2}"/>
              </a:ext>
            </a:extLst>
          </p:cNvPr>
          <p:cNvSpPr/>
          <p:nvPr/>
        </p:nvSpPr>
        <p:spPr>
          <a:xfrm>
            <a:off x="5378824" y="3282478"/>
            <a:ext cx="412376" cy="676894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pic>
        <p:nvPicPr>
          <p:cNvPr id="9" name="Picture 2" descr="Diagram, schematic&#10;&#10;Description automatically generated">
            <a:extLst>
              <a:ext uri="{FF2B5EF4-FFF2-40B4-BE49-F238E27FC236}">
                <a16:creationId xmlns:a16="http://schemas.microsoft.com/office/drawing/2014/main" id="{CA545145-59E3-9237-08B6-A600583CB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62898" y="3537264"/>
            <a:ext cx="2456604" cy="34228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0896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2">
            <a:extLst>
              <a:ext uri="{FF2B5EF4-FFF2-40B4-BE49-F238E27FC236}">
                <a16:creationId xmlns:a16="http://schemas.microsoft.com/office/drawing/2014/main" id="{5A8C81AE-8F0D-49F3-9FB4-334B0DCD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1" name="Picture 44">
            <a:extLst>
              <a:ext uri="{FF2B5EF4-FFF2-40B4-BE49-F238E27FC236}">
                <a16:creationId xmlns:a16="http://schemas.microsoft.com/office/drawing/2014/main" id="{29DA4B2B-B54E-43B4-A1A4-EB704F7F3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01" t="54841" r="-1"/>
          <a:stretch/>
        </p:blipFill>
        <p:spPr>
          <a:xfrm>
            <a:off x="0" y="0"/>
            <a:ext cx="872377" cy="838200"/>
          </a:xfrm>
          <a:prstGeom prst="rect">
            <a:avLst/>
          </a:prstGeom>
        </p:spPr>
      </p:pic>
      <p:pic>
        <p:nvPicPr>
          <p:cNvPr id="52" name="Picture 46">
            <a:extLst>
              <a:ext uri="{FF2B5EF4-FFF2-40B4-BE49-F238E27FC236}">
                <a16:creationId xmlns:a16="http://schemas.microsoft.com/office/drawing/2014/main" id="{1C32610F-5445-4E12-87F6-F0591ABE7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02317F6-0931-2B54-1404-D0D619646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376" y="381001"/>
            <a:ext cx="9688047" cy="122316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>
                <a:solidFill>
                  <a:schemeClr val="tx2"/>
                </a:solidFill>
              </a:rPr>
              <a:t>Logical Machine Model of Threads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7372192C-1BCD-E351-5F6D-D3F87B1A8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2690" y="1843284"/>
            <a:ext cx="6236475" cy="41735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square">
            <a:spAutoFit/>
          </a:bodyPr>
          <a:lstStyle/>
          <a:p>
            <a:pPr algn="just" defTabSz="804672">
              <a:spcAft>
                <a:spcPts val="600"/>
              </a:spcAft>
            </a:pPr>
            <a:r>
              <a:rPr lang="en-US" sz="2112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Threads are invoked as function calls</a:t>
            </a:r>
            <a:endParaRPr lang="en-US" sz="2400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BC364C0A-D639-2D27-8569-286971ACEDE3}"/>
              </a:ext>
            </a:extLst>
          </p:cNvPr>
          <p:cNvSpPr/>
          <p:nvPr/>
        </p:nvSpPr>
        <p:spPr>
          <a:xfrm>
            <a:off x="5412098" y="2457395"/>
            <a:ext cx="441469" cy="515308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pic>
        <p:nvPicPr>
          <p:cNvPr id="10" name="Picture 2" descr="Diagram, schematic&#10;&#10;Description automatically generated">
            <a:extLst>
              <a:ext uri="{FF2B5EF4-FFF2-40B4-BE49-F238E27FC236}">
                <a16:creationId xmlns:a16="http://schemas.microsoft.com/office/drawing/2014/main" id="{85646196-F7D8-2B2D-4E7B-E60412BFA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291074" y="2974902"/>
            <a:ext cx="2992502" cy="3411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720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19B4B-DD16-5DF2-E34B-4765F6BA2C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2" r="15486" b="-2"/>
          <a:stretch/>
        </p:blipFill>
        <p:spPr>
          <a:xfrm>
            <a:off x="3048" y="10"/>
            <a:ext cx="6195372" cy="46182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2AEC3-B371-83A9-2DBA-0BB306161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876800"/>
            <a:ext cx="10003218" cy="121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x-none" sz="4100" dirty="0"/>
              <a:t>CS621 Parallel and Distributed Computing</a:t>
            </a:r>
            <a:endParaRPr lang="en-US" sz="4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7D0A4-286C-034D-8B8B-FADC6513A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3200" y="369204"/>
            <a:ext cx="4800600" cy="39359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API?</a:t>
            </a:r>
          </a:p>
        </p:txBody>
      </p:sp>
    </p:spTree>
    <p:extLst>
      <p:ext uri="{BB962C8B-B14F-4D97-AF65-F5344CB8AC3E}">
        <p14:creationId xmlns:p14="http://schemas.microsoft.com/office/powerpoint/2010/main" val="1485673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 altLang="x-none" sz="3700" dirty="0">
                <a:ea typeface="ＭＳ Ｐゴシック" panose="020B0600070205080204" pitchFamily="34" charset="-128"/>
              </a:rPr>
              <a:t>Objectives</a:t>
            </a:r>
            <a:endParaRPr lang="x-none" sz="3700"/>
          </a:p>
        </p:txBody>
      </p:sp>
      <p:graphicFrame>
        <p:nvGraphicFramePr>
          <p:cNvPr id="36" name="Rectangle 3">
            <a:extLst>
              <a:ext uri="{FF2B5EF4-FFF2-40B4-BE49-F238E27FC236}">
                <a16:creationId xmlns:a16="http://schemas.microsoft.com/office/drawing/2014/main" id="{BC8A9704-B22C-9F3F-529F-C75DC38357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5327809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20798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3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sz="4400" dirty="0"/>
              <a:t>The POSIX Thread API</a:t>
            </a:r>
            <a:endParaRPr lang="x-none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E958E970-3120-5EB2-38D8-F280E7442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9919" y="2514600"/>
            <a:ext cx="6218705" cy="10618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square">
            <a:spAutoFit/>
          </a:bodyPr>
          <a:lstStyle/>
          <a:p>
            <a:pPr defTabSz="694944">
              <a:spcAft>
                <a:spcPts val="600"/>
              </a:spcAft>
            </a:pPr>
            <a:r>
              <a:rPr lang="en-US" sz="2100" kern="1200" dirty="0">
                <a:solidFill>
                  <a:schemeClr val="tx1"/>
                </a:solidFill>
              </a:rPr>
              <a:t>A number of vendors provide vendor-specific thread APIs (NT threads, Solaris threads, Java threads, etc.)</a:t>
            </a:r>
            <a:endParaRPr lang="en-US" altLang="x-none" sz="2100" dirty="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4242D81-14B9-218C-D73E-4A011AF82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9529" y="3948253"/>
            <a:ext cx="6218706" cy="738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square">
            <a:spAutoFit/>
          </a:bodyPr>
          <a:lstStyle/>
          <a:p>
            <a:pPr defTabSz="694944">
              <a:spcAft>
                <a:spcPts val="600"/>
              </a:spcAft>
            </a:pPr>
            <a:r>
              <a:rPr lang="en-US" sz="2100" kern="1200" dirty="0">
                <a:solidFill>
                  <a:schemeClr val="tx1"/>
                </a:solidFill>
              </a:rPr>
              <a:t>The IEEE specifies a standard 1003.1c-1995, POSIX API, also referred to as </a:t>
            </a:r>
            <a:r>
              <a:rPr lang="en-US" sz="2100" kern="1200" dirty="0" err="1">
                <a:solidFill>
                  <a:schemeClr val="tx1"/>
                </a:solidFill>
              </a:rPr>
              <a:t>Pthreads</a:t>
            </a:r>
            <a:endParaRPr lang="en-US" altLang="x-none" sz="2100" dirty="0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C6E55522-AFC7-2B05-A1B5-D6BE83B4E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9562" y="4979547"/>
            <a:ext cx="6229061" cy="7386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square">
            <a:spAutoFit/>
          </a:bodyPr>
          <a:lstStyle/>
          <a:p>
            <a:pPr defTabSz="694944">
              <a:spcAft>
                <a:spcPts val="600"/>
              </a:spcAft>
            </a:pPr>
            <a:r>
              <a:rPr lang="en-US" sz="2100" kern="1200" dirty="0">
                <a:solidFill>
                  <a:schemeClr val="tx1"/>
                </a:solidFill>
              </a:rPr>
              <a:t>POSIX has emerged as the standard threads API, supported by most vendors.</a:t>
            </a:r>
            <a:endParaRPr lang="en-US" altLang="x-none" sz="2100" dirty="0"/>
          </a:p>
        </p:txBody>
      </p:sp>
    </p:spTree>
    <p:extLst>
      <p:ext uri="{BB962C8B-B14F-4D97-AF65-F5344CB8AC3E}">
        <p14:creationId xmlns:p14="http://schemas.microsoft.com/office/powerpoint/2010/main" val="3362029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2">
            <a:extLst>
              <a:ext uri="{FF2B5EF4-FFF2-40B4-BE49-F238E27FC236}">
                <a16:creationId xmlns:a16="http://schemas.microsoft.com/office/drawing/2014/main" id="{5A8C81AE-8F0D-49F3-9FB4-334B0DCD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1" name="Picture 44">
            <a:extLst>
              <a:ext uri="{FF2B5EF4-FFF2-40B4-BE49-F238E27FC236}">
                <a16:creationId xmlns:a16="http://schemas.microsoft.com/office/drawing/2014/main" id="{29DA4B2B-B54E-43B4-A1A4-EB704F7F3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01" t="54841" r="-1"/>
          <a:stretch/>
        </p:blipFill>
        <p:spPr>
          <a:xfrm>
            <a:off x="0" y="0"/>
            <a:ext cx="872377" cy="838200"/>
          </a:xfrm>
          <a:prstGeom prst="rect">
            <a:avLst/>
          </a:prstGeom>
        </p:spPr>
      </p:pic>
      <p:pic>
        <p:nvPicPr>
          <p:cNvPr id="52" name="Picture 46">
            <a:extLst>
              <a:ext uri="{FF2B5EF4-FFF2-40B4-BE49-F238E27FC236}">
                <a16:creationId xmlns:a16="http://schemas.microsoft.com/office/drawing/2014/main" id="{1C32610F-5445-4E12-87F6-F0591ABE7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02317F6-0931-2B54-1404-D0D619646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376" y="381001"/>
            <a:ext cx="9688047" cy="12231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2"/>
                </a:solidFill>
              </a:rPr>
              <a:t>Thread Termination</a:t>
            </a:r>
            <a:endParaRPr lang="en-US" sz="4100" dirty="0">
              <a:solidFill>
                <a:schemeClr val="tx2"/>
              </a:solidFill>
            </a:endParaRP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22099439-6296-B471-D1D6-B7C4574A0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1037" y="1843284"/>
            <a:ext cx="5758633" cy="39151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square">
            <a:spAutoFit/>
          </a:bodyPr>
          <a:lstStyle/>
          <a:p>
            <a:pPr defTabSz="740664">
              <a:spcAft>
                <a:spcPts val="600"/>
              </a:spcAft>
            </a:pPr>
            <a:r>
              <a:rPr lang="en-US" sz="194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en-US" sz="1944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</a:t>
            </a:r>
            <a:r>
              <a:rPr lang="en-US" sz="194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represented by the type </a:t>
            </a:r>
            <a:r>
              <a:rPr lang="en-US" sz="1944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pthread_t</a:t>
            </a:r>
            <a:r>
              <a:rPr lang="en-US" sz="194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altLang="x-none" sz="2600" dirty="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EED63BF7-050F-11ED-1356-280FCA7A8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1037" y="3391304"/>
            <a:ext cx="5758633" cy="196617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square">
            <a:spAutoFit/>
          </a:bodyPr>
          <a:lstStyle/>
          <a:p>
            <a:pPr defTabSz="740664" fontAlgn="base">
              <a:spcAft>
                <a:spcPts val="600"/>
              </a:spcAft>
            </a:pPr>
            <a:r>
              <a:rPr lang="en-US" sz="194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sz="1944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pthread_exit</a:t>
            </a:r>
            <a:r>
              <a:rPr lang="en-US" sz="194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(void *</a:t>
            </a:r>
            <a:r>
              <a:rPr lang="en-US" sz="1944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value_ptr</a:t>
            </a:r>
            <a:r>
              <a:rPr lang="en-US" sz="194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pPr defTabSz="740664" fontAlgn="base">
              <a:spcAft>
                <a:spcPts val="600"/>
              </a:spcAft>
            </a:pPr>
            <a:endParaRPr lang="en-US" sz="1944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40664" fontAlgn="base">
              <a:spcAft>
                <a:spcPts val="600"/>
              </a:spcAft>
            </a:pPr>
            <a:r>
              <a:rPr lang="en-US" sz="1944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n-US" sz="194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44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pthread_join</a:t>
            </a:r>
            <a:r>
              <a:rPr lang="en-US" sz="194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944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pthread_t</a:t>
            </a:r>
            <a:r>
              <a:rPr lang="en-US" sz="194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thread, </a:t>
            </a:r>
          </a:p>
          <a:p>
            <a:pPr defTabSz="740664" fontAlgn="base">
              <a:spcAft>
                <a:spcPts val="600"/>
              </a:spcAft>
            </a:pPr>
            <a:r>
              <a:rPr lang="en-US" sz="194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**</a:t>
            </a:r>
            <a:r>
              <a:rPr lang="en-US" sz="1944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value_ptr</a:t>
            </a:r>
            <a:r>
              <a:rPr lang="en-US" sz="1944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pPr fontAlgn="base">
              <a:spcAft>
                <a:spcPts val="600"/>
              </a:spcAft>
            </a:pPr>
            <a:endParaRPr lang="en-US" sz="2400"/>
          </a:p>
        </p:txBody>
      </p:sp>
      <p:sp>
        <p:nvSpPr>
          <p:cNvPr id="4" name="Oval Callout 10">
            <a:extLst>
              <a:ext uri="{FF2B5EF4-FFF2-40B4-BE49-F238E27FC236}">
                <a16:creationId xmlns:a16="http://schemas.microsoft.com/office/drawing/2014/main" id="{2C548E45-6B88-324F-8411-B6BC325C6B5C}"/>
              </a:ext>
            </a:extLst>
          </p:cNvPr>
          <p:cNvSpPr/>
          <p:nvPr/>
        </p:nvSpPr>
        <p:spPr>
          <a:xfrm rot="606783">
            <a:off x="6267330" y="2444203"/>
            <a:ext cx="3542078" cy="1119336"/>
          </a:xfrm>
          <a:prstGeom prst="wedgeEllipseCallout">
            <a:avLst>
              <a:gd name="adj1" fmla="val -68524"/>
              <a:gd name="adj2" fmla="val 76555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defTabSz="740664">
              <a:spcAft>
                <a:spcPts val="600"/>
              </a:spcAft>
            </a:pPr>
            <a:r>
              <a:rPr lang="en-US" sz="1458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terminates the thread and provides the pointer *</a:t>
            </a:r>
            <a:r>
              <a:rPr lang="en-US" sz="1458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value_ptr</a:t>
            </a:r>
            <a:r>
              <a:rPr lang="en-US" sz="1458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available to any </a:t>
            </a:r>
            <a:r>
              <a:rPr lang="en-US" sz="1458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pthread_join</a:t>
            </a:r>
            <a:r>
              <a:rPr lang="en-US" sz="1458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() call</a:t>
            </a:r>
            <a:r>
              <a:rPr lang="en-US" sz="1458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8" name="Oval Callout 11">
            <a:extLst>
              <a:ext uri="{FF2B5EF4-FFF2-40B4-BE49-F238E27FC236}">
                <a16:creationId xmlns:a16="http://schemas.microsoft.com/office/drawing/2014/main" id="{2F9F6662-D9FA-AC30-C785-C248E61B6BD5}"/>
              </a:ext>
            </a:extLst>
          </p:cNvPr>
          <p:cNvSpPr/>
          <p:nvPr/>
        </p:nvSpPr>
        <p:spPr>
          <a:xfrm rot="288853">
            <a:off x="5723099" y="4492358"/>
            <a:ext cx="4115148" cy="1171911"/>
          </a:xfrm>
          <a:prstGeom prst="wedgeEllipseCallout">
            <a:avLst>
              <a:gd name="adj1" fmla="val -64141"/>
              <a:gd name="adj2" fmla="val -48458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defTabSz="740664">
              <a:spcAft>
                <a:spcPts val="600"/>
              </a:spcAft>
            </a:pPr>
            <a:r>
              <a:rPr lang="en-US" sz="1458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suspends the calling thread to wait for successful termination of the thread specified as the first argument </a:t>
            </a:r>
            <a:r>
              <a:rPr lang="en-US" sz="1458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pthread_t</a:t>
            </a:r>
            <a:r>
              <a:rPr lang="en-US" sz="1458" kern="1200" dirty="0">
                <a:solidFill>
                  <a:schemeClr val="bg1"/>
                </a:solidFill>
              </a:rPr>
              <a:t> thread 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Oval Callout 13">
            <a:extLst>
              <a:ext uri="{FF2B5EF4-FFF2-40B4-BE49-F238E27FC236}">
                <a16:creationId xmlns:a16="http://schemas.microsoft.com/office/drawing/2014/main" id="{C29969A2-D0CE-00E8-EE0C-DCCF55EC44A5}"/>
              </a:ext>
            </a:extLst>
          </p:cNvPr>
          <p:cNvSpPr/>
          <p:nvPr/>
        </p:nvSpPr>
        <p:spPr>
          <a:xfrm rot="288853" flipH="1">
            <a:off x="3268505" y="5080503"/>
            <a:ext cx="3261656" cy="1096460"/>
          </a:xfrm>
          <a:prstGeom prst="wedgeEllipseCallout">
            <a:avLst>
              <a:gd name="adj1" fmla="val 13358"/>
              <a:gd name="adj2" fmla="val -90962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defTabSz="740664">
              <a:spcAft>
                <a:spcPts val="600"/>
              </a:spcAft>
            </a:pPr>
            <a:r>
              <a:rPr lang="en-US" sz="1458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An optional *</a:t>
            </a:r>
            <a:r>
              <a:rPr lang="en-US" sz="1458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value_ptr</a:t>
            </a:r>
            <a:r>
              <a:rPr lang="en-US" sz="1458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pPr defTabSz="740664">
              <a:spcAft>
                <a:spcPts val="600"/>
              </a:spcAft>
            </a:pPr>
            <a:r>
              <a:rPr lang="en-US" sz="1458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data passed from the terminating thread's call to </a:t>
            </a:r>
            <a:r>
              <a:rPr lang="en-US" sz="1458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pthread_exit</a:t>
            </a:r>
            <a:r>
              <a:rPr lang="en-US" sz="1458" kern="1200" dirty="0">
                <a:solidFill>
                  <a:schemeClr val="bg1"/>
                </a:solidFill>
              </a:rPr>
              <a:t>(). 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112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2">
            <a:extLst>
              <a:ext uri="{FF2B5EF4-FFF2-40B4-BE49-F238E27FC236}">
                <a16:creationId xmlns:a16="http://schemas.microsoft.com/office/drawing/2014/main" id="{5A8C81AE-8F0D-49F3-9FB4-334B0DCD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1" name="Picture 44">
            <a:extLst>
              <a:ext uri="{FF2B5EF4-FFF2-40B4-BE49-F238E27FC236}">
                <a16:creationId xmlns:a16="http://schemas.microsoft.com/office/drawing/2014/main" id="{29DA4B2B-B54E-43B4-A1A4-EB704F7F3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01" t="54841" r="-1"/>
          <a:stretch/>
        </p:blipFill>
        <p:spPr>
          <a:xfrm>
            <a:off x="0" y="0"/>
            <a:ext cx="872377" cy="838200"/>
          </a:xfrm>
          <a:prstGeom prst="rect">
            <a:avLst/>
          </a:prstGeom>
        </p:spPr>
      </p:pic>
      <p:pic>
        <p:nvPicPr>
          <p:cNvPr id="52" name="Picture 46">
            <a:extLst>
              <a:ext uri="{FF2B5EF4-FFF2-40B4-BE49-F238E27FC236}">
                <a16:creationId xmlns:a16="http://schemas.microsoft.com/office/drawing/2014/main" id="{1C32610F-5445-4E12-87F6-F0591ABE7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02317F6-0931-2B54-1404-D0D619646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376" y="381001"/>
            <a:ext cx="9688047" cy="12231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2"/>
                </a:solidFill>
              </a:rPr>
              <a:t>Thread Creation</a:t>
            </a:r>
            <a:endParaRPr lang="en-US" sz="4100" dirty="0">
              <a:solidFill>
                <a:schemeClr val="tx2"/>
              </a:solidFill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7372192C-1BCD-E351-5F6D-D3F87B1A8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2690" y="1843284"/>
            <a:ext cx="6933639" cy="46166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square">
            <a:spAutoFit/>
          </a:bodyPr>
          <a:lstStyle/>
          <a:p>
            <a:pPr defTabSz="731520">
              <a:spcAft>
                <a:spcPts val="600"/>
              </a:spcAft>
            </a:pPr>
            <a:r>
              <a:rPr lang="en-US" sz="2400" dirty="0"/>
              <a:t>A </a:t>
            </a:r>
            <a:r>
              <a:rPr lang="en-US" sz="2400" dirty="0" err="1"/>
              <a:t>pthread</a:t>
            </a:r>
            <a:r>
              <a:rPr lang="en-US" sz="2400" dirty="0"/>
              <a:t> is represented by the type </a:t>
            </a:r>
            <a:r>
              <a:rPr lang="en-US" sz="2400" dirty="0" err="1"/>
              <a:t>pthread_t</a:t>
            </a:r>
            <a:r>
              <a:rPr lang="en-US" sz="2400" dirty="0"/>
              <a:t>.</a:t>
            </a:r>
            <a:endParaRPr lang="en-US" altLang="x-none" sz="3200" dirty="0"/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EA672D54-7405-3310-E91F-FFBEF4EE6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431" y="3516771"/>
            <a:ext cx="5691803" cy="172354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square">
            <a:spAutoFit/>
          </a:bodyPr>
          <a:lstStyle/>
          <a:p>
            <a:pPr defTabSz="731520" fontAlgn="base">
              <a:spcAft>
                <a:spcPts val="600"/>
              </a:spcAft>
            </a:pPr>
            <a:r>
              <a:rPr lang="en-US" sz="192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</a:t>
            </a:r>
            <a:r>
              <a:rPr lang="en-US" sz="192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pthread_create</a:t>
            </a:r>
            <a:r>
              <a:rPr lang="en-US" sz="192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92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pthread_t</a:t>
            </a:r>
            <a:r>
              <a:rPr lang="en-US" sz="192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*thread, </a:t>
            </a:r>
          </a:p>
          <a:p>
            <a:pPr defTabSz="731520" fontAlgn="base">
              <a:spcAft>
                <a:spcPts val="600"/>
              </a:spcAft>
            </a:pPr>
            <a:br>
              <a:rPr lang="en-US" sz="192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92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pthread_attr_t</a:t>
            </a:r>
            <a:r>
              <a:rPr lang="en-US" sz="192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</a:t>
            </a:r>
            <a:r>
              <a:rPr lang="en-US" sz="192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attr</a:t>
            </a:r>
            <a:r>
              <a:rPr lang="en-US" sz="192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</a:p>
          <a:p>
            <a:pPr defTabSz="731520" fontAlgn="base">
              <a:spcAft>
                <a:spcPts val="600"/>
              </a:spcAft>
            </a:pPr>
            <a:r>
              <a:rPr lang="en-US" sz="192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                </a:t>
            </a:r>
            <a:br>
              <a:rPr lang="en-US" sz="192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92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*(*</a:t>
            </a:r>
            <a:r>
              <a:rPr lang="en-US" sz="192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start_routine</a:t>
            </a:r>
            <a:r>
              <a:rPr lang="en-US" sz="192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)(void *), void *</a:t>
            </a:r>
            <a:r>
              <a:rPr lang="en-US" sz="192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</a:t>
            </a:r>
            <a:r>
              <a:rPr lang="en-US" sz="192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  <a:endParaRPr lang="en-US" sz="2400" dirty="0"/>
          </a:p>
        </p:txBody>
      </p:sp>
      <p:sp>
        <p:nvSpPr>
          <p:cNvPr id="3" name="Oval Callout 9">
            <a:extLst>
              <a:ext uri="{FF2B5EF4-FFF2-40B4-BE49-F238E27FC236}">
                <a16:creationId xmlns:a16="http://schemas.microsoft.com/office/drawing/2014/main" id="{E688C86E-2BE5-12B5-4A82-E1A62088CA95}"/>
              </a:ext>
            </a:extLst>
          </p:cNvPr>
          <p:cNvSpPr/>
          <p:nvPr/>
        </p:nvSpPr>
        <p:spPr>
          <a:xfrm rot="21360363">
            <a:off x="8235598" y="3894920"/>
            <a:ext cx="1826267" cy="872117"/>
          </a:xfrm>
          <a:prstGeom prst="wedgeEllipseCallout">
            <a:avLst>
              <a:gd name="adj1" fmla="val -160579"/>
              <a:gd name="adj2" fmla="val -27353"/>
            </a:avLst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defTabSz="731520">
              <a:spcAft>
                <a:spcPts val="600"/>
              </a:spcAft>
            </a:pPr>
            <a:r>
              <a:rPr lang="en-US" sz="1440" kern="1200" dirty="0">
                <a:solidFill>
                  <a:schemeClr val="bg1"/>
                </a:solidFill>
              </a:rPr>
              <a:t>Attributes to apply to this thread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Oval Callout 10">
            <a:extLst>
              <a:ext uri="{FF2B5EF4-FFF2-40B4-BE49-F238E27FC236}">
                <a16:creationId xmlns:a16="http://schemas.microsoft.com/office/drawing/2014/main" id="{8E94C3DD-3B39-6646-4007-BB9699ACAD95}"/>
              </a:ext>
            </a:extLst>
          </p:cNvPr>
          <p:cNvSpPr/>
          <p:nvPr/>
        </p:nvSpPr>
        <p:spPr>
          <a:xfrm rot="606783">
            <a:off x="7724499" y="2586848"/>
            <a:ext cx="2461934" cy="996236"/>
          </a:xfrm>
          <a:prstGeom prst="wedgeEllipseCallout">
            <a:avLst>
              <a:gd name="adj1" fmla="val -52721"/>
              <a:gd name="adj2" fmla="val 74870"/>
            </a:avLst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defTabSz="731520">
              <a:spcAft>
                <a:spcPts val="600"/>
              </a:spcAft>
            </a:pPr>
            <a:r>
              <a:rPr lang="en-US" sz="144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The actual thread object that contains </a:t>
            </a:r>
            <a:r>
              <a:rPr lang="en-US" sz="144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pthread</a:t>
            </a:r>
            <a:r>
              <a:rPr lang="en-US" sz="1440" kern="1200" dirty="0">
                <a:solidFill>
                  <a:schemeClr val="bg1"/>
                </a:solidFill>
              </a:rPr>
              <a:t> id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Oval Callout 11">
            <a:extLst>
              <a:ext uri="{FF2B5EF4-FFF2-40B4-BE49-F238E27FC236}">
                <a16:creationId xmlns:a16="http://schemas.microsoft.com/office/drawing/2014/main" id="{72ACD093-2979-AE64-5E8A-9D6540241C67}"/>
              </a:ext>
            </a:extLst>
          </p:cNvPr>
          <p:cNvSpPr/>
          <p:nvPr/>
        </p:nvSpPr>
        <p:spPr>
          <a:xfrm rot="288853">
            <a:off x="7347560" y="5499298"/>
            <a:ext cx="2134009" cy="959626"/>
          </a:xfrm>
          <a:prstGeom prst="wedgeEllipseCallout">
            <a:avLst>
              <a:gd name="adj1" fmla="val -38058"/>
              <a:gd name="adj2" fmla="val -77014"/>
            </a:avLst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defTabSz="731520">
              <a:spcAft>
                <a:spcPts val="600"/>
              </a:spcAft>
            </a:pPr>
            <a:r>
              <a:rPr lang="en-US" sz="1440" kern="1200" dirty="0">
                <a:solidFill>
                  <a:schemeClr val="bg1"/>
                </a:solidFill>
              </a:rPr>
              <a:t>Arguments to pass to thread function above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Oval Callout 12">
            <a:extLst>
              <a:ext uri="{FF2B5EF4-FFF2-40B4-BE49-F238E27FC236}">
                <a16:creationId xmlns:a16="http://schemas.microsoft.com/office/drawing/2014/main" id="{215A56D9-B671-A15F-5922-D48C3A6BB1B9}"/>
              </a:ext>
            </a:extLst>
          </p:cNvPr>
          <p:cNvSpPr/>
          <p:nvPr/>
        </p:nvSpPr>
        <p:spPr>
          <a:xfrm>
            <a:off x="3629359" y="5465515"/>
            <a:ext cx="1979962" cy="1087017"/>
          </a:xfrm>
          <a:prstGeom prst="wedgeEllipseCallout">
            <a:avLst>
              <a:gd name="adj1" fmla="val 20798"/>
              <a:gd name="adj2" fmla="val -79346"/>
            </a:avLst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defTabSz="731520">
              <a:spcAft>
                <a:spcPts val="600"/>
              </a:spcAft>
            </a:pPr>
            <a:r>
              <a:rPr lang="en-US" sz="1440" kern="1200" dirty="0">
                <a:solidFill>
                  <a:schemeClr val="bg1"/>
                </a:solidFill>
              </a:rPr>
              <a:t>The function this thread executes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16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  <p:bldP spid="3" grpId="0" animBg="1"/>
      <p:bldP spid="4" grpId="0" animBg="1"/>
      <p:bldP spid="8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19B4B-DD16-5DF2-E34B-4765F6BA2C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2" r="15486" b="-2"/>
          <a:stretch/>
        </p:blipFill>
        <p:spPr>
          <a:xfrm>
            <a:off x="3048" y="10"/>
            <a:ext cx="6195372" cy="46182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2AEC3-B371-83A9-2DBA-0BB306161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876800"/>
            <a:ext cx="10003218" cy="121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x-none" sz="4100" dirty="0"/>
              <a:t>CS621 Parallel and Distributed Computing</a:t>
            </a:r>
            <a:endParaRPr lang="en-US" sz="4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7D0A4-286C-034D-8B8B-FADC6513A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3200" y="369204"/>
            <a:ext cx="4800600" cy="39359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Thread?</a:t>
            </a:r>
          </a:p>
        </p:txBody>
      </p:sp>
    </p:spTree>
    <p:extLst>
      <p:ext uri="{BB962C8B-B14F-4D97-AF65-F5344CB8AC3E}">
        <p14:creationId xmlns:p14="http://schemas.microsoft.com/office/powerpoint/2010/main" val="69330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 altLang="x-none" sz="3700" dirty="0">
                <a:ea typeface="ＭＳ Ｐゴシック" panose="020B0600070205080204" pitchFamily="34" charset="-128"/>
              </a:rPr>
              <a:t>Objectives</a:t>
            </a:r>
            <a:endParaRPr lang="x-none" sz="3700"/>
          </a:p>
        </p:txBody>
      </p:sp>
      <p:graphicFrame>
        <p:nvGraphicFramePr>
          <p:cNvPr id="36" name="Rectangle 3">
            <a:extLst>
              <a:ext uri="{FF2B5EF4-FFF2-40B4-BE49-F238E27FC236}">
                <a16:creationId xmlns:a16="http://schemas.microsoft.com/office/drawing/2014/main" id="{BC8A9704-B22C-9F3F-529F-C75DC38357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7538094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78734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3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altLang="x-none" dirty="0">
                <a:ea typeface="ＭＳ Ｐゴシック" panose="020B0600070205080204" pitchFamily="34" charset="-128"/>
              </a:rPr>
              <a:t>Why Thread?</a:t>
            </a:r>
            <a:endParaRPr lang="x-none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2EC00AD-ED71-92A0-3BD1-9A8A5136D1A4}"/>
              </a:ext>
            </a:extLst>
          </p:cNvPr>
          <p:cNvGrpSpPr/>
          <p:nvPr/>
        </p:nvGrpSpPr>
        <p:grpSpPr>
          <a:xfrm>
            <a:off x="3030068" y="3886762"/>
            <a:ext cx="5853919" cy="2700125"/>
            <a:chOff x="1447800" y="2148749"/>
            <a:chExt cx="6226950" cy="3379785"/>
          </a:xfrm>
        </p:grpSpPr>
        <p:sp>
          <p:nvSpPr>
            <p:cNvPr id="4" name="Rounded Rectangle 1">
              <a:extLst>
                <a:ext uri="{FF2B5EF4-FFF2-40B4-BE49-F238E27FC236}">
                  <a16:creationId xmlns:a16="http://schemas.microsoft.com/office/drawing/2014/main" id="{D947D77F-321D-46B3-20A1-F0A78D260DBE}"/>
                </a:ext>
              </a:extLst>
            </p:cNvPr>
            <p:cNvSpPr/>
            <p:nvPr/>
          </p:nvSpPr>
          <p:spPr>
            <a:xfrm>
              <a:off x="5638800" y="2148749"/>
              <a:ext cx="1905000" cy="685800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Window XP</a:t>
              </a:r>
            </a:p>
          </p:txBody>
        </p:sp>
        <p:sp>
          <p:nvSpPr>
            <p:cNvPr id="6" name="Rounded Rectangle 13">
              <a:extLst>
                <a:ext uri="{FF2B5EF4-FFF2-40B4-BE49-F238E27FC236}">
                  <a16:creationId xmlns:a16="http://schemas.microsoft.com/office/drawing/2014/main" id="{5F0A1BE0-F152-AD68-6AE8-5467F12D39D0}"/>
                </a:ext>
              </a:extLst>
            </p:cNvPr>
            <p:cNvSpPr/>
            <p:nvPr/>
          </p:nvSpPr>
          <p:spPr>
            <a:xfrm>
              <a:off x="5769750" y="3524071"/>
              <a:ext cx="1905000" cy="685800"/>
            </a:xfrm>
            <a:prstGeom prst="roundRect">
              <a:avLst/>
            </a:prstGeom>
            <a:solidFill>
              <a:srgbClr val="0070C0"/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Window 7</a:t>
              </a:r>
              <a:r>
                <a:rPr lang="en-US" dirty="0"/>
                <a:t>                                                                                                                                                                               </a:t>
              </a:r>
            </a:p>
          </p:txBody>
        </p:sp>
        <p:sp>
          <p:nvSpPr>
            <p:cNvPr id="7" name="Rounded Rectangle 14">
              <a:extLst>
                <a:ext uri="{FF2B5EF4-FFF2-40B4-BE49-F238E27FC236}">
                  <a16:creationId xmlns:a16="http://schemas.microsoft.com/office/drawing/2014/main" id="{60EDBF7A-2CDC-3564-8320-35B0136A1050}"/>
                </a:ext>
              </a:extLst>
            </p:cNvPr>
            <p:cNvSpPr/>
            <p:nvPr/>
          </p:nvSpPr>
          <p:spPr>
            <a:xfrm>
              <a:off x="5706483" y="4842734"/>
              <a:ext cx="1905000" cy="685800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Window 10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1EF2D53-582D-CED5-3876-091B0B0C72B2}"/>
                </a:ext>
              </a:extLst>
            </p:cNvPr>
            <p:cNvCxnSpPr/>
            <p:nvPr/>
          </p:nvCxnSpPr>
          <p:spPr>
            <a:xfrm flipV="1">
              <a:off x="3352800" y="2444675"/>
              <a:ext cx="2286000" cy="128912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F5EF575-EB69-4B3C-9878-113F767D5A69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3352800" y="3866971"/>
              <a:ext cx="241695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D46CA5E-7DA0-AEC5-F980-90054689BD7F}"/>
                </a:ext>
              </a:extLst>
            </p:cNvPr>
            <p:cNvGrpSpPr/>
            <p:nvPr/>
          </p:nvGrpSpPr>
          <p:grpSpPr>
            <a:xfrm>
              <a:off x="1447800" y="3581400"/>
              <a:ext cx="4258683" cy="1604234"/>
              <a:chOff x="1447800" y="3581400"/>
              <a:chExt cx="4258683" cy="1604234"/>
            </a:xfrm>
          </p:grpSpPr>
          <p:sp>
            <p:nvSpPr>
              <p:cNvPr id="13" name="Rounded Rectangle 15">
                <a:extLst>
                  <a:ext uri="{FF2B5EF4-FFF2-40B4-BE49-F238E27FC236}">
                    <a16:creationId xmlns:a16="http://schemas.microsoft.com/office/drawing/2014/main" id="{061A6175-599D-DA9B-E9F4-45EED6C9F2FC}"/>
                  </a:ext>
                </a:extLst>
              </p:cNvPr>
              <p:cNvSpPr/>
              <p:nvPr/>
            </p:nvSpPr>
            <p:spPr>
              <a:xfrm>
                <a:off x="1447800" y="3581400"/>
                <a:ext cx="1905000" cy="685800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PC Game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5801676-8E07-279A-959D-DC9D47C55E13}"/>
                  </a:ext>
                </a:extLst>
              </p:cNvPr>
              <p:cNvCxnSpPr>
                <a:endCxn id="7" idx="1"/>
              </p:cNvCxnSpPr>
              <p:nvPr/>
            </p:nvCxnSpPr>
            <p:spPr>
              <a:xfrm>
                <a:off x="3352800" y="3924300"/>
                <a:ext cx="2353683" cy="126133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 Box 4">
            <a:extLst>
              <a:ext uri="{FF2B5EF4-FFF2-40B4-BE49-F238E27FC236}">
                <a16:creationId xmlns:a16="http://schemas.microsoft.com/office/drawing/2014/main" id="{172E2BDA-4519-CCFE-DBF1-C27656098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0165" y="2373349"/>
            <a:ext cx="7086600" cy="120032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Portability:</a:t>
            </a:r>
          </a:p>
          <a:p>
            <a:r>
              <a:rPr lang="en-US" sz="2400" dirty="0"/>
              <a:t>The possibility to use the same software in different environments</a:t>
            </a:r>
            <a:endParaRPr lang="en-US" altLang="x-none" sz="2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DB12EC-EE3E-8913-6267-FF1DFFE1B82E}"/>
              </a:ext>
            </a:extLst>
          </p:cNvPr>
          <p:cNvSpPr txBox="1"/>
          <p:nvPr/>
        </p:nvSpPr>
        <p:spPr>
          <a:xfrm rot="20026568">
            <a:off x="5345615" y="4419569"/>
            <a:ext cx="8359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Work with</a:t>
            </a:r>
          </a:p>
        </p:txBody>
      </p:sp>
    </p:spTree>
    <p:extLst>
      <p:ext uri="{BB962C8B-B14F-4D97-AF65-F5344CB8AC3E}">
        <p14:creationId xmlns:p14="http://schemas.microsoft.com/office/powerpoint/2010/main" val="2662274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2">
            <a:extLst>
              <a:ext uri="{FF2B5EF4-FFF2-40B4-BE49-F238E27FC236}">
                <a16:creationId xmlns:a16="http://schemas.microsoft.com/office/drawing/2014/main" id="{5A8C81AE-8F0D-49F3-9FB4-334B0DCD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1" name="Picture 44">
            <a:extLst>
              <a:ext uri="{FF2B5EF4-FFF2-40B4-BE49-F238E27FC236}">
                <a16:creationId xmlns:a16="http://schemas.microsoft.com/office/drawing/2014/main" id="{29DA4B2B-B54E-43B4-A1A4-EB704F7F3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01" t="54841" r="-1"/>
          <a:stretch/>
        </p:blipFill>
        <p:spPr>
          <a:xfrm>
            <a:off x="0" y="0"/>
            <a:ext cx="872377" cy="838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812" y="208100"/>
            <a:ext cx="7341704" cy="1573786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Why Threads </a:t>
            </a:r>
            <a:r>
              <a:rPr lang="en-US" sz="2800" dirty="0" err="1">
                <a:solidFill>
                  <a:schemeClr val="tx1"/>
                </a:solidFill>
              </a:rPr>
              <a:t>Cont</a:t>
            </a:r>
            <a:r>
              <a:rPr lang="en-US" sz="2800" dirty="0">
                <a:solidFill>
                  <a:schemeClr val="tx1"/>
                </a:solidFill>
              </a:rPr>
              <a:t>…</a:t>
            </a:r>
            <a:endParaRPr lang="x-none" sz="2800" dirty="0">
              <a:solidFill>
                <a:schemeClr val="tx2"/>
              </a:solidFill>
            </a:endParaRPr>
          </a:p>
        </p:txBody>
      </p:sp>
      <p:pic>
        <p:nvPicPr>
          <p:cNvPr id="52" name="Picture 46">
            <a:extLst>
              <a:ext uri="{FF2B5EF4-FFF2-40B4-BE49-F238E27FC236}">
                <a16:creationId xmlns:a16="http://schemas.microsoft.com/office/drawing/2014/main" id="{1C32610F-5445-4E12-87F6-F0591ABE7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2098934F-FD71-8E79-0CE0-33CB101BE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2407" y="1861213"/>
            <a:ext cx="5579318" cy="40998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square">
            <a:spAutoFit/>
          </a:bodyPr>
          <a:lstStyle/>
          <a:p>
            <a:pPr algn="just" defTabSz="786384">
              <a:spcAft>
                <a:spcPts val="600"/>
              </a:spcAft>
            </a:pPr>
            <a:r>
              <a:rPr lang="en-US" sz="2000" kern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Latency hiding</a:t>
            </a:r>
            <a:endParaRPr lang="en-US" altLang="x-none" sz="1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6905D5-4AEA-197E-D95B-4CAF7159B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6503" y="3087126"/>
            <a:ext cx="4871126" cy="310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4">
            <a:extLst>
              <a:ext uri="{FF2B5EF4-FFF2-40B4-BE49-F238E27FC236}">
                <a16:creationId xmlns:a16="http://schemas.microsoft.com/office/drawing/2014/main" id="{042DBCCA-A2D3-6C6A-E1F5-060502905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5406" y="2444994"/>
            <a:ext cx="5410493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square">
            <a:spAutoFit/>
          </a:bodyPr>
          <a:lstStyle/>
          <a:p>
            <a:pPr algn="just" defTabSz="786384">
              <a:spcAft>
                <a:spcPts val="600"/>
              </a:spcAft>
            </a:pPr>
            <a:r>
              <a:rPr lang="en-US" altLang="x-none" sz="1400" kern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Multithreading</a:t>
            </a:r>
            <a:r>
              <a:rPr lang="en-US" altLang="x-none" sz="1400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enables latency reduction/hiding</a:t>
            </a:r>
            <a:endParaRPr lang="en-US" altLang="x-non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32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2">
            <a:extLst>
              <a:ext uri="{FF2B5EF4-FFF2-40B4-BE49-F238E27FC236}">
                <a16:creationId xmlns:a16="http://schemas.microsoft.com/office/drawing/2014/main" id="{5A8C81AE-8F0D-49F3-9FB4-334B0DCD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1" name="Picture 44">
            <a:extLst>
              <a:ext uri="{FF2B5EF4-FFF2-40B4-BE49-F238E27FC236}">
                <a16:creationId xmlns:a16="http://schemas.microsoft.com/office/drawing/2014/main" id="{29DA4B2B-B54E-43B4-A1A4-EB704F7F3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01" t="54841" r="-1"/>
          <a:stretch/>
        </p:blipFill>
        <p:spPr>
          <a:xfrm>
            <a:off x="0" y="0"/>
            <a:ext cx="872377" cy="838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812" y="38243"/>
            <a:ext cx="7341704" cy="1743643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chemeClr val="tx1"/>
                </a:solidFill>
              </a:rPr>
              <a:t>Why Threads </a:t>
            </a:r>
            <a:r>
              <a:rPr lang="en-US" sz="3600" dirty="0" err="1">
                <a:solidFill>
                  <a:schemeClr val="tx1"/>
                </a:solidFill>
              </a:rPr>
              <a:t>Cont</a:t>
            </a:r>
            <a:r>
              <a:rPr lang="en-US" sz="3600" dirty="0">
                <a:solidFill>
                  <a:schemeClr val="tx1"/>
                </a:solidFill>
              </a:rPr>
              <a:t>…</a:t>
            </a:r>
            <a:endParaRPr lang="x-none" sz="3600" dirty="0">
              <a:solidFill>
                <a:schemeClr val="tx2"/>
              </a:solidFill>
            </a:endParaRPr>
          </a:p>
        </p:txBody>
      </p:sp>
      <p:pic>
        <p:nvPicPr>
          <p:cNvPr id="52" name="Picture 46">
            <a:extLst>
              <a:ext uri="{FF2B5EF4-FFF2-40B4-BE49-F238E27FC236}">
                <a16:creationId xmlns:a16="http://schemas.microsoft.com/office/drawing/2014/main" id="{1C32610F-5445-4E12-87F6-F0591ABE7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  <p:sp>
        <p:nvSpPr>
          <p:cNvPr id="6" name="Text Box 4">
            <a:extLst>
              <a:ext uri="{FF2B5EF4-FFF2-40B4-BE49-F238E27FC236}">
                <a16:creationId xmlns:a16="http://schemas.microsoft.com/office/drawing/2014/main" id="{931CB78D-0B47-F9F1-CEC7-9FA3C60C5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393" y="1468638"/>
            <a:ext cx="5536250" cy="4062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square">
            <a:spAutoFit/>
          </a:bodyPr>
          <a:lstStyle/>
          <a:p>
            <a:pPr algn="just" defTabSz="777240">
              <a:spcAft>
                <a:spcPts val="600"/>
              </a:spcAft>
            </a:pPr>
            <a:r>
              <a:rPr lang="en-US" sz="2040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Scheduling</a:t>
            </a:r>
            <a:r>
              <a:rPr lang="en-US" sz="204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en-US" sz="2040" kern="1200" dirty="0">
                <a:solidFill>
                  <a:srgbClr val="0070C0"/>
                </a:solidFill>
              </a:rPr>
              <a:t>Load Balancing</a:t>
            </a:r>
            <a:endParaRPr lang="en-US" altLang="x-none" sz="1600" dirty="0">
              <a:solidFill>
                <a:srgbClr val="0070C0"/>
              </a:solidFill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C60DF9D-A265-96E7-31E9-42FC6FE25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9867" y="3410914"/>
            <a:ext cx="4702890" cy="2016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Oval Callout 6">
            <a:extLst>
              <a:ext uri="{FF2B5EF4-FFF2-40B4-BE49-F238E27FC236}">
                <a16:creationId xmlns:a16="http://schemas.microsoft.com/office/drawing/2014/main" id="{4AF4A8F5-B737-CA15-9E53-C9187A0011D1}"/>
              </a:ext>
            </a:extLst>
          </p:cNvPr>
          <p:cNvSpPr/>
          <p:nvPr/>
        </p:nvSpPr>
        <p:spPr>
          <a:xfrm>
            <a:off x="2992005" y="1998648"/>
            <a:ext cx="2843608" cy="1442025"/>
          </a:xfrm>
          <a:prstGeom prst="wedgeEllipseCallout">
            <a:avLst>
              <a:gd name="adj1" fmla="val 71725"/>
              <a:gd name="adj2" fmla="val 71565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777240">
              <a:spcAft>
                <a:spcPts val="600"/>
              </a:spcAft>
            </a:pPr>
            <a:endParaRPr lang="en-US" sz="1530" kern="12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  <a:p>
            <a:pPr defTabSz="777240">
              <a:spcAft>
                <a:spcPts val="600"/>
              </a:spcAft>
            </a:pP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Completed task execution and waiting for next task</a:t>
            </a:r>
            <a:endParaRPr lang="en-US" altLang="x-none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 algn="ctr">
              <a:spcAft>
                <a:spcPts val="600"/>
              </a:spcAft>
            </a:pPr>
            <a:endParaRPr lang="en-US" dirty="0"/>
          </a:p>
        </p:txBody>
      </p:sp>
      <p:sp>
        <p:nvSpPr>
          <p:cNvPr id="9" name="Oval Callout 8">
            <a:extLst>
              <a:ext uri="{FF2B5EF4-FFF2-40B4-BE49-F238E27FC236}">
                <a16:creationId xmlns:a16="http://schemas.microsoft.com/office/drawing/2014/main" id="{7CE22710-EA45-9203-102F-ED3E95F5BABB}"/>
              </a:ext>
            </a:extLst>
          </p:cNvPr>
          <p:cNvSpPr/>
          <p:nvPr/>
        </p:nvSpPr>
        <p:spPr>
          <a:xfrm rot="19662615">
            <a:off x="7472733" y="4961335"/>
            <a:ext cx="2770944" cy="1492586"/>
          </a:xfrm>
          <a:prstGeom prst="wedgeEllipseCallout">
            <a:avLst>
              <a:gd name="adj1" fmla="val -15224"/>
              <a:gd name="adj2" fmla="val -122882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777240">
              <a:spcAft>
                <a:spcPts val="600"/>
              </a:spcAft>
            </a:pPr>
            <a:endParaRPr lang="en-US" sz="153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 defTabSz="777240">
              <a:spcAft>
                <a:spcPts val="600"/>
              </a:spcAft>
            </a:pPr>
            <a:r>
              <a:rPr lang="en-US" sz="153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</a:t>
            </a:r>
            <a:r>
              <a:rPr lang="en-U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 is still busy in executing the scheduled tasks</a:t>
            </a:r>
            <a:endParaRPr lang="en-US" altLang="x-none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 algn="ctr"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177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3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altLang="x-none" dirty="0">
                <a:ea typeface="ＭＳ Ｐゴシック" panose="020B0600070205080204" pitchFamily="34" charset="-128"/>
              </a:rPr>
              <a:t>Why Thread?</a:t>
            </a:r>
            <a:endParaRPr lang="x-none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6A3644AF-12D6-C187-9C05-F913265B6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1649" y="2886632"/>
            <a:ext cx="5731640" cy="42845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square">
            <a:spAutoFit/>
          </a:bodyPr>
          <a:lstStyle/>
          <a:p>
            <a:pPr algn="just" defTabSz="832104">
              <a:spcAft>
                <a:spcPts val="600"/>
              </a:spcAft>
            </a:pPr>
            <a:r>
              <a:rPr lang="en-US" sz="2184" kern="1200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Ease of Programming</a:t>
            </a:r>
            <a:endParaRPr lang="en-US" altLang="x-none" sz="1600" dirty="0">
              <a:solidFill>
                <a:srgbClr val="0070C0"/>
              </a:solidFill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947FB4BC-D473-317E-9C0F-F8F64CAD8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6958" y="3953432"/>
            <a:ext cx="5731640" cy="106182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square">
            <a:spAutoFit/>
          </a:bodyPr>
          <a:lstStyle/>
          <a:p>
            <a:pPr algn="just" defTabSz="832104">
              <a:spcAft>
                <a:spcPts val="600"/>
              </a:spcAft>
            </a:pPr>
            <a:r>
              <a:rPr lang="en-US" sz="2100" kern="1200" dirty="0">
                <a:solidFill>
                  <a:schemeClr val="bg1"/>
                </a:solidFill>
              </a:rPr>
              <a:t>Threaded programs are significantly easier to write than corresponding programs using message passing APIs.</a:t>
            </a:r>
          </a:p>
        </p:txBody>
      </p:sp>
    </p:spTree>
    <p:extLst>
      <p:ext uri="{BB962C8B-B14F-4D97-AF65-F5344CB8AC3E}">
        <p14:creationId xmlns:p14="http://schemas.microsoft.com/office/powerpoint/2010/main" val="77487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bldLvl="3" animBg="1"/>
      <p:bldP spid="8" grpId="0" uiExpand="1" build="p" bldLvl="3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3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altLang="x-none" dirty="0">
                <a:ea typeface="ＭＳ Ｐゴシック" panose="020B0600070205080204" pitchFamily="34" charset="-128"/>
              </a:rPr>
              <a:t>Why Thread?</a:t>
            </a:r>
            <a:endParaRPr lang="x-none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6A3644AF-12D6-C187-9C05-F913265B6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1649" y="2886632"/>
            <a:ext cx="5731640" cy="42845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square">
            <a:spAutoFit/>
          </a:bodyPr>
          <a:lstStyle/>
          <a:p>
            <a:pPr algn="just" defTabSz="832104">
              <a:spcAft>
                <a:spcPts val="600"/>
              </a:spcAft>
            </a:pPr>
            <a:r>
              <a:rPr lang="en-US" sz="2184" dirty="0">
                <a:solidFill>
                  <a:srgbClr val="0070C0"/>
                </a:solidFill>
              </a:rPr>
              <a:t>Widespread Use</a:t>
            </a:r>
            <a:endParaRPr lang="en-US" altLang="x-none" sz="1600" dirty="0">
              <a:solidFill>
                <a:srgbClr val="0070C0"/>
              </a:solidFill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947FB4BC-D473-317E-9C0F-F8F64CAD8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6958" y="3953432"/>
            <a:ext cx="5731640" cy="156966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</p:spPr>
        <p:txBody>
          <a:bodyPr wrap="square">
            <a:spAutoFit/>
          </a:bodyPr>
          <a:lstStyle/>
          <a:p>
            <a:pPr algn="just" defTabSz="832104"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</a:rPr>
              <a:t>The widespread acceptance of the POSIX thread API, development tools for POSIX threads are more widely available and stable.</a:t>
            </a:r>
            <a:endParaRPr lang="en-US" altLang="x-none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80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bldLvl="3" animBg="1"/>
      <p:bldP spid="8" grpId="0" uiExpand="1" build="p" bldLvl="3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19B4B-DD16-5DF2-E34B-4765F6BA2C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2" r="15486" b="-2"/>
          <a:stretch/>
        </p:blipFill>
        <p:spPr>
          <a:xfrm>
            <a:off x="3048" y="10"/>
            <a:ext cx="6195372" cy="46182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2AEC3-B371-83A9-2DBA-0BB306161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876800"/>
            <a:ext cx="10003218" cy="121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x-none" sz="4100" dirty="0"/>
              <a:t>CS621 Parallel and Distributed Computing</a:t>
            </a:r>
            <a:endParaRPr lang="en-US" sz="4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7D0A4-286C-034D-8B8B-FADC6513A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3200" y="369204"/>
            <a:ext cx="4800600" cy="39359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4288550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 altLang="x-none" sz="3700" dirty="0">
                <a:ea typeface="ＭＳ Ｐゴシック" panose="020B0600070205080204" pitchFamily="34" charset="-128"/>
              </a:rPr>
              <a:t>Objectives</a:t>
            </a:r>
            <a:endParaRPr lang="x-none" sz="3700"/>
          </a:p>
        </p:txBody>
      </p:sp>
      <p:graphicFrame>
        <p:nvGraphicFramePr>
          <p:cNvPr id="36" name="Rectangle 3">
            <a:extLst>
              <a:ext uri="{FF2B5EF4-FFF2-40B4-BE49-F238E27FC236}">
                <a16:creationId xmlns:a16="http://schemas.microsoft.com/office/drawing/2014/main" id="{BC8A9704-B22C-9F3F-529F-C75DC38357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0424200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294899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2">
            <a:extLst>
              <a:ext uri="{FF2B5EF4-FFF2-40B4-BE49-F238E27FC236}">
                <a16:creationId xmlns:a16="http://schemas.microsoft.com/office/drawing/2014/main" id="{5A8C81AE-8F0D-49F3-9FB4-334B0DCD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1" name="Picture 44">
            <a:extLst>
              <a:ext uri="{FF2B5EF4-FFF2-40B4-BE49-F238E27FC236}">
                <a16:creationId xmlns:a16="http://schemas.microsoft.com/office/drawing/2014/main" id="{29DA4B2B-B54E-43B4-A1A4-EB704F7F3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01" t="54841" r="-1"/>
          <a:stretch/>
        </p:blipFill>
        <p:spPr>
          <a:xfrm>
            <a:off x="0" y="0"/>
            <a:ext cx="872377" cy="838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812" y="208100"/>
            <a:ext cx="8592670" cy="1573786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x-none" dirty="0">
                <a:solidFill>
                  <a:schemeClr val="tx2"/>
                </a:solidFill>
                <a:ea typeface="ＭＳ Ｐゴシック" panose="020B0600070205080204" pitchFamily="34" charset="-128"/>
              </a:rPr>
              <a:t>What is the biggest challenge with using thread?</a:t>
            </a:r>
            <a:endParaRPr lang="x-none" dirty="0">
              <a:solidFill>
                <a:schemeClr val="tx2"/>
              </a:solidFill>
            </a:endParaRPr>
          </a:p>
        </p:txBody>
      </p:sp>
      <p:pic>
        <p:nvPicPr>
          <p:cNvPr id="52" name="Picture 46">
            <a:extLst>
              <a:ext uri="{FF2B5EF4-FFF2-40B4-BE49-F238E27FC236}">
                <a16:creationId xmlns:a16="http://schemas.microsoft.com/office/drawing/2014/main" id="{1C32610F-5445-4E12-87F6-F0591ABE7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540E845-5E20-3A91-81B7-379EAF222600}"/>
              </a:ext>
            </a:extLst>
          </p:cNvPr>
          <p:cNvSpPr/>
          <p:nvPr/>
        </p:nvSpPr>
        <p:spPr>
          <a:xfrm>
            <a:off x="2287301" y="1844499"/>
            <a:ext cx="7617398" cy="1421988"/>
          </a:xfrm>
          <a:prstGeom prst="roundRect">
            <a:avLst>
              <a:gd name="adj" fmla="val 10000"/>
            </a:avLst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17" name="Rectangle 16" descr="Processor">
            <a:extLst>
              <a:ext uri="{FF2B5EF4-FFF2-40B4-BE49-F238E27FC236}">
                <a16:creationId xmlns:a16="http://schemas.microsoft.com/office/drawing/2014/main" id="{1A392289-CE6B-133D-547C-AF071A98E3B0}"/>
              </a:ext>
            </a:extLst>
          </p:cNvPr>
          <p:cNvSpPr/>
          <p:nvPr/>
        </p:nvSpPr>
        <p:spPr>
          <a:xfrm>
            <a:off x="2717452" y="2164446"/>
            <a:ext cx="782093" cy="782093"/>
          </a:xfrm>
          <a:prstGeom prst="rect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A554327-7161-3562-074E-0185B089062B}"/>
              </a:ext>
            </a:extLst>
          </p:cNvPr>
          <p:cNvGrpSpPr/>
          <p:nvPr/>
        </p:nvGrpSpPr>
        <p:grpSpPr>
          <a:xfrm>
            <a:off x="3929697" y="1844499"/>
            <a:ext cx="5975001" cy="1421988"/>
            <a:chOff x="1642396" y="582338"/>
            <a:chExt cx="5975001" cy="142198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F9DD473-6876-2AA6-D034-468E22AD42B9}"/>
                </a:ext>
              </a:extLst>
            </p:cNvPr>
            <p:cNvSpPr/>
            <p:nvPr/>
          </p:nvSpPr>
          <p:spPr>
            <a:xfrm>
              <a:off x="1642396" y="582338"/>
              <a:ext cx="5975001" cy="1421988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9930CF9-7BD2-5544-FA0B-36E94C5CA049}"/>
                </a:ext>
              </a:extLst>
            </p:cNvPr>
            <p:cNvSpPr txBox="1"/>
            <p:nvPr/>
          </p:nvSpPr>
          <p:spPr>
            <a:xfrm>
              <a:off x="1642396" y="582338"/>
              <a:ext cx="5975001" cy="14219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0494" tIns="150494" rIns="150494" bIns="150494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100" kern="1200" dirty="0"/>
                <a:t>Communication is implicit in shared-address-space programming.</a:t>
              </a:r>
            </a:p>
          </p:txBody>
        </p:sp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76311E4-8C34-0CE2-D295-F66281E23D40}"/>
              </a:ext>
            </a:extLst>
          </p:cNvPr>
          <p:cNvSpPr/>
          <p:nvPr/>
        </p:nvSpPr>
        <p:spPr>
          <a:xfrm>
            <a:off x="2287301" y="3591513"/>
            <a:ext cx="7617398" cy="1421988"/>
          </a:xfrm>
          <a:prstGeom prst="roundRect">
            <a:avLst>
              <a:gd name="adj" fmla="val 10000"/>
            </a:avLst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0" name="Rectangle 19" descr="Computer">
            <a:extLst>
              <a:ext uri="{FF2B5EF4-FFF2-40B4-BE49-F238E27FC236}">
                <a16:creationId xmlns:a16="http://schemas.microsoft.com/office/drawing/2014/main" id="{153757B9-065E-5C02-A0EC-2F09E76C1F8D}"/>
              </a:ext>
            </a:extLst>
          </p:cNvPr>
          <p:cNvSpPr/>
          <p:nvPr/>
        </p:nvSpPr>
        <p:spPr>
          <a:xfrm>
            <a:off x="2717452" y="3911460"/>
            <a:ext cx="782093" cy="782093"/>
          </a:xfrm>
          <a:prstGeom prst="rect">
            <a:avLst/>
          </a:prstGeom>
          <a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ABB7D8F-B650-64D1-7C79-E0F73A97DE5E}"/>
              </a:ext>
            </a:extLst>
          </p:cNvPr>
          <p:cNvGrpSpPr/>
          <p:nvPr/>
        </p:nvGrpSpPr>
        <p:grpSpPr>
          <a:xfrm>
            <a:off x="3929697" y="3591513"/>
            <a:ext cx="5975001" cy="1421988"/>
            <a:chOff x="1642396" y="2329352"/>
            <a:chExt cx="5975001" cy="142198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F7EA484-0DA3-F449-11E0-BD39B9A19234}"/>
                </a:ext>
              </a:extLst>
            </p:cNvPr>
            <p:cNvSpPr/>
            <p:nvPr/>
          </p:nvSpPr>
          <p:spPr>
            <a:xfrm>
              <a:off x="1642396" y="2329352"/>
              <a:ext cx="5975001" cy="1421988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006AEFB-44EB-EE5F-0276-8EFC028BBFA2}"/>
                </a:ext>
              </a:extLst>
            </p:cNvPr>
            <p:cNvSpPr txBox="1"/>
            <p:nvPr/>
          </p:nvSpPr>
          <p:spPr>
            <a:xfrm>
              <a:off x="1642396" y="2329352"/>
              <a:ext cx="5975001" cy="14219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0494" tIns="150494" rIns="150494" bIns="150494" numCol="1" spcCol="1270" anchor="ctr" anchorCtr="0">
              <a:noAutofit/>
            </a:bodyPr>
            <a:lstStyle/>
            <a:p>
              <a:pPr marL="0" lvl="0" indent="0" algn="just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100" kern="1200" dirty="0"/>
                <a:t>Much of the effort associated with writing correct threaded programs is spent on synchronizing concurrent threads with respect to their data accesses or scheduling.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7712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2">
            <a:extLst>
              <a:ext uri="{FF2B5EF4-FFF2-40B4-BE49-F238E27FC236}">
                <a16:creationId xmlns:a16="http://schemas.microsoft.com/office/drawing/2014/main" id="{5A8C81AE-8F0D-49F3-9FB4-334B0DCD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1" name="Picture 44">
            <a:extLst>
              <a:ext uri="{FF2B5EF4-FFF2-40B4-BE49-F238E27FC236}">
                <a16:creationId xmlns:a16="http://schemas.microsoft.com/office/drawing/2014/main" id="{29DA4B2B-B54E-43B4-A1A4-EB704F7F3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01" t="54841" r="-1"/>
          <a:stretch/>
        </p:blipFill>
        <p:spPr>
          <a:xfrm>
            <a:off x="0" y="0"/>
            <a:ext cx="872377" cy="838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812" y="208100"/>
            <a:ext cx="7341704" cy="1573786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Synchronization</a:t>
            </a:r>
            <a:endParaRPr lang="x-none" dirty="0">
              <a:solidFill>
                <a:schemeClr val="tx2"/>
              </a:solidFill>
            </a:endParaRPr>
          </a:p>
        </p:txBody>
      </p:sp>
      <p:pic>
        <p:nvPicPr>
          <p:cNvPr id="52" name="Picture 46">
            <a:extLst>
              <a:ext uri="{FF2B5EF4-FFF2-40B4-BE49-F238E27FC236}">
                <a16:creationId xmlns:a16="http://schemas.microsoft.com/office/drawing/2014/main" id="{1C32610F-5445-4E12-87F6-F0591ABE7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9DF4125-D496-3A99-20F1-72EF780AEEA6}"/>
              </a:ext>
            </a:extLst>
          </p:cNvPr>
          <p:cNvGrpSpPr/>
          <p:nvPr/>
        </p:nvGrpSpPr>
        <p:grpSpPr>
          <a:xfrm>
            <a:off x="2031337" y="1791311"/>
            <a:ext cx="7617394" cy="1343423"/>
            <a:chOff x="-285651" y="303366"/>
            <a:chExt cx="7617394" cy="1343423"/>
          </a:xfrm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851ACF0-31DB-E0C9-21CA-7C652810E2C9}"/>
                </a:ext>
              </a:extLst>
            </p:cNvPr>
            <p:cNvSpPr/>
            <p:nvPr/>
          </p:nvSpPr>
          <p:spPr>
            <a:xfrm>
              <a:off x="-285651" y="303366"/>
              <a:ext cx="7617394" cy="1343423"/>
            </a:xfrm>
            <a:prstGeom prst="roundRect">
              <a:avLst>
                <a:gd name="adj" fmla="val 1000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22429337-0A4F-B870-0D1B-C13477E334AB}"/>
                </a:ext>
              </a:extLst>
            </p:cNvPr>
            <p:cNvSpPr txBox="1"/>
            <p:nvPr/>
          </p:nvSpPr>
          <p:spPr>
            <a:xfrm>
              <a:off x="-246303" y="342714"/>
              <a:ext cx="5301756" cy="126472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0" bIns="76200" numCol="1" spcCol="1270" anchor="ctr" anchorCtr="1">
              <a:noAutofit/>
            </a:bodyPr>
            <a:lstStyle/>
            <a:p>
              <a:pPr marL="0" lvl="0" indent="0" algn="just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What will happen when multiple threads attempt to manipulate the same data item, if proper care is not taken to synchronize?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0A9F687-8F97-8F16-964C-6FDED4252F32}"/>
              </a:ext>
            </a:extLst>
          </p:cNvPr>
          <p:cNvGrpSpPr/>
          <p:nvPr/>
        </p:nvGrpSpPr>
        <p:grpSpPr>
          <a:xfrm>
            <a:off x="3685875" y="3931601"/>
            <a:ext cx="6474788" cy="1135088"/>
            <a:chOff x="1368887" y="2443656"/>
            <a:chExt cx="6474788" cy="1135088"/>
          </a:xfrm>
          <a:scene3d>
            <a:camera prst="orthographicFront"/>
            <a:lightRig rig="flat" dir="t"/>
          </a:scene3d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D524A9E-CD51-572A-61FB-12FDF15D5101}"/>
                </a:ext>
              </a:extLst>
            </p:cNvPr>
            <p:cNvSpPr/>
            <p:nvPr/>
          </p:nvSpPr>
          <p:spPr>
            <a:xfrm>
              <a:off x="1368887" y="2443656"/>
              <a:ext cx="6474788" cy="1135088"/>
            </a:xfrm>
            <a:prstGeom prst="roundRect">
              <a:avLst>
                <a:gd name="adj" fmla="val 1000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-1505353"/>
                <a:satOff val="-6347"/>
                <a:lumOff val="3137"/>
                <a:alphaOff val="0"/>
              </a:schemeClr>
            </a:fillRef>
            <a:effectRef idx="2">
              <a:schemeClr val="accent2">
                <a:hueOff val="-1505353"/>
                <a:satOff val="-6347"/>
                <a:lumOff val="3137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ectangle: Rounded Corners 6">
              <a:extLst>
                <a:ext uri="{FF2B5EF4-FFF2-40B4-BE49-F238E27FC236}">
                  <a16:creationId xmlns:a16="http://schemas.microsoft.com/office/drawing/2014/main" id="{643E1E4B-1AD7-6827-EA75-FDCB53AA8A35}"/>
                </a:ext>
              </a:extLst>
            </p:cNvPr>
            <p:cNvSpPr txBox="1"/>
            <p:nvPr/>
          </p:nvSpPr>
          <p:spPr>
            <a:xfrm>
              <a:off x="1402133" y="2476902"/>
              <a:ext cx="3998085" cy="1068596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Can results incoherent</a:t>
              </a:r>
              <a:endParaRPr lang="en-US" sz="5400" kern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ABB87D8-51CA-522C-6431-CCFA990E8BA6}"/>
              </a:ext>
            </a:extLst>
          </p:cNvPr>
          <p:cNvGrpSpPr/>
          <p:nvPr/>
        </p:nvGrpSpPr>
        <p:grpSpPr>
          <a:xfrm>
            <a:off x="7809826" y="3020983"/>
            <a:ext cx="1267601" cy="1267601"/>
            <a:chOff x="5492838" y="1533038"/>
            <a:chExt cx="1267601" cy="1267601"/>
          </a:xfrm>
          <a:scene3d>
            <a:camera prst="orthographicFront"/>
            <a:lightRig rig="flat" dir="t"/>
          </a:scene3d>
        </p:grpSpPr>
        <p:sp>
          <p:nvSpPr>
            <p:cNvPr id="6" name="Arrow: Down 5">
              <a:extLst>
                <a:ext uri="{FF2B5EF4-FFF2-40B4-BE49-F238E27FC236}">
                  <a16:creationId xmlns:a16="http://schemas.microsoft.com/office/drawing/2014/main" id="{5E4CDAEF-D5E0-69EA-FAAE-3294FE000198}"/>
                </a:ext>
              </a:extLst>
            </p:cNvPr>
            <p:cNvSpPr/>
            <p:nvPr/>
          </p:nvSpPr>
          <p:spPr>
            <a:xfrm>
              <a:off x="5492838" y="1533038"/>
              <a:ext cx="1267601" cy="1267601"/>
            </a:xfrm>
            <a:prstGeom prst="downArrow">
              <a:avLst>
                <a:gd name="adj1" fmla="val 55000"/>
                <a:gd name="adj2" fmla="val 45000"/>
              </a:avLst>
            </a:prstGeom>
            <a:sp3d z="190500" extrusionH="12700" prstMaterial="plastic">
              <a:bevelT w="50800" h="50800"/>
            </a:sp3d>
          </p:spPr>
          <p:style>
            <a:ln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Arrow: Down 8">
              <a:extLst>
                <a:ext uri="{FF2B5EF4-FFF2-40B4-BE49-F238E27FC236}">
                  <a16:creationId xmlns:a16="http://schemas.microsoft.com/office/drawing/2014/main" id="{93D3EBCB-69DF-4F09-F000-1CDEE03FEF61}"/>
                </a:ext>
              </a:extLst>
            </p:cNvPr>
            <p:cNvSpPr txBox="1"/>
            <p:nvPr/>
          </p:nvSpPr>
          <p:spPr>
            <a:xfrm>
              <a:off x="5778048" y="1533038"/>
              <a:ext cx="697181" cy="953870"/>
            </a:xfrm>
            <a:prstGeom prst="rect">
              <a:avLst/>
            </a:prstGeom>
            <a:sp3d z="1905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36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662910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2">
            <a:extLst>
              <a:ext uri="{FF2B5EF4-FFF2-40B4-BE49-F238E27FC236}">
                <a16:creationId xmlns:a16="http://schemas.microsoft.com/office/drawing/2014/main" id="{5A8C81AE-8F0D-49F3-9FB4-334B0DCD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1" name="Picture 44">
            <a:extLst>
              <a:ext uri="{FF2B5EF4-FFF2-40B4-BE49-F238E27FC236}">
                <a16:creationId xmlns:a16="http://schemas.microsoft.com/office/drawing/2014/main" id="{29DA4B2B-B54E-43B4-A1A4-EB704F7F3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01" t="54841" r="-1"/>
          <a:stretch/>
        </p:blipFill>
        <p:spPr>
          <a:xfrm>
            <a:off x="0" y="0"/>
            <a:ext cx="872377" cy="838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812" y="208100"/>
            <a:ext cx="7341704" cy="1573786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Synchronization Primitives of threads</a:t>
            </a:r>
            <a:endParaRPr lang="x-none" sz="2800" dirty="0">
              <a:solidFill>
                <a:schemeClr val="tx2"/>
              </a:solidFill>
            </a:endParaRPr>
          </a:p>
        </p:txBody>
      </p:sp>
      <p:pic>
        <p:nvPicPr>
          <p:cNvPr id="52" name="Picture 46">
            <a:extLst>
              <a:ext uri="{FF2B5EF4-FFF2-40B4-BE49-F238E27FC236}">
                <a16:creationId xmlns:a16="http://schemas.microsoft.com/office/drawing/2014/main" id="{1C32610F-5445-4E12-87F6-F0591ABE7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B44CAD1-5DB8-A142-BA38-F7A57DED9256}"/>
              </a:ext>
            </a:extLst>
          </p:cNvPr>
          <p:cNvGrpSpPr/>
          <p:nvPr/>
        </p:nvGrpSpPr>
        <p:grpSpPr>
          <a:xfrm>
            <a:off x="2515894" y="1760089"/>
            <a:ext cx="6474788" cy="1540388"/>
            <a:chOff x="0" y="146427"/>
            <a:chExt cx="6474788" cy="1540388"/>
          </a:xfrm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4AAACBF-E8D8-9BFC-6C7D-B1882CD9616C}"/>
                </a:ext>
              </a:extLst>
            </p:cNvPr>
            <p:cNvSpPr/>
            <p:nvPr/>
          </p:nvSpPr>
          <p:spPr>
            <a:xfrm>
              <a:off x="0" y="146427"/>
              <a:ext cx="6474788" cy="1540388"/>
            </a:xfrm>
            <a:prstGeom prst="roundRect">
              <a:avLst>
                <a:gd name="adj" fmla="val 1000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02FDC7EC-2FAD-7C1B-68A9-556D638322BC}"/>
                </a:ext>
              </a:extLst>
            </p:cNvPr>
            <p:cNvSpPr txBox="1"/>
            <p:nvPr/>
          </p:nvSpPr>
          <p:spPr>
            <a:xfrm>
              <a:off x="45116" y="191543"/>
              <a:ext cx="4483154" cy="1450156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Consider: </a:t>
              </a:r>
            </a:p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if (</a:t>
              </a:r>
              <a:r>
                <a:rPr lang="en-US" sz="2000" kern="1200" dirty="0" err="1"/>
                <a:t>my_cost</a:t>
              </a:r>
              <a:r>
                <a:rPr lang="en-US" sz="2000" kern="1200" dirty="0"/>
                <a:t> &lt; </a:t>
              </a:r>
              <a:r>
                <a:rPr lang="en-US" sz="2000" kern="1200" dirty="0" err="1"/>
                <a:t>best_cost</a:t>
              </a:r>
              <a:r>
                <a:rPr lang="en-US" sz="2000" kern="1200" dirty="0"/>
                <a:t>) </a:t>
              </a:r>
            </a:p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 err="1"/>
                <a:t>best_cost</a:t>
              </a:r>
              <a:r>
                <a:rPr lang="en-US" sz="2000" kern="1200" dirty="0"/>
                <a:t> = </a:t>
              </a:r>
              <a:r>
                <a:rPr lang="en-US" sz="2000" kern="1200" dirty="0" err="1"/>
                <a:t>my_cost</a:t>
              </a:r>
              <a:r>
                <a:rPr lang="en-US" sz="2000" kern="1200" dirty="0"/>
                <a:t>; 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3C75677-1758-E516-2686-D411D850B59B}"/>
              </a:ext>
            </a:extLst>
          </p:cNvPr>
          <p:cNvGrpSpPr/>
          <p:nvPr/>
        </p:nvGrpSpPr>
        <p:grpSpPr>
          <a:xfrm>
            <a:off x="3201318" y="3631092"/>
            <a:ext cx="6474788" cy="2183979"/>
            <a:chOff x="685424" y="2017430"/>
            <a:chExt cx="6474788" cy="2183979"/>
          </a:xfrm>
          <a:scene3d>
            <a:camera prst="orthographicFront"/>
            <a:lightRig rig="flat" dir="t"/>
          </a:scene3d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9B3859A-979E-EB9A-2DCA-D85A91166394}"/>
                </a:ext>
              </a:extLst>
            </p:cNvPr>
            <p:cNvSpPr/>
            <p:nvPr/>
          </p:nvSpPr>
          <p:spPr>
            <a:xfrm>
              <a:off x="685424" y="2017430"/>
              <a:ext cx="6474788" cy="2183979"/>
            </a:xfrm>
            <a:prstGeom prst="roundRect">
              <a:avLst>
                <a:gd name="adj" fmla="val 1000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-1505353"/>
                <a:satOff val="-6347"/>
                <a:lumOff val="3137"/>
                <a:alphaOff val="0"/>
              </a:schemeClr>
            </a:fillRef>
            <a:effectRef idx="2">
              <a:schemeClr val="accent2">
                <a:hueOff val="-1505353"/>
                <a:satOff val="-6347"/>
                <a:lumOff val="3137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ectangle: Rounded Corners 6">
              <a:extLst>
                <a:ext uri="{FF2B5EF4-FFF2-40B4-BE49-F238E27FC236}">
                  <a16:creationId xmlns:a16="http://schemas.microsoft.com/office/drawing/2014/main" id="{749C1790-05B9-BD4E-7D4D-BFD69E3D9B2D}"/>
                </a:ext>
              </a:extLst>
            </p:cNvPr>
            <p:cNvSpPr txBox="1"/>
            <p:nvPr/>
          </p:nvSpPr>
          <p:spPr>
            <a:xfrm>
              <a:off x="749391" y="2081397"/>
              <a:ext cx="3936643" cy="2056045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 err="1"/>
                <a:t>best_cost</a:t>
              </a:r>
              <a:r>
                <a:rPr lang="en-US" sz="2000" kern="1200" dirty="0"/>
                <a:t> = 100</a:t>
              </a:r>
              <a:br>
                <a:rPr lang="en-US" sz="2000" kern="1200" dirty="0"/>
              </a:br>
              <a:br>
                <a:rPr lang="en-US" sz="2000" kern="1200" dirty="0"/>
              </a:br>
              <a:r>
                <a:rPr lang="en-US" sz="2000" kern="1200" dirty="0"/>
                <a:t>t1  = 50</a:t>
              </a:r>
              <a:br>
                <a:rPr lang="en-US" sz="2000" kern="1200" dirty="0"/>
              </a:br>
              <a:r>
                <a:rPr lang="en-US" sz="2000" kern="1200" dirty="0"/>
                <a:t>t2  = 75 </a:t>
              </a:r>
            </a:p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After time interval T, the </a:t>
              </a:r>
              <a:r>
                <a:rPr lang="en-US" sz="2000" kern="1200" dirty="0" err="1"/>
                <a:t>best_cost</a:t>
              </a:r>
              <a:r>
                <a:rPr lang="en-US" sz="2000" kern="1200" dirty="0"/>
                <a:t> =?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71857ED-FD68-7CEA-440C-6A9B2A991703}"/>
              </a:ext>
            </a:extLst>
          </p:cNvPr>
          <p:cNvGrpSpPr/>
          <p:nvPr/>
        </p:nvGrpSpPr>
        <p:grpSpPr>
          <a:xfrm>
            <a:off x="7809826" y="3020983"/>
            <a:ext cx="1267601" cy="1267601"/>
            <a:chOff x="5492838" y="1533038"/>
            <a:chExt cx="1267601" cy="1267601"/>
          </a:xfrm>
          <a:scene3d>
            <a:camera prst="orthographicFront"/>
            <a:lightRig rig="flat" dir="t"/>
          </a:scene3d>
        </p:grpSpPr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C2643542-B0A8-D843-71C4-5485AECEBCD8}"/>
                </a:ext>
              </a:extLst>
            </p:cNvPr>
            <p:cNvSpPr/>
            <p:nvPr/>
          </p:nvSpPr>
          <p:spPr>
            <a:xfrm>
              <a:off x="5492838" y="1533038"/>
              <a:ext cx="1267601" cy="1267601"/>
            </a:xfrm>
            <a:prstGeom prst="downArrow">
              <a:avLst>
                <a:gd name="adj1" fmla="val 55000"/>
                <a:gd name="adj2" fmla="val 45000"/>
              </a:avLst>
            </a:prstGeom>
            <a:sp3d z="190500" extrusionH="12700" prstMaterial="plastic">
              <a:bevelT w="50800" h="50800"/>
            </a:sp3d>
          </p:spPr>
          <p:style>
            <a:ln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Arrow: Down 8">
              <a:extLst>
                <a:ext uri="{FF2B5EF4-FFF2-40B4-BE49-F238E27FC236}">
                  <a16:creationId xmlns:a16="http://schemas.microsoft.com/office/drawing/2014/main" id="{A389871F-246C-9F50-BEB2-CE2ED883DD96}"/>
                </a:ext>
              </a:extLst>
            </p:cNvPr>
            <p:cNvSpPr txBox="1"/>
            <p:nvPr/>
          </p:nvSpPr>
          <p:spPr>
            <a:xfrm>
              <a:off x="5778048" y="1533038"/>
              <a:ext cx="697181" cy="953870"/>
            </a:xfrm>
            <a:prstGeom prst="rect">
              <a:avLst/>
            </a:prstGeom>
            <a:sp3d z="1905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36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2298488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2">
            <a:extLst>
              <a:ext uri="{FF2B5EF4-FFF2-40B4-BE49-F238E27FC236}">
                <a16:creationId xmlns:a16="http://schemas.microsoft.com/office/drawing/2014/main" id="{5A8C81AE-8F0D-49F3-9FB4-334B0DCD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1" name="Picture 44">
            <a:extLst>
              <a:ext uri="{FF2B5EF4-FFF2-40B4-BE49-F238E27FC236}">
                <a16:creationId xmlns:a16="http://schemas.microsoft.com/office/drawing/2014/main" id="{29DA4B2B-B54E-43B4-A1A4-EB704F7F3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01" t="54841" r="-1"/>
          <a:stretch/>
        </p:blipFill>
        <p:spPr>
          <a:xfrm>
            <a:off x="0" y="0"/>
            <a:ext cx="872377" cy="838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812" y="0"/>
            <a:ext cx="7341704" cy="1781886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Mutual Exclusion </a:t>
            </a:r>
            <a:endParaRPr lang="x-none" dirty="0">
              <a:solidFill>
                <a:schemeClr val="tx2"/>
              </a:solidFill>
            </a:endParaRPr>
          </a:p>
        </p:txBody>
      </p:sp>
      <p:pic>
        <p:nvPicPr>
          <p:cNvPr id="52" name="Picture 46">
            <a:extLst>
              <a:ext uri="{FF2B5EF4-FFF2-40B4-BE49-F238E27FC236}">
                <a16:creationId xmlns:a16="http://schemas.microsoft.com/office/drawing/2014/main" id="{1C32610F-5445-4E12-87F6-F0591ABE7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8552FEA8-BFA3-E227-B0E4-735D1313A551}"/>
              </a:ext>
            </a:extLst>
          </p:cNvPr>
          <p:cNvGrpSpPr/>
          <p:nvPr/>
        </p:nvGrpSpPr>
        <p:grpSpPr>
          <a:xfrm>
            <a:off x="2420594" y="1346054"/>
            <a:ext cx="3890559" cy="4516864"/>
            <a:chOff x="3447" y="-1"/>
            <a:chExt cx="4031175" cy="4294561"/>
          </a:xfrm>
          <a:scene3d>
            <a:camera prst="orthographicFront"/>
            <a:lightRig rig="flat" dir="t"/>
          </a:scene3d>
        </p:grpSpPr>
        <p:sp>
          <p:nvSpPr>
            <p:cNvPr id="16" name="Flowchart: Manual Operation 15">
              <a:extLst>
                <a:ext uri="{FF2B5EF4-FFF2-40B4-BE49-F238E27FC236}">
                  <a16:creationId xmlns:a16="http://schemas.microsoft.com/office/drawing/2014/main" id="{C47A875D-1220-5EFD-DC1B-312DCAE274A9}"/>
                </a:ext>
              </a:extLst>
            </p:cNvPr>
            <p:cNvSpPr/>
            <p:nvPr/>
          </p:nvSpPr>
          <p:spPr>
            <a:xfrm rot="16200000">
              <a:off x="-128246" y="131692"/>
              <a:ext cx="4294561" cy="4031175"/>
            </a:xfrm>
            <a:prstGeom prst="flowChartManualOperation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Flowchart: Manual Operation 4">
              <a:extLst>
                <a:ext uri="{FF2B5EF4-FFF2-40B4-BE49-F238E27FC236}">
                  <a16:creationId xmlns:a16="http://schemas.microsoft.com/office/drawing/2014/main" id="{A1C6551A-6511-F750-AE25-68C70D57CEFA}"/>
                </a:ext>
              </a:extLst>
            </p:cNvPr>
            <p:cNvSpPr txBox="1"/>
            <p:nvPr/>
          </p:nvSpPr>
          <p:spPr>
            <a:xfrm>
              <a:off x="3448" y="858911"/>
              <a:ext cx="3378339" cy="257673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0" tIns="0" rIns="127000" bIns="0" numCol="1" spcCol="1270" anchor="t" anchorCtr="0">
              <a:noAutofit/>
            </a:bodyPr>
            <a:lstStyle/>
            <a:p>
              <a:pPr marL="0" lvl="0" indent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The code in the previous example corresponds to a critical segment; i.e.,</a:t>
              </a:r>
              <a:br>
                <a:rPr lang="en-US" sz="2000" kern="1200" dirty="0"/>
              </a:br>
              <a:r>
                <a:rPr lang="en-US" sz="2000" kern="1200" dirty="0"/>
                <a:t> </a:t>
              </a:r>
              <a:br>
                <a:rPr lang="en-US" sz="2000" kern="1200" dirty="0"/>
              </a:br>
              <a:r>
                <a:rPr lang="en-US" sz="2000" kern="1200" dirty="0"/>
                <a:t>“A segment that must be executed by only one thread at any time”. </a:t>
              </a:r>
              <a:endParaRPr lang="x-none" sz="2000" kern="1200" dirty="0"/>
            </a:p>
            <a:p>
              <a:pPr marL="228600" lvl="1" indent="-228600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kern="1200" dirty="0"/>
                <a:t>Critical segments in </a:t>
              </a:r>
              <a:r>
                <a:rPr lang="en-US" sz="2000" kern="1200" dirty="0" err="1"/>
                <a:t>Pthreads</a:t>
              </a:r>
              <a:r>
                <a:rPr lang="en-US" sz="2000" kern="1200" dirty="0"/>
                <a:t> are implemented using </a:t>
              </a:r>
              <a:r>
                <a:rPr lang="en-US" sz="2000" kern="1200" dirty="0" err="1"/>
                <a:t>mutex</a:t>
              </a:r>
              <a:r>
                <a:rPr lang="en-US" sz="2000" kern="1200" dirty="0"/>
                <a:t> locks</a:t>
              </a:r>
              <a:r>
                <a:rPr lang="en-US" sz="1500" kern="1200" dirty="0"/>
                <a:t>.</a:t>
              </a:r>
              <a:endParaRPr lang="x-none" sz="1500" kern="12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380B522-E63B-7010-9CE4-DAAB2064BBF2}"/>
              </a:ext>
            </a:extLst>
          </p:cNvPr>
          <p:cNvGrpSpPr/>
          <p:nvPr/>
        </p:nvGrpSpPr>
        <p:grpSpPr>
          <a:xfrm>
            <a:off x="6723529" y="1781887"/>
            <a:ext cx="3388659" cy="3596938"/>
            <a:chOff x="4333766" y="17092"/>
            <a:chExt cx="2671146" cy="4260376"/>
          </a:xfrm>
          <a:scene3d>
            <a:camera prst="orthographicFront"/>
            <a:lightRig rig="flat" dir="t"/>
          </a:scene3d>
        </p:grpSpPr>
        <p:sp>
          <p:nvSpPr>
            <p:cNvPr id="14" name="Flowchart: Manual Operation 13">
              <a:extLst>
                <a:ext uri="{FF2B5EF4-FFF2-40B4-BE49-F238E27FC236}">
                  <a16:creationId xmlns:a16="http://schemas.microsoft.com/office/drawing/2014/main" id="{7B350B7E-40C7-B440-ADF3-0091E02F4EB6}"/>
                </a:ext>
              </a:extLst>
            </p:cNvPr>
            <p:cNvSpPr/>
            <p:nvPr/>
          </p:nvSpPr>
          <p:spPr>
            <a:xfrm rot="16200000">
              <a:off x="3540748" y="813304"/>
              <a:ext cx="4260376" cy="2667952"/>
            </a:xfrm>
            <a:prstGeom prst="flowChartManualOperation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Flowchart: Manual Operation 6">
              <a:extLst>
                <a:ext uri="{FF2B5EF4-FFF2-40B4-BE49-F238E27FC236}">
                  <a16:creationId xmlns:a16="http://schemas.microsoft.com/office/drawing/2014/main" id="{4AECD81C-BF23-D6C5-7F2A-FA3BB0B19868}"/>
                </a:ext>
              </a:extLst>
            </p:cNvPr>
            <p:cNvSpPr txBox="1"/>
            <p:nvPr/>
          </p:nvSpPr>
          <p:spPr>
            <a:xfrm>
              <a:off x="4333766" y="869168"/>
              <a:ext cx="2667952" cy="2556226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0" tIns="0" rIns="127000" bIns="0" numCol="1" spcCol="1270" anchor="t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 err="1"/>
                <a:t>Mutex</a:t>
              </a:r>
              <a:r>
                <a:rPr lang="en-US" sz="2000" kern="1200" dirty="0"/>
                <a:t>-locks have two states:. </a:t>
              </a:r>
              <a:endParaRPr lang="x-none" sz="2000" kern="1200" dirty="0"/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kern="1200" dirty="0"/>
                <a:t>locked and </a:t>
              </a:r>
              <a:endParaRPr lang="x-none" sz="2000" kern="1200" dirty="0"/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kern="1200" dirty="0"/>
                <a:t>Unlocked</a:t>
              </a:r>
              <a:br>
                <a:rPr lang="en-US" sz="2000" kern="1200" dirty="0"/>
              </a:br>
              <a:br>
                <a:rPr lang="en-US" sz="2000" kern="1200" dirty="0"/>
              </a:br>
              <a:r>
                <a:rPr lang="en-US" sz="2000" kern="1200" dirty="0"/>
                <a:t>At any point of time, only one thread can lock a </a:t>
              </a:r>
              <a:r>
                <a:rPr lang="en-US" sz="2000" kern="1200" dirty="0" err="1"/>
                <a:t>mutex</a:t>
              </a:r>
              <a:r>
                <a:rPr lang="en-US" sz="2000" kern="1200" dirty="0"/>
                <a:t> lock. </a:t>
              </a:r>
              <a:endParaRPr lang="x-none" sz="20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181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2">
            <a:extLst>
              <a:ext uri="{FF2B5EF4-FFF2-40B4-BE49-F238E27FC236}">
                <a16:creationId xmlns:a16="http://schemas.microsoft.com/office/drawing/2014/main" id="{5A8C81AE-8F0D-49F3-9FB4-334B0DCD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1" name="Picture 44">
            <a:extLst>
              <a:ext uri="{FF2B5EF4-FFF2-40B4-BE49-F238E27FC236}">
                <a16:creationId xmlns:a16="http://schemas.microsoft.com/office/drawing/2014/main" id="{29DA4B2B-B54E-43B4-A1A4-EB704F7F3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01" t="54841" r="-1"/>
          <a:stretch/>
        </p:blipFill>
        <p:spPr>
          <a:xfrm>
            <a:off x="0" y="0"/>
            <a:ext cx="872377" cy="838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811" y="208100"/>
            <a:ext cx="8646459" cy="1573786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Synchronization Primitives of threads</a:t>
            </a:r>
            <a:endParaRPr lang="x-none" dirty="0">
              <a:solidFill>
                <a:schemeClr val="tx2"/>
              </a:solidFill>
            </a:endParaRPr>
          </a:p>
        </p:txBody>
      </p:sp>
      <p:pic>
        <p:nvPicPr>
          <p:cNvPr id="52" name="Picture 46">
            <a:extLst>
              <a:ext uri="{FF2B5EF4-FFF2-40B4-BE49-F238E27FC236}">
                <a16:creationId xmlns:a16="http://schemas.microsoft.com/office/drawing/2014/main" id="{1C32610F-5445-4E12-87F6-F0591ABE7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9279ECF-D6B3-AF9C-916F-7564A456491B}"/>
              </a:ext>
            </a:extLst>
          </p:cNvPr>
          <p:cNvGrpSpPr/>
          <p:nvPr/>
        </p:nvGrpSpPr>
        <p:grpSpPr>
          <a:xfrm>
            <a:off x="2430378" y="1832045"/>
            <a:ext cx="5902481" cy="956928"/>
            <a:chOff x="286153" y="171587"/>
            <a:chExt cx="5902481" cy="956928"/>
          </a:xfrm>
          <a:scene3d>
            <a:camera prst="orthographicFront"/>
            <a:lightRig rig="flat" dir="t"/>
          </a:scene3d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09E944E3-C75F-9DE6-AE5F-5BF3B00D2907}"/>
                </a:ext>
              </a:extLst>
            </p:cNvPr>
            <p:cNvSpPr/>
            <p:nvPr/>
          </p:nvSpPr>
          <p:spPr>
            <a:xfrm>
              <a:off x="286153" y="171587"/>
              <a:ext cx="5902481" cy="956928"/>
            </a:xfrm>
            <a:prstGeom prst="roundRect">
              <a:avLst>
                <a:gd name="adj" fmla="val 1000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A0FDA452-C197-ADBD-1393-F1342036BD8A}"/>
                </a:ext>
              </a:extLst>
            </p:cNvPr>
            <p:cNvSpPr txBox="1"/>
            <p:nvPr/>
          </p:nvSpPr>
          <p:spPr>
            <a:xfrm>
              <a:off x="314180" y="199614"/>
              <a:ext cx="4636943" cy="900874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A lock is an atomic operation.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50941BE-5429-777C-2F35-B144171572C1}"/>
              </a:ext>
            </a:extLst>
          </p:cNvPr>
          <p:cNvGrpSpPr/>
          <p:nvPr/>
        </p:nvGrpSpPr>
        <p:grpSpPr>
          <a:xfrm>
            <a:off x="2697918" y="3077229"/>
            <a:ext cx="6474788" cy="1300103"/>
            <a:chOff x="645182" y="1422595"/>
            <a:chExt cx="6474788" cy="1300103"/>
          </a:xfrm>
          <a:scene3d>
            <a:camera prst="orthographicFront"/>
            <a:lightRig rig="flat" dir="t"/>
          </a:scene3d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4FDB1C8C-7A00-F2C3-985E-6100D8284571}"/>
                </a:ext>
              </a:extLst>
            </p:cNvPr>
            <p:cNvSpPr/>
            <p:nvPr/>
          </p:nvSpPr>
          <p:spPr>
            <a:xfrm>
              <a:off x="645182" y="1422595"/>
              <a:ext cx="6474788" cy="1300103"/>
            </a:xfrm>
            <a:prstGeom prst="roundRect">
              <a:avLst>
                <a:gd name="adj" fmla="val 10000"/>
              </a:avLst>
            </a:prstGeom>
            <a:ln>
              <a:solidFill>
                <a:schemeClr val="accent1"/>
              </a:solidFill>
            </a:ln>
            <a:sp3d prstMaterial="plastic">
              <a:bevelT w="120900" h="88900"/>
              <a:bevelB w="88900" h="31750" prst="angle"/>
            </a:sp3d>
          </p:spPr>
          <p:style>
            <a:lnRef idx="0">
              <a:scrgbClr r="0" g="0" b="0"/>
            </a:lnRef>
            <a:fillRef idx="3">
              <a:schemeClr val="accent2">
                <a:hueOff val="-752677"/>
                <a:satOff val="-3174"/>
                <a:lumOff val="1569"/>
                <a:alphaOff val="0"/>
              </a:schemeClr>
            </a:fillRef>
            <a:effectRef idx="2">
              <a:schemeClr val="accent2">
                <a:hueOff val="-752677"/>
                <a:satOff val="-3174"/>
                <a:lumOff val="1569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ectangle: Rounded Corners 6">
              <a:extLst>
                <a:ext uri="{FF2B5EF4-FFF2-40B4-BE49-F238E27FC236}">
                  <a16:creationId xmlns:a16="http://schemas.microsoft.com/office/drawing/2014/main" id="{3EAD3B21-92FA-4E56-981E-55FB4C3252CF}"/>
                </a:ext>
              </a:extLst>
            </p:cNvPr>
            <p:cNvSpPr txBox="1"/>
            <p:nvPr/>
          </p:nvSpPr>
          <p:spPr>
            <a:xfrm>
              <a:off x="683261" y="1460674"/>
              <a:ext cx="4982258" cy="1223945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A thread entering a critical segment first tries to get a lock. 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7F19BF5-278C-857F-48DA-C32C45C0A1FD}"/>
              </a:ext>
            </a:extLst>
          </p:cNvPr>
          <p:cNvGrpSpPr/>
          <p:nvPr/>
        </p:nvGrpSpPr>
        <p:grpSpPr>
          <a:xfrm>
            <a:off x="3127809" y="4743975"/>
            <a:ext cx="6474788" cy="1300103"/>
            <a:chOff x="1142609" y="3033575"/>
            <a:chExt cx="6474788" cy="1300103"/>
          </a:xfrm>
          <a:scene3d>
            <a:camera prst="orthographicFront"/>
            <a:lightRig rig="flat" dir="t"/>
          </a:scene3d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3073107-5388-1C0B-F74F-892B99855F07}"/>
                </a:ext>
              </a:extLst>
            </p:cNvPr>
            <p:cNvSpPr/>
            <p:nvPr/>
          </p:nvSpPr>
          <p:spPr>
            <a:xfrm>
              <a:off x="1142609" y="3033575"/>
              <a:ext cx="6474788" cy="1300103"/>
            </a:xfrm>
            <a:prstGeom prst="roundRect">
              <a:avLst>
                <a:gd name="adj" fmla="val 1000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-1505353"/>
                <a:satOff val="-6347"/>
                <a:lumOff val="3137"/>
                <a:alphaOff val="0"/>
              </a:schemeClr>
            </a:fillRef>
            <a:effectRef idx="2">
              <a:schemeClr val="accent2">
                <a:hueOff val="-1505353"/>
                <a:satOff val="-6347"/>
                <a:lumOff val="3137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Rectangle: Rounded Corners 8">
              <a:extLst>
                <a:ext uri="{FF2B5EF4-FFF2-40B4-BE49-F238E27FC236}">
                  <a16:creationId xmlns:a16="http://schemas.microsoft.com/office/drawing/2014/main" id="{5E7D83FF-8D7F-CEDB-D840-A4AD8EEF9922}"/>
                </a:ext>
              </a:extLst>
            </p:cNvPr>
            <p:cNvSpPr txBox="1"/>
            <p:nvPr/>
          </p:nvSpPr>
          <p:spPr>
            <a:xfrm>
              <a:off x="1180688" y="3071654"/>
              <a:ext cx="4982258" cy="1223945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It goes ahead when the lock is granted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394613F-11AD-DC14-0237-F3F6FE61936F}"/>
              </a:ext>
            </a:extLst>
          </p:cNvPr>
          <p:cNvGrpSpPr/>
          <p:nvPr/>
        </p:nvGrpSpPr>
        <p:grpSpPr>
          <a:xfrm>
            <a:off x="7637709" y="2603565"/>
            <a:ext cx="845067" cy="845067"/>
            <a:chOff x="5629720" y="985911"/>
            <a:chExt cx="845067" cy="845067"/>
          </a:xfrm>
          <a:scene3d>
            <a:camera prst="orthographicFront"/>
            <a:lightRig rig="flat" dir="t"/>
          </a:scene3d>
        </p:grpSpPr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9A05731A-F196-3427-4EDC-C4C7DC55E941}"/>
                </a:ext>
              </a:extLst>
            </p:cNvPr>
            <p:cNvSpPr/>
            <p:nvPr/>
          </p:nvSpPr>
          <p:spPr>
            <a:xfrm>
              <a:off x="5629720" y="985911"/>
              <a:ext cx="845067" cy="845067"/>
            </a:xfrm>
            <a:prstGeom prst="downArrow">
              <a:avLst>
                <a:gd name="adj1" fmla="val 55000"/>
                <a:gd name="adj2" fmla="val 45000"/>
              </a:avLst>
            </a:prstGeom>
            <a:sp3d z="190500" extrusionH="12700" prstMaterial="plastic">
              <a:bevelT w="50800" h="50800"/>
            </a:sp3d>
          </p:spPr>
          <p:style>
            <a:ln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Arrow: Down 4">
              <a:extLst>
                <a:ext uri="{FF2B5EF4-FFF2-40B4-BE49-F238E27FC236}">
                  <a16:creationId xmlns:a16="http://schemas.microsoft.com/office/drawing/2014/main" id="{7E378D56-7074-7E50-B50B-2728249254B9}"/>
                </a:ext>
              </a:extLst>
            </p:cNvPr>
            <p:cNvSpPr txBox="1"/>
            <p:nvPr/>
          </p:nvSpPr>
          <p:spPr>
            <a:xfrm>
              <a:off x="5819860" y="985911"/>
              <a:ext cx="464787" cy="635913"/>
            </a:xfrm>
            <a:prstGeom prst="rect">
              <a:avLst/>
            </a:prstGeom>
            <a:sp3d z="1905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3600" kern="120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79BEB6A-9B92-E5CB-9871-E12FADB8418C}"/>
              </a:ext>
            </a:extLst>
          </p:cNvPr>
          <p:cNvGrpSpPr/>
          <p:nvPr/>
        </p:nvGrpSpPr>
        <p:grpSpPr>
          <a:xfrm>
            <a:off x="8134615" y="4197308"/>
            <a:ext cx="845067" cy="845067"/>
            <a:chOff x="6126626" y="2579654"/>
            <a:chExt cx="845067" cy="845067"/>
          </a:xfrm>
          <a:scene3d>
            <a:camera prst="orthographicFront"/>
            <a:lightRig rig="flat" dir="t"/>
          </a:scene3d>
        </p:grpSpPr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DF804706-125D-E485-45BB-D6D1DBC2824E}"/>
                </a:ext>
              </a:extLst>
            </p:cNvPr>
            <p:cNvSpPr/>
            <p:nvPr/>
          </p:nvSpPr>
          <p:spPr>
            <a:xfrm>
              <a:off x="6126626" y="2579654"/>
              <a:ext cx="845067" cy="845067"/>
            </a:xfrm>
            <a:prstGeom prst="downArrow">
              <a:avLst>
                <a:gd name="adj1" fmla="val 55000"/>
                <a:gd name="adj2" fmla="val 45000"/>
              </a:avLst>
            </a:prstGeom>
            <a:sp3d z="190500" extrusionH="12700" prstMaterial="plastic">
              <a:bevelT w="50800" h="50800"/>
            </a:sp3d>
          </p:spPr>
          <p:style>
            <a:lnRef idx="1">
              <a:schemeClr val="accent2">
                <a:tint val="40000"/>
                <a:alpha val="90000"/>
                <a:hueOff val="-1138838"/>
                <a:satOff val="934"/>
                <a:lumOff val="451"/>
                <a:alphaOff val="0"/>
              </a:schemeClr>
            </a:lnRef>
            <a:fillRef idx="1">
              <a:schemeClr val="accent2">
                <a:tint val="40000"/>
                <a:alpha val="90000"/>
                <a:hueOff val="-1138838"/>
                <a:satOff val="934"/>
                <a:lumOff val="451"/>
                <a:alphaOff val="0"/>
              </a:schemeClr>
            </a:fillRef>
            <a:effectRef idx="2">
              <a:schemeClr val="accent2">
                <a:tint val="40000"/>
                <a:alpha val="90000"/>
                <a:hueOff val="-1138838"/>
                <a:satOff val="934"/>
                <a:lumOff val="451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" name="Arrow: Down 6">
              <a:extLst>
                <a:ext uri="{FF2B5EF4-FFF2-40B4-BE49-F238E27FC236}">
                  <a16:creationId xmlns:a16="http://schemas.microsoft.com/office/drawing/2014/main" id="{03A8FA89-9F5F-A2B1-6AFF-C5E858571156}"/>
                </a:ext>
              </a:extLst>
            </p:cNvPr>
            <p:cNvSpPr txBox="1"/>
            <p:nvPr/>
          </p:nvSpPr>
          <p:spPr>
            <a:xfrm>
              <a:off x="6316766" y="2579654"/>
              <a:ext cx="464787" cy="635913"/>
            </a:xfrm>
            <a:prstGeom prst="rect">
              <a:avLst/>
            </a:prstGeom>
            <a:sp3d z="1905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36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191492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19B4B-DD16-5DF2-E34B-4765F6BA2C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2" r="15486" b="-2"/>
          <a:stretch/>
        </p:blipFill>
        <p:spPr>
          <a:xfrm>
            <a:off x="3048" y="10"/>
            <a:ext cx="6195372" cy="46182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2AEC3-B371-83A9-2DBA-0BB306161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876800"/>
            <a:ext cx="10003218" cy="121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x-none" sz="4100" dirty="0"/>
              <a:t>CS621 Parallel and Distributed Computing</a:t>
            </a:r>
            <a:endParaRPr lang="en-US" sz="4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7D0A4-286C-034D-8B8B-FADC6513A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3200" y="369204"/>
            <a:ext cx="4800600" cy="39359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Mutex Locks</a:t>
            </a:r>
          </a:p>
        </p:txBody>
      </p:sp>
    </p:spTree>
    <p:extLst>
      <p:ext uri="{BB962C8B-B14F-4D97-AF65-F5344CB8AC3E}">
        <p14:creationId xmlns:p14="http://schemas.microsoft.com/office/powerpoint/2010/main" val="8787386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 altLang="x-none" sz="3700" dirty="0">
                <a:ea typeface="ＭＳ Ｐゴシック" panose="020B0600070205080204" pitchFamily="34" charset="-128"/>
              </a:rPr>
              <a:t>Objectives</a:t>
            </a:r>
            <a:endParaRPr lang="x-none" sz="3700"/>
          </a:p>
        </p:txBody>
      </p:sp>
      <p:graphicFrame>
        <p:nvGraphicFramePr>
          <p:cNvPr id="36" name="Rectangle 3">
            <a:extLst>
              <a:ext uri="{FF2B5EF4-FFF2-40B4-BE49-F238E27FC236}">
                <a16:creationId xmlns:a16="http://schemas.microsoft.com/office/drawing/2014/main" id="{BC8A9704-B22C-9F3F-529F-C75DC38357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7729420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157604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3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dirty="0"/>
              <a:t>Mutual Exclusion</a:t>
            </a:r>
            <a:endParaRPr lang="x-none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62C7C6F-7685-173F-3E6B-8E4C0D117681}"/>
              </a:ext>
            </a:extLst>
          </p:cNvPr>
          <p:cNvGrpSpPr/>
          <p:nvPr/>
        </p:nvGrpSpPr>
        <p:grpSpPr>
          <a:xfrm>
            <a:off x="1943100" y="3543957"/>
            <a:ext cx="8305800" cy="2354625"/>
            <a:chOff x="0" y="920004"/>
            <a:chExt cx="8305800" cy="235462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4836A28-5749-484B-357F-519D65CC5139}"/>
                </a:ext>
              </a:extLst>
            </p:cNvPr>
            <p:cNvSpPr/>
            <p:nvPr/>
          </p:nvSpPr>
          <p:spPr>
            <a:xfrm>
              <a:off x="0" y="920004"/>
              <a:ext cx="8305800" cy="2354625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3138BDE-E4BF-22CA-5351-9DE5DFEE6BE7}"/>
                </a:ext>
              </a:extLst>
            </p:cNvPr>
            <p:cNvSpPr txBox="1"/>
            <p:nvPr/>
          </p:nvSpPr>
          <p:spPr>
            <a:xfrm>
              <a:off x="0" y="920004"/>
              <a:ext cx="8305800" cy="23546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4622" tIns="1353820" rIns="644622" bIns="142240" numCol="1" spcCol="1270" anchor="t" anchorCtr="0">
              <a:noAutofit/>
            </a:bodyPr>
            <a:lstStyle/>
            <a:p>
              <a:pPr marL="228600" lvl="1" indent="-228600" algn="l" defTabSz="889000" rtl="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000" kern="1200" dirty="0" err="1"/>
                <a:t>int</a:t>
              </a:r>
              <a:r>
                <a:rPr lang="en-US" sz="2000" kern="1200" dirty="0"/>
                <a:t> </a:t>
              </a:r>
              <a:r>
                <a:rPr lang="en-US" sz="2000" kern="1200" dirty="0" err="1"/>
                <a:t>pthread_mutex_lock</a:t>
              </a:r>
              <a:r>
                <a:rPr lang="en-US" sz="2000" kern="1200" dirty="0"/>
                <a:t> (</a:t>
              </a:r>
              <a:r>
                <a:rPr lang="en-US" sz="2000" kern="1200" dirty="0" err="1"/>
                <a:t>pthread_mutex_t</a:t>
              </a:r>
              <a:r>
                <a:rPr lang="en-US" sz="2000" kern="1200" dirty="0"/>
                <a:t> *</a:t>
              </a:r>
              <a:r>
                <a:rPr lang="en-US" sz="2000" kern="1200" dirty="0" err="1"/>
                <a:t>mutex_lock</a:t>
              </a:r>
              <a:r>
                <a:rPr lang="en-US" sz="2000" kern="1200" dirty="0"/>
                <a:t>);</a:t>
              </a:r>
              <a:br>
                <a:rPr lang="en-US" sz="4000" kern="1200" dirty="0"/>
              </a:br>
              <a:r>
                <a:rPr lang="en-US" sz="4000" kern="1200" dirty="0"/>
                <a:t> 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1E0A10E-B3E8-C659-7DF8-864B2D3F34D9}"/>
              </a:ext>
            </a:extLst>
          </p:cNvPr>
          <p:cNvGrpSpPr/>
          <p:nvPr/>
        </p:nvGrpSpPr>
        <p:grpSpPr>
          <a:xfrm>
            <a:off x="2324099" y="2895806"/>
            <a:ext cx="6377965" cy="1233922"/>
            <a:chOff x="380999" y="271853"/>
            <a:chExt cx="6377965" cy="1233922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1A1ABC9-CF81-BA28-66D9-D019116BA6BD}"/>
                </a:ext>
              </a:extLst>
            </p:cNvPr>
            <p:cNvSpPr/>
            <p:nvPr/>
          </p:nvSpPr>
          <p:spPr>
            <a:xfrm>
              <a:off x="380999" y="271853"/>
              <a:ext cx="6377965" cy="123392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ectangle: Rounded Corners 6">
              <a:extLst>
                <a:ext uri="{FF2B5EF4-FFF2-40B4-BE49-F238E27FC236}">
                  <a16:creationId xmlns:a16="http://schemas.microsoft.com/office/drawing/2014/main" id="{126273AC-5633-D073-E6F5-F12178CF9DCF}"/>
                </a:ext>
              </a:extLst>
            </p:cNvPr>
            <p:cNvSpPr txBox="1"/>
            <p:nvPr/>
          </p:nvSpPr>
          <p:spPr>
            <a:xfrm>
              <a:off x="441234" y="332088"/>
              <a:ext cx="6257495" cy="11134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19758" tIns="0" rIns="219758" bIns="0" numCol="1" spcCol="1270" anchor="ctr" anchorCtr="0">
              <a:noAutofit/>
            </a:bodyPr>
            <a:lstStyle/>
            <a:p>
              <a:pPr marL="0" lvl="0" indent="0" algn="l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The </a:t>
              </a:r>
              <a:r>
                <a:rPr lang="en-US" sz="2000" kern="1200" dirty="0" err="1"/>
                <a:t>Pthreads</a:t>
              </a:r>
              <a:r>
                <a:rPr lang="en-US" sz="2000" kern="1200" dirty="0"/>
                <a:t> API functions for handling </a:t>
              </a:r>
              <a:r>
                <a:rPr lang="en-US" sz="2000" kern="1200" dirty="0" err="1"/>
                <a:t>mutex</a:t>
              </a:r>
              <a:r>
                <a:rPr lang="en-US" sz="2000" kern="1200" dirty="0"/>
                <a:t>-locks:</a:t>
              </a:r>
              <a:br>
                <a:rPr lang="en-US" sz="1700" kern="1200" dirty="0"/>
              </a:br>
              <a:r>
                <a:rPr lang="en-US" sz="1700" kern="120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747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3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dirty="0"/>
              <a:t>Mutual Exclusion </a:t>
            </a:r>
            <a:r>
              <a:rPr lang="en-US" dirty="0" err="1"/>
              <a:t>Cont</a:t>
            </a:r>
            <a:r>
              <a:rPr lang="en-US" dirty="0"/>
              <a:t>… </a:t>
            </a:r>
            <a:endParaRPr lang="x-non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AE19F7-3A2B-616E-4BD6-4BEE4A2A2614}"/>
              </a:ext>
            </a:extLst>
          </p:cNvPr>
          <p:cNvSpPr/>
          <p:nvPr/>
        </p:nvSpPr>
        <p:spPr>
          <a:xfrm>
            <a:off x="2327730" y="3416540"/>
            <a:ext cx="7475220" cy="679565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05C813-1CCA-C6FD-99D1-30051EB5837E}"/>
              </a:ext>
            </a:extLst>
          </p:cNvPr>
          <p:cNvGrpSpPr/>
          <p:nvPr/>
        </p:nvGrpSpPr>
        <p:grpSpPr>
          <a:xfrm>
            <a:off x="2086031" y="3616263"/>
            <a:ext cx="7475220" cy="679565"/>
            <a:chOff x="125002" y="928123"/>
            <a:chExt cx="7475220" cy="679565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BDCECE4-60C9-4AEA-7C1B-73C7E132CB30}"/>
                </a:ext>
              </a:extLst>
            </p:cNvPr>
            <p:cNvSpPr/>
            <p:nvPr/>
          </p:nvSpPr>
          <p:spPr>
            <a:xfrm>
              <a:off x="125002" y="928123"/>
              <a:ext cx="7475220" cy="67956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6F441E7-F278-ACC9-C5CE-71127233F365}"/>
                </a:ext>
              </a:extLst>
            </p:cNvPr>
            <p:cNvSpPr txBox="1"/>
            <p:nvPr/>
          </p:nvSpPr>
          <p:spPr>
            <a:xfrm>
              <a:off x="125002" y="928123"/>
              <a:ext cx="7475220" cy="6795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b" anchorCtr="0">
              <a:noAutofit/>
            </a:bodyPr>
            <a:lstStyle/>
            <a:p>
              <a:pPr marL="0" lvl="0" indent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100" kern="1200" dirty="0"/>
                <a:t>The </a:t>
              </a:r>
              <a:r>
                <a:rPr lang="en-US" sz="2100" kern="1200" dirty="0" err="1"/>
                <a:t>Pthreads</a:t>
              </a:r>
              <a:r>
                <a:rPr lang="en-US" sz="2100" kern="1200" dirty="0"/>
                <a:t> API functions for handling </a:t>
              </a:r>
              <a:r>
                <a:rPr lang="en-US" sz="2100" kern="1200" dirty="0" err="1"/>
                <a:t>mutex</a:t>
              </a:r>
              <a:r>
                <a:rPr lang="en-US" sz="2100" kern="1200" dirty="0"/>
                <a:t>-locks:</a:t>
              </a:r>
              <a:br>
                <a:rPr lang="en-US" sz="2100" kern="1200" dirty="0"/>
              </a:br>
              <a:r>
                <a:rPr lang="en-US" sz="2100" kern="1200" dirty="0"/>
                <a:t> </a:t>
              </a:r>
            </a:p>
          </p:txBody>
        </p:sp>
      </p:grp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4A066FAD-CAEE-05E9-E985-8069F94D0D41}"/>
              </a:ext>
            </a:extLst>
          </p:cNvPr>
          <p:cNvSpPr/>
          <p:nvPr/>
        </p:nvSpPr>
        <p:spPr>
          <a:xfrm>
            <a:off x="2086031" y="4295828"/>
            <a:ext cx="1749201" cy="1384300"/>
          </a:xfrm>
          <a:prstGeom prst="chevron">
            <a:avLst>
              <a:gd name="adj" fmla="val 70610"/>
            </a:avLst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1C6E5FBF-36BC-313A-FCA0-B00B4B0D6AB4}"/>
              </a:ext>
            </a:extLst>
          </p:cNvPr>
          <p:cNvSpPr/>
          <p:nvPr/>
        </p:nvSpPr>
        <p:spPr>
          <a:xfrm>
            <a:off x="3136714" y="4295828"/>
            <a:ext cx="1749201" cy="1384300"/>
          </a:xfrm>
          <a:prstGeom prst="chevron">
            <a:avLst>
              <a:gd name="adj" fmla="val 70610"/>
            </a:avLst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8F3CAB45-5C5C-9C9E-D1C2-CCE5500DA381}"/>
              </a:ext>
            </a:extLst>
          </p:cNvPr>
          <p:cNvSpPr/>
          <p:nvPr/>
        </p:nvSpPr>
        <p:spPr>
          <a:xfrm>
            <a:off x="4188229" y="4295828"/>
            <a:ext cx="1749201" cy="1384300"/>
          </a:xfrm>
          <a:prstGeom prst="chevron">
            <a:avLst>
              <a:gd name="adj" fmla="val 70610"/>
            </a:avLst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B9A142D9-49CB-1F36-4E3C-CCD2659C656F}"/>
              </a:ext>
            </a:extLst>
          </p:cNvPr>
          <p:cNvSpPr/>
          <p:nvPr/>
        </p:nvSpPr>
        <p:spPr>
          <a:xfrm>
            <a:off x="5238912" y="4295828"/>
            <a:ext cx="1749201" cy="1384300"/>
          </a:xfrm>
          <a:prstGeom prst="chevron">
            <a:avLst>
              <a:gd name="adj" fmla="val 70610"/>
            </a:avLst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BD9DE0C5-65ED-B03C-8396-5B51EC39032F}"/>
              </a:ext>
            </a:extLst>
          </p:cNvPr>
          <p:cNvSpPr/>
          <p:nvPr/>
        </p:nvSpPr>
        <p:spPr>
          <a:xfrm>
            <a:off x="6290427" y="4295828"/>
            <a:ext cx="1749201" cy="1384300"/>
          </a:xfrm>
          <a:prstGeom prst="chevron">
            <a:avLst>
              <a:gd name="adj" fmla="val 70610"/>
            </a:avLst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1E1EE6B3-EEF4-2005-8F2A-8CC948CCF175}"/>
              </a:ext>
            </a:extLst>
          </p:cNvPr>
          <p:cNvSpPr/>
          <p:nvPr/>
        </p:nvSpPr>
        <p:spPr>
          <a:xfrm>
            <a:off x="7341110" y="4295828"/>
            <a:ext cx="1749201" cy="1384300"/>
          </a:xfrm>
          <a:prstGeom prst="chevron">
            <a:avLst>
              <a:gd name="adj" fmla="val 70610"/>
            </a:avLst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A962B939-F26D-72F8-82C6-0C3DA4740930}"/>
              </a:ext>
            </a:extLst>
          </p:cNvPr>
          <p:cNvSpPr/>
          <p:nvPr/>
        </p:nvSpPr>
        <p:spPr>
          <a:xfrm>
            <a:off x="8392625" y="4295828"/>
            <a:ext cx="1749201" cy="1384300"/>
          </a:xfrm>
          <a:prstGeom prst="chevron">
            <a:avLst>
              <a:gd name="adj" fmla="val 70610"/>
            </a:avLst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533745C-7DBA-A615-32B8-6101BB1419CB}"/>
              </a:ext>
            </a:extLst>
          </p:cNvPr>
          <p:cNvGrpSpPr/>
          <p:nvPr/>
        </p:nvGrpSpPr>
        <p:grpSpPr>
          <a:xfrm>
            <a:off x="2086031" y="4434258"/>
            <a:ext cx="7572397" cy="1107440"/>
            <a:chOff x="125002" y="1746118"/>
            <a:chExt cx="7572397" cy="110744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A93C3C4-A463-1680-EFCD-5766AB878DBD}"/>
                </a:ext>
              </a:extLst>
            </p:cNvPr>
            <p:cNvSpPr/>
            <p:nvPr/>
          </p:nvSpPr>
          <p:spPr>
            <a:xfrm>
              <a:off x="125002" y="1746118"/>
              <a:ext cx="7572397" cy="110744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6233C30-6952-4065-0B36-9260C8646185}"/>
                </a:ext>
              </a:extLst>
            </p:cNvPr>
            <p:cNvSpPr txBox="1"/>
            <p:nvPr/>
          </p:nvSpPr>
          <p:spPr>
            <a:xfrm>
              <a:off x="125002" y="1746118"/>
              <a:ext cx="7572397" cy="11074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8260" tIns="48260" rIns="48260" bIns="48260" numCol="1" spcCol="1270" anchor="ctr" anchorCtr="0">
              <a:noAutofit/>
            </a:bodyPr>
            <a:lstStyle/>
            <a:p>
              <a:pPr marL="0" lvl="0" indent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100" kern="1200" dirty="0" err="1"/>
                <a:t>int</a:t>
              </a:r>
              <a:r>
                <a:rPr lang="en-US" sz="2100" kern="1200" dirty="0"/>
                <a:t> </a:t>
              </a:r>
              <a:r>
                <a:rPr lang="en-US" sz="2100" kern="1200" dirty="0" err="1"/>
                <a:t>pthread_mutex_unlock</a:t>
              </a:r>
              <a:r>
                <a:rPr lang="en-US" sz="2100" kern="1200" dirty="0"/>
                <a:t> (</a:t>
              </a:r>
              <a:r>
                <a:rPr lang="en-US" sz="2100" kern="1200" dirty="0" err="1"/>
                <a:t>pthread_mutex_t</a:t>
              </a:r>
              <a:r>
                <a:rPr lang="en-US" sz="2100" kern="1200" dirty="0"/>
                <a:t> *</a:t>
              </a:r>
              <a:r>
                <a:rPr lang="en-US" sz="2100" kern="1200" dirty="0" err="1"/>
                <a:t>mutex_lock</a:t>
              </a:r>
              <a:r>
                <a:rPr lang="en-US" sz="2100" kern="1200" dirty="0"/>
                <a:t>);</a:t>
              </a:r>
              <a:br>
                <a:rPr lang="en-US" sz="2100" kern="1200" dirty="0"/>
              </a:br>
              <a:r>
                <a:rPr lang="en-US" sz="2100" kern="120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919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3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dirty="0"/>
              <a:t>Mutual Exclusion </a:t>
            </a:r>
            <a:r>
              <a:rPr lang="en-US" dirty="0" err="1"/>
              <a:t>Cont</a:t>
            </a:r>
            <a:r>
              <a:rPr lang="en-US" dirty="0"/>
              <a:t>… </a:t>
            </a:r>
            <a:endParaRPr lang="x-none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62C7C6F-7685-173F-3E6B-8E4C0D117681}"/>
              </a:ext>
            </a:extLst>
          </p:cNvPr>
          <p:cNvGrpSpPr/>
          <p:nvPr/>
        </p:nvGrpSpPr>
        <p:grpSpPr>
          <a:xfrm>
            <a:off x="1943100" y="3543957"/>
            <a:ext cx="8305800" cy="2354625"/>
            <a:chOff x="0" y="920004"/>
            <a:chExt cx="8305800" cy="235462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4836A28-5749-484B-357F-519D65CC5139}"/>
                </a:ext>
              </a:extLst>
            </p:cNvPr>
            <p:cNvSpPr/>
            <p:nvPr/>
          </p:nvSpPr>
          <p:spPr>
            <a:xfrm>
              <a:off x="0" y="920004"/>
              <a:ext cx="8305800" cy="2354625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3138BDE-E4BF-22CA-5351-9DE5DFEE6BE7}"/>
                </a:ext>
              </a:extLst>
            </p:cNvPr>
            <p:cNvSpPr txBox="1"/>
            <p:nvPr/>
          </p:nvSpPr>
          <p:spPr>
            <a:xfrm>
              <a:off x="0" y="920004"/>
              <a:ext cx="8305800" cy="23546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4622" tIns="1353820" rIns="644622" bIns="142240" numCol="1" spcCol="1270" anchor="t" anchorCtr="0">
              <a:noAutofit/>
            </a:bodyPr>
            <a:lstStyle/>
            <a:p>
              <a:pPr marL="228600" lvl="1" indent="-228600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en-US" sz="2100" dirty="0"/>
                <a:t>int </a:t>
              </a:r>
              <a:r>
                <a:rPr lang="en-US" sz="2100" dirty="0" err="1"/>
                <a:t>pthread_mutex_init</a:t>
              </a:r>
              <a:r>
                <a:rPr lang="en-US" sz="2100" dirty="0"/>
                <a:t> ( </a:t>
              </a:r>
              <a:r>
                <a:rPr lang="en-US" sz="2100" dirty="0" err="1"/>
                <a:t>pthread_mutex_t</a:t>
              </a:r>
              <a:r>
                <a:rPr lang="en-US" sz="2100" dirty="0"/>
                <a:t> 	*</a:t>
              </a:r>
              <a:r>
                <a:rPr lang="en-US" sz="2100" dirty="0" err="1"/>
                <a:t>mutex_lock</a:t>
              </a:r>
              <a:r>
                <a:rPr lang="en-US" sz="2100" dirty="0"/>
                <a:t>, const </a:t>
              </a:r>
              <a:r>
                <a:rPr lang="en-US" sz="2100" dirty="0" err="1"/>
                <a:t>pthread_mutexattr_t</a:t>
              </a:r>
              <a:r>
                <a:rPr lang="en-US" sz="2100" dirty="0"/>
                <a:t> *</a:t>
              </a:r>
              <a:r>
                <a:rPr lang="en-US" sz="2100" dirty="0" err="1"/>
                <a:t>lock_attr</a:t>
              </a:r>
              <a:r>
                <a:rPr lang="en-US" sz="2100" dirty="0"/>
                <a:t>); </a:t>
              </a:r>
            </a:p>
            <a:p>
              <a:pPr marL="0" lvl="1" algn="l" defTabSz="889000" rtl="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br>
                <a:rPr lang="en-US" sz="4000" kern="1200" dirty="0"/>
              </a:br>
              <a:r>
                <a:rPr lang="en-US" sz="4000" kern="1200" dirty="0"/>
                <a:t> 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1E0A10E-B3E8-C659-7DF8-864B2D3F34D9}"/>
              </a:ext>
            </a:extLst>
          </p:cNvPr>
          <p:cNvGrpSpPr/>
          <p:nvPr/>
        </p:nvGrpSpPr>
        <p:grpSpPr>
          <a:xfrm>
            <a:off x="2324099" y="2895806"/>
            <a:ext cx="6377965" cy="1233922"/>
            <a:chOff x="380999" y="271853"/>
            <a:chExt cx="6377965" cy="1233922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1A1ABC9-CF81-BA28-66D9-D019116BA6BD}"/>
                </a:ext>
              </a:extLst>
            </p:cNvPr>
            <p:cNvSpPr/>
            <p:nvPr/>
          </p:nvSpPr>
          <p:spPr>
            <a:xfrm>
              <a:off x="380999" y="271853"/>
              <a:ext cx="6377965" cy="123392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ectangle: Rounded Corners 6">
              <a:extLst>
                <a:ext uri="{FF2B5EF4-FFF2-40B4-BE49-F238E27FC236}">
                  <a16:creationId xmlns:a16="http://schemas.microsoft.com/office/drawing/2014/main" id="{126273AC-5633-D073-E6F5-F12178CF9DCF}"/>
                </a:ext>
              </a:extLst>
            </p:cNvPr>
            <p:cNvSpPr txBox="1"/>
            <p:nvPr/>
          </p:nvSpPr>
          <p:spPr>
            <a:xfrm>
              <a:off x="441234" y="332088"/>
              <a:ext cx="6257495" cy="11134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19758" tIns="0" rIns="219758" bIns="0" numCol="1" spcCol="1270" anchor="ctr" anchorCtr="0">
              <a:noAutofit/>
            </a:bodyPr>
            <a:lstStyle/>
            <a:p>
              <a:pPr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/>
                <a:t>The </a:t>
              </a:r>
              <a:r>
                <a:rPr lang="en-US" sz="2000" dirty="0" err="1"/>
                <a:t>Pthreads</a:t>
              </a:r>
              <a:r>
                <a:rPr lang="en-US" sz="2000" dirty="0"/>
                <a:t> API functions for handling mutex-locks:</a:t>
              </a:r>
              <a:br>
                <a:rPr lang="en-US" sz="1700" kern="1200" dirty="0"/>
              </a:br>
              <a:r>
                <a:rPr lang="en-US" sz="1700" kern="120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3265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2">
            <a:extLst>
              <a:ext uri="{FF2B5EF4-FFF2-40B4-BE49-F238E27FC236}">
                <a16:creationId xmlns:a16="http://schemas.microsoft.com/office/drawing/2014/main" id="{5A8C81AE-8F0D-49F3-9FB4-334B0DCD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1" name="Picture 44">
            <a:extLst>
              <a:ext uri="{FF2B5EF4-FFF2-40B4-BE49-F238E27FC236}">
                <a16:creationId xmlns:a16="http://schemas.microsoft.com/office/drawing/2014/main" id="{29DA4B2B-B54E-43B4-A1A4-EB704F7F3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01" t="54841" r="-1"/>
          <a:stretch/>
        </p:blipFill>
        <p:spPr>
          <a:xfrm>
            <a:off x="0" y="0"/>
            <a:ext cx="872377" cy="838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812" y="208100"/>
            <a:ext cx="7955224" cy="1573786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1"/>
                </a:solidFill>
              </a:rPr>
              <a:t>Producer-Consumer Using Mutex Locks</a:t>
            </a:r>
            <a:endParaRPr lang="x-none" sz="4000" dirty="0">
              <a:solidFill>
                <a:schemeClr val="tx2"/>
              </a:solidFill>
            </a:endParaRPr>
          </a:p>
        </p:txBody>
      </p:sp>
      <p:pic>
        <p:nvPicPr>
          <p:cNvPr id="52" name="Picture 46">
            <a:extLst>
              <a:ext uri="{FF2B5EF4-FFF2-40B4-BE49-F238E27FC236}">
                <a16:creationId xmlns:a16="http://schemas.microsoft.com/office/drawing/2014/main" id="{1C32610F-5445-4E12-87F6-F0591ABE7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BC2E1E8-9E6B-7752-EE50-BF2F5AA2B8BF}"/>
              </a:ext>
            </a:extLst>
          </p:cNvPr>
          <p:cNvSpPr/>
          <p:nvPr/>
        </p:nvSpPr>
        <p:spPr>
          <a:xfrm>
            <a:off x="2230913" y="1794425"/>
            <a:ext cx="7617398" cy="885721"/>
          </a:xfrm>
          <a:prstGeom prst="roundRect">
            <a:avLst>
              <a:gd name="adj" fmla="val 10000"/>
            </a:avLst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1" name="Rectangle 20" descr="Processor">
            <a:extLst>
              <a:ext uri="{FF2B5EF4-FFF2-40B4-BE49-F238E27FC236}">
                <a16:creationId xmlns:a16="http://schemas.microsoft.com/office/drawing/2014/main" id="{0853113D-A20A-0E9A-D4E3-69C158E85F26}"/>
              </a:ext>
            </a:extLst>
          </p:cNvPr>
          <p:cNvSpPr/>
          <p:nvPr/>
        </p:nvSpPr>
        <p:spPr>
          <a:xfrm>
            <a:off x="2484418" y="2006825"/>
            <a:ext cx="460920" cy="460920"/>
          </a:xfrm>
          <a:prstGeom prst="rect">
            <a:avLst/>
          </a:prstGeom>
          <a:blipFill rotWithShape="1">
            <a:blip r:embed="rId5"/>
            <a:srcRect/>
            <a:stretch>
              <a:fillRect/>
            </a:stretch>
          </a:blip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2BF4C11-AB8B-AC1A-F0DB-46AAE0B98D7C}"/>
              </a:ext>
            </a:extLst>
          </p:cNvPr>
          <p:cNvGrpSpPr/>
          <p:nvPr/>
        </p:nvGrpSpPr>
        <p:grpSpPr>
          <a:xfrm>
            <a:off x="3084174" y="1682031"/>
            <a:ext cx="6876913" cy="1110507"/>
            <a:chOff x="796873" y="7503"/>
            <a:chExt cx="6876913" cy="111050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EDF3E2C-37C1-54AE-0713-370C342E51FC}"/>
                </a:ext>
              </a:extLst>
            </p:cNvPr>
            <p:cNvSpPr/>
            <p:nvPr/>
          </p:nvSpPr>
          <p:spPr>
            <a:xfrm>
              <a:off x="796873" y="7503"/>
              <a:ext cx="6876913" cy="111050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C07E511-1D00-DCFD-9079-E31C591A4449}"/>
                </a:ext>
              </a:extLst>
            </p:cNvPr>
            <p:cNvSpPr txBox="1"/>
            <p:nvPr/>
          </p:nvSpPr>
          <p:spPr>
            <a:xfrm>
              <a:off x="796873" y="7503"/>
              <a:ext cx="6876913" cy="111050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692" tIns="88692" rIns="88692" bIns="88692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The producer-consumer scenario imposes the following constraints: </a:t>
              </a:r>
              <a:endParaRPr lang="en-US" sz="1700" kern="1200" dirty="0"/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E494CB6-CABA-EE37-84F7-325E6E03B01A}"/>
              </a:ext>
            </a:extLst>
          </p:cNvPr>
          <p:cNvSpPr/>
          <p:nvPr/>
        </p:nvSpPr>
        <p:spPr>
          <a:xfrm>
            <a:off x="2279359" y="2958034"/>
            <a:ext cx="7617398" cy="903562"/>
          </a:xfrm>
          <a:prstGeom prst="roundRect">
            <a:avLst>
              <a:gd name="adj" fmla="val 10000"/>
            </a:avLst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4" name="Rectangle 23" descr="Computer">
            <a:extLst>
              <a:ext uri="{FF2B5EF4-FFF2-40B4-BE49-F238E27FC236}">
                <a16:creationId xmlns:a16="http://schemas.microsoft.com/office/drawing/2014/main" id="{BD000C83-CD58-B035-CC99-F234978377CA}"/>
              </a:ext>
            </a:extLst>
          </p:cNvPr>
          <p:cNvSpPr/>
          <p:nvPr/>
        </p:nvSpPr>
        <p:spPr>
          <a:xfrm>
            <a:off x="2475241" y="3198899"/>
            <a:ext cx="460920" cy="46092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55D068A-417D-82F8-8A7D-9443FE8D78CC}"/>
              </a:ext>
            </a:extLst>
          </p:cNvPr>
          <p:cNvGrpSpPr/>
          <p:nvPr/>
        </p:nvGrpSpPr>
        <p:grpSpPr>
          <a:xfrm>
            <a:off x="3006464" y="3025527"/>
            <a:ext cx="6647572" cy="721246"/>
            <a:chOff x="719163" y="1350999"/>
            <a:chExt cx="6647572" cy="721246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5FEACDC-B7ED-5F7D-87B7-B573527B5047}"/>
                </a:ext>
              </a:extLst>
            </p:cNvPr>
            <p:cNvSpPr/>
            <p:nvPr/>
          </p:nvSpPr>
          <p:spPr>
            <a:xfrm>
              <a:off x="719163" y="1350999"/>
              <a:ext cx="6647572" cy="721246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90FA409-9331-BE34-A088-5FB470E42217}"/>
                </a:ext>
              </a:extLst>
            </p:cNvPr>
            <p:cNvSpPr txBox="1"/>
            <p:nvPr/>
          </p:nvSpPr>
          <p:spPr>
            <a:xfrm>
              <a:off x="719163" y="1350999"/>
              <a:ext cx="6647572" cy="7212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2361" tIns="82361" rIns="82361" bIns="82361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kern="1200" dirty="0"/>
                <a:t>The producer thread must not overwrite the shared buffer when the previous task has not been picked up by a consumer thread. </a:t>
              </a:r>
            </a:p>
          </p:txBody>
        </p:sp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A8A09DB-89C6-C3A8-7CC3-9A6F4723E82C}"/>
              </a:ext>
            </a:extLst>
          </p:cNvPr>
          <p:cNvSpPr/>
          <p:nvPr/>
        </p:nvSpPr>
        <p:spPr>
          <a:xfrm>
            <a:off x="2247366" y="4176649"/>
            <a:ext cx="7617398" cy="838036"/>
          </a:xfrm>
          <a:prstGeom prst="roundRect">
            <a:avLst>
              <a:gd name="adj" fmla="val 10000"/>
            </a:avLst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35BB65-7294-9236-8C20-282879723AD0}"/>
              </a:ext>
            </a:extLst>
          </p:cNvPr>
          <p:cNvSpPr/>
          <p:nvPr/>
        </p:nvSpPr>
        <p:spPr>
          <a:xfrm>
            <a:off x="2526237" y="4386801"/>
            <a:ext cx="460920" cy="46092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A902427-63B3-398D-A34B-D995B2DA3301}"/>
              </a:ext>
            </a:extLst>
          </p:cNvPr>
          <p:cNvGrpSpPr/>
          <p:nvPr/>
        </p:nvGrpSpPr>
        <p:grpSpPr>
          <a:xfrm>
            <a:off x="3229556" y="4176649"/>
            <a:ext cx="6647572" cy="838036"/>
            <a:chOff x="942255" y="2502121"/>
            <a:chExt cx="6647572" cy="838036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CCCC6DA-5956-4B46-E7EE-5E4C3E1B9F92}"/>
                </a:ext>
              </a:extLst>
            </p:cNvPr>
            <p:cNvSpPr/>
            <p:nvPr/>
          </p:nvSpPr>
          <p:spPr>
            <a:xfrm>
              <a:off x="942255" y="2502121"/>
              <a:ext cx="6647572" cy="838036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54148A8-E40D-2FF9-7E2E-2A5EE6F77C35}"/>
                </a:ext>
              </a:extLst>
            </p:cNvPr>
            <p:cNvSpPr txBox="1"/>
            <p:nvPr/>
          </p:nvSpPr>
          <p:spPr>
            <a:xfrm>
              <a:off x="942255" y="2502121"/>
              <a:ext cx="6647572" cy="8380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692" tIns="88692" rIns="88692" bIns="88692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kern="1200" dirty="0"/>
                <a:t>The consumer threads must not pick up tasks until there is something present in the shared data structure</a:t>
              </a:r>
            </a:p>
          </p:txBody>
        </p:sp>
      </p:grp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2A6D804-E48E-EEDC-35C8-ABD8F138B3E5}"/>
              </a:ext>
            </a:extLst>
          </p:cNvPr>
          <p:cNvSpPr/>
          <p:nvPr/>
        </p:nvSpPr>
        <p:spPr>
          <a:xfrm>
            <a:off x="2230913" y="5177544"/>
            <a:ext cx="7617398" cy="779029"/>
          </a:xfrm>
          <a:prstGeom prst="roundRect">
            <a:avLst>
              <a:gd name="adj" fmla="val 10000"/>
            </a:avLst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8A2BEFD-CB8C-6A10-8005-546C4A61A319}"/>
              </a:ext>
            </a:extLst>
          </p:cNvPr>
          <p:cNvSpPr/>
          <p:nvPr/>
        </p:nvSpPr>
        <p:spPr>
          <a:xfrm>
            <a:off x="2484418" y="5336598"/>
            <a:ext cx="460920" cy="46092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2A4B4F4-4AAC-E641-DFC9-65300CABB048}"/>
              </a:ext>
            </a:extLst>
          </p:cNvPr>
          <p:cNvGrpSpPr/>
          <p:nvPr/>
        </p:nvGrpSpPr>
        <p:grpSpPr>
          <a:xfrm>
            <a:off x="3198844" y="5162666"/>
            <a:ext cx="6647572" cy="838036"/>
            <a:chOff x="911543" y="3488138"/>
            <a:chExt cx="6647572" cy="838036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AADC94A-ACC7-D3F3-2E2B-41C55CBD51D9}"/>
                </a:ext>
              </a:extLst>
            </p:cNvPr>
            <p:cNvSpPr/>
            <p:nvPr/>
          </p:nvSpPr>
          <p:spPr>
            <a:xfrm>
              <a:off x="911543" y="3488138"/>
              <a:ext cx="6647572" cy="838036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8E8FCF9-1A03-C0D8-903A-0B9E8D76305C}"/>
                </a:ext>
              </a:extLst>
            </p:cNvPr>
            <p:cNvSpPr txBox="1"/>
            <p:nvPr/>
          </p:nvSpPr>
          <p:spPr>
            <a:xfrm>
              <a:off x="911543" y="3488138"/>
              <a:ext cx="6647572" cy="8380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692" tIns="88692" rIns="88692" bIns="88692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kern="1200" dirty="0"/>
                <a:t>Individual consumer threads should pick up tasks one at a time.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9391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2">
            <a:extLst>
              <a:ext uri="{FF2B5EF4-FFF2-40B4-BE49-F238E27FC236}">
                <a16:creationId xmlns:a16="http://schemas.microsoft.com/office/drawing/2014/main" id="{5A8C81AE-8F0D-49F3-9FB4-334B0DCD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1" name="Picture 44">
            <a:extLst>
              <a:ext uri="{FF2B5EF4-FFF2-40B4-BE49-F238E27FC236}">
                <a16:creationId xmlns:a16="http://schemas.microsoft.com/office/drawing/2014/main" id="{29DA4B2B-B54E-43B4-A1A4-EB704F7F3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01" t="54841" r="-1"/>
          <a:stretch/>
        </p:blipFill>
        <p:spPr>
          <a:xfrm>
            <a:off x="0" y="0"/>
            <a:ext cx="872377" cy="838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812" y="208100"/>
            <a:ext cx="7955224" cy="1573786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altLang="x-none" sz="4000" dirty="0">
                <a:solidFill>
                  <a:schemeClr val="tx2"/>
                </a:solidFill>
                <a:ea typeface="ＭＳ Ｐゴシック" panose="020B0600070205080204" pitchFamily="34" charset="-128"/>
              </a:rPr>
              <a:t>Types of mutex</a:t>
            </a:r>
            <a:endParaRPr lang="x-none" sz="4000" dirty="0">
              <a:solidFill>
                <a:schemeClr val="tx2"/>
              </a:solidFill>
            </a:endParaRPr>
          </a:p>
        </p:txBody>
      </p:sp>
      <p:pic>
        <p:nvPicPr>
          <p:cNvPr id="52" name="Picture 46">
            <a:extLst>
              <a:ext uri="{FF2B5EF4-FFF2-40B4-BE49-F238E27FC236}">
                <a16:creationId xmlns:a16="http://schemas.microsoft.com/office/drawing/2014/main" id="{1C32610F-5445-4E12-87F6-F0591ABE7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35FEACDC-B7ED-5F7D-87B7-B573527B5047}"/>
              </a:ext>
            </a:extLst>
          </p:cNvPr>
          <p:cNvSpPr/>
          <p:nvPr/>
        </p:nvSpPr>
        <p:spPr>
          <a:xfrm>
            <a:off x="3006464" y="3025527"/>
            <a:ext cx="6647572" cy="721246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bg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F88A77A-CB80-E623-31A2-B1BDFD55CC34}"/>
              </a:ext>
            </a:extLst>
          </p:cNvPr>
          <p:cNvSpPr/>
          <p:nvPr/>
        </p:nvSpPr>
        <p:spPr>
          <a:xfrm>
            <a:off x="2376946" y="1974078"/>
            <a:ext cx="7617398" cy="1072769"/>
          </a:xfrm>
          <a:prstGeom prst="roundRect">
            <a:avLst>
              <a:gd name="adj" fmla="val 10000"/>
            </a:avLst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4" name="Rectangle 3" descr="Processor">
            <a:extLst>
              <a:ext uri="{FF2B5EF4-FFF2-40B4-BE49-F238E27FC236}">
                <a16:creationId xmlns:a16="http://schemas.microsoft.com/office/drawing/2014/main" id="{65369E68-5E0C-09EB-4594-A300C22E13D7}"/>
              </a:ext>
            </a:extLst>
          </p:cNvPr>
          <p:cNvSpPr/>
          <p:nvPr/>
        </p:nvSpPr>
        <p:spPr>
          <a:xfrm>
            <a:off x="2751408" y="2170042"/>
            <a:ext cx="680840" cy="680840"/>
          </a:xfrm>
          <a:prstGeom prst="rect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F3E4BF-E564-C13C-2F8C-7D035953FDE3}"/>
              </a:ext>
            </a:extLst>
          </p:cNvPr>
          <p:cNvGrpSpPr/>
          <p:nvPr/>
        </p:nvGrpSpPr>
        <p:grpSpPr>
          <a:xfrm>
            <a:off x="3806710" y="1891517"/>
            <a:ext cx="6187633" cy="1237891"/>
            <a:chOff x="1429764" y="529"/>
            <a:chExt cx="6187633" cy="123789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4EBF803-B2F3-FAF9-BBBE-2BA063E5D9FE}"/>
                </a:ext>
              </a:extLst>
            </p:cNvPr>
            <p:cNvSpPr/>
            <p:nvPr/>
          </p:nvSpPr>
          <p:spPr>
            <a:xfrm>
              <a:off x="1429764" y="529"/>
              <a:ext cx="6187633" cy="123789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1FEDF14-6D7D-904A-580A-E31732E58841}"/>
                </a:ext>
              </a:extLst>
            </p:cNvPr>
            <p:cNvSpPr txBox="1"/>
            <p:nvPr/>
          </p:nvSpPr>
          <p:spPr>
            <a:xfrm>
              <a:off x="1429764" y="529"/>
              <a:ext cx="6187633" cy="123789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1010" tIns="131010" rIns="131010" bIns="13101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A normal </a:t>
              </a:r>
              <a:r>
                <a:rPr lang="en-US" sz="2000" kern="1200" dirty="0" err="1"/>
                <a:t>mutex</a:t>
              </a:r>
              <a:endParaRPr lang="en-US" sz="1700" kern="1200" dirty="0"/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E73C2C-5846-5542-1A5F-FAD97AA9B008}"/>
              </a:ext>
            </a:extLst>
          </p:cNvPr>
          <p:cNvSpPr/>
          <p:nvPr/>
        </p:nvSpPr>
        <p:spPr>
          <a:xfrm>
            <a:off x="2376946" y="3268634"/>
            <a:ext cx="7617398" cy="848030"/>
          </a:xfrm>
          <a:prstGeom prst="roundRect">
            <a:avLst>
              <a:gd name="adj" fmla="val 10000"/>
            </a:avLst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7" name="Rectangle 6" descr="Computer">
            <a:extLst>
              <a:ext uri="{FF2B5EF4-FFF2-40B4-BE49-F238E27FC236}">
                <a16:creationId xmlns:a16="http://schemas.microsoft.com/office/drawing/2014/main" id="{BD1966F6-8F83-FC90-EB75-CA24D6589036}"/>
              </a:ext>
            </a:extLst>
          </p:cNvPr>
          <p:cNvSpPr/>
          <p:nvPr/>
        </p:nvSpPr>
        <p:spPr>
          <a:xfrm>
            <a:off x="2755377" y="3383815"/>
            <a:ext cx="680840" cy="680840"/>
          </a:xfrm>
          <a:prstGeom prst="rect">
            <a:avLst/>
          </a:prstGeom>
          <a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BF8BB59-2B03-BC70-E8CE-AEC131BF04A7}"/>
              </a:ext>
            </a:extLst>
          </p:cNvPr>
          <p:cNvGrpSpPr/>
          <p:nvPr/>
        </p:nvGrpSpPr>
        <p:grpSpPr>
          <a:xfrm>
            <a:off x="3691806" y="3306749"/>
            <a:ext cx="6187633" cy="848030"/>
            <a:chOff x="1314860" y="1415761"/>
            <a:chExt cx="6187633" cy="84803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815A81E-A651-0A69-3F71-2CFFD313D398}"/>
                </a:ext>
              </a:extLst>
            </p:cNvPr>
            <p:cNvSpPr/>
            <p:nvPr/>
          </p:nvSpPr>
          <p:spPr>
            <a:xfrm>
              <a:off x="1314860" y="1415761"/>
              <a:ext cx="6187633" cy="84803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D0F6643-78F0-0131-88F8-4D2F2CA7D9FA}"/>
                </a:ext>
              </a:extLst>
            </p:cNvPr>
            <p:cNvSpPr txBox="1"/>
            <p:nvPr/>
          </p:nvSpPr>
          <p:spPr>
            <a:xfrm>
              <a:off x="1314860" y="1415761"/>
              <a:ext cx="6187633" cy="8480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1010" tIns="131010" rIns="131010" bIns="13101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A recursive </a:t>
              </a:r>
              <a:r>
                <a:rPr lang="en-US" sz="2000" kern="1200" dirty="0" err="1"/>
                <a:t>mutex</a:t>
              </a:r>
              <a:endParaRPr lang="en-US" sz="1700" kern="1200" dirty="0"/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CA2A1D-9ADB-960A-AE76-B9BE3A20DBB7}"/>
              </a:ext>
            </a:extLst>
          </p:cNvPr>
          <p:cNvSpPr/>
          <p:nvPr/>
        </p:nvSpPr>
        <p:spPr>
          <a:xfrm>
            <a:off x="2376946" y="4696765"/>
            <a:ext cx="7617398" cy="1237891"/>
          </a:xfrm>
          <a:prstGeom prst="roundRect">
            <a:avLst>
              <a:gd name="adj" fmla="val 10000"/>
            </a:avLst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/>
        </p:style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8706622-BFC3-C757-77BC-2E4E62C0ACD4}"/>
              </a:ext>
            </a:extLst>
          </p:cNvPr>
          <p:cNvGrpSpPr/>
          <p:nvPr/>
        </p:nvGrpSpPr>
        <p:grpSpPr>
          <a:xfrm>
            <a:off x="3806710" y="4696765"/>
            <a:ext cx="6187633" cy="1237891"/>
            <a:chOff x="1429764" y="2805777"/>
            <a:chExt cx="6187633" cy="123789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CA50614-6A84-4E83-8745-46804C832F9D}"/>
                </a:ext>
              </a:extLst>
            </p:cNvPr>
            <p:cNvSpPr/>
            <p:nvPr/>
          </p:nvSpPr>
          <p:spPr>
            <a:xfrm>
              <a:off x="1429764" y="2805777"/>
              <a:ext cx="6187633" cy="123789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3AD50F8-2575-7D92-A564-DAA845C6EA28}"/>
                </a:ext>
              </a:extLst>
            </p:cNvPr>
            <p:cNvSpPr txBox="1"/>
            <p:nvPr/>
          </p:nvSpPr>
          <p:spPr>
            <a:xfrm>
              <a:off x="1429764" y="2805777"/>
              <a:ext cx="6187633" cy="123789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1010" tIns="131010" rIns="131010" bIns="131010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kern="1200" dirty="0"/>
                <a:t>Error check </a:t>
              </a:r>
              <a:r>
                <a:rPr lang="en-US" sz="1700" kern="1200" dirty="0" err="1"/>
                <a:t>mutex</a:t>
              </a:r>
              <a:r>
                <a:rPr lang="en-US" sz="1700" kern="1200" dirty="0"/>
                <a:t> </a:t>
              </a:r>
            </a:p>
          </p:txBody>
        </p:sp>
      </p:grpSp>
      <p:sp>
        <p:nvSpPr>
          <p:cNvPr id="18" name="Rectangle 17" descr="Computer">
            <a:extLst>
              <a:ext uri="{FF2B5EF4-FFF2-40B4-BE49-F238E27FC236}">
                <a16:creationId xmlns:a16="http://schemas.microsoft.com/office/drawing/2014/main" id="{F76A7422-7EB9-719E-03D8-FB7AA40D1A10}"/>
              </a:ext>
            </a:extLst>
          </p:cNvPr>
          <p:cNvSpPr/>
          <p:nvPr/>
        </p:nvSpPr>
        <p:spPr>
          <a:xfrm>
            <a:off x="2751408" y="5020925"/>
            <a:ext cx="680840" cy="604968"/>
          </a:xfrm>
          <a:prstGeom prst="rect">
            <a:avLst/>
          </a:prstGeom>
          <a:blipFill rotWithShape="1">
            <a:blip r:embed="rId9"/>
            <a:stretch>
              <a:fillRect/>
            </a:stretch>
          </a:blip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10624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19B4B-DD16-5DF2-E34B-4765F6BA2C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2" r="15486" b="-2"/>
          <a:stretch/>
        </p:blipFill>
        <p:spPr>
          <a:xfrm>
            <a:off x="3048" y="10"/>
            <a:ext cx="6195372" cy="46182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2AEC3-B371-83A9-2DBA-0BB306161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876800"/>
            <a:ext cx="10003218" cy="121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x-none" sz="4100" dirty="0"/>
              <a:t>CS621 Parallel and Distributed Computing</a:t>
            </a:r>
            <a:endParaRPr lang="en-US" sz="4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7D0A4-286C-034D-8B8B-FADC6513A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3200" y="369204"/>
            <a:ext cx="4800600" cy="39359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Conditional Variable </a:t>
            </a:r>
          </a:p>
        </p:txBody>
      </p:sp>
    </p:spTree>
    <p:extLst>
      <p:ext uri="{BB962C8B-B14F-4D97-AF65-F5344CB8AC3E}">
        <p14:creationId xmlns:p14="http://schemas.microsoft.com/office/powerpoint/2010/main" val="36422455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 altLang="x-none" sz="3700" dirty="0">
                <a:ea typeface="ＭＳ Ｐゴシック" panose="020B0600070205080204" pitchFamily="34" charset="-128"/>
              </a:rPr>
              <a:t>Objectives</a:t>
            </a:r>
            <a:endParaRPr lang="x-none" sz="3700"/>
          </a:p>
        </p:txBody>
      </p:sp>
      <p:graphicFrame>
        <p:nvGraphicFramePr>
          <p:cNvPr id="36" name="Rectangle 3">
            <a:extLst>
              <a:ext uri="{FF2B5EF4-FFF2-40B4-BE49-F238E27FC236}">
                <a16:creationId xmlns:a16="http://schemas.microsoft.com/office/drawing/2014/main" id="{BC8A9704-B22C-9F3F-529F-C75DC38357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1157458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882454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2">
            <a:extLst>
              <a:ext uri="{FF2B5EF4-FFF2-40B4-BE49-F238E27FC236}">
                <a16:creationId xmlns:a16="http://schemas.microsoft.com/office/drawing/2014/main" id="{5A8C81AE-8F0D-49F3-9FB4-334B0DCD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1" name="Picture 44">
            <a:extLst>
              <a:ext uri="{FF2B5EF4-FFF2-40B4-BE49-F238E27FC236}">
                <a16:creationId xmlns:a16="http://schemas.microsoft.com/office/drawing/2014/main" id="{29DA4B2B-B54E-43B4-A1A4-EB704F7F3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01" t="54841" r="-1"/>
          <a:stretch/>
        </p:blipFill>
        <p:spPr>
          <a:xfrm>
            <a:off x="0" y="0"/>
            <a:ext cx="872377" cy="838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812" y="208100"/>
            <a:ext cx="7955224" cy="1573786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altLang="x-none" sz="4000" dirty="0">
                <a:solidFill>
                  <a:schemeClr val="tx2"/>
                </a:solidFill>
                <a:ea typeface="ＭＳ Ｐゴシック" panose="020B0600070205080204" pitchFamily="34" charset="-128"/>
              </a:rPr>
              <a:t>Locking Overhead</a:t>
            </a:r>
            <a:endParaRPr lang="x-none" sz="4000" dirty="0">
              <a:solidFill>
                <a:schemeClr val="tx2"/>
              </a:solidFill>
            </a:endParaRPr>
          </a:p>
        </p:txBody>
      </p:sp>
      <p:pic>
        <p:nvPicPr>
          <p:cNvPr id="52" name="Picture 46">
            <a:extLst>
              <a:ext uri="{FF2B5EF4-FFF2-40B4-BE49-F238E27FC236}">
                <a16:creationId xmlns:a16="http://schemas.microsoft.com/office/drawing/2014/main" id="{1C32610F-5445-4E12-87F6-F0591ABE7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815A81E-A651-0A69-3F71-2CFFD313D398}"/>
              </a:ext>
            </a:extLst>
          </p:cNvPr>
          <p:cNvSpPr/>
          <p:nvPr/>
        </p:nvSpPr>
        <p:spPr>
          <a:xfrm>
            <a:off x="3691806" y="3306749"/>
            <a:ext cx="6187633" cy="848030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bg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B6FD7A3-F585-E5FA-FA17-1CFAB63B9D75}"/>
              </a:ext>
            </a:extLst>
          </p:cNvPr>
          <p:cNvGrpSpPr/>
          <p:nvPr/>
        </p:nvGrpSpPr>
        <p:grpSpPr>
          <a:xfrm>
            <a:off x="6412674" y="3073326"/>
            <a:ext cx="2390769" cy="2245660"/>
            <a:chOff x="3756619" y="1585719"/>
            <a:chExt cx="2390769" cy="2245660"/>
          </a:xfrm>
          <a:scene3d>
            <a:camera prst="orthographicFront"/>
            <a:lightRig rig="flat" dir="t"/>
          </a:scene3d>
        </p:grpSpPr>
        <p:sp>
          <p:nvSpPr>
            <p:cNvPr id="22" name="Shape 21">
              <a:extLst>
                <a:ext uri="{FF2B5EF4-FFF2-40B4-BE49-F238E27FC236}">
                  <a16:creationId xmlns:a16="http://schemas.microsoft.com/office/drawing/2014/main" id="{9563C4A3-C888-EECF-6A9B-DEC371790ACB}"/>
                </a:ext>
              </a:extLst>
            </p:cNvPr>
            <p:cNvSpPr/>
            <p:nvPr/>
          </p:nvSpPr>
          <p:spPr>
            <a:xfrm>
              <a:off x="3756619" y="1585719"/>
              <a:ext cx="2390769" cy="2245660"/>
            </a:xfrm>
            <a:prstGeom prst="gear9">
              <a:avLst/>
            </a:prstGeom>
            <a:solidFill>
              <a:schemeClr val="accent4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Shape 4">
              <a:extLst>
                <a:ext uri="{FF2B5EF4-FFF2-40B4-BE49-F238E27FC236}">
                  <a16:creationId xmlns:a16="http://schemas.microsoft.com/office/drawing/2014/main" id="{F97CC5B6-14BB-8614-E15A-86B2CC0A59EA}"/>
                </a:ext>
              </a:extLst>
            </p:cNvPr>
            <p:cNvSpPr txBox="1"/>
            <p:nvPr/>
          </p:nvSpPr>
          <p:spPr>
            <a:xfrm>
              <a:off x="4226425" y="2111754"/>
              <a:ext cx="1451157" cy="1154316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Serialization issue</a:t>
              </a:r>
              <a:endParaRPr lang="en-US" sz="1700" kern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EAABC94-E983-17D8-2B95-FA6958D556E7}"/>
              </a:ext>
            </a:extLst>
          </p:cNvPr>
          <p:cNvGrpSpPr/>
          <p:nvPr/>
        </p:nvGrpSpPr>
        <p:grpSpPr>
          <a:xfrm>
            <a:off x="3388556" y="3086028"/>
            <a:ext cx="2940401" cy="2384008"/>
            <a:chOff x="732501" y="1598421"/>
            <a:chExt cx="2940401" cy="2384008"/>
          </a:xfrm>
          <a:scene3d>
            <a:camera prst="orthographicFront"/>
            <a:lightRig rig="flat" dir="t"/>
          </a:scene3d>
        </p:grpSpPr>
        <p:sp>
          <p:nvSpPr>
            <p:cNvPr id="20" name="Shape 19">
              <a:extLst>
                <a:ext uri="{FF2B5EF4-FFF2-40B4-BE49-F238E27FC236}">
                  <a16:creationId xmlns:a16="http://schemas.microsoft.com/office/drawing/2014/main" id="{4E8DDC6F-ABCB-74FE-8DF8-6451C19E339D}"/>
                </a:ext>
              </a:extLst>
            </p:cNvPr>
            <p:cNvSpPr/>
            <p:nvPr/>
          </p:nvSpPr>
          <p:spPr>
            <a:xfrm>
              <a:off x="732501" y="1598421"/>
              <a:ext cx="2940401" cy="2384008"/>
            </a:xfrm>
            <a:prstGeom prst="gear6">
              <a:avLst/>
            </a:prstGeom>
            <a:solidFill>
              <a:schemeClr val="accent1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Shape 6">
              <a:extLst>
                <a:ext uri="{FF2B5EF4-FFF2-40B4-BE49-F238E27FC236}">
                  <a16:creationId xmlns:a16="http://schemas.microsoft.com/office/drawing/2014/main" id="{AFEE3E5D-4172-6FAD-8BCD-DEC4004E7E67}"/>
                </a:ext>
              </a:extLst>
            </p:cNvPr>
            <p:cNvSpPr txBox="1"/>
            <p:nvPr/>
          </p:nvSpPr>
          <p:spPr>
            <a:xfrm>
              <a:off x="1413560" y="2202230"/>
              <a:ext cx="1578283" cy="117639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Performance issue</a:t>
              </a:r>
              <a:endParaRPr lang="en-US" sz="17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57909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283471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Locking overhead: Idling overheads</a:t>
            </a:r>
            <a:endParaRPr lang="x-none" dirty="0">
              <a:solidFill>
                <a:schemeClr val="tx2"/>
              </a:solidFill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42"/>
          <a:stretch/>
        </p:blipFill>
        <p:spPr>
          <a:xfrm rot="10800000">
            <a:off x="-1" y="2719661"/>
            <a:ext cx="830249" cy="254834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0056976-1CE1-11FC-F764-C5DEB692F428}"/>
              </a:ext>
            </a:extLst>
          </p:cNvPr>
          <p:cNvSpPr txBox="1">
            <a:spLocks/>
          </p:cNvSpPr>
          <p:nvPr/>
        </p:nvSpPr>
        <p:spPr>
          <a:xfrm>
            <a:off x="952499" y="2409825"/>
            <a:ext cx="9401175" cy="30122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x-none" sz="2400" b="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Rectangle 3">
            <a:extLst>
              <a:ext uri="{FF2B5EF4-FFF2-40B4-BE49-F238E27FC236}">
                <a16:creationId xmlns:a16="http://schemas.microsoft.com/office/drawing/2014/main" id="{B2E4C0F3-6DF7-C754-1D07-E5A7A134DB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8416329"/>
              </p:ext>
            </p:extLst>
          </p:nvPr>
        </p:nvGraphicFramePr>
        <p:xfrm>
          <a:off x="2153011" y="1843285"/>
          <a:ext cx="7617398" cy="4333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506015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BBB19D1-BB8A-4148-8970-ABFC5CCDB5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graphicEl>
                                              <a:dgm id="{3BBB19D1-BB8A-4148-8970-ABFC5CCDB5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graphicEl>
                                              <a:dgm id="{3BBB19D1-BB8A-4148-8970-ABFC5CCDB5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C76D1E2-9ECB-48A0-9A17-B34FBD58A5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graphicEl>
                                              <a:dgm id="{DC76D1E2-9ECB-48A0-9A17-B34FBD58A5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graphicEl>
                                              <a:dgm id="{DC76D1E2-9ECB-48A0-9A17-B34FBD58A5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D34C214-CC76-46C8-A31E-5D40A2FED3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graphicEl>
                                              <a:dgm id="{2D34C214-CC76-46C8-A31E-5D40A2FED3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graphicEl>
                                              <a:dgm id="{2D34C214-CC76-46C8-A31E-5D40A2FED3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F0C9F258-D9B8-4F90-855E-EA276507DF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graphicEl>
                                              <a:dgm id="{F0C9F258-D9B8-4F90-855E-EA276507DF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graphicEl>
                                              <a:dgm id="{F0C9F258-D9B8-4F90-855E-EA276507DF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2F3398C-7170-4EB3-92E4-29A1D158FE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graphicEl>
                                              <a:dgm id="{42F3398C-7170-4EB3-92E4-29A1D158FE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graphicEl>
                                              <a:dgm id="{42F3398C-7170-4EB3-92E4-29A1D158FE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one"/>
        </p:bldSub>
      </p:bldGraphic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283471"/>
          </a:xfrm>
        </p:spPr>
        <p:txBody>
          <a:bodyPr anchor="t">
            <a:normAutofit fontScale="90000"/>
          </a:bodyPr>
          <a:lstStyle/>
          <a:p>
            <a:r>
              <a:rPr lang="en-US" sz="4400" dirty="0">
                <a:solidFill>
                  <a:schemeClr val="tx2"/>
                </a:solidFill>
                <a:ea typeface="ＭＳ Ｐゴシック" panose="020B0600070205080204" pitchFamily="34" charset="-128"/>
              </a:rPr>
              <a:t>Conditional Variable in Synchronization</a:t>
            </a:r>
            <a:endParaRPr lang="x-none" dirty="0">
              <a:solidFill>
                <a:schemeClr val="tx2"/>
              </a:solidFill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42"/>
          <a:stretch/>
        </p:blipFill>
        <p:spPr>
          <a:xfrm rot="10800000">
            <a:off x="-1" y="2719661"/>
            <a:ext cx="830249" cy="254834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0056976-1CE1-11FC-F764-C5DEB692F428}"/>
              </a:ext>
            </a:extLst>
          </p:cNvPr>
          <p:cNvSpPr txBox="1">
            <a:spLocks/>
          </p:cNvSpPr>
          <p:nvPr/>
        </p:nvSpPr>
        <p:spPr>
          <a:xfrm>
            <a:off x="952499" y="2409825"/>
            <a:ext cx="9401175" cy="30122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x-none" sz="2400" b="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65C44DC-FF93-4943-B7A1-B4044EB3CC91}"/>
              </a:ext>
            </a:extLst>
          </p:cNvPr>
          <p:cNvGrpSpPr/>
          <p:nvPr/>
        </p:nvGrpSpPr>
        <p:grpSpPr>
          <a:xfrm>
            <a:off x="2562221" y="2162911"/>
            <a:ext cx="6474788" cy="1540388"/>
            <a:chOff x="92654" y="282967"/>
            <a:chExt cx="6474788" cy="1540388"/>
          </a:xfrm>
          <a:scene3d>
            <a:camera prst="orthographicFront"/>
            <a:lightRig rig="flat" dir="t"/>
          </a:scene3d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2413276-F261-ADDE-9B2A-E5D32BF05132}"/>
                </a:ext>
              </a:extLst>
            </p:cNvPr>
            <p:cNvSpPr/>
            <p:nvPr/>
          </p:nvSpPr>
          <p:spPr>
            <a:xfrm>
              <a:off x="92654" y="282967"/>
              <a:ext cx="6474788" cy="1540388"/>
            </a:xfrm>
            <a:prstGeom prst="roundRect">
              <a:avLst>
                <a:gd name="adj" fmla="val 1000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Rectangle: Rounded Corners 4">
              <a:extLst>
                <a:ext uri="{FF2B5EF4-FFF2-40B4-BE49-F238E27FC236}">
                  <a16:creationId xmlns:a16="http://schemas.microsoft.com/office/drawing/2014/main" id="{A95A2DDB-686D-A249-1546-9B42400CE093}"/>
                </a:ext>
              </a:extLst>
            </p:cNvPr>
            <p:cNvSpPr txBox="1"/>
            <p:nvPr/>
          </p:nvSpPr>
          <p:spPr>
            <a:xfrm>
              <a:off x="137770" y="328083"/>
              <a:ext cx="4483154" cy="1450156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Problem with </a:t>
              </a:r>
              <a:r>
                <a:rPr lang="en-US" sz="200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trylock</a:t>
              </a:r>
              <a:r>
                <a:rPr lang="en-US" sz="200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:</a:t>
              </a:r>
              <a:br>
                <a:rPr lang="en-US" sz="200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2000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trylock</a:t>
              </a:r>
              <a:r>
                <a:rPr lang="en-US" sz="2000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introduces the overhead of polling for availability of locks.  </a:t>
              </a:r>
              <a:endParaRPr lang="en-US" sz="2000" kern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BB16B8-AD66-78C9-83A2-88FA0119BF4C}"/>
              </a:ext>
            </a:extLst>
          </p:cNvPr>
          <p:cNvGrpSpPr/>
          <p:nvPr/>
        </p:nvGrpSpPr>
        <p:grpSpPr>
          <a:xfrm>
            <a:off x="3154991" y="4237276"/>
            <a:ext cx="6474788" cy="1067398"/>
            <a:chOff x="685424" y="2357332"/>
            <a:chExt cx="6474788" cy="1067398"/>
          </a:xfrm>
          <a:scene3d>
            <a:camera prst="orthographicFront"/>
            <a:lightRig rig="flat" dir="t"/>
          </a:scene3d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C8962FF-066D-BEDA-6F99-BB77344AE089}"/>
                </a:ext>
              </a:extLst>
            </p:cNvPr>
            <p:cNvSpPr/>
            <p:nvPr/>
          </p:nvSpPr>
          <p:spPr>
            <a:xfrm>
              <a:off x="685424" y="2357332"/>
              <a:ext cx="6474788" cy="1067398"/>
            </a:xfrm>
            <a:prstGeom prst="roundRect">
              <a:avLst>
                <a:gd name="adj" fmla="val 10000"/>
              </a:avLst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-1505353"/>
                <a:satOff val="-6347"/>
                <a:lumOff val="3137"/>
                <a:alphaOff val="0"/>
              </a:schemeClr>
            </a:fillRef>
            <a:effectRef idx="2">
              <a:schemeClr val="accent2">
                <a:hueOff val="-1505353"/>
                <a:satOff val="-6347"/>
                <a:lumOff val="3137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ectangle: Rounded Corners 6">
              <a:extLst>
                <a:ext uri="{FF2B5EF4-FFF2-40B4-BE49-F238E27FC236}">
                  <a16:creationId xmlns:a16="http://schemas.microsoft.com/office/drawing/2014/main" id="{35E6ABFB-1A19-F144-9390-51465B8CFEA1}"/>
                </a:ext>
              </a:extLst>
            </p:cNvPr>
            <p:cNvSpPr txBox="1"/>
            <p:nvPr/>
          </p:nvSpPr>
          <p:spPr>
            <a:xfrm>
              <a:off x="716687" y="2388595"/>
              <a:ext cx="4002051" cy="100487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Solution:</a:t>
              </a:r>
              <a:br>
                <a:rPr lang="en-US" sz="2000" kern="1200" dirty="0"/>
              </a:br>
              <a:r>
                <a:rPr lang="en-US" sz="2000" kern="1200" dirty="0"/>
                <a:t>            Condition Variable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010F909-DD16-2BE6-4602-201FD027B47C}"/>
              </a:ext>
            </a:extLst>
          </p:cNvPr>
          <p:cNvGrpSpPr/>
          <p:nvPr/>
        </p:nvGrpSpPr>
        <p:grpSpPr>
          <a:xfrm>
            <a:off x="7676754" y="3465658"/>
            <a:ext cx="1267601" cy="1162250"/>
            <a:chOff x="5207187" y="1585714"/>
            <a:chExt cx="1267601" cy="1162250"/>
          </a:xfrm>
          <a:scene3d>
            <a:camera prst="orthographicFront"/>
            <a:lightRig rig="flat" dir="t"/>
          </a:scene3d>
        </p:grpSpPr>
        <p:sp>
          <p:nvSpPr>
            <p:cNvPr id="13" name="Arrow: Down 12">
              <a:extLst>
                <a:ext uri="{FF2B5EF4-FFF2-40B4-BE49-F238E27FC236}">
                  <a16:creationId xmlns:a16="http://schemas.microsoft.com/office/drawing/2014/main" id="{F284E7D2-01D3-8FAE-FC62-2E2D69931ED1}"/>
                </a:ext>
              </a:extLst>
            </p:cNvPr>
            <p:cNvSpPr/>
            <p:nvPr/>
          </p:nvSpPr>
          <p:spPr>
            <a:xfrm>
              <a:off x="5207187" y="1585714"/>
              <a:ext cx="1267601" cy="1162250"/>
            </a:xfrm>
            <a:prstGeom prst="downArrow">
              <a:avLst>
                <a:gd name="adj1" fmla="val 55000"/>
                <a:gd name="adj2" fmla="val 45000"/>
              </a:avLst>
            </a:prstGeom>
            <a:sp3d z="190500" extrusionH="12700" prstMaterial="plastic">
              <a:bevelT w="50800" h="50800"/>
            </a:sp3d>
          </p:spPr>
          <p:style>
            <a:ln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Arrow: Down 8">
              <a:extLst>
                <a:ext uri="{FF2B5EF4-FFF2-40B4-BE49-F238E27FC236}">
                  <a16:creationId xmlns:a16="http://schemas.microsoft.com/office/drawing/2014/main" id="{677CFA11-433A-8062-2D6A-B5E8EE190D3A}"/>
                </a:ext>
              </a:extLst>
            </p:cNvPr>
            <p:cNvSpPr txBox="1"/>
            <p:nvPr/>
          </p:nvSpPr>
          <p:spPr>
            <a:xfrm>
              <a:off x="5492397" y="1585714"/>
              <a:ext cx="697181" cy="874593"/>
            </a:xfrm>
            <a:prstGeom prst="rect">
              <a:avLst/>
            </a:prstGeom>
            <a:sp3d z="1905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36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1078390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3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sz="4400" dirty="0"/>
              <a:t>What is conditional variable?</a:t>
            </a:r>
            <a:endParaRPr lang="x-none" dirty="0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339367BD-7BC0-7B29-1E07-88C865E4A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8157" y="2606674"/>
            <a:ext cx="7886700" cy="3538540"/>
          </a:xfrm>
        </p:spPr>
        <p:txBody>
          <a:bodyPr/>
          <a:lstStyle/>
          <a:p>
            <a:endParaRPr lang="en-US" dirty="0"/>
          </a:p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“A condition variable is a </a:t>
            </a:r>
            <a:r>
              <a:rPr lang="en-US" sz="2000" dirty="0">
                <a:solidFill>
                  <a:srgbClr val="0070C0"/>
                </a:solidFill>
              </a:rPr>
              <a:t>data object </a:t>
            </a:r>
            <a:r>
              <a:rPr lang="en-US" sz="2000" dirty="0">
                <a:solidFill>
                  <a:schemeClr val="tx1"/>
                </a:solidFill>
              </a:rPr>
              <a:t>used for synchronizing threads. This variable allows a thread to block itself until </a:t>
            </a:r>
            <a:r>
              <a:rPr lang="en-US" sz="2000" dirty="0">
                <a:solidFill>
                  <a:srgbClr val="0070C0"/>
                </a:solidFill>
              </a:rPr>
              <a:t>specified data</a:t>
            </a:r>
            <a:r>
              <a:rPr lang="en-US" sz="2000" dirty="0">
                <a:solidFill>
                  <a:schemeClr val="tx1"/>
                </a:solidFill>
              </a:rPr>
              <a:t> reaches a </a:t>
            </a:r>
            <a:r>
              <a:rPr lang="en-US" sz="2000" dirty="0">
                <a:solidFill>
                  <a:srgbClr val="0070C0"/>
                </a:solidFill>
              </a:rPr>
              <a:t>predefined state</a:t>
            </a:r>
            <a:r>
              <a:rPr lang="en-US" sz="2000" dirty="0">
                <a:solidFill>
                  <a:schemeClr val="tx1"/>
                </a:solidFill>
              </a:rPr>
              <a:t>”,</a:t>
            </a:r>
          </a:p>
        </p:txBody>
      </p:sp>
    </p:spTree>
    <p:extLst>
      <p:ext uri="{BB962C8B-B14F-4D97-AF65-F5344CB8AC3E}">
        <p14:creationId xmlns:p14="http://schemas.microsoft.com/office/powerpoint/2010/main" val="27928339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2">
            <a:extLst>
              <a:ext uri="{FF2B5EF4-FFF2-40B4-BE49-F238E27FC236}">
                <a16:creationId xmlns:a16="http://schemas.microsoft.com/office/drawing/2014/main" id="{5A8C81AE-8F0D-49F3-9FB4-334B0DCD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1" name="Picture 44">
            <a:extLst>
              <a:ext uri="{FF2B5EF4-FFF2-40B4-BE49-F238E27FC236}">
                <a16:creationId xmlns:a16="http://schemas.microsoft.com/office/drawing/2014/main" id="{29DA4B2B-B54E-43B4-A1A4-EB704F7F3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01" t="54841" r="-1"/>
          <a:stretch/>
        </p:blipFill>
        <p:spPr>
          <a:xfrm>
            <a:off x="0" y="0"/>
            <a:ext cx="872377" cy="838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812" y="0"/>
            <a:ext cx="7341704" cy="1781886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ea typeface="ＭＳ Ｐゴシック" panose="020B0600070205080204" pitchFamily="34" charset="-128"/>
              </a:rPr>
              <a:t>Conditional Variable in Synchronization</a:t>
            </a:r>
            <a:endParaRPr lang="x-none" dirty="0">
              <a:solidFill>
                <a:schemeClr val="tx2"/>
              </a:solidFill>
            </a:endParaRPr>
          </a:p>
        </p:txBody>
      </p:sp>
      <p:pic>
        <p:nvPicPr>
          <p:cNvPr id="52" name="Picture 46">
            <a:extLst>
              <a:ext uri="{FF2B5EF4-FFF2-40B4-BE49-F238E27FC236}">
                <a16:creationId xmlns:a16="http://schemas.microsoft.com/office/drawing/2014/main" id="{1C32610F-5445-4E12-87F6-F0591ABE7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E078AB0-C635-98D6-D9AD-3019CD4C7791}"/>
              </a:ext>
            </a:extLst>
          </p:cNvPr>
          <p:cNvGrpSpPr/>
          <p:nvPr/>
        </p:nvGrpSpPr>
        <p:grpSpPr>
          <a:xfrm>
            <a:off x="2593544" y="1461009"/>
            <a:ext cx="4031175" cy="4294561"/>
            <a:chOff x="1" y="-1"/>
            <a:chExt cx="4031175" cy="4294561"/>
          </a:xfrm>
          <a:scene3d>
            <a:camera prst="orthographicFront"/>
            <a:lightRig rig="flat" dir="t"/>
          </a:scene3d>
        </p:grpSpPr>
        <p:sp>
          <p:nvSpPr>
            <p:cNvPr id="7" name="Flowchart: Manual Operation 6">
              <a:extLst>
                <a:ext uri="{FF2B5EF4-FFF2-40B4-BE49-F238E27FC236}">
                  <a16:creationId xmlns:a16="http://schemas.microsoft.com/office/drawing/2014/main" id="{2480D78B-94D4-DB95-1B26-535EBA7AEA07}"/>
                </a:ext>
              </a:extLst>
            </p:cNvPr>
            <p:cNvSpPr/>
            <p:nvPr/>
          </p:nvSpPr>
          <p:spPr>
            <a:xfrm rot="16200000">
              <a:off x="-131692" y="131692"/>
              <a:ext cx="4294561" cy="4031175"/>
            </a:xfrm>
            <a:prstGeom prst="flowChartManualOperation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Flowchart: Manual Operation 4">
              <a:extLst>
                <a:ext uri="{FF2B5EF4-FFF2-40B4-BE49-F238E27FC236}">
                  <a16:creationId xmlns:a16="http://schemas.microsoft.com/office/drawing/2014/main" id="{1A8935B3-E7F1-9BB7-912B-86276C4DB691}"/>
                </a:ext>
              </a:extLst>
            </p:cNvPr>
            <p:cNvSpPr txBox="1"/>
            <p:nvPr/>
          </p:nvSpPr>
          <p:spPr>
            <a:xfrm rot="21600000">
              <a:off x="1" y="858911"/>
              <a:ext cx="4031175" cy="257673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0" tIns="0" rIns="127000" bIns="0" numCol="1" spcCol="1270" anchor="t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en-US" sz="2000" kern="1200" dirty="0"/>
                <a:t>A condition variable is associated with a predicate. </a:t>
              </a:r>
              <a:endParaRPr lang="x-none" sz="2000" kern="1200" dirty="0">
                <a:solidFill>
                  <a:srgbClr val="FFFFFF"/>
                </a:solidFill>
                <a:latin typeface="Avenir Next LT Pro"/>
                <a:ea typeface="+mn-ea"/>
                <a:cs typeface="+mn-cs"/>
              </a:endParaRPr>
            </a:p>
            <a:p>
              <a:pPr marL="228600" lvl="1" indent="-228600" algn="just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en-US" sz="2000" kern="1200" dirty="0">
                  <a:solidFill>
                    <a:srgbClr val="FFFFFF"/>
                  </a:solidFill>
                  <a:latin typeface="Avenir Next LT Pro"/>
                  <a:ea typeface="+mn-ea"/>
                  <a:cs typeface="+mn-cs"/>
                </a:rPr>
                <a:t>When the predicate becomes true, the condition variable is used to signal one or more threads waiting on the condition</a:t>
              </a:r>
              <a:r>
                <a:rPr lang="en-US" sz="1500" kern="1200" dirty="0"/>
                <a:t>.</a:t>
              </a:r>
              <a:endParaRPr lang="x-none" sz="1500" kern="1200" dirty="0"/>
            </a:p>
            <a:p>
              <a:pPr marL="114300" lvl="1" indent="-114300" algn="just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x-none" sz="1500" kern="12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A7D5169-10B9-0CC5-74BA-1AE0BF15651F}"/>
              </a:ext>
            </a:extLst>
          </p:cNvPr>
          <p:cNvGrpSpPr/>
          <p:nvPr/>
        </p:nvGrpSpPr>
        <p:grpSpPr>
          <a:xfrm>
            <a:off x="6930503" y="1824243"/>
            <a:ext cx="2667952" cy="3568093"/>
            <a:chOff x="4336960" y="363233"/>
            <a:chExt cx="2667952" cy="3568093"/>
          </a:xfrm>
          <a:scene3d>
            <a:camera prst="orthographicFront"/>
            <a:lightRig rig="flat" dir="t"/>
          </a:scene3d>
        </p:grpSpPr>
        <p:sp>
          <p:nvSpPr>
            <p:cNvPr id="5" name="Flowchart: Manual Operation 4">
              <a:extLst>
                <a:ext uri="{FF2B5EF4-FFF2-40B4-BE49-F238E27FC236}">
                  <a16:creationId xmlns:a16="http://schemas.microsoft.com/office/drawing/2014/main" id="{B5D7E0E7-15DB-DEE2-B22F-5A0F304211DF}"/>
                </a:ext>
              </a:extLst>
            </p:cNvPr>
            <p:cNvSpPr/>
            <p:nvPr/>
          </p:nvSpPr>
          <p:spPr>
            <a:xfrm rot="16200000">
              <a:off x="3886889" y="813304"/>
              <a:ext cx="3568093" cy="2667952"/>
            </a:xfrm>
            <a:prstGeom prst="flowChartManualOperation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Flowchart: Manual Operation 6">
              <a:extLst>
                <a:ext uri="{FF2B5EF4-FFF2-40B4-BE49-F238E27FC236}">
                  <a16:creationId xmlns:a16="http://schemas.microsoft.com/office/drawing/2014/main" id="{A6CA2CAA-E9B7-4A02-0676-422B50DB9025}"/>
                </a:ext>
              </a:extLst>
            </p:cNvPr>
            <p:cNvSpPr txBox="1"/>
            <p:nvPr/>
          </p:nvSpPr>
          <p:spPr>
            <a:xfrm rot="21600000">
              <a:off x="4336960" y="1076852"/>
              <a:ext cx="2667952" cy="2140855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0" tIns="0" rIns="127000" bIns="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en-US" sz="2000" kern="1200" dirty="0">
                  <a:solidFill>
                    <a:srgbClr val="FFFFFF"/>
                  </a:solidFill>
                  <a:latin typeface="Avenir Next LT Pro"/>
                  <a:ea typeface="+mn-ea"/>
                  <a:cs typeface="+mn-cs"/>
                </a:rPr>
                <a:t>A single condition variable may be associated with more than one predicate</a:t>
              </a:r>
              <a:endParaRPr lang="en-US" altLang="en-US" sz="2000" kern="1200" dirty="0"/>
            </a:p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en-US" sz="2000" kern="1200" dirty="0"/>
                <a:t>A condition variable always has a mutex associated with it.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4066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2">
            <a:extLst>
              <a:ext uri="{FF2B5EF4-FFF2-40B4-BE49-F238E27FC236}">
                <a16:creationId xmlns:a16="http://schemas.microsoft.com/office/drawing/2014/main" id="{5A8C81AE-8F0D-49F3-9FB4-334B0DCD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1" name="Picture 44">
            <a:extLst>
              <a:ext uri="{FF2B5EF4-FFF2-40B4-BE49-F238E27FC236}">
                <a16:creationId xmlns:a16="http://schemas.microsoft.com/office/drawing/2014/main" id="{29DA4B2B-B54E-43B4-A1A4-EB704F7F3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01" t="54841" r="-1"/>
          <a:stretch/>
        </p:blipFill>
        <p:spPr>
          <a:xfrm>
            <a:off x="0" y="0"/>
            <a:ext cx="872377" cy="838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812" y="0"/>
            <a:ext cx="7341704" cy="1781886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  <a:ea typeface="ＭＳ Ｐゴシック" panose="020B0600070205080204" pitchFamily="34" charset="-128"/>
              </a:rPr>
              <a:t>Conditional Variable </a:t>
            </a:r>
            <a:r>
              <a:rPr lang="en-US" dirty="0" err="1">
                <a:solidFill>
                  <a:schemeClr val="tx2"/>
                </a:solidFill>
                <a:ea typeface="ＭＳ Ｐゴシック" panose="020B0600070205080204" pitchFamily="34" charset="-128"/>
              </a:rPr>
              <a:t>Cont</a:t>
            </a:r>
            <a:r>
              <a:rPr lang="en-US" dirty="0">
                <a:solidFill>
                  <a:schemeClr val="tx2"/>
                </a:solidFill>
                <a:ea typeface="ＭＳ Ｐゴシック" panose="020B0600070205080204" pitchFamily="34" charset="-128"/>
              </a:rPr>
              <a:t>…</a:t>
            </a:r>
            <a:endParaRPr lang="x-none" dirty="0">
              <a:solidFill>
                <a:schemeClr val="tx2"/>
              </a:solidFill>
            </a:endParaRPr>
          </a:p>
        </p:txBody>
      </p:sp>
      <p:pic>
        <p:nvPicPr>
          <p:cNvPr id="52" name="Picture 46">
            <a:extLst>
              <a:ext uri="{FF2B5EF4-FFF2-40B4-BE49-F238E27FC236}">
                <a16:creationId xmlns:a16="http://schemas.microsoft.com/office/drawing/2014/main" id="{1C32610F-5445-4E12-87F6-F0591ABE7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71CACA0B-0C80-1D14-EB41-6476A2BD58D3}"/>
              </a:ext>
            </a:extLst>
          </p:cNvPr>
          <p:cNvGrpSpPr/>
          <p:nvPr/>
        </p:nvGrpSpPr>
        <p:grpSpPr>
          <a:xfrm>
            <a:off x="2394959" y="2987411"/>
            <a:ext cx="2997473" cy="2604393"/>
            <a:chOff x="1508" y="845083"/>
            <a:chExt cx="2997473" cy="2604393"/>
          </a:xfrm>
          <a:scene3d>
            <a:camera prst="orthographicFront"/>
            <a:lightRig rig="flat" dir="t"/>
          </a:scene3d>
        </p:grpSpPr>
        <p:sp>
          <p:nvSpPr>
            <p:cNvPr id="13" name="Flowchart: Manual Operation 12">
              <a:extLst>
                <a:ext uri="{FF2B5EF4-FFF2-40B4-BE49-F238E27FC236}">
                  <a16:creationId xmlns:a16="http://schemas.microsoft.com/office/drawing/2014/main" id="{DBDE9BCB-C7DE-6CC0-DAD4-DE8E8B2DE195}"/>
                </a:ext>
              </a:extLst>
            </p:cNvPr>
            <p:cNvSpPr/>
            <p:nvPr/>
          </p:nvSpPr>
          <p:spPr>
            <a:xfrm rot="16200000">
              <a:off x="198048" y="648543"/>
              <a:ext cx="2604393" cy="2997473"/>
            </a:xfrm>
            <a:prstGeom prst="flowChartManualOperation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Flowchart: Manual Operation 4">
              <a:extLst>
                <a:ext uri="{FF2B5EF4-FFF2-40B4-BE49-F238E27FC236}">
                  <a16:creationId xmlns:a16="http://schemas.microsoft.com/office/drawing/2014/main" id="{53E4AAD7-FC26-EF40-76DD-D355DD9DF75C}"/>
                </a:ext>
              </a:extLst>
            </p:cNvPr>
            <p:cNvSpPr txBox="1"/>
            <p:nvPr/>
          </p:nvSpPr>
          <p:spPr>
            <a:xfrm rot="21600000">
              <a:off x="1508" y="1365962"/>
              <a:ext cx="2997473" cy="1562635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0" tIns="0" rIns="127000" bIns="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en-US" sz="2000" kern="1200" dirty="0"/>
                <a:t>A thread locks this mutex and tests the predicate defined on the shared variable. </a:t>
              </a:r>
              <a:endParaRPr lang="x-none" sz="2000" kern="1200" dirty="0">
                <a:solidFill>
                  <a:srgbClr val="FFFFFF"/>
                </a:solidFill>
                <a:latin typeface="Avenir Next LT Pro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99F6AE3-2296-6A1F-7196-65EA33C2FF08}"/>
              </a:ext>
            </a:extLst>
          </p:cNvPr>
          <p:cNvGrpSpPr/>
          <p:nvPr/>
        </p:nvGrpSpPr>
        <p:grpSpPr>
          <a:xfrm>
            <a:off x="5617243" y="2235605"/>
            <a:ext cx="4179797" cy="4108005"/>
            <a:chOff x="3223792" y="93277"/>
            <a:chExt cx="4179797" cy="4108005"/>
          </a:xfrm>
          <a:scene3d>
            <a:camera prst="orthographicFront"/>
            <a:lightRig rig="flat" dir="t"/>
          </a:scene3d>
        </p:grpSpPr>
        <p:sp>
          <p:nvSpPr>
            <p:cNvPr id="11" name="Flowchart: Manual Operation 10">
              <a:extLst>
                <a:ext uri="{FF2B5EF4-FFF2-40B4-BE49-F238E27FC236}">
                  <a16:creationId xmlns:a16="http://schemas.microsoft.com/office/drawing/2014/main" id="{016C7EBD-B8D8-9AC2-DB8E-D46486B2B997}"/>
                </a:ext>
              </a:extLst>
            </p:cNvPr>
            <p:cNvSpPr/>
            <p:nvPr/>
          </p:nvSpPr>
          <p:spPr>
            <a:xfrm rot="16200000">
              <a:off x="3259688" y="57381"/>
              <a:ext cx="4108005" cy="4179797"/>
            </a:xfrm>
            <a:prstGeom prst="flowChartManualOperation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Flowchart: Manual Operation 6">
              <a:extLst>
                <a:ext uri="{FF2B5EF4-FFF2-40B4-BE49-F238E27FC236}">
                  <a16:creationId xmlns:a16="http://schemas.microsoft.com/office/drawing/2014/main" id="{FBF5417E-90CE-F95B-3FE4-5319E3A6AD85}"/>
                </a:ext>
              </a:extLst>
            </p:cNvPr>
            <p:cNvSpPr txBox="1"/>
            <p:nvPr/>
          </p:nvSpPr>
          <p:spPr>
            <a:xfrm rot="21600000">
              <a:off x="3223792" y="914878"/>
              <a:ext cx="4179797" cy="246480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0" tIns="0" rIns="127000" bIns="0" numCol="1" spcCol="1270" anchor="t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altLang="en-US" sz="2000" kern="1200" dirty="0"/>
            </a:p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en-US" sz="2000" kern="1200" dirty="0"/>
                <a:t>If the predicate is not true, the thread waits on the condition variable associated with the predicate using the function:</a:t>
              </a:r>
            </a:p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en-US" sz="2000" kern="1200" dirty="0"/>
                <a:t> </a:t>
              </a:r>
              <a:r>
                <a:rPr lang="en-US" altLang="en-US" sz="2000" kern="1200" dirty="0">
                  <a:latin typeface="Courier" pitchFamily="49" charset="0"/>
                </a:rPr>
                <a:t>pthread_cond_wait</a:t>
              </a:r>
              <a:r>
                <a:rPr lang="en-US" sz="2000" kern="1200" dirty="0"/>
                <a:t>.</a:t>
              </a:r>
              <a:endParaRPr lang="x-none" sz="2000" kern="1200" dirty="0"/>
            </a:p>
            <a:p>
              <a:pPr marL="228600" lvl="1" indent="-228600" algn="l" defTabSz="8890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x-none" sz="20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83872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3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035" y="381000"/>
            <a:ext cx="10448365" cy="160012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Conditional Variable </a:t>
            </a:r>
            <a:r>
              <a:rPr lang="en-US" dirty="0" err="1"/>
              <a:t>Cont</a:t>
            </a:r>
            <a:r>
              <a:rPr lang="en-US" dirty="0"/>
              <a:t>… </a:t>
            </a:r>
            <a:endParaRPr lang="x-none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027D3D2-1F89-B4E6-9A3B-63ED14D9635C}"/>
              </a:ext>
            </a:extLst>
          </p:cNvPr>
          <p:cNvGrpSpPr/>
          <p:nvPr/>
        </p:nvGrpSpPr>
        <p:grpSpPr>
          <a:xfrm>
            <a:off x="1943100" y="3865643"/>
            <a:ext cx="8305800" cy="1958839"/>
            <a:chOff x="0" y="990602"/>
            <a:chExt cx="8305800" cy="195883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8A90DD-E03C-7C32-AED2-8EC6EE1F2BB3}"/>
                </a:ext>
              </a:extLst>
            </p:cNvPr>
            <p:cNvSpPr/>
            <p:nvPr/>
          </p:nvSpPr>
          <p:spPr>
            <a:xfrm>
              <a:off x="0" y="990602"/>
              <a:ext cx="8305800" cy="1958839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3F711C5-2E1C-B7F9-E60D-BB11F182CF92}"/>
                </a:ext>
              </a:extLst>
            </p:cNvPr>
            <p:cNvSpPr txBox="1"/>
            <p:nvPr/>
          </p:nvSpPr>
          <p:spPr>
            <a:xfrm>
              <a:off x="0" y="990602"/>
              <a:ext cx="8305800" cy="19588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4622" tIns="978916" rIns="644622" bIns="142240" numCol="1" spcCol="1270" anchor="t" anchorCtr="0">
              <a:noAutofit/>
            </a:bodyPr>
            <a:lstStyle/>
            <a:p>
              <a:pPr marL="228600" lvl="1" indent="-228600" algn="l" defTabSz="889000" rtl="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en-US" sz="2000" kern="1200" dirty="0">
                  <a:solidFill>
                    <a:schemeClr val="tx1"/>
                  </a:solidFill>
                  <a:latin typeface="Avenir Next LT Pro"/>
                  <a:ea typeface="+mn-ea"/>
                  <a:cs typeface="+mn-cs"/>
                </a:rPr>
                <a:t>int pthread_cond_wait(pthread_cond_t *cond, pthread_mutex_t *mutex); </a:t>
              </a:r>
              <a:br>
                <a:rPr lang="en-US" sz="4000" kern="1200" dirty="0"/>
              </a:br>
              <a:endParaRPr lang="en-US" sz="2000" kern="1200" dirty="0">
                <a:solidFill>
                  <a:schemeClr val="tx1"/>
                </a:solidFill>
                <a:latin typeface="Avenir Next LT Pro"/>
                <a:ea typeface="+mn-ea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3ADF8EC-DCCE-045E-4077-D575B3C122F8}"/>
              </a:ext>
            </a:extLst>
          </p:cNvPr>
          <p:cNvGrpSpPr/>
          <p:nvPr/>
        </p:nvGrpSpPr>
        <p:grpSpPr>
          <a:xfrm>
            <a:off x="2247902" y="3436058"/>
            <a:ext cx="6377965" cy="964571"/>
            <a:chOff x="304802" y="561017"/>
            <a:chExt cx="6377965" cy="96457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8FA212D-FB17-3AB5-DB6E-3D08012837E7}"/>
                </a:ext>
              </a:extLst>
            </p:cNvPr>
            <p:cNvSpPr/>
            <p:nvPr/>
          </p:nvSpPr>
          <p:spPr>
            <a:xfrm>
              <a:off x="304802" y="561017"/>
              <a:ext cx="6377965" cy="964571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556AF24-04D5-ABD1-157A-99F8A54E2ED9}"/>
                </a:ext>
              </a:extLst>
            </p:cNvPr>
            <p:cNvSpPr txBox="1"/>
            <p:nvPr/>
          </p:nvSpPr>
          <p:spPr>
            <a:xfrm>
              <a:off x="351888" y="608103"/>
              <a:ext cx="6283793" cy="8703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19758" tIns="0" rIns="219758" bIns="0" numCol="1" spcCol="1270" anchor="ctr" anchorCtr="0">
              <a:noAutofit/>
            </a:bodyPr>
            <a:lstStyle/>
            <a:p>
              <a:pPr marL="0" lvl="0" indent="0" algn="l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en-US" sz="2000" kern="1200" dirty="0" err="1"/>
                <a:t>Pthreads</a:t>
              </a:r>
              <a:r>
                <a:rPr lang="en-US" altLang="en-US" sz="2000" kern="1200" dirty="0"/>
                <a:t> functions for condition variables</a:t>
              </a:r>
              <a:br>
                <a:rPr lang="en-US" sz="1700" kern="1200" dirty="0"/>
              </a:br>
              <a:r>
                <a:rPr lang="en-US" sz="1700" kern="120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187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3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035" y="381000"/>
            <a:ext cx="10448365" cy="160012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Conditional Variable </a:t>
            </a:r>
            <a:r>
              <a:rPr lang="en-US" dirty="0" err="1"/>
              <a:t>Cont</a:t>
            </a:r>
            <a:r>
              <a:rPr lang="en-US" dirty="0"/>
              <a:t>… </a:t>
            </a:r>
            <a:endParaRPr lang="x-none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8661859-B086-6C61-79BF-A5F468F41054}"/>
              </a:ext>
            </a:extLst>
          </p:cNvPr>
          <p:cNvGrpSpPr/>
          <p:nvPr/>
        </p:nvGrpSpPr>
        <p:grpSpPr>
          <a:xfrm>
            <a:off x="1943100" y="3810735"/>
            <a:ext cx="8305800" cy="1745922"/>
            <a:chOff x="0" y="1097060"/>
            <a:chExt cx="8305800" cy="174592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B72B33-DF6E-961B-E6AA-5DCFE57A1B51}"/>
                </a:ext>
              </a:extLst>
            </p:cNvPr>
            <p:cNvSpPr/>
            <p:nvPr/>
          </p:nvSpPr>
          <p:spPr>
            <a:xfrm>
              <a:off x="0" y="1097060"/>
              <a:ext cx="8305800" cy="1745922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92FA633-8D3E-8EAC-D24A-31B2A9963C76}"/>
                </a:ext>
              </a:extLst>
            </p:cNvPr>
            <p:cNvSpPr txBox="1"/>
            <p:nvPr/>
          </p:nvSpPr>
          <p:spPr>
            <a:xfrm>
              <a:off x="0" y="1097060"/>
              <a:ext cx="8305800" cy="17459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4622" tIns="1041400" rIns="644622" bIns="142240" numCol="1" spcCol="1270" anchor="t" anchorCtr="0">
              <a:noAutofit/>
            </a:bodyPr>
            <a:lstStyle/>
            <a:p>
              <a:pPr marL="228600" lvl="1" indent="-228600" algn="l" defTabSz="889000" rtl="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en-US" sz="2000" kern="1200" dirty="0">
                  <a:solidFill>
                    <a:schemeClr val="tx1"/>
                  </a:solidFill>
                  <a:latin typeface="Avenir Next LT Pro"/>
                  <a:ea typeface="+mn-ea"/>
                  <a:cs typeface="+mn-cs"/>
                </a:rPr>
                <a:t>int </a:t>
              </a:r>
              <a:r>
                <a:rPr lang="en-US" altLang="en-US" sz="2000" kern="1200" dirty="0" err="1">
                  <a:solidFill>
                    <a:schemeClr val="tx1"/>
                  </a:solidFill>
                  <a:latin typeface="Avenir Next LT Pro"/>
                  <a:ea typeface="+mn-ea"/>
                  <a:cs typeface="+mn-cs"/>
                </a:rPr>
                <a:t>pthread_cond_signal</a:t>
              </a:r>
              <a:r>
                <a:rPr lang="en-US" altLang="en-US" sz="2000" kern="1200" dirty="0">
                  <a:solidFill>
                    <a:schemeClr val="tx1"/>
                  </a:solidFill>
                  <a:latin typeface="Avenir Next LT Pro"/>
                  <a:ea typeface="+mn-ea"/>
                  <a:cs typeface="+mn-cs"/>
                </a:rPr>
                <a:t>(pthread_cond_t *cond); </a:t>
              </a:r>
              <a:br>
                <a:rPr lang="en-US" sz="4000" kern="1200" dirty="0"/>
              </a:br>
              <a:endParaRPr lang="en-US" sz="2000" kern="1200" dirty="0">
                <a:solidFill>
                  <a:schemeClr val="tx1"/>
                </a:solidFill>
                <a:latin typeface="Avenir Next LT Pr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73CFFD3-910F-F920-3FA9-290CAF58BDB9}"/>
              </a:ext>
            </a:extLst>
          </p:cNvPr>
          <p:cNvGrpSpPr/>
          <p:nvPr/>
        </p:nvGrpSpPr>
        <p:grpSpPr>
          <a:xfrm>
            <a:off x="2247902" y="3381151"/>
            <a:ext cx="6377965" cy="964571"/>
            <a:chOff x="304802" y="667476"/>
            <a:chExt cx="6377965" cy="96457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73A8C8F-16CF-EF22-9DF5-D711AF437E85}"/>
                </a:ext>
              </a:extLst>
            </p:cNvPr>
            <p:cNvSpPr/>
            <p:nvPr/>
          </p:nvSpPr>
          <p:spPr>
            <a:xfrm>
              <a:off x="304802" y="667476"/>
              <a:ext cx="6377965" cy="964571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ectangle: Rounded Corners 6">
              <a:extLst>
                <a:ext uri="{FF2B5EF4-FFF2-40B4-BE49-F238E27FC236}">
                  <a16:creationId xmlns:a16="http://schemas.microsoft.com/office/drawing/2014/main" id="{5157C25E-B33C-3F00-C60E-E8DBA85FE9D9}"/>
                </a:ext>
              </a:extLst>
            </p:cNvPr>
            <p:cNvSpPr txBox="1"/>
            <p:nvPr/>
          </p:nvSpPr>
          <p:spPr>
            <a:xfrm>
              <a:off x="351888" y="714562"/>
              <a:ext cx="6283793" cy="8703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19758" tIns="0" rIns="219758" bIns="0" numCol="1" spcCol="1270" anchor="ctr" anchorCtr="0">
              <a:noAutofit/>
            </a:bodyPr>
            <a:lstStyle/>
            <a:p>
              <a:pPr marL="0" lvl="0" indent="0" algn="l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en-US" sz="2000" kern="1200" dirty="0" err="1"/>
                <a:t>Pthreads</a:t>
              </a:r>
              <a:r>
                <a:rPr lang="en-US" altLang="en-US" sz="2000" kern="1200" dirty="0"/>
                <a:t> functions for condition variables</a:t>
              </a:r>
              <a:br>
                <a:rPr lang="en-US" sz="1700" kern="1200" dirty="0"/>
              </a:br>
              <a:r>
                <a:rPr lang="en-US" sz="1700" kern="120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790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3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035" y="381000"/>
            <a:ext cx="10448365" cy="160012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Conditional Variable </a:t>
            </a:r>
            <a:r>
              <a:rPr lang="en-US" dirty="0" err="1"/>
              <a:t>Cont</a:t>
            </a:r>
            <a:r>
              <a:rPr lang="en-US" dirty="0"/>
              <a:t>… </a:t>
            </a:r>
            <a:endParaRPr lang="x-none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82EBC7-0A33-FDE0-E52B-011C0538CDDA}"/>
              </a:ext>
            </a:extLst>
          </p:cNvPr>
          <p:cNvGrpSpPr/>
          <p:nvPr/>
        </p:nvGrpSpPr>
        <p:grpSpPr>
          <a:xfrm>
            <a:off x="1961029" y="3502565"/>
            <a:ext cx="8305800" cy="2469840"/>
            <a:chOff x="0" y="735101"/>
            <a:chExt cx="8305800" cy="246984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236836-1109-EC89-AC7A-DF105478C932}"/>
                </a:ext>
              </a:extLst>
            </p:cNvPr>
            <p:cNvSpPr/>
            <p:nvPr/>
          </p:nvSpPr>
          <p:spPr>
            <a:xfrm>
              <a:off x="0" y="735101"/>
              <a:ext cx="8305800" cy="246984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D42CA1-A5C6-C113-737B-8946CC799611}"/>
                </a:ext>
              </a:extLst>
            </p:cNvPr>
            <p:cNvSpPr txBox="1"/>
            <p:nvPr/>
          </p:nvSpPr>
          <p:spPr>
            <a:xfrm>
              <a:off x="0" y="735101"/>
              <a:ext cx="8305800" cy="24698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4622" tIns="874776" rIns="644622" bIns="142240" numCol="1" spcCol="1270" anchor="t" anchorCtr="0">
              <a:noAutofit/>
            </a:bodyPr>
            <a:lstStyle/>
            <a:p>
              <a:pPr marL="228600" lvl="1" indent="-228600" algn="l" defTabSz="889000" rtl="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en-US" sz="2000" kern="1200" dirty="0">
                  <a:solidFill>
                    <a:schemeClr val="tx1"/>
                  </a:solidFill>
                  <a:latin typeface="Avenir Next LT Pro"/>
                  <a:ea typeface="+mn-ea"/>
                  <a:cs typeface="+mn-cs"/>
                </a:rPr>
                <a:t>int </a:t>
              </a:r>
              <a:r>
                <a:rPr lang="en-US" altLang="en-US" sz="2000" kern="1200" dirty="0" err="1">
                  <a:solidFill>
                    <a:schemeClr val="tx1"/>
                  </a:solidFill>
                  <a:latin typeface="Avenir Next LT Pro"/>
                  <a:ea typeface="+mn-ea"/>
                  <a:cs typeface="+mn-cs"/>
                </a:rPr>
                <a:t>pthread_cond_init</a:t>
              </a:r>
              <a:r>
                <a:rPr lang="en-US" altLang="en-US" sz="2000" kern="1200" dirty="0">
                  <a:solidFill>
                    <a:schemeClr val="tx1"/>
                  </a:solidFill>
                  <a:latin typeface="Avenir Next LT Pro"/>
                  <a:ea typeface="+mn-ea"/>
                  <a:cs typeface="+mn-cs"/>
                </a:rPr>
                <a:t>(pthread_cond_t *cond, const </a:t>
              </a:r>
              <a:r>
                <a:rPr lang="en-US" altLang="en-US" sz="2000" kern="1200" dirty="0" err="1">
                  <a:solidFill>
                    <a:schemeClr val="tx1"/>
                  </a:solidFill>
                  <a:latin typeface="Avenir Next LT Pro"/>
                  <a:ea typeface="+mn-ea"/>
                  <a:cs typeface="+mn-cs"/>
                </a:rPr>
                <a:t>pthread_condattr_t</a:t>
              </a:r>
              <a:r>
                <a:rPr lang="en-US" altLang="en-US" sz="2000" kern="1200" dirty="0">
                  <a:solidFill>
                    <a:schemeClr val="tx1"/>
                  </a:solidFill>
                  <a:latin typeface="Avenir Next LT Pro"/>
                  <a:ea typeface="+mn-ea"/>
                  <a:cs typeface="+mn-cs"/>
                </a:rPr>
                <a:t> *</a:t>
              </a:r>
              <a:r>
                <a:rPr lang="en-US" altLang="en-US" sz="2000" kern="1200" dirty="0" err="1">
                  <a:solidFill>
                    <a:schemeClr val="tx1"/>
                  </a:solidFill>
                  <a:latin typeface="Avenir Next LT Pro"/>
                  <a:ea typeface="+mn-ea"/>
                  <a:cs typeface="+mn-cs"/>
                </a:rPr>
                <a:t>attr</a:t>
              </a:r>
              <a:r>
                <a:rPr lang="en-US" altLang="en-US" sz="2000" kern="1200" dirty="0">
                  <a:solidFill>
                    <a:schemeClr val="tx1"/>
                  </a:solidFill>
                  <a:latin typeface="Avenir Next LT Pro"/>
                  <a:ea typeface="+mn-ea"/>
                  <a:cs typeface="+mn-cs"/>
                </a:rPr>
                <a:t>);</a:t>
              </a:r>
              <a:br>
                <a:rPr lang="en-US" altLang="en-US" sz="2000" kern="1200" dirty="0">
                  <a:solidFill>
                    <a:schemeClr val="tx1"/>
                  </a:solidFill>
                  <a:latin typeface="Avenir Next LT Pro"/>
                  <a:ea typeface="+mn-ea"/>
                  <a:cs typeface="+mn-cs"/>
                </a:rPr>
              </a:br>
              <a:r>
                <a:rPr lang="en-US" altLang="en-US" sz="2000" kern="1200" dirty="0">
                  <a:solidFill>
                    <a:schemeClr val="tx1"/>
                  </a:solidFill>
                  <a:latin typeface="Avenir Next LT Pro"/>
                  <a:ea typeface="+mn-ea"/>
                  <a:cs typeface="+mn-cs"/>
                </a:rPr>
                <a:t> </a:t>
              </a:r>
              <a:endParaRPr lang="en-US" sz="2000" kern="1200" dirty="0">
                <a:solidFill>
                  <a:schemeClr val="tx1"/>
                </a:solidFill>
                <a:latin typeface="Avenir Next LT Pro"/>
                <a:ea typeface="+mn-ea"/>
                <a:cs typeface="+mn-cs"/>
              </a:endParaRPr>
            </a:p>
            <a:p>
              <a:pPr marL="228600" lvl="1" indent="-228600" algn="l" defTabSz="889000" rtl="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en-US" sz="2000" kern="1200" dirty="0">
                  <a:solidFill>
                    <a:schemeClr val="tx1"/>
                  </a:solidFill>
                  <a:latin typeface="Avenir Next LT Pro"/>
                  <a:ea typeface="+mn-ea"/>
                  <a:cs typeface="+mn-cs"/>
                </a:rPr>
                <a:t>int </a:t>
              </a:r>
              <a:r>
                <a:rPr lang="en-US" altLang="en-US" sz="2000" kern="1200" dirty="0" err="1">
                  <a:solidFill>
                    <a:schemeClr val="tx1"/>
                  </a:solidFill>
                  <a:latin typeface="Avenir Next LT Pro"/>
                  <a:ea typeface="+mn-ea"/>
                  <a:cs typeface="+mn-cs"/>
                </a:rPr>
                <a:t>pthread_cond_destroy</a:t>
              </a:r>
              <a:r>
                <a:rPr lang="en-US" altLang="en-US" sz="2000" kern="1200" dirty="0">
                  <a:solidFill>
                    <a:schemeClr val="tx1"/>
                  </a:solidFill>
                  <a:latin typeface="Avenir Next LT Pro"/>
                  <a:ea typeface="+mn-ea"/>
                  <a:cs typeface="+mn-cs"/>
                </a:rPr>
                <a:t>(pthread_cond_t *cond); </a:t>
              </a:r>
              <a:br>
                <a:rPr lang="en-US" sz="4000" kern="1200" dirty="0"/>
              </a:br>
              <a:endParaRPr lang="en-US" altLang="en-US" sz="2000" kern="1200" dirty="0">
                <a:solidFill>
                  <a:schemeClr val="tx1"/>
                </a:solidFill>
                <a:latin typeface="Avenir Next LT Pr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FD9EF02-D5FF-27F4-0BB5-222271F2E31A}"/>
              </a:ext>
            </a:extLst>
          </p:cNvPr>
          <p:cNvGrpSpPr/>
          <p:nvPr/>
        </p:nvGrpSpPr>
        <p:grpSpPr>
          <a:xfrm>
            <a:off x="2265831" y="3072981"/>
            <a:ext cx="6377965" cy="964571"/>
            <a:chOff x="304802" y="305517"/>
            <a:chExt cx="6377965" cy="96457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357B7FA-A957-0F6F-FEBD-C49455A65C6C}"/>
                </a:ext>
              </a:extLst>
            </p:cNvPr>
            <p:cNvSpPr/>
            <p:nvPr/>
          </p:nvSpPr>
          <p:spPr>
            <a:xfrm>
              <a:off x="304802" y="305517"/>
              <a:ext cx="6377965" cy="964571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ectangle: Rounded Corners 6">
              <a:extLst>
                <a:ext uri="{FF2B5EF4-FFF2-40B4-BE49-F238E27FC236}">
                  <a16:creationId xmlns:a16="http://schemas.microsoft.com/office/drawing/2014/main" id="{BFEC6623-D5DF-07F7-33DE-DB751FC0E1FA}"/>
                </a:ext>
              </a:extLst>
            </p:cNvPr>
            <p:cNvSpPr txBox="1"/>
            <p:nvPr/>
          </p:nvSpPr>
          <p:spPr>
            <a:xfrm>
              <a:off x="351888" y="352603"/>
              <a:ext cx="6283793" cy="8703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19758" tIns="0" rIns="219758" bIns="0" numCol="1" spcCol="1270" anchor="ctr" anchorCtr="0">
              <a:noAutofit/>
            </a:bodyPr>
            <a:lstStyle/>
            <a:p>
              <a:pPr marL="0" lvl="0" indent="0" algn="l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en-US" sz="2000" kern="1200" dirty="0" err="1"/>
                <a:t>Pthreads</a:t>
              </a:r>
              <a:r>
                <a:rPr lang="en-US" altLang="en-US" sz="2000" kern="1200" dirty="0"/>
                <a:t> functions for condition variables</a:t>
              </a:r>
              <a:br>
                <a:rPr lang="en-US" sz="1700" kern="1200" dirty="0"/>
              </a:br>
              <a:r>
                <a:rPr lang="en-US" sz="1700" kern="120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2660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3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035" y="381000"/>
            <a:ext cx="10448365" cy="160012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Conditional Variable </a:t>
            </a:r>
            <a:r>
              <a:rPr lang="en-US" dirty="0" err="1"/>
              <a:t>Cont</a:t>
            </a:r>
            <a:r>
              <a:rPr lang="en-US" dirty="0"/>
              <a:t>… </a:t>
            </a:r>
            <a:endParaRPr lang="x-none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1BC3232-20C1-8010-C8CA-12745332F72A}"/>
              </a:ext>
            </a:extLst>
          </p:cNvPr>
          <p:cNvGrpSpPr/>
          <p:nvPr/>
        </p:nvGrpSpPr>
        <p:grpSpPr>
          <a:xfrm>
            <a:off x="1961029" y="3702031"/>
            <a:ext cx="8305800" cy="2214340"/>
            <a:chOff x="0" y="862851"/>
            <a:chExt cx="8305800" cy="221434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13E0C67-D85E-4CCC-FB97-4E1F49038685}"/>
                </a:ext>
              </a:extLst>
            </p:cNvPr>
            <p:cNvSpPr/>
            <p:nvPr/>
          </p:nvSpPr>
          <p:spPr>
            <a:xfrm>
              <a:off x="0" y="862851"/>
              <a:ext cx="8305800" cy="221434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99189A5-2EA2-80CE-0ECA-D63A735590D5}"/>
                </a:ext>
              </a:extLst>
            </p:cNvPr>
            <p:cNvSpPr txBox="1"/>
            <p:nvPr/>
          </p:nvSpPr>
          <p:spPr>
            <a:xfrm>
              <a:off x="0" y="862851"/>
              <a:ext cx="8305800" cy="22143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4622" tIns="958088" rIns="644622" bIns="142240" numCol="1" spcCol="1270" anchor="t" anchorCtr="0">
              <a:noAutofit/>
            </a:bodyPr>
            <a:lstStyle/>
            <a:p>
              <a:pPr marL="228600" lvl="1" indent="-228600" algn="l" defTabSz="889000" rtl="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en-US" sz="2000" kern="1200" dirty="0">
                  <a:latin typeface="Courier" pitchFamily="49" charset="0"/>
                </a:rPr>
                <a:t>int </a:t>
              </a:r>
              <a:r>
                <a:rPr lang="en-US" altLang="en-US" sz="2000" kern="1200" dirty="0" err="1">
                  <a:latin typeface="Courier" pitchFamily="49" charset="0"/>
                </a:rPr>
                <a:t>pthread_cond_broadcast</a:t>
              </a:r>
              <a:r>
                <a:rPr lang="en-US" altLang="en-US" sz="2000" kern="1200" dirty="0">
                  <a:latin typeface="Courier" pitchFamily="49" charset="0"/>
                </a:rPr>
                <a:t>(pthread_cond_t *cond); </a:t>
              </a:r>
              <a:br>
                <a:rPr lang="en-US" altLang="en-US" sz="2000" kern="1200" dirty="0">
                  <a:solidFill>
                    <a:schemeClr val="tx1"/>
                  </a:solidFill>
                  <a:latin typeface="Avenir Next LT Pro"/>
                  <a:ea typeface="+mn-ea"/>
                  <a:cs typeface="+mn-cs"/>
                </a:rPr>
              </a:br>
              <a:r>
                <a:rPr lang="en-US" altLang="en-US" sz="2000" kern="1200" dirty="0">
                  <a:solidFill>
                    <a:schemeClr val="tx1"/>
                  </a:solidFill>
                  <a:latin typeface="Avenir Next LT Pro"/>
                  <a:ea typeface="+mn-ea"/>
                  <a:cs typeface="+mn-cs"/>
                </a:rPr>
                <a:t> </a:t>
              </a:r>
              <a:br>
                <a:rPr lang="en-US" sz="4000" kern="1200" dirty="0"/>
              </a:br>
              <a:endParaRPr lang="en-US" sz="2000" kern="1200" dirty="0">
                <a:solidFill>
                  <a:schemeClr val="tx1"/>
                </a:solidFill>
                <a:latin typeface="Avenir Next LT Pr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F51AB0C-DDDD-C7D4-F2FB-22B3F5526878}"/>
              </a:ext>
            </a:extLst>
          </p:cNvPr>
          <p:cNvGrpSpPr/>
          <p:nvPr/>
        </p:nvGrpSpPr>
        <p:grpSpPr>
          <a:xfrm>
            <a:off x="2265831" y="3272447"/>
            <a:ext cx="6377965" cy="964571"/>
            <a:chOff x="304802" y="433267"/>
            <a:chExt cx="6377965" cy="96457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9818646-1DA3-7CF5-3D40-E9F8F0320F1E}"/>
                </a:ext>
              </a:extLst>
            </p:cNvPr>
            <p:cNvSpPr/>
            <p:nvPr/>
          </p:nvSpPr>
          <p:spPr>
            <a:xfrm>
              <a:off x="304802" y="433267"/>
              <a:ext cx="6377965" cy="964571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ectangle: Rounded Corners 6">
              <a:extLst>
                <a:ext uri="{FF2B5EF4-FFF2-40B4-BE49-F238E27FC236}">
                  <a16:creationId xmlns:a16="http://schemas.microsoft.com/office/drawing/2014/main" id="{EB8F2EB8-B0EA-88C4-211A-ADCB51959E41}"/>
                </a:ext>
              </a:extLst>
            </p:cNvPr>
            <p:cNvSpPr txBox="1"/>
            <p:nvPr/>
          </p:nvSpPr>
          <p:spPr>
            <a:xfrm>
              <a:off x="351888" y="480353"/>
              <a:ext cx="6283793" cy="8703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19758" tIns="0" rIns="219758" bIns="0" numCol="1" spcCol="1270" anchor="ctr" anchorCtr="0">
              <a:noAutofit/>
            </a:bodyPr>
            <a:lstStyle/>
            <a:p>
              <a:pPr marL="0" lvl="0" indent="0" algn="l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en-US" sz="2000" kern="1200" dirty="0" err="1"/>
                <a:t>Pthreads</a:t>
              </a:r>
              <a:r>
                <a:rPr lang="en-US" altLang="en-US" sz="2000" kern="1200" dirty="0"/>
                <a:t> functions for condition variables</a:t>
              </a:r>
              <a:br>
                <a:rPr lang="en-US" sz="1700" kern="1200" dirty="0"/>
              </a:br>
              <a:r>
                <a:rPr lang="en-US" sz="1700" kern="120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893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ockprintVTI">
  <a:themeElements>
    <a:clrScheme name="AnalogousFromDarkSeedLeftStep">
      <a:dk1>
        <a:srgbClr val="000000"/>
      </a:dk1>
      <a:lt1>
        <a:srgbClr val="FFFFFF"/>
      </a:lt1>
      <a:dk2>
        <a:srgbClr val="213B31"/>
      </a:dk2>
      <a:lt2>
        <a:srgbClr val="E8E2E3"/>
      </a:lt2>
      <a:accent1>
        <a:srgbClr val="45B0A7"/>
      </a:accent1>
      <a:accent2>
        <a:srgbClr val="3BB176"/>
      </a:accent2>
      <a:accent3>
        <a:srgbClr val="47B550"/>
      </a:accent3>
      <a:accent4>
        <a:srgbClr val="63B13B"/>
      </a:accent4>
      <a:accent5>
        <a:srgbClr val="91AB43"/>
      </a:accent5>
      <a:accent6>
        <a:srgbClr val="B19D3B"/>
      </a:accent6>
      <a:hlink>
        <a:srgbClr val="658B2E"/>
      </a:hlink>
      <a:folHlink>
        <a:srgbClr val="7F7F7F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2809</TotalTime>
  <Words>1697</Words>
  <Application>Microsoft Office PowerPoint</Application>
  <PresentationFormat>Widescreen</PresentationFormat>
  <Paragraphs>255</Paragraphs>
  <Slides>53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Arial</vt:lpstr>
      <vt:lpstr>Avenir Next LT Pro</vt:lpstr>
      <vt:lpstr>AvenirNext LT Pro Medium</vt:lpstr>
      <vt:lpstr>Calibri</vt:lpstr>
      <vt:lpstr>Courier</vt:lpstr>
      <vt:lpstr>Times New Roman</vt:lpstr>
      <vt:lpstr>BlockprintVTI</vt:lpstr>
      <vt:lpstr>CS621 Parallel and Distributed Computing</vt:lpstr>
      <vt:lpstr>CS621 Parallel and Distributed Computing</vt:lpstr>
      <vt:lpstr>Objectives</vt:lpstr>
      <vt:lpstr>What is Thread?</vt:lpstr>
      <vt:lpstr>Threads in context of CPU Utilization:  “A thread is a basic unit of CPU utilization having…”</vt:lpstr>
      <vt:lpstr>Threads in context of process</vt:lpstr>
      <vt:lpstr>Single thread vs Multiple threads</vt:lpstr>
      <vt:lpstr>Threads Example</vt:lpstr>
      <vt:lpstr>Threads Example</vt:lpstr>
      <vt:lpstr>CS621 Parallel and Distributed Computing</vt:lpstr>
      <vt:lpstr>Objectives</vt:lpstr>
      <vt:lpstr>Thread Models</vt:lpstr>
      <vt:lpstr>What is Thread?</vt:lpstr>
      <vt:lpstr>What is Thread?</vt:lpstr>
      <vt:lpstr>Logical Machine Model of Threads</vt:lpstr>
      <vt:lpstr>CS621 Parallel and Distributed Computing</vt:lpstr>
      <vt:lpstr>Objectives</vt:lpstr>
      <vt:lpstr>The POSIX Thread API</vt:lpstr>
      <vt:lpstr>Thread Termination</vt:lpstr>
      <vt:lpstr>Thread Creation</vt:lpstr>
      <vt:lpstr>CS621 Parallel and Distributed Computing</vt:lpstr>
      <vt:lpstr>Objectives</vt:lpstr>
      <vt:lpstr>Why Thread?</vt:lpstr>
      <vt:lpstr>Why Threads Cont…</vt:lpstr>
      <vt:lpstr>Why Threads Cont…</vt:lpstr>
      <vt:lpstr>Why Thread?</vt:lpstr>
      <vt:lpstr>Why Thread?</vt:lpstr>
      <vt:lpstr>CS621 Parallel and Distributed Computing</vt:lpstr>
      <vt:lpstr>Objectives</vt:lpstr>
      <vt:lpstr>What is the biggest challenge with using thread?</vt:lpstr>
      <vt:lpstr>Synchronization</vt:lpstr>
      <vt:lpstr>Synchronization Primitives of threads</vt:lpstr>
      <vt:lpstr>Mutual Exclusion </vt:lpstr>
      <vt:lpstr>Synchronization Primitives of threads</vt:lpstr>
      <vt:lpstr>CS621 Parallel and Distributed Computing</vt:lpstr>
      <vt:lpstr>Objectives</vt:lpstr>
      <vt:lpstr>Mutual Exclusion</vt:lpstr>
      <vt:lpstr>Mutual Exclusion Cont… </vt:lpstr>
      <vt:lpstr>Mutual Exclusion Cont… </vt:lpstr>
      <vt:lpstr>Producer-Consumer Using Mutex Locks</vt:lpstr>
      <vt:lpstr>Types of mutex</vt:lpstr>
      <vt:lpstr>CS621 Parallel and Distributed Computing</vt:lpstr>
      <vt:lpstr>Objectives</vt:lpstr>
      <vt:lpstr>Locking Overhead</vt:lpstr>
      <vt:lpstr>Locking overhead: Idling overheads</vt:lpstr>
      <vt:lpstr>Conditional Variable in Synchronization</vt:lpstr>
      <vt:lpstr>What is conditional variable?</vt:lpstr>
      <vt:lpstr>Conditional Variable in Synchronization</vt:lpstr>
      <vt:lpstr>Conditional Variable Cont…</vt:lpstr>
      <vt:lpstr>Conditional Variable Cont… </vt:lpstr>
      <vt:lpstr>Conditional Variable Cont… </vt:lpstr>
      <vt:lpstr>Conditional Variable Cont… </vt:lpstr>
      <vt:lpstr>Conditional Variable Cont…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Academics 1</dc:creator>
  <cp:lastModifiedBy>Muhammad Anwaar Saeed</cp:lastModifiedBy>
  <cp:revision>653</cp:revision>
  <dcterms:created xsi:type="dcterms:W3CDTF">2022-12-26T05:14:17Z</dcterms:created>
  <dcterms:modified xsi:type="dcterms:W3CDTF">2023-06-23T11:53:55Z</dcterms:modified>
</cp:coreProperties>
</file>