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Default Extension="png" ContentType="image/png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2639" y="9252745"/>
            <a:ext cx="263017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9521" y="9255326"/>
            <a:ext cx="309879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thoughtco.com/what-is-conversation-analysis-ca-1689923" TargetMode="External"/><Relationship Id="rId3" Type="http://schemas.openxmlformats.org/officeDocument/2006/relationships/hyperlink" Target="https://www.thoughtco.com/discourse-language-term-1690464" TargetMode="External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
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/Relationships>
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6124" y="3359022"/>
          <a:ext cx="6082030" cy="152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1395"/>
              </a:tblGrid>
              <a:tr h="1001776">
                <a:tc>
                  <a:txBody>
                    <a:bodyPr/>
                    <a:lstStyle/>
                    <a:p>
                      <a:pPr algn="ctr">
                        <a:lnSpc>
                          <a:spcPts val="3929"/>
                        </a:lnSpc>
                      </a:pPr>
                      <a:r>
                        <a:rPr dirty="0" sz="3600" spc="-5" b="1">
                          <a:latin typeface="Times New Roman"/>
                          <a:cs typeface="Times New Roman"/>
                        </a:rPr>
                        <a:t>Introduction</a:t>
                      </a:r>
                      <a:r>
                        <a:rPr dirty="0" sz="36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6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36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600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527140">
                <a:tc>
                  <a:txBody>
                    <a:bodyPr/>
                    <a:lstStyle/>
                    <a:p>
                      <a:pPr algn="ctr">
                        <a:lnSpc>
                          <a:spcPts val="4050"/>
                        </a:lnSpc>
                      </a:pPr>
                      <a:r>
                        <a:rPr dirty="0" sz="3600" spc="-5" b="1">
                          <a:latin typeface="Times New Roman"/>
                          <a:cs typeface="Times New Roman"/>
                        </a:rPr>
                        <a:t>(ENG502)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67482" y="9054795"/>
            <a:ext cx="279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VIRTUAL UNIVERSITY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06395" y="883665"/>
            <a:ext cx="19602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Table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of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Contents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6091" y="1249933"/>
          <a:ext cx="6304915" cy="783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92024">
                <a:tc>
                  <a:txBody>
                    <a:bodyPr/>
                    <a:lstStyle/>
                    <a:p>
                      <a:pPr marL="16319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Topic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Pg.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90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Non-Instinctive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2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9-10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2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Language: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Symbol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Behavioristic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View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10-11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Miscellaneous Definitions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HISTORY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 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12-14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Talking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14-16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009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16-19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Families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19-22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Towards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22-25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Indicatives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26-27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ORIGIN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Divine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Social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Interaction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Adaptation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27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Tool-Making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28-29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Genetic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CHARACTERISTICS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Characteristics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Displacement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Arbitrariness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30-31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Productivity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Cultural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Transmission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31-32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FUNCTIONS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Functions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(Verbal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Communication)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33-35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Powerful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Control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35-36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Performative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Entity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36-38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NONVERBAL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Aspects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Nonverbal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97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Principles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Nonverbal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Conveyance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Interpersonal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Emotional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Messages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1301"/>
          <a:ext cx="6304915" cy="8221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87756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Involuntary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40-41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Ambiguous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Credible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NONVERBAL COMMUNICATION AND SEMIOSIS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Nonverbal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Kinesics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Haptics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42-43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Vocalics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43-44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Proxemics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44-45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Chronemics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45-46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ANIMAL VS.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Introduction: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47-48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Broadcast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Directional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Reception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48-49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Creativity/Novelty/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Prevarication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49-50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Discreteness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50-51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Interchangeability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51-52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53-54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Explicitness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Systematicness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Objectivity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Scope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53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INTRA-DISCIPLINARY BRANCHES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Intra-disciplinary Branches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General-Linguistics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56-57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Descriptive-Linguistics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57-59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Historical-Linguistics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INTER-DISCIPLINARY BRANCHES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Inter-disciplinary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Sociolinguistics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60-61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Psycholinguistics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61-62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63-64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Geographical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GRAMMAR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65-66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Scientific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Descriptivism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67-68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Linguistics: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Non-Speculative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Nature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Objectivity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Spoken 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4400"/>
          <a:ext cx="6304915" cy="804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90753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PHONETICS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70-71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Nature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Functions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Articulatory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71-72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72-73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Auditory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73-74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Instrumental 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74-75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PHONOLOGY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76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Difference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76-77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Phoneme: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77-78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Segmental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78-79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Supra-segmental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263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380"/>
                        </a:lnSpc>
                      </a:pPr>
                      <a:r>
                        <a:rPr dirty="0" sz="1200" spc="-5" b="1">
                          <a:latin typeface="Times New Roman"/>
                          <a:cs typeface="Times New Roman"/>
                        </a:rPr>
                        <a:t>SYLLABLE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Syllable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Division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 Syllables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80-81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Syllable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Syllabic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Consonants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Syllable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82-83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Consonant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Clusters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83-85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Abutting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Consonants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STRESS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60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Types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(Word-stress)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089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65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Sentence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87-90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Syllable-timed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Stress-timed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90-91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General Rules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91-92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MORPHOLOGY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94-95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Bound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Lexical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MORPHOLOGY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4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Derivational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099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Inflectional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97-98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Derivational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Inflectional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Morphemes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98-99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Problems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Morphological 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Morphs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Allomorphs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99-100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row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MORPHOLOGY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4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89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Coinage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3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1301"/>
          <a:ext cx="6304915" cy="8124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87756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Borrowing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101-102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Compounding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Blending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102-103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Clipping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Acronyms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103-104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Derivation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(Prefixes,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Suffixes,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Infixes)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GRAMMAR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Agreement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106-107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Grammatical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1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GRAMMAR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4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Prescriptive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Constituent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 Bracketed Sentences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109-110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Gaelic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Sentence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SYNTAX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Generative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27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Properties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Generative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Well-Formed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Syntactic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Finite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Rules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Recursion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SYNTAX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Surface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Ambiguity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114-115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Symbols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Used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Syntactic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115-116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Diagrams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SYNTAX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(RULES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SYNTACTIC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DESCRIPTION)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8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Phrase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Rules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Lexical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Rules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117-118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Recursion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Transformational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Rules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118-119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Particle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Movement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119-120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120-121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SEMANTICS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197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4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4400"/>
          <a:ext cx="6304915" cy="822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90753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Conceptual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Denotative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Associative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Connotative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Prepositional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123-124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Prosodic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SEMANTICS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II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(SEMANTIC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ROLES)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Features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Roles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Instrument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Experiencer,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Location, Source and Goal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SEMANTICS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(LEXICAL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RELATIONS)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Synonymy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Antonymy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128-129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Hyponymy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Prototypes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129-130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Homophony,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Homonymy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Polysemy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130-131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Metonymy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PRAGMATICS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Invisible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 Context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Social/Cultural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PRAGMATICS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Deixis/Deictic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Deixis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134-135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Place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Deixis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135-136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Deixis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136-137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PRAGMATICS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Anaphora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Presupposition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Constancy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Negation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Indirect Speech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Origins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5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1301"/>
          <a:ext cx="6304915" cy="8214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87756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Interpreting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Cohesion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142-143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Coherence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42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Typology: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Spoken and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Written,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Formal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Informal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Sentence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144-145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Dialogue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145-146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Knowledge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Schemata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28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17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Conversation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Conversation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Turn-taking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147-148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Conversational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Principles: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Cooperative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Flouting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Cooperative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Principle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148-149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Conversational Principles: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Politeness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Brief History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CDA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Group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Considering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Considering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151-152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Considering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Discourse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Approaches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CDA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152-153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Scope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154-155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Applied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155-156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PSYCHOLINGUISTICS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Neurolinguistics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Areas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 Brain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157-158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Broca’s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Wernicke’s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158-159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Motor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Cortex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Arcuate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Fasciculus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Localization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209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159-160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PSYCHOLINGUISTICS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Tongue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Tips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Slips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Slips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Aphasia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Aphasia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Dichotic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Listening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6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1301"/>
          <a:ext cx="6304915" cy="8221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87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Period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SOCIOLINGUISTICS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Standard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Vernacular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164-165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Accent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Dialect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(Dialectology)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Pidgin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Creole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165-166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Diglossia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Polyglossia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166-167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Culture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ACQUISITION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Acquisition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Stages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Acquisition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Cooing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Babbling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168-169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One-Word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Two-Word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169-170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Telegraphic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Summary/Discussion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170-171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 ACQUISITION 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Acquisition Process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172-173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Syntax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Forming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Questions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173-174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Forming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Negatives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174-175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175-176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ACQUISITION/LEARNING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75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Second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Acquisition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Acquisition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Barriers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177-178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Affective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Factors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178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Method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178-179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Learner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179-180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Competence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180-181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Family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182-183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Grimm’s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Method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183-184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184-185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Change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186-187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Morphological Processing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Syntactic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Processing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187-188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Processing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188-189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7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6091" y="914400"/>
          <a:ext cx="6304915" cy="287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3634104"/>
                <a:gridCol w="923925"/>
                <a:gridCol w="704214"/>
              </a:tblGrid>
              <a:tr h="190753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LEXICOGRAPHY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Dictionary: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History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Materials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 Dictionaries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190-191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Dictionaries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Corpora for Lexicography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191-192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Developments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Dictionary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Design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Corpora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 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Compilation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Dictionaries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192-193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LATEST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194-195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Methodology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195-196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China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Japan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262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Linguistics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 India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263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197-198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Recent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Progress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Applied Linguistics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198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8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9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68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WHAT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LANGUAGE?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defined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scientific study </a:t>
            </a:r>
            <a:r>
              <a:rPr dirty="0" sz="1100">
                <a:latin typeface="Times New Roman"/>
                <a:cs typeface="Times New Roman"/>
              </a:rPr>
              <a:t>of language.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used to express </a:t>
            </a:r>
            <a:r>
              <a:rPr dirty="0" sz="1100" spc="-5">
                <a:latin typeface="Times New Roman"/>
                <a:cs typeface="Times New Roman"/>
              </a:rPr>
              <a:t>inner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emotions,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complex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abstract thoughts, learn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with others,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fulfill our wants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needs, </a:t>
            </a:r>
            <a:r>
              <a:rPr dirty="0" sz="1100">
                <a:latin typeface="Times New Roman"/>
                <a:cs typeface="Times New Roman"/>
              </a:rPr>
              <a:t>and to </a:t>
            </a:r>
            <a:r>
              <a:rPr dirty="0" sz="1100" spc="-5">
                <a:latin typeface="Times New Roman"/>
                <a:cs typeface="Times New Roman"/>
              </a:rPr>
              <a:t>establish rules </a:t>
            </a:r>
            <a:r>
              <a:rPr dirty="0" sz="1100">
                <a:latin typeface="Times New Roman"/>
                <a:cs typeface="Times New Roman"/>
              </a:rPr>
              <a:t>and maintain </a:t>
            </a:r>
            <a:r>
              <a:rPr dirty="0" sz="1100" spc="-5">
                <a:latin typeface="Times New Roman"/>
                <a:cs typeface="Times New Roman"/>
              </a:rPr>
              <a:t>our culture. Language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defined as </a:t>
            </a:r>
            <a:r>
              <a:rPr dirty="0" sz="1100">
                <a:latin typeface="Times New Roman"/>
                <a:cs typeface="Times New Roman"/>
              </a:rPr>
              <a:t> verbal,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biologically</a:t>
            </a:r>
            <a:r>
              <a:rPr dirty="0" sz="1100">
                <a:latin typeface="Times New Roman"/>
                <a:cs typeface="Times New Roman"/>
              </a:rPr>
              <a:t> innate,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language?’ is equal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‘What is life?’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>
                <a:latin typeface="Times New Roman"/>
                <a:cs typeface="Times New Roman"/>
              </a:rPr>
              <a:t>to define </a:t>
            </a:r>
            <a:r>
              <a:rPr dirty="0" sz="1100" spc="-5">
                <a:latin typeface="Times New Roman"/>
                <a:cs typeface="Times New Roman"/>
              </a:rPr>
              <a:t>the word ‘language’ especially when it has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alternate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French, </a:t>
            </a:r>
            <a:r>
              <a:rPr dirty="0" sz="1100" spc="-5">
                <a:latin typeface="Times New Roman"/>
                <a:cs typeface="Times New Roman"/>
              </a:rPr>
              <a:t>two words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‘language’: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‘langage’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‘langue’ whereas in Italian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alternate words are ‘linguaggio’ and ‘lingua’. Anyone who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possesses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language’ </a:t>
            </a:r>
            <a:r>
              <a:rPr dirty="0" sz="1100" spc="-10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English, Arabic, Urdu, </a:t>
            </a:r>
            <a:r>
              <a:rPr dirty="0" sz="1100">
                <a:latin typeface="Times New Roman"/>
                <a:cs typeface="Times New Roman"/>
              </a:rPr>
              <a:t>etc.., </a:t>
            </a:r>
            <a:r>
              <a:rPr dirty="0" sz="1100" spc="-5">
                <a:latin typeface="Times New Roman"/>
                <a:cs typeface="Times New Roman"/>
              </a:rPr>
              <a:t>possesses ‘language’. One cannot possess (or </a:t>
            </a:r>
            <a:r>
              <a:rPr dirty="0" sz="1100">
                <a:latin typeface="Times New Roman"/>
                <a:cs typeface="Times New Roman"/>
              </a:rPr>
              <a:t> use)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term </a:t>
            </a:r>
            <a:r>
              <a:rPr dirty="0" sz="1100" spc="-5">
                <a:latin typeface="Times New Roman"/>
                <a:cs typeface="Times New Roman"/>
              </a:rPr>
              <a:t>‘natural language’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applied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systems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communication, notation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calculation, about which there </a:t>
            </a:r>
            <a:r>
              <a:rPr dirty="0" sz="1100">
                <a:latin typeface="Times New Roman"/>
                <a:cs typeface="Times New Roman"/>
              </a:rPr>
              <a:t>is a room for </a:t>
            </a:r>
            <a:r>
              <a:rPr dirty="0" sz="1100" spc="-5">
                <a:latin typeface="Times New Roman"/>
                <a:cs typeface="Times New Roman"/>
              </a:rPr>
              <a:t>dispute, e.g., computer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mathematical language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language, so, they cannot </a:t>
            </a:r>
            <a:r>
              <a:rPr dirty="0" sz="1100" spc="-5">
                <a:latin typeface="Times New Roman"/>
                <a:cs typeface="Times New Roman"/>
              </a:rPr>
              <a:t>count as natural </a:t>
            </a:r>
            <a:r>
              <a:rPr dirty="0" sz="1100">
                <a:latin typeface="Times New Roman"/>
                <a:cs typeface="Times New Roman"/>
              </a:rPr>
              <a:t>languages. </a:t>
            </a:r>
            <a:r>
              <a:rPr dirty="0" sz="1100" spc="-5">
                <a:latin typeface="Times New Roman"/>
                <a:cs typeface="Times New Roman"/>
              </a:rPr>
              <a:t>These notational systems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artificial,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than </a:t>
            </a:r>
            <a:r>
              <a:rPr dirty="0" sz="1100">
                <a:latin typeface="Times New Roman"/>
                <a:cs typeface="Times New Roman"/>
              </a:rPr>
              <a:t>natural, </a:t>
            </a:r>
            <a:r>
              <a:rPr dirty="0" sz="1100" spc="-5">
                <a:latin typeface="Times New Roman"/>
                <a:cs typeface="Times New Roman"/>
              </a:rPr>
              <a:t>irrespective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whether </a:t>
            </a:r>
            <a:r>
              <a:rPr dirty="0" sz="1100">
                <a:latin typeface="Times New Roman"/>
                <a:cs typeface="Times New Roman"/>
              </a:rPr>
              <a:t>they are </a:t>
            </a:r>
            <a:r>
              <a:rPr dirty="0" sz="1100" spc="-5">
                <a:latin typeface="Times New Roman"/>
                <a:cs typeface="Times New Roman"/>
              </a:rPr>
              <a:t>rightly called languages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not. </a:t>
            </a:r>
            <a:r>
              <a:rPr dirty="0" sz="1100" spc="-5">
                <a:latin typeface="Times New Roman"/>
                <a:cs typeface="Times New Roman"/>
              </a:rPr>
              <a:t>Pre-existing natural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Esperanto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recognizably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spoken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world.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main </a:t>
            </a:r>
            <a:r>
              <a:rPr dirty="0" sz="1100">
                <a:latin typeface="Times New Roman"/>
                <a:cs typeface="Times New Roman"/>
              </a:rPr>
              <a:t>question </a:t>
            </a:r>
            <a:r>
              <a:rPr dirty="0" sz="1100" spc="-5">
                <a:latin typeface="Times New Roman"/>
                <a:cs typeface="Times New Roman"/>
              </a:rPr>
              <a:t>here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find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whether all natural languages have </a:t>
            </a:r>
            <a:r>
              <a:rPr dirty="0" sz="1100">
                <a:latin typeface="Times New Roman"/>
                <a:cs typeface="Times New Roman"/>
              </a:rPr>
              <a:t>something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not shared by other </a:t>
            </a:r>
            <a:r>
              <a:rPr dirty="0" sz="1100" spc="-5">
                <a:latin typeface="Times New Roman"/>
                <a:cs typeface="Times New Roman"/>
              </a:rPr>
              <a:t>systems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i.e., </a:t>
            </a:r>
            <a:r>
              <a:rPr dirty="0" sz="1100" spc="-5">
                <a:latin typeface="Times New Roman"/>
                <a:cs typeface="Times New Roman"/>
              </a:rPr>
              <a:t>animal communication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artificial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002: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Purely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Human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Non-instinctive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Sapir</a:t>
            </a:r>
            <a:r>
              <a:rPr dirty="0" sz="1100">
                <a:latin typeface="Times New Roman"/>
                <a:cs typeface="Times New Roman"/>
              </a:rPr>
              <a:t> (1921, p.8), </a:t>
            </a:r>
            <a:r>
              <a:rPr dirty="0" sz="1100" spc="-5">
                <a:latin typeface="Times New Roman"/>
                <a:cs typeface="Times New Roman"/>
              </a:rPr>
              <a:t>‘language</a:t>
            </a:r>
            <a:r>
              <a:rPr dirty="0" sz="1100">
                <a:latin typeface="Times New Roman"/>
                <a:cs typeface="Times New Roman"/>
              </a:rPr>
              <a:t> is a purely human and </a:t>
            </a:r>
            <a:r>
              <a:rPr dirty="0" sz="1100" spc="-5">
                <a:latin typeface="Times New Roman"/>
                <a:cs typeface="Times New Roman"/>
              </a:rPr>
              <a:t>non-instinctive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 </a:t>
            </a:r>
            <a:r>
              <a:rPr dirty="0" sz="1100">
                <a:latin typeface="Times New Roman"/>
                <a:cs typeface="Times New Roman"/>
              </a:rPr>
              <a:t>ideas, </a:t>
            </a:r>
            <a:r>
              <a:rPr dirty="0" sz="1100" spc="-5">
                <a:latin typeface="Times New Roman"/>
                <a:cs typeface="Times New Roman"/>
              </a:rPr>
              <a:t>emotions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desires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voluntarily </a:t>
            </a:r>
            <a:r>
              <a:rPr dirty="0" sz="1100">
                <a:latin typeface="Times New Roman"/>
                <a:cs typeface="Times New Roman"/>
              </a:rPr>
              <a:t>produced symbols.’ This </a:t>
            </a:r>
            <a:r>
              <a:rPr dirty="0" sz="1100" spc="-5">
                <a:latin typeface="Times New Roman"/>
                <a:cs typeface="Times New Roman"/>
              </a:rPr>
              <a:t>definition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suffers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defects.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‘idea’,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‘emotion’,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‘desire’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interpreted,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clear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 of </a:t>
            </a:r>
            <a:r>
              <a:rPr dirty="0" sz="1100" spc="-5">
                <a:latin typeface="Times New Roman"/>
                <a:cs typeface="Times New Roman"/>
              </a:rPr>
              <a:t>them, </a:t>
            </a:r>
            <a:r>
              <a:rPr dirty="0" sz="1100">
                <a:latin typeface="Times New Roman"/>
                <a:cs typeface="Times New Roman"/>
              </a:rPr>
              <a:t>and ‘idea’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particular is </a:t>
            </a:r>
            <a:r>
              <a:rPr dirty="0" sz="1100" spc="-5">
                <a:latin typeface="Times New Roman"/>
                <a:cs typeface="Times New Roman"/>
              </a:rPr>
              <a:t>inherently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vague </a:t>
            </a:r>
            <a:r>
              <a:rPr dirty="0" sz="1100">
                <a:latin typeface="Times New Roman"/>
                <a:cs typeface="Times New Roman"/>
              </a:rPr>
              <a:t>and imprecise. </a:t>
            </a:r>
            <a:r>
              <a:rPr dirty="0" sz="1100" spc="-5">
                <a:latin typeface="Times New Roman"/>
                <a:cs typeface="Times New Roman"/>
              </a:rPr>
              <a:t>‘Emotion’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‘desire’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‘idea’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5">
                <a:latin typeface="Times New Roman"/>
                <a:cs typeface="Times New Roman"/>
              </a:rPr>
              <a:t> precisely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many systems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voluntarily </a:t>
            </a:r>
            <a:r>
              <a:rPr dirty="0" sz="1100">
                <a:latin typeface="Times New Roman"/>
                <a:cs typeface="Times New Roman"/>
              </a:rPr>
              <a:t>produced symbols, for </a:t>
            </a:r>
            <a:r>
              <a:rPr dirty="0" sz="1100" spc="-5">
                <a:latin typeface="Times New Roman"/>
                <a:cs typeface="Times New Roman"/>
              </a:rPr>
              <a:t>example </a:t>
            </a:r>
            <a:r>
              <a:rPr dirty="0" sz="1100">
                <a:latin typeface="Times New Roman"/>
                <a:cs typeface="Times New Roman"/>
              </a:rPr>
              <a:t>body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 are voluntarily </a:t>
            </a:r>
            <a:r>
              <a:rPr dirty="0" sz="1100">
                <a:latin typeface="Times New Roman"/>
                <a:cs typeface="Times New Roman"/>
              </a:rPr>
              <a:t>produced. </a:t>
            </a:r>
            <a:r>
              <a:rPr dirty="0" sz="1100" spc="-5">
                <a:latin typeface="Times New Roman"/>
                <a:cs typeface="Times New Roman"/>
              </a:rPr>
              <a:t>‘Purely human’ </a:t>
            </a:r>
            <a:r>
              <a:rPr dirty="0" sz="1100">
                <a:latin typeface="Times New Roman"/>
                <a:cs typeface="Times New Roman"/>
              </a:rPr>
              <a:t>denotes </a:t>
            </a:r>
            <a:r>
              <a:rPr dirty="0" sz="1100" spc="-5">
                <a:latin typeface="Times New Roman"/>
                <a:cs typeface="Times New Roman"/>
              </a:rPr>
              <a:t>that only human beings </a:t>
            </a:r>
            <a:r>
              <a:rPr dirty="0" sz="1100">
                <a:latin typeface="Times New Roman"/>
                <a:cs typeface="Times New Roman"/>
              </a:rPr>
              <a:t>possess </a:t>
            </a:r>
            <a:r>
              <a:rPr dirty="0" sz="1100" spc="-5">
                <a:latin typeface="Times New Roman"/>
                <a:cs typeface="Times New Roman"/>
              </a:rPr>
              <a:t>language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communication system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very different from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animals. Animals also have communication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bees’ dance in </a:t>
            </a:r>
            <a:r>
              <a:rPr dirty="0" sz="1100" spc="-5">
                <a:latin typeface="Times New Roman"/>
                <a:cs typeface="Times New Roman"/>
              </a:rPr>
              <a:t>which bees communicate each other about the place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nectar. Birds </a:t>
            </a:r>
            <a:r>
              <a:rPr dirty="0" sz="1100">
                <a:latin typeface="Times New Roman"/>
                <a:cs typeface="Times New Roman"/>
              </a:rPr>
              <a:t> also </a:t>
            </a:r>
            <a:r>
              <a:rPr dirty="0" sz="1100" spc="-5">
                <a:latin typeface="Times New Roman"/>
                <a:cs typeface="Times New Roman"/>
              </a:rPr>
              <a:t>use certain </a:t>
            </a:r>
            <a:r>
              <a:rPr dirty="0" sz="1100">
                <a:latin typeface="Times New Roman"/>
                <a:cs typeface="Times New Roman"/>
              </a:rPr>
              <a:t>calls to </a:t>
            </a:r>
            <a:r>
              <a:rPr dirty="0" sz="1100" spc="-5">
                <a:latin typeface="Times New Roman"/>
                <a:cs typeface="Times New Roman"/>
              </a:rPr>
              <a:t>attract each other’s attention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to convey where food can be found, etc. The </a:t>
            </a:r>
            <a:r>
              <a:rPr dirty="0" sz="1100" spc="-5">
                <a:latin typeface="Times New Roman"/>
                <a:cs typeface="Times New Roman"/>
              </a:rPr>
              <a:t>next </a:t>
            </a:r>
            <a:r>
              <a:rPr dirty="0" sz="1100">
                <a:latin typeface="Times New Roman"/>
                <a:cs typeface="Times New Roman"/>
              </a:rPr>
              <a:t> aspect of </a:t>
            </a:r>
            <a:r>
              <a:rPr dirty="0" sz="1100" spc="-5">
                <a:latin typeface="Times New Roman"/>
                <a:cs typeface="Times New Roman"/>
              </a:rPr>
              <a:t>this definition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‘non-instinctive’ which means non-inherited.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means that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inherited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parents to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child.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parents take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child to another </a:t>
            </a:r>
            <a:r>
              <a:rPr dirty="0" sz="1100" spc="-5">
                <a:latin typeface="Times New Roman"/>
                <a:cs typeface="Times New Roman"/>
              </a:rPr>
              <a:t>country,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learn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that country rather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parents. Another aspect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definition </a:t>
            </a:r>
            <a:r>
              <a:rPr dirty="0" sz="1100">
                <a:latin typeface="Times New Roman"/>
                <a:cs typeface="Times New Roman"/>
              </a:rPr>
              <a:t>is ‘voluntarily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produced’.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Sapir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groans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involuntarily </a:t>
            </a:r>
            <a:r>
              <a:rPr dirty="0" sz="1100">
                <a:latin typeface="Times New Roman"/>
                <a:cs typeface="Times New Roman"/>
              </a:rPr>
              <a:t>produced.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1540" cy="81940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encompasses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voluntarily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non-instinctive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003: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Language: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Symbol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system of arbitrary </a:t>
            </a:r>
            <a:r>
              <a:rPr dirty="0" sz="1100" spc="-5">
                <a:latin typeface="Times New Roman"/>
                <a:cs typeface="Times New Roman"/>
              </a:rPr>
              <a:t>vocal symbols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 group </a:t>
            </a:r>
            <a:r>
              <a:rPr dirty="0" sz="1100">
                <a:latin typeface="Times New Roman"/>
                <a:cs typeface="Times New Roman"/>
              </a:rPr>
              <a:t>co-operates.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 a system of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enable </a:t>
            </a:r>
            <a:r>
              <a:rPr dirty="0" sz="1100" spc="-10">
                <a:latin typeface="Times New Roman"/>
                <a:cs typeface="Times New Roman"/>
              </a:rPr>
              <a:t>us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>
                <a:latin typeface="Times New Roman"/>
                <a:cs typeface="Times New Roman"/>
              </a:rPr>
              <a:t> used 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can include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sounds as </a:t>
            </a:r>
            <a:r>
              <a:rPr dirty="0" sz="1100" spc="-5">
                <a:latin typeface="Times New Roman"/>
                <a:cs typeface="Times New Roman"/>
              </a:rPr>
              <a:t>well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writing symbols while the rules include grammar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pronouns, </a:t>
            </a:r>
            <a:r>
              <a:rPr dirty="0" sz="1100" spc="-5">
                <a:latin typeface="Times New Roman"/>
                <a:cs typeface="Times New Roman"/>
              </a:rPr>
              <a:t>tense, </a:t>
            </a:r>
            <a:r>
              <a:rPr dirty="0" sz="1100">
                <a:latin typeface="Times New Roman"/>
                <a:cs typeface="Times New Roman"/>
              </a:rPr>
              <a:t>etc.), </a:t>
            </a:r>
            <a:r>
              <a:rPr dirty="0" sz="1100" spc="-5">
                <a:latin typeface="Times New Roman"/>
                <a:cs typeface="Times New Roman"/>
              </a:rPr>
              <a:t>parsing,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pragmatics. There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an arbitrary relationship between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its referent.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Every language </a:t>
            </a:r>
            <a:r>
              <a:rPr dirty="0" sz="1100">
                <a:latin typeface="Times New Roman"/>
                <a:cs typeface="Times New Roman"/>
              </a:rPr>
              <a:t>has its </a:t>
            </a:r>
            <a:r>
              <a:rPr dirty="0" sz="1100" spc="-5">
                <a:latin typeface="Times New Roman"/>
                <a:cs typeface="Times New Roman"/>
              </a:rPr>
              <a:t>own way </a:t>
            </a:r>
            <a:r>
              <a:rPr dirty="0" sz="1100">
                <a:latin typeface="Times New Roman"/>
                <a:cs typeface="Times New Roman"/>
              </a:rPr>
              <a:t>of encoding and </a:t>
            </a:r>
            <a:r>
              <a:rPr dirty="0" sz="1100" spc="-5">
                <a:latin typeface="Times New Roman"/>
                <a:cs typeface="Times New Roman"/>
              </a:rPr>
              <a:t>expressing human experience, and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entire </a:t>
            </a:r>
            <a:r>
              <a:rPr dirty="0" sz="1100">
                <a:latin typeface="Times New Roman"/>
                <a:cs typeface="Times New Roman"/>
              </a:rPr>
              <a:t>way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thinking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lost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becomes extinct.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differentiate between language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whereby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sender</a:t>
            </a:r>
            <a:r>
              <a:rPr dirty="0" sz="1100">
                <a:latin typeface="Times New Roman"/>
                <a:cs typeface="Times New Roman"/>
              </a:rPr>
              <a:t> and the </a:t>
            </a:r>
            <a:r>
              <a:rPr dirty="0" sz="1100" spc="-5">
                <a:latin typeface="Times New Roman"/>
                <a:cs typeface="Times New Roman"/>
              </a:rPr>
              <a:t>receiver.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transmitted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scent, </a:t>
            </a:r>
            <a:r>
              <a:rPr dirty="0" sz="1100" spc="-5">
                <a:latin typeface="Times New Roman"/>
                <a:cs typeface="Times New Roman"/>
              </a:rPr>
              <a:t>song, gesture,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painting,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symbolic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Behavioristic View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60134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‘the institution </a:t>
            </a:r>
            <a:r>
              <a:rPr dirty="0" sz="1100">
                <a:latin typeface="Times New Roman"/>
                <a:cs typeface="Times New Roman"/>
              </a:rPr>
              <a:t>whereby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communicate and </a:t>
            </a:r>
            <a:r>
              <a:rPr dirty="0" sz="1100" spc="-5">
                <a:latin typeface="Times New Roman"/>
                <a:cs typeface="Times New Roman"/>
              </a:rPr>
              <a:t>interact with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habitually </a:t>
            </a:r>
            <a:r>
              <a:rPr dirty="0" sz="1100">
                <a:latin typeface="Times New Roman"/>
                <a:cs typeface="Times New Roman"/>
              </a:rPr>
              <a:t>used oral—auditory </a:t>
            </a:r>
            <a:r>
              <a:rPr dirty="0" sz="1100" spc="-5">
                <a:latin typeface="Times New Roman"/>
                <a:cs typeface="Times New Roman"/>
              </a:rPr>
              <a:t>arbitrary </a:t>
            </a:r>
            <a:r>
              <a:rPr dirty="0" sz="1100">
                <a:latin typeface="Times New Roman"/>
                <a:cs typeface="Times New Roman"/>
              </a:rPr>
              <a:t>symbols’. </a:t>
            </a:r>
            <a:r>
              <a:rPr dirty="0" sz="1100" spc="-5">
                <a:latin typeface="Times New Roman"/>
                <a:cs typeface="Times New Roman"/>
              </a:rPr>
              <a:t>Hall (1968, p.158),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his ‘An Essay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Language’, introduced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terms institution,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habitually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oral—auditory arbitrary symbols.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noteworthy in </a:t>
            </a:r>
            <a:r>
              <a:rPr dirty="0" sz="1100" spc="-5">
                <a:latin typeface="Times New Roman"/>
                <a:cs typeface="Times New Roman"/>
              </a:rPr>
              <a:t>Hall’s definition, however,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his </a:t>
            </a:r>
            <a:r>
              <a:rPr dirty="0" sz="1100">
                <a:latin typeface="Times New Roman"/>
                <a:cs typeface="Times New Roman"/>
              </a:rPr>
              <a:t>use of the </a:t>
            </a:r>
            <a:r>
              <a:rPr dirty="0" sz="1100" spc="-5">
                <a:latin typeface="Times New Roman"/>
                <a:cs typeface="Times New Roman"/>
              </a:rPr>
              <a:t>term ‘habitually </a:t>
            </a:r>
            <a:r>
              <a:rPr dirty="0" sz="1100">
                <a:latin typeface="Times New Roman"/>
                <a:cs typeface="Times New Roman"/>
              </a:rPr>
              <a:t>used’ </a:t>
            </a:r>
            <a:r>
              <a:rPr dirty="0" sz="1100" spc="-5">
                <a:latin typeface="Times New Roman"/>
                <a:cs typeface="Times New Roman"/>
              </a:rPr>
              <a:t>and there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 reasons for this. Linguistics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psychology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strongly </a:t>
            </a:r>
            <a:r>
              <a:rPr dirty="0" sz="1100">
                <a:latin typeface="Times New Roman"/>
                <a:cs typeface="Times New Roman"/>
              </a:rPr>
              <a:t>influenced </a:t>
            </a:r>
            <a:r>
              <a:rPr dirty="0" sz="1100" spc="-5">
                <a:latin typeface="Times New Roman"/>
                <a:cs typeface="Times New Roman"/>
              </a:rPr>
              <a:t>for about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thirty years </a:t>
            </a:r>
            <a:r>
              <a:rPr dirty="0" sz="1100">
                <a:latin typeface="Times New Roman"/>
                <a:cs typeface="Times New Roman"/>
              </a:rPr>
              <a:t>or so, </a:t>
            </a:r>
            <a:r>
              <a:rPr dirty="0" sz="1100" spc="-5">
                <a:latin typeface="Times New Roman"/>
                <a:cs typeface="Times New Roman"/>
              </a:rPr>
              <a:t>especially </a:t>
            </a:r>
            <a:r>
              <a:rPr dirty="0" sz="1100">
                <a:latin typeface="Times New Roman"/>
                <a:cs typeface="Times New Roman"/>
              </a:rPr>
              <a:t>in America, by the stimulus—response </a:t>
            </a:r>
            <a:r>
              <a:rPr dirty="0" sz="1100" spc="-5">
                <a:latin typeface="Times New Roman"/>
                <a:cs typeface="Times New Roman"/>
              </a:rPr>
              <a:t>theories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behaviourists. Within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theoretical framework </a:t>
            </a:r>
            <a:r>
              <a:rPr dirty="0" sz="1100" spc="5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behaviourism,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 </a:t>
            </a:r>
            <a:r>
              <a:rPr dirty="0" sz="1100">
                <a:latin typeface="Times New Roman"/>
                <a:cs typeface="Times New Roman"/>
              </a:rPr>
              <a:t>‘habit’ </a:t>
            </a:r>
            <a:r>
              <a:rPr dirty="0" sz="1100" spc="-5">
                <a:latin typeface="Times New Roman"/>
                <a:cs typeface="Times New Roman"/>
              </a:rPr>
              <a:t>acquired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rather special sense which </a:t>
            </a:r>
            <a:r>
              <a:rPr dirty="0" sz="1100">
                <a:latin typeface="Times New Roman"/>
                <a:cs typeface="Times New Roman"/>
              </a:rPr>
              <a:t>laid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term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‘habitually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60134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term </a:t>
            </a:r>
            <a:r>
              <a:rPr dirty="0" sz="1100" spc="-5">
                <a:latin typeface="Times New Roman"/>
                <a:cs typeface="Times New Roman"/>
              </a:rPr>
              <a:t>‘habit’ was used with reference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bits </a:t>
            </a:r>
            <a:r>
              <a:rPr dirty="0" sz="1100">
                <a:latin typeface="Times New Roman"/>
                <a:cs typeface="Times New Roman"/>
              </a:rPr>
              <a:t>of behaviour </a:t>
            </a:r>
            <a:r>
              <a:rPr dirty="0" sz="1100" spc="-5">
                <a:latin typeface="Times New Roman"/>
                <a:cs typeface="Times New Roman"/>
              </a:rPr>
              <a:t>that could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identified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predictable responses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particular stimuli. Hall presumably means </a:t>
            </a:r>
            <a:r>
              <a:rPr dirty="0" sz="1100">
                <a:latin typeface="Times New Roman"/>
                <a:cs typeface="Times New Roman"/>
              </a:rPr>
              <a:t>by language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‘symbols’,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>
                <a:latin typeface="Times New Roman"/>
                <a:cs typeface="Times New Roman"/>
              </a:rPr>
              <a:t> signals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actually transmitted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sender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receiver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clear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‘habit’,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non-technical,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utterances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either themselves habits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constructed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habits.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‘symbol’ is </a:t>
            </a:r>
            <a:r>
              <a:rPr dirty="0" sz="1100">
                <a:latin typeface="Times New Roman"/>
                <a:cs typeface="Times New Roman"/>
              </a:rPr>
              <a:t> being used to </a:t>
            </a:r>
            <a:r>
              <a:rPr dirty="0" sz="1100" spc="-5">
                <a:latin typeface="Times New Roman"/>
                <a:cs typeface="Times New Roman"/>
              </a:rPr>
              <a:t>refer,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language-utterances, but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phrases,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still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wrong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 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matter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habit,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occasion.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005: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View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Chomsky’s ‘Syntactic Structure’ (1957),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(finite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infinite)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finite in length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constructed out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finite set </a:t>
            </a:r>
            <a:r>
              <a:rPr dirty="0" sz="1100">
                <a:latin typeface="Times New Roman"/>
                <a:cs typeface="Times New Roman"/>
              </a:rPr>
              <a:t>of elements.’ </a:t>
            </a:r>
            <a:r>
              <a:rPr dirty="0" sz="1100" spc="-5">
                <a:latin typeface="Times New Roman"/>
                <a:cs typeface="Times New Roman"/>
              </a:rPr>
              <a:t>All natural languages, both </a:t>
            </a:r>
            <a:r>
              <a:rPr dirty="0" sz="1100">
                <a:latin typeface="Times New Roman"/>
                <a:cs typeface="Times New Roman"/>
              </a:rPr>
              <a:t> spoken and </a:t>
            </a:r>
            <a:r>
              <a:rPr dirty="0" sz="1100" spc="-5">
                <a:latin typeface="Times New Roman"/>
                <a:cs typeface="Times New Roman"/>
              </a:rPr>
              <a:t>written, are languages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sense </a:t>
            </a:r>
            <a:r>
              <a:rPr dirty="0" sz="1100" spc="-10">
                <a:latin typeface="Times New Roman"/>
                <a:cs typeface="Times New Roman"/>
              </a:rPr>
              <a:t>of his </a:t>
            </a:r>
            <a:r>
              <a:rPr dirty="0" sz="1100" spc="-5">
                <a:latin typeface="Times New Roman"/>
                <a:cs typeface="Times New Roman"/>
              </a:rPr>
              <a:t>definition. Each language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finite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differentiate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10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3445" cy="46843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-5">
                <a:latin typeface="Times New Roman"/>
                <a:cs typeface="Times New Roman"/>
              </a:rPr>
              <a:t>and non-sentence </a:t>
            </a:r>
            <a:r>
              <a:rPr dirty="0" sz="1100">
                <a:latin typeface="Times New Roman"/>
                <a:cs typeface="Times New Roman"/>
              </a:rPr>
              <a:t>sequences. </a:t>
            </a:r>
            <a:r>
              <a:rPr dirty="0" sz="1100" spc="-5">
                <a:latin typeface="Times New Roman"/>
                <a:cs typeface="Times New Roman"/>
              </a:rPr>
              <a:t>Chomsky believes that structural properties are complex, abstract,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highly specific which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child prior </a:t>
            </a:r>
            <a:r>
              <a:rPr dirty="0" sz="1100">
                <a:latin typeface="Times New Roman"/>
                <a:cs typeface="Times New Roman"/>
              </a:rPr>
              <a:t>to his </a:t>
            </a:r>
            <a:r>
              <a:rPr dirty="0" sz="1100" spc="-5">
                <a:latin typeface="Times New Roman"/>
                <a:cs typeface="Times New Roman"/>
              </a:rPr>
              <a:t>experience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>
                <a:latin typeface="Times New Roman"/>
                <a:cs typeface="Times New Roman"/>
              </a:rPr>
              <a:t>natural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regard, </a:t>
            </a:r>
            <a:r>
              <a:rPr dirty="0" sz="1100" spc="-5">
                <a:latin typeface="Times New Roman"/>
                <a:cs typeface="Times New Roman"/>
              </a:rPr>
              <a:t>Chomsky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rationalist rather than empiricist. </a:t>
            </a: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Chomsky,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structure–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dependent. </a:t>
            </a:r>
            <a:r>
              <a:rPr dirty="0" sz="1100" spc="-5">
                <a:latin typeface="Times New Roman"/>
                <a:cs typeface="Times New Roman"/>
              </a:rPr>
              <a:t>The definition </a:t>
            </a:r>
            <a:r>
              <a:rPr dirty="0" sz="1100">
                <a:latin typeface="Times New Roman"/>
                <a:cs typeface="Times New Roman"/>
              </a:rPr>
              <a:t>encompasses </a:t>
            </a:r>
            <a:r>
              <a:rPr dirty="0" sz="1100" spc="-5">
                <a:latin typeface="Times New Roman"/>
                <a:cs typeface="Times New Roman"/>
              </a:rPr>
              <a:t>purely </a:t>
            </a:r>
            <a:r>
              <a:rPr dirty="0" sz="1100">
                <a:latin typeface="Times New Roman"/>
                <a:cs typeface="Times New Roman"/>
              </a:rPr>
              <a:t>structural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suggests </a:t>
            </a:r>
            <a:r>
              <a:rPr dirty="0" sz="1100" spc="1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investigated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006: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Miscellaneous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Definitions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6013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expression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ideas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are combined into </a:t>
            </a:r>
            <a:r>
              <a:rPr dirty="0" sz="1100">
                <a:latin typeface="Times New Roman"/>
                <a:cs typeface="Times New Roman"/>
              </a:rPr>
              <a:t>words,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combined into </a:t>
            </a:r>
            <a:r>
              <a:rPr dirty="0" sz="1100">
                <a:latin typeface="Times New Roman"/>
                <a:cs typeface="Times New Roman"/>
              </a:rPr>
              <a:t>sentences </a:t>
            </a:r>
            <a:r>
              <a:rPr dirty="0" sz="1100" spc="-5">
                <a:latin typeface="Times New Roman"/>
                <a:cs typeface="Times New Roman"/>
              </a:rPr>
              <a:t>(Sweet, 1895). 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symbols is principally </a:t>
            </a:r>
            <a:r>
              <a:rPr dirty="0" sz="1100">
                <a:latin typeface="Times New Roman"/>
                <a:cs typeface="Times New Roman"/>
              </a:rPr>
              <a:t>transmitted by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(Hobbins, </a:t>
            </a:r>
            <a:r>
              <a:rPr dirty="0" sz="1100">
                <a:latin typeface="Times New Roman"/>
                <a:cs typeface="Times New Roman"/>
              </a:rPr>
              <a:t>1990).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(or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graphic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writing)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systematically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conventionally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(Crystal,</a:t>
            </a:r>
            <a:r>
              <a:rPr dirty="0" sz="1100">
                <a:latin typeface="Times New Roman"/>
                <a:cs typeface="Times New Roman"/>
              </a:rPr>
              <a:t> 1989)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infinitely </a:t>
            </a:r>
            <a:r>
              <a:rPr dirty="0" sz="1100">
                <a:latin typeface="Times New Roman"/>
                <a:cs typeface="Times New Roman"/>
              </a:rPr>
              <a:t>extendable and </a:t>
            </a:r>
            <a:r>
              <a:rPr dirty="0" sz="1100" spc="-5">
                <a:latin typeface="Times New Roman"/>
                <a:cs typeface="Times New Roman"/>
              </a:rPr>
              <a:t>modifiable 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changing </a:t>
            </a:r>
            <a:r>
              <a:rPr dirty="0" sz="1100">
                <a:latin typeface="Times New Roman"/>
                <a:cs typeface="Times New Roman"/>
              </a:rPr>
              <a:t>needs and </a:t>
            </a:r>
            <a:r>
              <a:rPr dirty="0" sz="1100" spc="-5">
                <a:latin typeface="Times New Roman"/>
                <a:cs typeface="Times New Roman"/>
              </a:rPr>
              <a:t>conditions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speaker (Robins, </a:t>
            </a:r>
            <a:r>
              <a:rPr dirty="0" sz="1100">
                <a:latin typeface="Times New Roman"/>
                <a:cs typeface="Times New Roman"/>
              </a:rPr>
              <a:t> 1979).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consists of </a:t>
            </a:r>
            <a:r>
              <a:rPr dirty="0" sz="1100" spc="-5">
                <a:latin typeface="Times New Roman"/>
                <a:cs typeface="Times New Roman"/>
              </a:rPr>
              <a:t>symbols </a:t>
            </a:r>
            <a:r>
              <a:rPr dirty="0" sz="1100">
                <a:latin typeface="Times New Roman"/>
                <a:cs typeface="Times New Roman"/>
              </a:rPr>
              <a:t>that convey </a:t>
            </a:r>
            <a:r>
              <a:rPr dirty="0" sz="1100" spc="-5">
                <a:latin typeface="Times New Roman"/>
                <a:cs typeface="Times New Roman"/>
              </a:rPr>
              <a:t>meaning, </a:t>
            </a:r>
            <a:r>
              <a:rPr dirty="0" sz="1100">
                <a:latin typeface="Times New Roman"/>
                <a:cs typeface="Times New Roman"/>
              </a:rPr>
              <a:t>plus rules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combining those </a:t>
            </a:r>
            <a:r>
              <a:rPr dirty="0" sz="1100" spc="-5">
                <a:latin typeface="Times New Roman"/>
                <a:cs typeface="Times New Roman"/>
              </a:rPr>
              <a:t>symbols, that </a:t>
            </a:r>
            <a:r>
              <a:rPr dirty="0" sz="1100">
                <a:latin typeface="Times New Roman"/>
                <a:cs typeface="Times New Roman"/>
              </a:rPr>
              <a:t> can be </a:t>
            </a:r>
            <a:r>
              <a:rPr dirty="0" sz="1100" spc="-5">
                <a:latin typeface="Times New Roman"/>
                <a:cs typeface="Times New Roman"/>
              </a:rPr>
              <a:t>used to generate an infinite 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messages (Weiten, </a:t>
            </a:r>
            <a:r>
              <a:rPr dirty="0" sz="1100">
                <a:latin typeface="Times New Roman"/>
                <a:cs typeface="Times New Roman"/>
              </a:rPr>
              <a:t>2007).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not an </a:t>
            </a:r>
            <a:r>
              <a:rPr dirty="0" sz="1100" spc="-5">
                <a:latin typeface="Times New Roman"/>
                <a:cs typeface="Times New Roman"/>
              </a:rPr>
              <a:t>abstract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learned, </a:t>
            </a:r>
            <a:r>
              <a:rPr dirty="0" sz="1100">
                <a:latin typeface="Times New Roman"/>
                <a:cs typeface="Times New Roman"/>
              </a:rPr>
              <a:t>or of </a:t>
            </a:r>
            <a:r>
              <a:rPr dirty="0" sz="1100" spc="-5">
                <a:latin typeface="Times New Roman"/>
                <a:cs typeface="Times New Roman"/>
              </a:rPr>
              <a:t>dictionary makers, </a:t>
            </a:r>
            <a:r>
              <a:rPr dirty="0" sz="1100">
                <a:latin typeface="Times New Roman"/>
                <a:cs typeface="Times New Roman"/>
              </a:rPr>
              <a:t>but is </a:t>
            </a:r>
            <a:r>
              <a:rPr dirty="0" sz="1100" spc="-5">
                <a:latin typeface="Times New Roman"/>
                <a:cs typeface="Times New Roman"/>
              </a:rPr>
              <a:t>something </a:t>
            </a:r>
            <a:r>
              <a:rPr dirty="0" sz="1100">
                <a:latin typeface="Times New Roman"/>
                <a:cs typeface="Times New Roman"/>
              </a:rPr>
              <a:t>arising out of the </a:t>
            </a:r>
            <a:r>
              <a:rPr dirty="0" sz="1100" spc="-10">
                <a:latin typeface="Times New Roman"/>
                <a:cs typeface="Times New Roman"/>
              </a:rPr>
              <a:t>work, </a:t>
            </a:r>
            <a:r>
              <a:rPr dirty="0" sz="1100">
                <a:latin typeface="Times New Roman"/>
                <a:cs typeface="Times New Roman"/>
              </a:rPr>
              <a:t>needs, </a:t>
            </a:r>
            <a:r>
              <a:rPr dirty="0" sz="1100" spc="-5">
                <a:latin typeface="Times New Roman"/>
                <a:cs typeface="Times New Roman"/>
              </a:rPr>
              <a:t>ties,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joys, affections, and tastes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long generations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humanity, </a:t>
            </a:r>
            <a:r>
              <a:rPr dirty="0" sz="1100">
                <a:latin typeface="Times New Roman"/>
                <a:cs typeface="Times New Roman"/>
              </a:rPr>
              <a:t>and has </a:t>
            </a:r>
            <a:r>
              <a:rPr dirty="0" sz="1100" spc="-5">
                <a:latin typeface="Times New Roman"/>
                <a:cs typeface="Times New Roman"/>
              </a:rPr>
              <a:t>its bases broad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low, close to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ground (Whitman).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above-mentioned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encompass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Arbitrariness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Flexibility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modifiability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Freedom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stimulus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Structure-dependence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11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7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2810" cy="768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HISTORY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007:</a:t>
            </a:r>
            <a:r>
              <a:rPr dirty="0" u="heavy" sz="1100" spc="2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Animal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Earth’s </a:t>
            </a:r>
            <a:r>
              <a:rPr dirty="0" sz="1100" spc="-5">
                <a:latin typeface="Times New Roman"/>
                <a:cs typeface="Times New Roman"/>
              </a:rPr>
              <a:t>earliest organisms evolved primitive mechanisms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exchange capable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species, </a:t>
            </a:r>
            <a:r>
              <a:rPr dirty="0" sz="1100" spc="-5">
                <a:latin typeface="Times New Roman"/>
                <a:cs typeface="Times New Roman"/>
              </a:rPr>
              <a:t>gender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intent.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medium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5">
                <a:latin typeface="Times New Roman"/>
                <a:cs typeface="Times New Roman"/>
              </a:rPr>
              <a:t>was </a:t>
            </a:r>
            <a:r>
              <a:rPr dirty="0" sz="1100" spc="-5">
                <a:latin typeface="Times New Roman"/>
                <a:cs typeface="Times New Roman"/>
              </a:rPr>
              <a:t>chemo </a:t>
            </a:r>
            <a:r>
              <a:rPr dirty="0" sz="1100">
                <a:latin typeface="Times New Roman"/>
                <a:cs typeface="Times New Roman"/>
              </a:rPr>
              <a:t>communication.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was a </a:t>
            </a:r>
            <a:r>
              <a:rPr dirty="0" sz="1100" spc="-5">
                <a:latin typeface="Times New Roman"/>
                <a:cs typeface="Times New Roman"/>
              </a:rPr>
              <a:t>complex 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Continuous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procreate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necessitated 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evolutionary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broadest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born.</a:t>
            </a:r>
            <a:r>
              <a:rPr dirty="0" sz="1100">
                <a:latin typeface="Times New Roman"/>
                <a:cs typeface="Times New Roman"/>
              </a:rPr>
              <a:t> Each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deeper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probes,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species’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 ability distinguished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ever more </a:t>
            </a:r>
            <a:r>
              <a:rPr dirty="0" sz="1100">
                <a:latin typeface="Times New Roman"/>
                <a:cs typeface="Times New Roman"/>
              </a:rPr>
              <a:t>elaborate </a:t>
            </a:r>
            <a:r>
              <a:rPr dirty="0" sz="1100" spc="-5">
                <a:latin typeface="Times New Roman"/>
                <a:cs typeface="Times New Roman"/>
              </a:rPr>
              <a:t>definitions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concept </a:t>
            </a:r>
            <a:r>
              <a:rPr dirty="0" sz="1100" spc="-5">
                <a:latin typeface="Times New Roman"/>
                <a:cs typeface="Times New Roman"/>
              </a:rPr>
              <a:t>‘language’.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simplest definition, language signifies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exchange’. </a:t>
            </a:r>
            <a:r>
              <a:rPr dirty="0" sz="1100" spc="-5">
                <a:latin typeface="Times New Roman"/>
                <a:cs typeface="Times New Roman"/>
              </a:rPr>
              <a:t>This definition allows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encompass facial expressions, gestures, postures, whistles, hand signs, writing,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programming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computer)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and 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bioacoustic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information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emissions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life forms) that occur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frequencies beyond human </a:t>
            </a:r>
            <a:r>
              <a:rPr dirty="0" sz="1100">
                <a:latin typeface="Times New Roman"/>
                <a:cs typeface="Times New Roman"/>
              </a:rPr>
              <a:t>hearing, </a:t>
            </a:r>
            <a:r>
              <a:rPr dirty="0" sz="1100" spc="-5">
                <a:latin typeface="Times New Roman"/>
                <a:cs typeface="Times New Roman"/>
              </a:rPr>
              <a:t>for example,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average </a:t>
            </a:r>
            <a:r>
              <a:rPr dirty="0" sz="1100">
                <a:latin typeface="Times New Roman"/>
                <a:cs typeface="Times New Roman"/>
              </a:rPr>
              <a:t>15-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year-old human </a:t>
            </a:r>
            <a:r>
              <a:rPr dirty="0" sz="1100">
                <a:latin typeface="Times New Roman"/>
                <a:cs typeface="Times New Roman"/>
              </a:rPr>
              <a:t>can hear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5">
                <a:latin typeface="Times New Roman"/>
                <a:cs typeface="Times New Roman"/>
              </a:rPr>
              <a:t>ten </a:t>
            </a:r>
            <a:r>
              <a:rPr dirty="0" sz="1100" spc="-5">
                <a:latin typeface="Times New Roman"/>
                <a:cs typeface="Times New Roman"/>
              </a:rPr>
              <a:t>octaves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 loudness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closeness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normal conversation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is, between </a:t>
            </a:r>
            <a:r>
              <a:rPr dirty="0" sz="1100">
                <a:latin typeface="Times New Roman"/>
                <a:cs typeface="Times New Roman"/>
              </a:rPr>
              <a:t>30-18,000 hertz </a:t>
            </a:r>
            <a:r>
              <a:rPr dirty="0" sz="1100" spc="-5">
                <a:latin typeface="Times New Roman"/>
                <a:cs typeface="Times New Roman"/>
              </a:rPr>
              <a:t>(cycles per second). </a:t>
            </a:r>
            <a:r>
              <a:rPr dirty="0" sz="1100">
                <a:latin typeface="Times New Roman"/>
                <a:cs typeface="Times New Roman"/>
              </a:rPr>
              <a:t>Birds, </a:t>
            </a:r>
            <a:r>
              <a:rPr dirty="0" sz="1100" spc="-5">
                <a:latin typeface="Times New Roman"/>
                <a:cs typeface="Times New Roman"/>
              </a:rPr>
              <a:t>frogs, </a:t>
            </a:r>
            <a:r>
              <a:rPr dirty="0" sz="1100">
                <a:latin typeface="Times New Roman"/>
                <a:cs typeface="Times New Roman"/>
              </a:rPr>
              <a:t>toads, and </a:t>
            </a:r>
            <a:r>
              <a:rPr dirty="0" sz="1100" spc="-5">
                <a:latin typeface="Times New Roman"/>
                <a:cs typeface="Times New Roman"/>
              </a:rPr>
              <a:t>dogs all vocalize within this </a:t>
            </a:r>
            <a:r>
              <a:rPr dirty="0" sz="1100">
                <a:latin typeface="Times New Roman"/>
                <a:cs typeface="Times New Roman"/>
              </a:rPr>
              <a:t> range.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Bioacoustics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Bioacoustics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turned its attention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fish as well, </a:t>
            </a:r>
            <a:r>
              <a:rPr dirty="0" sz="1100">
                <a:latin typeface="Times New Roman"/>
                <a:cs typeface="Times New Roman"/>
              </a:rPr>
              <a:t>since, </a:t>
            </a:r>
            <a:r>
              <a:rPr dirty="0" sz="1100" spc="-5">
                <a:latin typeface="Times New Roman"/>
                <a:cs typeface="Times New Roman"/>
              </a:rPr>
              <a:t>particularly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laying, many </a:t>
            </a:r>
            <a:r>
              <a:rPr dirty="0" sz="1100">
                <a:latin typeface="Times New Roman"/>
                <a:cs typeface="Times New Roman"/>
              </a:rPr>
              <a:t>fish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emit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representative </a:t>
            </a:r>
            <a:r>
              <a:rPr dirty="0" sz="1100">
                <a:latin typeface="Times New Roman"/>
                <a:cs typeface="Times New Roman"/>
              </a:rPr>
              <a:t>‘complex </a:t>
            </a:r>
            <a:r>
              <a:rPr dirty="0" sz="1100" spc="-5">
                <a:latin typeface="Times New Roman"/>
                <a:cs typeface="Times New Roman"/>
              </a:rPr>
              <a:t>sound’,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consists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train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partially overlapping </a:t>
            </a:r>
            <a:r>
              <a:rPr dirty="0" sz="1100">
                <a:latin typeface="Times New Roman"/>
                <a:cs typeface="Times New Roman"/>
              </a:rPr>
              <a:t> pulses, 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composed </a:t>
            </a:r>
            <a:r>
              <a:rPr dirty="0" sz="1100">
                <a:latin typeface="Times New Roman"/>
                <a:cs typeface="Times New Roman"/>
              </a:rPr>
              <a:t>of rapidly repeated </a:t>
            </a:r>
            <a:r>
              <a:rPr dirty="0" sz="1100" spc="-5">
                <a:latin typeface="Times New Roman"/>
                <a:cs typeface="Times New Roman"/>
              </a:rPr>
              <a:t>pulses that overlap, </a:t>
            </a:r>
            <a:r>
              <a:rPr dirty="0" sz="1100">
                <a:latin typeface="Times New Roman"/>
                <a:cs typeface="Times New Roman"/>
              </a:rPr>
              <a:t>producing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waveform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</a:t>
            </a:r>
            <a:r>
              <a:rPr dirty="0" sz="1100" spc="-5">
                <a:latin typeface="Times New Roman"/>
                <a:cs typeface="Times New Roman"/>
              </a:rPr>
              <a:t> ‘tone’.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Infrasound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600"/>
              </a:lnSpc>
            </a:pPr>
            <a:r>
              <a:rPr dirty="0" sz="1100" spc="-5">
                <a:latin typeface="Times New Roman"/>
                <a:cs typeface="Times New Roman"/>
              </a:rPr>
              <a:t>However, most other creatures appear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below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above the range humans </a:t>
            </a:r>
            <a:r>
              <a:rPr dirty="0" sz="1100">
                <a:latin typeface="Times New Roman"/>
                <a:cs typeface="Times New Roman"/>
              </a:rPr>
              <a:t> consider </a:t>
            </a:r>
            <a:r>
              <a:rPr dirty="0" sz="1100" spc="-5">
                <a:latin typeface="Times New Roman"/>
                <a:cs typeface="Times New Roman"/>
              </a:rPr>
              <a:t>normal. Infrasound comprises emissions below </a:t>
            </a:r>
            <a:r>
              <a:rPr dirty="0" sz="1100">
                <a:latin typeface="Times New Roman"/>
                <a:cs typeface="Times New Roman"/>
              </a:rPr>
              <a:t>30 </a:t>
            </a:r>
            <a:r>
              <a:rPr dirty="0" sz="1100" spc="-5">
                <a:latin typeface="Times New Roman"/>
                <a:cs typeface="Times New Roman"/>
              </a:rPr>
              <a:t>Hertz,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by finback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whales,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blue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whales,</a:t>
            </a:r>
            <a:r>
              <a:rPr dirty="0" sz="1100" spc="-5">
                <a:latin typeface="Times New Roman"/>
                <a:cs typeface="Times New Roman"/>
              </a:rPr>
              <a:t> elephants,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crocodilians,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ocean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volcanoes,</a:t>
            </a:r>
            <a:r>
              <a:rPr dirty="0" sz="1100" spc="-5">
                <a:latin typeface="Times New Roman"/>
                <a:cs typeface="Times New Roman"/>
              </a:rPr>
              <a:t> earthquakes,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Ultrasound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Ultrasound occurs above </a:t>
            </a:r>
            <a:r>
              <a:rPr dirty="0" sz="1100">
                <a:latin typeface="Times New Roman"/>
                <a:cs typeface="Times New Roman"/>
              </a:rPr>
              <a:t>18,000 </a:t>
            </a:r>
            <a:r>
              <a:rPr dirty="0" sz="1100" spc="-5">
                <a:latin typeface="Times New Roman"/>
                <a:cs typeface="Times New Roman"/>
              </a:rPr>
              <a:t>Hertz, frequencies commonly </a:t>
            </a:r>
            <a:r>
              <a:rPr dirty="0" sz="1100">
                <a:latin typeface="Times New Roman"/>
                <a:cs typeface="Times New Roman"/>
              </a:rPr>
              <a:t>used by </a:t>
            </a:r>
            <a:r>
              <a:rPr dirty="0" sz="1100" spc="-5">
                <a:latin typeface="Times New Roman"/>
                <a:cs typeface="Times New Roman"/>
              </a:rPr>
              <a:t>insects </a:t>
            </a:r>
            <a:r>
              <a:rPr dirty="0" sz="1100">
                <a:latin typeface="Times New Roman"/>
                <a:cs typeface="Times New Roman"/>
              </a:rPr>
              <a:t>(Earth’s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 prevalent </a:t>
            </a:r>
            <a:r>
              <a:rPr dirty="0" sz="1100" spc="-5">
                <a:latin typeface="Times New Roman"/>
                <a:cs typeface="Times New Roman"/>
              </a:rPr>
              <a:t>inhabitants), bats, dolphins </a:t>
            </a:r>
            <a:r>
              <a:rPr dirty="0" sz="1100">
                <a:latin typeface="Times New Roman"/>
                <a:cs typeface="Times New Roman"/>
              </a:rPr>
              <a:t>and shrews.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is far more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language than vocal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alone.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 language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nexus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animate </a:t>
            </a:r>
            <a:r>
              <a:rPr dirty="0" sz="1100">
                <a:latin typeface="Times New Roman"/>
                <a:cs typeface="Times New Roman"/>
              </a:rPr>
              <a:t>world,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limits </a:t>
            </a:r>
            <a:r>
              <a:rPr dirty="0" sz="1100">
                <a:latin typeface="Times New Roman"/>
                <a:cs typeface="Times New Roman"/>
              </a:rPr>
              <a:t>drawn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humankind’s </a:t>
            </a:r>
            <a:r>
              <a:rPr dirty="0" sz="1100" spc="-5">
                <a:latin typeface="Times New Roman"/>
                <a:cs typeface="Times New Roman"/>
              </a:rPr>
              <a:t>crayon.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815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350" indent="45656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considered 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language. </a:t>
            </a:r>
            <a:r>
              <a:rPr dirty="0" sz="1100">
                <a:latin typeface="Times New Roman"/>
                <a:cs typeface="Times New Roman"/>
              </a:rPr>
              <a:t>Though a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beginning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twenty-first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implicitly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encompass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previously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vocal communication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many amphibians, </a:t>
            </a:r>
            <a:r>
              <a:rPr dirty="0" sz="1100">
                <a:latin typeface="Times New Roman"/>
                <a:cs typeface="Times New Roman"/>
              </a:rPr>
              <a:t>especially </a:t>
            </a:r>
            <a:r>
              <a:rPr dirty="0" sz="1100" spc="-5">
                <a:latin typeface="Times New Roman"/>
                <a:cs typeface="Times New Roman"/>
              </a:rPr>
              <a:t>frogs, </a:t>
            </a:r>
            <a:r>
              <a:rPr dirty="0" sz="1100">
                <a:latin typeface="Times New Roman"/>
                <a:cs typeface="Times New Roman"/>
              </a:rPr>
              <a:t>has in </a:t>
            </a:r>
            <a:r>
              <a:rPr dirty="0" sz="1100" spc="-5">
                <a:latin typeface="Times New Roman"/>
                <a:cs typeface="Times New Roman"/>
              </a:rPr>
              <a:t>the past </a:t>
            </a:r>
            <a:r>
              <a:rPr dirty="0" sz="1100">
                <a:latin typeface="Times New Roman"/>
                <a:cs typeface="Times New Roman"/>
              </a:rPr>
              <a:t>few </a:t>
            </a:r>
            <a:r>
              <a:rPr dirty="0" sz="1100" spc="-5">
                <a:latin typeface="Times New Roman"/>
                <a:cs typeface="Times New Roman"/>
              </a:rPr>
              <a:t>years been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intensively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researched;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though,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vain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frog</a:t>
            </a:r>
            <a:r>
              <a:rPr dirty="0" sz="1100">
                <a:latin typeface="Times New Roman"/>
                <a:cs typeface="Times New Roman"/>
              </a:rPr>
              <a:t> language.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in its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primitive form,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strikingly demonstrated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humming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midshipman </a:t>
            </a:r>
            <a:r>
              <a:rPr dirty="0" sz="1100">
                <a:latin typeface="Times New Roman"/>
                <a:cs typeface="Times New Roman"/>
              </a:rPr>
              <a:t>fish of </a:t>
            </a:r>
            <a:r>
              <a:rPr dirty="0" sz="1100" spc="-5">
                <a:latin typeface="Times New Roman"/>
                <a:cs typeface="Times New Roman"/>
              </a:rPr>
              <a:t>the Western coastline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USA. The noise </a:t>
            </a:r>
            <a:r>
              <a:rPr dirty="0" sz="1100">
                <a:latin typeface="Times New Roman"/>
                <a:cs typeface="Times New Roman"/>
              </a:rPr>
              <a:t>– a </a:t>
            </a:r>
            <a:r>
              <a:rPr dirty="0" sz="1100" spc="-5">
                <a:latin typeface="Times New Roman"/>
                <a:cs typeface="Times New Roman"/>
              </a:rPr>
              <a:t>loud, resonant drone very much like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>
                <a:latin typeface="Times New Roman"/>
                <a:cs typeface="Times New Roman"/>
              </a:rPr>
              <a:t> by an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didgeridoo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originates </a:t>
            </a:r>
            <a:r>
              <a:rPr dirty="0" sz="1100">
                <a:latin typeface="Times New Roman"/>
                <a:cs typeface="Times New Roman"/>
              </a:rPr>
              <a:t>from a </a:t>
            </a:r>
            <a:r>
              <a:rPr dirty="0" sz="1100" spc="-5">
                <a:latin typeface="Times New Roman"/>
                <a:cs typeface="Times New Roman"/>
              </a:rPr>
              <a:t>pair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muscles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 </a:t>
            </a:r>
            <a:r>
              <a:rPr dirty="0" sz="1100">
                <a:latin typeface="Times New Roman"/>
                <a:cs typeface="Times New Roman"/>
              </a:rPr>
              <a:t>to the swim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bladder </a:t>
            </a:r>
            <a:r>
              <a:rPr dirty="0" sz="1100" spc="-5">
                <a:latin typeface="Times New Roman"/>
                <a:cs typeface="Times New Roman"/>
              </a:rPr>
              <a:t>that contract and vibrate against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stomach </a:t>
            </a:r>
            <a:r>
              <a:rPr dirty="0" sz="1100">
                <a:latin typeface="Times New Roman"/>
                <a:cs typeface="Times New Roman"/>
              </a:rPr>
              <a:t>wall,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continue moving </a:t>
            </a:r>
            <a:r>
              <a:rPr dirty="0" sz="1100">
                <a:latin typeface="Times New Roman"/>
                <a:cs typeface="Times New Roman"/>
              </a:rPr>
              <a:t>for up to an </a:t>
            </a:r>
            <a:r>
              <a:rPr dirty="0" sz="1100" spc="-5">
                <a:latin typeface="Times New Roman"/>
                <a:cs typeface="Times New Roman"/>
              </a:rPr>
              <a:t>hour.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Once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female arrives,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humming promptly </a:t>
            </a:r>
            <a:r>
              <a:rPr dirty="0" sz="1100">
                <a:latin typeface="Times New Roman"/>
                <a:cs typeface="Times New Roman"/>
              </a:rPr>
              <a:t>ceases. </a:t>
            </a:r>
            <a:r>
              <a:rPr dirty="0" sz="1100" spc="-5">
                <a:latin typeface="Times New Roman"/>
                <a:cs typeface="Times New Roman"/>
              </a:rPr>
              <a:t>Several orders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insects also </a:t>
            </a:r>
            <a:r>
              <a:rPr dirty="0" sz="1100" spc="-5">
                <a:latin typeface="Times New Roman"/>
                <a:cs typeface="Times New Roman"/>
              </a:rPr>
              <a:t>possess </a:t>
            </a:r>
            <a:r>
              <a:rPr dirty="0" sz="1100" spc="5">
                <a:latin typeface="Times New Roman"/>
                <a:cs typeface="Times New Roman"/>
              </a:rPr>
              <a:t>sound-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Communication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through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Pheromones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ultrasound,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existence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half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twentieth century.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courtship, both male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female moths, for example, communicate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pheromones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(secretions</a:t>
            </a:r>
            <a:r>
              <a:rPr dirty="0" sz="1100">
                <a:latin typeface="Times New Roman"/>
                <a:cs typeface="Times New Roman"/>
              </a:rPr>
              <a:t> exuded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glands);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courtship behaviour involves ultrasound production </a:t>
            </a:r>
            <a:r>
              <a:rPr dirty="0" sz="1100">
                <a:latin typeface="Times New Roman"/>
                <a:cs typeface="Times New Roman"/>
              </a:rPr>
              <a:t>as well. This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recent </a:t>
            </a:r>
            <a:r>
              <a:rPr dirty="0" sz="1100" spc="-5">
                <a:latin typeface="Times New Roman"/>
                <a:cs typeface="Times New Roman"/>
              </a:rPr>
              <a:t>discovery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necessitated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reconsideration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moth courtship behaviour, with greater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 </a:t>
            </a:r>
            <a:r>
              <a:rPr dirty="0" sz="1100">
                <a:latin typeface="Times New Roman"/>
                <a:cs typeface="Times New Roman"/>
              </a:rPr>
              <a:t>laid on the </a:t>
            </a:r>
            <a:r>
              <a:rPr dirty="0" sz="1100" spc="-5">
                <a:latin typeface="Times New Roman"/>
                <a:cs typeface="Times New Roman"/>
              </a:rPr>
              <a:t>interaction between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However, when one hears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animal communication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commonly thinks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ants, honey-bees, birds, horses, elephants, cetaceans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great apes.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ant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transmit 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 </a:t>
            </a:r>
            <a:r>
              <a:rPr dirty="0" sz="1100">
                <a:latin typeface="Times New Roman"/>
                <a:cs typeface="Times New Roman"/>
              </a:rPr>
              <a:t>50 </a:t>
            </a:r>
            <a:r>
              <a:rPr dirty="0" sz="1100" spc="-5">
                <a:latin typeface="Times New Roman"/>
                <a:cs typeface="Times New Roman"/>
              </a:rPr>
              <a:t>different messages </a:t>
            </a:r>
            <a:r>
              <a:rPr dirty="0" sz="1100">
                <a:latin typeface="Times New Roman"/>
                <a:cs typeface="Times New Roman"/>
              </a:rPr>
              <a:t>using body language and </a:t>
            </a:r>
            <a:r>
              <a:rPr dirty="0" sz="1100" spc="-5">
                <a:latin typeface="Times New Roman"/>
                <a:cs typeface="Times New Roman"/>
              </a:rPr>
              <a:t>pheromones. Ants’ mandibular glands secrete </a:t>
            </a:r>
            <a:r>
              <a:rPr dirty="0" sz="1100">
                <a:latin typeface="Times New Roman"/>
                <a:cs typeface="Times New Roman"/>
              </a:rPr>
              <a:t>alarm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odours; </a:t>
            </a:r>
            <a:r>
              <a:rPr dirty="0" sz="1100" spc="-5">
                <a:latin typeface="Times New Roman"/>
                <a:cs typeface="Times New Roman"/>
              </a:rPr>
              <a:t>the hind gut terminates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rectal gland that </a:t>
            </a:r>
            <a:r>
              <a:rPr dirty="0" sz="1100">
                <a:latin typeface="Times New Roman"/>
                <a:cs typeface="Times New Roman"/>
              </a:rPr>
              <a:t>exudes </a:t>
            </a:r>
            <a:r>
              <a:rPr dirty="0" sz="1100" spc="-5">
                <a:latin typeface="Times New Roman"/>
                <a:cs typeface="Times New Roman"/>
              </a:rPr>
              <a:t>scent for trail-marking; </a:t>
            </a:r>
            <a:r>
              <a:rPr dirty="0" sz="1100">
                <a:latin typeface="Times New Roman"/>
                <a:cs typeface="Times New Roman"/>
              </a:rPr>
              <a:t>exudings from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sternal gland 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call nearby </a:t>
            </a:r>
            <a:r>
              <a:rPr dirty="0" sz="1100" spc="-5">
                <a:latin typeface="Times New Roman"/>
                <a:cs typeface="Times New Roman"/>
              </a:rPr>
              <a:t>workers, and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forth.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highly specific chemical </a:t>
            </a:r>
            <a:r>
              <a:rPr dirty="0" sz="1100">
                <a:latin typeface="Times New Roman"/>
                <a:cs typeface="Times New Roman"/>
              </a:rPr>
              <a:t>messages,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body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seemingly</a:t>
            </a:r>
            <a:r>
              <a:rPr dirty="0" sz="1100">
                <a:latin typeface="Times New Roman"/>
                <a:cs typeface="Times New Roman"/>
              </a:rPr>
              <a:t> offer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package</a:t>
            </a:r>
            <a:r>
              <a:rPr dirty="0" sz="1100">
                <a:latin typeface="Times New Roman"/>
                <a:cs typeface="Times New Roman"/>
              </a:rPr>
              <a:t> containing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 fellow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colony’s</a:t>
            </a:r>
            <a:r>
              <a:rPr dirty="0" sz="1100" spc="-5">
                <a:latin typeface="Times New Roman"/>
                <a:cs typeface="Times New Roman"/>
              </a:rPr>
              <a:t> survival.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half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twentieth </a:t>
            </a:r>
            <a:r>
              <a:rPr dirty="0" sz="1100">
                <a:latin typeface="Times New Roman"/>
                <a:cs typeface="Times New Roman"/>
              </a:rPr>
              <a:t>century, </a:t>
            </a:r>
            <a:r>
              <a:rPr dirty="0" sz="1100" spc="-5">
                <a:latin typeface="Times New Roman"/>
                <a:cs typeface="Times New Roman"/>
              </a:rPr>
              <a:t>the Austrian Zoologist, </a:t>
            </a:r>
            <a:r>
              <a:rPr dirty="0" sz="1100">
                <a:latin typeface="Times New Roman"/>
                <a:cs typeface="Times New Roman"/>
              </a:rPr>
              <a:t>Karl </a:t>
            </a:r>
            <a:r>
              <a:rPr dirty="0" sz="1100" spc="-5">
                <a:latin typeface="Times New Roman"/>
                <a:cs typeface="Times New Roman"/>
              </a:rPr>
              <a:t>von Frisch, revealed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honey-bees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dance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communicate,</a:t>
            </a:r>
            <a:r>
              <a:rPr dirty="0" sz="1100">
                <a:latin typeface="Times New Roman"/>
                <a:cs typeface="Times New Roman"/>
              </a:rPr>
              <a:t> thereby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stunning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insignificant insects were capable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exchanging </a:t>
            </a:r>
            <a:r>
              <a:rPr dirty="0" sz="1100">
                <a:latin typeface="Times New Roman"/>
                <a:cs typeface="Times New Roman"/>
              </a:rPr>
              <a:t>complex </a:t>
            </a:r>
            <a:r>
              <a:rPr dirty="0" sz="1100" spc="-5">
                <a:latin typeface="Times New Roman"/>
                <a:cs typeface="Times New Roman"/>
              </a:rPr>
              <a:t>information about things remote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space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 means</a:t>
            </a:r>
            <a:r>
              <a:rPr dirty="0" sz="1100">
                <a:latin typeface="Times New Roman"/>
                <a:cs typeface="Times New Roman"/>
              </a:rPr>
              <a:t> of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‘waggle</a:t>
            </a:r>
            <a:r>
              <a:rPr dirty="0" sz="1100">
                <a:latin typeface="Times New Roman"/>
                <a:cs typeface="Times New Roman"/>
              </a:rPr>
              <a:t> dance’, the </a:t>
            </a:r>
            <a:r>
              <a:rPr dirty="0" sz="1100" spc="-5">
                <a:latin typeface="Times New Roman"/>
                <a:cs typeface="Times New Roman"/>
              </a:rPr>
              <a:t>honey-bee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forager informs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type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proffered samples), quality (quantity </a:t>
            </a:r>
            <a:r>
              <a:rPr dirty="0" sz="1100">
                <a:latin typeface="Times New Roman"/>
                <a:cs typeface="Times New Roman"/>
              </a:rPr>
              <a:t>of 180 </a:t>
            </a:r>
            <a:r>
              <a:rPr dirty="0" sz="1100" spc="-5">
                <a:latin typeface="Times New Roman"/>
                <a:cs typeface="Times New Roman"/>
              </a:rPr>
              <a:t>degree turns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dance) and </a:t>
            </a:r>
            <a:r>
              <a:rPr dirty="0" sz="1100" spc="-5">
                <a:latin typeface="Times New Roman"/>
                <a:cs typeface="Times New Roman"/>
              </a:rPr>
              <a:t>location (tracing </a:t>
            </a:r>
            <a:r>
              <a:rPr dirty="0" sz="1100">
                <a:latin typeface="Times New Roman"/>
                <a:cs typeface="Times New Roman"/>
              </a:rPr>
              <a:t>a figure-eight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beyond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Keen </a:t>
            </a:r>
            <a:r>
              <a:rPr dirty="0" sz="1100" spc="-5">
                <a:latin typeface="Times New Roman"/>
                <a:cs typeface="Times New Roman"/>
              </a:rPr>
              <a:t>birdwatchers have long thrilled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March wren’s </a:t>
            </a:r>
            <a:r>
              <a:rPr dirty="0" sz="1100" spc="-5">
                <a:latin typeface="Times New Roman"/>
                <a:cs typeface="Times New Roman"/>
              </a:rPr>
              <a:t>vast repertoire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songs. And since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antiquity </a:t>
            </a:r>
            <a:r>
              <a:rPr dirty="0" sz="1100">
                <a:latin typeface="Times New Roman"/>
                <a:cs typeface="Times New Roman"/>
              </a:rPr>
              <a:t>it has </a:t>
            </a:r>
            <a:r>
              <a:rPr dirty="0" sz="1100" spc="-5">
                <a:latin typeface="Times New Roman"/>
                <a:cs typeface="Times New Roman"/>
              </a:rPr>
              <a:t>been appreciated that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birds in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wild learn their songs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different contexts,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fact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suggests birds attach different meanings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vocalizations. </a:t>
            </a:r>
            <a:r>
              <a:rPr dirty="0" sz="1100" spc="-5">
                <a:latin typeface="Times New Roman"/>
                <a:cs typeface="Times New Roman"/>
              </a:rPr>
              <a:t>Recent </a:t>
            </a:r>
            <a:r>
              <a:rPr dirty="0" sz="1100">
                <a:latin typeface="Times New Roman"/>
                <a:cs typeface="Times New Roman"/>
              </a:rPr>
              <a:t>field </a:t>
            </a:r>
            <a:r>
              <a:rPr dirty="0" sz="1100" spc="-5">
                <a:latin typeface="Times New Roman"/>
                <a:cs typeface="Times New Roman"/>
              </a:rPr>
              <a:t>research has apparently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confirmed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abilities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inclinations,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loquacious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species.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nothing;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stop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chattering.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13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3445" cy="5014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parrots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perhaps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kingdom’s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Greys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Amazons</a:t>
            </a:r>
            <a:r>
              <a:rPr dirty="0" sz="1100">
                <a:latin typeface="Times New Roman"/>
                <a:cs typeface="Times New Roman"/>
              </a:rPr>
              <a:t> (yellow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napes, double yellow </a:t>
            </a:r>
            <a:r>
              <a:rPr dirty="0" sz="1100" spc="-5">
                <a:latin typeface="Times New Roman"/>
                <a:cs typeface="Times New Roman"/>
              </a:rPr>
              <a:t>heads,</a:t>
            </a:r>
            <a:r>
              <a:rPr dirty="0" sz="1100">
                <a:latin typeface="Times New Roman"/>
                <a:cs typeface="Times New Roman"/>
              </a:rPr>
              <a:t> red-loreds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fronts).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Scarlet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blue-and-red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macaws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vocalize well, </a:t>
            </a:r>
            <a:r>
              <a:rPr dirty="0" sz="1100">
                <a:latin typeface="Times New Roman"/>
                <a:cs typeface="Times New Roman"/>
              </a:rPr>
              <a:t>too; but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commonly </a:t>
            </a:r>
            <a:r>
              <a:rPr dirty="0" sz="1100">
                <a:latin typeface="Times New Roman"/>
                <a:cs typeface="Times New Roman"/>
              </a:rPr>
              <a:t>hoarse and loud. </a:t>
            </a:r>
            <a:r>
              <a:rPr dirty="0" sz="1100" spc="-5">
                <a:latin typeface="Times New Roman"/>
                <a:cs typeface="Times New Roman"/>
              </a:rPr>
              <a:t>Cockatoos, fine talkers, possess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mellifluous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voices;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macaws,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Is </a:t>
            </a:r>
            <a:r>
              <a:rPr dirty="0" sz="1100" spc="-5" b="1">
                <a:latin typeface="Times New Roman"/>
                <a:cs typeface="Times New Roman"/>
              </a:rPr>
              <a:t>There</a:t>
            </a:r>
            <a:r>
              <a:rPr dirty="0" sz="1100" b="1">
                <a:latin typeface="Times New Roman"/>
                <a:cs typeface="Times New Roman"/>
              </a:rPr>
              <a:t> Truly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Non-human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truly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non-human language? Or are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merely bestowing language </a:t>
            </a:r>
            <a:r>
              <a:rPr dirty="0" sz="1100">
                <a:latin typeface="Times New Roman"/>
                <a:cs typeface="Times New Roman"/>
              </a:rPr>
              <a:t>on non-humans,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perhaps </a:t>
            </a:r>
            <a:r>
              <a:rPr dirty="0" sz="1100" spc="-5">
                <a:latin typeface="Times New Roman"/>
                <a:cs typeface="Times New Roman"/>
              </a:rPr>
              <a:t>reading language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really non-language? 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Austrian-born </a:t>
            </a:r>
            <a:r>
              <a:rPr dirty="0" sz="1100">
                <a:latin typeface="Times New Roman"/>
                <a:cs typeface="Times New Roman"/>
              </a:rPr>
              <a:t>philosopher, Ludwig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Wittgenstein wrote: </a:t>
            </a:r>
            <a:r>
              <a:rPr dirty="0" sz="1100" spc="-10">
                <a:latin typeface="Times New Roman"/>
                <a:cs typeface="Times New Roman"/>
              </a:rPr>
              <a:t>‘If </a:t>
            </a:r>
            <a:r>
              <a:rPr dirty="0" sz="1100">
                <a:latin typeface="Times New Roman"/>
                <a:cs typeface="Times New Roman"/>
              </a:rPr>
              <a:t>a lion could </a:t>
            </a:r>
            <a:r>
              <a:rPr dirty="0" sz="1100" spc="-5">
                <a:latin typeface="Times New Roman"/>
                <a:cs typeface="Times New Roman"/>
              </a:rPr>
              <a:t>talk, we </a:t>
            </a:r>
            <a:r>
              <a:rPr dirty="0" sz="1100">
                <a:latin typeface="Times New Roman"/>
                <a:cs typeface="Times New Roman"/>
              </a:rPr>
              <a:t>would not understand him.’ </a:t>
            </a:r>
            <a:r>
              <a:rPr dirty="0" sz="1100" spc="-5">
                <a:latin typeface="Times New Roman"/>
                <a:cs typeface="Times New Roman"/>
              </a:rPr>
              <a:t>Great ape communication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wild differs significantly </a:t>
            </a:r>
            <a:r>
              <a:rPr dirty="0" sz="1100">
                <a:latin typeface="Times New Roman"/>
                <a:cs typeface="Times New Roman"/>
              </a:rPr>
              <a:t>from human-ape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laboratory: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former comprises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 </a:t>
            </a:r>
            <a:r>
              <a:rPr dirty="0" sz="1100">
                <a:latin typeface="Times New Roman"/>
                <a:cs typeface="Times New Roman"/>
              </a:rPr>
              <a:t>of body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vocalizations, whereas the latter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artificial human environment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prompting </a:t>
            </a:r>
            <a:r>
              <a:rPr dirty="0" sz="1100">
                <a:latin typeface="Times New Roman"/>
                <a:cs typeface="Times New Roman"/>
              </a:rPr>
              <a:t>apes to </a:t>
            </a:r>
            <a:r>
              <a:rPr dirty="0" sz="1100" spc="-5">
                <a:latin typeface="Times New Roman"/>
                <a:cs typeface="Times New Roman"/>
              </a:rPr>
              <a:t>respond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human symbols </a:t>
            </a:r>
            <a:r>
              <a:rPr dirty="0" sz="1100">
                <a:latin typeface="Times New Roman"/>
                <a:cs typeface="Times New Roman"/>
              </a:rPr>
              <a:t>or words.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wealth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controlled tests </a:t>
            </a:r>
            <a:r>
              <a:rPr dirty="0" sz="1100" spc="10">
                <a:latin typeface="Times New Roman"/>
                <a:cs typeface="Times New Roman"/>
              </a:rPr>
              <a:t>has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demonstrated, perhaps </a:t>
            </a:r>
            <a:r>
              <a:rPr dirty="0" sz="1100">
                <a:latin typeface="Times New Roman"/>
                <a:cs typeface="Times New Roman"/>
              </a:rPr>
              <a:t>beyond any </a:t>
            </a:r>
            <a:r>
              <a:rPr dirty="0" sz="1100" spc="-5">
                <a:latin typeface="Times New Roman"/>
                <a:cs typeface="Times New Roman"/>
              </a:rPr>
              <a:t>critical doubt, that, though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medium </a:t>
            </a:r>
            <a:r>
              <a:rPr dirty="0" sz="1100">
                <a:latin typeface="Times New Roman"/>
                <a:cs typeface="Times New Roman"/>
              </a:rPr>
              <a:t>is unnatural </a:t>
            </a:r>
            <a:r>
              <a:rPr dirty="0" sz="1100" spc="-5">
                <a:latin typeface="Times New Roman"/>
                <a:cs typeface="Times New Roman"/>
              </a:rPr>
              <a:t>and trained,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human–animal experiments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spontaneous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creative communication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is, </a:t>
            </a:r>
            <a:r>
              <a:rPr dirty="0" sz="1100" spc="-5">
                <a:latin typeface="Times New Roman"/>
                <a:cs typeface="Times New Roman"/>
              </a:rPr>
              <a:t>the vocal 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signed exchange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significant information. </a:t>
            </a:r>
            <a:r>
              <a:rPr dirty="0" sz="1100" spc="-10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pre-existent </a:t>
            </a:r>
            <a:r>
              <a:rPr dirty="0" sz="1100" spc="-5">
                <a:latin typeface="Times New Roman"/>
                <a:cs typeface="Times New Roman"/>
              </a:rPr>
              <a:t>neural pathways, </a:t>
            </a:r>
            <a:r>
              <a:rPr dirty="0" sz="1100">
                <a:latin typeface="Times New Roman"/>
                <a:cs typeface="Times New Roman"/>
              </a:rPr>
              <a:t>animals are </a:t>
            </a:r>
            <a:r>
              <a:rPr dirty="0" sz="1100" spc="-5">
                <a:latin typeface="Times New Roman"/>
                <a:cs typeface="Times New Roman"/>
              </a:rPr>
              <a:t>indeed </a:t>
            </a:r>
            <a:r>
              <a:rPr dirty="0" sz="1100">
                <a:latin typeface="Times New Roman"/>
                <a:cs typeface="Times New Roman"/>
              </a:rPr>
              <a:t> speaking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meaningful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008: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Talking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Neural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Pathway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Great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Antecedents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Our great </a:t>
            </a:r>
            <a:r>
              <a:rPr dirty="0" sz="1100">
                <a:latin typeface="Times New Roman"/>
                <a:cs typeface="Times New Roman"/>
              </a:rPr>
              <a:t>ape </a:t>
            </a:r>
            <a:r>
              <a:rPr dirty="0" sz="1100" spc="-5">
                <a:latin typeface="Times New Roman"/>
                <a:cs typeface="Times New Roman"/>
              </a:rPr>
              <a:t>antecedents </a:t>
            </a:r>
            <a:r>
              <a:rPr dirty="0" sz="1100">
                <a:latin typeface="Times New Roman"/>
                <a:cs typeface="Times New Roman"/>
              </a:rPr>
              <a:t>evidently </a:t>
            </a:r>
            <a:r>
              <a:rPr dirty="0" sz="1100" spc="-5">
                <a:latin typeface="Times New Roman"/>
                <a:cs typeface="Times New Roman"/>
              </a:rPr>
              <a:t>possessed precisely those </a:t>
            </a:r>
            <a:r>
              <a:rPr dirty="0" sz="1100">
                <a:latin typeface="Times New Roman"/>
                <a:cs typeface="Times New Roman"/>
              </a:rPr>
              <a:t>neural </a:t>
            </a:r>
            <a:r>
              <a:rPr dirty="0" sz="1100" spc="-5">
                <a:latin typeface="Times New Roman"/>
                <a:cs typeface="Times New Roman"/>
              </a:rPr>
              <a:t>pathways necessary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modes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communicative expression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convey information adequately. However,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great </a:t>
            </a:r>
            <a:r>
              <a:rPr dirty="0" sz="1100">
                <a:latin typeface="Times New Roman"/>
                <a:cs typeface="Times New Roman"/>
              </a:rPr>
              <a:t>apes’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lips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coordinated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were also </a:t>
            </a:r>
            <a:r>
              <a:rPr dirty="0" sz="1100" spc="-5">
                <a:latin typeface="Times New Roman"/>
                <a:cs typeface="Times New Roman"/>
              </a:rPr>
              <a:t>incapable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controlled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exhalation.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great apes had physically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speak, their </a:t>
            </a:r>
            <a:r>
              <a:rPr dirty="0" sz="1100" spc="-5">
                <a:latin typeface="Times New Roman"/>
                <a:cs typeface="Times New Roman"/>
              </a:rPr>
              <a:t>‘speech’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 probably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nothing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how 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100" y="5902452"/>
            <a:ext cx="4885436" cy="30580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14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13690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Modern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Human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Brain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2681071"/>
            <a:ext cx="5971540" cy="51993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7620" indent="456565">
              <a:lnSpc>
                <a:spcPct val="110400"/>
              </a:lnSpc>
              <a:spcBef>
                <a:spcPts val="9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volume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ape;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imparts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enhanced ability </a:t>
            </a:r>
            <a:r>
              <a:rPr dirty="0" sz="1100">
                <a:latin typeface="Times New Roman"/>
                <a:cs typeface="Times New Roman"/>
              </a:rPr>
              <a:t>to use and further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elaborate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reason </a:t>
            </a:r>
            <a:r>
              <a:rPr dirty="0" sz="1100" spc="-5">
                <a:latin typeface="Times New Roman"/>
                <a:cs typeface="Times New Roman"/>
              </a:rPr>
              <a:t>with it.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 of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the human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its cognitive abilities; the two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hand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hand.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History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Human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–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Human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Brain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Seven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five million years ago </a:t>
            </a:r>
            <a:r>
              <a:rPr dirty="0" sz="1100">
                <a:latin typeface="Times New Roman"/>
                <a:cs typeface="Times New Roman"/>
              </a:rPr>
              <a:t>in Africa, </a:t>
            </a:r>
            <a:r>
              <a:rPr dirty="0" sz="1100" spc="-5">
                <a:latin typeface="Times New Roman"/>
                <a:cs typeface="Times New Roman"/>
              </a:rPr>
              <a:t>probably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differing diets, hominids split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primitive</a:t>
            </a:r>
            <a:r>
              <a:rPr dirty="0" sz="1100">
                <a:latin typeface="Times New Roman"/>
                <a:cs typeface="Times New Roman"/>
              </a:rPr>
              <a:t> ape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major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hominids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differentiated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Australopithecus and the genus Homo. 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experts,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of a high-calorie diet,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 capacity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 </a:t>
            </a:r>
            <a:r>
              <a:rPr dirty="0" sz="1100">
                <a:latin typeface="Times New Roman"/>
                <a:cs typeface="Times New Roman"/>
              </a:rPr>
              <a:t>to body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weight.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Australopithecus africanus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three million years ago, for example, would 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linguistic ability </a:t>
            </a:r>
            <a:r>
              <a:rPr dirty="0" sz="1100">
                <a:latin typeface="Times New Roman"/>
                <a:cs typeface="Times New Roman"/>
              </a:rPr>
              <a:t>in no </a:t>
            </a:r>
            <a:r>
              <a:rPr dirty="0" sz="1100" spc="-5">
                <a:latin typeface="Times New Roman"/>
                <a:cs typeface="Times New Roman"/>
              </a:rPr>
              <a:t>way different 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modern </a:t>
            </a:r>
            <a:r>
              <a:rPr dirty="0" sz="1100">
                <a:latin typeface="Times New Roman"/>
                <a:cs typeface="Times New Roman"/>
              </a:rPr>
              <a:t>gorilla’s, </a:t>
            </a:r>
            <a:r>
              <a:rPr dirty="0" sz="1100" spc="-5">
                <a:latin typeface="Times New Roman"/>
                <a:cs typeface="Times New Roman"/>
              </a:rPr>
              <a:t>chimpanzee’s </a:t>
            </a:r>
            <a:r>
              <a:rPr dirty="0" sz="1100">
                <a:latin typeface="Times New Roman"/>
                <a:cs typeface="Times New Roman"/>
              </a:rPr>
              <a:t>or bonobo’s.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gestures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vocalization.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bipedalism,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Australopithecines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walking great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talking great</a:t>
            </a:r>
            <a:r>
              <a:rPr dirty="0" sz="1100">
                <a:latin typeface="Times New Roman"/>
                <a:cs typeface="Times New Roman"/>
              </a:rPr>
              <a:t> apes.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Homo</a:t>
            </a:r>
            <a:r>
              <a:rPr dirty="0" sz="1100">
                <a:latin typeface="Times New Roman"/>
                <a:cs typeface="Times New Roman"/>
              </a:rPr>
              <a:t> habilis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(2.4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ago);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gestures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vocalization.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erectus</a:t>
            </a:r>
            <a:r>
              <a:rPr dirty="0" sz="1100">
                <a:latin typeface="Times New Roman"/>
                <a:cs typeface="Times New Roman"/>
              </a:rPr>
              <a:t> (2.5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prepositions (1 million </a:t>
            </a:r>
            <a:r>
              <a:rPr dirty="0" sz="1100">
                <a:latin typeface="Times New Roman"/>
                <a:cs typeface="Times New Roman"/>
              </a:rPr>
              <a:t>years </a:t>
            </a:r>
            <a:r>
              <a:rPr dirty="0" sz="1100" spc="-5">
                <a:latin typeface="Times New Roman"/>
                <a:cs typeface="Times New Roman"/>
              </a:rPr>
              <a:t>ago). </a:t>
            </a:r>
            <a:r>
              <a:rPr dirty="0" sz="1100">
                <a:latin typeface="Times New Roman"/>
                <a:cs typeface="Times New Roman"/>
              </a:rPr>
              <a:t>From erectus </a:t>
            </a:r>
            <a:r>
              <a:rPr dirty="0" sz="1100" spc="-10">
                <a:latin typeface="Times New Roman"/>
                <a:cs typeface="Times New Roman"/>
              </a:rPr>
              <a:t>came </a:t>
            </a:r>
            <a:r>
              <a:rPr dirty="0" sz="1100" spc="-5">
                <a:latin typeface="Times New Roman"/>
                <a:cs typeface="Times New Roman"/>
              </a:rPr>
              <a:t>two main divergences: Homo neaderthalensis,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(300,000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30,000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sapiens</a:t>
            </a:r>
            <a:r>
              <a:rPr dirty="0" sz="1100">
                <a:latin typeface="Times New Roman"/>
                <a:cs typeface="Times New Roman"/>
              </a:rPr>
              <a:t> (300,000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Neanderthals </a:t>
            </a:r>
            <a:r>
              <a:rPr dirty="0" sz="1100">
                <a:latin typeface="Times New Roman"/>
                <a:cs typeface="Times New Roman"/>
              </a:rPr>
              <a:t>used a </a:t>
            </a:r>
            <a:r>
              <a:rPr dirty="0" sz="1100" spc="-5">
                <a:latin typeface="Times New Roman"/>
                <a:cs typeface="Times New Roman"/>
              </a:rPr>
              <a:t>rudimentary language close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our own; nothing else can explain their complex </a:t>
            </a:r>
            <a:r>
              <a:rPr dirty="0" sz="1100" spc="-10">
                <a:latin typeface="Times New Roman"/>
                <a:cs typeface="Times New Roman"/>
              </a:rPr>
              <a:t>tool </a:t>
            </a:r>
            <a:r>
              <a:rPr dirty="0" sz="1100" spc="-5">
                <a:latin typeface="Times New Roman"/>
                <a:cs typeface="Times New Roman"/>
              </a:rPr>
              <a:t> manufacture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high level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society. </a:t>
            </a:r>
            <a:r>
              <a:rPr dirty="0" sz="1100">
                <a:latin typeface="Times New Roman"/>
                <a:cs typeface="Times New Roman"/>
              </a:rPr>
              <a:t>They had complex </a:t>
            </a:r>
            <a:r>
              <a:rPr dirty="0" sz="1100" spc="-5">
                <a:latin typeface="Times New Roman"/>
                <a:cs typeface="Times New Roman"/>
              </a:rPr>
              <a:t>thought </a:t>
            </a:r>
            <a:r>
              <a:rPr dirty="0" sz="1100">
                <a:latin typeface="Times New Roman"/>
                <a:cs typeface="Times New Roman"/>
              </a:rPr>
              <a:t>as they could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complex </a:t>
            </a:r>
            <a:r>
              <a:rPr dirty="0" sz="1100" spc="-5">
                <a:latin typeface="Times New Roman"/>
                <a:cs typeface="Times New Roman"/>
              </a:rPr>
              <a:t>sentences.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based societies,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unable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</a:t>
            </a:r>
            <a:r>
              <a:rPr dirty="0" sz="1100">
                <a:latin typeface="Times New Roman"/>
                <a:cs typeface="Times New Roman"/>
              </a:rPr>
              <a:t> [i],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[a],</a:t>
            </a:r>
            <a:r>
              <a:rPr dirty="0" sz="1100">
                <a:latin typeface="Times New Roman"/>
                <a:cs typeface="Times New Roman"/>
              </a:rPr>
              <a:t> [u].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Homo</a:t>
            </a:r>
            <a:r>
              <a:rPr dirty="0" sz="1100">
                <a:latin typeface="Times New Roman"/>
                <a:cs typeface="Times New Roman"/>
              </a:rPr>
              <a:t> sapiens were </a:t>
            </a:r>
            <a:r>
              <a:rPr dirty="0" sz="1100" spc="-5">
                <a:latin typeface="Times New Roman"/>
                <a:cs typeface="Times New Roman"/>
              </a:rPr>
              <a:t>the only hominid </a:t>
            </a:r>
            <a:r>
              <a:rPr dirty="0" sz="1100">
                <a:latin typeface="Times New Roman"/>
                <a:cs typeface="Times New Roman"/>
              </a:rPr>
              <a:t>species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survived evolution.</a:t>
            </a:r>
            <a:r>
              <a:rPr dirty="0" sz="1100">
                <a:latin typeface="Times New Roman"/>
                <a:cs typeface="Times New Roman"/>
              </a:rPr>
              <a:t> They </a:t>
            </a:r>
            <a:r>
              <a:rPr dirty="0" sz="1100" spc="-5">
                <a:latin typeface="Times New Roman"/>
                <a:cs typeface="Times New Roman"/>
              </a:rPr>
              <a:t>emerged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predecessor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modern humans. </a:t>
            </a:r>
            <a:r>
              <a:rPr dirty="0" sz="1100">
                <a:latin typeface="Times New Roman"/>
                <a:cs typeface="Times New Roman"/>
              </a:rPr>
              <a:t>They had complex thoughts due </a:t>
            </a:r>
            <a:r>
              <a:rPr dirty="0" sz="1100" spc="-5">
                <a:latin typeface="Times New Roman"/>
                <a:cs typeface="Times New Roman"/>
              </a:rPr>
              <a:t>to complex </a:t>
            </a:r>
            <a:r>
              <a:rPr dirty="0" sz="1100">
                <a:latin typeface="Times New Roman"/>
                <a:cs typeface="Times New Roman"/>
              </a:rPr>
              <a:t>sentences. They had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societies.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 learnt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harvest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wheat,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oats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barley.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099185"/>
            <a:ext cx="2895600" cy="1597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15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5787008"/>
            <a:ext cx="5969000" cy="2593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009: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Written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scribe whose </a:t>
            </a:r>
            <a:r>
              <a:rPr dirty="0" sz="1100">
                <a:latin typeface="Times New Roman"/>
                <a:cs typeface="Times New Roman"/>
              </a:rPr>
              <a:t>hand </a:t>
            </a:r>
            <a:r>
              <a:rPr dirty="0" sz="1100" spc="-5">
                <a:latin typeface="Times New Roman"/>
                <a:cs typeface="Times New Roman"/>
              </a:rPr>
              <a:t>matches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mouth,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is indeed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scribe’, wrote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anonymous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Sumerian </a:t>
            </a:r>
            <a:r>
              <a:rPr dirty="0" sz="1100">
                <a:latin typeface="Times New Roman"/>
                <a:cs typeface="Times New Roman"/>
              </a:rPr>
              <a:t> on </a:t>
            </a:r>
            <a:r>
              <a:rPr dirty="0" sz="1100" spc="-5">
                <a:latin typeface="Times New Roman"/>
                <a:cs typeface="Times New Roman"/>
              </a:rPr>
              <a:t>clay some </a:t>
            </a:r>
            <a:r>
              <a:rPr dirty="0" sz="1100">
                <a:latin typeface="Times New Roman"/>
                <a:cs typeface="Times New Roman"/>
              </a:rPr>
              <a:t>4,000 </a:t>
            </a:r>
            <a:r>
              <a:rPr dirty="0" sz="1100" spc="-5">
                <a:latin typeface="Times New Roman"/>
                <a:cs typeface="Times New Roman"/>
              </a:rPr>
              <a:t>years ago </a:t>
            </a:r>
            <a:r>
              <a:rPr dirty="0" sz="1100">
                <a:latin typeface="Times New Roman"/>
                <a:cs typeface="Times New Roman"/>
              </a:rPr>
              <a:t>and in so </a:t>
            </a:r>
            <a:r>
              <a:rPr dirty="0" sz="1100" spc="-5">
                <a:latin typeface="Times New Roman"/>
                <a:cs typeface="Times New Roman"/>
              </a:rPr>
              <a:t>doing </a:t>
            </a:r>
            <a:r>
              <a:rPr dirty="0" sz="1100">
                <a:latin typeface="Times New Roman"/>
                <a:cs typeface="Times New Roman"/>
              </a:rPr>
              <a:t>captured the </a:t>
            </a:r>
            <a:r>
              <a:rPr dirty="0" sz="1100" spc="-5">
                <a:latin typeface="Times New Roman"/>
                <a:cs typeface="Times New Roman"/>
              </a:rPr>
              <a:t>very essence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writing. Writing </a:t>
            </a:r>
            <a:r>
              <a:rPr dirty="0" sz="1100">
                <a:latin typeface="Times New Roman"/>
                <a:cs typeface="Times New Roman"/>
              </a:rPr>
              <a:t>did </a:t>
            </a:r>
            <a:r>
              <a:rPr dirty="0" sz="1100" spc="-1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 gradually ‘evolve’ </a:t>
            </a:r>
            <a:r>
              <a:rPr dirty="0" sz="1100">
                <a:latin typeface="Times New Roman"/>
                <a:cs typeface="Times New Roman"/>
              </a:rPr>
              <a:t>from mute </a:t>
            </a:r>
            <a:r>
              <a:rPr dirty="0" sz="1100" spc="-5">
                <a:latin typeface="Times New Roman"/>
                <a:cs typeface="Times New Roman"/>
              </a:rPr>
              <a:t>pictures.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began </a:t>
            </a:r>
            <a:r>
              <a:rPr dirty="0" sz="1100">
                <a:latin typeface="Times New Roman"/>
                <a:cs typeface="Times New Roman"/>
              </a:rPr>
              <a:t>immediately as the graphic </a:t>
            </a:r>
            <a:r>
              <a:rPr dirty="0" sz="1100" spc="-5">
                <a:latin typeface="Times New Roman"/>
                <a:cs typeface="Times New Roman"/>
              </a:rPr>
              <a:t>expression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actual human 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earliest Egyptian hieroglyph </a:t>
            </a:r>
            <a:r>
              <a:rPr dirty="0" sz="1100">
                <a:latin typeface="Times New Roman"/>
                <a:cs typeface="Times New Roman"/>
              </a:rPr>
              <a:t>(a system of </a:t>
            </a:r>
            <a:r>
              <a:rPr dirty="0" sz="1100" spc="-5">
                <a:latin typeface="Times New Roman"/>
                <a:cs typeface="Times New Roman"/>
              </a:rPr>
              <a:t>writing that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pictures instead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Egypt)</a:t>
            </a:r>
            <a:r>
              <a:rPr dirty="0" sz="1100">
                <a:latin typeface="Times New Roman"/>
                <a:cs typeface="Times New Roman"/>
              </a:rPr>
              <a:t> from around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3400</a:t>
            </a:r>
            <a:r>
              <a:rPr dirty="0" sz="1100">
                <a:latin typeface="Times New Roman"/>
                <a:cs typeface="Times New Roman"/>
              </a:rPr>
              <a:t> BC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immortalized</a:t>
            </a:r>
            <a:r>
              <a:rPr dirty="0" sz="1100">
                <a:latin typeface="Times New Roman"/>
                <a:cs typeface="Times New Roman"/>
              </a:rPr>
              <a:t> a jackal, would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immediately evoked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its reader’s mind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Egyptian word for ‘jackal’. No single person ‘invented’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 Writing first emerged, </a:t>
            </a:r>
            <a:r>
              <a:rPr dirty="0" sz="1100">
                <a:latin typeface="Times New Roman"/>
                <a:cs typeface="Times New Roman"/>
              </a:rPr>
              <a:t>in a broad swath from </a:t>
            </a:r>
            <a:r>
              <a:rPr dirty="0" sz="1100" spc="-5">
                <a:latin typeface="Times New Roman"/>
                <a:cs typeface="Times New Roman"/>
              </a:rPr>
              <a:t>Egypt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Indus Valley, apparently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improving </a:t>
            </a:r>
            <a:r>
              <a:rPr dirty="0" sz="1100">
                <a:latin typeface="Times New Roman"/>
                <a:cs typeface="Times New Roman"/>
              </a:rPr>
              <a:t>an ancient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 tallies </a:t>
            </a:r>
            <a:r>
              <a:rPr dirty="0" sz="1100" spc="-5">
                <a:latin typeface="Times New Roman"/>
                <a:cs typeface="Times New Roman"/>
              </a:rPr>
              <a:t>and labels.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tradesman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official improved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tally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label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pictorially depicting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commodity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was being </a:t>
            </a:r>
            <a:r>
              <a:rPr dirty="0" sz="1100">
                <a:latin typeface="Times New Roman"/>
                <a:cs typeface="Times New Roman"/>
              </a:rPr>
              <a:t>counted, </a:t>
            </a:r>
            <a:r>
              <a:rPr dirty="0" sz="1100" spc="-5">
                <a:latin typeface="Times New Roman"/>
                <a:cs typeface="Times New Roman"/>
              </a:rPr>
              <a:t>measured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weighed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lessen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913" y="1008816"/>
            <a:ext cx="3230283" cy="45445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16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5399913"/>
            <a:ext cx="5968365" cy="2961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Three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General Classes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Script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 model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written language acknowledges three general classes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scripts,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 (mixed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scripts):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Logographic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Script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 logographic </a:t>
            </a:r>
            <a:r>
              <a:rPr dirty="0" sz="1100" spc="-5">
                <a:latin typeface="Times New Roman"/>
                <a:cs typeface="Times New Roman"/>
              </a:rPr>
              <a:t>script permits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glyph </a:t>
            </a:r>
            <a:r>
              <a:rPr dirty="0" sz="1100">
                <a:latin typeface="Times New Roman"/>
                <a:cs typeface="Times New Roman"/>
              </a:rPr>
              <a:t>(an </a:t>
            </a:r>
            <a:r>
              <a:rPr dirty="0" sz="1100" spc="-5">
                <a:latin typeface="Times New Roman"/>
                <a:cs typeface="Times New Roman"/>
              </a:rPr>
              <a:t>elemental symbol </a:t>
            </a:r>
            <a:r>
              <a:rPr dirty="0" sz="1100">
                <a:latin typeface="Times New Roman"/>
                <a:cs typeface="Times New Roman"/>
              </a:rPr>
              <a:t>within an agreed set of </a:t>
            </a:r>
            <a:r>
              <a:rPr dirty="0" sz="1100" spc="-5">
                <a:latin typeface="Times New Roman"/>
                <a:cs typeface="Times New Roman"/>
              </a:rPr>
              <a:t>symbols, </a:t>
            </a:r>
            <a:r>
              <a:rPr dirty="0" sz="1100">
                <a:latin typeface="Times New Roman"/>
                <a:cs typeface="Times New Roman"/>
              </a:rPr>
              <a:t> intended to </a:t>
            </a:r>
            <a:r>
              <a:rPr dirty="0" sz="1100" spc="-5">
                <a:latin typeface="Times New Roman"/>
                <a:cs typeface="Times New Roman"/>
              </a:rPr>
              <a:t>represent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readable character for the purposes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writing)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represent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morpheme </a:t>
            </a:r>
            <a:r>
              <a:rPr dirty="0" sz="1100">
                <a:latin typeface="Times New Roman"/>
                <a:cs typeface="Times New Roman"/>
              </a:rPr>
              <a:t>(the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smallest meaningful linguistic </a:t>
            </a:r>
            <a:r>
              <a:rPr dirty="0" sz="1100">
                <a:latin typeface="Times New Roman"/>
                <a:cs typeface="Times New Roman"/>
              </a:rPr>
              <a:t>unit,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-5">
                <a:latin typeface="Times New Roman"/>
                <a:cs typeface="Times New Roman"/>
              </a:rPr>
              <a:t>three morphemes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mean </a:t>
            </a:r>
            <a:r>
              <a:rPr dirty="0" sz="1100">
                <a:latin typeface="Times New Roman"/>
                <a:cs typeface="Times New Roman"/>
              </a:rPr>
              <a:t>+ ing </a:t>
            </a:r>
            <a:r>
              <a:rPr dirty="0" sz="1100" spc="-5">
                <a:latin typeface="Times New Roman"/>
                <a:cs typeface="Times New Roman"/>
              </a:rPr>
              <a:t>+ful) </a:t>
            </a:r>
            <a:r>
              <a:rPr dirty="0" sz="1100">
                <a:latin typeface="Times New Roman"/>
                <a:cs typeface="Times New Roman"/>
              </a:rPr>
              <a:t>or an </a:t>
            </a:r>
            <a:r>
              <a:rPr dirty="0" sz="1100" spc="-5">
                <a:latin typeface="Times New Roman"/>
                <a:cs typeface="Times New Roman"/>
              </a:rPr>
              <a:t>entire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(‘jackal’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Egyptian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hieroglyphic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Syllabic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Script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syllabic script comprises glyphs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only syllabo-phonetic </a:t>
            </a:r>
            <a:r>
              <a:rPr dirty="0" sz="1100" spc="-5">
                <a:latin typeface="Times New Roman"/>
                <a:cs typeface="Times New Roman"/>
              </a:rPr>
              <a:t>value (for example, ko-no-so 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‘Knossos’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Bronze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Age).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425" y="914400"/>
            <a:ext cx="3256279" cy="17811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904744"/>
            <a:ext cx="3200019" cy="23084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17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Alphabetic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Script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alphabetic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glyphs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‘letters’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alphabet).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Syllabic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Systems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Over time, most historical </a:t>
            </a:r>
            <a:r>
              <a:rPr dirty="0" sz="1100">
                <a:latin typeface="Times New Roman"/>
                <a:cs typeface="Times New Roman"/>
              </a:rPr>
              <a:t>scripts </a:t>
            </a:r>
            <a:r>
              <a:rPr dirty="0" sz="1100" spc="-5">
                <a:latin typeface="Times New Roman"/>
                <a:cs typeface="Times New Roman"/>
              </a:rPr>
              <a:t>reflect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shift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emphasis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class, whereby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earlier semantic 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sense </a:t>
            </a:r>
            <a:r>
              <a:rPr dirty="0" sz="1100">
                <a:latin typeface="Times New Roman"/>
                <a:cs typeface="Times New Roman"/>
              </a:rPr>
              <a:t>content is </a:t>
            </a:r>
            <a:r>
              <a:rPr dirty="0" sz="1100" spc="-5">
                <a:latin typeface="Times New Roman"/>
                <a:cs typeface="Times New Roman"/>
              </a:rPr>
              <a:t>gradually superseded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phonetic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 content: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way, logographic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tended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syllabic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Uniqueness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Alphabetic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contrast, the </a:t>
            </a:r>
            <a:r>
              <a:rPr dirty="0" sz="1100" spc="-5">
                <a:latin typeface="Times New Roman"/>
                <a:cs typeface="Times New Roman"/>
              </a:rPr>
              <a:t>alphabetic system </a:t>
            </a:r>
            <a:r>
              <a:rPr dirty="0" sz="1100">
                <a:latin typeface="Times New Roman"/>
                <a:cs typeface="Times New Roman"/>
              </a:rPr>
              <a:t>has remained </a:t>
            </a:r>
            <a:r>
              <a:rPr dirty="0" sz="1100" spc="-5">
                <a:latin typeface="Times New Roman"/>
                <a:cs typeface="Times New Roman"/>
              </a:rPr>
              <a:t>unique: </a:t>
            </a:r>
            <a:r>
              <a:rPr dirty="0" sz="1100">
                <a:latin typeface="Times New Roman"/>
                <a:cs typeface="Times New Roman"/>
              </a:rPr>
              <a:t>once </a:t>
            </a:r>
            <a:r>
              <a:rPr dirty="0" sz="1100" spc="-5">
                <a:latin typeface="Times New Roman"/>
                <a:cs typeface="Times New Roman"/>
              </a:rPr>
              <a:t>it was developed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beginning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Levant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Greece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alphabetic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subsequently</a:t>
            </a:r>
            <a:r>
              <a:rPr dirty="0" sz="1100">
                <a:latin typeface="Times New Roman"/>
                <a:cs typeface="Times New Roman"/>
              </a:rPr>
              <a:t> adopted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hundreds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alphabetic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system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 one</a:t>
            </a:r>
            <a:r>
              <a:rPr dirty="0" sz="1100" spc="5">
                <a:latin typeface="Times New Roman"/>
                <a:cs typeface="Times New Roman"/>
              </a:rPr>
              <a:t> used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previously scriptless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Emergence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5" b="1">
                <a:latin typeface="Times New Roman"/>
                <a:cs typeface="Times New Roman"/>
              </a:rPr>
              <a:t> 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 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500"/>
              </a:lnSpc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>
                <a:latin typeface="Times New Roman"/>
                <a:cs typeface="Times New Roman"/>
              </a:rPr>
              <a:t> once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imitated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thereafter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many societies. Until quite recently,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was believed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most scholars that this emergence </a:t>
            </a:r>
            <a:r>
              <a:rPr dirty="0" sz="1100">
                <a:latin typeface="Times New Roman"/>
                <a:cs typeface="Times New Roman"/>
              </a:rPr>
              <a:t> occurred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Mesopotamia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(today’s</a:t>
            </a:r>
            <a:r>
              <a:rPr dirty="0" sz="1100">
                <a:latin typeface="Times New Roman"/>
                <a:cs typeface="Times New Roman"/>
              </a:rPr>
              <a:t> South-Eastern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Iraq).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Writing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Magical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cultures </a:t>
            </a:r>
            <a:r>
              <a:rPr dirty="0" sz="1100" spc="-5">
                <a:latin typeface="Times New Roman"/>
                <a:cs typeface="Times New Roman"/>
              </a:rPr>
              <a:t>written language </a:t>
            </a:r>
            <a:r>
              <a:rPr dirty="0" sz="1100">
                <a:latin typeface="Times New Roman"/>
                <a:cs typeface="Times New Roman"/>
              </a:rPr>
              <a:t>acquired </a:t>
            </a:r>
            <a:r>
              <a:rPr dirty="0" sz="1100" spc="-5">
                <a:latin typeface="Times New Roman"/>
                <a:cs typeface="Times New Roman"/>
              </a:rPr>
              <a:t>veneration,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with the </a:t>
            </a:r>
            <a:r>
              <a:rPr dirty="0" sz="1100">
                <a:latin typeface="Times New Roman"/>
                <a:cs typeface="Times New Roman"/>
              </a:rPr>
              <a:t>Hebrews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Canaan, </a:t>
            </a:r>
            <a:r>
              <a:rPr dirty="0" sz="1100" spc="-5">
                <a:latin typeface="Times New Roman"/>
                <a:cs typeface="Times New Roman"/>
              </a:rPr>
              <a:t>ancient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Germans </a:t>
            </a:r>
            <a:r>
              <a:rPr dirty="0" sz="1100">
                <a:latin typeface="Times New Roman"/>
                <a:cs typeface="Times New Roman"/>
              </a:rPr>
              <a:t>and Easter </a:t>
            </a:r>
            <a:r>
              <a:rPr dirty="0" sz="1100" spc="-5">
                <a:latin typeface="Times New Roman"/>
                <a:cs typeface="Times New Roman"/>
              </a:rPr>
              <a:t>Islanders.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such cases the </a:t>
            </a:r>
            <a:r>
              <a:rPr dirty="0" sz="1100" spc="-5">
                <a:latin typeface="Times New Roman"/>
                <a:cs typeface="Times New Roman"/>
              </a:rPr>
              <a:t>graphic 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and not </a:t>
            </a:r>
            <a:r>
              <a:rPr dirty="0" sz="1100" spc="-5">
                <a:latin typeface="Times New Roman"/>
                <a:cs typeface="Times New Roman"/>
              </a:rPr>
              <a:t>necessarily its transmitted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message, was felt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something apart from </a:t>
            </a:r>
            <a:r>
              <a:rPr dirty="0" sz="1100">
                <a:latin typeface="Times New Roman"/>
                <a:cs typeface="Times New Roman"/>
              </a:rPr>
              <a:t>everyday existence, a </a:t>
            </a:r>
            <a:r>
              <a:rPr dirty="0" sz="1100" spc="-5">
                <a:latin typeface="Times New Roman"/>
                <a:cs typeface="Times New Roman"/>
              </a:rPr>
              <a:t>transcendental communication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practised only </a:t>
            </a:r>
            <a:r>
              <a:rPr dirty="0" sz="1100">
                <a:latin typeface="Times New Roman"/>
                <a:cs typeface="Times New Roman"/>
              </a:rPr>
              <a:t>by special </a:t>
            </a:r>
            <a:r>
              <a:rPr dirty="0" sz="1100" spc="-5">
                <a:latin typeface="Times New Roman"/>
                <a:cs typeface="Times New Roman"/>
              </a:rPr>
              <a:t>scribes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priests. Throughout history,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act of </a:t>
            </a:r>
            <a:r>
              <a:rPr dirty="0" sz="1100" spc="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deemed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Three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Systems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logographic,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syllabic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alphabetic</a:t>
            </a:r>
            <a:r>
              <a:rPr dirty="0" sz="1100">
                <a:latin typeface="Times New Roman"/>
                <a:cs typeface="Times New Roman"/>
              </a:rPr>
              <a:t> (and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usages)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maximized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society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era.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 fine-tuning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languages themselves change over time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neighbouring language’s writing </a:t>
            </a:r>
            <a:r>
              <a:rPr dirty="0" sz="1100">
                <a:latin typeface="Times New Roman"/>
                <a:cs typeface="Times New Roman"/>
              </a:rPr>
              <a:t> 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borrowed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radically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Quality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Grades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three classes are not quality grades, </a:t>
            </a:r>
            <a:r>
              <a:rPr dirty="0" sz="1100">
                <a:latin typeface="Times New Roman"/>
                <a:cs typeface="Times New Roman"/>
              </a:rPr>
              <a:t>nor </a:t>
            </a:r>
            <a:r>
              <a:rPr dirty="0" sz="1100" spc="-5">
                <a:latin typeface="Times New Roman"/>
                <a:cs typeface="Times New Roman"/>
              </a:rPr>
              <a:t>are they </a:t>
            </a:r>
            <a:r>
              <a:rPr dirty="0" sz="1100">
                <a:latin typeface="Times New Roman"/>
                <a:cs typeface="Times New Roman"/>
              </a:rPr>
              <a:t>stages in a </a:t>
            </a:r>
            <a:r>
              <a:rPr dirty="0" sz="1100" spc="-5">
                <a:latin typeface="Times New Roman"/>
                <a:cs typeface="Times New Roman"/>
              </a:rPr>
              <a:t>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writing evolution; they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simply different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writing which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sometimes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accommodate </a:t>
            </a:r>
            <a:r>
              <a:rPr dirty="0" sz="1100">
                <a:latin typeface="Times New Roman"/>
                <a:cs typeface="Times New Roman"/>
              </a:rPr>
              <a:t>new and </a:t>
            </a:r>
            <a:r>
              <a:rPr dirty="0" sz="1100" spc="-5">
                <a:latin typeface="Times New Roman"/>
                <a:cs typeface="Times New Roman"/>
              </a:rPr>
              <a:t>different needs 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they arise.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graphic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reproduction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18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9508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Changes </a:t>
            </a:r>
            <a:r>
              <a:rPr dirty="0" sz="1100" b="1">
                <a:latin typeface="Times New Roman"/>
                <a:cs typeface="Times New Roman"/>
              </a:rPr>
              <a:t>in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Systems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Over centuries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millennia, constant small changes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system </a:t>
            </a:r>
            <a:r>
              <a:rPr dirty="0" sz="1100" spc="-5">
                <a:latin typeface="Times New Roman"/>
                <a:cs typeface="Times New Roman"/>
              </a:rPr>
              <a:t>will result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enormous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script’s written </a:t>
            </a:r>
            <a:r>
              <a:rPr dirty="0" sz="1100">
                <a:latin typeface="Times New Roman"/>
                <a:cs typeface="Times New Roman"/>
              </a:rPr>
              <a:t>appearance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use.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after </a:t>
            </a:r>
            <a:r>
              <a:rPr dirty="0" sz="1100" spc="-5">
                <a:latin typeface="Times New Roman"/>
                <a:cs typeface="Times New Roman"/>
              </a:rPr>
              <a:t>more than 2,000 years, today’s Latin </a:t>
            </a:r>
            <a:r>
              <a:rPr dirty="0" sz="1100">
                <a:latin typeface="Times New Roman"/>
                <a:cs typeface="Times New Roman"/>
              </a:rPr>
              <a:t> alphabet,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descended </a:t>
            </a:r>
            <a:r>
              <a:rPr dirty="0" sz="1100">
                <a:latin typeface="Times New Roman"/>
                <a:cs typeface="Times New Roman"/>
              </a:rPr>
              <a:t>from the earliest </a:t>
            </a:r>
            <a:r>
              <a:rPr dirty="0" sz="1100" spc="-5">
                <a:latin typeface="Times New Roman"/>
                <a:cs typeface="Times New Roman"/>
              </a:rPr>
              <a:t>Egyptian hieroglyphs,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still experiencing,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simultaneously,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addition </a:t>
            </a:r>
            <a:r>
              <a:rPr dirty="0" sz="1100">
                <a:latin typeface="Times New Roman"/>
                <a:cs typeface="Times New Roman"/>
              </a:rPr>
              <a:t>of new system-external </a:t>
            </a:r>
            <a:r>
              <a:rPr dirty="0" sz="1100" spc="-5">
                <a:latin typeface="Times New Roman"/>
                <a:cs typeface="Times New Roman"/>
              </a:rPr>
              <a:t>signs</a:t>
            </a:r>
            <a:r>
              <a:rPr dirty="0" sz="1100">
                <a:latin typeface="Times New Roman"/>
                <a:cs typeface="Times New Roman"/>
              </a:rPr>
              <a:t> – or, because of </a:t>
            </a:r>
            <a:r>
              <a:rPr dirty="0" sz="1100" spc="-5">
                <a:latin typeface="Times New Roman"/>
                <a:cs typeface="Times New Roman"/>
              </a:rPr>
              <a:t>new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expansion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%,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¥,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 spc="5">
                <a:latin typeface="Times New Roman"/>
                <a:cs typeface="Times New Roman"/>
              </a:rPr>
              <a:t>™,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© and,</a:t>
            </a:r>
            <a:r>
              <a:rPr dirty="0" sz="1100" spc="-5">
                <a:latin typeface="Times New Roman"/>
                <a:cs typeface="Times New Roman"/>
              </a:rPr>
              <a:t> 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recently,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@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//.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Afro-Asiatic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6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peoples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Afro-Asia are perhaps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ones in history to </a:t>
            </a:r>
            <a:r>
              <a:rPr dirty="0" sz="1100" spc="-5">
                <a:latin typeface="Times New Roman"/>
                <a:cs typeface="Times New Roman"/>
              </a:rPr>
              <a:t>have elaborated writing without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inspiration.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Everywhere</a:t>
            </a:r>
            <a:r>
              <a:rPr dirty="0" sz="1100">
                <a:latin typeface="Times New Roman"/>
                <a:cs typeface="Times New Roman"/>
              </a:rPr>
              <a:t> else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prerogatives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priests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propagandists,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prestige</a:t>
            </a:r>
            <a:r>
              <a:rPr dirty="0" sz="1100">
                <a:latin typeface="Times New Roman"/>
                <a:cs typeface="Times New Roman"/>
              </a:rPr>
              <a:t> and power.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Asiatic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Perhaps </a:t>
            </a:r>
            <a:r>
              <a:rPr dirty="0" sz="1100" spc="-5">
                <a:latin typeface="Times New Roman"/>
                <a:cs typeface="Times New Roman"/>
              </a:rPr>
              <a:t>inspired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Western scripts, Chinese writing began </a:t>
            </a:r>
            <a:r>
              <a:rPr dirty="0" sz="1100">
                <a:latin typeface="Times New Roman"/>
                <a:cs typeface="Times New Roman"/>
              </a:rPr>
              <a:t>in the second </a:t>
            </a:r>
            <a:r>
              <a:rPr dirty="0" sz="1100" spc="-5">
                <a:latin typeface="Times New Roman"/>
                <a:cs typeface="Times New Roman"/>
              </a:rPr>
              <a:t>millennium </a:t>
            </a:r>
            <a:r>
              <a:rPr dirty="0" sz="1100">
                <a:latin typeface="Times New Roman"/>
                <a:cs typeface="Times New Roman"/>
              </a:rPr>
              <a:t>BC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 standardized depictions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objects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bones, bamboo </a:t>
            </a:r>
            <a:r>
              <a:rPr dirty="0" sz="1100">
                <a:latin typeface="Times New Roman"/>
                <a:cs typeface="Times New Roman"/>
              </a:rPr>
              <a:t>sticks, </a:t>
            </a:r>
            <a:r>
              <a:rPr dirty="0" sz="1100" spc="-5">
                <a:latin typeface="Times New Roman"/>
                <a:cs typeface="Times New Roman"/>
              </a:rPr>
              <a:t>wooden tablets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very rarely silk, </a:t>
            </a:r>
            <a:r>
              <a:rPr dirty="0" sz="1100">
                <a:latin typeface="Times New Roman"/>
                <a:cs typeface="Times New Roman"/>
              </a:rPr>
              <a:t> whose </a:t>
            </a:r>
            <a:r>
              <a:rPr dirty="0" sz="1100" spc="-5">
                <a:latin typeface="Times New Roman"/>
                <a:cs typeface="Times New Roman"/>
              </a:rPr>
              <a:t>names </a:t>
            </a:r>
            <a:r>
              <a:rPr dirty="0" sz="1100">
                <a:latin typeface="Times New Roman"/>
                <a:cs typeface="Times New Roman"/>
              </a:rPr>
              <a:t>were 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spoken </a:t>
            </a:r>
            <a:r>
              <a:rPr dirty="0" sz="1100">
                <a:latin typeface="Times New Roman"/>
                <a:cs typeface="Times New Roman"/>
              </a:rPr>
              <a:t>aloud.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rule,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wrote from </a:t>
            </a:r>
            <a:r>
              <a:rPr dirty="0" sz="1100">
                <a:latin typeface="Times New Roman"/>
                <a:cs typeface="Times New Roman"/>
              </a:rPr>
              <a:t>top to </a:t>
            </a:r>
            <a:r>
              <a:rPr dirty="0" sz="1100" spc="-5">
                <a:latin typeface="Times New Roman"/>
                <a:cs typeface="Times New Roman"/>
              </a:rPr>
              <a:t>bottom in columns running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left.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>
                <a:latin typeface="Times New Roman"/>
                <a:cs typeface="Times New Roman"/>
              </a:rPr>
              <a:t>depictions </a:t>
            </a:r>
            <a:r>
              <a:rPr dirty="0" sz="1100" spc="-5">
                <a:latin typeface="Times New Roman"/>
                <a:cs typeface="Times New Roman"/>
              </a:rPr>
              <a:t>became more stylized.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allowed faster, more efficient writing.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Also,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picture-related writing could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used over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larger area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more speakers,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too.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Mesoamerican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 </a:t>
            </a:r>
            <a:r>
              <a:rPr dirty="0" sz="1100">
                <a:latin typeface="Times New Roman"/>
                <a:cs typeface="Times New Roman"/>
              </a:rPr>
              <a:t>handful of </a:t>
            </a:r>
            <a:r>
              <a:rPr dirty="0" sz="1100" spc="-5">
                <a:latin typeface="Times New Roman"/>
                <a:cs typeface="Times New Roman"/>
              </a:rPr>
              <a:t>Native American peoples ever</a:t>
            </a:r>
            <a:r>
              <a:rPr dirty="0" sz="1100">
                <a:latin typeface="Times New Roman"/>
                <a:cs typeface="Times New Roman"/>
              </a:rPr>
              <a:t> used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this was </a:t>
            </a:r>
            <a:r>
              <a:rPr dirty="0" sz="1100">
                <a:latin typeface="Times New Roman"/>
                <a:cs typeface="Times New Roman"/>
              </a:rPr>
              <a:t>solely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Mesoamerica.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scholars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perhaps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‘natural reflex’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civilization.</a:t>
            </a:r>
            <a:endParaRPr sz="1100">
              <a:latin typeface="Times New Roman"/>
              <a:cs typeface="Times New Roman"/>
            </a:endParaRPr>
          </a:p>
          <a:p>
            <a:pPr algn="just" marL="12700" marR="3997960">
              <a:lnSpc>
                <a:spcPct val="220000"/>
              </a:lnSpc>
              <a:spcBef>
                <a:spcPts val="3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Topic- 010: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First Families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Complexity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Human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6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true 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is far more complex than </a:t>
            </a:r>
            <a:r>
              <a:rPr dirty="0" sz="1100">
                <a:latin typeface="Times New Roman"/>
                <a:cs typeface="Times New Roman"/>
              </a:rPr>
              <a:t>anyone has </a:t>
            </a:r>
            <a:r>
              <a:rPr dirty="0" sz="1100" spc="-5">
                <a:latin typeface="Times New Roman"/>
                <a:cs typeface="Times New Roman"/>
              </a:rPr>
              <a:t>hitherto imagined. One should 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looking through the small </a:t>
            </a:r>
            <a:r>
              <a:rPr dirty="0" sz="1100">
                <a:latin typeface="Times New Roman"/>
                <a:cs typeface="Times New Roman"/>
              </a:rPr>
              <a:t>end, not the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end,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funnel to </a:t>
            </a:r>
            <a:r>
              <a:rPr dirty="0" sz="1100" spc="-5">
                <a:latin typeface="Times New Roman"/>
                <a:cs typeface="Times New Roman"/>
              </a:rPr>
              <a:t>find </a:t>
            </a:r>
            <a:r>
              <a:rPr dirty="0" sz="1100">
                <a:latin typeface="Times New Roman"/>
                <a:cs typeface="Times New Roman"/>
              </a:rPr>
              <a:t>the world’s </a:t>
            </a:r>
            <a:r>
              <a:rPr dirty="0" sz="1100" spc="-5">
                <a:latin typeface="Times New Roman"/>
                <a:cs typeface="Times New Roman"/>
              </a:rPr>
              <a:t>first families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then,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merely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metaphor.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Families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 families are groups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that are genetically </a:t>
            </a:r>
            <a:r>
              <a:rPr dirty="0" sz="1100">
                <a:latin typeface="Times New Roman"/>
                <a:cs typeface="Times New Roman"/>
              </a:rPr>
              <a:t>related, that </a:t>
            </a:r>
            <a:r>
              <a:rPr dirty="0" sz="1100" spc="-5">
                <a:latin typeface="Times New Roman"/>
                <a:cs typeface="Times New Roman"/>
              </a:rPr>
              <a:t>is, </a:t>
            </a:r>
            <a:r>
              <a:rPr dirty="0" sz="1100">
                <a:latin typeface="Times New Roman"/>
                <a:cs typeface="Times New Roman"/>
              </a:rPr>
              <a:t>sharing a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ancestor. They </a:t>
            </a:r>
            <a:r>
              <a:rPr dirty="0" sz="1100">
                <a:latin typeface="Times New Roman"/>
                <a:cs typeface="Times New Roman"/>
              </a:rPr>
              <a:t>display </a:t>
            </a:r>
            <a:r>
              <a:rPr dirty="0" sz="1100" spc="-5">
                <a:latin typeface="Times New Roman"/>
                <a:cs typeface="Times New Roman"/>
              </a:rPr>
              <a:t>systematic correspondences in </a:t>
            </a:r>
            <a:r>
              <a:rPr dirty="0" sz="1100">
                <a:latin typeface="Times New Roman"/>
                <a:cs typeface="Times New Roman"/>
              </a:rPr>
              <a:t>form and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attributable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chance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borrowing.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19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175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three </a:t>
            </a:r>
            <a:r>
              <a:rPr dirty="0" sz="1100">
                <a:latin typeface="Times New Roman"/>
                <a:cs typeface="Times New Roman"/>
              </a:rPr>
              <a:t>reasons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linguistic </a:t>
            </a:r>
            <a:r>
              <a:rPr dirty="0" sz="1100" spc="-5">
                <a:latin typeface="Times New Roman"/>
                <a:cs typeface="Times New Roman"/>
              </a:rPr>
              <a:t>similarity: genealogical sharing, </a:t>
            </a:r>
            <a:r>
              <a:rPr dirty="0" sz="1100">
                <a:latin typeface="Times New Roman"/>
                <a:cs typeface="Times New Roman"/>
              </a:rPr>
              <a:t>areal </a:t>
            </a:r>
            <a:r>
              <a:rPr dirty="0" sz="1100" spc="-5">
                <a:latin typeface="Times New Roman"/>
                <a:cs typeface="Times New Roman"/>
              </a:rPr>
              <a:t>diffusion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chance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typological commonality.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genealogical sharing </a:t>
            </a:r>
            <a:r>
              <a:rPr dirty="0" sz="1100">
                <a:latin typeface="Times New Roman"/>
                <a:cs typeface="Times New Roman"/>
              </a:rPr>
              <a:t>alone </a:t>
            </a:r>
            <a:r>
              <a:rPr dirty="0" sz="1100" spc="-5">
                <a:latin typeface="Times New Roman"/>
                <a:cs typeface="Times New Roman"/>
              </a:rPr>
              <a:t>that justifies family trees.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number and </a:t>
            </a:r>
            <a:r>
              <a:rPr dirty="0" sz="1100">
                <a:latin typeface="Times New Roman"/>
                <a:cs typeface="Times New Roman"/>
              </a:rPr>
              <a:t> quality of </a:t>
            </a:r>
            <a:r>
              <a:rPr dirty="0" sz="1100" spc="-5">
                <a:latin typeface="Times New Roman"/>
                <a:cs typeface="Times New Roman"/>
              </a:rPr>
              <a:t>related features will vary according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that has </a:t>
            </a:r>
            <a:r>
              <a:rPr dirty="0" sz="1100" spc="-5">
                <a:latin typeface="Times New Roman"/>
                <a:cs typeface="Times New Roman"/>
              </a:rPr>
              <a:t>passed </a:t>
            </a:r>
            <a:r>
              <a:rPr dirty="0" sz="1100" spc="5">
                <a:latin typeface="Times New Roman"/>
                <a:cs typeface="Times New Roman"/>
              </a:rPr>
              <a:t>since </a:t>
            </a:r>
            <a:r>
              <a:rPr dirty="0" sz="1100" spc="-5">
                <a:latin typeface="Times New Roman"/>
                <a:cs typeface="Times New Roman"/>
              </a:rPr>
              <a:t>divergence from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ancestor.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historical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‘reconstructing’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(rather than simply inferring </a:t>
            </a:r>
            <a:r>
              <a:rPr dirty="0" sz="1100">
                <a:latin typeface="Times New Roman"/>
                <a:cs typeface="Times New Roman"/>
              </a:rPr>
              <a:t>the history of </a:t>
            </a:r>
            <a:r>
              <a:rPr dirty="0" sz="1100" spc="-5">
                <a:latin typeface="Times New Roman"/>
                <a:cs typeface="Times New Roman"/>
              </a:rPr>
              <a:t>languages).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application </a:t>
            </a:r>
            <a:r>
              <a:rPr dirty="0" sz="1100">
                <a:latin typeface="Times New Roman"/>
                <a:cs typeface="Times New Roman"/>
              </a:rPr>
              <a:t>of these </a:t>
            </a:r>
            <a:r>
              <a:rPr dirty="0" sz="1100" spc="-5">
                <a:latin typeface="Times New Roman"/>
                <a:cs typeface="Times New Roman"/>
              </a:rPr>
              <a:t>techniques has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inherited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features,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identification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shared features from </a:t>
            </a:r>
            <a:r>
              <a:rPr dirty="0" sz="1100">
                <a:latin typeface="Times New Roman"/>
                <a:cs typeface="Times New Roman"/>
              </a:rPr>
              <a:t>an ancient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source. </a:t>
            </a:r>
            <a:r>
              <a:rPr dirty="0" sz="1100" spc="-5">
                <a:latin typeface="Times New Roman"/>
                <a:cs typeface="Times New Roman"/>
              </a:rPr>
              <a:t>This process </a:t>
            </a:r>
            <a:r>
              <a:rPr dirty="0" sz="1100">
                <a:latin typeface="Times New Roman"/>
                <a:cs typeface="Times New Roman"/>
              </a:rPr>
              <a:t> eventually </a:t>
            </a:r>
            <a:r>
              <a:rPr dirty="0" sz="1100" spc="-5">
                <a:latin typeface="Times New Roman"/>
                <a:cs typeface="Times New Roman"/>
              </a:rPr>
              <a:t>allows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‘classification’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or entire </a:t>
            </a:r>
            <a:r>
              <a:rPr dirty="0" sz="1100" spc="-5">
                <a:latin typeface="Times New Roman"/>
                <a:cs typeface="Times New Roman"/>
              </a:rPr>
              <a:t>language family </a:t>
            </a:r>
            <a:r>
              <a:rPr dirty="0" sz="1100">
                <a:latin typeface="Times New Roman"/>
                <a:cs typeface="Times New Roman"/>
              </a:rPr>
              <a:t>based on </a:t>
            </a:r>
            <a:r>
              <a:rPr dirty="0" sz="1100" spc="-5">
                <a:latin typeface="Times New Roman"/>
                <a:cs typeface="Times New Roman"/>
              </a:rPr>
              <a:t>similarities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dissimilarities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elements.</a:t>
            </a:r>
            <a:r>
              <a:rPr dirty="0" sz="1100">
                <a:latin typeface="Times New Roman"/>
                <a:cs typeface="Times New Roman"/>
              </a:rPr>
              <a:t> 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typological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genetic </a:t>
            </a:r>
            <a:r>
              <a:rPr dirty="0" sz="1100">
                <a:latin typeface="Times New Roman"/>
                <a:cs typeface="Times New Roman"/>
              </a:rPr>
              <a:t>(or </a:t>
            </a:r>
            <a:r>
              <a:rPr dirty="0" sz="1100" spc="-5">
                <a:latin typeface="Times New Roman"/>
                <a:cs typeface="Times New Roman"/>
              </a:rPr>
              <a:t>genealogical).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typological classification associates languages </a:t>
            </a:r>
            <a:r>
              <a:rPr dirty="0" sz="1100">
                <a:latin typeface="Times New Roman"/>
                <a:cs typeface="Times New Roman"/>
              </a:rPr>
              <a:t>on the basis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categorized 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 types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Isolating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Isolating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those that tend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have, </a:t>
            </a:r>
            <a:r>
              <a:rPr dirty="0" sz="1100">
                <a:latin typeface="Times New Roman"/>
                <a:cs typeface="Times New Roman"/>
              </a:rPr>
              <a:t>per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only one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>
                <a:latin typeface="Times New Roman"/>
                <a:cs typeface="Times New Roman"/>
              </a:rPr>
              <a:t>– a </a:t>
            </a:r>
            <a:r>
              <a:rPr dirty="0" sz="1100" spc="-5">
                <a:latin typeface="Times New Roman"/>
                <a:cs typeface="Times New Roman"/>
              </a:rPr>
              <a:t>language’s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smallest meaningful unit, </a:t>
            </a:r>
            <a:r>
              <a:rPr dirty="0" sz="1100" spc="-10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‘the’ or </a:t>
            </a:r>
            <a:r>
              <a:rPr dirty="0" sz="1100" spc="-5">
                <a:latin typeface="Times New Roman"/>
                <a:cs typeface="Times New Roman"/>
              </a:rPr>
              <a:t>‘book’. Some languages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isolating, like Mandarin Chinese,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Fusional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fusional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but the </a:t>
            </a:r>
            <a:r>
              <a:rPr dirty="0" sz="1100" spc="-5">
                <a:latin typeface="Times New Roman"/>
                <a:cs typeface="Times New Roman"/>
              </a:rPr>
              <a:t>boundaries between </a:t>
            </a:r>
            <a:r>
              <a:rPr dirty="0" sz="1100">
                <a:latin typeface="Times New Roman"/>
                <a:cs typeface="Times New Roman"/>
              </a:rPr>
              <a:t>them are </a:t>
            </a:r>
            <a:r>
              <a:rPr dirty="0" sz="1100" spc="-5">
                <a:latin typeface="Times New Roman"/>
                <a:cs typeface="Times New Roman"/>
              </a:rPr>
              <a:t>unclear. This is </a:t>
            </a:r>
            <a:r>
              <a:rPr dirty="0" sz="1100">
                <a:latin typeface="Times New Roman"/>
                <a:cs typeface="Times New Roman"/>
              </a:rPr>
              <a:t>so in </a:t>
            </a:r>
            <a:r>
              <a:rPr dirty="0" sz="1100" spc="-5">
                <a:latin typeface="Times New Roman"/>
                <a:cs typeface="Times New Roman"/>
              </a:rPr>
              <a:t>Latin, which uses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endings: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corpus,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‘body’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Latin, can </a:t>
            </a:r>
            <a:r>
              <a:rPr dirty="0" sz="1100" spc="-5">
                <a:latin typeface="Times New Roman"/>
                <a:cs typeface="Times New Roman"/>
              </a:rPr>
              <a:t>also appear </a:t>
            </a:r>
            <a:r>
              <a:rPr dirty="0" sz="1100">
                <a:latin typeface="Times New Roman"/>
                <a:cs typeface="Times New Roman"/>
              </a:rPr>
              <a:t>as corporis, corpori, and </a:t>
            </a:r>
            <a:r>
              <a:rPr dirty="0" sz="1100" spc="-5">
                <a:latin typeface="Times New Roman"/>
                <a:cs typeface="Times New Roman"/>
              </a:rPr>
              <a:t>corpore depending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word’s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sentence.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is called ‘inflection’ and fusional languages are also 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inflectional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Agglutinative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third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agglutinative,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may possibly </a:t>
            </a:r>
            <a:r>
              <a:rPr dirty="0" sz="1100">
                <a:latin typeface="Times New Roman"/>
                <a:cs typeface="Times New Roman"/>
              </a:rPr>
              <a:t>contain </a:t>
            </a:r>
            <a:r>
              <a:rPr dirty="0" sz="1100" spc="-5">
                <a:latin typeface="Times New Roman"/>
                <a:cs typeface="Times New Roman"/>
              </a:rPr>
              <a:t>many individual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>
                <a:latin typeface="Times New Roman"/>
                <a:cs typeface="Times New Roman"/>
              </a:rPr>
              <a:t>that can be </a:t>
            </a:r>
            <a:r>
              <a:rPr dirty="0" sz="1100" spc="-5">
                <a:latin typeface="Times New Roman"/>
                <a:cs typeface="Times New Roman"/>
              </a:rPr>
              <a:t>either free (that </a:t>
            </a:r>
            <a:r>
              <a:rPr dirty="0" sz="1100">
                <a:latin typeface="Times New Roman"/>
                <a:cs typeface="Times New Roman"/>
              </a:rPr>
              <a:t>is, </a:t>
            </a:r>
            <a:r>
              <a:rPr dirty="0" sz="1100" spc="-5">
                <a:latin typeface="Times New Roman"/>
                <a:cs typeface="Times New Roman"/>
              </a:rPr>
              <a:t>stand </a:t>
            </a:r>
            <a:r>
              <a:rPr dirty="0" sz="1100">
                <a:latin typeface="Times New Roman"/>
                <a:cs typeface="Times New Roman"/>
              </a:rPr>
              <a:t>on their </a:t>
            </a:r>
            <a:r>
              <a:rPr dirty="0" sz="1100" spc="-5">
                <a:latin typeface="Times New Roman"/>
                <a:cs typeface="Times New Roman"/>
              </a:rPr>
              <a:t>own, like English ‘drive’) </a:t>
            </a:r>
            <a:r>
              <a:rPr dirty="0" sz="1100">
                <a:latin typeface="Times New Roman"/>
                <a:cs typeface="Times New Roman"/>
              </a:rPr>
              <a:t>or bound </a:t>
            </a:r>
            <a:r>
              <a:rPr dirty="0" sz="1100" spc="-5">
                <a:latin typeface="Times New Roman"/>
                <a:cs typeface="Times New Roman"/>
              </a:rPr>
              <a:t>(they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 stand alone, like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‘-r’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‘driver’). </a:t>
            </a:r>
            <a:r>
              <a:rPr dirty="0" sz="1100">
                <a:latin typeface="Times New Roman"/>
                <a:cs typeface="Times New Roman"/>
              </a:rPr>
              <a:t>Turkish is an </a:t>
            </a:r>
            <a:r>
              <a:rPr dirty="0" sz="1100" spc="-5">
                <a:latin typeface="Times New Roman"/>
                <a:cs typeface="Times New Roman"/>
              </a:rPr>
              <a:t>agglutinative 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which, 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agglutinative languages, word bases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word additions are kept distinct from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another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 boundaries between morphemes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easily identifiable. Unfortunately, typological classifications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typological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relational,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substantial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Genetic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genetic classification attempts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connect languages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virtue </a:t>
            </a:r>
            <a:r>
              <a:rPr dirty="0" sz="1100" spc="15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origins and relationships. </a:t>
            </a:r>
            <a:r>
              <a:rPr dirty="0" sz="1100">
                <a:latin typeface="Times New Roman"/>
                <a:cs typeface="Times New Roman"/>
              </a:rPr>
              <a:t> Related languages are compared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regard to </a:t>
            </a:r>
            <a:r>
              <a:rPr dirty="0" sz="1100" spc="-5">
                <a:latin typeface="Times New Roman"/>
                <a:cs typeface="Times New Roman"/>
              </a:rPr>
              <a:t>the interrelationships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subgroups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languages within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family, like French and Italian 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Romance language family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Germanic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Romance 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Indo-European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20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3411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vocabulary,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 For this reason,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the most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productive </a:t>
            </a:r>
            <a:r>
              <a:rPr dirty="0" sz="1100">
                <a:latin typeface="Times New Roman"/>
                <a:cs typeface="Times New Roman"/>
              </a:rPr>
              <a:t>approach to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recent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human</a:t>
            </a:r>
            <a:r>
              <a:rPr dirty="0" sz="1100">
                <a:latin typeface="Times New Roman"/>
                <a:cs typeface="Times New Roman"/>
              </a:rPr>
              <a:t> 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No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Daughter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Some languages,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unique geographical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technological circumstances, never generate </a:t>
            </a:r>
            <a:r>
              <a:rPr dirty="0" sz="1100">
                <a:latin typeface="Times New Roman"/>
                <a:cs typeface="Times New Roman"/>
              </a:rPr>
              <a:t> daughter </a:t>
            </a:r>
            <a:r>
              <a:rPr dirty="0" sz="1100" spc="-5">
                <a:latin typeface="Times New Roman"/>
                <a:cs typeface="Times New Roman"/>
              </a:rPr>
              <a:t>languages,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their speakers increase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population so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family comprises 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yielding a </a:t>
            </a:r>
            <a:r>
              <a:rPr dirty="0" sz="1100" spc="-5">
                <a:latin typeface="Times New Roman"/>
                <a:cs typeface="Times New Roman"/>
              </a:rPr>
              <a:t>‘family </a:t>
            </a:r>
            <a:r>
              <a:rPr dirty="0" sz="1100">
                <a:latin typeface="Times New Roman"/>
                <a:cs typeface="Times New Roman"/>
              </a:rPr>
              <a:t>language.’ </a:t>
            </a:r>
            <a:r>
              <a:rPr dirty="0" sz="1100" spc="-5">
                <a:latin typeface="Times New Roman"/>
                <a:cs typeface="Times New Roman"/>
              </a:rPr>
              <a:t>Geography </a:t>
            </a:r>
            <a:r>
              <a:rPr dirty="0" sz="1100" spc="5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allowed Egyptian 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example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daughters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merely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diachronic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(temporal).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Main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Families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Afro-Asiatic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Austronesian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Indo-European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Niger-Congo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Sino-Tibetan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Trans-New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Guinea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8729268"/>
            <a:ext cx="596582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societies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donned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cloaks.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metamorphosis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unnoticed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–until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969" y="4750228"/>
            <a:ext cx="5626878" cy="336827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21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79508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011: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Towards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Science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heavy" sz="11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‘Linguistic science </a:t>
            </a:r>
            <a:r>
              <a:rPr dirty="0" sz="1100">
                <a:latin typeface="Times New Roman"/>
                <a:cs typeface="Times New Roman"/>
              </a:rPr>
              <a:t>is a step in the </a:t>
            </a:r>
            <a:r>
              <a:rPr dirty="0" sz="1100" spc="-5">
                <a:latin typeface="Times New Roman"/>
                <a:cs typeface="Times New Roman"/>
              </a:rPr>
              <a:t>self-realization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man’, wrote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eminent American linguist </a:t>
            </a:r>
            <a:r>
              <a:rPr dirty="0" sz="1100">
                <a:latin typeface="Times New Roman"/>
                <a:cs typeface="Times New Roman"/>
              </a:rPr>
              <a:t> Leonard </a:t>
            </a:r>
            <a:r>
              <a:rPr dirty="0" sz="1100" spc="-5">
                <a:latin typeface="Times New Roman"/>
                <a:cs typeface="Times New Roman"/>
              </a:rPr>
              <a:t>Bloomfield at the </a:t>
            </a:r>
            <a:r>
              <a:rPr dirty="0" sz="1100">
                <a:latin typeface="Times New Roman"/>
                <a:cs typeface="Times New Roman"/>
              </a:rPr>
              <a:t>beginning of </a:t>
            </a:r>
            <a:r>
              <a:rPr dirty="0" sz="1100" spc="-5">
                <a:latin typeface="Times New Roman"/>
                <a:cs typeface="Times New Roman"/>
              </a:rPr>
              <a:t>the twentieth century. The </a:t>
            </a:r>
            <a:r>
              <a:rPr dirty="0" sz="1100">
                <a:latin typeface="Times New Roman"/>
                <a:cs typeface="Times New Roman"/>
              </a:rPr>
              <a:t>step </a:t>
            </a:r>
            <a:r>
              <a:rPr dirty="0" sz="1100" spc="-5">
                <a:latin typeface="Times New Roman"/>
                <a:cs typeface="Times New Roman"/>
              </a:rPr>
              <a:t>traverses millennia. </a:t>
            </a:r>
            <a:r>
              <a:rPr dirty="0" sz="1100">
                <a:latin typeface="Times New Roman"/>
                <a:cs typeface="Times New Roman"/>
              </a:rPr>
              <a:t>Long before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 language, ancients divined human </a:t>
            </a:r>
            <a:r>
              <a:rPr dirty="0" sz="1100">
                <a:latin typeface="Times New Roman"/>
                <a:cs typeface="Times New Roman"/>
              </a:rPr>
              <a:t>speech as a special </a:t>
            </a:r>
            <a:r>
              <a:rPr dirty="0" sz="1100" spc="-5">
                <a:latin typeface="Times New Roman"/>
                <a:cs typeface="Times New Roman"/>
              </a:rPr>
              <a:t>gift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god,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belief </a:t>
            </a:r>
            <a:r>
              <a:rPr dirty="0" sz="1100" spc="5">
                <a:latin typeface="Times New Roman"/>
                <a:cs typeface="Times New Roman"/>
              </a:rPr>
              <a:t>still </a:t>
            </a:r>
            <a:r>
              <a:rPr dirty="0" sz="1100" spc="-5">
                <a:latin typeface="Times New Roman"/>
                <a:cs typeface="Times New Roman"/>
              </a:rPr>
              <a:t>held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cultures.</a:t>
            </a:r>
            <a:r>
              <a:rPr dirty="0" sz="1100">
                <a:latin typeface="Times New Roman"/>
                <a:cs typeface="Times New Roman"/>
              </a:rPr>
              <a:t> Seriously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organized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Greece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millennium </a:t>
            </a:r>
            <a:r>
              <a:rPr dirty="0" sz="1100">
                <a:latin typeface="Times New Roman"/>
                <a:cs typeface="Times New Roman"/>
              </a:rPr>
              <a:t>BC and has </a:t>
            </a:r>
            <a:r>
              <a:rPr dirty="0" sz="1100" spc="-5">
                <a:latin typeface="Times New Roman"/>
                <a:cs typeface="Times New Roman"/>
              </a:rPr>
              <a:t>continued,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unbroken and mutually </a:t>
            </a:r>
            <a:r>
              <a:rPr dirty="0" sz="1100">
                <a:latin typeface="Times New Roman"/>
                <a:cs typeface="Times New Roman"/>
              </a:rPr>
              <a:t>enriching </a:t>
            </a:r>
            <a:r>
              <a:rPr dirty="0" sz="1100" spc="-5">
                <a:latin typeface="Times New Roman"/>
                <a:cs typeface="Times New Roman"/>
              </a:rPr>
              <a:t>tradition, </a:t>
            </a:r>
            <a:r>
              <a:rPr dirty="0" sz="1100">
                <a:latin typeface="Times New Roman"/>
                <a:cs typeface="Times New Roman"/>
              </a:rPr>
              <a:t>up to the </a:t>
            </a:r>
            <a:r>
              <a:rPr dirty="0" sz="1100" spc="-5">
                <a:latin typeface="Times New Roman"/>
                <a:cs typeface="Times New Roman"/>
              </a:rPr>
              <a:t>present day.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 translations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Greek </a:t>
            </a:r>
            <a:r>
              <a:rPr dirty="0" sz="1100">
                <a:latin typeface="Times New Roman"/>
                <a:cs typeface="Times New Roman"/>
              </a:rPr>
              <a:t>grammatical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– noun, </a:t>
            </a:r>
            <a:r>
              <a:rPr dirty="0" sz="1100" spc="-5">
                <a:latin typeface="Times New Roman"/>
                <a:cs typeface="Times New Roman"/>
              </a:rPr>
              <a:t>pronoun, verb, </a:t>
            </a:r>
            <a:r>
              <a:rPr dirty="0" sz="1100">
                <a:latin typeface="Times New Roman"/>
                <a:cs typeface="Times New Roman"/>
              </a:rPr>
              <a:t>adverb, </a:t>
            </a:r>
            <a:r>
              <a:rPr dirty="0" sz="1100" spc="-5">
                <a:latin typeface="Times New Roman"/>
                <a:cs typeface="Times New Roman"/>
              </a:rPr>
              <a:t>adjective, article, transitive,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intransitive, inflection, declension, tense, case, gender, subject, object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many more </a:t>
            </a:r>
            <a:r>
              <a:rPr dirty="0" sz="1100">
                <a:latin typeface="Times New Roman"/>
                <a:cs typeface="Times New Roman"/>
              </a:rPr>
              <a:t>– are </a:t>
            </a:r>
            <a:r>
              <a:rPr dirty="0" sz="1100" spc="-5">
                <a:latin typeface="Times New Roman"/>
                <a:cs typeface="Times New Roman"/>
              </a:rPr>
              <a:t>still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Ancient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Indian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ancient </a:t>
            </a:r>
            <a:r>
              <a:rPr dirty="0" sz="1100" spc="-5">
                <a:latin typeface="Times New Roman"/>
                <a:cs typeface="Times New Roman"/>
              </a:rPr>
              <a:t>India, Sanskrit scholars excelled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phonetic (sound) and phonological (system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 </a:t>
            </a:r>
            <a:r>
              <a:rPr dirty="0" sz="1100">
                <a:latin typeface="Times New Roman"/>
                <a:cs typeface="Times New Roman"/>
              </a:rPr>
              <a:t>sounds) theory </a:t>
            </a:r>
            <a:r>
              <a:rPr dirty="0" sz="1100" spc="-5">
                <a:latin typeface="Times New Roman"/>
                <a:cs typeface="Times New Roman"/>
              </a:rPr>
              <a:t>and in 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grammatical analysis. 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time, their work was much </a:t>
            </a:r>
            <a:r>
              <a:rPr dirty="0" sz="1100" spc="-10">
                <a:latin typeface="Times New Roman"/>
                <a:cs typeface="Times New Roman"/>
              </a:rPr>
              <a:t>more </a:t>
            </a:r>
            <a:r>
              <a:rPr dirty="0" sz="1100" spc="-5">
                <a:latin typeface="Times New Roman"/>
                <a:cs typeface="Times New Roman"/>
              </a:rPr>
              <a:t> scientific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is, </a:t>
            </a:r>
            <a:r>
              <a:rPr dirty="0" sz="1100" spc="-5">
                <a:latin typeface="Times New Roman"/>
                <a:cs typeface="Times New Roman"/>
              </a:rPr>
              <a:t>it exhibited the methods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principles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systematized knowledge </a:t>
            </a:r>
            <a:r>
              <a:rPr dirty="0" sz="1100">
                <a:latin typeface="Times New Roman"/>
                <a:cs typeface="Times New Roman"/>
              </a:rPr>
              <a:t>– than </a:t>
            </a:r>
            <a:r>
              <a:rPr dirty="0" sz="1100" spc="-5">
                <a:latin typeface="Times New Roman"/>
                <a:cs typeface="Times New Roman"/>
              </a:rPr>
              <a:t>anything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Greek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contrast, </a:t>
            </a:r>
            <a:r>
              <a:rPr dirty="0" sz="1100" spc="-5">
                <a:latin typeface="Times New Roman"/>
                <a:cs typeface="Times New Roman"/>
              </a:rPr>
              <a:t>there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continuity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development from </a:t>
            </a:r>
            <a:r>
              <a:rPr dirty="0" sz="1100">
                <a:latin typeface="Times New Roman"/>
                <a:cs typeface="Times New Roman"/>
              </a:rPr>
              <a:t>ancient </a:t>
            </a:r>
            <a:r>
              <a:rPr dirty="0" sz="1100" spc="-5">
                <a:latin typeface="Times New Roman"/>
                <a:cs typeface="Times New Roman"/>
              </a:rPr>
              <a:t>Greek beginnings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present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 Greek linguistics passed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Rome. </a:t>
            </a:r>
            <a:r>
              <a:rPr dirty="0" sz="1100">
                <a:latin typeface="Times New Roman"/>
                <a:cs typeface="Times New Roman"/>
              </a:rPr>
              <a:t>Rome’s </a:t>
            </a:r>
            <a:r>
              <a:rPr dirty="0" sz="1100" spc="-5">
                <a:latin typeface="Times New Roman"/>
                <a:cs typeface="Times New Roman"/>
              </a:rPr>
              <a:t>late Latin grammarians, who </a:t>
            </a:r>
            <a:r>
              <a:rPr dirty="0" sz="1100">
                <a:latin typeface="Times New Roman"/>
                <a:cs typeface="Times New Roman"/>
              </a:rPr>
              <a:t>studied </a:t>
            </a:r>
            <a:r>
              <a:rPr dirty="0" sz="1100" spc="-5">
                <a:latin typeface="Times New Roman"/>
                <a:cs typeface="Times New Roman"/>
              </a:rPr>
              <a:t>Latin’s classes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words, </a:t>
            </a:r>
            <a:r>
              <a:rPr dirty="0" sz="1100" spc="-5">
                <a:latin typeface="Times New Roman"/>
                <a:cs typeface="Times New Roman"/>
              </a:rPr>
              <a:t>their inflections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their functions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inspired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medieval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scholars, </a:t>
            </a:r>
            <a:r>
              <a:rPr dirty="0" sz="1100">
                <a:latin typeface="Times New Roman"/>
                <a:cs typeface="Times New Roman"/>
              </a:rPr>
              <a:t> whose </a:t>
            </a:r>
            <a:r>
              <a:rPr dirty="0" sz="1100" spc="-5">
                <a:latin typeface="Times New Roman"/>
                <a:cs typeface="Times New Roman"/>
              </a:rPr>
              <a:t>work was reinterpreted</a:t>
            </a:r>
            <a:r>
              <a:rPr dirty="0" sz="1100">
                <a:latin typeface="Times New Roman"/>
                <a:cs typeface="Times New Roman"/>
              </a:rPr>
              <a:t> by Renaissance </a:t>
            </a:r>
            <a:r>
              <a:rPr dirty="0" sz="1100" spc="-5">
                <a:latin typeface="Times New Roman"/>
                <a:cs typeface="Times New Roman"/>
              </a:rPr>
              <a:t>grammarians. These then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initial foundation 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-5">
                <a:latin typeface="Times New Roman"/>
                <a:cs typeface="Times New Roman"/>
              </a:rPr>
              <a:t> finally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nineteenth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Consistent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Flow </a:t>
            </a:r>
            <a:r>
              <a:rPr dirty="0" sz="1100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European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There is a </a:t>
            </a:r>
            <a:r>
              <a:rPr dirty="0" sz="1100" spc="-5">
                <a:latin typeface="Times New Roman"/>
                <a:cs typeface="Times New Roman"/>
              </a:rPr>
              <a:t>consistent flow </a:t>
            </a:r>
            <a:r>
              <a:rPr dirty="0" sz="1100">
                <a:latin typeface="Times New Roman"/>
                <a:cs typeface="Times New Roman"/>
              </a:rPr>
              <a:t>in European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since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earliest </a:t>
            </a:r>
            <a:r>
              <a:rPr dirty="0" sz="1100" spc="-5">
                <a:latin typeface="Times New Roman"/>
                <a:cs typeface="Times New Roman"/>
              </a:rPr>
              <a:t>Greek speculations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subject;</a:t>
            </a:r>
            <a:r>
              <a:rPr dirty="0" sz="1100">
                <a:latin typeface="Times New Roman"/>
                <a:cs typeface="Times New Roman"/>
              </a:rPr>
              <a:t> 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generation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insightful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antecedents.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this reason,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European linguistics can embody </a:t>
            </a:r>
            <a:r>
              <a:rPr dirty="0" sz="1100">
                <a:latin typeface="Times New Roman"/>
                <a:cs typeface="Times New Roman"/>
              </a:rPr>
              <a:t>a history of </a:t>
            </a:r>
            <a:r>
              <a:rPr dirty="0" sz="1100" spc="-5">
                <a:latin typeface="Times New Roman"/>
                <a:cs typeface="Times New Roman"/>
              </a:rPr>
              <a:t>linguistics in </a:t>
            </a:r>
            <a:r>
              <a:rPr dirty="0" sz="1100">
                <a:latin typeface="Times New Roman"/>
                <a:cs typeface="Times New Roman"/>
              </a:rPr>
              <a:t> general.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World’s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Earliest</a:t>
            </a:r>
            <a:r>
              <a:rPr dirty="0" sz="1100" b="1">
                <a:latin typeface="Times New Roman"/>
                <a:cs typeface="Times New Roman"/>
              </a:rPr>
              <a:t> Known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Studies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world’s earliest known linguistic studies were produced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India between </a:t>
            </a:r>
            <a:r>
              <a:rPr dirty="0" sz="1100">
                <a:latin typeface="Times New Roman"/>
                <a:cs typeface="Times New Roman"/>
              </a:rPr>
              <a:t>around 800 </a:t>
            </a:r>
            <a:r>
              <a:rPr dirty="0" sz="1100" spc="-5">
                <a:latin typeface="Times New Roman"/>
                <a:cs typeface="Times New Roman"/>
              </a:rPr>
              <a:t>and 150 </a:t>
            </a:r>
            <a:r>
              <a:rPr dirty="0" sz="1100">
                <a:latin typeface="Times New Roman"/>
                <a:cs typeface="Times New Roman"/>
              </a:rPr>
              <a:t> BC in an </a:t>
            </a:r>
            <a:r>
              <a:rPr dirty="0" sz="1100" spc="-5">
                <a:latin typeface="Times New Roman"/>
                <a:cs typeface="Times New Roman"/>
              </a:rPr>
              <a:t>attempt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preserve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oral literature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India’s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earlier Vedic period.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West,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 scholars have </a:t>
            </a:r>
            <a:r>
              <a:rPr dirty="0" sz="1100">
                <a:latin typeface="Times New Roman"/>
                <a:cs typeface="Times New Roman"/>
              </a:rPr>
              <a:t>maintained </a:t>
            </a:r>
            <a:r>
              <a:rPr dirty="0" sz="1100" spc="-5">
                <a:latin typeface="Times New Roman"/>
                <a:cs typeface="Times New Roman"/>
              </a:rPr>
              <a:t>linguistic continuity </a:t>
            </a:r>
            <a:r>
              <a:rPr dirty="0" sz="1100">
                <a:latin typeface="Times New Roman"/>
                <a:cs typeface="Times New Roman"/>
              </a:rPr>
              <a:t>up to the </a:t>
            </a:r>
            <a:r>
              <a:rPr dirty="0" sz="1100" spc="-5">
                <a:latin typeface="Times New Roman"/>
                <a:cs typeface="Times New Roman"/>
              </a:rPr>
              <a:t>present day. Indian phonetics and various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>
                <a:latin typeface="Times New Roman"/>
                <a:cs typeface="Times New Roman"/>
              </a:rPr>
              <a:t> profound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treatises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semantics,</a:t>
            </a:r>
            <a:r>
              <a:rPr dirty="0" sz="1100">
                <a:latin typeface="Times New Roman"/>
                <a:cs typeface="Times New Roman"/>
              </a:rPr>
              <a:t> 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eighteenth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>
                <a:latin typeface="Times New Roman"/>
                <a:cs typeface="Times New Roman"/>
              </a:rPr>
              <a:t> surpassed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predicated</a:t>
            </a:r>
            <a:r>
              <a:rPr dirty="0" sz="1100">
                <a:latin typeface="Times New Roman"/>
                <a:cs typeface="Times New Roman"/>
              </a:rPr>
              <a:t> 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observed phenomenon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change over time. Unlike ancient Greek linguistics, Indian tradition </a:t>
            </a:r>
            <a:r>
              <a:rPr dirty="0" sz="1100">
                <a:latin typeface="Times New Roman"/>
                <a:cs typeface="Times New Roman"/>
              </a:rPr>
              <a:t> appeared </a:t>
            </a:r>
            <a:r>
              <a:rPr dirty="0" sz="1100" spc="-5">
                <a:latin typeface="Times New Roman"/>
                <a:cs typeface="Times New Roman"/>
              </a:rPr>
              <a:t>already fully matured,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exquisite culmination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protracted, but </a:t>
            </a:r>
            <a:r>
              <a:rPr dirty="0" sz="1100">
                <a:latin typeface="Times New Roman"/>
                <a:cs typeface="Times New Roman"/>
              </a:rPr>
              <a:t>unrecorded, </a:t>
            </a:r>
            <a:r>
              <a:rPr dirty="0" sz="1100" spc="-5">
                <a:latin typeface="Times New Roman"/>
                <a:cs typeface="Times New Roman"/>
              </a:rPr>
              <a:t>theoretical </a:t>
            </a:r>
            <a:r>
              <a:rPr dirty="0" sz="1100">
                <a:latin typeface="Times New Roman"/>
                <a:cs typeface="Times New Roman"/>
              </a:rPr>
              <a:t> development.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800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5" b="1">
                <a:latin typeface="Times New Roman"/>
                <a:cs typeface="Times New Roman"/>
              </a:rPr>
              <a:t> First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Great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 </a:t>
            </a:r>
            <a:r>
              <a:rPr dirty="0" sz="1100" b="1">
                <a:latin typeface="Times New Roman"/>
                <a:cs typeface="Times New Roman"/>
              </a:rPr>
              <a:t>Indian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great 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Indian linguistics was </a:t>
            </a:r>
            <a:r>
              <a:rPr dirty="0" sz="1200">
                <a:latin typeface="Times New Roman"/>
                <a:cs typeface="Times New Roman"/>
              </a:rPr>
              <a:t>Pāṇini’s </a:t>
            </a:r>
            <a:r>
              <a:rPr dirty="0" sz="1200" spc="-5">
                <a:latin typeface="Times New Roman"/>
                <a:cs typeface="Times New Roman"/>
              </a:rPr>
              <a:t>Aṣṭādhyāyī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‘Eight </a:t>
            </a:r>
            <a:r>
              <a:rPr dirty="0" sz="1100" spc="-5">
                <a:latin typeface="Times New Roman"/>
                <a:cs typeface="Times New Roman"/>
              </a:rPr>
              <a:t>Books’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Sanskrit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earliest scientific work </a:t>
            </a:r>
            <a:r>
              <a:rPr dirty="0" sz="1100">
                <a:latin typeface="Times New Roman"/>
                <a:cs typeface="Times New Roman"/>
              </a:rPr>
              <a:t>on any subject in any Indo-European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written or </a:t>
            </a:r>
            <a:r>
              <a:rPr dirty="0" sz="1100" spc="-5">
                <a:latin typeface="Times New Roman"/>
                <a:cs typeface="Times New Roman"/>
              </a:rPr>
              <a:t>orally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transmitted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600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BC.</a:t>
            </a:r>
            <a:r>
              <a:rPr dirty="0" sz="1100">
                <a:latin typeface="Times New Roman"/>
                <a:cs typeface="Times New Roman"/>
              </a:rPr>
              <a:t> Measured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philosophical speculation, </a:t>
            </a:r>
            <a:r>
              <a:rPr dirty="0" sz="1100">
                <a:latin typeface="Times New Roman"/>
                <a:cs typeface="Times New Roman"/>
              </a:rPr>
              <a:t>India’s </a:t>
            </a:r>
            <a:r>
              <a:rPr dirty="0" sz="1100" spc="-5">
                <a:latin typeface="Times New Roman"/>
                <a:cs typeface="Times New Roman"/>
              </a:rPr>
              <a:t>early linguists arrived at the cogent insight that </a:t>
            </a:r>
            <a:r>
              <a:rPr dirty="0" sz="1100">
                <a:latin typeface="Times New Roman"/>
                <a:cs typeface="Times New Roman"/>
              </a:rPr>
              <a:t>language’s </a:t>
            </a:r>
            <a:r>
              <a:rPr dirty="0" sz="1100" spc="-5">
                <a:latin typeface="Times New Roman"/>
                <a:cs typeface="Times New Roman"/>
              </a:rPr>
              <a:t>relation to </a:t>
            </a:r>
            <a:r>
              <a:rPr dirty="0" sz="1100">
                <a:latin typeface="Times New Roman"/>
                <a:cs typeface="Times New Roman"/>
              </a:rPr>
              <a:t> form and </a:t>
            </a:r>
            <a:r>
              <a:rPr dirty="0" sz="1100" spc="-5">
                <a:latin typeface="Times New Roman"/>
                <a:cs typeface="Times New Roman"/>
              </a:rPr>
              <a:t>meaning owes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arbitrary convention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(passing </a:t>
            </a:r>
            <a:r>
              <a:rPr dirty="0" sz="1100">
                <a:latin typeface="Times New Roman"/>
                <a:cs typeface="Times New Roman"/>
              </a:rPr>
              <a:t>along society’s </a:t>
            </a:r>
            <a:r>
              <a:rPr dirty="0" sz="1100" spc="-5">
                <a:latin typeface="Times New Roman"/>
                <a:cs typeface="Times New Roman"/>
              </a:rPr>
              <a:t>custom)</a:t>
            </a:r>
            <a:r>
              <a:rPr dirty="0" sz="1100">
                <a:latin typeface="Times New Roman"/>
                <a:cs typeface="Times New Roman"/>
              </a:rPr>
              <a:t> 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mimesis (copying </a:t>
            </a:r>
            <a:r>
              <a:rPr dirty="0" sz="1100">
                <a:latin typeface="Times New Roman"/>
                <a:cs typeface="Times New Roman"/>
              </a:rPr>
              <a:t>nature’s sounds). Their </a:t>
            </a:r>
            <a:r>
              <a:rPr dirty="0" sz="1100" spc="-5">
                <a:latin typeface="Times New Roman"/>
                <a:cs typeface="Times New Roman"/>
              </a:rPr>
              <a:t>semantic study </a:t>
            </a:r>
            <a:r>
              <a:rPr dirty="0" sz="1100">
                <a:latin typeface="Times New Roman"/>
                <a:cs typeface="Times New Roman"/>
              </a:rPr>
              <a:t>already </a:t>
            </a:r>
            <a:r>
              <a:rPr dirty="0" sz="1100" spc="-5">
                <a:latin typeface="Times New Roman"/>
                <a:cs typeface="Times New Roman"/>
              </a:rPr>
              <a:t>viewed word meanings as observational </a:t>
            </a:r>
            <a:r>
              <a:rPr dirty="0" sz="1100">
                <a:latin typeface="Times New Roman"/>
                <a:cs typeface="Times New Roman"/>
              </a:rPr>
              <a:t> creations, </a:t>
            </a:r>
            <a:r>
              <a:rPr dirty="0" sz="1100" spc="-5">
                <a:latin typeface="Times New Roman"/>
                <a:cs typeface="Times New Roman"/>
              </a:rPr>
              <a:t>as well as inheritances. </a:t>
            </a:r>
            <a:r>
              <a:rPr dirty="0" sz="1100">
                <a:latin typeface="Times New Roman"/>
                <a:cs typeface="Times New Roman"/>
              </a:rPr>
              <a:t>India’s </a:t>
            </a:r>
            <a:r>
              <a:rPr dirty="0" sz="1100" spc="-5">
                <a:latin typeface="Times New Roman"/>
                <a:cs typeface="Times New Roman"/>
              </a:rPr>
              <a:t>first linguists </a:t>
            </a:r>
            <a:r>
              <a:rPr dirty="0" sz="1100">
                <a:latin typeface="Times New Roman"/>
                <a:cs typeface="Times New Roman"/>
              </a:rPr>
              <a:t>took the </a:t>
            </a:r>
            <a:r>
              <a:rPr dirty="0" sz="1100" spc="-5">
                <a:latin typeface="Times New Roman"/>
                <a:cs typeface="Times New Roman"/>
              </a:rPr>
              <a:t>remarkably </a:t>
            </a:r>
            <a:r>
              <a:rPr dirty="0" sz="1100">
                <a:latin typeface="Times New Roman"/>
                <a:cs typeface="Times New Roman"/>
              </a:rPr>
              <a:t>modern </a:t>
            </a:r>
            <a:r>
              <a:rPr dirty="0" sz="1100" spc="-5">
                <a:latin typeface="Times New Roman"/>
                <a:cs typeface="Times New Roman"/>
              </a:rPr>
              <a:t>view that entire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</a:t>
            </a:r>
            <a:r>
              <a:rPr dirty="0" sz="1100">
                <a:latin typeface="Times New Roman"/>
                <a:cs typeface="Times New Roman"/>
              </a:rPr>
              <a:t> autonomous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(Western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concentrating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language’s </a:t>
            </a:r>
            <a:r>
              <a:rPr dirty="0" sz="1100">
                <a:latin typeface="Times New Roman"/>
                <a:cs typeface="Times New Roman"/>
              </a:rPr>
              <a:t>elementary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particle, 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twentieth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age-old question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language’s </a:t>
            </a:r>
            <a:r>
              <a:rPr dirty="0" sz="1100">
                <a:latin typeface="Times New Roman"/>
                <a:cs typeface="Times New Roman"/>
              </a:rPr>
              <a:t>form versus substance – </a:t>
            </a:r>
            <a:r>
              <a:rPr dirty="0" sz="1100" spc="-5">
                <a:latin typeface="Times New Roman"/>
                <a:cs typeface="Times New Roman"/>
              </a:rPr>
              <a:t>that is, actual utterance as opposed to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inherent </a:t>
            </a:r>
            <a:r>
              <a:rPr dirty="0" sz="1100">
                <a:latin typeface="Times New Roman"/>
                <a:cs typeface="Times New Roman"/>
              </a:rPr>
              <a:t>system of </a:t>
            </a:r>
            <a:r>
              <a:rPr dirty="0" sz="1100" spc="-5">
                <a:latin typeface="Times New Roman"/>
                <a:cs typeface="Times New Roman"/>
              </a:rPr>
              <a:t>features, categories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– had </a:t>
            </a:r>
            <a:r>
              <a:rPr dirty="0" sz="1100" spc="-5">
                <a:latin typeface="Times New Roman"/>
                <a:cs typeface="Times New Roman"/>
              </a:rPr>
              <a:t>already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anticipated </a:t>
            </a:r>
            <a:r>
              <a:rPr dirty="0" sz="1100">
                <a:latin typeface="Times New Roman"/>
                <a:cs typeface="Times New Roman"/>
              </a:rPr>
              <a:t>by India’s </a:t>
            </a:r>
            <a:r>
              <a:rPr dirty="0" sz="1100" spc="-5">
                <a:latin typeface="Times New Roman"/>
                <a:cs typeface="Times New Roman"/>
              </a:rPr>
              <a:t>earliest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 scholars, who developed the </a:t>
            </a:r>
            <a:r>
              <a:rPr dirty="0" sz="1100">
                <a:latin typeface="Times New Roman"/>
                <a:cs typeface="Times New Roman"/>
              </a:rPr>
              <a:t>theory of the </a:t>
            </a:r>
            <a:r>
              <a:rPr dirty="0" sz="1100" spc="-5">
                <a:latin typeface="Times New Roman"/>
                <a:cs typeface="Times New Roman"/>
              </a:rPr>
              <a:t>dhvani-sphot relationship. Utterance was the dhvani; </a:t>
            </a:r>
            <a:r>
              <a:rPr dirty="0" sz="1100">
                <a:latin typeface="Times New Roman"/>
                <a:cs typeface="Times New Roman"/>
              </a:rPr>
              <a:t> permanent </a:t>
            </a:r>
            <a:r>
              <a:rPr dirty="0" sz="1100" spc="-5">
                <a:latin typeface="Times New Roman"/>
                <a:cs typeface="Times New Roman"/>
              </a:rPr>
              <a:t>linguistic substance, unuttered, was the sphot. The dhvani thus drew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sphot </a:t>
            </a:r>
            <a:r>
              <a:rPr dirty="0" sz="1100">
                <a:latin typeface="Times New Roman"/>
                <a:cs typeface="Times New Roman"/>
              </a:rPr>
              <a:t>‘as one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draws</a:t>
            </a:r>
            <a:r>
              <a:rPr dirty="0" sz="1100" spc="-5">
                <a:latin typeface="Times New Roman"/>
                <a:cs typeface="Times New Roman"/>
              </a:rPr>
              <a:t> water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well’.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Phonetic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9212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phonetics,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</a:t>
            </a:r>
            <a:r>
              <a:rPr dirty="0" sz="1100">
                <a:latin typeface="Times New Roman"/>
                <a:cs typeface="Times New Roman"/>
              </a:rPr>
              <a:t> 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 structures, with precise processes </a:t>
            </a:r>
            <a:r>
              <a:rPr dirty="0" sz="1100">
                <a:latin typeface="Times New Roman"/>
                <a:cs typeface="Times New Roman"/>
              </a:rPr>
              <a:t>of articulation </a:t>
            </a:r>
            <a:r>
              <a:rPr dirty="0" sz="1100" spc="-5">
                <a:latin typeface="Times New Roman"/>
                <a:cs typeface="Times New Roman"/>
              </a:rPr>
              <a:t>(the act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manner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giving </a:t>
            </a:r>
            <a:r>
              <a:rPr dirty="0" sz="1100">
                <a:latin typeface="Times New Roman"/>
                <a:cs typeface="Times New Roman"/>
              </a:rPr>
              <a:t>utterance),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 and </a:t>
            </a:r>
            <a:r>
              <a:rPr dirty="0" sz="1100" spc="-5">
                <a:latin typeface="Times New Roman"/>
                <a:cs typeface="Times New Roman"/>
              </a:rPr>
              <a:t>vowel segments and segmentational synthesis. From </a:t>
            </a:r>
            <a:r>
              <a:rPr dirty="0" sz="1100">
                <a:latin typeface="Times New Roman"/>
                <a:cs typeface="Times New Roman"/>
              </a:rPr>
              <a:t>this, it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evident </a:t>
            </a:r>
            <a:r>
              <a:rPr dirty="0" sz="1100" spc="-5">
                <a:latin typeface="Times New Roman"/>
                <a:cs typeface="Times New Roman"/>
              </a:rPr>
              <a:t>that ancient Indian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 intuited fully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principles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phonemics Western scholars were able to </a:t>
            </a:r>
            <a:r>
              <a:rPr dirty="0" sz="1100">
                <a:latin typeface="Times New Roman"/>
                <a:cs typeface="Times New Roman"/>
              </a:rPr>
              <a:t>describe it </a:t>
            </a:r>
            <a:r>
              <a:rPr dirty="0" sz="1100" spc="-5">
                <a:latin typeface="Times New Roman"/>
                <a:cs typeface="Times New Roman"/>
              </a:rPr>
              <a:t>adequately </a:t>
            </a:r>
            <a:r>
              <a:rPr dirty="0" sz="1100">
                <a:latin typeface="Times New Roman"/>
                <a:cs typeface="Times New Roman"/>
              </a:rPr>
              <a:t> 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twentieth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Best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Known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their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Grammatical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India’s linguists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perhaps best known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their grammatical 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Sanskrit, especially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Pāṇini’s Aṣṭādhyāyī </a:t>
            </a:r>
            <a:r>
              <a:rPr dirty="0" sz="1100">
                <a:latin typeface="Times New Roman"/>
                <a:cs typeface="Times New Roman"/>
              </a:rPr>
              <a:t>, </a:t>
            </a:r>
            <a:r>
              <a:rPr dirty="0" sz="1100" spc="-5">
                <a:latin typeface="Times New Roman"/>
                <a:cs typeface="Times New Roman"/>
              </a:rPr>
              <a:t>though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fails </a:t>
            </a:r>
            <a:r>
              <a:rPr dirty="0" sz="1100" spc="-5">
                <a:latin typeface="Times New Roman"/>
                <a:cs typeface="Times New Roman"/>
              </a:rPr>
              <a:t>to fully </a:t>
            </a:r>
            <a:r>
              <a:rPr dirty="0" sz="1100">
                <a:latin typeface="Times New Roman"/>
                <a:cs typeface="Times New Roman"/>
              </a:rPr>
              <a:t>comprehend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today </a:t>
            </a:r>
            <a:r>
              <a:rPr dirty="0" sz="1100">
                <a:latin typeface="Times New Roman"/>
                <a:cs typeface="Times New Roman"/>
              </a:rPr>
              <a:t>understands </a:t>
            </a:r>
            <a:r>
              <a:rPr dirty="0" sz="1100" spc="-5">
                <a:latin typeface="Times New Roman"/>
                <a:cs typeface="Times New Roman"/>
              </a:rPr>
              <a:t>under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‘grammar’. </a:t>
            </a:r>
            <a:r>
              <a:rPr dirty="0" sz="1100">
                <a:latin typeface="Times New Roman"/>
                <a:cs typeface="Times New Roman"/>
              </a:rPr>
              <a:t>Word </a:t>
            </a:r>
            <a:r>
              <a:rPr dirty="0" sz="1100" spc="-5">
                <a:latin typeface="Times New Roman"/>
                <a:cs typeface="Times New Roman"/>
              </a:rPr>
              <a:t>formation rules, applied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strict set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‘aphoristic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threads’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sutras, </a:t>
            </a:r>
            <a:r>
              <a:rPr dirty="0" sz="1100" spc="-5">
                <a:latin typeface="Times New Roman"/>
                <a:cs typeface="Times New Roman"/>
              </a:rPr>
              <a:t>take precedence; 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wholly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assumed.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Pāṇini’s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2,300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European </a:t>
            </a:r>
            <a:r>
              <a:rPr dirty="0" sz="1100" spc="-5">
                <a:latin typeface="Times New Roman"/>
                <a:cs typeface="Times New Roman"/>
              </a:rPr>
              <a:t>comparative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historical language </a:t>
            </a:r>
            <a:r>
              <a:rPr dirty="0" sz="1100">
                <a:latin typeface="Times New Roman"/>
                <a:cs typeface="Times New Roman"/>
              </a:rPr>
              <a:t>studies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co-authored the </a:t>
            </a:r>
            <a:r>
              <a:rPr dirty="0" sz="1100" spc="-5">
                <a:latin typeface="Times New Roman"/>
                <a:cs typeface="Times New Roman"/>
              </a:rPr>
              <a:t>modern science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Romans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gradually</a:t>
            </a:r>
            <a:r>
              <a:rPr dirty="0" sz="1100">
                <a:latin typeface="Times New Roman"/>
                <a:cs typeface="Times New Roman"/>
              </a:rPr>
              <a:t> yielded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Rome’s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supremacy.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Ironically, with Rome’s complete takeover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Hellenistic world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first century AD, the Greek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did not bow </a:t>
            </a:r>
            <a:r>
              <a:rPr dirty="0" sz="1100" spc="-5">
                <a:latin typeface="Times New Roman"/>
                <a:cs typeface="Times New Roman"/>
              </a:rPr>
              <a:t>to Latin, but Latin capitulated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Greek.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 literature comprised educated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Rome’s model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Greek language was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culture itself, </a:t>
            </a:r>
            <a:r>
              <a:rPr dirty="0" sz="1100">
                <a:latin typeface="Times New Roman"/>
                <a:cs typeface="Times New Roman"/>
              </a:rPr>
              <a:t>just </a:t>
            </a:r>
            <a:r>
              <a:rPr dirty="0" sz="1100" spc="-5">
                <a:latin typeface="Times New Roman"/>
                <a:cs typeface="Times New Roman"/>
              </a:rPr>
              <a:t>as Latin was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European</a:t>
            </a:r>
            <a:r>
              <a:rPr dirty="0" sz="1100" spc="-5">
                <a:latin typeface="Times New Roman"/>
                <a:cs typeface="Times New Roman"/>
              </a:rPr>
              <a:t> Middle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millennium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23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231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4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intellectual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domains,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Greek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clear separation </a:t>
            </a:r>
            <a:r>
              <a:rPr dirty="0" sz="1100" spc="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thought between Greek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Latin language </a:t>
            </a:r>
            <a:r>
              <a:rPr dirty="0" sz="1100">
                <a:latin typeface="Times New Roman"/>
                <a:cs typeface="Times New Roman"/>
              </a:rPr>
              <a:t>theories,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-5">
                <a:latin typeface="Times New Roman"/>
                <a:cs typeface="Times New Roman"/>
              </a:rPr>
              <a:t> dynamic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parameters,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fostered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>
                <a:latin typeface="Times New Roman"/>
                <a:cs typeface="Times New Roman"/>
              </a:rPr>
              <a:t> by the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Indo-European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Varro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(116–27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prolific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polymath Varro </a:t>
            </a:r>
            <a:r>
              <a:rPr dirty="0" sz="1100">
                <a:latin typeface="Times New Roman"/>
                <a:cs typeface="Times New Roman"/>
              </a:rPr>
              <a:t>(116–27 </a:t>
            </a:r>
            <a:r>
              <a:rPr dirty="0" sz="1100" spc="-5">
                <a:latin typeface="Times New Roman"/>
                <a:cs typeface="Times New Roman"/>
              </a:rPr>
              <a:t>BC)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 author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treat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 whose </a:t>
            </a:r>
            <a:r>
              <a:rPr dirty="0" sz="1100" spc="-5">
                <a:latin typeface="Times New Roman"/>
                <a:cs typeface="Times New Roman"/>
              </a:rPr>
              <a:t>writings have survived. He discusses lengthily the anomaly-analogy controversy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linguistics, but </a:t>
            </a:r>
            <a:r>
              <a:rPr dirty="0" sz="1100">
                <a:latin typeface="Times New Roman"/>
                <a:cs typeface="Times New Roman"/>
              </a:rPr>
              <a:t> also </a:t>
            </a:r>
            <a:r>
              <a:rPr dirty="0" sz="1100" spc="-5">
                <a:latin typeface="Times New Roman"/>
                <a:cs typeface="Times New Roman"/>
              </a:rPr>
              <a:t>provides original insights,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mere imitation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Greek mentors, into </a:t>
            </a:r>
            <a:r>
              <a:rPr dirty="0" sz="1100">
                <a:latin typeface="Times New Roman"/>
                <a:cs typeface="Times New Roman"/>
              </a:rPr>
              <a:t>the nature and </a:t>
            </a:r>
            <a:r>
              <a:rPr dirty="0" sz="1100" spc="5">
                <a:latin typeface="Times New Roman"/>
                <a:cs typeface="Times New Roman"/>
              </a:rPr>
              <a:t>earlier </a:t>
            </a:r>
            <a:r>
              <a:rPr dirty="0" sz="1100" spc="-5">
                <a:latin typeface="Times New Roman"/>
                <a:cs typeface="Times New Roman"/>
              </a:rPr>
              <a:t>stages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Latin language. Varro’s work, divided into etymology, morphology, </a:t>
            </a:r>
            <a:r>
              <a:rPr dirty="0" sz="1100">
                <a:latin typeface="Times New Roman"/>
                <a:cs typeface="Times New Roman"/>
              </a:rPr>
              <a:t>and syntax. </a:t>
            </a:r>
            <a:r>
              <a:rPr dirty="0" sz="1100" spc="-5">
                <a:latin typeface="Times New Roman"/>
                <a:cs typeface="Times New Roman"/>
              </a:rPr>
              <a:t>He distinguished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former 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unnatural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highly original.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Unlike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Varro did </a:t>
            </a:r>
            <a:r>
              <a:rPr dirty="0" sz="1100" spc="-5">
                <a:latin typeface="Times New Roman"/>
                <a:cs typeface="Times New Roman"/>
              </a:rPr>
              <a:t>not simply recognize </a:t>
            </a:r>
            <a:r>
              <a:rPr dirty="0" sz="1100">
                <a:latin typeface="Times New Roman"/>
                <a:cs typeface="Times New Roman"/>
              </a:rPr>
              <a:t>case and </a:t>
            </a:r>
            <a:r>
              <a:rPr dirty="0" sz="1100" spc="-5">
                <a:latin typeface="Times New Roman"/>
                <a:cs typeface="Times New Roman"/>
              </a:rPr>
              <a:t>tense </a:t>
            </a:r>
            <a:r>
              <a:rPr dirty="0" sz="1100">
                <a:latin typeface="Times New Roman"/>
                <a:cs typeface="Times New Roman"/>
              </a:rPr>
              <a:t>as Latin’s and </a:t>
            </a:r>
            <a:r>
              <a:rPr dirty="0" sz="1100" spc="-5">
                <a:latin typeface="Times New Roman"/>
                <a:cs typeface="Times New Roman"/>
              </a:rPr>
              <a:t>Greek’s main categories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establish the </a:t>
            </a:r>
            <a:r>
              <a:rPr dirty="0" sz="1100">
                <a:latin typeface="Times New Roman"/>
                <a:cs typeface="Times New Roman"/>
              </a:rPr>
              <a:t> four </a:t>
            </a:r>
            <a:r>
              <a:rPr dirty="0" sz="1100" spc="-5">
                <a:latin typeface="Times New Roman"/>
                <a:cs typeface="Times New Roman"/>
              </a:rPr>
              <a:t>classes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according to the way they inflect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nouns (case inflection), verbs (tense inflection),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participles (case and </a:t>
            </a:r>
            <a:r>
              <a:rPr dirty="0" sz="1100">
                <a:latin typeface="Times New Roman"/>
                <a:cs typeface="Times New Roman"/>
              </a:rPr>
              <a:t>tense), and </a:t>
            </a:r>
            <a:r>
              <a:rPr dirty="0" sz="1100" spc="-5">
                <a:latin typeface="Times New Roman"/>
                <a:cs typeface="Times New Roman"/>
              </a:rPr>
              <a:t>adverbs (neither case nor tense): </a:t>
            </a:r>
            <a:r>
              <a:rPr dirty="0" sz="1100" spc="-10">
                <a:latin typeface="Times New Roman"/>
                <a:cs typeface="Times New Roman"/>
              </a:rPr>
              <a:t>he </a:t>
            </a:r>
            <a:r>
              <a:rPr dirty="0" sz="1100">
                <a:latin typeface="Times New Roman"/>
                <a:cs typeface="Times New Roman"/>
              </a:rPr>
              <a:t>characterised </a:t>
            </a:r>
            <a:r>
              <a:rPr dirty="0" sz="1100" spc="-5">
                <a:latin typeface="Times New Roman"/>
                <a:cs typeface="Times New Roman"/>
              </a:rPr>
              <a:t>the specific functions of </a:t>
            </a:r>
            <a:r>
              <a:rPr dirty="0" sz="1100">
                <a:latin typeface="Times New Roman"/>
                <a:cs typeface="Times New Roman"/>
              </a:rPr>
              <a:t> each. Nouns </a:t>
            </a:r>
            <a:r>
              <a:rPr dirty="0" sz="1100" spc="-5">
                <a:latin typeface="Times New Roman"/>
                <a:cs typeface="Times New Roman"/>
              </a:rPr>
              <a:t>named things. </a:t>
            </a:r>
            <a:r>
              <a:rPr dirty="0" sz="1100">
                <a:latin typeface="Times New Roman"/>
                <a:cs typeface="Times New Roman"/>
              </a:rPr>
              <a:t>Verbs </a:t>
            </a:r>
            <a:r>
              <a:rPr dirty="0" sz="1100" spc="-5">
                <a:latin typeface="Times New Roman"/>
                <a:cs typeface="Times New Roman"/>
              </a:rPr>
              <a:t>made statements. Participles </a:t>
            </a:r>
            <a:r>
              <a:rPr dirty="0" sz="1100">
                <a:latin typeface="Times New Roman"/>
                <a:cs typeface="Times New Roman"/>
              </a:rPr>
              <a:t>joined elements </a:t>
            </a:r>
            <a:r>
              <a:rPr dirty="0" sz="1100" spc="-5">
                <a:latin typeface="Times New Roman"/>
                <a:cs typeface="Times New Roman"/>
              </a:rPr>
              <a:t>(they </a:t>
            </a:r>
            <a:r>
              <a:rPr dirty="0" sz="1100">
                <a:latin typeface="Times New Roman"/>
                <a:cs typeface="Times New Roman"/>
              </a:rPr>
              <a:t>shared the </a:t>
            </a:r>
            <a:r>
              <a:rPr dirty="0" sz="1100" spc="5">
                <a:latin typeface="Times New Roman"/>
                <a:cs typeface="Times New Roman"/>
              </a:rPr>
              <a:t>former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syntax)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Arab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so,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avoided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grammarians’ wholesale adoption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Greek prototypes.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non-Arab </a:t>
            </a:r>
            <a:r>
              <a:rPr dirty="0" sz="1100">
                <a:latin typeface="Times New Roman"/>
                <a:cs typeface="Times New Roman"/>
              </a:rPr>
              <a:t>Persian </a:t>
            </a:r>
            <a:r>
              <a:rPr dirty="0" sz="1100" spc="-5">
                <a:latin typeface="Times New Roman"/>
                <a:cs typeface="Times New Roman"/>
              </a:rPr>
              <a:t>Sibawayh </a:t>
            </a:r>
            <a:r>
              <a:rPr dirty="0" sz="1100">
                <a:latin typeface="Times New Roman"/>
                <a:cs typeface="Times New Roman"/>
              </a:rPr>
              <a:t>of Basra,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 in the </a:t>
            </a:r>
            <a:r>
              <a:rPr dirty="0" sz="1100" spc="-5">
                <a:latin typeface="Times New Roman"/>
                <a:cs typeface="Times New Roman"/>
              </a:rPr>
              <a:t>eighth century AD, </a:t>
            </a:r>
            <a:r>
              <a:rPr dirty="0" sz="1100">
                <a:latin typeface="Times New Roman"/>
                <a:cs typeface="Times New Roman"/>
              </a:rPr>
              <a:t>consolidated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 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his grammatical treatise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 </a:t>
            </a:r>
            <a:r>
              <a:rPr dirty="0" sz="1100">
                <a:latin typeface="Times New Roman"/>
                <a:cs typeface="Times New Roman"/>
              </a:rPr>
              <a:t> Kitab (The </a:t>
            </a:r>
            <a:r>
              <a:rPr dirty="0" sz="1100" spc="-5">
                <a:latin typeface="Times New Roman"/>
                <a:cs typeface="Times New Roman"/>
              </a:rPr>
              <a:t>Book). Striking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a firm </a:t>
            </a:r>
            <a:r>
              <a:rPr dirty="0" sz="1100" spc="-5">
                <a:latin typeface="Times New Roman"/>
                <a:cs typeface="Times New Roman"/>
              </a:rPr>
              <a:t>foundation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preceding linguistic studies, </a:t>
            </a:r>
            <a:r>
              <a:rPr dirty="0" sz="1100">
                <a:latin typeface="Times New Roman"/>
                <a:cs typeface="Times New Roman"/>
              </a:rPr>
              <a:t>Sıbawayh defined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classical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today.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1100–900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preoccupation with language</a:t>
            </a:r>
            <a:r>
              <a:rPr dirty="0" sz="1100">
                <a:latin typeface="Times New Roman"/>
                <a:cs typeface="Times New Roman"/>
              </a:rPr>
              <a:t> analysis </a:t>
            </a:r>
            <a:r>
              <a:rPr dirty="0" sz="1100" spc="-5">
                <a:latin typeface="Times New Roman"/>
                <a:cs typeface="Times New Roman"/>
              </a:rPr>
              <a:t>centred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faithful </a:t>
            </a:r>
            <a:r>
              <a:rPr dirty="0" sz="1100">
                <a:latin typeface="Times New Roman"/>
                <a:cs typeface="Times New Roman"/>
              </a:rPr>
              <a:t>reproduction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spoken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syllabo-phonetic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glyphs.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evident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 </a:t>
            </a:r>
            <a:r>
              <a:rPr dirty="0" sz="1100">
                <a:latin typeface="Times New Roman"/>
                <a:cs typeface="Times New Roman"/>
              </a:rPr>
              <a:t> ordering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rhyme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tables’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 according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Linguistic </a:t>
            </a:r>
            <a:r>
              <a:rPr dirty="0" sz="1100" spc="-5">
                <a:latin typeface="Times New Roman"/>
                <a:cs typeface="Times New Roman"/>
              </a:rPr>
              <a:t>investigation during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Latin Middle Ages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characterized principally </a:t>
            </a:r>
            <a:r>
              <a:rPr dirty="0" sz="1100">
                <a:latin typeface="Times New Roman"/>
                <a:cs typeface="Times New Roman"/>
              </a:rPr>
              <a:t>by its </a:t>
            </a:r>
            <a:r>
              <a:rPr dirty="0" sz="1100" spc="-5">
                <a:latin typeface="Times New Roman"/>
                <a:cs typeface="Times New Roman"/>
              </a:rPr>
              <a:t>orientation: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Church-based,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pedagogical.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Rome’s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collapse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Western countries regardless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tongue, language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5">
                <a:latin typeface="Times New Roman"/>
                <a:cs typeface="Times New Roman"/>
              </a:rPr>
              <a:t>meant the 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Classical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24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‘Seven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Liberal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Arts’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education,</a:t>
            </a:r>
            <a:r>
              <a:rPr dirty="0" sz="1100">
                <a:latin typeface="Times New Roman"/>
                <a:cs typeface="Times New Roman"/>
              </a:rPr>
              <a:t> 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dialectic (logic)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rhetoric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directly involved the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Latin 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Seven Liberal </a:t>
            </a:r>
            <a:r>
              <a:rPr dirty="0" sz="1100" spc="-10">
                <a:latin typeface="Times New Roman"/>
                <a:cs typeface="Times New Roman"/>
              </a:rPr>
              <a:t>Arts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5">
                <a:latin typeface="Times New Roman"/>
                <a:cs typeface="Times New Roman"/>
              </a:rPr>
              <a:t> of</a:t>
            </a:r>
            <a:r>
              <a:rPr dirty="0" sz="1100">
                <a:latin typeface="Times New Roman"/>
                <a:cs typeface="Times New Roman"/>
              </a:rPr>
              <a:t> course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theology.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Up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5" b="1">
                <a:latin typeface="Times New Roman"/>
                <a:cs typeface="Times New Roman"/>
              </a:rPr>
              <a:t> Nineteenth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Classical writers collected </a:t>
            </a:r>
            <a:r>
              <a:rPr dirty="0" sz="1100">
                <a:latin typeface="Times New Roman"/>
                <a:cs typeface="Times New Roman"/>
              </a:rPr>
              <a:t>data </a:t>
            </a:r>
            <a:r>
              <a:rPr dirty="0" sz="1100" spc="-5">
                <a:latin typeface="Times New Roman"/>
                <a:cs typeface="Times New Roman"/>
              </a:rPr>
              <a:t>and described Greek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Latin. </a:t>
            </a:r>
            <a:r>
              <a:rPr dirty="0" sz="1100">
                <a:latin typeface="Times New Roman"/>
                <a:cs typeface="Times New Roman"/>
              </a:rPr>
              <a:t>After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Middle </a:t>
            </a:r>
            <a:r>
              <a:rPr dirty="0" sz="1100" spc="-5">
                <a:latin typeface="Times New Roman"/>
                <a:cs typeface="Times New Roman"/>
              </a:rPr>
              <a:t>Ages, </a:t>
            </a:r>
            <a:r>
              <a:rPr dirty="0" sz="1100">
                <a:latin typeface="Times New Roman"/>
                <a:cs typeface="Times New Roman"/>
              </a:rPr>
              <a:t>European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 studied </a:t>
            </a:r>
            <a:r>
              <a:rPr dirty="0" sz="1100">
                <a:latin typeface="Times New Roman"/>
                <a:cs typeface="Times New Roman"/>
              </a:rPr>
              <a:t>non-European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and read </a:t>
            </a:r>
            <a:r>
              <a:rPr dirty="0" sz="1100" spc="-5">
                <a:latin typeface="Times New Roman"/>
                <a:cs typeface="Times New Roman"/>
              </a:rPr>
              <a:t>the works </a:t>
            </a:r>
            <a:r>
              <a:rPr dirty="0" sz="1100">
                <a:latin typeface="Times New Roman"/>
                <a:cs typeface="Times New Roman"/>
              </a:rPr>
              <a:t>of non-European </a:t>
            </a:r>
            <a:r>
              <a:rPr dirty="0" sz="1100" spc="-5">
                <a:latin typeface="Times New Roman"/>
                <a:cs typeface="Times New Roman"/>
              </a:rPr>
              <a:t>linguists </a:t>
            </a:r>
            <a:r>
              <a:rPr dirty="0" sz="1100">
                <a:latin typeface="Times New Roman"/>
                <a:cs typeface="Times New Roman"/>
              </a:rPr>
              <a:t>and no </a:t>
            </a:r>
            <a:r>
              <a:rPr dirty="0" sz="1100" spc="-5">
                <a:latin typeface="Times New Roman"/>
                <a:cs typeface="Times New Roman"/>
              </a:rPr>
              <a:t>longer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dominate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itself</a:t>
            </a:r>
            <a:r>
              <a:rPr dirty="0" sz="1100" spc="-5">
                <a:latin typeface="Times New Roman"/>
                <a:cs typeface="Times New Roman"/>
              </a:rPr>
              <a:t> became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Nineteenth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beginning </a:t>
            </a:r>
            <a:r>
              <a:rPr dirty="0" sz="1100">
                <a:latin typeface="Times New Roman"/>
                <a:cs typeface="Times New Roman"/>
              </a:rPr>
              <a:t>of the nineteenth century, a true </a:t>
            </a:r>
            <a:r>
              <a:rPr dirty="0" sz="1100" spc="-5">
                <a:latin typeface="Times New Roman"/>
                <a:cs typeface="Times New Roman"/>
              </a:rPr>
              <a:t>science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began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emerge.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nineteenth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era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seeking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their historical </a:t>
            </a:r>
            <a:r>
              <a:rPr dirty="0" sz="1100">
                <a:latin typeface="Times New Roman"/>
                <a:cs typeface="Times New Roman"/>
              </a:rPr>
              <a:t>relationships to </a:t>
            </a:r>
            <a:r>
              <a:rPr dirty="0" sz="1100" spc="-5">
                <a:latin typeface="Times New Roman"/>
                <a:cs typeface="Times New Roman"/>
              </a:rPr>
              <a:t>one another and </a:t>
            </a:r>
            <a:r>
              <a:rPr dirty="0" sz="1100">
                <a:latin typeface="Times New Roman"/>
                <a:cs typeface="Times New Roman"/>
              </a:rPr>
              <a:t>developing </a:t>
            </a:r>
            <a:r>
              <a:rPr dirty="0" sz="1100" spc="-5">
                <a:latin typeface="Times New Roman"/>
                <a:cs typeface="Times New Roman"/>
              </a:rPr>
              <a:t>the scientific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012: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Future Indicatives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What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will</a:t>
            </a:r>
            <a:r>
              <a:rPr dirty="0" sz="1100" spc="-5" b="1">
                <a:latin typeface="Times New Roman"/>
                <a:cs typeface="Times New Roman"/>
              </a:rPr>
              <a:t> Earth’s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like</a:t>
            </a:r>
            <a:r>
              <a:rPr dirty="0" sz="1100" b="1">
                <a:latin typeface="Times New Roman"/>
                <a:cs typeface="Times New Roman"/>
              </a:rPr>
              <a:t> in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Future?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One cannot reliably predict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linguistic future, </a:t>
            </a:r>
            <a:r>
              <a:rPr dirty="0" sz="1100">
                <a:latin typeface="Times New Roman"/>
                <a:cs typeface="Times New Roman"/>
              </a:rPr>
              <a:t>since so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non-linguistic </a:t>
            </a:r>
            <a:r>
              <a:rPr dirty="0" sz="1100" spc="-5">
                <a:latin typeface="Times New Roman"/>
                <a:cs typeface="Times New Roman"/>
              </a:rPr>
              <a:t>factors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constantly </a:t>
            </a:r>
            <a:r>
              <a:rPr dirty="0" sz="1100">
                <a:latin typeface="Times New Roman"/>
                <a:cs typeface="Times New Roman"/>
              </a:rPr>
              <a:t> reshaping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society’s </a:t>
            </a:r>
            <a:r>
              <a:rPr dirty="0" sz="1100" spc="-5">
                <a:latin typeface="Times New Roman"/>
                <a:cs typeface="Times New Roman"/>
              </a:rPr>
              <a:t>language: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insurrections,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migrations,</a:t>
            </a:r>
            <a:r>
              <a:rPr dirty="0" sz="1100">
                <a:latin typeface="Times New Roman"/>
                <a:cs typeface="Times New Roman"/>
              </a:rPr>
              <a:t> sudden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prestige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fads,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Possible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Scenarios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reference to </a:t>
            </a:r>
            <a:r>
              <a:rPr dirty="0" sz="1100" spc="-5">
                <a:latin typeface="Times New Roman"/>
                <a:cs typeface="Times New Roman"/>
              </a:rPr>
              <a:t>past linguistic changes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recognition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present linguistic </a:t>
            </a:r>
            <a:r>
              <a:rPr dirty="0" sz="1100">
                <a:latin typeface="Times New Roman"/>
                <a:cs typeface="Times New Roman"/>
              </a:rPr>
              <a:t>trends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 possible linguistic scenarios,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least for the </a:t>
            </a:r>
            <a:r>
              <a:rPr dirty="0" sz="1100">
                <a:latin typeface="Times New Roman"/>
                <a:cs typeface="Times New Roman"/>
              </a:rPr>
              <a:t>near </a:t>
            </a:r>
            <a:r>
              <a:rPr dirty="0" sz="1100" spc="-5">
                <a:latin typeface="Times New Roman"/>
                <a:cs typeface="Times New Roman"/>
              </a:rPr>
              <a:t>future. One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wish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consider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activities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strategists</a:t>
            </a:r>
            <a:r>
              <a:rPr dirty="0" sz="1100">
                <a:latin typeface="Times New Roman"/>
                <a:cs typeface="Times New Roman"/>
              </a:rPr>
              <a:t> 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earnestly </a:t>
            </a:r>
            <a:r>
              <a:rPr dirty="0" sz="1100">
                <a:latin typeface="Times New Roman"/>
                <a:cs typeface="Times New Roman"/>
              </a:rPr>
              <a:t> expanding </a:t>
            </a:r>
            <a:r>
              <a:rPr dirty="0" sz="1100" spc="-5">
                <a:latin typeface="Times New Roman"/>
                <a:cs typeface="Times New Roman"/>
              </a:rPr>
              <a:t>their bailiwicks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present, increasing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likelihood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(English) language prevailing over </a:t>
            </a:r>
            <a:r>
              <a:rPr dirty="0" sz="1100">
                <a:latin typeface="Times New Roman"/>
                <a:cs typeface="Times New Roman"/>
              </a:rPr>
              <a:t> 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non-strategists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Unprecedented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Merely </a:t>
            </a:r>
            <a:r>
              <a:rPr dirty="0" sz="1100" spc="-5">
                <a:latin typeface="Times New Roman"/>
                <a:cs typeface="Times New Roman"/>
              </a:rPr>
              <a:t>drawing analogies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past </a:t>
            </a:r>
            <a:r>
              <a:rPr dirty="0" sz="1100">
                <a:latin typeface="Times New Roman"/>
                <a:cs typeface="Times New Roman"/>
              </a:rPr>
              <a:t>linguistic </a:t>
            </a:r>
            <a:r>
              <a:rPr dirty="0" sz="1100" spc="-5">
                <a:latin typeface="Times New Roman"/>
                <a:cs typeface="Times New Roman"/>
              </a:rPr>
              <a:t>changes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dynamics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longer holds unqualified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validity.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world </a:t>
            </a:r>
            <a:r>
              <a:rPr dirty="0" sz="1100">
                <a:latin typeface="Times New Roman"/>
                <a:cs typeface="Times New Roman"/>
              </a:rPr>
              <a:t>are in </a:t>
            </a:r>
            <a:r>
              <a:rPr dirty="0" sz="1100" spc="-5">
                <a:latin typeface="Times New Roman"/>
                <a:cs typeface="Times New Roman"/>
              </a:rPr>
              <a:t>the process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unprecedented transformation. This </a:t>
            </a:r>
            <a:r>
              <a:rPr dirty="0" sz="1100">
                <a:latin typeface="Times New Roman"/>
                <a:cs typeface="Times New Roman"/>
              </a:rPr>
              <a:t>now </a:t>
            </a:r>
            <a:r>
              <a:rPr dirty="0" sz="1100" spc="-5">
                <a:latin typeface="Times New Roman"/>
                <a:cs typeface="Times New Roman"/>
              </a:rPr>
              <a:t>appears </a:t>
            </a:r>
            <a:r>
              <a:rPr dirty="0" sz="1100">
                <a:latin typeface="Times New Roman"/>
                <a:cs typeface="Times New Roman"/>
              </a:rPr>
              <a:t>to be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permanent </a:t>
            </a:r>
            <a:r>
              <a:rPr dirty="0" sz="1100" spc="-5">
                <a:latin typeface="Times New Roman"/>
                <a:cs typeface="Times New Roman"/>
              </a:rPr>
              <a:t>global </a:t>
            </a:r>
            <a:r>
              <a:rPr dirty="0" sz="1100">
                <a:latin typeface="Times New Roman"/>
                <a:cs typeface="Times New Roman"/>
              </a:rPr>
              <a:t>feature, </a:t>
            </a:r>
            <a:r>
              <a:rPr dirty="0" sz="1100" spc="-5">
                <a:latin typeface="Times New Roman"/>
                <a:cs typeface="Times New Roman"/>
              </a:rPr>
              <a:t>which will perhaps create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world order whose </a:t>
            </a:r>
            <a:r>
              <a:rPr dirty="0" sz="1100">
                <a:latin typeface="Times New Roman"/>
                <a:cs typeface="Times New Roman"/>
              </a:rPr>
              <a:t>nature and </a:t>
            </a:r>
            <a:r>
              <a:rPr dirty="0" sz="1100" spc="-5">
                <a:latin typeface="Times New Roman"/>
                <a:cs typeface="Times New Roman"/>
              </a:rPr>
              <a:t>quality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still </a:t>
            </a:r>
            <a:r>
              <a:rPr dirty="0" sz="1100">
                <a:latin typeface="Times New Roman"/>
                <a:cs typeface="Times New Roman"/>
              </a:rPr>
              <a:t> largely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simply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(replacement),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past,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history,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expansion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domain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degree hitherto unprecedented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reinventing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25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027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Linguistic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Atlas Becoming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All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Meaningless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programming</a:t>
            </a:r>
            <a:r>
              <a:rPr dirty="0" sz="1100">
                <a:latin typeface="Times New Roman"/>
                <a:cs typeface="Times New Roman"/>
              </a:rPr>
              <a:t> (computer)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elaborating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innovative </a:t>
            </a:r>
            <a:r>
              <a:rPr dirty="0" sz="1100">
                <a:latin typeface="Times New Roman"/>
                <a:cs typeface="Times New Roman"/>
              </a:rPr>
              <a:t> extensions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speech, allowing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artificially communicate with itself.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throughout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territory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atlas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all but </a:t>
            </a:r>
            <a:r>
              <a:rPr dirty="0" sz="1100" spc="-5">
                <a:latin typeface="Times New Roman"/>
                <a:cs typeface="Times New Roman"/>
              </a:rPr>
              <a:t>meaningless. </a:t>
            </a:r>
            <a:r>
              <a:rPr dirty="0" sz="1100">
                <a:latin typeface="Times New Roman"/>
                <a:cs typeface="Times New Roman"/>
              </a:rPr>
              <a:t>Language </a:t>
            </a:r>
            <a:r>
              <a:rPr dirty="0" sz="1100" spc="-5">
                <a:latin typeface="Times New Roman"/>
                <a:cs typeface="Times New Roman"/>
              </a:rPr>
              <a:t>primarily </a:t>
            </a:r>
            <a:r>
              <a:rPr dirty="0" sz="1100">
                <a:latin typeface="Times New Roman"/>
                <a:cs typeface="Times New Roman"/>
              </a:rPr>
              <a:t>means </a:t>
            </a:r>
            <a:r>
              <a:rPr dirty="0" sz="1100" spc="-5">
                <a:latin typeface="Times New Roman"/>
                <a:cs typeface="Times New Roman"/>
              </a:rPr>
              <a:t>technology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wealth,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borderless world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directions </a:t>
            </a:r>
            <a:r>
              <a:rPr dirty="0" sz="1100">
                <a:latin typeface="Times New Roman"/>
                <a:cs typeface="Times New Roman"/>
              </a:rPr>
              <a:t>up and </a:t>
            </a:r>
            <a:r>
              <a:rPr dirty="0" sz="1100" spc="-5">
                <a:latin typeface="Times New Roman"/>
                <a:cs typeface="Times New Roman"/>
              </a:rPr>
              <a:t>down, separating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haves </a:t>
            </a:r>
            <a:r>
              <a:rPr dirty="0" sz="1100">
                <a:latin typeface="Times New Roman"/>
                <a:cs typeface="Times New Roman"/>
              </a:rPr>
              <a:t>from the have-nots. Proficiency in the </a:t>
            </a:r>
            <a:r>
              <a:rPr dirty="0" sz="1100" spc="-5">
                <a:latin typeface="Times New Roman"/>
                <a:cs typeface="Times New Roman"/>
              </a:rPr>
              <a:t>planet’s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‘corporate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perhaps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ultimately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Programming Languages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Computers expedite the manipulation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descriptions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values, properties,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methods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provide solutions to particular problems.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programming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program 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operating systems,</a:t>
            </a:r>
            <a:r>
              <a:rPr dirty="0" sz="1100">
                <a:latin typeface="Times New Roman"/>
                <a:cs typeface="Times New Roman"/>
              </a:rPr>
              <a:t> databases, and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activities.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programming language </a:t>
            </a:r>
            <a:r>
              <a:rPr dirty="0" sz="1100">
                <a:latin typeface="Times New Roman"/>
                <a:cs typeface="Times New Roman"/>
              </a:rPr>
              <a:t> can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linguistic research,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research, </a:t>
            </a:r>
            <a:r>
              <a:rPr dirty="0" sz="1100">
                <a:latin typeface="Times New Roman"/>
                <a:cs typeface="Times New Roman"/>
              </a:rPr>
              <a:t>teaching,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things.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language, which</a:t>
            </a:r>
            <a:r>
              <a:rPr dirty="0" sz="1100">
                <a:latin typeface="Times New Roman"/>
                <a:cs typeface="Times New Roman"/>
              </a:rPr>
              <a:t> is a </a:t>
            </a:r>
            <a:r>
              <a:rPr dirty="0" sz="1100" spc="-5">
                <a:latin typeface="Times New Roman"/>
                <a:cs typeface="Times New Roman"/>
              </a:rPr>
              <a:t>‘medium </a:t>
            </a:r>
            <a:r>
              <a:rPr dirty="0" sz="1100">
                <a:latin typeface="Times New Roman"/>
                <a:cs typeface="Times New Roman"/>
              </a:rPr>
              <a:t>of information exchange’, </a:t>
            </a:r>
            <a:r>
              <a:rPr dirty="0" sz="1100" spc="-5">
                <a:latin typeface="Times New Roman"/>
                <a:cs typeface="Times New Roman"/>
              </a:rPr>
              <a:t>but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wholly different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 previous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humankind, </a:t>
            </a:r>
            <a:r>
              <a:rPr dirty="0" sz="1100">
                <a:latin typeface="Times New Roman"/>
                <a:cs typeface="Times New Roman"/>
              </a:rPr>
              <a:t>except perhaps </a:t>
            </a:r>
            <a:r>
              <a:rPr dirty="0" sz="1100" spc="-5">
                <a:latin typeface="Times New Roman"/>
                <a:cs typeface="Times New Roman"/>
              </a:rPr>
              <a:t>written language with its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types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reproducing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Internet,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E-mail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Newsgroups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Internet’s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widely used </a:t>
            </a:r>
            <a:r>
              <a:rPr dirty="0" sz="1100" spc="-5">
                <a:latin typeface="Times New Roman"/>
                <a:cs typeface="Times New Roman"/>
              </a:rPr>
              <a:t>resources is language </a:t>
            </a:r>
            <a:r>
              <a:rPr dirty="0" sz="1100">
                <a:latin typeface="Times New Roman"/>
                <a:cs typeface="Times New Roman"/>
              </a:rPr>
              <a:t>teaching and </a:t>
            </a:r>
            <a:r>
              <a:rPr dirty="0" sz="1100" spc="-5">
                <a:latin typeface="Times New Roman"/>
                <a:cs typeface="Times New Roman"/>
              </a:rPr>
              <a:t>learning. This usage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promotes and preserves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hitherto unprecedented </a:t>
            </a:r>
            <a:r>
              <a:rPr dirty="0" sz="1100">
                <a:latin typeface="Times New Roman"/>
                <a:cs typeface="Times New Roman"/>
              </a:rPr>
              <a:t>fashion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living languages but extinct tongues as </a:t>
            </a:r>
            <a:r>
              <a:rPr dirty="0" sz="1100">
                <a:latin typeface="Times New Roman"/>
                <a:cs typeface="Times New Roman"/>
              </a:rPr>
              <a:t> well,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popular</a:t>
            </a:r>
            <a:r>
              <a:rPr dirty="0" sz="1100">
                <a:latin typeface="Times New Roman"/>
                <a:cs typeface="Times New Roman"/>
              </a:rPr>
              <a:t> being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face-to-face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>
                <a:latin typeface="Times New Roman"/>
                <a:cs typeface="Times New Roman"/>
              </a:rPr>
              <a:t> e-mail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resembles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 </a:t>
            </a:r>
            <a:r>
              <a:rPr dirty="0" sz="1100">
                <a:latin typeface="Times New Roman"/>
                <a:cs typeface="Times New Roman"/>
              </a:rPr>
              <a:t>use of a </a:t>
            </a:r>
            <a:r>
              <a:rPr dirty="0" sz="1100" spc="-5">
                <a:latin typeface="Times New Roman"/>
                <a:cs typeface="Times New Roman"/>
              </a:rPr>
              <a:t>casual linguistic style which includes colloquialisms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elliptical </a:t>
            </a:r>
            <a:r>
              <a:rPr dirty="0" sz="1100">
                <a:latin typeface="Times New Roman"/>
                <a:cs typeface="Times New Roman"/>
              </a:rPr>
              <a:t>speech –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is, </a:t>
            </a:r>
            <a:r>
              <a:rPr dirty="0" sz="1100" spc="-10">
                <a:latin typeface="Times New Roman"/>
                <a:cs typeface="Times New Roman"/>
              </a:rPr>
              <a:t>great </a:t>
            </a:r>
            <a:r>
              <a:rPr dirty="0" sz="1100" spc="-5">
                <a:latin typeface="Times New Roman"/>
                <a:cs typeface="Times New Roman"/>
              </a:rPr>
              <a:t> economy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expression.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Disappearing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Soon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Earth’s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vestigial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disappear,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humankind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counterpart).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loss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 simultaneously </a:t>
            </a:r>
            <a:r>
              <a:rPr dirty="0" sz="1100">
                <a:latin typeface="Times New Roman"/>
                <a:cs typeface="Times New Roman"/>
              </a:rPr>
              <a:t>attain to a degree of </a:t>
            </a:r>
            <a:r>
              <a:rPr dirty="0" sz="1100" spc="-5">
                <a:latin typeface="Times New Roman"/>
                <a:cs typeface="Times New Roman"/>
              </a:rPr>
              <a:t>communication hitherto unimaginable,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related benefits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 aspects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activity.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myriad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chemo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‘dance’,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infrasound, ultrasound, gesture, </a:t>
            </a:r>
            <a:r>
              <a:rPr dirty="0" sz="1100">
                <a:latin typeface="Times New Roman"/>
                <a:cs typeface="Times New Roman"/>
              </a:rPr>
              <a:t>oral speech, </a:t>
            </a:r>
            <a:r>
              <a:rPr dirty="0" sz="1100" spc="-5">
                <a:latin typeface="Times New Roman"/>
                <a:cs typeface="Times New Roman"/>
              </a:rPr>
              <a:t>writing, computer language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nexus of </a:t>
            </a:r>
            <a:r>
              <a:rPr dirty="0" sz="1100" spc="-5">
                <a:latin typeface="Times New Roman"/>
                <a:cs typeface="Times New Roman"/>
              </a:rPr>
              <a:t>Nature and 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Nature’s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26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27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132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ORIGIN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013: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Divine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Throughout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whole human history, </a:t>
            </a:r>
            <a:r>
              <a:rPr dirty="0" sz="1100">
                <a:latin typeface="Times New Roman"/>
                <a:cs typeface="Times New Roman"/>
              </a:rPr>
              <a:t>one or the </a:t>
            </a:r>
            <a:r>
              <a:rPr dirty="0" sz="1100" spc="-5">
                <a:latin typeface="Times New Roman"/>
                <a:cs typeface="Times New Roman"/>
              </a:rPr>
              <a:t>other religious </a:t>
            </a:r>
            <a:r>
              <a:rPr dirty="0" sz="1100">
                <a:latin typeface="Times New Roman"/>
                <a:cs typeface="Times New Roman"/>
              </a:rPr>
              <a:t>sources </a:t>
            </a:r>
            <a:r>
              <a:rPr dirty="0" sz="1100" spc="-5">
                <a:latin typeface="Times New Roman"/>
                <a:cs typeface="Times New Roman"/>
              </a:rPr>
              <a:t>have claimed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Biblical tradition states: ‘God </a:t>
            </a:r>
            <a:r>
              <a:rPr dirty="0" sz="1100">
                <a:latin typeface="Times New Roman"/>
                <a:cs typeface="Times New Roman"/>
              </a:rPr>
              <a:t>created </a:t>
            </a:r>
            <a:r>
              <a:rPr dirty="0" sz="1100" spc="-5">
                <a:latin typeface="Times New Roman"/>
                <a:cs typeface="Times New Roman"/>
              </a:rPr>
              <a:t>Adam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whatsoever Adam </a:t>
            </a:r>
            <a:r>
              <a:rPr dirty="0" sz="1100">
                <a:latin typeface="Times New Roman"/>
                <a:cs typeface="Times New Roman"/>
              </a:rPr>
              <a:t>called every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 creature that was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thereof.’(The book of Genesis); </a:t>
            </a:r>
            <a:r>
              <a:rPr dirty="0" sz="1100" spc="-5">
                <a:latin typeface="Times New Roman"/>
                <a:cs typeface="Times New Roman"/>
              </a:rPr>
              <a:t>similarly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Hindu tradition,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stated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Sarasvati,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wife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Brahma,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universe.’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religions,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appears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divine </a:t>
            </a:r>
            <a:r>
              <a:rPr dirty="0" sz="1100">
                <a:latin typeface="Times New Roman"/>
                <a:cs typeface="Times New Roman"/>
              </a:rPr>
              <a:t>source </a:t>
            </a:r>
            <a:r>
              <a:rPr dirty="0" sz="1100" spc="-5">
                <a:latin typeface="Times New Roman"/>
                <a:cs typeface="Times New Roman"/>
              </a:rPr>
              <a:t>who provides humans with 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different </a:t>
            </a:r>
            <a:r>
              <a:rPr dirty="0" sz="1100">
                <a:latin typeface="Times New Roman"/>
                <a:cs typeface="Times New Roman"/>
              </a:rPr>
              <a:t>times, </a:t>
            </a:r>
            <a:r>
              <a:rPr dirty="0" sz="1100" spc="-5">
                <a:latin typeface="Times New Roman"/>
                <a:cs typeface="Times New Roman"/>
              </a:rPr>
              <a:t>different religious people 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a few </a:t>
            </a:r>
            <a:r>
              <a:rPr dirty="0" sz="1100" spc="-5">
                <a:latin typeface="Times New Roman"/>
                <a:cs typeface="Times New Roman"/>
              </a:rPr>
              <a:t>experiments with rather conﬂicting results.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basic hypothesis: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human infants were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around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spontaneously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the original God-given language. Egyptian pharaoh’s experiment revealed that </a:t>
            </a:r>
            <a:r>
              <a:rPr dirty="0" sz="1100">
                <a:latin typeface="Times New Roman"/>
                <a:cs typeface="Times New Roman"/>
              </a:rPr>
              <a:t>the two </a:t>
            </a:r>
            <a:r>
              <a:rPr dirty="0" sz="1100" spc="-5">
                <a:latin typeface="Times New Roman"/>
                <a:cs typeface="Times New Roman"/>
              </a:rPr>
              <a:t>children sent 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wilderness uttered the Phrygian </a:t>
            </a:r>
            <a:r>
              <a:rPr dirty="0" sz="1100">
                <a:latin typeface="Times New Roman"/>
                <a:cs typeface="Times New Roman"/>
              </a:rPr>
              <a:t>word bekos, so, the </a:t>
            </a:r>
            <a:r>
              <a:rPr dirty="0" sz="1100" spc="-5">
                <a:latin typeface="Times New Roman"/>
                <a:cs typeface="Times New Roman"/>
              </a:rPr>
              <a:t>Egyptian </a:t>
            </a:r>
            <a:r>
              <a:rPr dirty="0" sz="1100">
                <a:latin typeface="Times New Roman"/>
                <a:cs typeface="Times New Roman"/>
              </a:rPr>
              <a:t>pharaoh </a:t>
            </a:r>
            <a:r>
              <a:rPr dirty="0" sz="1100" spc="-5">
                <a:latin typeface="Times New Roman"/>
                <a:cs typeface="Times New Roman"/>
              </a:rPr>
              <a:t>believed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divine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Phrygian.</a:t>
            </a:r>
            <a:r>
              <a:rPr dirty="0" sz="1100">
                <a:latin typeface="Times New Roman"/>
                <a:cs typeface="Times New Roman"/>
              </a:rPr>
              <a:t> King James, the Fourth of Scotland’s </a:t>
            </a:r>
            <a:r>
              <a:rPr dirty="0" sz="1100" spc="-5">
                <a:latin typeface="Times New Roman"/>
                <a:cs typeface="Times New Roman"/>
              </a:rPr>
              <a:t>experiment </a:t>
            </a:r>
            <a:r>
              <a:rPr dirty="0" sz="1100">
                <a:latin typeface="Times New Roman"/>
                <a:cs typeface="Times New Roman"/>
              </a:rPr>
              <a:t>(1500) </a:t>
            </a:r>
            <a:r>
              <a:rPr dirty="0" sz="1100" spc="-5">
                <a:latin typeface="Times New Roman"/>
                <a:cs typeface="Times New Roman"/>
              </a:rPr>
              <a:t>showed that the isolated children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Hebrew. </a:t>
            </a:r>
            <a:r>
              <a:rPr dirty="0" sz="1100" spc="-5">
                <a:latin typeface="Times New Roman"/>
                <a:cs typeface="Times New Roman"/>
              </a:rPr>
              <a:t>So,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Hebrew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divine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However, very young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living without access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early </a:t>
            </a:r>
            <a:r>
              <a:rPr dirty="0" sz="1100" spc="-5">
                <a:latin typeface="Times New Roman"/>
                <a:cs typeface="Times New Roman"/>
              </a:rPr>
              <a:t>years grow </a:t>
            </a:r>
            <a:r>
              <a:rPr dirty="0" sz="1100">
                <a:latin typeface="Times New Roman"/>
                <a:cs typeface="Times New Roman"/>
              </a:rPr>
              <a:t> up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all.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did </a:t>
            </a:r>
            <a:r>
              <a:rPr dirty="0" sz="1100" spc="-5">
                <a:latin typeface="Times New Roman"/>
                <a:cs typeface="Times New Roman"/>
              </a:rPr>
              <a:t>emanate </a:t>
            </a:r>
            <a:r>
              <a:rPr dirty="0" sz="1100">
                <a:latin typeface="Times New Roman"/>
                <a:cs typeface="Times New Roman"/>
              </a:rPr>
              <a:t>from a </a:t>
            </a:r>
            <a:r>
              <a:rPr dirty="0" sz="1100" spc="-5">
                <a:latin typeface="Times New Roman"/>
                <a:cs typeface="Times New Roman"/>
              </a:rPr>
              <a:t>divine source, we have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reconstructing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 given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events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place called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Babel,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‘because the </a:t>
            </a:r>
            <a:r>
              <a:rPr dirty="0" sz="1100">
                <a:latin typeface="Times New Roman"/>
                <a:cs typeface="Times New Roman"/>
              </a:rPr>
              <a:t> Lord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confound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Earth’,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Genesis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Bible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(11: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 Natural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natural </a:t>
            </a:r>
            <a:r>
              <a:rPr dirty="0" sz="1100">
                <a:latin typeface="Times New Roman"/>
                <a:cs typeface="Times New Roman"/>
              </a:rPr>
              <a:t>sound source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maintains that primitive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imitations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natural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early </a:t>
            </a:r>
            <a:r>
              <a:rPr dirty="0" sz="1100" spc="-5">
                <a:latin typeface="Times New Roman"/>
                <a:cs typeface="Times New Roman"/>
              </a:rPr>
              <a:t>men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women heard </a:t>
            </a:r>
            <a:r>
              <a:rPr dirty="0" sz="1100">
                <a:latin typeface="Times New Roman"/>
                <a:cs typeface="Times New Roman"/>
              </a:rPr>
              <a:t>around </a:t>
            </a:r>
            <a:r>
              <a:rPr dirty="0" sz="1100" spc="-10">
                <a:latin typeface="Times New Roman"/>
                <a:cs typeface="Times New Roman"/>
              </a:rPr>
              <a:t>them. </a:t>
            </a:r>
            <a:r>
              <a:rPr dirty="0" sz="1100">
                <a:latin typeface="Times New Roman"/>
                <a:cs typeface="Times New Roman"/>
              </a:rPr>
              <a:t>CAW-CAW sound and </a:t>
            </a:r>
            <a:r>
              <a:rPr dirty="0" sz="1100" spc="-5">
                <a:latin typeface="Times New Roman"/>
                <a:cs typeface="Times New Roman"/>
              </a:rPr>
              <a:t>COO-COO </a:t>
            </a:r>
            <a:r>
              <a:rPr dirty="0" sz="1100">
                <a:latin typeface="Times New Roman"/>
                <a:cs typeface="Times New Roman"/>
              </a:rPr>
              <a:t> sound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>
                <a:latin typeface="Times New Roman"/>
                <a:cs typeface="Times New Roman"/>
              </a:rPr>
              <a:t> of objects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‘Bow-wow</a:t>
            </a:r>
            <a:r>
              <a:rPr dirty="0" sz="1100">
                <a:latin typeface="Times New Roman"/>
                <a:cs typeface="Times New Roman"/>
              </a:rPr>
              <a:t> theory’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claims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pronunciations that seem </a:t>
            </a:r>
            <a:r>
              <a:rPr dirty="0" sz="1100">
                <a:latin typeface="Times New Roman"/>
                <a:cs typeface="Times New Roman"/>
              </a:rPr>
              <a:t>to echo </a:t>
            </a:r>
            <a:r>
              <a:rPr dirty="0" sz="1100" spc="-5">
                <a:latin typeface="Times New Roman"/>
                <a:cs typeface="Times New Roman"/>
              </a:rPr>
              <a:t>naturally </a:t>
            </a:r>
            <a:r>
              <a:rPr dirty="0" sz="1100">
                <a:latin typeface="Times New Roman"/>
                <a:cs typeface="Times New Roman"/>
              </a:rPr>
              <a:t>occurring sounds. The sounds of </a:t>
            </a:r>
            <a:r>
              <a:rPr dirty="0" sz="1100" spc="-5">
                <a:latin typeface="Times New Roman"/>
                <a:cs typeface="Times New Roman"/>
              </a:rPr>
              <a:t>cuckoo,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sounds such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splash, bang, boom, rattle, buzz, </a:t>
            </a:r>
            <a:r>
              <a:rPr dirty="0" sz="1100">
                <a:latin typeface="Times New Roman"/>
                <a:cs typeface="Times New Roman"/>
              </a:rPr>
              <a:t>hiss, </a:t>
            </a:r>
            <a:r>
              <a:rPr dirty="0" sz="1100" spc="-5">
                <a:latin typeface="Times New Roman"/>
                <a:cs typeface="Times New Roman"/>
              </a:rPr>
              <a:t>screech, bow-wow, </a:t>
            </a:r>
            <a:r>
              <a:rPr dirty="0" sz="1100">
                <a:latin typeface="Times New Roman"/>
                <a:cs typeface="Times New Roman"/>
              </a:rPr>
              <a:t>etc.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basis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theory. This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onomatopoeia. 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theory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answer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obvious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about the soundless things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well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abstract concepts? We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believe that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 a 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used as ‘names’ for things. What </a:t>
            </a:r>
            <a:r>
              <a:rPr dirty="0" sz="1100">
                <a:latin typeface="Times New Roman"/>
                <a:cs typeface="Times New Roman"/>
              </a:rPr>
              <a:t>about the </a:t>
            </a:r>
            <a:r>
              <a:rPr dirty="0" sz="1100" spc="-5">
                <a:latin typeface="Times New Roman"/>
                <a:cs typeface="Times New Roman"/>
              </a:rPr>
              <a:t>original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from natural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joy?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Ouch!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Ah!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Ooh!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Wow!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Yuck.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egressive pulmonic mechanism, while </a:t>
            </a:r>
            <a:r>
              <a:rPr dirty="0" sz="1100">
                <a:latin typeface="Times New Roman"/>
                <a:cs typeface="Times New Roman"/>
              </a:rPr>
              <a:t>taking the breath </a:t>
            </a:r>
            <a:r>
              <a:rPr dirty="0" sz="1100" spc="-5">
                <a:latin typeface="Times New Roman"/>
                <a:cs typeface="Times New Roman"/>
              </a:rPr>
              <a:t>out.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ingressive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mechanism, </a:t>
            </a:r>
            <a:r>
              <a:rPr dirty="0" sz="1100">
                <a:latin typeface="Times New Roman"/>
                <a:cs typeface="Times New Roman"/>
              </a:rPr>
              <a:t>expressive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>
                <a:latin typeface="Times New Roman"/>
                <a:cs typeface="Times New Roman"/>
              </a:rPr>
              <a:t> sounds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otherwise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015: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Social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Interaction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‘Yo-he-ho’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-5">
                <a:latin typeface="Times New Roman"/>
                <a:cs typeface="Times New Roman"/>
              </a:rPr>
              <a:t>language, especially when that physical effort involved </a:t>
            </a:r>
            <a:r>
              <a:rPr dirty="0" sz="1100">
                <a:latin typeface="Times New Roman"/>
                <a:cs typeface="Times New Roman"/>
              </a:rPr>
              <a:t>several people and </a:t>
            </a:r>
            <a:r>
              <a:rPr dirty="0" sz="1100" spc="-5">
                <a:latin typeface="Times New Roman"/>
                <a:cs typeface="Times New Roman"/>
              </a:rPr>
              <a:t>the interaction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coordinated. A </a:t>
            </a:r>
            <a:r>
              <a:rPr dirty="0" sz="1100" spc="-5">
                <a:latin typeface="Times New Roman"/>
                <a:cs typeface="Times New Roman"/>
              </a:rPr>
              <a:t>group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early humans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develop a 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hums, grunts, </a:t>
            </a:r>
            <a:r>
              <a:rPr dirty="0" sz="1100">
                <a:latin typeface="Times New Roman"/>
                <a:cs typeface="Times New Roman"/>
              </a:rPr>
              <a:t>groans, and </a:t>
            </a:r>
            <a:r>
              <a:rPr dirty="0" sz="1100" spc="-5">
                <a:latin typeface="Times New Roman"/>
                <a:cs typeface="Times New Roman"/>
              </a:rPr>
              <a:t>curses that were </a:t>
            </a:r>
            <a:r>
              <a:rPr dirty="0" sz="1100">
                <a:latin typeface="Times New Roman"/>
                <a:cs typeface="Times New Roman"/>
              </a:rPr>
              <a:t> used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lifting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carrying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lifeless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mammoths.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theory, the development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took place in a </a:t>
            </a:r>
            <a:r>
              <a:rPr dirty="0" sz="1100" spc="-5">
                <a:latin typeface="Times New Roman"/>
                <a:cs typeface="Times New Roman"/>
              </a:rPr>
              <a:t>social context. Early 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groups,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attacks.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 even </a:t>
            </a:r>
            <a:r>
              <a:rPr dirty="0" sz="1100">
                <a:latin typeface="Times New Roman"/>
                <a:cs typeface="Times New Roman"/>
              </a:rPr>
              <a:t>if it were just </a:t>
            </a:r>
            <a:r>
              <a:rPr dirty="0" sz="1100" spc="-5">
                <a:latin typeface="Times New Roman"/>
                <a:cs typeface="Times New Roman"/>
              </a:rPr>
              <a:t>grunts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curses. Human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must have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principled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life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social interaction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early human groups. No </a:t>
            </a:r>
            <a:r>
              <a:rPr dirty="0" sz="1100">
                <a:latin typeface="Times New Roman"/>
                <a:cs typeface="Times New Roman"/>
              </a:rPr>
              <a:t>answer 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question regarding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produced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given. Apes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 primates live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social groups and use grunts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016:</a:t>
            </a:r>
            <a:r>
              <a:rPr dirty="0" u="heavy" sz="1100" spc="2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Physical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Adaptation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physical adaptation source, human physical features 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 from 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creatures. Instead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looking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types </a:t>
            </a:r>
            <a:r>
              <a:rPr dirty="0" sz="1100">
                <a:latin typeface="Times New Roman"/>
                <a:cs typeface="Times New Roman"/>
              </a:rPr>
              <a:t>of sounds as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source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speech, </a:t>
            </a:r>
            <a:r>
              <a:rPr dirty="0" sz="1100" spc="-10">
                <a:latin typeface="Times New Roman"/>
                <a:cs typeface="Times New Roman"/>
              </a:rPr>
              <a:t>we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look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physical features humans </a:t>
            </a:r>
            <a:r>
              <a:rPr dirty="0" sz="1100">
                <a:latin typeface="Times New Roman"/>
                <a:cs typeface="Times New Roman"/>
              </a:rPr>
              <a:t>possess, </a:t>
            </a:r>
            <a:r>
              <a:rPr dirty="0" sz="1100" spc="-5">
                <a:latin typeface="Times New Roman"/>
                <a:cs typeface="Times New Roman"/>
              </a:rPr>
              <a:t>especially those that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distinct from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creatures, 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support speech </a:t>
            </a:r>
            <a:r>
              <a:rPr dirty="0" sz="1100" spc="-5">
                <a:latin typeface="Times New Roman"/>
                <a:cs typeface="Times New Roman"/>
              </a:rPr>
              <a:t>production. </a:t>
            </a:r>
            <a:r>
              <a:rPr dirty="0" sz="1100">
                <a:latin typeface="Times New Roman"/>
                <a:cs typeface="Times New Roman"/>
              </a:rPr>
              <a:t>, </a:t>
            </a:r>
            <a:r>
              <a:rPr dirty="0" sz="1100" spc="-5">
                <a:latin typeface="Times New Roman"/>
                <a:cs typeface="Times New Roman"/>
              </a:rPr>
              <a:t>At some early stage,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ancestors made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signiﬁcant transition </a:t>
            </a:r>
            <a:r>
              <a:rPr dirty="0" sz="1100">
                <a:latin typeface="Times New Roman"/>
                <a:cs typeface="Times New Roman"/>
              </a:rPr>
              <a:t>to an upright </a:t>
            </a:r>
            <a:r>
              <a:rPr dirty="0" sz="1100" spc="-5">
                <a:latin typeface="Times New Roman"/>
                <a:cs typeface="Times New Roman"/>
              </a:rPr>
              <a:t>posture, with bipedal locomotion, and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revised role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front limbs.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effects of </a:t>
            </a:r>
            <a:r>
              <a:rPr dirty="0" sz="1100" spc="-5">
                <a:latin typeface="Times New Roman"/>
                <a:cs typeface="Times New Roman"/>
              </a:rPr>
              <a:t>this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seen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physical differences 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skull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gorilla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Neanderthal man </a:t>
            </a:r>
            <a:r>
              <a:rPr dirty="0" sz="1100">
                <a:latin typeface="Times New Roman"/>
                <a:cs typeface="Times New Roman"/>
              </a:rPr>
              <a:t>from around </a:t>
            </a:r>
            <a:r>
              <a:rPr dirty="0" sz="1100" spc="-5">
                <a:latin typeface="Times New Roman"/>
                <a:cs typeface="Times New Roman"/>
              </a:rPr>
              <a:t>60,000 years ago.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reconstructed vocal tract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Neanderthal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consonant-like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distinctions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possible.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to wait </a:t>
            </a:r>
            <a:r>
              <a:rPr dirty="0" sz="1100" spc="-5">
                <a:latin typeface="Times New Roman"/>
                <a:cs typeface="Times New Roman"/>
              </a:rPr>
              <a:t>until </a:t>
            </a:r>
            <a:r>
              <a:rPr dirty="0" sz="1100">
                <a:latin typeface="Times New Roman"/>
                <a:cs typeface="Times New Roman"/>
              </a:rPr>
              <a:t> 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35,000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reconstructions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fossilized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skeletal structures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resemble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study of </a:t>
            </a:r>
            <a:r>
              <a:rPr dirty="0" sz="1100" spc="-5">
                <a:latin typeface="Times New Roman"/>
                <a:cs typeface="Times New Roman"/>
              </a:rPr>
              <a:t>evolutionary </a:t>
            </a:r>
            <a:r>
              <a:rPr dirty="0" sz="1100">
                <a:latin typeface="Times New Roman"/>
                <a:cs typeface="Times New Roman"/>
              </a:rPr>
              <a:t>development, </a:t>
            </a: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certain </a:t>
            </a:r>
            <a:r>
              <a:rPr dirty="0" sz="1100" spc="-5">
                <a:latin typeface="Times New Roman"/>
                <a:cs typeface="Times New Roman"/>
              </a:rPr>
              <a:t>physical features, best thought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partial adaptations,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appear to be </a:t>
            </a:r>
            <a:r>
              <a:rPr dirty="0" sz="1100" spc="-5">
                <a:latin typeface="Times New Roman"/>
                <a:cs typeface="Times New Roman"/>
              </a:rPr>
              <a:t>relevant for </a:t>
            </a:r>
            <a:r>
              <a:rPr dirty="0" sz="1100">
                <a:latin typeface="Times New Roman"/>
                <a:cs typeface="Times New Roman"/>
              </a:rPr>
              <a:t>speech.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streamlined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 found in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primates. By themselves,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 not </a:t>
            </a:r>
            <a:r>
              <a:rPr dirty="0" sz="1100" spc="-5">
                <a:latin typeface="Times New Roman"/>
                <a:cs typeface="Times New Roman"/>
              </a:rPr>
              <a:t>necessarily lead </a:t>
            </a:r>
            <a:r>
              <a:rPr dirty="0" sz="1100">
                <a:latin typeface="Times New Roman"/>
                <a:cs typeface="Times New Roman"/>
              </a:rPr>
              <a:t>to speech </a:t>
            </a:r>
            <a:r>
              <a:rPr dirty="0" sz="1100" spc="-5">
                <a:latin typeface="Times New Roman"/>
                <a:cs typeface="Times New Roman"/>
              </a:rPr>
              <a:t>production, </a:t>
            </a:r>
            <a:r>
              <a:rPr dirty="0" sz="1100">
                <a:latin typeface="Times New Roman"/>
                <a:cs typeface="Times New Roman"/>
              </a:rPr>
              <a:t> 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 possessing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5">
                <a:latin typeface="Times New Roman"/>
                <a:cs typeface="Times New Roman"/>
              </a:rPr>
              <a:t> features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study of </a:t>
            </a:r>
            <a:r>
              <a:rPr dirty="0" sz="1100" spc="-5">
                <a:latin typeface="Times New Roman"/>
                <a:cs typeface="Times New Roman"/>
              </a:rPr>
              <a:t>evolutionary </a:t>
            </a:r>
            <a:r>
              <a:rPr dirty="0" sz="1100">
                <a:latin typeface="Times New Roman"/>
                <a:cs typeface="Times New Roman"/>
              </a:rPr>
              <a:t>development, </a:t>
            </a:r>
            <a:r>
              <a:rPr dirty="0" sz="1100" spc="-5">
                <a:latin typeface="Times New Roman"/>
                <a:cs typeface="Times New Roman"/>
              </a:rPr>
              <a:t>certain physical features, best thought </a:t>
            </a:r>
            <a:r>
              <a:rPr dirty="0" sz="1100">
                <a:latin typeface="Times New Roman"/>
                <a:cs typeface="Times New Roman"/>
              </a:rPr>
              <a:t>of as </a:t>
            </a:r>
            <a:r>
              <a:rPr dirty="0" sz="1100" spc="-5">
                <a:latin typeface="Times New Roman"/>
                <a:cs typeface="Times New Roman"/>
              </a:rPr>
              <a:t>partial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adaptations relevant for </a:t>
            </a:r>
            <a:r>
              <a:rPr dirty="0" sz="1100">
                <a:latin typeface="Times New Roman"/>
                <a:cs typeface="Times New Roman"/>
              </a:rPr>
              <a:t>speech. Such </a:t>
            </a:r>
            <a:r>
              <a:rPr dirty="0" sz="1100" spc="-5">
                <a:latin typeface="Times New Roman"/>
                <a:cs typeface="Times New Roman"/>
              </a:rPr>
              <a:t>features are good clues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creature possessing such features </a:t>
            </a:r>
            <a:r>
              <a:rPr dirty="0" sz="1100">
                <a:latin typeface="Times New Roman"/>
                <a:cs typeface="Times New Roman"/>
              </a:rPr>
              <a:t> probably has the </a:t>
            </a:r>
            <a:r>
              <a:rPr dirty="0" sz="1100" spc="-5">
                <a:latin typeface="Times New Roman"/>
                <a:cs typeface="Times New Roman"/>
              </a:rPr>
              <a:t>capacity </a:t>
            </a:r>
            <a:r>
              <a:rPr dirty="0" sz="1100">
                <a:latin typeface="Times New Roman"/>
                <a:cs typeface="Times New Roman"/>
              </a:rPr>
              <a:t>for speech.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teeth, </a:t>
            </a:r>
            <a:r>
              <a:rPr dirty="0" sz="1100" spc="-5">
                <a:latin typeface="Times New Roman"/>
                <a:cs typeface="Times New Roman"/>
              </a:rPr>
              <a:t>lips, mouth, </a:t>
            </a:r>
            <a:r>
              <a:rPr dirty="0" sz="1100" spc="5">
                <a:latin typeface="Times New Roman"/>
                <a:cs typeface="Times New Roman"/>
              </a:rPr>
              <a:t>larynx </a:t>
            </a:r>
            <a:r>
              <a:rPr dirty="0" sz="1100">
                <a:latin typeface="Times New Roman"/>
                <a:cs typeface="Times New Roman"/>
              </a:rPr>
              <a:t>and pharynx are </a:t>
            </a:r>
            <a:r>
              <a:rPr dirty="0" sz="1100" spc="-5">
                <a:latin typeface="Times New Roman"/>
                <a:cs typeface="Times New Roman"/>
              </a:rPr>
              <a:t>all supportive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producing sounds </a:t>
            </a:r>
            <a:r>
              <a:rPr dirty="0" sz="1100" spc="-5">
                <a:latin typeface="Times New Roman"/>
                <a:cs typeface="Times New Roman"/>
              </a:rPr>
              <a:t>that humans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overall effect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small differences capable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wider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>
                <a:latin typeface="Times New Roman"/>
                <a:cs typeface="Times New Roman"/>
              </a:rPr>
              <a:t> of shapes and a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rapid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delivery </a:t>
            </a:r>
            <a:r>
              <a:rPr dirty="0" sz="1100">
                <a:latin typeface="Times New Roman"/>
                <a:cs typeface="Times New Roman"/>
              </a:rPr>
              <a:t>of sounds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shapes. However,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disadvantage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risk </a:t>
            </a:r>
            <a:r>
              <a:rPr dirty="0" sz="1100">
                <a:latin typeface="Times New Roman"/>
                <a:cs typeface="Times New Roman"/>
              </a:rPr>
              <a:t>of choking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Tool-Making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One function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producing </a:t>
            </a:r>
            <a:r>
              <a:rPr dirty="0" sz="1100">
                <a:latin typeface="Times New Roman"/>
                <a:cs typeface="Times New Roman"/>
              </a:rPr>
              <a:t>speech sounds </a:t>
            </a:r>
            <a:r>
              <a:rPr dirty="0" sz="1100" spc="-5">
                <a:latin typeface="Times New Roman"/>
                <a:cs typeface="Times New Roman"/>
              </a:rPr>
              <a:t>in the physical adaptation view must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placed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anatomical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(teeth,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lips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previously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(chewing,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sucking).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gestures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precursor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5721" y="9255326"/>
            <a:ext cx="231775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28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right-handedness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became capable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making </a:t>
            </a:r>
            <a:r>
              <a:rPr dirty="0" sz="1100">
                <a:latin typeface="Times New Roman"/>
                <a:cs typeface="Times New Roman"/>
              </a:rPr>
              <a:t>stone </a:t>
            </a:r>
            <a:r>
              <a:rPr dirty="0" sz="1100" spc="-5">
                <a:latin typeface="Times New Roman"/>
                <a:cs typeface="Times New Roman"/>
              </a:rPr>
              <a:t>tools. Wooden tools followed. </a:t>
            </a:r>
            <a:r>
              <a:rPr dirty="0" sz="1100" spc="5">
                <a:latin typeface="Times New Roman"/>
                <a:cs typeface="Times New Roman"/>
              </a:rPr>
              <a:t>Tool-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making, </a:t>
            </a:r>
            <a:r>
              <a:rPr dirty="0" sz="1100">
                <a:latin typeface="Times New Roman"/>
                <a:cs typeface="Times New Roman"/>
              </a:rPr>
              <a:t>or the </a:t>
            </a:r>
            <a:r>
              <a:rPr dirty="0" sz="1100" spc="-5">
                <a:latin typeface="Times New Roman"/>
                <a:cs typeface="Times New Roman"/>
              </a:rPr>
              <a:t>outcome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manipulating </a:t>
            </a:r>
            <a:r>
              <a:rPr dirty="0" sz="1100">
                <a:latin typeface="Times New Roman"/>
                <a:cs typeface="Times New Roman"/>
              </a:rPr>
              <a:t>objects, and changing them using both hands, is </a:t>
            </a:r>
            <a:r>
              <a:rPr dirty="0" sz="1100" spc="-5">
                <a:latin typeface="Times New Roman"/>
                <a:cs typeface="Times New Roman"/>
              </a:rPr>
              <a:t>evidence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brain is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large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compared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body size, it is </a:t>
            </a:r>
            <a:r>
              <a:rPr dirty="0" sz="1100" spc="-5">
                <a:latin typeface="Times New Roman"/>
                <a:cs typeface="Times New Roman"/>
              </a:rPr>
              <a:t>also lateralized, that </a:t>
            </a:r>
            <a:r>
              <a:rPr dirty="0" sz="1100">
                <a:latin typeface="Times New Roman"/>
                <a:cs typeface="Times New Roman"/>
              </a:rPr>
              <a:t> is,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specialized functions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hemispheres. There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evolutionary connection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language-using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tool-using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humans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>
                <a:latin typeface="Times New Roman"/>
                <a:cs typeface="Times New Roman"/>
              </a:rPr>
              <a:t> were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All languages require the organizing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combining </a:t>
            </a:r>
            <a:r>
              <a:rPr dirty="0" sz="1100">
                <a:latin typeface="Times New Roman"/>
                <a:cs typeface="Times New Roman"/>
              </a:rPr>
              <a:t>of sounds or </a:t>
            </a:r>
            <a:r>
              <a:rPr dirty="0" sz="1100" spc="-5">
                <a:latin typeface="Times New Roman"/>
                <a:cs typeface="Times New Roman"/>
              </a:rPr>
              <a:t>signs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speciﬁc arrangements.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seem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arrangements.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 think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most </a:t>
            </a:r>
            <a:r>
              <a:rPr dirty="0" sz="1100">
                <a:latin typeface="Times New Roman"/>
                <a:cs typeface="Times New Roman"/>
              </a:rPr>
              <a:t>basic </a:t>
            </a:r>
            <a:r>
              <a:rPr dirty="0" sz="1100" spc="-5">
                <a:latin typeface="Times New Roman"/>
                <a:cs typeface="Times New Roman"/>
              </a:rPr>
              <a:t>process involved in primitive tool-making, </a:t>
            </a:r>
            <a:r>
              <a:rPr dirty="0" sz="1100">
                <a:latin typeface="Times New Roman"/>
                <a:cs typeface="Times New Roman"/>
              </a:rPr>
              <a:t>it is not </a:t>
            </a:r>
            <a:r>
              <a:rPr dirty="0" sz="1100" spc="-5">
                <a:latin typeface="Times New Roman"/>
                <a:cs typeface="Times New Roman"/>
              </a:rPr>
              <a:t>enough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grasp </a:t>
            </a:r>
            <a:r>
              <a:rPr dirty="0" sz="1100">
                <a:latin typeface="Times New Roman"/>
                <a:cs typeface="Times New Roman"/>
              </a:rPr>
              <a:t>one rock </a:t>
            </a:r>
            <a:r>
              <a:rPr dirty="0" sz="1100" spc="-5">
                <a:latin typeface="Times New Roman"/>
                <a:cs typeface="Times New Roman"/>
              </a:rPr>
              <a:t>(make </a:t>
            </a:r>
            <a:r>
              <a:rPr dirty="0" sz="1100" spc="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sound);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humans </a:t>
            </a:r>
            <a:r>
              <a:rPr dirty="0" sz="1100" spc="-5">
                <a:latin typeface="Times New Roman"/>
                <a:cs typeface="Times New Roman"/>
              </a:rPr>
              <a:t>must also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bring </a:t>
            </a:r>
            <a:r>
              <a:rPr dirty="0" sz="1100">
                <a:latin typeface="Times New Roman"/>
                <a:cs typeface="Times New Roman"/>
              </a:rPr>
              <a:t>another rock </a:t>
            </a:r>
            <a:r>
              <a:rPr dirty="0" sz="1100" spc="-5">
                <a:latin typeface="Times New Roman"/>
                <a:cs typeface="Times New Roman"/>
              </a:rPr>
              <a:t>(other sounds) </a:t>
            </a:r>
            <a:r>
              <a:rPr dirty="0" sz="1100">
                <a:latin typeface="Times New Roman"/>
                <a:cs typeface="Times New Roman"/>
              </a:rPr>
              <a:t> into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 with the ﬁrst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develop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tool.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 the </a:t>
            </a:r>
            <a:r>
              <a:rPr dirty="0" sz="1100" spc="5">
                <a:latin typeface="Times New Roman"/>
                <a:cs typeface="Times New Roman"/>
              </a:rPr>
              <a:t>humans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have ﬁrst </a:t>
            </a:r>
            <a:r>
              <a:rPr dirty="0" sz="1100">
                <a:latin typeface="Times New Roman"/>
                <a:cs typeface="Times New Roman"/>
              </a:rPr>
              <a:t>developed a </a:t>
            </a:r>
            <a:r>
              <a:rPr dirty="0" sz="1100" spc="-5">
                <a:latin typeface="Times New Roman"/>
                <a:cs typeface="Times New Roman"/>
              </a:rPr>
              <a:t>naming </a:t>
            </a:r>
            <a:r>
              <a:rPr dirty="0" sz="1100">
                <a:latin typeface="Times New Roman"/>
                <a:cs typeface="Times New Roman"/>
              </a:rPr>
              <a:t>ability by </a:t>
            </a:r>
            <a:r>
              <a:rPr dirty="0" sz="1100" spc="-5">
                <a:latin typeface="Times New Roman"/>
                <a:cs typeface="Times New Roman"/>
              </a:rPr>
              <a:t>producing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speciﬁc </a:t>
            </a:r>
            <a:r>
              <a:rPr dirty="0" sz="1100">
                <a:latin typeface="Times New Roman"/>
                <a:cs typeface="Times New Roman"/>
              </a:rPr>
              <a:t>and consistent </a:t>
            </a:r>
            <a:r>
              <a:rPr dirty="0" sz="1100" spc="-5">
                <a:latin typeface="Times New Roman"/>
                <a:cs typeface="Times New Roman"/>
              </a:rPr>
              <a:t>noise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bEEr) 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>
                <a:latin typeface="Times New Roman"/>
                <a:cs typeface="Times New Roman"/>
              </a:rPr>
              <a:t> object.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bring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(e.g.,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gOOd)</a:t>
            </a:r>
            <a:r>
              <a:rPr dirty="0" sz="1100">
                <a:latin typeface="Times New Roman"/>
                <a:cs typeface="Times New Roman"/>
              </a:rPr>
              <a:t> into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ﬁrst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(bEEr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development later, humans have </a:t>
            </a:r>
            <a:r>
              <a:rPr dirty="0" sz="1100">
                <a:latin typeface="Times New Roman"/>
                <a:cs typeface="Times New Roman"/>
              </a:rPr>
              <a:t>honed </a:t>
            </a:r>
            <a:r>
              <a:rPr dirty="0" sz="1100" spc="-5">
                <a:latin typeface="Times New Roman"/>
                <a:cs typeface="Times New Roman"/>
              </a:rPr>
              <a:t>this message-building capacity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point where,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Saturdays,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watching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football </a:t>
            </a:r>
            <a:r>
              <a:rPr dirty="0" sz="1100" spc="-10">
                <a:latin typeface="Times New Roman"/>
                <a:cs typeface="Times New Roman"/>
              </a:rPr>
              <a:t>game, </a:t>
            </a:r>
            <a:r>
              <a:rPr dirty="0" sz="1100">
                <a:latin typeface="Times New Roman"/>
                <a:cs typeface="Times New Roman"/>
              </a:rPr>
              <a:t>they can </a:t>
            </a:r>
            <a:r>
              <a:rPr dirty="0" sz="1100" spc="-5">
                <a:latin typeface="Times New Roman"/>
                <a:cs typeface="Times New Roman"/>
              </a:rPr>
              <a:t>drink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sustaining beverage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proclaim ‘This tree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good’. As </a:t>
            </a:r>
            <a:r>
              <a:rPr dirty="0" sz="1100">
                <a:latin typeface="Times New Roman"/>
                <a:cs typeface="Times New Roman"/>
              </a:rPr>
              <a:t>far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know,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018: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 Genetic Source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know that the human baby </a:t>
            </a:r>
            <a:r>
              <a:rPr dirty="0" sz="1100">
                <a:latin typeface="Times New Roman"/>
                <a:cs typeface="Times New Roman"/>
              </a:rPr>
              <a:t>in its </a:t>
            </a:r>
            <a:r>
              <a:rPr dirty="0" sz="1100" spc="-5">
                <a:latin typeface="Times New Roman"/>
                <a:cs typeface="Times New Roman"/>
              </a:rPr>
              <a:t>ﬁrst </a:t>
            </a:r>
            <a:r>
              <a:rPr dirty="0" sz="1100">
                <a:latin typeface="Times New Roman"/>
                <a:cs typeface="Times New Roman"/>
              </a:rPr>
              <a:t>few </a:t>
            </a:r>
            <a:r>
              <a:rPr dirty="0" sz="1100" spc="-5">
                <a:latin typeface="Times New Roman"/>
                <a:cs typeface="Times New Roman"/>
              </a:rPr>
              <a:t>years undergoes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physical changes. </a:t>
            </a:r>
            <a:r>
              <a:rPr dirty="0" sz="1100" spc="-1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 birth, </a:t>
            </a:r>
            <a:r>
              <a:rPr dirty="0" sz="1100">
                <a:latin typeface="Times New Roman"/>
                <a:cs typeface="Times New Roman"/>
              </a:rPr>
              <a:t>the baby’s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quarter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 eventual weight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larynx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much higher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throat,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allowing </a:t>
            </a:r>
            <a:r>
              <a:rPr dirty="0" sz="1100">
                <a:latin typeface="Times New Roman"/>
                <a:cs typeface="Times New Roman"/>
              </a:rPr>
              <a:t>babies, </a:t>
            </a:r>
            <a:r>
              <a:rPr dirty="0" sz="1100" spc="-5">
                <a:latin typeface="Times New Roman"/>
                <a:cs typeface="Times New Roman"/>
              </a:rPr>
              <a:t>like chimpanzees,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breathe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drink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time. </a:t>
            </a:r>
            <a:r>
              <a:rPr dirty="0" sz="1100">
                <a:latin typeface="Times New Roman"/>
                <a:cs typeface="Times New Roman"/>
              </a:rPr>
              <a:t>However, in a </a:t>
            </a:r>
            <a:r>
              <a:rPr dirty="0" sz="1100" spc="-5">
                <a:latin typeface="Times New Roman"/>
                <a:cs typeface="Times New Roman"/>
              </a:rPr>
              <a:t>quite short period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larynx descends, the </a:t>
            </a:r>
            <a:r>
              <a:rPr dirty="0" sz="1100">
                <a:latin typeface="Times New Roman"/>
                <a:cs typeface="Times New Roman"/>
              </a:rPr>
              <a:t>brain </a:t>
            </a:r>
            <a:r>
              <a:rPr dirty="0" sz="1100" spc="-5">
                <a:latin typeface="Times New Roman"/>
                <a:cs typeface="Times New Roman"/>
              </a:rPr>
              <a:t>develops, the child assumes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upright posture and starts walking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talking.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almost automatic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developments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complexity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young </a:t>
            </a:r>
            <a:r>
              <a:rPr dirty="0" sz="1100" spc="5">
                <a:latin typeface="Times New Roman"/>
                <a:cs typeface="Times New Roman"/>
              </a:rPr>
              <a:t>child’s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led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r>
              <a:rPr dirty="0" sz="1100">
                <a:latin typeface="Times New Roman"/>
                <a:cs typeface="Times New Roman"/>
              </a:rPr>
              <a:t> to look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species </a:t>
            </a:r>
            <a:r>
              <a:rPr dirty="0" sz="1100" spc="-5">
                <a:latin typeface="Times New Roman"/>
                <a:cs typeface="Times New Roman"/>
              </a:rPr>
              <a:t>over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-5">
                <a:latin typeface="Times New Roman"/>
                <a:cs typeface="Times New Roman"/>
              </a:rPr>
              <a:t>source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Even children who are born deaf </a:t>
            </a:r>
            <a:r>
              <a:rPr dirty="0" sz="1100" spc="-10">
                <a:latin typeface="Times New Roman"/>
                <a:cs typeface="Times New Roman"/>
              </a:rPr>
              <a:t>become </a:t>
            </a:r>
            <a:r>
              <a:rPr dirty="0" sz="1100" spc="-5">
                <a:latin typeface="Times New Roman"/>
                <a:cs typeface="Times New Roman"/>
              </a:rPr>
              <a:t>ﬂuent sign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users, given </a:t>
            </a:r>
            <a:r>
              <a:rPr dirty="0" sz="1100">
                <a:latin typeface="Times New Roman"/>
                <a:cs typeface="Times New Roman"/>
              </a:rPr>
              <a:t>appropriate </a:t>
            </a:r>
            <a:r>
              <a:rPr dirty="0" sz="1100" spc="-5">
                <a:latin typeface="Times New Roman"/>
                <a:cs typeface="Times New Roman"/>
              </a:rPr>
              <a:t>circumstances, very </a:t>
            </a:r>
            <a:r>
              <a:rPr dirty="0" sz="1100">
                <a:latin typeface="Times New Roman"/>
                <a:cs typeface="Times New Roman"/>
              </a:rPr>
              <a:t>early in </a:t>
            </a:r>
            <a:r>
              <a:rPr dirty="0" sz="1100" spc="-5">
                <a:latin typeface="Times New Roman"/>
                <a:cs typeface="Times New Roman"/>
              </a:rPr>
              <a:t>life.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seems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indicate that human offspring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innate,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creature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isn’t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speciﬁc 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possible that this language capacity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genetically </a:t>
            </a:r>
            <a:r>
              <a:rPr dirty="0" sz="1100">
                <a:latin typeface="Times New Roman"/>
                <a:cs typeface="Times New Roman"/>
              </a:rPr>
              <a:t>hard-wired in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newborn </a:t>
            </a:r>
            <a:r>
              <a:rPr dirty="0" sz="1100" spc="-5">
                <a:latin typeface="Times New Roman"/>
                <a:cs typeface="Times New Roman"/>
              </a:rPr>
              <a:t>human?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solution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puzzle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origins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language, this innateness hypothesis would </a:t>
            </a:r>
            <a:r>
              <a:rPr dirty="0" sz="1100">
                <a:latin typeface="Times New Roman"/>
                <a:cs typeface="Times New Roman"/>
              </a:rPr>
              <a:t> seem to point to something in </a:t>
            </a:r>
            <a:r>
              <a:rPr dirty="0" sz="1100" spc="-5">
                <a:latin typeface="Times New Roman"/>
                <a:cs typeface="Times New Roman"/>
              </a:rPr>
              <a:t>human genetics, possibly </a:t>
            </a:r>
            <a:r>
              <a:rPr dirty="0" sz="1100">
                <a:latin typeface="Times New Roman"/>
                <a:cs typeface="Times New Roman"/>
              </a:rPr>
              <a:t>a crucial </a:t>
            </a:r>
            <a:r>
              <a:rPr dirty="0" sz="1100" spc="-5">
                <a:latin typeface="Times New Roman"/>
                <a:cs typeface="Times New Roman"/>
              </a:rPr>
              <a:t>mutation, </a:t>
            </a:r>
            <a:r>
              <a:rPr dirty="0" sz="1100">
                <a:latin typeface="Times New Roman"/>
                <a:cs typeface="Times New Roman"/>
              </a:rPr>
              <a:t>as the source.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been a </a:t>
            </a:r>
            <a:r>
              <a:rPr dirty="0" sz="1100" spc="-5">
                <a:latin typeface="Times New Roman"/>
                <a:cs typeface="Times New Roman"/>
              </a:rPr>
              <a:t>gradual change, </a:t>
            </a:r>
            <a:r>
              <a:rPr dirty="0" sz="1100">
                <a:latin typeface="Times New Roman"/>
                <a:cs typeface="Times New Roman"/>
              </a:rPr>
              <a:t>but something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happened </a:t>
            </a:r>
            <a:r>
              <a:rPr dirty="0" sz="1100" spc="-5">
                <a:latin typeface="Times New Roman"/>
                <a:cs typeface="Times New Roman"/>
              </a:rPr>
              <a:t>rather quickly.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are not sure when this </a:t>
            </a:r>
            <a:r>
              <a:rPr dirty="0" sz="1100">
                <a:latin typeface="Times New Roman"/>
                <a:cs typeface="Times New Roman"/>
              </a:rPr>
              <a:t> proposed </a:t>
            </a: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>
                <a:latin typeface="Times New Roman"/>
                <a:cs typeface="Times New Roman"/>
              </a:rPr>
              <a:t> place or </a:t>
            </a:r>
            <a:r>
              <a:rPr dirty="0" sz="1100" spc="10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relate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>
                <a:latin typeface="Times New Roman"/>
                <a:cs typeface="Times New Roman"/>
              </a:rPr>
              <a:t> physical </a:t>
            </a:r>
            <a:r>
              <a:rPr dirty="0" sz="1100" spc="-5">
                <a:latin typeface="Times New Roman"/>
                <a:cs typeface="Times New Roman"/>
              </a:rPr>
              <a:t>adaptations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 earlier. However,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we consider this hypothesis, we ﬁnd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speculations about the origins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moving</a:t>
            </a:r>
            <a:r>
              <a:rPr dirty="0" sz="1100">
                <a:latin typeface="Times New Roman"/>
                <a:cs typeface="Times New Roman"/>
              </a:rPr>
              <a:t> away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fossil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physical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source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toward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analogies with </a:t>
            </a:r>
            <a:r>
              <a:rPr dirty="0" sz="1100">
                <a:latin typeface="Times New Roman"/>
                <a:cs typeface="Times New Roman"/>
              </a:rPr>
              <a:t>how computers </a:t>
            </a:r>
            <a:r>
              <a:rPr dirty="0" sz="1100" spc="-5">
                <a:latin typeface="Times New Roman"/>
                <a:cs typeface="Times New Roman"/>
              </a:rPr>
              <a:t>work (e.g., being pre-programmed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hard-wired) and concepts taken from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genetics.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investigation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origins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then </a:t>
            </a:r>
            <a:r>
              <a:rPr dirty="0" sz="1100" spc="-5">
                <a:latin typeface="Times New Roman"/>
                <a:cs typeface="Times New Roman"/>
              </a:rPr>
              <a:t>turns into </a:t>
            </a:r>
            <a:r>
              <a:rPr dirty="0" sz="1100">
                <a:latin typeface="Times New Roman"/>
                <a:cs typeface="Times New Roman"/>
              </a:rPr>
              <a:t>a search for the </a:t>
            </a:r>
            <a:r>
              <a:rPr dirty="0" sz="1100" spc="-5">
                <a:latin typeface="Times New Roman"/>
                <a:cs typeface="Times New Roman"/>
              </a:rPr>
              <a:t>special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gene’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possess.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indeed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language, then will </a:t>
            </a:r>
            <a:r>
              <a:rPr dirty="0" sz="1100">
                <a:latin typeface="Times New Roman"/>
                <a:cs typeface="Times New Roman"/>
              </a:rPr>
              <a:t>it be </a:t>
            </a:r>
            <a:r>
              <a:rPr dirty="0" sz="1100" spc="-5">
                <a:latin typeface="Times New Roman"/>
                <a:cs typeface="Times New Roman"/>
              </a:rPr>
              <a:t>completely impossible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creature </a:t>
            </a:r>
            <a:r>
              <a:rPr dirty="0" sz="1100">
                <a:latin typeface="Times New Roman"/>
                <a:cs typeface="Times New Roman"/>
              </a:rPr>
              <a:t>to produce or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82607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Lesson-04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CHARACTERISTICS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Characteristics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Human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capable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understandable.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possible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creature </a:t>
            </a:r>
            <a:r>
              <a:rPr dirty="0" sz="1100">
                <a:latin typeface="Times New Roman"/>
                <a:cs typeface="Times New Roman"/>
              </a:rPr>
              <a:t>could </a:t>
            </a:r>
            <a:r>
              <a:rPr dirty="0" sz="1100" spc="-5">
                <a:latin typeface="Times New Roman"/>
                <a:cs typeface="Times New Roman"/>
              </a:rPr>
              <a:t>learn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with humans using </a:t>
            </a:r>
            <a:r>
              <a:rPr dirty="0" sz="1100">
                <a:latin typeface="Times New Roman"/>
                <a:cs typeface="Times New Roman"/>
              </a:rPr>
              <a:t>language? </a:t>
            </a:r>
            <a:r>
              <a:rPr dirty="0" sz="1100" spc="-5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does human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-5">
                <a:latin typeface="Times New Roman"/>
                <a:cs typeface="Times New Roman"/>
              </a:rPr>
              <a:t> it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unique that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other communication </a:t>
            </a:r>
            <a:r>
              <a:rPr dirty="0" sz="1100">
                <a:latin typeface="Times New Roman"/>
                <a:cs typeface="Times New Roman"/>
              </a:rPr>
              <a:t>system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unlearnable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should ﬁrst distinguish between speciﬁcally communicative signals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those which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unintentionally informative </a:t>
            </a:r>
            <a:r>
              <a:rPr dirty="0" sz="1100">
                <a:latin typeface="Times New Roman"/>
                <a:cs typeface="Times New Roman"/>
              </a:rPr>
              <a:t>signals. </a:t>
            </a:r>
            <a:r>
              <a:rPr dirty="0" sz="1100" spc="-5">
                <a:latin typeface="Times New Roman"/>
                <a:cs typeface="Times New Roman"/>
              </a:rPr>
              <a:t>Someone listening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you may become informed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you through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signals that you have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intentionally </a:t>
            </a:r>
            <a:r>
              <a:rPr dirty="0" sz="1100">
                <a:latin typeface="Times New Roman"/>
                <a:cs typeface="Times New Roman"/>
              </a:rPr>
              <a:t>sent.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 may </a:t>
            </a:r>
            <a:r>
              <a:rPr dirty="0" sz="1100">
                <a:latin typeface="Times New Roman"/>
                <a:cs typeface="Times New Roman"/>
              </a:rPr>
              <a:t>note </a:t>
            </a:r>
            <a:r>
              <a:rPr dirty="0" sz="1100" spc="-5">
                <a:latin typeface="Times New Roman"/>
                <a:cs typeface="Times New Roman"/>
              </a:rPr>
              <a:t>that you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cold (you sneezed),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you are not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ease (you shifted </a:t>
            </a:r>
            <a:r>
              <a:rPr dirty="0" sz="1100">
                <a:latin typeface="Times New Roman"/>
                <a:cs typeface="Times New Roman"/>
              </a:rPr>
              <a:t>around in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>
                <a:latin typeface="Times New Roman"/>
                <a:cs typeface="Times New Roman"/>
              </a:rPr>
              <a:t>seat), </a:t>
            </a:r>
            <a:r>
              <a:rPr dirty="0" sz="1100" spc="-5">
                <a:latin typeface="Times New Roman"/>
                <a:cs typeface="Times New Roman"/>
              </a:rPr>
              <a:t>that you are disorganized </a:t>
            </a:r>
            <a:r>
              <a:rPr dirty="0" sz="1100">
                <a:latin typeface="Times New Roman"/>
                <a:cs typeface="Times New Roman"/>
              </a:rPr>
              <a:t>(non-matching </a:t>
            </a:r>
            <a:r>
              <a:rPr dirty="0" sz="1100" spc="-5">
                <a:latin typeface="Times New Roman"/>
                <a:cs typeface="Times New Roman"/>
              </a:rPr>
              <a:t>socks)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somewhere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(you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strange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accent).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 this </a:t>
            </a:r>
            <a:r>
              <a:rPr dirty="0" sz="1100">
                <a:latin typeface="Times New Roman"/>
                <a:cs typeface="Times New Roman"/>
              </a:rPr>
              <a:t>person, ‘I </a:t>
            </a:r>
            <a:r>
              <a:rPr dirty="0" sz="1100" spc="5">
                <a:latin typeface="Times New Roman"/>
                <a:cs typeface="Times New Roman"/>
              </a:rPr>
              <a:t>am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applicants for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vacant position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senior brain surgeon </a:t>
            </a:r>
            <a:r>
              <a:rPr dirty="0" sz="1100">
                <a:latin typeface="Times New Roman"/>
                <a:cs typeface="Times New Roman"/>
              </a:rPr>
              <a:t>at the hospital’,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normally considered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intentionally communicating something. Similarly,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blackbird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 taken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communicating anything </a:t>
            </a:r>
            <a:r>
              <a:rPr dirty="0" sz="1100" spc="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having black </a:t>
            </a:r>
            <a:r>
              <a:rPr dirty="0" sz="1100" spc="-5">
                <a:latin typeface="Times New Roman"/>
                <a:cs typeface="Times New Roman"/>
              </a:rPr>
              <a:t>feathers, sitting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branch and looking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ground, but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sending a </a:t>
            </a:r>
            <a:r>
              <a:rPr dirty="0" sz="1100" spc="-5">
                <a:latin typeface="Times New Roman"/>
                <a:cs typeface="Times New Roman"/>
              </a:rPr>
              <a:t>communicative signal with the </a:t>
            </a:r>
            <a:r>
              <a:rPr dirty="0" sz="1100">
                <a:latin typeface="Times New Roman"/>
                <a:cs typeface="Times New Roman"/>
              </a:rPr>
              <a:t>loud </a:t>
            </a:r>
            <a:r>
              <a:rPr dirty="0" sz="1100" spc="-5">
                <a:latin typeface="Times New Roman"/>
                <a:cs typeface="Times New Roman"/>
              </a:rPr>
              <a:t>squawking </a:t>
            </a:r>
            <a:r>
              <a:rPr dirty="0" sz="1100">
                <a:latin typeface="Times New Roman"/>
                <a:cs typeface="Times New Roman"/>
              </a:rPr>
              <a:t> produced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cat appears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scene. So, </a:t>
            </a:r>
            <a:r>
              <a:rPr dirty="0" sz="1100" spc="-5">
                <a:latin typeface="Times New Roman"/>
                <a:cs typeface="Times New Roman"/>
              </a:rPr>
              <a:t>when we talk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distinctions between human language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animal communication, we are considering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in 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potential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intentional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Properties 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Human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primary </a:t>
            </a:r>
            <a:r>
              <a:rPr dirty="0" sz="1100">
                <a:latin typeface="Times New Roman"/>
                <a:cs typeface="Times New Roman"/>
              </a:rPr>
              <a:t>function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distinguishing feature. 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property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reflexivity</a:t>
            </a:r>
            <a:r>
              <a:rPr dirty="0" sz="1100">
                <a:latin typeface="Times New Roman"/>
                <a:cs typeface="Times New Roman"/>
              </a:rPr>
              <a:t> (or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‘reflexiveness’)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displacement,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arbitrariness,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productivity,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transmission,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duality.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020: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Displacement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Animal message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produced 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immediate time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place. </a:t>
            </a:r>
            <a:r>
              <a:rPr dirty="0" sz="1100" spc="-10">
                <a:latin typeface="Times New Roman"/>
                <a:cs typeface="Times New Roman"/>
              </a:rPr>
              <a:t>Animal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designed exclusively for this moment, </a:t>
            </a:r>
            <a:r>
              <a:rPr dirty="0" sz="1100">
                <a:latin typeface="Times New Roman"/>
                <a:cs typeface="Times New Roman"/>
              </a:rPr>
              <a:t>here and now </a:t>
            </a:r>
            <a:r>
              <a:rPr dirty="0" sz="1100" spc="-5">
                <a:latin typeface="Times New Roman"/>
                <a:cs typeface="Times New Roman"/>
              </a:rPr>
              <a:t>not far removed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place.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can refer to </a:t>
            </a:r>
            <a:r>
              <a:rPr dirty="0" sz="1100" spc="-5">
                <a:latin typeface="Times New Roman"/>
                <a:cs typeface="Times New Roman"/>
              </a:rPr>
              <a:t>past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future time. This </a:t>
            </a:r>
            <a:r>
              <a:rPr dirty="0" sz="1100">
                <a:latin typeface="Times New Roman"/>
                <a:cs typeface="Times New Roman"/>
              </a:rPr>
              <a:t>property of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displacement.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 allows language users to </a:t>
            </a:r>
            <a:r>
              <a:rPr dirty="0" sz="1100">
                <a:latin typeface="Times New Roman"/>
                <a:cs typeface="Times New Roman"/>
              </a:rPr>
              <a:t>talk about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events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present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immediate environment. </a:t>
            </a:r>
            <a:r>
              <a:rPr dirty="0" sz="1100">
                <a:latin typeface="Times New Roman"/>
                <a:cs typeface="Times New Roman"/>
              </a:rPr>
              <a:t>Bee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 exception because it seems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some </a:t>
            </a:r>
            <a:r>
              <a:rPr dirty="0" sz="1100">
                <a:latin typeface="Times New Roman"/>
                <a:cs typeface="Times New Roman"/>
              </a:rPr>
              <a:t>version of </a:t>
            </a:r>
            <a:r>
              <a:rPr dirty="0" sz="1100" spc="-5">
                <a:latin typeface="Times New Roman"/>
                <a:cs typeface="Times New Roman"/>
              </a:rPr>
              <a:t>displacement.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it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displacement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 type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021: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Arbitrariness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No ‘natural’ connection between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linguistic form </a:t>
            </a:r>
            <a:r>
              <a:rPr dirty="0" sz="1100">
                <a:latin typeface="Times New Roman"/>
                <a:cs typeface="Times New Roman"/>
              </a:rPr>
              <a:t>and its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exists. </a:t>
            </a:r>
            <a:r>
              <a:rPr dirty="0" sz="1100" spc="-5">
                <a:latin typeface="Times New Roman"/>
                <a:cs typeface="Times New Roman"/>
              </a:rPr>
              <a:t>The connection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10">
                <a:latin typeface="Times New Roman"/>
                <a:cs typeface="Times New Roman"/>
              </a:rPr>
              <a:t>quite </a:t>
            </a:r>
            <a:r>
              <a:rPr dirty="0" sz="1100" spc="-5">
                <a:latin typeface="Times New Roman"/>
                <a:cs typeface="Times New Roman"/>
              </a:rPr>
              <a:t> arbitrary. This aspect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relationship between linguistic signs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objects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world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arbitrariness.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‘echo’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objects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activities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less arbitrary </a:t>
            </a:r>
            <a:r>
              <a:rPr dirty="0" sz="1100" spc="-5">
                <a:latin typeface="Times New Roman"/>
                <a:cs typeface="Times New Roman"/>
              </a:rPr>
              <a:t>connection.</a:t>
            </a:r>
            <a:r>
              <a:rPr dirty="0" sz="1100">
                <a:latin typeface="Times New Roman"/>
                <a:cs typeface="Times New Roman"/>
              </a:rPr>
              <a:t> For 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 </a:t>
            </a:r>
            <a:r>
              <a:rPr dirty="0" sz="1100">
                <a:latin typeface="Times New Roman"/>
                <a:cs typeface="Times New Roman"/>
              </a:rPr>
              <a:t> signals, a </a:t>
            </a:r>
            <a:r>
              <a:rPr dirty="0" sz="1100" spc="-5">
                <a:latin typeface="Times New Roman"/>
                <a:cs typeface="Times New Roman"/>
              </a:rPr>
              <a:t>clear connection </a:t>
            </a:r>
            <a:r>
              <a:rPr dirty="0" sz="1100">
                <a:latin typeface="Times New Roman"/>
                <a:cs typeface="Times New Roman"/>
              </a:rPr>
              <a:t>appears </a:t>
            </a:r>
            <a:r>
              <a:rPr dirty="0" sz="1100" spc="-5">
                <a:latin typeface="Times New Roman"/>
                <a:cs typeface="Times New Roman"/>
              </a:rPr>
              <a:t>between the conveyed message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signal </a:t>
            </a:r>
            <a:r>
              <a:rPr dirty="0" sz="1100">
                <a:latin typeface="Times New Roman"/>
                <a:cs typeface="Times New Roman"/>
              </a:rPr>
              <a:t>used to convey it.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non-arbitrariness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animal signaling may </a:t>
            </a:r>
            <a:r>
              <a:rPr dirty="0" sz="1100">
                <a:latin typeface="Times New Roman"/>
                <a:cs typeface="Times New Roman"/>
              </a:rPr>
              <a:t>be closely </a:t>
            </a:r>
            <a:r>
              <a:rPr dirty="0" sz="1100" spc="-5">
                <a:latin typeface="Times New Roman"/>
                <a:cs typeface="Times New Roman"/>
              </a:rPr>
              <a:t>connected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fact </a:t>
            </a:r>
            <a:r>
              <a:rPr dirty="0" sz="1100">
                <a:latin typeface="Times New Roman"/>
                <a:cs typeface="Times New Roman"/>
              </a:rPr>
              <a:t>that,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animal, </a:t>
            </a:r>
            <a:r>
              <a:rPr dirty="0" sz="1100" spc="-5">
                <a:latin typeface="Times New Roman"/>
                <a:cs typeface="Times New Roman"/>
              </a:rPr>
              <a:t>the 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signals used in 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ﬁnite.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is, each variety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animal communication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ﬁxed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gestural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these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(e.g.,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establishing territory)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season).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022:</a:t>
            </a:r>
            <a:r>
              <a:rPr dirty="0" u="heavy" sz="1100" spc="2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Productivity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continually creating </a:t>
            </a:r>
            <a:r>
              <a:rPr dirty="0" sz="1100">
                <a:latin typeface="Times New Roman"/>
                <a:cs typeface="Times New Roman"/>
              </a:rPr>
              <a:t>new expressions </a:t>
            </a:r>
            <a:r>
              <a:rPr dirty="0" sz="1100" spc="-5">
                <a:latin typeface="Times New Roman"/>
                <a:cs typeface="Times New Roman"/>
              </a:rPr>
              <a:t>and novel utterances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objects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situations. </a:t>
            </a:r>
            <a:r>
              <a:rPr dirty="0" sz="1100">
                <a:latin typeface="Times New Roman"/>
                <a:cs typeface="Times New Roman"/>
              </a:rPr>
              <a:t>This property is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productivity </a:t>
            </a:r>
            <a:r>
              <a:rPr dirty="0" sz="1100">
                <a:latin typeface="Times New Roman"/>
                <a:cs typeface="Times New Roman"/>
              </a:rPr>
              <a:t>(or </a:t>
            </a:r>
            <a:r>
              <a:rPr dirty="0" sz="1100" spc="-5">
                <a:latin typeface="Times New Roman"/>
                <a:cs typeface="Times New Roman"/>
              </a:rPr>
              <a:t>‘creativity’ 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‘open-endedness’)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inﬁnite.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10">
                <a:latin typeface="Times New Roman"/>
                <a:cs typeface="Times New Roman"/>
              </a:rPr>
              <a:t>systems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creatures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 like </a:t>
            </a:r>
            <a:r>
              <a:rPr dirty="0" sz="1100">
                <a:latin typeface="Times New Roman"/>
                <a:cs typeface="Times New Roman"/>
              </a:rPr>
              <a:t>that. </a:t>
            </a:r>
            <a:r>
              <a:rPr dirty="0" sz="1100" spc="-5">
                <a:latin typeface="Times New Roman"/>
                <a:cs typeface="Times New Roman"/>
              </a:rPr>
              <a:t>Cicadas have four </a:t>
            </a:r>
            <a:r>
              <a:rPr dirty="0" sz="1100">
                <a:latin typeface="Times New Roman"/>
                <a:cs typeface="Times New Roman"/>
              </a:rPr>
              <a:t> signals to choose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vervet monkeys shave thirty-six vocal calls. </a:t>
            </a:r>
            <a:r>
              <a:rPr dirty="0" sz="1100" spc="-10">
                <a:latin typeface="Times New Roman"/>
                <a:cs typeface="Times New Roman"/>
              </a:rPr>
              <a:t>Nor </a:t>
            </a:r>
            <a:r>
              <a:rPr dirty="0" sz="1100">
                <a:latin typeface="Times New Roman"/>
                <a:cs typeface="Times New Roman"/>
              </a:rPr>
              <a:t>does it seem </a:t>
            </a:r>
            <a:r>
              <a:rPr dirty="0" sz="1100" spc="-5">
                <a:latin typeface="Times New Roman"/>
                <a:cs typeface="Times New Roman"/>
              </a:rPr>
              <a:t>possible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 new signals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novel experiences </a:t>
            </a:r>
            <a:r>
              <a:rPr dirty="0" sz="1100">
                <a:latin typeface="Times New Roman"/>
                <a:cs typeface="Times New Roman"/>
              </a:rPr>
              <a:t>or events. The </a:t>
            </a:r>
            <a:r>
              <a:rPr dirty="0" sz="1100" spc="-5">
                <a:latin typeface="Times New Roman"/>
                <a:cs typeface="Times New Roman"/>
              </a:rPr>
              <a:t>honeybee, normally </a:t>
            </a:r>
            <a:r>
              <a:rPr dirty="0" sz="1100">
                <a:latin typeface="Times New Roman"/>
                <a:cs typeface="Times New Roman"/>
              </a:rPr>
              <a:t> able to </a:t>
            </a:r>
            <a:r>
              <a:rPr dirty="0" sz="1100" spc="-5">
                <a:latin typeface="Times New Roman"/>
                <a:cs typeface="Times New Roman"/>
              </a:rPr>
              <a:t>communicate the location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nectar </a:t>
            </a:r>
            <a:r>
              <a:rPr dirty="0" sz="1100">
                <a:latin typeface="Times New Roman"/>
                <a:cs typeface="Times New Roman"/>
              </a:rPr>
              <a:t>source to </a:t>
            </a:r>
            <a:r>
              <a:rPr dirty="0" sz="1100" spc="-5">
                <a:latin typeface="Times New Roman"/>
                <a:cs typeface="Times New Roman"/>
              </a:rPr>
              <a:t>other bees, will fail </a:t>
            </a:r>
            <a:r>
              <a:rPr dirty="0" sz="1100">
                <a:latin typeface="Times New Roman"/>
                <a:cs typeface="Times New Roman"/>
              </a:rPr>
              <a:t>to do </a:t>
            </a:r>
            <a:r>
              <a:rPr dirty="0" sz="1100" spc="-5">
                <a:latin typeface="Times New Roman"/>
                <a:cs typeface="Times New Roman"/>
              </a:rPr>
              <a:t>so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 location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really </a:t>
            </a:r>
            <a:r>
              <a:rPr dirty="0" sz="1100">
                <a:latin typeface="Times New Roman"/>
                <a:cs typeface="Times New Roman"/>
              </a:rPr>
              <a:t> ‘new.’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one experiment, a </a:t>
            </a:r>
            <a:r>
              <a:rPr dirty="0" sz="1100" spc="-5">
                <a:latin typeface="Times New Roman"/>
                <a:cs typeface="Times New Roman"/>
              </a:rPr>
              <a:t>hive </a:t>
            </a:r>
            <a:r>
              <a:rPr dirty="0" sz="1100">
                <a:latin typeface="Times New Roman"/>
                <a:cs typeface="Times New Roman"/>
              </a:rPr>
              <a:t>of bees </a:t>
            </a:r>
            <a:r>
              <a:rPr dirty="0" sz="1100" spc="-5">
                <a:latin typeface="Times New Roman"/>
                <a:cs typeface="Times New Roman"/>
              </a:rPr>
              <a:t>was placed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foot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radio tower </a:t>
            </a:r>
            <a:r>
              <a:rPr dirty="0" sz="1100">
                <a:latin typeface="Times New Roman"/>
                <a:cs typeface="Times New Roman"/>
              </a:rPr>
              <a:t>and a food source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 placed </a:t>
            </a:r>
            <a:r>
              <a:rPr dirty="0" sz="1100" spc="-5">
                <a:latin typeface="Times New Roman"/>
                <a:cs typeface="Times New Roman"/>
              </a:rPr>
              <a:t>at the top. </a:t>
            </a:r>
            <a:r>
              <a:rPr dirty="0" sz="1100">
                <a:latin typeface="Times New Roman"/>
                <a:cs typeface="Times New Roman"/>
              </a:rPr>
              <a:t>Ten bees were </a:t>
            </a:r>
            <a:r>
              <a:rPr dirty="0" sz="1100" spc="-5">
                <a:latin typeface="Times New Roman"/>
                <a:cs typeface="Times New Roman"/>
              </a:rPr>
              <a:t>taken </a:t>
            </a:r>
            <a:r>
              <a:rPr dirty="0" sz="1100">
                <a:latin typeface="Times New Roman"/>
                <a:cs typeface="Times New Roman"/>
              </a:rPr>
              <a:t>to the top,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a taste of the </a:t>
            </a:r>
            <a:r>
              <a:rPr dirty="0" sz="1100" spc="-5">
                <a:latin typeface="Times New Roman"/>
                <a:cs typeface="Times New Roman"/>
              </a:rPr>
              <a:t>delicious food,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sent off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tell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ﬁnd.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dance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buzzed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ﬂew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around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(It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probably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bees </a:t>
            </a:r>
            <a:r>
              <a:rPr dirty="0" sz="1100" spc="-5">
                <a:latin typeface="Times New Roman"/>
                <a:cs typeface="Times New Roman"/>
              </a:rPr>
              <a:t>really mad.) The problem seems </a:t>
            </a:r>
            <a:r>
              <a:rPr dirty="0" sz="1100">
                <a:latin typeface="Times New Roman"/>
                <a:cs typeface="Times New Roman"/>
              </a:rPr>
              <a:t>to be that </a:t>
            </a:r>
            <a:r>
              <a:rPr dirty="0" sz="1100" spc="-5">
                <a:latin typeface="Times New Roman"/>
                <a:cs typeface="Times New Roman"/>
              </a:rPr>
              <a:t>bee communication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ﬁxed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signals </a:t>
            </a:r>
            <a:r>
              <a:rPr dirty="0" sz="1100" spc="-5">
                <a:latin typeface="Times New Roman"/>
                <a:cs typeface="Times New Roman"/>
              </a:rPr>
              <a:t>for communicating location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horizontal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distance. </a:t>
            </a:r>
            <a:r>
              <a:rPr dirty="0" sz="1100">
                <a:latin typeface="Times New Roman"/>
                <a:cs typeface="Times New Roman"/>
              </a:rPr>
              <a:t>The bee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manipulate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system to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a ‘new’ </a:t>
            </a:r>
            <a:r>
              <a:rPr dirty="0" sz="1100" spc="-5">
                <a:latin typeface="Times New Roman"/>
                <a:cs typeface="Times New Roman"/>
              </a:rPr>
              <a:t>message indicating vertical distance. According </a:t>
            </a:r>
            <a:r>
              <a:rPr dirty="0" sz="1100">
                <a:latin typeface="Times New Roman"/>
                <a:cs typeface="Times New Roman"/>
              </a:rPr>
              <a:t>to Karl </a:t>
            </a:r>
            <a:r>
              <a:rPr dirty="0" sz="1100" spc="-5">
                <a:latin typeface="Times New Roman"/>
                <a:cs typeface="Times New Roman"/>
              </a:rPr>
              <a:t>Von </a:t>
            </a:r>
            <a:r>
              <a:rPr dirty="0" sz="1100">
                <a:latin typeface="Times New Roman"/>
                <a:cs typeface="Times New Roman"/>
              </a:rPr>
              <a:t> Frisch, </a:t>
            </a:r>
            <a:r>
              <a:rPr dirty="0" sz="1100" spc="-5">
                <a:latin typeface="Times New Roman"/>
                <a:cs typeface="Times New Roman"/>
              </a:rPr>
              <a:t>‘the bees have </a:t>
            </a:r>
            <a:r>
              <a:rPr dirty="0" sz="1100">
                <a:latin typeface="Times New Roman"/>
                <a:cs typeface="Times New Roman"/>
              </a:rPr>
              <a:t>no word for up in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language, and they cannot </a:t>
            </a:r>
            <a:r>
              <a:rPr dirty="0" sz="1100" spc="-5">
                <a:latin typeface="Times New Roman"/>
                <a:cs typeface="Times New Roman"/>
              </a:rPr>
              <a:t>invent one.’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limiting feature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animal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fixed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023: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Cultural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Transmission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inherit physical features </a:t>
            </a:r>
            <a:r>
              <a:rPr dirty="0" sz="1100">
                <a:latin typeface="Times New Roman"/>
                <a:cs typeface="Times New Roman"/>
              </a:rPr>
              <a:t>from our parents not </a:t>
            </a:r>
            <a:r>
              <a:rPr dirty="0" sz="1100" spc="-5">
                <a:latin typeface="Times New Roman"/>
                <a:cs typeface="Times New Roman"/>
              </a:rPr>
              <a:t>their language.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learn language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culture 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other speakers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not from parental genes. However, </a:t>
            </a:r>
            <a:r>
              <a:rPr dirty="0" sz="1100">
                <a:latin typeface="Times New Roman"/>
                <a:cs typeface="Times New Roman"/>
              </a:rPr>
              <a:t>animals do </a:t>
            </a:r>
            <a:r>
              <a:rPr dirty="0" sz="1100" spc="-5">
                <a:latin typeface="Times New Roman"/>
                <a:cs typeface="Times New Roman"/>
              </a:rPr>
              <a:t>inherit communication calls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parents. Humans </a:t>
            </a:r>
            <a:r>
              <a:rPr dirty="0" sz="1100">
                <a:latin typeface="Times New Roman"/>
                <a:cs typeface="Times New Roman"/>
              </a:rPr>
              <a:t>are born </a:t>
            </a:r>
            <a:r>
              <a:rPr dirty="0" sz="1100" spc="-5">
                <a:latin typeface="Times New Roman"/>
                <a:cs typeface="Times New Roman"/>
              </a:rPr>
              <a:t>with some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predisposition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acquire language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general sense.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acquire </a:t>
            </a:r>
            <a:r>
              <a:rPr dirty="0" sz="1100" spc="-5">
                <a:latin typeface="Times New Roman"/>
                <a:cs typeface="Times New Roman"/>
              </a:rPr>
              <a:t>their first language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children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culture.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process whereby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passed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one </a:t>
            </a:r>
            <a:r>
              <a:rPr dirty="0" sz="1100" spc="-5">
                <a:latin typeface="Times New Roman"/>
                <a:cs typeface="Times New Roman"/>
              </a:rPr>
              <a:t>generation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next </a:t>
            </a:r>
            <a:r>
              <a:rPr dirty="0" sz="1100" spc="-5">
                <a:latin typeface="Times New Roman"/>
                <a:cs typeface="Times New Roman"/>
              </a:rPr>
              <a:t>is described as cultural transmission. </a:t>
            </a:r>
            <a:r>
              <a:rPr dirty="0" sz="1100" spc="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general pattern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animal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creatures are born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specific signals that are </a:t>
            </a:r>
            <a:r>
              <a:rPr dirty="0" sz="1100">
                <a:latin typeface="Times New Roman"/>
                <a:cs typeface="Times New Roman"/>
              </a:rPr>
              <a:t>produced </a:t>
            </a:r>
            <a:r>
              <a:rPr dirty="0" sz="1100" spc="-5">
                <a:latin typeface="Times New Roman"/>
                <a:cs typeface="Times New Roman"/>
              </a:rPr>
              <a:t>instinctively.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infants, </a:t>
            </a:r>
            <a:r>
              <a:rPr dirty="0" sz="1100" spc="-5">
                <a:latin typeface="Times New Roman"/>
                <a:cs typeface="Times New Roman"/>
              </a:rPr>
              <a:t>growing </a:t>
            </a:r>
            <a:r>
              <a:rPr dirty="0" sz="1100">
                <a:latin typeface="Times New Roman"/>
                <a:cs typeface="Times New Roman"/>
              </a:rPr>
              <a:t>up in </a:t>
            </a:r>
            <a:r>
              <a:rPr dirty="0" sz="1100" spc="-5">
                <a:latin typeface="Times New Roman"/>
                <a:cs typeface="Times New Roman"/>
              </a:rPr>
              <a:t>isolation, produce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‘instinctive’ language. Cultural transmission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crucial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human acquisition </a:t>
            </a:r>
            <a:r>
              <a:rPr dirty="0" sz="1100">
                <a:latin typeface="Times New Roman"/>
                <a:cs typeface="Times New Roman"/>
              </a:rPr>
              <a:t>process. </a:t>
            </a:r>
            <a:r>
              <a:rPr dirty="0" sz="1100" spc="-5">
                <a:latin typeface="Times New Roman"/>
                <a:cs typeface="Times New Roman"/>
              </a:rPr>
              <a:t>Without </a:t>
            </a:r>
            <a:r>
              <a:rPr dirty="0" sz="1100">
                <a:latin typeface="Times New Roman"/>
                <a:cs typeface="Times New Roman"/>
              </a:rPr>
              <a:t>any exposure to </a:t>
            </a:r>
            <a:r>
              <a:rPr dirty="0" sz="1100" spc="-5">
                <a:latin typeface="Times New Roman"/>
                <a:cs typeface="Times New Roman"/>
              </a:rPr>
              <a:t>language, human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produce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experiments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proved </a:t>
            </a:r>
            <a:r>
              <a:rPr dirty="0" sz="1100" spc="-5">
                <a:latin typeface="Times New Roman"/>
                <a:cs typeface="Times New Roman"/>
              </a:rPr>
              <a:t>this reality.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024: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Duality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property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duality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‘double articulation’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unique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humans. At physical </a:t>
            </a:r>
            <a:r>
              <a:rPr dirty="0" sz="1100">
                <a:latin typeface="Times New Roman"/>
                <a:cs typeface="Times New Roman"/>
              </a:rPr>
              <a:t>level, </a:t>
            </a:r>
            <a:r>
              <a:rPr dirty="0" sz="1100" spc="-5">
                <a:latin typeface="Times New Roman"/>
                <a:cs typeface="Times New Roman"/>
              </a:rPr>
              <a:t>we can </a:t>
            </a:r>
            <a:r>
              <a:rPr dirty="0" sz="1100">
                <a:latin typeface="Times New Roman"/>
                <a:cs typeface="Times New Roman"/>
              </a:rPr>
              <a:t> produce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sounds,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n, b, i as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sounds; </a:t>
            </a:r>
            <a:r>
              <a:rPr dirty="0" sz="1100" spc="-5">
                <a:latin typeface="Times New Roman"/>
                <a:cs typeface="Times New Roman"/>
              </a:rPr>
              <a:t>none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discrete forms </a:t>
            </a:r>
            <a:r>
              <a:rPr dirty="0" sz="1100">
                <a:latin typeface="Times New Roman"/>
                <a:cs typeface="Times New Roman"/>
              </a:rPr>
              <a:t>has any </a:t>
            </a:r>
            <a:r>
              <a:rPr dirty="0" sz="1100" spc="-5">
                <a:latin typeface="Times New Roman"/>
                <a:cs typeface="Times New Roman"/>
              </a:rPr>
              <a:t>intrinsic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 However, when </a:t>
            </a:r>
            <a:r>
              <a:rPr dirty="0" sz="1100">
                <a:latin typeface="Times New Roman"/>
                <a:cs typeface="Times New Roman"/>
              </a:rPr>
              <a:t>we arrange </a:t>
            </a:r>
            <a:r>
              <a:rPr dirty="0" sz="1100" spc="-5">
                <a:latin typeface="Times New Roman"/>
                <a:cs typeface="Times New Roman"/>
              </a:rPr>
              <a:t>them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certain </a:t>
            </a:r>
            <a:r>
              <a:rPr dirty="0" sz="1100">
                <a:latin typeface="Times New Roman"/>
                <a:cs typeface="Times New Roman"/>
              </a:rPr>
              <a:t>order </a:t>
            </a:r>
            <a:r>
              <a:rPr dirty="0" sz="1100" spc="-5">
                <a:latin typeface="Times New Roman"/>
                <a:cs typeface="Times New Roman"/>
              </a:rPr>
              <a:t>we get </a:t>
            </a:r>
            <a:r>
              <a:rPr dirty="0" sz="1100">
                <a:latin typeface="Times New Roman"/>
                <a:cs typeface="Times New Roman"/>
              </a:rPr>
              <a:t>a level </a:t>
            </a:r>
            <a:r>
              <a:rPr dirty="0" sz="1100" spc="-5">
                <a:latin typeface="Times New Roman"/>
                <a:cs typeface="Times New Roman"/>
              </a:rPr>
              <a:t>at which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have meaning </a:t>
            </a:r>
            <a:r>
              <a:rPr dirty="0" sz="1100">
                <a:latin typeface="Times New Roman"/>
                <a:cs typeface="Times New Roman"/>
              </a:rPr>
              <a:t>too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‘nib’.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level,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sounds, and,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level,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7095" cy="1134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meanings.</a:t>
            </a:r>
            <a:r>
              <a:rPr dirty="0" sz="1100">
                <a:latin typeface="Times New Roman"/>
                <a:cs typeface="Times New Roman"/>
              </a:rPr>
              <a:t> Duality of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 animals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fixed </a:t>
            </a:r>
            <a:r>
              <a:rPr dirty="0" sz="1100">
                <a:latin typeface="Times New Roman"/>
                <a:cs typeface="Times New Roman"/>
              </a:rPr>
              <a:t>form for </a:t>
            </a:r>
            <a:r>
              <a:rPr dirty="0" sz="1100" spc="-5">
                <a:latin typeface="Times New Roman"/>
                <a:cs typeface="Times New Roman"/>
              </a:rPr>
              <a:t>each communicative signal among </a:t>
            </a:r>
            <a:r>
              <a:rPr dirty="0" sz="1100">
                <a:latin typeface="Times New Roman"/>
                <a:cs typeface="Times New Roman"/>
              </a:rPr>
              <a:t>them. </a:t>
            </a:r>
            <a:r>
              <a:rPr dirty="0" sz="1100" spc="-5">
                <a:latin typeface="Times New Roman"/>
                <a:cs typeface="Times New Roman"/>
              </a:rPr>
              <a:t>Although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dog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 to </a:t>
            </a:r>
            <a:r>
              <a:rPr dirty="0" sz="1100" spc="-5">
                <a:latin typeface="Times New Roman"/>
                <a:cs typeface="Times New Roman"/>
              </a:rPr>
              <a:t>produce woof </a:t>
            </a:r>
            <a:r>
              <a:rPr dirty="0" sz="1100">
                <a:latin typeface="Times New Roman"/>
                <a:cs typeface="Times New Roman"/>
              </a:rPr>
              <a:t>(‘I’m happy to </a:t>
            </a:r>
            <a:r>
              <a:rPr dirty="0" sz="1100" spc="-5">
                <a:latin typeface="Times New Roman"/>
                <a:cs typeface="Times New Roman"/>
              </a:rPr>
              <a:t>see you’), it does </a:t>
            </a:r>
            <a:r>
              <a:rPr dirty="0" sz="1100">
                <a:latin typeface="Times New Roman"/>
                <a:cs typeface="Times New Roman"/>
              </a:rPr>
              <a:t>not seem to do </a:t>
            </a:r>
            <a:r>
              <a:rPr dirty="0" sz="1100" spc="-5">
                <a:latin typeface="Times New Roman"/>
                <a:cs typeface="Times New Roman"/>
              </a:rPr>
              <a:t>so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basis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distinct level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production combining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separate elements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w + oo + f.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dog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operating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double level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(i.e., duality), </a:t>
            </a:r>
            <a:r>
              <a:rPr dirty="0" sz="1100">
                <a:latin typeface="Times New Roman"/>
                <a:cs typeface="Times New Roman"/>
              </a:rPr>
              <a:t>then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expect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hear different combinations with different meanings,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oowf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(‘I’m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hungry’)</a:t>
            </a:r>
            <a:r>
              <a:rPr dirty="0" sz="1100">
                <a:latin typeface="Times New Roman"/>
                <a:cs typeface="Times New Roman"/>
              </a:rPr>
              <a:t> and foow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(‘I’m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bored’).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75215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Lesson-05</a:t>
            </a:r>
            <a:endParaRPr sz="1400">
              <a:latin typeface="Times New Roman"/>
              <a:cs typeface="Times New Roman"/>
            </a:endParaRPr>
          </a:p>
          <a:p>
            <a:pPr marL="2007870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FUNCTIONS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Functions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(Verbal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convey </a:t>
            </a:r>
            <a:r>
              <a:rPr dirty="0" sz="1100" spc="-5">
                <a:latin typeface="Times New Roman"/>
                <a:cs typeface="Times New Roman"/>
              </a:rPr>
              <a:t>meaning, some </a:t>
            </a:r>
            <a:r>
              <a:rPr dirty="0" sz="1100">
                <a:latin typeface="Times New Roman"/>
                <a:cs typeface="Times New Roman"/>
              </a:rPr>
              <a:t>convey emotions, and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actually produce </a:t>
            </a:r>
            <a:r>
              <a:rPr dirty="0" sz="1100" spc="-5">
                <a:latin typeface="Times New Roman"/>
                <a:cs typeface="Times New Roman"/>
              </a:rPr>
              <a:t>actions. </a:t>
            </a:r>
            <a:r>
              <a:rPr dirty="0" sz="1100">
                <a:latin typeface="Times New Roman"/>
                <a:cs typeface="Times New Roman"/>
              </a:rPr>
              <a:t> What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our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daily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communication?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convey?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categorized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Verbal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Written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Nonverbal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verbal communication?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Verbal Communication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sharing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individuals </a:t>
            </a:r>
            <a:r>
              <a:rPr dirty="0" sz="1100">
                <a:latin typeface="Times New Roman"/>
                <a:cs typeface="Times New Roman"/>
              </a:rPr>
              <a:t>by using speech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fun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limitless,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 </a:t>
            </a:r>
            <a:r>
              <a:rPr dirty="0" sz="1100">
                <a:latin typeface="Times New Roman"/>
                <a:cs typeface="Times New Roman"/>
              </a:rPr>
              <a:t> nonsensical,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nature.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express,</a:t>
            </a:r>
            <a:r>
              <a:rPr dirty="0" sz="1100" spc="-5">
                <a:latin typeface="Times New Roman"/>
                <a:cs typeface="Times New Roman"/>
              </a:rPr>
              <a:t> especially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 gestures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mannerisms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(non-verbal </a:t>
            </a:r>
            <a:r>
              <a:rPr dirty="0" sz="1100" spc="-5">
                <a:latin typeface="Times New Roman"/>
                <a:cs typeface="Times New Roman"/>
              </a:rPr>
              <a:t>communication).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endless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fun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limitless,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 </a:t>
            </a:r>
            <a:r>
              <a:rPr dirty="0" sz="1100">
                <a:latin typeface="Times New Roman"/>
                <a:cs typeface="Times New Roman"/>
              </a:rPr>
              <a:t> nonsensical, and </a:t>
            </a:r>
            <a:r>
              <a:rPr dirty="0" sz="1100" spc="-5">
                <a:latin typeface="Times New Roman"/>
                <a:cs typeface="Times New Roman"/>
              </a:rPr>
              <a:t>always </a:t>
            </a:r>
            <a:r>
              <a:rPr dirty="0" sz="1100">
                <a:latin typeface="Times New Roman"/>
                <a:cs typeface="Times New Roman"/>
              </a:rPr>
              <a:t>changing nature.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section, five functions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have been discussed,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expressive,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powerful,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dynamic,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relational.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026: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Verbal communication helps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meet various needs through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express ourselves.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 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instrumental needs, we use verbal communication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ask questions that provide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with 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</a:t>
            </a:r>
            <a:r>
              <a:rPr dirty="0" sz="1100">
                <a:latin typeface="Times New Roman"/>
                <a:cs typeface="Times New Roman"/>
              </a:rPr>
              <a:t> 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things,</a:t>
            </a:r>
            <a:r>
              <a:rPr dirty="0" sz="1100">
                <a:latin typeface="Times New Roman"/>
                <a:cs typeface="Times New Roman"/>
              </a:rPr>
              <a:t> people,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helps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inform, </a:t>
            </a:r>
            <a:r>
              <a:rPr dirty="0" sz="1100">
                <a:latin typeface="Times New Roman"/>
                <a:cs typeface="Times New Roman"/>
              </a:rPr>
              <a:t>persuade, </a:t>
            </a:r>
            <a:r>
              <a:rPr dirty="0" sz="1100" spc="-5">
                <a:latin typeface="Times New Roman"/>
                <a:cs typeface="Times New Roman"/>
              </a:rPr>
              <a:t>and entertain others.</a:t>
            </a:r>
            <a:r>
              <a:rPr dirty="0" sz="1100">
                <a:latin typeface="Times New Roman"/>
                <a:cs typeface="Times New Roman"/>
              </a:rPr>
              <a:t> These </a:t>
            </a:r>
            <a:r>
              <a:rPr dirty="0" sz="1100" spc="-5">
                <a:latin typeface="Times New Roman"/>
                <a:cs typeface="Times New Roman"/>
              </a:rPr>
              <a:t>are the three general purposes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public </a:t>
            </a:r>
            <a:r>
              <a:rPr dirty="0" sz="1100" spc="-5">
                <a:latin typeface="Times New Roman"/>
                <a:cs typeface="Times New Roman"/>
              </a:rPr>
              <a:t>speaking.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through our verbal expressions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our personal relationships </a:t>
            </a:r>
            <a:r>
              <a:rPr dirty="0" sz="1100">
                <a:latin typeface="Times New Roman"/>
                <a:cs typeface="Times New Roman"/>
              </a:rPr>
              <a:t>are formed. </a:t>
            </a:r>
            <a:r>
              <a:rPr dirty="0" sz="1100" spc="-5">
                <a:latin typeface="Times New Roman"/>
                <a:cs typeface="Times New Roman"/>
              </a:rPr>
              <a:t>At its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essence,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Expressing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Observations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express </a:t>
            </a:r>
            <a:r>
              <a:rPr dirty="0" sz="1100" spc="-5">
                <a:latin typeface="Times New Roman"/>
                <a:cs typeface="Times New Roman"/>
              </a:rPr>
              <a:t>observations, we report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sensory information we are taking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have taken </a:t>
            </a:r>
            <a:r>
              <a:rPr dirty="0" sz="1100">
                <a:latin typeface="Times New Roman"/>
                <a:cs typeface="Times New Roman"/>
              </a:rPr>
              <a:t> in.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Eyewitness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testimony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observations.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Witnesses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not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supposed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judgments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conclusions;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factual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 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witness </a:t>
            </a:r>
            <a:r>
              <a:rPr dirty="0" sz="1100">
                <a:latin typeface="Times New Roman"/>
                <a:cs typeface="Times New Roman"/>
              </a:rPr>
              <a:t>could </a:t>
            </a:r>
            <a:r>
              <a:rPr dirty="0" sz="1100" spc="-5">
                <a:latin typeface="Times New Roman"/>
                <a:cs typeface="Times New Roman"/>
              </a:rPr>
              <a:t>say, </a:t>
            </a:r>
            <a:r>
              <a:rPr dirty="0" sz="1100">
                <a:latin typeface="Times New Roman"/>
                <a:cs typeface="Times New Roman"/>
              </a:rPr>
              <a:t>‘I saw a </a:t>
            </a:r>
            <a:r>
              <a:rPr dirty="0" sz="1100" spc="-5">
                <a:latin typeface="Times New Roman"/>
                <a:cs typeface="Times New Roman"/>
              </a:rPr>
              <a:t>white Mitsubishi Eclipse leaving my </a:t>
            </a:r>
            <a:r>
              <a:rPr dirty="0" sz="1100">
                <a:latin typeface="Times New Roman"/>
                <a:cs typeface="Times New Roman"/>
              </a:rPr>
              <a:t>neighbour’s </a:t>
            </a:r>
            <a:r>
              <a:rPr dirty="0" sz="1100" spc="-5">
                <a:latin typeface="Times New Roman"/>
                <a:cs typeface="Times New Roman"/>
              </a:rPr>
              <a:t>house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10:30 </a:t>
            </a:r>
            <a:r>
              <a:rPr dirty="0" sz="1100" spc="-5">
                <a:latin typeface="Times New Roman"/>
                <a:cs typeface="Times New Roman"/>
              </a:rPr>
              <a:t>pm.’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you are trying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experience, expressing observations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descriptive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defensiveness,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facilitates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610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Expressing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Thoughts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we express thoughts, we </a:t>
            </a:r>
            <a:r>
              <a:rPr dirty="0" sz="1100">
                <a:latin typeface="Times New Roman"/>
                <a:cs typeface="Times New Roman"/>
              </a:rPr>
              <a:t>draw </a:t>
            </a:r>
            <a:r>
              <a:rPr dirty="0" sz="1100" spc="-5">
                <a:latin typeface="Times New Roman"/>
                <a:cs typeface="Times New Roman"/>
              </a:rPr>
              <a:t>conclusions based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what we have </a:t>
            </a:r>
            <a:r>
              <a:rPr dirty="0" sz="1100">
                <a:latin typeface="Times New Roman"/>
                <a:cs typeface="Times New Roman"/>
              </a:rPr>
              <a:t>experienced.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step.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interpret them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assign </a:t>
            </a:r>
            <a:r>
              <a:rPr dirty="0" sz="1100">
                <a:latin typeface="Times New Roman"/>
                <a:cs typeface="Times New Roman"/>
              </a:rPr>
              <a:t>them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or a conclusion. </a:t>
            </a:r>
            <a:r>
              <a:rPr dirty="0" sz="1100" spc="5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our observations are based </a:t>
            </a:r>
            <a:r>
              <a:rPr dirty="0" sz="1100">
                <a:latin typeface="Times New Roman"/>
                <a:cs typeface="Times New Roman"/>
              </a:rPr>
              <a:t>on sensory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(what we saw, what we read, what we heard), thoughts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connected </a:t>
            </a:r>
            <a:r>
              <a:rPr dirty="0" sz="1100">
                <a:latin typeface="Times New Roman"/>
                <a:cs typeface="Times New Roman"/>
              </a:rPr>
              <a:t>to our </a:t>
            </a:r>
            <a:r>
              <a:rPr dirty="0" sz="1100" spc="-5">
                <a:latin typeface="Times New Roman"/>
                <a:cs typeface="Times New Roman"/>
              </a:rPr>
              <a:t>beliefs (what we </a:t>
            </a:r>
            <a:r>
              <a:rPr dirty="0" sz="1100">
                <a:latin typeface="Times New Roman"/>
                <a:cs typeface="Times New Roman"/>
              </a:rPr>
              <a:t> think </a:t>
            </a:r>
            <a:r>
              <a:rPr dirty="0" sz="1100" spc="-5">
                <a:latin typeface="Times New Roman"/>
                <a:cs typeface="Times New Roman"/>
              </a:rPr>
              <a:t>is true/false), attitudes (what we like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dislike),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values (what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think </a:t>
            </a:r>
            <a:r>
              <a:rPr dirty="0" sz="1100" spc="-5">
                <a:latin typeface="Times New Roman"/>
                <a:cs typeface="Times New Roman"/>
              </a:rPr>
              <a:t>is right/wrong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good/bad). </a:t>
            </a:r>
            <a:r>
              <a:rPr dirty="0" sz="1100" spc="-5">
                <a:latin typeface="Times New Roman"/>
                <a:cs typeface="Times New Roman"/>
              </a:rPr>
              <a:t>Sometimes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intentionally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unintentionally </a:t>
            </a:r>
            <a:r>
              <a:rPr dirty="0" sz="1100">
                <a:latin typeface="Times New Roman"/>
                <a:cs typeface="Times New Roman"/>
              </a:rPr>
              <a:t>express </a:t>
            </a:r>
            <a:r>
              <a:rPr dirty="0" sz="1100" spc="-5">
                <a:latin typeface="Times New Roman"/>
                <a:cs typeface="Times New Roman"/>
              </a:rPr>
              <a:t>thoughts as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feelings. 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example, when people say, </a:t>
            </a:r>
            <a:r>
              <a:rPr dirty="0" sz="1100">
                <a:latin typeface="Times New Roman"/>
                <a:cs typeface="Times New Roman"/>
              </a:rPr>
              <a:t>‘I feel </a:t>
            </a:r>
            <a:r>
              <a:rPr dirty="0" sz="1100" spc="-5">
                <a:latin typeface="Times New Roman"/>
                <a:cs typeface="Times New Roman"/>
              </a:rPr>
              <a:t>like you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too strict with your attendance policy,’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feeling;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expressing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judgment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Expressing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Feelings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emotions.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verbal communication,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there are many social norms about how, why, when, </a:t>
            </a:r>
            <a:r>
              <a:rPr dirty="0" sz="1100">
                <a:latin typeface="Times New Roman"/>
                <a:cs typeface="Times New Roman"/>
              </a:rPr>
              <a:t>where, and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express </a:t>
            </a:r>
            <a:r>
              <a:rPr dirty="0" sz="1100" spc="-5">
                <a:latin typeface="Times New Roman"/>
                <a:cs typeface="Times New Roman"/>
              </a:rPr>
              <a:t>our emotions. Norms for emotional </a:t>
            </a:r>
            <a:r>
              <a:rPr dirty="0" sz="1100">
                <a:latin typeface="Times New Roman"/>
                <a:cs typeface="Times New Roman"/>
              </a:rPr>
              <a:t>expression also </a:t>
            </a:r>
            <a:r>
              <a:rPr dirty="0" sz="1100" spc="-5">
                <a:latin typeface="Times New Roman"/>
                <a:cs typeface="Times New Roman"/>
              </a:rPr>
              <a:t>vary </a:t>
            </a:r>
            <a:r>
              <a:rPr dirty="0" sz="1100" spc="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nationality and 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 identities and characteristics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age and gender.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age, young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are typically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express positive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negative emotions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public. Gendered elements intersect with age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boys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 </a:t>
            </a:r>
            <a:r>
              <a:rPr dirty="0" sz="1100">
                <a:latin typeface="Times New Roman"/>
                <a:cs typeface="Times New Roman"/>
              </a:rPr>
              <a:t>older and are </a:t>
            </a:r>
            <a:r>
              <a:rPr dirty="0" sz="1100" spc="-5">
                <a:latin typeface="Times New Roman"/>
                <a:cs typeface="Times New Roman"/>
              </a:rPr>
              <a:t>socialized </a:t>
            </a:r>
            <a:r>
              <a:rPr dirty="0" sz="1100">
                <a:latin typeface="Times New Roman"/>
                <a:cs typeface="Times New Roman"/>
              </a:rPr>
              <a:t>into a </a:t>
            </a:r>
            <a:r>
              <a:rPr dirty="0" sz="1100" spc="-5">
                <a:latin typeface="Times New Roman"/>
                <a:cs typeface="Times New Roman"/>
              </a:rPr>
              <a:t>norm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emotional restraint. Although individual men vary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 to </a:t>
            </a:r>
            <a:r>
              <a:rPr dirty="0" sz="1100" spc="-5">
                <a:latin typeface="Times New Roman"/>
                <a:cs typeface="Times New Roman"/>
              </a:rPr>
              <a:t>which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emotionally </a:t>
            </a:r>
            <a:r>
              <a:rPr dirty="0" sz="1100">
                <a:latin typeface="Times New Roman"/>
                <a:cs typeface="Times New Roman"/>
              </a:rPr>
              <a:t>expressive, </a:t>
            </a:r>
            <a:r>
              <a:rPr dirty="0" sz="1100" spc="-5">
                <a:latin typeface="Times New Roman"/>
                <a:cs typeface="Times New Roman"/>
              </a:rPr>
              <a:t>yet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prevailing social norm </a:t>
            </a:r>
            <a:r>
              <a:rPr dirty="0" sz="1100">
                <a:latin typeface="Times New Roman"/>
                <a:cs typeface="Times New Roman"/>
              </a:rPr>
              <a:t>expects </a:t>
            </a:r>
            <a:r>
              <a:rPr dirty="0" sz="1100" spc="-5">
                <a:latin typeface="Times New Roman"/>
                <a:cs typeface="Times New Roman"/>
              </a:rPr>
              <a:t>women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expressive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5">
                <a:latin typeface="Times New Roman"/>
                <a:cs typeface="Times New Roman"/>
              </a:rPr>
              <a:t>men.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1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>
                <a:latin typeface="Times New Roman"/>
                <a:cs typeface="Times New Roman"/>
              </a:rPr>
              <a:t> 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emotions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specific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when we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verbally communicating </a:t>
            </a:r>
            <a:r>
              <a:rPr dirty="0" sz="1100">
                <a:latin typeface="Times New Roman"/>
                <a:cs typeface="Times New Roman"/>
              </a:rPr>
              <a:t>our emotions, </a:t>
            </a:r>
            <a:r>
              <a:rPr dirty="0" sz="1100" spc="-5">
                <a:latin typeface="Times New Roman"/>
                <a:cs typeface="Times New Roman"/>
              </a:rPr>
              <a:t>the less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</a:t>
            </a:r>
            <a:r>
              <a:rPr dirty="0" sz="1100">
                <a:latin typeface="Times New Roman"/>
                <a:cs typeface="Times New Roman"/>
              </a:rPr>
              <a:t> 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decoding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Expressing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Needs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instrumental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things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done. </a:t>
            </a:r>
            <a:r>
              <a:rPr dirty="0" sz="1100" spc="-5">
                <a:latin typeface="Times New Roman"/>
                <a:cs typeface="Times New Roman"/>
              </a:rPr>
              <a:t>Since we almost always know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needs more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others </a:t>
            </a:r>
            <a:r>
              <a:rPr dirty="0" sz="1100">
                <a:latin typeface="Times New Roman"/>
                <a:cs typeface="Times New Roman"/>
              </a:rPr>
              <a:t>do,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important for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able to </a:t>
            </a:r>
            <a:r>
              <a:rPr dirty="0" sz="1100">
                <a:latin typeface="Times New Roman"/>
                <a:cs typeface="Times New Roman"/>
              </a:rPr>
              <a:t> convey those </a:t>
            </a:r>
            <a:r>
              <a:rPr dirty="0" sz="1100" spc="-5">
                <a:latin typeface="Times New Roman"/>
                <a:cs typeface="Times New Roman"/>
              </a:rPr>
              <a:t>needs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others. Expressing needs can help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project done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help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navigate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changes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long-term romantic partnership.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express </a:t>
            </a:r>
            <a:r>
              <a:rPr dirty="0" sz="1100">
                <a:latin typeface="Times New Roman"/>
                <a:cs typeface="Times New Roman"/>
              </a:rPr>
              <a:t>our needs,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lead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feelings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abandonment,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frustration,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resentment.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34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7704" y="7197243"/>
          <a:ext cx="6014720" cy="1818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269"/>
                <a:gridCol w="2081530"/>
                <a:gridCol w="2915285"/>
              </a:tblGrid>
              <a:tr h="170789">
                <a:tc>
                  <a:txBody>
                    <a:bodyPr/>
                    <a:lstStyle/>
                    <a:p>
                      <a:pPr marL="127000">
                        <a:lnSpc>
                          <a:spcPts val="120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Type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120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0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976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Observation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sensory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experiences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memories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‘Boss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asked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you.’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/>
                </a:tc>
              </a:tr>
              <a:tr h="461772">
                <a:tc>
                  <a:txBody>
                    <a:bodyPr/>
                    <a:lstStyle/>
                    <a:p>
                      <a:pPr marL="127000">
                        <a:lnSpc>
                          <a:spcPts val="13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Thought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13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Conclusion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judgment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experiences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observations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3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‘Students</a:t>
                      </a:r>
                      <a:r>
                        <a:rPr dirty="0" sz="1100" spc="3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today</a:t>
                      </a:r>
                      <a:r>
                        <a:rPr dirty="0" sz="1100" spc="3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4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dirty="0" sz="1100" spc="3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dirty="0" sz="1100" spc="3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respect</a:t>
                      </a:r>
                      <a:r>
                        <a:rPr dirty="0" sz="1100" spc="3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authority.’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736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Feeling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emotions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‘I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feel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peace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 we’re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together.’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/>
                </a:tc>
              </a:tr>
              <a:tr h="538593">
                <a:tc>
                  <a:txBody>
                    <a:bodyPr/>
                    <a:lstStyle/>
                    <a:p>
                      <a:pPr marL="127000">
                        <a:lnSpc>
                          <a:spcPts val="13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Needs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13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Expressing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needs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3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‘I’m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saving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money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summer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vacation.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119380">
                        <a:lnSpc>
                          <a:spcPct val="11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skip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Weekend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week?’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7666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Powerful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contemporary American philosopher David Abram </a:t>
            </a:r>
            <a:r>
              <a:rPr dirty="0" sz="1100">
                <a:latin typeface="Times New Roman"/>
                <a:cs typeface="Times New Roman"/>
              </a:rPr>
              <a:t>wrote, </a:t>
            </a:r>
            <a:r>
              <a:rPr dirty="0" sz="1100" spc="-5">
                <a:latin typeface="Times New Roman"/>
                <a:cs typeface="Times New Roman"/>
              </a:rPr>
              <a:t>‘Only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felt, </a:t>
            </a:r>
            <a:r>
              <a:rPr dirty="0" sz="1100">
                <a:latin typeface="Times New Roman"/>
                <a:cs typeface="Times New Roman"/>
              </a:rPr>
              <a:t>bodily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presences, like </a:t>
            </a:r>
            <a:r>
              <a:rPr dirty="0" sz="1100">
                <a:latin typeface="Times New Roman"/>
                <a:cs typeface="Times New Roman"/>
              </a:rPr>
              <a:t>echoes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waterfalls,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we understand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power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spoken 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influence, alter,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perceptual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encapsulates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5" b="1">
                <a:latin typeface="Times New Roman"/>
                <a:cs typeface="Times New Roman"/>
              </a:rPr>
              <a:t> Expresses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Our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Identities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Words or </a:t>
            </a:r>
            <a:r>
              <a:rPr dirty="0" sz="1100" spc="-5">
                <a:latin typeface="Times New Roman"/>
                <a:cs typeface="Times New Roman"/>
              </a:rPr>
              <a:t>phrases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express ‘who we </a:t>
            </a:r>
            <a:r>
              <a:rPr dirty="0" sz="1100">
                <a:latin typeface="Times New Roman"/>
                <a:cs typeface="Times New Roman"/>
              </a:rPr>
              <a:t>are’ </a:t>
            </a:r>
            <a:r>
              <a:rPr dirty="0" sz="1100" spc="-5">
                <a:latin typeface="Times New Roman"/>
                <a:cs typeface="Times New Roman"/>
              </a:rPr>
              <a:t>contribute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impressions that others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of us.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verbal communication strategically </a:t>
            </a:r>
            <a:r>
              <a:rPr dirty="0" sz="1100">
                <a:latin typeface="Times New Roman"/>
                <a:cs typeface="Times New Roman"/>
              </a:rPr>
              <a:t>to create a </a:t>
            </a:r>
            <a:r>
              <a:rPr dirty="0" sz="1100" spc="-5">
                <a:latin typeface="Times New Roman"/>
                <a:cs typeface="Times New Roman"/>
              </a:rPr>
              <a:t>desired impression. The power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 </a:t>
            </a:r>
            <a:r>
              <a:rPr dirty="0" sz="1100" spc="-5">
                <a:latin typeface="Times New Roman"/>
                <a:cs typeface="Times New Roman"/>
              </a:rPr>
              <a:t>our identities varies </a:t>
            </a:r>
            <a:r>
              <a:rPr dirty="0" sz="1100">
                <a:latin typeface="Times New Roman"/>
                <a:cs typeface="Times New Roman"/>
              </a:rPr>
              <a:t>depending on the </a:t>
            </a:r>
            <a:r>
              <a:rPr dirty="0" sz="1100" spc="-5">
                <a:latin typeface="Times New Roman"/>
                <a:cs typeface="Times New Roman"/>
              </a:rPr>
              <a:t>origin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label </a:t>
            </a:r>
            <a:r>
              <a:rPr dirty="0" sz="1100">
                <a:latin typeface="Times New Roman"/>
                <a:cs typeface="Times New Roman"/>
              </a:rPr>
              <a:t>(self-chosen or </a:t>
            </a:r>
            <a:r>
              <a:rPr dirty="0" sz="1100" spc="-5">
                <a:latin typeface="Times New Roman"/>
                <a:cs typeface="Times New Roman"/>
              </a:rPr>
              <a:t>other imposed)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context.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comfortable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have issues </a:t>
            </a:r>
            <a:r>
              <a:rPr dirty="0" sz="1100" spc="-5">
                <a:latin typeface="Times New Roman"/>
                <a:cs typeface="Times New Roman"/>
              </a:rPr>
              <a:t>with the </a:t>
            </a:r>
            <a:r>
              <a:rPr dirty="0" sz="1100">
                <a:latin typeface="Times New Roman"/>
                <a:cs typeface="Times New Roman"/>
              </a:rPr>
              <a:t>labels </a:t>
            </a:r>
            <a:r>
              <a:rPr dirty="0" sz="1100" spc="-5">
                <a:latin typeface="Times New Roman"/>
                <a:cs typeface="Times New Roman"/>
              </a:rPr>
              <a:t>others </a:t>
            </a:r>
            <a:r>
              <a:rPr dirty="0" sz="1100">
                <a:latin typeface="Times New Roman"/>
                <a:cs typeface="Times New Roman"/>
              </a:rPr>
              <a:t>place on </a:t>
            </a:r>
            <a:r>
              <a:rPr dirty="0" sz="1100" spc="-5">
                <a:latin typeface="Times New Roman"/>
                <a:cs typeface="Times New Roman"/>
              </a:rPr>
              <a:t>them.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many </a:t>
            </a:r>
            <a:r>
              <a:rPr dirty="0" sz="1100">
                <a:latin typeface="Times New Roman"/>
                <a:cs typeface="Times New Roman"/>
              </a:rPr>
              <a:t>examples of people who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taken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label that was imposed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them, </a:t>
            </a:r>
            <a:r>
              <a:rPr dirty="0" sz="1100">
                <a:latin typeface="Times New Roman"/>
                <a:cs typeface="Times New Roman"/>
              </a:rPr>
              <a:t>one that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negative connotations, and intentionally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counter previous meanings. Other examples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people reclaiming identity labels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‘black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beautiful’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1960s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repositioned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embrace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reclaimed</a:t>
            </a:r>
            <a:r>
              <a:rPr dirty="0" sz="1100">
                <a:latin typeface="Times New Roman"/>
                <a:cs typeface="Times New Roman"/>
              </a:rPr>
              <a:t> words,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connotations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Affects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Our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Credibility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3854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assumptions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your credibility </a:t>
            </a:r>
            <a:r>
              <a:rPr dirty="0" sz="1100">
                <a:latin typeface="Times New Roman"/>
                <a:cs typeface="Times New Roman"/>
              </a:rPr>
              <a:t>based on how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speak and </a:t>
            </a:r>
            <a:r>
              <a:rPr dirty="0" sz="1100" spc="-5">
                <a:latin typeface="Times New Roman"/>
                <a:cs typeface="Times New Roman"/>
              </a:rPr>
              <a:t>what you say. Even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 like </a:t>
            </a:r>
            <a:r>
              <a:rPr dirty="0" sz="1100">
                <a:latin typeface="Times New Roman"/>
                <a:cs typeface="Times New Roman"/>
              </a:rPr>
              <a:t>rules of </a:t>
            </a:r>
            <a:r>
              <a:rPr dirty="0" sz="1100" spc="-5">
                <a:latin typeface="Times New Roman"/>
                <a:cs typeface="Times New Roman"/>
              </a:rPr>
              <a:t>grammar,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arbitrary;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norms </a:t>
            </a:r>
            <a:r>
              <a:rPr dirty="0" sz="1100">
                <a:latin typeface="Times New Roman"/>
                <a:cs typeface="Times New Roman"/>
              </a:rPr>
              <a:t>still </a:t>
            </a:r>
            <a:r>
              <a:rPr dirty="0" sz="1100" spc="-5">
                <a:latin typeface="Times New Roman"/>
                <a:cs typeface="Times New Roman"/>
              </a:rPr>
              <a:t>mean something. You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 to be a </a:t>
            </a:r>
            <a:r>
              <a:rPr dirty="0" sz="1100" spc="-5">
                <a:latin typeface="Times New Roman"/>
                <a:cs typeface="Times New Roman"/>
              </a:rPr>
              <a:t>perfect grammarian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perceived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credible. However, you </a:t>
            </a:r>
            <a:r>
              <a:rPr dirty="0" sz="1100">
                <a:latin typeface="Times New Roman"/>
                <a:cs typeface="Times New Roman"/>
              </a:rPr>
              <a:t>still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to support </a:t>
            </a:r>
            <a:r>
              <a:rPr dirty="0" sz="1100" spc="-5">
                <a:latin typeface="Times New Roman"/>
                <a:cs typeface="Times New Roman"/>
              </a:rPr>
              <a:t>your ideas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explain the </a:t>
            </a:r>
            <a:r>
              <a:rPr dirty="0" sz="1100" spc="-5">
                <a:latin typeface="Times New Roman"/>
                <a:cs typeface="Times New Roman"/>
              </a:rPr>
              <a:t>conclusions you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seen </a:t>
            </a:r>
            <a:r>
              <a:rPr dirty="0" sz="1100">
                <a:latin typeface="Times New Roman"/>
                <a:cs typeface="Times New Roman"/>
              </a:rPr>
              <a:t>as competent. </a:t>
            </a:r>
            <a:r>
              <a:rPr dirty="0" sz="1100" spc="-5">
                <a:latin typeface="Times New Roman"/>
                <a:cs typeface="Times New Roman"/>
              </a:rPr>
              <a:t>You 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language </a:t>
            </a:r>
            <a:r>
              <a:rPr dirty="0" sz="1100">
                <a:latin typeface="Times New Roman"/>
                <a:cs typeface="Times New Roman"/>
              </a:rPr>
              <a:t>clearly and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accountable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trustworthy.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Politicians know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they speak affects </a:t>
            </a:r>
            <a:r>
              <a:rPr dirty="0" sz="1100" spc="-5">
                <a:latin typeface="Times New Roman"/>
                <a:cs typeface="Times New Roman"/>
              </a:rPr>
              <a:t>their credibility,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that are </a:t>
            </a:r>
            <a:r>
              <a:rPr dirty="0" sz="1100">
                <a:latin typeface="Times New Roman"/>
                <a:cs typeface="Times New Roman"/>
              </a:rPr>
              <a:t>too </a:t>
            </a:r>
            <a:r>
              <a:rPr dirty="0" sz="1100" spc="-5">
                <a:latin typeface="Times New Roman"/>
                <a:cs typeface="Times New Roman"/>
              </a:rPr>
              <a:t>scientific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academic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lead people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perceive </a:t>
            </a:r>
            <a:r>
              <a:rPr dirty="0" sz="1100">
                <a:latin typeface="Times New Roman"/>
                <a:cs typeface="Times New Roman"/>
              </a:rPr>
              <a:t>them as eggheads, </a:t>
            </a:r>
            <a:r>
              <a:rPr dirty="0" sz="1100" spc="-5">
                <a:latin typeface="Times New Roman"/>
                <a:cs typeface="Times New Roman"/>
              </a:rPr>
              <a:t>which would hurt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credibility. </a:t>
            </a:r>
            <a:r>
              <a:rPr dirty="0" sz="1100">
                <a:latin typeface="Times New Roman"/>
                <a:cs typeface="Times New Roman"/>
              </a:rPr>
              <a:t>Politicians and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others in </a:t>
            </a:r>
            <a:r>
              <a:rPr dirty="0" sz="1100" spc="-5">
                <a:latin typeface="Times New Roman"/>
                <a:cs typeface="Times New Roman"/>
              </a:rPr>
              <a:t>leadership positions </a:t>
            </a:r>
            <a:r>
              <a:rPr dirty="0" sz="1100">
                <a:latin typeface="Times New Roman"/>
                <a:cs typeface="Times New Roman"/>
              </a:rPr>
              <a:t>need to be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put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Means of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‘control’ has negative </a:t>
            </a:r>
            <a:r>
              <a:rPr dirty="0" sz="1100">
                <a:latin typeface="Times New Roman"/>
                <a:cs typeface="Times New Roman"/>
              </a:rPr>
              <a:t>connotations, but the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used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positive, neutral,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negative.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reward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punish.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positive reinforcement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praise someone. </a:t>
            </a:r>
            <a:r>
              <a:rPr dirty="0" sz="1100">
                <a:latin typeface="Times New Roman"/>
                <a:cs typeface="Times New Roman"/>
              </a:rPr>
              <a:t>We can </a:t>
            </a:r>
            <a:r>
              <a:rPr dirty="0" sz="1100" spc="-5">
                <a:latin typeface="Times New Roman"/>
                <a:cs typeface="Times New Roman"/>
              </a:rPr>
              <a:t>withhold </a:t>
            </a:r>
            <a:r>
              <a:rPr dirty="0" sz="1100">
                <a:latin typeface="Times New Roman"/>
                <a:cs typeface="Times New Roman"/>
              </a:rPr>
              <a:t>verbal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or use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 in a </a:t>
            </a:r>
            <a:r>
              <a:rPr dirty="0" sz="1100" spc="-5">
                <a:latin typeface="Times New Roman"/>
                <a:cs typeface="Times New Roman"/>
              </a:rPr>
              <a:t>critical, aggressive, </a:t>
            </a:r>
            <a:r>
              <a:rPr dirty="0" sz="1100">
                <a:latin typeface="Times New Roman"/>
                <a:cs typeface="Times New Roman"/>
              </a:rPr>
              <a:t>or hurtful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as a form of </a:t>
            </a:r>
            <a:r>
              <a:rPr dirty="0" sz="1100" spc="-5">
                <a:latin typeface="Times New Roman"/>
                <a:cs typeface="Times New Roman"/>
              </a:rPr>
              <a:t>negative reinforcement. Directives are utterances that </a:t>
            </a:r>
            <a:r>
              <a:rPr dirty="0" sz="1100">
                <a:latin typeface="Times New Roman"/>
                <a:cs typeface="Times New Roman"/>
              </a:rPr>
              <a:t> try to </a:t>
            </a:r>
            <a:r>
              <a:rPr dirty="0" sz="1100" spc="-5">
                <a:latin typeface="Times New Roman"/>
                <a:cs typeface="Times New Roman"/>
              </a:rPr>
              <a:t>get another person </a:t>
            </a:r>
            <a:r>
              <a:rPr dirty="0" sz="1100">
                <a:latin typeface="Times New Roman"/>
                <a:cs typeface="Times New Roman"/>
              </a:rPr>
              <a:t>to do </a:t>
            </a:r>
            <a:r>
              <a:rPr dirty="0" sz="1100" spc="-5">
                <a:latin typeface="Times New Roman"/>
                <a:cs typeface="Times New Roman"/>
              </a:rPr>
              <a:t>something. </a:t>
            </a:r>
            <a:r>
              <a:rPr dirty="0" sz="1100">
                <a:latin typeface="Times New Roman"/>
                <a:cs typeface="Times New Roman"/>
              </a:rPr>
              <a:t>They can </a:t>
            </a:r>
            <a:r>
              <a:rPr dirty="0" sz="1100" spc="-5">
                <a:latin typeface="Times New Roman"/>
                <a:cs typeface="Times New Roman"/>
              </a:rPr>
              <a:t>range </a:t>
            </a:r>
            <a:r>
              <a:rPr dirty="0" sz="1100">
                <a:latin typeface="Times New Roman"/>
                <a:cs typeface="Times New Roman"/>
              </a:rPr>
              <a:t>from a </a:t>
            </a:r>
            <a:r>
              <a:rPr dirty="0" sz="1100" spc="-5">
                <a:latin typeface="Times New Roman"/>
                <a:cs typeface="Times New Roman"/>
              </a:rPr>
              <a:t>rather polite </a:t>
            </a:r>
            <a:r>
              <a:rPr dirty="0" sz="1100">
                <a:latin typeface="Times New Roman"/>
                <a:cs typeface="Times New Roman"/>
              </a:rPr>
              <a:t>request to a </a:t>
            </a:r>
            <a:r>
              <a:rPr dirty="0" sz="1100" spc="-5">
                <a:latin typeface="Times New Roman"/>
                <a:cs typeface="Times New Roman"/>
              </a:rPr>
              <a:t>more forceful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command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insistence.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97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Context informs when </a:t>
            </a:r>
            <a:r>
              <a:rPr dirty="0" sz="1100">
                <a:latin typeface="Times New Roman"/>
                <a:cs typeface="Times New Roman"/>
              </a:rPr>
              <a:t>and how </a:t>
            </a:r>
            <a:r>
              <a:rPr dirty="0" sz="1100" spc="-5">
                <a:latin typeface="Times New Roman"/>
                <a:cs typeface="Times New Roman"/>
              </a:rPr>
              <a:t>we express directives </a:t>
            </a:r>
            <a:r>
              <a:rPr dirty="0" sz="1100">
                <a:latin typeface="Times New Roman"/>
                <a:cs typeface="Times New Roman"/>
              </a:rPr>
              <a:t>and how people respond to </a:t>
            </a:r>
            <a:r>
              <a:rPr dirty="0" sz="1100" spc="-5">
                <a:latin typeface="Times New Roman"/>
                <a:cs typeface="Times New Roman"/>
              </a:rPr>
              <a:t>them. Promises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often paired with directives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persuade</a:t>
            </a:r>
            <a:r>
              <a:rPr dirty="0" sz="1100">
                <a:latin typeface="Times New Roman"/>
                <a:cs typeface="Times New Roman"/>
              </a:rPr>
              <a:t> people to </a:t>
            </a:r>
            <a:r>
              <a:rPr dirty="0" sz="1100" spc="-5">
                <a:latin typeface="Times New Roman"/>
                <a:cs typeface="Times New Roman"/>
              </a:rPr>
              <a:t>comply,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promises,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implied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stated, should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kept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be an </a:t>
            </a:r>
            <a:r>
              <a:rPr dirty="0" sz="1100" spc="-5">
                <a:latin typeface="Times New Roman"/>
                <a:cs typeface="Times New Roman"/>
              </a:rPr>
              <a:t>ethical communicator. </a:t>
            </a:r>
            <a:r>
              <a:rPr dirty="0" sz="1100">
                <a:latin typeface="Times New Roman"/>
                <a:cs typeface="Times New Roman"/>
              </a:rPr>
              <a:t>Keep this in </a:t>
            </a:r>
            <a:r>
              <a:rPr dirty="0" sz="1100" spc="-5">
                <a:latin typeface="Times New Roman"/>
                <a:cs typeface="Times New Roman"/>
              </a:rPr>
              <a:t>mind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avoid </a:t>
            </a:r>
            <a:r>
              <a:rPr dirty="0" sz="1100">
                <a:latin typeface="Times New Roman"/>
                <a:cs typeface="Times New Roman"/>
              </a:rPr>
              <a:t> arousing </a:t>
            </a:r>
            <a:r>
              <a:rPr dirty="0" sz="1100" spc="-5">
                <a:latin typeface="Times New Roman"/>
                <a:cs typeface="Times New Roman"/>
              </a:rPr>
              <a:t>false expectations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other </a:t>
            </a:r>
            <a:r>
              <a:rPr dirty="0" sz="1100">
                <a:latin typeface="Times New Roman"/>
                <a:cs typeface="Times New Roman"/>
              </a:rPr>
              <a:t>person. </a:t>
            </a:r>
            <a:r>
              <a:rPr dirty="0" sz="1100" spc="-5">
                <a:latin typeface="Times New Roman"/>
                <a:cs typeface="Times New Roman"/>
              </a:rPr>
              <a:t>Rather than verbal communication being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directed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person as a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control,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way we </a:t>
            </a:r>
            <a:r>
              <a:rPr dirty="0" sz="1100">
                <a:latin typeface="Times New Roman"/>
                <a:cs typeface="Times New Roman"/>
              </a:rPr>
              <a:t>talk creates </a:t>
            </a:r>
            <a:r>
              <a:rPr dirty="0" sz="1100" spc="-5">
                <a:latin typeface="Times New Roman"/>
                <a:cs typeface="Times New Roman"/>
              </a:rPr>
              <a:t>overall climates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may </a:t>
            </a:r>
            <a:r>
              <a:rPr dirty="0" sz="1100">
                <a:latin typeface="Times New Roman"/>
                <a:cs typeface="Times New Roman"/>
              </a:rPr>
              <a:t>control </a:t>
            </a:r>
            <a:r>
              <a:rPr dirty="0" sz="1100" spc="-5">
                <a:latin typeface="Times New Roman"/>
                <a:cs typeface="Times New Roman"/>
              </a:rPr>
              <a:t>many. </a:t>
            </a:r>
            <a:r>
              <a:rPr dirty="0" sz="1100">
                <a:latin typeface="Times New Roman"/>
                <a:cs typeface="Times New Roman"/>
              </a:rPr>
              <a:t>Verbal communication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empathy, </a:t>
            </a:r>
            <a:r>
              <a:rPr dirty="0" sz="1100">
                <a:latin typeface="Times New Roman"/>
                <a:cs typeface="Times New Roman"/>
              </a:rPr>
              <a:t>understanding, respect,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honesty creates </a:t>
            </a:r>
            <a:r>
              <a:rPr dirty="0" sz="1100" spc="-5">
                <a:latin typeface="Times New Roman"/>
                <a:cs typeface="Times New Roman"/>
              </a:rPr>
              <a:t>open climates that lead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more collaboration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more information exchange. 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controlling, deceitful, and vague </a:t>
            </a:r>
            <a:r>
              <a:rPr dirty="0" sz="1100">
                <a:latin typeface="Times New Roman"/>
                <a:cs typeface="Times New Roman"/>
              </a:rPr>
              <a:t>creates a closed </a:t>
            </a:r>
            <a:r>
              <a:rPr dirty="0" sz="1100" spc="-5">
                <a:latin typeface="Times New Roman"/>
                <a:cs typeface="Times New Roman"/>
              </a:rPr>
              <a:t>climate </a:t>
            </a:r>
            <a:r>
              <a:rPr dirty="0" sz="1100">
                <a:latin typeface="Times New Roman"/>
                <a:cs typeface="Times New Roman"/>
              </a:rPr>
              <a:t>where people </a:t>
            </a:r>
            <a:r>
              <a:rPr dirty="0" sz="1100" spc="-5">
                <a:latin typeface="Times New Roman"/>
                <a:cs typeface="Times New Roman"/>
              </a:rPr>
              <a:t>are less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Performative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Some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actually more like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action </a:t>
            </a:r>
            <a:r>
              <a:rPr dirty="0" sz="1100">
                <a:latin typeface="Times New Roman"/>
                <a:cs typeface="Times New Roman"/>
              </a:rPr>
              <a:t>than a </a:t>
            </a:r>
            <a:r>
              <a:rPr dirty="0" sz="1100" spc="-5">
                <a:latin typeface="Times New Roman"/>
                <a:cs typeface="Times New Roman"/>
              </a:rPr>
              <a:t>piece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information. Saying, </a:t>
            </a:r>
            <a:r>
              <a:rPr dirty="0" sz="1100">
                <a:latin typeface="Times New Roman"/>
                <a:cs typeface="Times New Roman"/>
              </a:rPr>
              <a:t>‘I </a:t>
            </a:r>
            <a:r>
              <a:rPr dirty="0" sz="1100" spc="-5">
                <a:latin typeface="Times New Roman"/>
                <a:cs typeface="Times New Roman"/>
              </a:rPr>
              <a:t>promise,’, </a:t>
            </a:r>
            <a:r>
              <a:rPr dirty="0" sz="1100">
                <a:latin typeface="Times New Roman"/>
                <a:cs typeface="Times New Roman"/>
              </a:rPr>
              <a:t>‘I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guarantee’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‘I pledge’ </a:t>
            </a:r>
            <a:r>
              <a:rPr dirty="0" sz="1100" spc="-5">
                <a:latin typeface="Times New Roman"/>
                <a:cs typeface="Times New Roman"/>
              </a:rPr>
              <a:t>does more than </a:t>
            </a:r>
            <a:r>
              <a:rPr dirty="0" sz="1100">
                <a:latin typeface="Times New Roman"/>
                <a:cs typeface="Times New Roman"/>
              </a:rPr>
              <a:t>conveying </a:t>
            </a:r>
            <a:r>
              <a:rPr dirty="0" sz="1100" spc="-5">
                <a:latin typeface="Times New Roman"/>
                <a:cs typeface="Times New Roman"/>
              </a:rPr>
              <a:t>meaning; it also communicates intent.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utterances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called commissives,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they mean </a:t>
            </a:r>
            <a:r>
              <a:rPr dirty="0" sz="1100">
                <a:latin typeface="Times New Roman"/>
                <a:cs typeface="Times New Roman"/>
              </a:rPr>
              <a:t>that a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committed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certain course </a:t>
            </a:r>
            <a:r>
              <a:rPr dirty="0" sz="1100">
                <a:latin typeface="Times New Roman"/>
                <a:cs typeface="Times New Roman"/>
              </a:rPr>
              <a:t>of action.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course,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promises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granted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official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guarantee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‘I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do’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an </a:t>
            </a:r>
            <a:r>
              <a:rPr dirty="0" sz="1100" spc="-5">
                <a:latin typeface="Times New Roman"/>
                <a:cs typeface="Times New Roman"/>
              </a:rPr>
              <a:t>oath before taking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witness stand.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also mean that two people are now </a:t>
            </a:r>
            <a:r>
              <a:rPr dirty="0" sz="1100">
                <a:latin typeface="Times New Roman"/>
                <a:cs typeface="Times New Roman"/>
              </a:rPr>
              <a:t>bound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relationship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government and/or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religious community. </a:t>
            </a:r>
            <a:r>
              <a:rPr dirty="0" sz="1100">
                <a:latin typeface="Times New Roman"/>
                <a:cs typeface="Times New Roman"/>
              </a:rPr>
              <a:t>These two words, </a:t>
            </a:r>
            <a:r>
              <a:rPr dirty="0" sz="1100" spc="-5">
                <a:latin typeface="Times New Roman"/>
                <a:cs typeface="Times New Roman"/>
              </a:rPr>
              <a:t>if said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right context </a:t>
            </a:r>
            <a:r>
              <a:rPr dirty="0" sz="1100">
                <a:latin typeface="Times New Roman"/>
                <a:cs typeface="Times New Roman"/>
              </a:rPr>
              <a:t> and in </a:t>
            </a:r>
            <a:r>
              <a:rPr dirty="0" sz="1100" spc="-5">
                <a:latin typeface="Times New Roman"/>
                <a:cs typeface="Times New Roman"/>
              </a:rPr>
              <a:t>front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right </a:t>
            </a:r>
            <a:r>
              <a:rPr dirty="0" sz="1100">
                <a:latin typeface="Times New Roman"/>
                <a:cs typeface="Times New Roman"/>
              </a:rPr>
              <a:t>person, such as a </a:t>
            </a:r>
            <a:r>
              <a:rPr dirty="0" sz="1100" spc="-5">
                <a:latin typeface="Times New Roman"/>
                <a:cs typeface="Times New Roman"/>
              </a:rPr>
              <a:t>judge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reverend, bring with </a:t>
            </a:r>
            <a:r>
              <a:rPr dirty="0" sz="1100">
                <a:latin typeface="Times New Roman"/>
                <a:cs typeface="Times New Roman"/>
              </a:rPr>
              <a:t>them </a:t>
            </a:r>
            <a:r>
              <a:rPr dirty="0" sz="1100" spc="-5">
                <a:latin typeface="Times New Roman"/>
                <a:cs typeface="Times New Roman"/>
              </a:rPr>
              <a:t>obligations that 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undone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 </a:t>
            </a:r>
            <a:r>
              <a:rPr dirty="0" sz="1100">
                <a:latin typeface="Times New Roman"/>
                <a:cs typeface="Times New Roman"/>
              </a:rPr>
              <a:t>steps and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>
                <a:latin typeface="Times New Roman"/>
                <a:cs typeface="Times New Roman"/>
              </a:rPr>
              <a:t> repercussions.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sense, 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Performative language </a:t>
            </a:r>
            <a:r>
              <a:rPr dirty="0" sz="1100">
                <a:latin typeface="Times New Roman"/>
                <a:cs typeface="Times New Roman"/>
              </a:rPr>
              <a:t>can also be a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control, especially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legal contexts.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cases,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makes laws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intentionally vague.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courts </a:t>
            </a:r>
            <a:r>
              <a:rPr dirty="0" sz="1100" spc="-5">
                <a:latin typeface="Times New Roman"/>
                <a:cs typeface="Times New Roman"/>
              </a:rPr>
              <a:t>all over the nation,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written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intersects with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lawyers advocate for particular interpretations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written </a:t>
            </a:r>
            <a:r>
              <a:rPr dirty="0" sz="1100">
                <a:latin typeface="Times New Roman"/>
                <a:cs typeface="Times New Roman"/>
              </a:rPr>
              <a:t>law.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judges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juries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precedents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reasonable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Fun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Writers, poets,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comedians have </a:t>
            </a:r>
            <a:r>
              <a:rPr dirty="0" sz="1100">
                <a:latin typeface="Times New Roman"/>
                <a:cs typeface="Times New Roman"/>
              </a:rPr>
              <a:t>built </a:t>
            </a:r>
            <a:r>
              <a:rPr dirty="0" sz="1100" spc="-5">
                <a:latin typeface="Times New Roman"/>
                <a:cs typeface="Times New Roman"/>
              </a:rPr>
              <a:t>careers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their 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fun </a:t>
            </a:r>
            <a:r>
              <a:rPr dirty="0" sz="1100" spc="-5">
                <a:latin typeface="Times New Roman"/>
                <a:cs typeface="Times New Roman"/>
              </a:rPr>
              <a:t>with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turn </a:t>
            </a:r>
            <a:r>
              <a:rPr dirty="0" sz="1100" spc="-5">
                <a:latin typeface="Times New Roman"/>
                <a:cs typeface="Times New Roman"/>
              </a:rPr>
              <a:t>share that </a:t>
            </a:r>
            <a:r>
              <a:rPr dirty="0" sz="1100">
                <a:latin typeface="Times New Roman"/>
                <a:cs typeface="Times New Roman"/>
              </a:rPr>
              <a:t>fun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others. </a:t>
            </a:r>
            <a:r>
              <a:rPr dirty="0" sz="1100" spc="-5">
                <a:latin typeface="Times New Roman"/>
                <a:cs typeface="Times New Roman"/>
              </a:rPr>
              <a:t>The productivity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limitlessness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lead some </a:t>
            </a:r>
            <a:r>
              <a:rPr dirty="0" sz="1100">
                <a:latin typeface="Times New Roman"/>
                <a:cs typeface="Times New Roman"/>
              </a:rPr>
              <a:t>people to </a:t>
            </a:r>
            <a:r>
              <a:rPr dirty="0" sz="1100" spc="-5">
                <a:latin typeface="Times New Roman"/>
                <a:cs typeface="Times New Roman"/>
              </a:rPr>
              <a:t>spend 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inordinate amount </a:t>
            </a:r>
            <a:r>
              <a:rPr dirty="0" sz="1100" spc="-10">
                <a:latin typeface="Times New Roman"/>
                <a:cs typeface="Times New Roman"/>
              </a:rPr>
              <a:t>of time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discovering things about words. </a:t>
            </a:r>
            <a:r>
              <a:rPr dirty="0" sz="1100">
                <a:latin typeface="Times New Roman"/>
                <a:cs typeface="Times New Roman"/>
              </a:rPr>
              <a:t>Using humour </a:t>
            </a:r>
            <a:r>
              <a:rPr dirty="0" sz="1100" spc="-5">
                <a:latin typeface="Times New Roman"/>
                <a:cs typeface="Times New Roman"/>
              </a:rPr>
              <a:t>also draws attention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us, </a:t>
            </a:r>
            <a:r>
              <a:rPr dirty="0" sz="1100">
                <a:latin typeface="Times New Roman"/>
                <a:cs typeface="Times New Roman"/>
              </a:rPr>
              <a:t> and the </a:t>
            </a:r>
            <a:r>
              <a:rPr dirty="0" sz="1100" spc="-5">
                <a:latin typeface="Times New Roman"/>
                <a:cs typeface="Times New Roman"/>
              </a:rPr>
              <a:t>reactions that we get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others, </a:t>
            </a:r>
            <a:r>
              <a:rPr dirty="0" sz="1100" spc="-5">
                <a:latin typeface="Times New Roman"/>
                <a:cs typeface="Times New Roman"/>
              </a:rPr>
              <a:t>feeds into </a:t>
            </a:r>
            <a:r>
              <a:rPr dirty="0" sz="1100">
                <a:latin typeface="Times New Roman"/>
                <a:cs typeface="Times New Roman"/>
              </a:rPr>
              <a:t>our self-concept. We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use humour to </a:t>
            </a:r>
            <a:r>
              <a:rPr dirty="0" sz="1100" spc="-5">
                <a:latin typeface="Times New Roman"/>
                <a:cs typeface="Times New Roman"/>
              </a:rPr>
              <a:t>disclose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about ourselves that we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feel comfortable revealing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more straightforward way.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Humour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sexual interest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>
                <a:latin typeface="Times New Roman"/>
                <a:cs typeface="Times New Roman"/>
              </a:rPr>
              <a:t> cope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bad </a:t>
            </a: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bad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Language: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Dynamic and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Relational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Entity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essentially limitless.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create a one-of-a-kind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combining words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new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never know </a:t>
            </a:r>
            <a:r>
              <a:rPr dirty="0" sz="1100">
                <a:latin typeface="Times New Roman"/>
                <a:cs typeface="Times New Roman"/>
              </a:rPr>
              <a:t>it. </a:t>
            </a:r>
            <a:r>
              <a:rPr dirty="0" sz="1100" spc="-5">
                <a:latin typeface="Times New Roman"/>
                <a:cs typeface="Times New Roman"/>
              </a:rPr>
              <a:t>Aside from </a:t>
            </a:r>
            <a:r>
              <a:rPr dirty="0" sz="1100">
                <a:latin typeface="Times New Roman"/>
                <a:cs typeface="Times New Roman"/>
              </a:rPr>
              <a:t>the endless </a:t>
            </a:r>
            <a:r>
              <a:rPr dirty="0" sz="1100" spc="-5">
                <a:latin typeface="Times New Roman"/>
                <a:cs typeface="Times New Roman"/>
              </a:rPr>
              <a:t>structural possibilities, words change meaning,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daily.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4080" cy="797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 indent="456565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Neologisms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newly</a:t>
            </a:r>
            <a:r>
              <a:rPr dirty="0" sz="1100">
                <a:latin typeface="Times New Roman"/>
                <a:cs typeface="Times New Roman"/>
              </a:rPr>
              <a:t> coined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Newly</a:t>
            </a:r>
            <a:r>
              <a:rPr dirty="0" sz="1100">
                <a:latin typeface="Times New Roman"/>
                <a:cs typeface="Times New Roman"/>
              </a:rPr>
              <a:t> coined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brought into linguistic existence. </a:t>
            </a:r>
            <a:r>
              <a:rPr dirty="0" sz="1100">
                <a:latin typeface="Times New Roman"/>
                <a:cs typeface="Times New Roman"/>
              </a:rPr>
              <a:t>Newly </a:t>
            </a:r>
            <a:r>
              <a:rPr dirty="0" sz="1100" spc="-5">
                <a:latin typeface="Times New Roman"/>
                <a:cs typeface="Times New Roman"/>
              </a:rPr>
              <a:t>used words make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several ways,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 </a:t>
            </a:r>
            <a:r>
              <a:rPr dirty="0" sz="1100">
                <a:latin typeface="Times New Roman"/>
                <a:cs typeface="Times New Roman"/>
              </a:rPr>
              <a:t>borrowing and </a:t>
            </a:r>
            <a:r>
              <a:rPr dirty="0" sz="1100" spc="-5">
                <a:latin typeface="Times New Roman"/>
                <a:cs typeface="Times New Roman"/>
              </a:rPr>
              <a:t>changing </a:t>
            </a:r>
            <a:r>
              <a:rPr dirty="0" sz="1100">
                <a:latin typeface="Times New Roman"/>
                <a:cs typeface="Times New Roman"/>
              </a:rPr>
              <a:t>structure. Taking is </a:t>
            </a:r>
            <a:r>
              <a:rPr dirty="0" sz="1100" spc="-5">
                <a:latin typeface="Times New Roman"/>
                <a:cs typeface="Times New Roman"/>
              </a:rPr>
              <a:t>actually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fitting </a:t>
            </a:r>
            <a:r>
              <a:rPr dirty="0" sz="1100" spc="-5">
                <a:latin typeface="Times New Roman"/>
                <a:cs typeface="Times New Roman"/>
              </a:rPr>
              <a:t>descriptor than borrowing, </a:t>
            </a:r>
            <a:r>
              <a:rPr dirty="0" sz="1100">
                <a:latin typeface="Times New Roman"/>
                <a:cs typeface="Times New Roman"/>
              </a:rPr>
              <a:t> since </a:t>
            </a:r>
            <a:r>
              <a:rPr dirty="0" sz="1100" spc="-5">
                <a:latin typeface="Times New Roman"/>
                <a:cs typeface="Times New Roman"/>
              </a:rPr>
              <a:t>we take words but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really </a:t>
            </a:r>
            <a:r>
              <a:rPr dirty="0" sz="1100" spc="-10">
                <a:latin typeface="Times New Roman"/>
                <a:cs typeface="Times New Roman"/>
              </a:rPr>
              <a:t>give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 </a:t>
            </a:r>
            <a:r>
              <a:rPr dirty="0" sz="1100" spc="-5">
                <a:latin typeface="Times New Roman"/>
                <a:cs typeface="Times New Roman"/>
              </a:rPr>
              <a:t>back.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 case, </a:t>
            </a:r>
            <a:r>
              <a:rPr dirty="0" sz="1100" spc="-5">
                <a:latin typeface="Times New Roman"/>
                <a:cs typeface="Times New Roman"/>
              </a:rPr>
              <a:t>borrowing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primary means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expand.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Structural changes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lead </a:t>
            </a:r>
            <a:r>
              <a:rPr dirty="0" sz="1100">
                <a:latin typeface="Times New Roman"/>
                <a:cs typeface="Times New Roman"/>
              </a:rPr>
              <a:t>to new </a:t>
            </a:r>
            <a:r>
              <a:rPr dirty="0" sz="1100" spc="-5">
                <a:latin typeface="Times New Roman"/>
                <a:cs typeface="Times New Roman"/>
              </a:rPr>
              <a:t>words. Compound words are neologisms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are created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joining two already known </a:t>
            </a:r>
            <a:r>
              <a:rPr dirty="0" sz="1100">
                <a:latin typeface="Times New Roman"/>
                <a:cs typeface="Times New Roman"/>
              </a:rPr>
              <a:t>words. Keyboard, </a:t>
            </a:r>
            <a:r>
              <a:rPr dirty="0" sz="1100" spc="-5">
                <a:latin typeface="Times New Roman"/>
                <a:cs typeface="Times New Roman"/>
              </a:rPr>
              <a:t>newspaper, and gift </a:t>
            </a:r>
            <a:r>
              <a:rPr dirty="0" sz="1100">
                <a:latin typeface="Times New Roman"/>
                <a:cs typeface="Times New Roman"/>
              </a:rPr>
              <a:t>card </a:t>
            </a:r>
            <a:r>
              <a:rPr dirty="0" sz="1100" spc="-5">
                <a:latin typeface="Times New Roman"/>
                <a:cs typeface="Times New Roman"/>
              </a:rPr>
              <a:t>are all compound words that </a:t>
            </a:r>
            <a:r>
              <a:rPr dirty="0" sz="1100" spc="-1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 formed when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created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conceived. </a:t>
            </a:r>
            <a:r>
              <a:rPr dirty="0" sz="1100">
                <a:latin typeface="Times New Roman"/>
                <a:cs typeface="Times New Roman"/>
              </a:rPr>
              <a:t>We also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10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by adding </a:t>
            </a:r>
            <a:r>
              <a:rPr dirty="0" sz="1100" spc="-5">
                <a:latin typeface="Times New Roman"/>
                <a:cs typeface="Times New Roman"/>
              </a:rPr>
              <a:t>something, </a:t>
            </a:r>
            <a:r>
              <a:rPr dirty="0" sz="1100">
                <a:latin typeface="Times New Roman"/>
                <a:cs typeface="Times New Roman"/>
              </a:rPr>
              <a:t> subtracting </a:t>
            </a:r>
            <a:r>
              <a:rPr dirty="0" sz="1100" spc="-5">
                <a:latin typeface="Times New Roman"/>
                <a:cs typeface="Times New Roman"/>
              </a:rPr>
              <a:t>something,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blending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together.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we </a:t>
            </a:r>
            <a:r>
              <a:rPr dirty="0" sz="1100">
                <a:latin typeface="Times New Roman"/>
                <a:cs typeface="Times New Roman"/>
              </a:rPr>
              <a:t>can add </a:t>
            </a:r>
            <a:r>
              <a:rPr dirty="0" sz="1100" spc="-5">
                <a:latin typeface="Times New Roman"/>
                <a:cs typeface="Times New Roman"/>
              </a:rPr>
              <a:t>affixes, meaning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prefix 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suffix,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word. Affixing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alters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original meaning </a:t>
            </a:r>
            <a:r>
              <a:rPr dirty="0" sz="1100">
                <a:latin typeface="Times New Roman"/>
                <a:cs typeface="Times New Roman"/>
              </a:rPr>
              <a:t>but does </a:t>
            </a:r>
            <a:r>
              <a:rPr dirty="0" sz="1100" spc="-5">
                <a:latin typeface="Times New Roman"/>
                <a:cs typeface="Times New Roman"/>
              </a:rPr>
              <a:t>not completely change </a:t>
            </a:r>
            <a:r>
              <a:rPr dirty="0" sz="1100">
                <a:latin typeface="Times New Roman"/>
                <a:cs typeface="Times New Roman"/>
              </a:rPr>
              <a:t>it. </a:t>
            </a:r>
            <a:r>
              <a:rPr dirty="0" sz="1100" spc="5">
                <a:latin typeface="Times New Roman"/>
                <a:cs typeface="Times New Roman"/>
              </a:rPr>
              <a:t>Ex-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husband </a:t>
            </a:r>
            <a:r>
              <a:rPr dirty="0" sz="1100" spc="-5">
                <a:latin typeface="Times New Roman"/>
                <a:cs typeface="Times New Roman"/>
              </a:rPr>
              <a:t>and kitchenette are </a:t>
            </a:r>
            <a:r>
              <a:rPr dirty="0" sz="1100">
                <a:latin typeface="Times New Roman"/>
                <a:cs typeface="Times New Roman"/>
              </a:rPr>
              <a:t>relatively </a:t>
            </a:r>
            <a:r>
              <a:rPr dirty="0" sz="1100" spc="-5">
                <a:latin typeface="Times New Roman"/>
                <a:cs typeface="Times New Roman"/>
              </a:rPr>
              <a:t>recent examples </a:t>
            </a:r>
            <a:r>
              <a:rPr dirty="0" sz="1100">
                <a:latin typeface="Times New Roman"/>
                <a:cs typeface="Times New Roman"/>
              </a:rPr>
              <a:t>of such </a:t>
            </a:r>
            <a:r>
              <a:rPr dirty="0" sz="1100" spc="-5">
                <a:latin typeface="Times New Roman"/>
                <a:cs typeface="Times New Roman"/>
              </a:rPr>
              <a:t>changes. New words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also formed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clipping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retains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same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Slang is a </a:t>
            </a:r>
            <a:r>
              <a:rPr dirty="0" sz="1100" spc="-5">
                <a:latin typeface="Times New Roman"/>
                <a:cs typeface="Times New Roman"/>
              </a:rPr>
              <a:t>great example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dynamic nature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Slang refers to new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adapted words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are specific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group, </a:t>
            </a:r>
            <a:r>
              <a:rPr dirty="0" sz="1100">
                <a:latin typeface="Times New Roman"/>
                <a:cs typeface="Times New Roman"/>
              </a:rPr>
              <a:t>context, and/or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period, </a:t>
            </a:r>
            <a:r>
              <a:rPr dirty="0" sz="1100" spc="-5">
                <a:latin typeface="Times New Roman"/>
                <a:cs typeface="Times New Roman"/>
              </a:rPr>
              <a:t>regarded as less </a:t>
            </a:r>
            <a:r>
              <a:rPr dirty="0" sz="1100">
                <a:latin typeface="Times New Roman"/>
                <a:cs typeface="Times New Roman"/>
              </a:rPr>
              <a:t>formal, and </a:t>
            </a:r>
            <a:r>
              <a:rPr dirty="0" sz="1100" spc="-5">
                <a:latin typeface="Times New Roman"/>
                <a:cs typeface="Times New Roman"/>
              </a:rPr>
              <a:t>representative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people’s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slang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fifteen-year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survive.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slang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inversion,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old-fashioned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9212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Inversion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sick,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wicked,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opposite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typical meaning.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‘Reduction’ creates </a:t>
            </a:r>
            <a:r>
              <a:rPr dirty="0" sz="1100">
                <a:latin typeface="Times New Roman"/>
                <a:cs typeface="Times New Roman"/>
              </a:rPr>
              <a:t>slang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pic, sec,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picture,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later.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slang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edgy,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current,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people.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Relational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We use </a:t>
            </a:r>
            <a:r>
              <a:rPr dirty="0" sz="1100" spc="-5">
                <a:latin typeface="Times New Roman"/>
                <a:cs typeface="Times New Roman"/>
              </a:rPr>
              <a:t>verbal communication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initiate, maintain, and terminate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interpersonal relationships.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few </a:t>
            </a:r>
            <a:r>
              <a:rPr dirty="0" sz="1100" spc="-5">
                <a:latin typeface="Times New Roman"/>
                <a:cs typeface="Times New Roman"/>
              </a:rPr>
              <a:t>exchanges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potential romantic partner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friend help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size the other </a:t>
            </a:r>
            <a:r>
              <a:rPr dirty="0" sz="1100">
                <a:latin typeface="Times New Roman"/>
                <a:cs typeface="Times New Roman"/>
              </a:rPr>
              <a:t>person up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figure out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want </a:t>
            </a:r>
            <a:r>
              <a:rPr dirty="0" sz="1100">
                <a:latin typeface="Times New Roman"/>
                <a:cs typeface="Times New Roman"/>
              </a:rPr>
              <a:t>to pursue a </a:t>
            </a:r>
            <a:r>
              <a:rPr dirty="0" sz="1100" spc="-5">
                <a:latin typeface="Times New Roman"/>
                <a:cs typeface="Times New Roman"/>
              </a:rPr>
              <a:t>relationship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not.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then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verbal communication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remind others </a:t>
            </a:r>
            <a:r>
              <a:rPr dirty="0" sz="1100">
                <a:latin typeface="Times New Roman"/>
                <a:cs typeface="Times New Roman"/>
              </a:rPr>
              <a:t> how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feel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>
                <a:latin typeface="Times New Roman"/>
                <a:cs typeface="Times New Roman"/>
              </a:rPr>
              <a:t> engaging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maintenance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use. </a:t>
            </a:r>
            <a:r>
              <a:rPr dirty="0" sz="1100" spc="-5">
                <a:latin typeface="Times New Roman"/>
                <a:cs typeface="Times New Roman"/>
              </a:rPr>
              <a:t>When negative feelings arrive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persist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for many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reasons we often use 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relationship.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Can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Bring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Together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Interpersonally,</a:t>
            </a:r>
            <a:r>
              <a:rPr dirty="0" sz="1100">
                <a:latin typeface="Times New Roman"/>
                <a:cs typeface="Times New Roman"/>
              </a:rPr>
              <a:t> 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intentionally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unintentionally,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affects </a:t>
            </a:r>
            <a:r>
              <a:rPr dirty="0" sz="1100" spc="-5">
                <a:latin typeface="Times New Roman"/>
                <a:cs typeface="Times New Roman"/>
              </a:rPr>
              <a:t>our relationships.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language includes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we, our,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10">
                <a:latin typeface="Times New Roman"/>
                <a:cs typeface="Times New Roman"/>
              </a:rPr>
              <a:t>us, </a:t>
            </a:r>
            <a:r>
              <a:rPr dirty="0" sz="1100">
                <a:latin typeface="Times New Roman"/>
                <a:cs typeface="Times New Roman"/>
              </a:rPr>
              <a:t>and 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promote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feeling of </a:t>
            </a:r>
            <a:r>
              <a:rPr dirty="0" sz="1100" spc="-5">
                <a:latin typeface="Times New Roman"/>
                <a:cs typeface="Times New Roman"/>
              </a:rPr>
              <a:t>inclusiveness. </a:t>
            </a:r>
            <a:r>
              <a:rPr dirty="0" sz="1100">
                <a:latin typeface="Times New Roman"/>
                <a:cs typeface="Times New Roman"/>
              </a:rPr>
              <a:t>‘I language’ can be </a:t>
            </a:r>
            <a:r>
              <a:rPr dirty="0" sz="1100" spc="-5">
                <a:latin typeface="Times New Roman"/>
                <a:cs typeface="Times New Roman"/>
              </a:rPr>
              <a:t>useful when </a:t>
            </a:r>
            <a:r>
              <a:rPr dirty="0" sz="1100">
                <a:latin typeface="Times New Roman"/>
                <a:cs typeface="Times New Roman"/>
              </a:rPr>
              <a:t>expressing thoughts, </a:t>
            </a:r>
            <a:r>
              <a:rPr dirty="0" sz="1100" spc="-5">
                <a:latin typeface="Times New Roman"/>
                <a:cs typeface="Times New Roman"/>
              </a:rPr>
              <a:t>needs,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feelings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leads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‘own’ our expressions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avoid </a:t>
            </a:r>
            <a:r>
              <a:rPr dirty="0" sz="1100">
                <a:latin typeface="Times New Roman"/>
                <a:cs typeface="Times New Roman"/>
              </a:rPr>
              <a:t>the tendency to </a:t>
            </a:r>
            <a:r>
              <a:rPr dirty="0" sz="1100" spc="-5">
                <a:latin typeface="Times New Roman"/>
                <a:cs typeface="Times New Roman"/>
              </a:rPr>
              <a:t>mistakenly attribute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 thoughts, </a:t>
            </a:r>
            <a:r>
              <a:rPr dirty="0" sz="1100" spc="-5">
                <a:latin typeface="Times New Roman"/>
                <a:cs typeface="Times New Roman"/>
              </a:rPr>
              <a:t>needs,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feelings </a:t>
            </a:r>
            <a:r>
              <a:rPr dirty="0" sz="1100">
                <a:latin typeface="Times New Roman"/>
                <a:cs typeface="Times New Roman"/>
              </a:rPr>
              <a:t>to others. </a:t>
            </a:r>
            <a:r>
              <a:rPr dirty="0" sz="1100" spc="-5">
                <a:latin typeface="Times New Roman"/>
                <a:cs typeface="Times New Roman"/>
              </a:rPr>
              <a:t>Communicating </a:t>
            </a:r>
            <a:r>
              <a:rPr dirty="0" sz="1100">
                <a:latin typeface="Times New Roman"/>
                <a:cs typeface="Times New Roman"/>
              </a:rPr>
              <a:t>emotions using ‘I language’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facilitate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partner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fault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defensive.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69635" cy="148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Can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Separate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Whether its </a:t>
            </a:r>
            <a:r>
              <a:rPr dirty="0" sz="1100" spc="-5">
                <a:latin typeface="Times New Roman"/>
                <a:cs typeface="Times New Roman"/>
              </a:rPr>
              <a:t>criticism, teasing,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language differences, </a:t>
            </a:r>
            <a:r>
              <a:rPr dirty="0" sz="1100">
                <a:latin typeface="Times New Roman"/>
                <a:cs typeface="Times New Roman"/>
              </a:rPr>
              <a:t>verbal </a:t>
            </a:r>
            <a:r>
              <a:rPr dirty="0" sz="1100" spc="-5">
                <a:latin typeface="Times New Roman"/>
                <a:cs typeface="Times New Roman"/>
              </a:rPr>
              <a:t>communication can </a:t>
            </a:r>
            <a:r>
              <a:rPr dirty="0" sz="1100">
                <a:latin typeface="Times New Roman"/>
                <a:cs typeface="Times New Roman"/>
              </a:rPr>
              <a:t>also lead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separation. Language differences alone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present impossible barriers.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5">
                <a:latin typeface="Times New Roman"/>
                <a:cs typeface="Times New Roman"/>
              </a:rPr>
              <a:t>learn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with time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effort, there are other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who can translate and serve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bridges across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nonverbally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absence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compatibility.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speak the </a:t>
            </a:r>
            <a:r>
              <a:rPr dirty="0" sz="1100" spc="-5">
                <a:latin typeface="Times New Roman"/>
                <a:cs typeface="Times New Roman"/>
              </a:rPr>
              <a:t>same language can intentionally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separate.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 us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2810" cy="271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3110" marR="6985" indent="4443095">
              <a:lnSpc>
                <a:spcPct val="11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Le</a:t>
            </a:r>
            <a:r>
              <a:rPr dirty="0" sz="1400" spc="-10" b="1">
                <a:latin typeface="Times New Roman"/>
                <a:cs typeface="Times New Roman"/>
              </a:rPr>
              <a:t>s</a:t>
            </a:r>
            <a:r>
              <a:rPr dirty="0" sz="1400" spc="5" b="1">
                <a:latin typeface="Times New Roman"/>
                <a:cs typeface="Times New Roman"/>
              </a:rPr>
              <a:t>so</a:t>
            </a:r>
            <a:r>
              <a:rPr dirty="0" sz="1400" spc="-5" b="1">
                <a:latin typeface="Times New Roman"/>
                <a:cs typeface="Times New Roman"/>
              </a:rPr>
              <a:t>n</a:t>
            </a:r>
            <a:r>
              <a:rPr dirty="0" sz="1400" spc="-15" b="1">
                <a:latin typeface="Times New Roman"/>
                <a:cs typeface="Times New Roman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06  </a:t>
            </a:r>
            <a:r>
              <a:rPr dirty="0" sz="1400" spc="-5" b="1">
                <a:latin typeface="Times New Roman"/>
                <a:cs typeface="Times New Roman"/>
              </a:rPr>
              <a:t>NONVERBAL COMMUNICATION AND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031: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Aspects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Nonverbal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relied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capability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 with words was </a:t>
            </a:r>
            <a:r>
              <a:rPr dirty="0" sz="1100">
                <a:latin typeface="Times New Roman"/>
                <a:cs typeface="Times New Roman"/>
              </a:rPr>
              <a:t>developed. </a:t>
            </a:r>
            <a:r>
              <a:rPr dirty="0" sz="1100" spc="-5">
                <a:latin typeface="Times New Roman"/>
                <a:cs typeface="Times New Roman"/>
              </a:rPr>
              <a:t>Nonverbal communication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generating meaning </a:t>
            </a:r>
            <a:r>
              <a:rPr dirty="0" sz="1100">
                <a:latin typeface="Times New Roman"/>
                <a:cs typeface="Times New Roman"/>
              </a:rPr>
              <a:t> using </a:t>
            </a:r>
            <a:r>
              <a:rPr dirty="0" sz="1100" spc="-5">
                <a:latin typeface="Times New Roman"/>
                <a:cs typeface="Times New Roman"/>
              </a:rPr>
              <a:t>behavior other than </a:t>
            </a:r>
            <a:r>
              <a:rPr dirty="0" sz="1100">
                <a:latin typeface="Times New Roman"/>
                <a:cs typeface="Times New Roman"/>
              </a:rPr>
              <a:t>words. </a:t>
            </a:r>
            <a:r>
              <a:rPr dirty="0" sz="1100" spc="-5">
                <a:latin typeface="Times New Roman"/>
                <a:cs typeface="Times New Roman"/>
              </a:rPr>
              <a:t>Nonverbal 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opposite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communication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are important differences between them.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content, nonverbal communication tends </a:t>
            </a:r>
            <a:r>
              <a:rPr dirty="0" sz="1100">
                <a:latin typeface="Times New Roman"/>
                <a:cs typeface="Times New Roman"/>
              </a:rPr>
              <a:t>to do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emotions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verbal.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composition,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grammar that structure our verbal </a:t>
            </a:r>
            <a:r>
              <a:rPr dirty="0" sz="1100">
                <a:latin typeface="Times New Roman"/>
                <a:cs typeface="Times New Roman"/>
              </a:rPr>
              <a:t>communication, </a:t>
            </a:r>
            <a:r>
              <a:rPr dirty="0" sz="1100" spc="-10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official guides govern our 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 signals. No </a:t>
            </a:r>
            <a:r>
              <a:rPr dirty="0" sz="1100" spc="-5">
                <a:latin typeface="Times New Roman"/>
                <a:cs typeface="Times New Roman"/>
              </a:rPr>
              <a:t>dictionaries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thesauruses are available for nonverbal communication. All five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-5">
                <a:latin typeface="Times New Roman"/>
                <a:cs typeface="Times New Roman"/>
              </a:rPr>
              <a:t>senses </a:t>
            </a:r>
            <a:r>
              <a:rPr dirty="0" sz="1100">
                <a:latin typeface="Times New Roman"/>
                <a:cs typeface="Times New Roman"/>
              </a:rPr>
              <a:t> convey nonverbal </a:t>
            </a:r>
            <a:r>
              <a:rPr dirty="0" sz="1100" spc="-5">
                <a:latin typeface="Times New Roman"/>
                <a:cs typeface="Times New Roman"/>
              </a:rPr>
              <a:t>communication. Verbal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communications </a:t>
            </a:r>
            <a:r>
              <a:rPr dirty="0" sz="1100" spc="-5">
                <a:latin typeface="Times New Roman"/>
                <a:cs typeface="Times New Roman"/>
              </a:rPr>
              <a:t>include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 spc="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non-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>
                <a:latin typeface="Times New Roman"/>
                <a:cs typeface="Times New Roman"/>
              </a:rPr>
              <a:t> below.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39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4973548"/>
            <a:ext cx="5970905" cy="3350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 indent="676275">
              <a:lnSpc>
                <a:spcPct val="1101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Paralanguage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vocal element </a:t>
            </a:r>
            <a:r>
              <a:rPr dirty="0" sz="1100">
                <a:latin typeface="Times New Roman"/>
                <a:cs typeface="Times New Roman"/>
              </a:rPr>
              <a:t>of nonverbal communication,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vocalized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1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message,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speaking rate, volume,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pitch. </a:t>
            </a:r>
            <a:r>
              <a:rPr dirty="0" sz="1100">
                <a:latin typeface="Times New Roman"/>
                <a:cs typeface="Times New Roman"/>
              </a:rPr>
              <a:t>Non-vocal </a:t>
            </a:r>
            <a:r>
              <a:rPr dirty="0" sz="1100" spc="-5">
                <a:latin typeface="Times New Roman"/>
                <a:cs typeface="Times New Roman"/>
              </a:rPr>
              <a:t>elements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unspoken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symbols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convey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032:</a:t>
            </a:r>
            <a:r>
              <a:rPr dirty="0" u="heavy" sz="1100" spc="2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Principles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Nonverbal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Nonverbal communication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distinct history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serves separate evolutionary functions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primarily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biologically</a:t>
            </a:r>
            <a:r>
              <a:rPr dirty="0" sz="1100">
                <a:latin typeface="Times New Roman"/>
                <a:cs typeface="Times New Roman"/>
              </a:rPr>
              <a:t> based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primarily </a:t>
            </a:r>
            <a:r>
              <a:rPr dirty="0" sz="1100">
                <a:latin typeface="Times New Roman"/>
                <a:cs typeface="Times New Roman"/>
              </a:rPr>
              <a:t>culturally based. The </a:t>
            </a:r>
            <a:r>
              <a:rPr dirty="0" sz="1100" spc="-5">
                <a:latin typeface="Times New Roman"/>
                <a:cs typeface="Times New Roman"/>
              </a:rPr>
              <a:t>fact that some </a:t>
            </a:r>
            <a:r>
              <a:rPr dirty="0" sz="1100">
                <a:latin typeface="Times New Roman"/>
                <a:cs typeface="Times New Roman"/>
              </a:rPr>
              <a:t>nonverbal </a:t>
            </a:r>
            <a:r>
              <a:rPr dirty="0" sz="1100" spc="-5">
                <a:latin typeface="Times New Roman"/>
                <a:cs typeface="Times New Roman"/>
              </a:rPr>
              <a:t>communication messages have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meaning across cultures </a:t>
            </a:r>
            <a:r>
              <a:rPr dirty="0" sz="1100">
                <a:latin typeface="Times New Roman"/>
                <a:cs typeface="Times New Roman"/>
              </a:rPr>
              <a:t>endorses </a:t>
            </a:r>
            <a:r>
              <a:rPr dirty="0" sz="1100" spc="-5">
                <a:latin typeface="Times New Roman"/>
                <a:cs typeface="Times New Roman"/>
              </a:rPr>
              <a:t>the same, while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verbal communication systems share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universal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recognizability.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and served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early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important survival function that helped humans later develop </a:t>
            </a:r>
            <a:r>
              <a:rPr dirty="0" sz="1100">
                <a:latin typeface="Times New Roman"/>
                <a:cs typeface="Times New Roman"/>
              </a:rPr>
              <a:t> verbal </a:t>
            </a:r>
            <a:r>
              <a:rPr dirty="0" sz="1100" spc="-5">
                <a:latin typeface="Times New Roman"/>
                <a:cs typeface="Times New Roman"/>
              </a:rPr>
              <a:t>communication. </a:t>
            </a:r>
            <a:r>
              <a:rPr dirty="0" sz="1100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-5">
                <a:latin typeface="Times New Roman"/>
                <a:cs typeface="Times New Roman"/>
              </a:rPr>
              <a:t>nonverbal communication abilities, like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sense of smell, lost </a:t>
            </a:r>
            <a:r>
              <a:rPr dirty="0" sz="1100">
                <a:latin typeface="Times New Roman"/>
                <a:cs typeface="Times New Roman"/>
              </a:rPr>
              <a:t> strength as our </a:t>
            </a:r>
            <a:r>
              <a:rPr dirty="0" sz="1100" spc="-5">
                <a:latin typeface="Times New Roman"/>
                <a:cs typeface="Times New Roman"/>
              </a:rPr>
              <a:t>verbal capacities increased, other abilities like paralanguage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movement have grown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alongside verbal complexity.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fact that nonverbal 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processed </a:t>
            </a:r>
            <a:r>
              <a:rPr dirty="0" sz="1100">
                <a:latin typeface="Times New Roman"/>
                <a:cs typeface="Times New Roman"/>
              </a:rPr>
              <a:t>by an </a:t>
            </a:r>
            <a:r>
              <a:rPr dirty="0" sz="1100" spc="-5">
                <a:latin typeface="Times New Roman"/>
                <a:cs typeface="Times New Roman"/>
              </a:rPr>
              <a:t>older part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 makes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more instinctual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involuntary </a:t>
            </a:r>
            <a:r>
              <a:rPr dirty="0" sz="1100">
                <a:latin typeface="Times New Roman"/>
                <a:cs typeface="Times New Roman"/>
              </a:rPr>
              <a:t>than verbal </a:t>
            </a:r>
            <a:r>
              <a:rPr dirty="0" sz="1100" spc="-5">
                <a:latin typeface="Times New Roman"/>
                <a:cs typeface="Times New Roman"/>
              </a:rPr>
              <a:t>communication. Nonverbal 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interpersonal, conveys emotional messages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is more involuntary than verbal.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more ambiguous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credible.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43076" y="3786251"/>
          <a:ext cx="5948045" cy="104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/>
                <a:gridCol w="2058035"/>
                <a:gridCol w="2725420"/>
              </a:tblGrid>
              <a:tr h="2865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Verbal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Nonverbal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427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Vocal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Spoken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Paralanguage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(pitch,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volume,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speaking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rate,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etc.)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Non-vocal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Writing,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Body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(gestures,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facial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expressions,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eye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contact,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etc.)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2810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033: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Conveyance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Interpersonal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Emotional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Messages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believed that more meaning is generated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nonverbal communication than from </a:t>
            </a:r>
            <a:r>
              <a:rPr dirty="0" sz="1100">
                <a:latin typeface="Times New Roman"/>
                <a:cs typeface="Times New Roman"/>
              </a:rPr>
              <a:t>verbal.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studies </a:t>
            </a:r>
            <a:r>
              <a:rPr dirty="0" sz="1100" spc="-5">
                <a:latin typeface="Times New Roman"/>
                <a:cs typeface="Times New Roman"/>
              </a:rPr>
              <a:t>have claimed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60-90 </a:t>
            </a:r>
            <a:r>
              <a:rPr dirty="0" sz="1100">
                <a:latin typeface="Times New Roman"/>
                <a:cs typeface="Times New Roman"/>
              </a:rPr>
              <a:t>percent of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meaning is </a:t>
            </a:r>
            <a:r>
              <a:rPr dirty="0" sz="1100" spc="-5">
                <a:latin typeface="Times New Roman"/>
                <a:cs typeface="Times New Roman"/>
              </a:rPr>
              <a:t>derived </a:t>
            </a:r>
            <a:r>
              <a:rPr dirty="0" sz="1100">
                <a:latin typeface="Times New Roman"/>
                <a:cs typeface="Times New Roman"/>
              </a:rPr>
              <a:t>from nonverbal </a:t>
            </a:r>
            <a:r>
              <a:rPr dirty="0" sz="1100" spc="-5">
                <a:latin typeface="Times New Roman"/>
                <a:cs typeface="Times New Roman"/>
              </a:rPr>
              <a:t>signals,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recent </a:t>
            </a:r>
            <a:r>
              <a:rPr dirty="0" sz="1100" spc="-5">
                <a:latin typeface="Times New Roman"/>
                <a:cs typeface="Times New Roman"/>
              </a:rPr>
              <a:t>and reliable findings </a:t>
            </a:r>
            <a:r>
              <a:rPr dirty="0" sz="1100">
                <a:latin typeface="Times New Roman"/>
                <a:cs typeface="Times New Roman"/>
              </a:rPr>
              <a:t>claim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closer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65 </a:t>
            </a:r>
            <a:r>
              <a:rPr dirty="0" sz="1100">
                <a:latin typeface="Times New Roman"/>
                <a:cs typeface="Times New Roman"/>
              </a:rPr>
              <a:t>percent. We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rely more on nonverbal </a:t>
            </a:r>
            <a:r>
              <a:rPr dirty="0" sz="1100" spc="-5">
                <a:latin typeface="Times New Roman"/>
                <a:cs typeface="Times New Roman"/>
              </a:rPr>
              <a:t>signals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 where verbal and nonverbal messages conflict and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situations where emotional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relational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is </a:t>
            </a:r>
            <a:r>
              <a:rPr dirty="0" sz="1100">
                <a:latin typeface="Times New Roman"/>
                <a:cs typeface="Times New Roman"/>
              </a:rPr>
              <a:t>taking </a:t>
            </a:r>
            <a:r>
              <a:rPr dirty="0" sz="1100" spc="-5">
                <a:latin typeface="Times New Roman"/>
                <a:cs typeface="Times New Roman"/>
              </a:rPr>
              <a:t>place.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someone asks </a:t>
            </a:r>
            <a:r>
              <a:rPr dirty="0" sz="1100">
                <a:latin typeface="Times New Roman"/>
                <a:cs typeface="Times New Roman"/>
              </a:rPr>
              <a:t>a question and we </a:t>
            </a:r>
            <a:r>
              <a:rPr dirty="0" sz="1100" spc="-5">
                <a:latin typeface="Times New Roman"/>
                <a:cs typeface="Times New Roman"/>
              </a:rPr>
              <a:t>are not sure about the ‘angle’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taking, we may </a:t>
            </a:r>
            <a:r>
              <a:rPr dirty="0" sz="1100">
                <a:latin typeface="Times New Roman"/>
                <a:cs typeface="Times New Roman"/>
              </a:rPr>
              <a:t>hone in on </a:t>
            </a:r>
            <a:r>
              <a:rPr dirty="0" sz="1100" spc="-5">
                <a:latin typeface="Times New Roman"/>
                <a:cs typeface="Times New Roman"/>
              </a:rPr>
              <a:t>nonverbal cues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fill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question </a:t>
            </a:r>
            <a:r>
              <a:rPr dirty="0" sz="1100" spc="-10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‘What </a:t>
            </a:r>
            <a:r>
              <a:rPr dirty="0" sz="1100" spc="-5">
                <a:latin typeface="Times New Roman"/>
                <a:cs typeface="Times New Roman"/>
              </a:rPr>
              <a:t>are you </a:t>
            </a:r>
            <a:r>
              <a:rPr dirty="0" sz="1100">
                <a:latin typeface="Times New Roman"/>
                <a:cs typeface="Times New Roman"/>
              </a:rPr>
              <a:t>doing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tonight?’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posture,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curious,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suspicious,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hinting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they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evening.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also put more weight </a:t>
            </a:r>
            <a:r>
              <a:rPr dirty="0" sz="1100">
                <a:latin typeface="Times New Roman"/>
                <a:cs typeface="Times New Roman"/>
              </a:rPr>
              <a:t>on nonverbal </a:t>
            </a:r>
            <a:r>
              <a:rPr dirty="0" sz="1100" spc="-5">
                <a:latin typeface="Times New Roman"/>
                <a:cs typeface="Times New Roman"/>
              </a:rPr>
              <a:t>communication when determining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person’s </a:t>
            </a:r>
            <a:r>
              <a:rPr dirty="0" sz="1100" spc="-5">
                <a:latin typeface="Times New Roman"/>
                <a:cs typeface="Times New Roman"/>
              </a:rPr>
              <a:t>credibility.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 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classmate delivers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class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her verbal content </a:t>
            </a:r>
            <a:r>
              <a:rPr dirty="0" sz="1100" spc="-10">
                <a:latin typeface="Times New Roman"/>
                <a:cs typeface="Times New Roman"/>
              </a:rPr>
              <a:t>seems </a:t>
            </a:r>
            <a:r>
              <a:rPr dirty="0" sz="1100">
                <a:latin typeface="Times New Roman"/>
                <a:cs typeface="Times New Roman"/>
              </a:rPr>
              <a:t>well-researched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unbiased,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her </a:t>
            </a:r>
            <a:r>
              <a:rPr dirty="0" sz="1100" spc="-5">
                <a:latin typeface="Times New Roman"/>
                <a:cs typeface="Times New Roman"/>
              </a:rPr>
              <a:t>nonverbal communication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poor (her voice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monotone, she </a:t>
            </a:r>
            <a:r>
              <a:rPr dirty="0" sz="1100">
                <a:latin typeface="Times New Roman"/>
                <a:cs typeface="Times New Roman"/>
              </a:rPr>
              <a:t>avoids </a:t>
            </a:r>
            <a:r>
              <a:rPr dirty="0" sz="1100" spc="-5">
                <a:latin typeface="Times New Roman"/>
                <a:cs typeface="Times New Roman"/>
              </a:rPr>
              <a:t>eye </a:t>
            </a:r>
            <a:r>
              <a:rPr dirty="0" sz="1100">
                <a:latin typeface="Times New Roman"/>
                <a:cs typeface="Times New Roman"/>
              </a:rPr>
              <a:t>contact, </a:t>
            </a:r>
            <a:r>
              <a:rPr dirty="0" sz="1100" spc="-5">
                <a:latin typeface="Times New Roman"/>
                <a:cs typeface="Times New Roman"/>
              </a:rPr>
              <a:t>she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fidgets),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viewed </a:t>
            </a:r>
            <a:r>
              <a:rPr dirty="0" sz="1100" spc="-10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contrary,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situations,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interactions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information exchange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focus, 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briefing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work,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 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probably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generated.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exception,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interpersonal </a:t>
            </a:r>
            <a:r>
              <a:rPr dirty="0" sz="1100">
                <a:latin typeface="Times New Roman"/>
                <a:cs typeface="Times New Roman"/>
              </a:rPr>
              <a:t>and/or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Involuntary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than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Verbal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involuntarily.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exclamations are often verbal responses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surprising stimulus. For example, we </a:t>
            </a:r>
            <a:r>
              <a:rPr dirty="0" sz="1100">
                <a:latin typeface="Times New Roman"/>
                <a:cs typeface="Times New Roman"/>
              </a:rPr>
              <a:t>say </a:t>
            </a:r>
            <a:r>
              <a:rPr dirty="0" sz="1100" spc="-5">
                <a:latin typeface="Times New Roman"/>
                <a:cs typeface="Times New Roman"/>
              </a:rPr>
              <a:t>‘owww!’ when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stub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toe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scream </a:t>
            </a:r>
            <a:r>
              <a:rPr dirty="0" sz="1100">
                <a:latin typeface="Times New Roman"/>
                <a:cs typeface="Times New Roman"/>
              </a:rPr>
              <a:t>‘stop!’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heading toward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danger.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Involuntary nonverbal </a:t>
            </a:r>
            <a:r>
              <a:rPr dirty="0" sz="1100">
                <a:latin typeface="Times New Roman"/>
                <a:cs typeface="Times New Roman"/>
              </a:rPr>
              <a:t> signals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involuntary,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consciousness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control.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involuntary </a:t>
            </a:r>
            <a:r>
              <a:rPr dirty="0" sz="1100">
                <a:latin typeface="Times New Roman"/>
                <a:cs typeface="Times New Roman"/>
              </a:rPr>
              <a:t>nature of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nonverbal </a:t>
            </a:r>
            <a:r>
              <a:rPr dirty="0" sz="1100" spc="-5">
                <a:latin typeface="Times New Roman"/>
                <a:cs typeface="Times New Roman"/>
              </a:rPr>
              <a:t>communication makes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more difficult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control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‘fake’. 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 spc="-10">
                <a:latin typeface="Times New Roman"/>
                <a:cs typeface="Times New Roman"/>
              </a:rPr>
              <a:t>although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consciously smile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little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shake hands with </a:t>
            </a:r>
            <a:r>
              <a:rPr dirty="0" sz="1100">
                <a:latin typeface="Times New Roman"/>
                <a:cs typeface="Times New Roman"/>
              </a:rPr>
              <a:t>someone </a:t>
            </a:r>
            <a:r>
              <a:rPr dirty="0" sz="1100" spc="-5">
                <a:latin typeface="Times New Roman"/>
                <a:cs typeface="Times New Roman"/>
              </a:rPr>
              <a:t>when you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them,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fake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‘happy’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someone. </a:t>
            </a:r>
            <a:r>
              <a:rPr dirty="0" sz="1100">
                <a:latin typeface="Times New Roman"/>
                <a:cs typeface="Times New Roman"/>
              </a:rPr>
              <a:t>Nonverbal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leaks </a:t>
            </a:r>
            <a:r>
              <a:rPr dirty="0" sz="1100">
                <a:latin typeface="Times New Roman"/>
                <a:cs typeface="Times New Roman"/>
              </a:rPr>
              <a:t>out in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expose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underlying thoughts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feelings. </a:t>
            </a:r>
            <a:r>
              <a:rPr dirty="0" sz="1100">
                <a:latin typeface="Times New Roman"/>
                <a:cs typeface="Times New Roman"/>
              </a:rPr>
              <a:t>Spokespersons, </a:t>
            </a:r>
            <a:r>
              <a:rPr dirty="0" sz="1100" spc="-5">
                <a:latin typeface="Times New Roman"/>
                <a:cs typeface="Times New Roman"/>
              </a:rPr>
              <a:t>lawyers,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other public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representatives who are the ‘face’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politician, celebrity, corporation,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organization must </a:t>
            </a:r>
            <a:r>
              <a:rPr dirty="0" sz="1100">
                <a:latin typeface="Times New Roman"/>
                <a:cs typeface="Times New Roman"/>
              </a:rPr>
              <a:t>learn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control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facial expressions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communication, so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 can </a:t>
            </a:r>
            <a:r>
              <a:rPr dirty="0" sz="1100" spc="-5">
                <a:latin typeface="Times New Roman"/>
                <a:cs typeface="Times New Roman"/>
              </a:rPr>
              <a:t>effectively </a:t>
            </a:r>
            <a:r>
              <a:rPr dirty="0" sz="1100">
                <a:latin typeface="Times New Roman"/>
                <a:cs typeface="Times New Roman"/>
              </a:rPr>
              <a:t>convey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message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employer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client without having their personal thoughts </a:t>
            </a:r>
            <a:r>
              <a:rPr dirty="0" sz="1100" spc="1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feelings leak through.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Therapists, police officers, </a:t>
            </a:r>
            <a:r>
              <a:rPr dirty="0" sz="1100">
                <a:latin typeface="Times New Roman"/>
                <a:cs typeface="Times New Roman"/>
              </a:rPr>
              <a:t>doctors, </a:t>
            </a:r>
            <a:r>
              <a:rPr dirty="0" sz="1100" spc="-5">
                <a:latin typeface="Times New Roman"/>
                <a:cs typeface="Times New Roman"/>
              </a:rPr>
              <a:t>teachers, and actors are also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professions that often require </a:t>
            </a:r>
            <a:r>
              <a:rPr dirty="0" sz="1100">
                <a:latin typeface="Times New Roman"/>
                <a:cs typeface="Times New Roman"/>
              </a:rPr>
              <a:t>them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awareness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Have you ever tried to conceal your surprise, </a:t>
            </a:r>
            <a:r>
              <a:rPr dirty="0" sz="1100">
                <a:latin typeface="Times New Roman"/>
                <a:cs typeface="Times New Roman"/>
              </a:rPr>
              <a:t>suppress </a:t>
            </a:r>
            <a:r>
              <a:rPr dirty="0" sz="1100" spc="-5">
                <a:latin typeface="Times New Roman"/>
                <a:cs typeface="Times New Roman"/>
              </a:rPr>
              <a:t>your anger,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act joyful even when you </a:t>
            </a:r>
            <a:r>
              <a:rPr dirty="0" sz="1100">
                <a:latin typeface="Times New Roman"/>
                <a:cs typeface="Times New Roman"/>
              </a:rPr>
              <a:t> were </a:t>
            </a:r>
            <a:r>
              <a:rPr dirty="0" sz="1100" spc="-5">
                <a:latin typeface="Times New Roman"/>
                <a:cs typeface="Times New Roman"/>
              </a:rPr>
              <a:t>not? Most people whose careers </a:t>
            </a:r>
            <a:r>
              <a:rPr dirty="0" sz="1100" spc="-1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involve </a:t>
            </a:r>
            <a:r>
              <a:rPr dirty="0" sz="1100">
                <a:latin typeface="Times New Roman"/>
                <a:cs typeface="Times New Roman"/>
              </a:rPr>
              <a:t>conscious </a:t>
            </a:r>
            <a:r>
              <a:rPr dirty="0" sz="1100" spc="-5">
                <a:latin typeface="Times New Roman"/>
                <a:cs typeface="Times New Roman"/>
              </a:rPr>
              <a:t>manipulation </a:t>
            </a:r>
            <a:r>
              <a:rPr dirty="0" sz="1100">
                <a:latin typeface="Times New Roman"/>
                <a:cs typeface="Times New Roman"/>
              </a:rPr>
              <a:t>of nonverbal </a:t>
            </a:r>
            <a:r>
              <a:rPr dirty="0" sz="1100" spc="-5">
                <a:latin typeface="Times New Roman"/>
                <a:cs typeface="Times New Roman"/>
              </a:rPr>
              <a:t>signals find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suppress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them.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consciously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decide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stop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sending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for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6491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25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teenager who decides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shut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his </a:t>
            </a:r>
            <a:r>
              <a:rPr dirty="0" sz="1100">
                <a:latin typeface="Times New Roman"/>
                <a:cs typeface="Times New Roman"/>
              </a:rPr>
              <a:t>dad and </a:t>
            </a:r>
            <a:r>
              <a:rPr dirty="0" sz="1100" spc="-5">
                <a:latin typeface="Times New Roman"/>
                <a:cs typeface="Times New Roman"/>
              </a:rPr>
              <a:t>not communicate with him </a:t>
            </a:r>
            <a:r>
              <a:rPr dirty="0" sz="1100">
                <a:latin typeface="Times New Roman"/>
                <a:cs typeface="Times New Roman"/>
              </a:rPr>
              <a:t>still </a:t>
            </a:r>
            <a:r>
              <a:rPr dirty="0" sz="1100" spc="-5">
                <a:latin typeface="Times New Roman"/>
                <a:cs typeface="Times New Roman"/>
              </a:rPr>
              <a:t>sends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message with 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‘blank’ stare (still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facial expression) and lack </a:t>
            </a:r>
            <a:r>
              <a:rPr dirty="0" sz="1100">
                <a:latin typeface="Times New Roman"/>
                <a:cs typeface="Times New Roman"/>
              </a:rPr>
              <a:t>of movement </a:t>
            </a:r>
            <a:r>
              <a:rPr dirty="0" sz="1100" spc="-5">
                <a:latin typeface="Times New Roman"/>
                <a:cs typeface="Times New Roman"/>
              </a:rPr>
              <a:t>(still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gesture).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sense, nonverbal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‘irrepressible’.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035: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More Ambiguous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921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symbolic and abstract nature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lead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misunderstandings,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multiple meanings,</a:t>
            </a:r>
            <a:r>
              <a:rPr dirty="0" sz="1100">
                <a:latin typeface="Times New Roman"/>
                <a:cs typeface="Times New Roman"/>
              </a:rPr>
              <a:t> but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nonverbal </a:t>
            </a:r>
            <a:r>
              <a:rPr dirty="0" sz="1100" spc="-5">
                <a:latin typeface="Times New Roman"/>
                <a:cs typeface="Times New Roman"/>
              </a:rPr>
              <a:t>signals</a:t>
            </a:r>
            <a:r>
              <a:rPr dirty="0" sz="1100">
                <a:latin typeface="Times New Roman"/>
                <a:cs typeface="Times New Roman"/>
              </a:rPr>
              <a:t> do not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 one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meaning.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you have ever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someone wink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and did </a:t>
            </a:r>
            <a:r>
              <a:rPr dirty="0" sz="1100" spc="-5">
                <a:latin typeface="Times New Roman"/>
                <a:cs typeface="Times New Roman"/>
              </a:rPr>
              <a:t>not know why, you have </a:t>
            </a:r>
            <a:r>
              <a:rPr dirty="0" sz="1100">
                <a:latin typeface="Times New Roman"/>
                <a:cs typeface="Times New Roman"/>
              </a:rPr>
              <a:t>probably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uncertainty.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wink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pleasure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just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inside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joke?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Just </a:t>
            </a:r>
            <a:r>
              <a:rPr dirty="0" sz="1100" spc="-5">
                <a:latin typeface="Times New Roman"/>
                <a:cs typeface="Times New Roman"/>
              </a:rPr>
              <a:t>as we </a:t>
            </a:r>
            <a:r>
              <a:rPr dirty="0" sz="1100">
                <a:latin typeface="Times New Roman"/>
                <a:cs typeface="Times New Roman"/>
              </a:rPr>
              <a:t>look at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clues in a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paragraph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derive meaning </a:t>
            </a:r>
            <a:r>
              <a:rPr dirty="0" sz="1100">
                <a:latin typeface="Times New Roman"/>
                <a:cs typeface="Times New Roman"/>
              </a:rPr>
              <a:t>from a particular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look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context clues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various sources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like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physical environment, other </a:t>
            </a:r>
            <a:r>
              <a:rPr dirty="0" sz="1100">
                <a:latin typeface="Times New Roman"/>
                <a:cs typeface="Times New Roman"/>
              </a:rPr>
              <a:t> nonverbal </a:t>
            </a:r>
            <a:r>
              <a:rPr dirty="0" sz="1100" spc="-5">
                <a:latin typeface="Times New Roman"/>
                <a:cs typeface="Times New Roman"/>
              </a:rPr>
              <a:t>signals,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verbal communication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 of a </a:t>
            </a:r>
            <a:r>
              <a:rPr dirty="0" sz="1100" spc="-5">
                <a:latin typeface="Times New Roman"/>
                <a:cs typeface="Times New Roman"/>
              </a:rPr>
              <a:t>particular nonverbal </a:t>
            </a:r>
            <a:r>
              <a:rPr dirty="0" sz="1100">
                <a:latin typeface="Times New Roman"/>
                <a:cs typeface="Times New Roman"/>
              </a:rPr>
              <a:t>cue. </a:t>
            </a:r>
            <a:r>
              <a:rPr dirty="0" sz="1100" spc="-5">
                <a:latin typeface="Times New Roman"/>
                <a:cs typeface="Times New Roman"/>
              </a:rPr>
              <a:t>Unlike 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 however, </a:t>
            </a:r>
            <a:r>
              <a:rPr dirty="0" sz="1100">
                <a:latin typeface="Times New Roman"/>
                <a:cs typeface="Times New Roman"/>
              </a:rPr>
              <a:t>nonverbal communication does </a:t>
            </a:r>
            <a:r>
              <a:rPr dirty="0" sz="1100" spc="-5">
                <a:latin typeface="Times New Roman"/>
                <a:cs typeface="Times New Roman"/>
              </a:rPr>
              <a:t>not have explicit rules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bring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agreed-on</a:t>
            </a:r>
            <a:r>
              <a:rPr dirty="0" sz="1100">
                <a:latin typeface="Times New Roman"/>
                <a:cs typeface="Times New Roman"/>
              </a:rPr>
              <a:t> patterns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usage.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implicitly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 which leads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greater alteration.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general, </a:t>
            </a:r>
            <a:r>
              <a:rPr dirty="0" sz="1100" spc="-5">
                <a:latin typeface="Times New Roman"/>
                <a:cs typeface="Times New Roman"/>
              </a:rPr>
              <a:t>we exhibit more idiosyncrasies </a:t>
            </a:r>
            <a:r>
              <a:rPr dirty="0" sz="1100">
                <a:latin typeface="Times New Roman"/>
                <a:cs typeface="Times New Roman"/>
              </a:rPr>
              <a:t>in our </a:t>
            </a:r>
            <a:r>
              <a:rPr dirty="0" sz="1100" spc="5">
                <a:latin typeface="Times New Roman"/>
                <a:cs typeface="Times New Roman"/>
              </a:rPr>
              <a:t>usage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nonverbal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036: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Credible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Although we can </a:t>
            </a:r>
            <a:r>
              <a:rPr dirty="0" sz="1100">
                <a:latin typeface="Times New Roman"/>
                <a:cs typeface="Times New Roman"/>
              </a:rPr>
              <a:t>rely on </a:t>
            </a:r>
            <a:r>
              <a:rPr dirty="0" sz="1100" spc="-5">
                <a:latin typeface="Times New Roman"/>
                <a:cs typeface="Times New Roman"/>
              </a:rPr>
              <a:t>verbal communication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fill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blanks sometimes left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trust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true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 </a:t>
            </a:r>
            <a:r>
              <a:rPr dirty="0" sz="1100">
                <a:latin typeface="Times New Roman"/>
                <a:cs typeface="Times New Roman"/>
              </a:rPr>
              <a:t>of stress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danger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our behaviours </a:t>
            </a:r>
            <a:r>
              <a:rPr dirty="0" sz="1100" spc="-5">
                <a:latin typeface="Times New Roman"/>
                <a:cs typeface="Times New Roman"/>
              </a:rPr>
              <a:t>become more </a:t>
            </a:r>
            <a:r>
              <a:rPr dirty="0" sz="1100">
                <a:latin typeface="Times New Roman"/>
                <a:cs typeface="Times New Roman"/>
              </a:rPr>
              <a:t>instinctual, </a:t>
            </a:r>
            <a:r>
              <a:rPr dirty="0" sz="1100" spc="-5">
                <a:latin typeface="Times New Roman"/>
                <a:cs typeface="Times New Roman"/>
              </a:rPr>
              <a:t>and we </a:t>
            </a:r>
            <a:r>
              <a:rPr dirty="0" sz="1100">
                <a:latin typeface="Times New Roman"/>
                <a:cs typeface="Times New Roman"/>
              </a:rPr>
              <a:t>rely on </a:t>
            </a:r>
            <a:r>
              <a:rPr dirty="0" sz="1100" spc="-5">
                <a:latin typeface="Times New Roman"/>
                <a:cs typeface="Times New Roman"/>
              </a:rPr>
              <a:t>older systems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write.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innateness creates intuitive feelings about the genuineness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 communication,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genuineness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relates</a:t>
            </a:r>
            <a:r>
              <a:rPr dirty="0" sz="1100">
                <a:latin typeface="Times New Roman"/>
                <a:cs typeface="Times New Roman"/>
              </a:rPr>
              <a:t> back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subconscious nature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 </a:t>
            </a:r>
            <a:r>
              <a:rPr dirty="0" sz="1100">
                <a:latin typeface="Times New Roman"/>
                <a:cs typeface="Times New Roman"/>
              </a:rPr>
              <a:t>communication. </a:t>
            </a:r>
            <a:r>
              <a:rPr dirty="0" sz="1100" spc="-5">
                <a:latin typeface="Times New Roman"/>
                <a:cs typeface="Times New Roman"/>
              </a:rPr>
              <a:t>An example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innateness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 signals can 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found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children who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blind since birth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still exhibit the same facial expressions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involuntary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subconscious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makes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fake;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honest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credible.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82607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Lesson-07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NONVERBAL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COMMUNICATION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SEMIOSIS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037: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Nonverbal 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Just as </a:t>
            </a:r>
            <a:r>
              <a:rPr dirty="0" sz="1100" spc="-5">
                <a:latin typeface="Times New Roman"/>
                <a:cs typeface="Times New Roman"/>
              </a:rPr>
              <a:t>verbal language is broken </a:t>
            </a:r>
            <a:r>
              <a:rPr dirty="0" sz="1100" spc="-10">
                <a:latin typeface="Times New Roman"/>
                <a:cs typeface="Times New Roman"/>
              </a:rPr>
              <a:t>up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various categories, there are </a:t>
            </a:r>
            <a:r>
              <a:rPr dirty="0" sz="1100">
                <a:latin typeface="Times New Roman"/>
                <a:cs typeface="Times New Roman"/>
              </a:rPr>
              <a:t>also different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nonverbal </a:t>
            </a:r>
            <a:r>
              <a:rPr dirty="0" sz="1100" spc="-5">
                <a:latin typeface="Times New Roman"/>
                <a:cs typeface="Times New Roman"/>
              </a:rPr>
              <a:t>communication. </a:t>
            </a:r>
            <a:r>
              <a:rPr dirty="0" sz="1100">
                <a:latin typeface="Times New Roman"/>
                <a:cs typeface="Times New Roman"/>
              </a:rPr>
              <a:t>While learn </a:t>
            </a:r>
            <a:r>
              <a:rPr dirty="0" sz="1100" spc="-5">
                <a:latin typeface="Times New Roman"/>
                <a:cs typeface="Times New Roman"/>
              </a:rPr>
              <a:t>about each type </a:t>
            </a:r>
            <a:r>
              <a:rPr dirty="0" sz="1100">
                <a:latin typeface="Times New Roman"/>
                <a:cs typeface="Times New Roman"/>
              </a:rPr>
              <a:t>of nonverbal </a:t>
            </a:r>
            <a:r>
              <a:rPr dirty="0" sz="1100" spc="-5">
                <a:latin typeface="Times New Roman"/>
                <a:cs typeface="Times New Roman"/>
              </a:rPr>
              <a:t>signal, you </a:t>
            </a:r>
            <a:r>
              <a:rPr dirty="0" sz="1100">
                <a:latin typeface="Times New Roman"/>
                <a:cs typeface="Times New Roman"/>
              </a:rPr>
              <a:t>should </a:t>
            </a:r>
            <a:r>
              <a:rPr dirty="0" sz="1100" spc="-5">
                <a:latin typeface="Times New Roman"/>
                <a:cs typeface="Times New Roman"/>
              </a:rPr>
              <a:t>keep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mind that </a:t>
            </a:r>
            <a:r>
              <a:rPr dirty="0" sz="1100">
                <a:latin typeface="Times New Roman"/>
                <a:cs typeface="Times New Roman"/>
              </a:rPr>
              <a:t> nonverbal </a:t>
            </a:r>
            <a:r>
              <a:rPr dirty="0" sz="1100" spc="-5">
                <a:latin typeface="Times New Roman"/>
                <a:cs typeface="Times New Roman"/>
              </a:rPr>
              <a:t>gestures often work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concert with each </a:t>
            </a:r>
            <a:r>
              <a:rPr dirty="0" sz="1100">
                <a:latin typeface="Times New Roman"/>
                <a:cs typeface="Times New Roman"/>
              </a:rPr>
              <a:t>other, </a:t>
            </a:r>
            <a:r>
              <a:rPr dirty="0" sz="1100" spc="-5">
                <a:latin typeface="Times New Roman"/>
                <a:cs typeface="Times New Roman"/>
              </a:rPr>
              <a:t>combining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repeat, modify, </a:t>
            </a:r>
            <a:r>
              <a:rPr dirty="0" sz="1100">
                <a:latin typeface="Times New Roman"/>
                <a:cs typeface="Times New Roman"/>
              </a:rPr>
              <a:t>or contradict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verbal </a:t>
            </a:r>
            <a:r>
              <a:rPr dirty="0" sz="1100" spc="-5">
                <a:latin typeface="Times New Roman"/>
                <a:cs typeface="Times New Roman"/>
              </a:rPr>
              <a:t>message being </a:t>
            </a:r>
            <a:r>
              <a:rPr dirty="0" sz="1100">
                <a:latin typeface="Times New Roman"/>
                <a:cs typeface="Times New Roman"/>
              </a:rPr>
              <a:t>sent. We </a:t>
            </a:r>
            <a:r>
              <a:rPr dirty="0" sz="1100" spc="-5">
                <a:latin typeface="Times New Roman"/>
                <a:cs typeface="Times New Roman"/>
              </a:rPr>
              <a:t>use different </a:t>
            </a:r>
            <a:r>
              <a:rPr dirty="0" sz="1100" spc="-5" b="1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hannels simultaneously;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also increase our nonverbal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competence</a:t>
            </a:r>
            <a:r>
              <a:rPr dirty="0" sz="1100">
                <a:latin typeface="Times New Roman"/>
                <a:cs typeface="Times New Roman"/>
              </a:rPr>
              <a:t> by becoming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aware of how it </a:t>
            </a:r>
            <a:r>
              <a:rPr dirty="0" sz="1100" spc="-5">
                <a:latin typeface="Times New Roman"/>
                <a:cs typeface="Times New Roman"/>
              </a:rPr>
              <a:t>operates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channels.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one can </a:t>
            </a:r>
            <a:r>
              <a:rPr dirty="0" sz="1100" spc="-5">
                <a:latin typeface="Times New Roman"/>
                <a:cs typeface="Times New Roman"/>
              </a:rPr>
              <a:t>truly offer you </a:t>
            </a:r>
            <a:r>
              <a:rPr dirty="0" sz="1100">
                <a:latin typeface="Times New Roman"/>
                <a:cs typeface="Times New Roman"/>
              </a:rPr>
              <a:t>a rulebook on how to send every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nonverbal </a:t>
            </a:r>
            <a:r>
              <a:rPr dirty="0" sz="1100" spc="-5">
                <a:latin typeface="Times New Roman"/>
                <a:cs typeface="Times New Roman"/>
              </a:rPr>
              <a:t>signal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effectively, yet </a:t>
            </a:r>
            <a:r>
              <a:rPr dirty="0" sz="1100">
                <a:latin typeface="Times New Roman"/>
                <a:cs typeface="Times New Roman"/>
              </a:rPr>
              <a:t> several</a:t>
            </a:r>
            <a:r>
              <a:rPr dirty="0" sz="1100" spc="-5">
                <a:latin typeface="Times New Roman"/>
                <a:cs typeface="Times New Roman"/>
              </a:rPr>
              <a:t> nonverbal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anecdotal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less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038: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Kinesics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Kinesics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postures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includes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Gestures are </a:t>
            </a:r>
            <a:r>
              <a:rPr dirty="0" sz="1100">
                <a:latin typeface="Times New Roman"/>
                <a:cs typeface="Times New Roman"/>
              </a:rPr>
              <a:t>arm and hand </a:t>
            </a:r>
            <a:r>
              <a:rPr dirty="0" sz="1100" spc="-5">
                <a:latin typeface="Times New Roman"/>
                <a:cs typeface="Times New Roman"/>
              </a:rPr>
              <a:t>movements </a:t>
            </a:r>
            <a:r>
              <a:rPr dirty="0" sz="1100">
                <a:latin typeface="Times New Roman"/>
                <a:cs typeface="Times New Roman"/>
              </a:rPr>
              <a:t>and include </a:t>
            </a:r>
            <a:r>
              <a:rPr dirty="0" sz="1100" spc="-5">
                <a:latin typeface="Times New Roman"/>
                <a:cs typeface="Times New Roman"/>
              </a:rPr>
              <a:t>adaptors like clicking </a:t>
            </a:r>
            <a:r>
              <a:rPr dirty="0" sz="1100">
                <a:latin typeface="Times New Roman"/>
                <a:cs typeface="Times New Roman"/>
              </a:rPr>
              <a:t>a pen or </a:t>
            </a:r>
            <a:r>
              <a:rPr dirty="0" sz="1100" spc="-5">
                <a:latin typeface="Times New Roman"/>
                <a:cs typeface="Times New Roman"/>
              </a:rPr>
              <a:t>scratching your </a:t>
            </a:r>
            <a:r>
              <a:rPr dirty="0" sz="1100">
                <a:latin typeface="Times New Roman"/>
                <a:cs typeface="Times New Roman"/>
              </a:rPr>
              <a:t> face,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emblems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thumbs-up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‘OK’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illustrators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bouncing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your speaking. Head movements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posture include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orientation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movements </a:t>
            </a:r>
            <a:r>
              <a:rPr dirty="0" sz="1100">
                <a:latin typeface="Times New Roman"/>
                <a:cs typeface="Times New Roman"/>
              </a:rPr>
              <a:t>of our </a:t>
            </a:r>
            <a:r>
              <a:rPr dirty="0" sz="1100" spc="10">
                <a:latin typeface="Times New Roman"/>
                <a:cs typeface="Times New Roman"/>
              </a:rPr>
              <a:t>head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orientation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send.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nodding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indicate agreement, disagreement, </a:t>
            </a:r>
            <a:r>
              <a:rPr dirty="0" sz="1100">
                <a:latin typeface="Times New Roman"/>
                <a:cs typeface="Times New Roman"/>
              </a:rPr>
              <a:t>and interest,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things. Posture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assertiveness,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defensiveness,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readiness,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intimidation,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things.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Eye </a:t>
            </a:r>
            <a:r>
              <a:rPr dirty="0" sz="1100">
                <a:latin typeface="Times New Roman"/>
                <a:cs typeface="Times New Roman"/>
              </a:rPr>
              <a:t>contact is </a:t>
            </a:r>
            <a:r>
              <a:rPr dirty="0" sz="1100" spc="-5">
                <a:latin typeface="Times New Roman"/>
                <a:cs typeface="Times New Roman"/>
              </a:rPr>
              <a:t>studied under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oculesics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specifically refers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eye contact with </a:t>
            </a:r>
            <a:r>
              <a:rPr dirty="0" sz="1100">
                <a:latin typeface="Times New Roman"/>
                <a:cs typeface="Times New Roman"/>
              </a:rPr>
              <a:t> another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person’s face,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eyes</a:t>
            </a:r>
            <a:r>
              <a:rPr dirty="0" sz="1100">
                <a:latin typeface="Times New Roman"/>
                <a:cs typeface="Times New Roman"/>
              </a:rPr>
              <a:t> and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looking </a:t>
            </a:r>
            <a:r>
              <a:rPr dirty="0" sz="1100">
                <a:latin typeface="Times New Roman"/>
                <a:cs typeface="Times New Roman"/>
              </a:rPr>
              <a:t>away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 at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 </a:t>
            </a:r>
            <a:r>
              <a:rPr dirty="0" sz="1100">
                <a:latin typeface="Times New Roman"/>
                <a:cs typeface="Times New Roman"/>
              </a:rPr>
              <a:t> during </a:t>
            </a:r>
            <a:r>
              <a:rPr dirty="0" sz="1100" spc="-5">
                <a:latin typeface="Times New Roman"/>
                <a:cs typeface="Times New Roman"/>
              </a:rPr>
              <a:t>interaction. Eye </a:t>
            </a:r>
            <a:r>
              <a:rPr dirty="0" sz="1100">
                <a:latin typeface="Times New Roman"/>
                <a:cs typeface="Times New Roman"/>
              </a:rPr>
              <a:t>contact </a:t>
            </a:r>
            <a:r>
              <a:rPr dirty="0" sz="1100" spc="-5">
                <a:latin typeface="Times New Roman"/>
                <a:cs typeface="Times New Roman"/>
              </a:rPr>
              <a:t>provides turn-taking </a:t>
            </a:r>
            <a:r>
              <a:rPr dirty="0" sz="1100">
                <a:latin typeface="Times New Roman"/>
                <a:cs typeface="Times New Roman"/>
              </a:rPr>
              <a:t>signals, </a:t>
            </a:r>
            <a:r>
              <a:rPr dirty="0" sz="1100" spc="-5">
                <a:latin typeface="Times New Roman"/>
                <a:cs typeface="Times New Roman"/>
              </a:rPr>
              <a:t>signals when we are engaged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cognitive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rapport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among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forehead, brow,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facial muscles around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nose </a:t>
            </a:r>
            <a:r>
              <a:rPr dirty="0" sz="1100" spc="-5">
                <a:latin typeface="Times New Roman"/>
                <a:cs typeface="Times New Roman"/>
              </a:rPr>
              <a:t>and mouth </a:t>
            </a:r>
            <a:r>
              <a:rPr dirty="0" sz="1100">
                <a:latin typeface="Times New Roman"/>
                <a:cs typeface="Times New Roman"/>
              </a:rPr>
              <a:t>to convey </a:t>
            </a:r>
            <a:r>
              <a:rPr dirty="0" sz="1100" spc="-5">
                <a:latin typeface="Times New Roman"/>
                <a:cs typeface="Times New Roman"/>
              </a:rPr>
              <a:t>meaning. Facial </a:t>
            </a:r>
            <a:r>
              <a:rPr dirty="0" sz="1100">
                <a:latin typeface="Times New Roman"/>
                <a:cs typeface="Times New Roman"/>
              </a:rPr>
              <a:t> expressions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convey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happiness, </a:t>
            </a:r>
            <a:r>
              <a:rPr dirty="0" sz="1100" spc="-5">
                <a:latin typeface="Times New Roman"/>
                <a:cs typeface="Times New Roman"/>
              </a:rPr>
              <a:t>sadness,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anger,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 emotions.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039: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Haptics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Haptics</a:t>
            </a:r>
            <a:r>
              <a:rPr dirty="0" sz="1100">
                <a:latin typeface="Times New Roman"/>
                <a:cs typeface="Times New Roman"/>
              </a:rPr>
              <a:t> refers to </a:t>
            </a:r>
            <a:r>
              <a:rPr dirty="0" sz="1100" spc="-5">
                <a:latin typeface="Times New Roman"/>
                <a:cs typeface="Times New Roman"/>
              </a:rPr>
              <a:t>touch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interactions.</a:t>
            </a:r>
            <a:r>
              <a:rPr dirty="0" sz="1100">
                <a:latin typeface="Times New Roman"/>
                <a:cs typeface="Times New Roman"/>
              </a:rPr>
              <a:t> Touch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operates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levels, </a:t>
            </a:r>
            <a:r>
              <a:rPr dirty="0" sz="1100" spc="-5">
                <a:latin typeface="Times New Roman"/>
                <a:cs typeface="Times New Roman"/>
              </a:rPr>
              <a:t>including functional, professional, social-polite, friendship-warmth,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love-intimacy.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touch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comfort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moment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sorrow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cannot. 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touch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countered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threatening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sex and </a:t>
            </a:r>
            <a:r>
              <a:rPr dirty="0" sz="1100" spc="-5">
                <a:latin typeface="Times New Roman"/>
                <a:cs typeface="Times New Roman"/>
              </a:rPr>
              <a:t>violence. We </a:t>
            </a:r>
            <a:r>
              <a:rPr dirty="0" sz="1100">
                <a:latin typeface="Times New Roman"/>
                <a:cs typeface="Times New Roman"/>
              </a:rPr>
              <a:t>probably </a:t>
            </a:r>
            <a:r>
              <a:rPr dirty="0" sz="1100" spc="-5">
                <a:latin typeface="Times New Roman"/>
                <a:cs typeface="Times New Roman"/>
              </a:rPr>
              <a:t>get more explicit advice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instruction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to use touch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>
                <a:latin typeface="Times New Roman"/>
                <a:cs typeface="Times New Roman"/>
              </a:rPr>
              <a:t> related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interpersonal consequences;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follow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advice </a:t>
            </a:r>
            <a:r>
              <a:rPr dirty="0" sz="1100" spc="-5">
                <a:latin typeface="Times New Roman"/>
                <a:cs typeface="Times New Roman"/>
              </a:rPr>
              <a:t>we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>
                <a:latin typeface="Times New Roman"/>
                <a:cs typeface="Times New Roman"/>
              </a:rPr>
              <a:t> of a </a:t>
            </a:r>
            <a:r>
              <a:rPr dirty="0" sz="1100" spc="-5">
                <a:latin typeface="Times New Roman"/>
                <a:cs typeface="Times New Roman"/>
              </a:rPr>
              <a:t>firm </a:t>
            </a:r>
            <a:r>
              <a:rPr dirty="0" sz="1100">
                <a:latin typeface="Times New Roman"/>
                <a:cs typeface="Times New Roman"/>
              </a:rPr>
              <a:t>handshake, a person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-5">
                <a:latin typeface="Times New Roman"/>
                <a:cs typeface="Times New Roman"/>
              </a:rPr>
              <a:t> 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>
                <a:latin typeface="Times New Roman"/>
                <a:cs typeface="Times New Roman"/>
              </a:rPr>
              <a:t> judgments about our </a:t>
            </a:r>
            <a:r>
              <a:rPr dirty="0" sz="1100" spc="-5">
                <a:latin typeface="Times New Roman"/>
                <a:cs typeface="Times New Roman"/>
              </a:rPr>
              <a:t>confidence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credibility.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horrible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negative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0111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43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punishment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inappropriately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(intentionally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unintentionally).</a:t>
            </a:r>
            <a:r>
              <a:rPr dirty="0" sz="1100">
                <a:latin typeface="Times New Roman"/>
                <a:cs typeface="Times New Roman"/>
              </a:rPr>
              <a:t> Touch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development, 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welcoming,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threatening,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persuasive.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course, touch 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important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levels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more intimate.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friendship warmth </a:t>
            </a:r>
            <a:r>
              <a:rPr dirty="0" sz="1100">
                <a:latin typeface="Times New Roman"/>
                <a:cs typeface="Times New Roman"/>
              </a:rPr>
              <a:t>level,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because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maintenance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closeness, </a:t>
            </a:r>
            <a:r>
              <a:rPr dirty="0" sz="1100" spc="-5">
                <a:latin typeface="Times New Roman"/>
                <a:cs typeface="Times New Roman"/>
              </a:rPr>
              <a:t>liking,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concern.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touching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vary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greatly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 and ritualized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more intimate, which means friends must sometimes negotiate their own comfort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 with various types </a:t>
            </a:r>
            <a:r>
              <a:rPr dirty="0" sz="1100">
                <a:latin typeface="Times New Roman"/>
                <a:cs typeface="Times New Roman"/>
              </a:rPr>
              <a:t>of touch </a:t>
            </a:r>
            <a:r>
              <a:rPr dirty="0" sz="1100" spc="-5">
                <a:latin typeface="Times New Roman"/>
                <a:cs typeface="Times New Roman"/>
              </a:rPr>
              <a:t>and may </a:t>
            </a:r>
            <a:r>
              <a:rPr dirty="0" sz="1100">
                <a:latin typeface="Times New Roman"/>
                <a:cs typeface="Times New Roman"/>
              </a:rPr>
              <a:t>encounter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ambiguity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their preferences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match </a:t>
            </a:r>
            <a:r>
              <a:rPr dirty="0" sz="1100" spc="-1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 with their relational partner’s.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friendship,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too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touch can signal </a:t>
            </a:r>
            <a:r>
              <a:rPr dirty="0" sz="1100" spc="-5">
                <a:latin typeface="Times New Roman"/>
                <a:cs typeface="Times New Roman"/>
              </a:rPr>
              <a:t>sexual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romantic </a:t>
            </a:r>
            <a:r>
              <a:rPr dirty="0" sz="1100">
                <a:latin typeface="Times New Roman"/>
                <a:cs typeface="Times New Roman"/>
              </a:rPr>
              <a:t> interest, </a:t>
            </a:r>
            <a:r>
              <a:rPr dirty="0" sz="1100" spc="-5">
                <a:latin typeface="Times New Roman"/>
                <a:cs typeface="Times New Roman"/>
              </a:rPr>
              <a:t>whereas, </a:t>
            </a:r>
            <a:r>
              <a:rPr dirty="0" sz="1100">
                <a:latin typeface="Times New Roman"/>
                <a:cs typeface="Times New Roman"/>
              </a:rPr>
              <a:t>too </a:t>
            </a:r>
            <a:r>
              <a:rPr dirty="0" sz="1100" spc="-5">
                <a:latin typeface="Times New Roman"/>
                <a:cs typeface="Times New Roman"/>
              </a:rPr>
              <a:t>little touch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signal distance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unfriendliness.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love-intimacy </a:t>
            </a:r>
            <a:r>
              <a:rPr dirty="0" sz="1100">
                <a:latin typeface="Times New Roman"/>
                <a:cs typeface="Times New Roman"/>
              </a:rPr>
              <a:t>level, touch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personal and is </a:t>
            </a:r>
            <a:r>
              <a:rPr dirty="0" sz="1100" spc="-5">
                <a:latin typeface="Times New Roman"/>
                <a:cs typeface="Times New Roman"/>
              </a:rPr>
              <a:t>typically </a:t>
            </a:r>
            <a:r>
              <a:rPr dirty="0" sz="1100">
                <a:latin typeface="Times New Roman"/>
                <a:cs typeface="Times New Roman"/>
              </a:rPr>
              <a:t>only exchanged </a:t>
            </a:r>
            <a:r>
              <a:rPr dirty="0" sz="1100" spc="-5">
                <a:latin typeface="Times New Roman"/>
                <a:cs typeface="Times New Roman"/>
              </a:rPr>
              <a:t>between significant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best friends, close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 members,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romantic partners. Touching </a:t>
            </a:r>
            <a:r>
              <a:rPr dirty="0" sz="1100">
                <a:latin typeface="Times New Roman"/>
                <a:cs typeface="Times New Roman"/>
              </a:rPr>
              <a:t>faces, </a:t>
            </a:r>
            <a:r>
              <a:rPr dirty="0" sz="1100" spc="-5">
                <a:latin typeface="Times New Roman"/>
                <a:cs typeface="Times New Roman"/>
              </a:rPr>
              <a:t>holding </a:t>
            </a:r>
            <a:r>
              <a:rPr dirty="0" sz="1100">
                <a:latin typeface="Times New Roman"/>
                <a:cs typeface="Times New Roman"/>
              </a:rPr>
              <a:t>hands, and </a:t>
            </a:r>
            <a:r>
              <a:rPr dirty="0" sz="1100" spc="-5">
                <a:latin typeface="Times New Roman"/>
                <a:cs typeface="Times New Roman"/>
              </a:rPr>
              <a:t>full frontal embraces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touch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level. Touch is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in many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contexts—for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 play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(e.g.,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arm-wrestling),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physical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>
                <a:latin typeface="Times New Roman"/>
                <a:cs typeface="Times New Roman"/>
              </a:rPr>
              <a:t> (e.g.,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slapping),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conversations</a:t>
            </a:r>
            <a:r>
              <a:rPr dirty="0" sz="1100">
                <a:latin typeface="Times New Roman"/>
                <a:cs typeface="Times New Roman"/>
              </a:rPr>
              <a:t> (e.g.,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someone’s attention).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040: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Vocalics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Vocalics refers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vocalized </a:t>
            </a:r>
            <a:r>
              <a:rPr dirty="0" sz="1100" spc="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verbal 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nonverbal communication, </a:t>
            </a:r>
            <a:r>
              <a:rPr dirty="0" sz="1100">
                <a:latin typeface="Times New Roman"/>
                <a:cs typeface="Times New Roman"/>
              </a:rPr>
              <a:t>including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 speaking </a:t>
            </a:r>
            <a:r>
              <a:rPr dirty="0" sz="1100" spc="-5">
                <a:latin typeface="Times New Roman"/>
                <a:cs typeface="Times New Roman"/>
              </a:rPr>
              <a:t>rate, pitch, </a:t>
            </a:r>
            <a:r>
              <a:rPr dirty="0" sz="1100" spc="-10">
                <a:latin typeface="Times New Roman"/>
                <a:cs typeface="Times New Roman"/>
              </a:rPr>
              <a:t>volume, </a:t>
            </a:r>
            <a:r>
              <a:rPr dirty="0" sz="1100">
                <a:latin typeface="Times New Roman"/>
                <a:cs typeface="Times New Roman"/>
              </a:rPr>
              <a:t>tone of </a:t>
            </a:r>
            <a:r>
              <a:rPr dirty="0" sz="1100" spc="-5">
                <a:latin typeface="Times New Roman"/>
                <a:cs typeface="Times New Roman"/>
              </a:rPr>
              <a:t>voice,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vocal quality. Paralanguage refers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vocalized but </a:t>
            </a:r>
            <a:r>
              <a:rPr dirty="0" sz="1100">
                <a:latin typeface="Times New Roman"/>
                <a:cs typeface="Times New Roman"/>
              </a:rPr>
              <a:t> nonverbal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helps</a:t>
            </a:r>
            <a:r>
              <a:rPr dirty="0" sz="1100">
                <a:latin typeface="Times New Roman"/>
                <a:cs typeface="Times New Roman"/>
              </a:rPr>
              <a:t> convey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regulate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flow,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intensity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babies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question.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also learn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greetings have </a:t>
            </a:r>
            <a:r>
              <a:rPr dirty="0" sz="1100">
                <a:latin typeface="Times New Roman"/>
                <a:cs typeface="Times New Roman"/>
              </a:rPr>
              <a:t>rising </a:t>
            </a:r>
            <a:r>
              <a:rPr dirty="0" sz="1100" spc="-5">
                <a:latin typeface="Times New Roman"/>
                <a:cs typeface="Times New Roman"/>
              </a:rPr>
              <a:t>emphasis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farewells </a:t>
            </a:r>
            <a:r>
              <a:rPr dirty="0" sz="1100" spc="-10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falling emphasis.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course,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explicitly;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not pick up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some more subtle and/or complex patterns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paralanguage involving pitch until we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older. Children,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perceiving </a:t>
            </a:r>
            <a:r>
              <a:rPr dirty="0" sz="1100" spc="-5">
                <a:latin typeface="Times New Roman"/>
                <a:cs typeface="Times New Roman"/>
              </a:rPr>
              <a:t>sarcasm, which </a:t>
            </a:r>
            <a:r>
              <a:rPr dirty="0" sz="1100">
                <a:latin typeface="Times New Roman"/>
                <a:cs typeface="Times New Roman"/>
              </a:rPr>
              <a:t>is usually conveyed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aspects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Affect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negatively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Reduce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self-monitor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eliminate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Volume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goals related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maintaining attention,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 conveying information,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 </a:t>
            </a:r>
            <a:r>
              <a:rPr dirty="0" sz="1100">
                <a:latin typeface="Times New Roman"/>
                <a:cs typeface="Times New Roman"/>
              </a:rPr>
              <a:t>to act in a </a:t>
            </a:r>
            <a:r>
              <a:rPr dirty="0" sz="1100" spc="-5">
                <a:latin typeface="Times New Roman"/>
                <a:cs typeface="Times New Roman"/>
              </a:rPr>
              <a:t>particular way. </a:t>
            </a:r>
            <a:r>
              <a:rPr dirty="0" sz="1100">
                <a:latin typeface="Times New Roman"/>
                <a:cs typeface="Times New Roman"/>
              </a:rPr>
              <a:t>Vocal </a:t>
            </a:r>
            <a:r>
              <a:rPr dirty="0" sz="1100" spc="-5">
                <a:latin typeface="Times New Roman"/>
                <a:cs typeface="Times New Roman"/>
              </a:rPr>
              <a:t>variety increases listener </a:t>
            </a:r>
            <a:r>
              <a:rPr dirty="0" sz="1100">
                <a:latin typeface="Times New Roman"/>
                <a:cs typeface="Times New Roman"/>
              </a:rPr>
              <a:t>and speaker </a:t>
            </a:r>
            <a:r>
              <a:rPr dirty="0" sz="1100" spc="-5">
                <a:latin typeface="Times New Roman"/>
                <a:cs typeface="Times New Roman"/>
              </a:rPr>
              <a:t>engagement, understanding,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recall,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review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vocalics: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109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Repetition: </a:t>
            </a:r>
            <a:r>
              <a:rPr dirty="0" sz="1100" spc="-5">
                <a:latin typeface="Times New Roman"/>
                <a:cs typeface="Times New Roman"/>
              </a:rPr>
              <a:t>Vocalic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cues reinforce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 </a:t>
            </a:r>
            <a:r>
              <a:rPr dirty="0" sz="1100">
                <a:latin typeface="Times New Roman"/>
                <a:cs typeface="Times New Roman"/>
              </a:rPr>
              <a:t>and nonverbal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cues</a:t>
            </a:r>
            <a:r>
              <a:rPr dirty="0" sz="1100">
                <a:latin typeface="Times New Roman"/>
                <a:cs typeface="Times New Roman"/>
              </a:rPr>
              <a:t> (e.g., </a:t>
            </a:r>
            <a:r>
              <a:rPr dirty="0" sz="1100" spc="-5">
                <a:latin typeface="Times New Roman"/>
                <a:cs typeface="Times New Roman"/>
              </a:rPr>
              <a:t>saying </a:t>
            </a:r>
            <a:r>
              <a:rPr dirty="0" sz="1100">
                <a:latin typeface="Times New Roman"/>
                <a:cs typeface="Times New Roman"/>
              </a:rPr>
              <a:t>‘I’m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9195"/>
            <a:ext cx="5971540" cy="5238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9265" marR="5080" indent="-228600">
              <a:lnSpc>
                <a:spcPct val="1105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Complementing: </a:t>
            </a:r>
            <a:r>
              <a:rPr dirty="0" sz="1100" spc="-5">
                <a:latin typeface="Times New Roman"/>
                <a:cs typeface="Times New Roman"/>
              </a:rPr>
              <a:t>Vocalic </a:t>
            </a:r>
            <a:r>
              <a:rPr dirty="0" sz="1100">
                <a:latin typeface="Times New Roman"/>
                <a:cs typeface="Times New Roman"/>
              </a:rPr>
              <a:t>cues </a:t>
            </a:r>
            <a:r>
              <a:rPr dirty="0" sz="1100" spc="-5">
                <a:latin typeface="Times New Roman"/>
                <a:cs typeface="Times New Roman"/>
              </a:rPr>
              <a:t>elaborate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modify </a:t>
            </a:r>
            <a:r>
              <a:rPr dirty="0" sz="1100">
                <a:latin typeface="Times New Roman"/>
                <a:cs typeface="Times New Roman"/>
              </a:rPr>
              <a:t>verbal </a:t>
            </a:r>
            <a:r>
              <a:rPr dirty="0" sz="1100" spc="-5">
                <a:latin typeface="Times New Roman"/>
                <a:cs typeface="Times New Roman"/>
              </a:rPr>
              <a:t>and nonverbal meaning </a:t>
            </a:r>
            <a:r>
              <a:rPr dirty="0" sz="1100" spc="5">
                <a:latin typeface="Times New Roman"/>
                <a:cs typeface="Times New Roman"/>
              </a:rPr>
              <a:t>(e.g.,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volume </a:t>
            </a:r>
            <a:r>
              <a:rPr dirty="0" sz="1100">
                <a:latin typeface="Times New Roman"/>
                <a:cs typeface="Times New Roman"/>
              </a:rPr>
              <a:t>used to say </a:t>
            </a:r>
            <a:r>
              <a:rPr dirty="0" sz="1100" spc="5">
                <a:latin typeface="Times New Roman"/>
                <a:cs typeface="Times New Roman"/>
              </a:rPr>
              <a:t>‘I </a:t>
            </a:r>
            <a:r>
              <a:rPr dirty="0" sz="1100" spc="-5">
                <a:latin typeface="Times New Roman"/>
                <a:cs typeface="Times New Roman"/>
              </a:rPr>
              <a:t>love </a:t>
            </a:r>
            <a:r>
              <a:rPr dirty="0" sz="1100">
                <a:latin typeface="Times New Roman"/>
                <a:cs typeface="Times New Roman"/>
              </a:rPr>
              <a:t>sweet potatoes’ would add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degree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 loves </a:t>
            </a:r>
            <a:r>
              <a:rPr dirty="0" sz="1100">
                <a:latin typeface="Times New Roman"/>
                <a:cs typeface="Times New Roman"/>
              </a:rPr>
              <a:t>sweet</a:t>
            </a:r>
            <a:r>
              <a:rPr dirty="0" sz="1100" spc="-5">
                <a:latin typeface="Times New Roman"/>
                <a:cs typeface="Times New Roman"/>
              </a:rPr>
              <a:t> potatoes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sarcasm).</a:t>
            </a:r>
            <a:endParaRPr sz="1100">
              <a:latin typeface="Times New Roman"/>
              <a:cs typeface="Times New Roman"/>
            </a:endParaRPr>
          </a:p>
          <a:p>
            <a:pPr algn="just" marL="469265" marR="762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Substituting: </a:t>
            </a:r>
            <a:r>
              <a:rPr dirty="0" sz="1100" spc="-5">
                <a:latin typeface="Times New Roman"/>
                <a:cs typeface="Times New Roman"/>
              </a:rPr>
              <a:t>Vocalic cues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verbal or </a:t>
            </a:r>
            <a:r>
              <a:rPr dirty="0" sz="1100" spc="-5">
                <a:latin typeface="Times New Roman"/>
                <a:cs typeface="Times New Roman"/>
              </a:rPr>
              <a:t>nonverbal cues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saying </a:t>
            </a:r>
            <a:r>
              <a:rPr dirty="0" sz="1100">
                <a:latin typeface="Times New Roman"/>
                <a:cs typeface="Times New Roman"/>
              </a:rPr>
              <a:t>‘uh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huh’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understanding</a:t>
            </a:r>
            <a:r>
              <a:rPr dirty="0" sz="1100" spc="-5">
                <a:latin typeface="Times New Roman"/>
                <a:cs typeface="Times New Roman"/>
              </a:rPr>
              <a:t> what you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saying’).</a:t>
            </a:r>
            <a:endParaRPr sz="1100">
              <a:latin typeface="Times New Roman"/>
              <a:cs typeface="Times New Roman"/>
            </a:endParaRPr>
          </a:p>
          <a:p>
            <a:pPr algn="just" marL="469265" marR="508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Regulating: </a:t>
            </a:r>
            <a:r>
              <a:rPr dirty="0" sz="1100" spc="-5">
                <a:latin typeface="Times New Roman"/>
                <a:cs typeface="Times New Roman"/>
              </a:rPr>
              <a:t>Vocalic cues </a:t>
            </a:r>
            <a:r>
              <a:rPr dirty="0" sz="1100">
                <a:latin typeface="Times New Roman"/>
                <a:cs typeface="Times New Roman"/>
              </a:rPr>
              <a:t>help </a:t>
            </a:r>
            <a:r>
              <a:rPr dirty="0" sz="1100" spc="-5">
                <a:latin typeface="Times New Roman"/>
                <a:cs typeface="Times New Roman"/>
              </a:rPr>
              <a:t>regulate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flow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conversations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falling pitch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slowing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turn).</a:t>
            </a:r>
            <a:endParaRPr sz="1100">
              <a:latin typeface="Times New Roman"/>
              <a:cs typeface="Times New Roman"/>
            </a:endParaRPr>
          </a:p>
          <a:p>
            <a:pPr algn="just" marL="469265" marR="508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Contradicting: </a:t>
            </a:r>
            <a:r>
              <a:rPr dirty="0" sz="1100" spc="-5">
                <a:latin typeface="Times New Roman"/>
                <a:cs typeface="Times New Roman"/>
              </a:rPr>
              <a:t>Vocalic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contradict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verbal or </a:t>
            </a:r>
            <a:r>
              <a:rPr dirty="0" sz="1100" spc="-5">
                <a:latin typeface="Times New Roman"/>
                <a:cs typeface="Times New Roman"/>
              </a:rPr>
              <a:t>nonverbal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(e.g., </a:t>
            </a:r>
            <a:r>
              <a:rPr dirty="0" sz="1100">
                <a:latin typeface="Times New Roman"/>
                <a:cs typeface="Times New Roman"/>
              </a:rPr>
              <a:t>a person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‘I’m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fine’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quick,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otherwise).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041: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Proxemics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Proxemics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space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effects that population </a:t>
            </a:r>
            <a:r>
              <a:rPr dirty="0" sz="1100">
                <a:latin typeface="Times New Roman"/>
                <a:cs typeface="Times New Roman"/>
              </a:rPr>
              <a:t>density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behaviour,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Proxemics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 influence communication. </a:t>
            </a:r>
            <a:r>
              <a:rPr dirty="0" sz="1100">
                <a:latin typeface="Times New Roman"/>
                <a:cs typeface="Times New Roman"/>
              </a:rPr>
              <a:t>We only </a:t>
            </a: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look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10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space </a:t>
            </a:r>
            <a:r>
              <a:rPr dirty="0" sz="1100">
                <a:latin typeface="Times New Roman"/>
                <a:cs typeface="Times New Roman"/>
              </a:rPr>
              <a:t>shows up </a:t>
            </a:r>
            <a:r>
              <a:rPr dirty="0" sz="1100" spc="-5">
                <a:latin typeface="Times New Roman"/>
                <a:cs typeface="Times New Roman"/>
              </a:rPr>
              <a:t>in common </a:t>
            </a:r>
            <a:r>
              <a:rPr dirty="0" sz="1100">
                <a:latin typeface="Times New Roman"/>
                <a:cs typeface="Times New Roman"/>
              </a:rPr>
              <a:t> metaphors to </a:t>
            </a:r>
            <a:r>
              <a:rPr dirty="0" sz="1100" spc="-5">
                <a:latin typeface="Times New Roman"/>
                <a:cs typeface="Times New Roman"/>
              </a:rPr>
              <a:t>see that space, communication, and relationships are </a:t>
            </a:r>
            <a:r>
              <a:rPr dirty="0" sz="1100">
                <a:latin typeface="Times New Roman"/>
                <a:cs typeface="Times New Roman"/>
              </a:rPr>
              <a:t>closely </a:t>
            </a:r>
            <a:r>
              <a:rPr dirty="0" sz="1100" spc="-5">
                <a:latin typeface="Times New Roman"/>
                <a:cs typeface="Times New Roman"/>
              </a:rPr>
              <a:t>related.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when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content with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attracted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someone, we </a:t>
            </a:r>
            <a:r>
              <a:rPr dirty="0" sz="1100">
                <a:latin typeface="Times New Roman"/>
                <a:cs typeface="Times New Roman"/>
              </a:rPr>
              <a:t>say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‘close’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him </a:t>
            </a:r>
            <a:r>
              <a:rPr dirty="0" sz="1100">
                <a:latin typeface="Times New Roman"/>
                <a:cs typeface="Times New Roman"/>
              </a:rPr>
              <a:t>or her. When </a:t>
            </a:r>
            <a:r>
              <a:rPr dirty="0" sz="1100" spc="-5">
                <a:latin typeface="Times New Roman"/>
                <a:cs typeface="Times New Roman"/>
              </a:rPr>
              <a:t>we lose connection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someone, we may </a:t>
            </a:r>
            <a:r>
              <a:rPr dirty="0" sz="1100">
                <a:latin typeface="Times New Roman"/>
                <a:cs typeface="Times New Roman"/>
              </a:rPr>
              <a:t>say he or </a:t>
            </a:r>
            <a:r>
              <a:rPr dirty="0" sz="1100" spc="-5">
                <a:latin typeface="Times New Roman"/>
                <a:cs typeface="Times New Roman"/>
              </a:rPr>
              <a:t>she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‘distant’.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general, </a:t>
            </a:r>
            <a:r>
              <a:rPr dirty="0" sz="1100" spc="-5">
                <a:latin typeface="Times New Roman"/>
                <a:cs typeface="Times New Roman"/>
              </a:rPr>
              <a:t>space influences how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behave. Smaller spaces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higher density </a:t>
            </a:r>
            <a:r>
              <a:rPr dirty="0" sz="1100">
                <a:latin typeface="Times New Roman"/>
                <a:cs typeface="Times New Roman"/>
              </a:rPr>
              <a:t>of people </a:t>
            </a:r>
            <a:r>
              <a:rPr dirty="0" sz="1100" spc="-5">
                <a:latin typeface="Times New Roman"/>
                <a:cs typeface="Times New Roman"/>
              </a:rPr>
              <a:t>often lead </a:t>
            </a:r>
            <a:r>
              <a:rPr dirty="0" sz="1100">
                <a:latin typeface="Times New Roman"/>
                <a:cs typeface="Times New Roman"/>
              </a:rPr>
              <a:t>to breaches of our </a:t>
            </a:r>
            <a:r>
              <a:rPr dirty="0" sz="1100" spc="-5">
                <a:latin typeface="Times New Roman"/>
                <a:cs typeface="Times New Roman"/>
              </a:rPr>
              <a:t>personal space </a:t>
            </a:r>
            <a:r>
              <a:rPr dirty="0" sz="1100">
                <a:latin typeface="Times New Roman"/>
                <a:cs typeface="Times New Roman"/>
              </a:rPr>
              <a:t> bubbles.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setting in which this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density </a:t>
            </a:r>
            <a:r>
              <a:rPr dirty="0" sz="1100">
                <a:latin typeface="Times New Roman"/>
                <a:cs typeface="Times New Roman"/>
              </a:rPr>
              <a:t>is expected </a:t>
            </a:r>
            <a:r>
              <a:rPr dirty="0" sz="1100" spc="-5">
                <a:latin typeface="Times New Roman"/>
                <a:cs typeface="Times New Roman"/>
              </a:rPr>
              <a:t>beforehand, like </a:t>
            </a:r>
            <a:r>
              <a:rPr dirty="0" sz="1100">
                <a:latin typeface="Times New Roman"/>
                <a:cs typeface="Times New Roman"/>
              </a:rPr>
              <a:t>at a </a:t>
            </a:r>
            <a:r>
              <a:rPr dirty="0" sz="1100" spc="-5">
                <a:latin typeface="Times New Roman"/>
                <a:cs typeface="Times New Roman"/>
              </a:rPr>
              <a:t>crowded concert </a:t>
            </a:r>
            <a:r>
              <a:rPr dirty="0" sz="1100">
                <a:latin typeface="Times New Roman"/>
                <a:cs typeface="Times New Roman"/>
              </a:rPr>
              <a:t> or on a train during rush </a:t>
            </a:r>
            <a:r>
              <a:rPr dirty="0" sz="1100" spc="-5">
                <a:latin typeface="Times New Roman"/>
                <a:cs typeface="Times New Roman"/>
              </a:rPr>
              <a:t>hour, then we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communicative adjustments to manage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space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5">
                <a:latin typeface="Times New Roman"/>
                <a:cs typeface="Times New Roman"/>
              </a:rPr>
              <a:t>zones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Intimate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Perso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>
                <a:latin typeface="Times New Roman"/>
                <a:cs typeface="Times New Roman"/>
              </a:rPr>
              <a:t>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</a:t>
            </a:r>
            <a:r>
              <a:rPr dirty="0" sz="1100" spc="-10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ta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>
                <a:latin typeface="Times New Roman"/>
                <a:cs typeface="Times New Roman"/>
              </a:rPr>
              <a:t>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Soci</a:t>
            </a: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d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5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c</a:t>
            </a:r>
            <a:r>
              <a:rPr dirty="0" sz="1100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Public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504" y="6306591"/>
            <a:ext cx="2501265" cy="258927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1056487"/>
            <a:ext cx="5970905" cy="575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 indent="456565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Proxemics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territoriality,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defend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space.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decide how much value they want their marker </a:t>
            </a:r>
            <a:r>
              <a:rPr dirty="0" sz="1100">
                <a:latin typeface="Times New Roman"/>
                <a:cs typeface="Times New Roman"/>
              </a:rPr>
              <a:t>to have. </a:t>
            </a:r>
            <a:r>
              <a:rPr dirty="0" sz="1100" spc="-5">
                <a:latin typeface="Times New Roman"/>
                <a:cs typeface="Times New Roman"/>
              </a:rPr>
              <a:t>Obviously, leaving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laptop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table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occupied,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laptop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getting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stolen.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pencil,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moved</a:t>
            </a:r>
            <a:r>
              <a:rPr dirty="0" sz="1100">
                <a:latin typeface="Times New Roman"/>
                <a:cs typeface="Times New Roman"/>
              </a:rPr>
              <a:t> 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way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usurped.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042: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Chronemics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Chronemics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affects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cycles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classified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biological, personal, physical,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cultural time. Biological time </a:t>
            </a:r>
            <a:r>
              <a:rPr dirty="0" sz="1100">
                <a:latin typeface="Times New Roman"/>
                <a:cs typeface="Times New Roman"/>
              </a:rPr>
              <a:t>refers to the </a:t>
            </a:r>
            <a:r>
              <a:rPr dirty="0" sz="1100" spc="-5">
                <a:latin typeface="Times New Roman"/>
                <a:cs typeface="Times New Roman"/>
              </a:rPr>
              <a:t>rhythms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living things.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follow a </a:t>
            </a:r>
            <a:r>
              <a:rPr dirty="0" sz="1100" spc="-5">
                <a:latin typeface="Times New Roman"/>
                <a:cs typeface="Times New Roman"/>
              </a:rPr>
              <a:t>circadian rhythm, meaning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are on a </a:t>
            </a:r>
            <a:r>
              <a:rPr dirty="0" sz="1100" spc="-5">
                <a:latin typeface="Times New Roman"/>
                <a:cs typeface="Times New Roman"/>
              </a:rPr>
              <a:t>daily </a:t>
            </a:r>
            <a:r>
              <a:rPr dirty="0" sz="1100">
                <a:latin typeface="Times New Roman"/>
                <a:cs typeface="Times New Roman"/>
              </a:rPr>
              <a:t>cycle </a:t>
            </a:r>
            <a:r>
              <a:rPr dirty="0" sz="1100" spc="-5">
                <a:latin typeface="Times New Roman"/>
                <a:cs typeface="Times New Roman"/>
              </a:rPr>
              <a:t>that influences when we eat, </a:t>
            </a:r>
            <a:r>
              <a:rPr dirty="0" sz="1100">
                <a:latin typeface="Times New Roman"/>
                <a:cs typeface="Times New Roman"/>
              </a:rPr>
              <a:t> sleep, and </a:t>
            </a:r>
            <a:r>
              <a:rPr dirty="0" sz="1100" spc="-5">
                <a:latin typeface="Times New Roman"/>
                <a:cs typeface="Times New Roman"/>
              </a:rPr>
              <a:t>wake. When our natural rhythms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disturbed, </a:t>
            </a:r>
            <a:r>
              <a:rPr dirty="0" sz="1100">
                <a:latin typeface="Times New Roman"/>
                <a:cs typeface="Times New Roman"/>
              </a:rPr>
              <a:t>by all-nighters, jet </a:t>
            </a:r>
            <a:r>
              <a:rPr dirty="0" sz="1100" spc="-5">
                <a:latin typeface="Times New Roman"/>
                <a:cs typeface="Times New Roman"/>
              </a:rPr>
              <a:t>lag,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other scheduling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abnormalities,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physical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mental </a:t>
            </a:r>
            <a:r>
              <a:rPr dirty="0" sz="1100">
                <a:latin typeface="Times New Roman"/>
                <a:cs typeface="Times New Roman"/>
              </a:rPr>
              <a:t>health, our </a:t>
            </a:r>
            <a:r>
              <a:rPr dirty="0" sz="1100" spc="-5">
                <a:latin typeface="Times New Roman"/>
                <a:cs typeface="Times New Roman"/>
              </a:rPr>
              <a:t>communication competence and </a:t>
            </a:r>
            <a:r>
              <a:rPr dirty="0" sz="1100">
                <a:latin typeface="Times New Roman"/>
                <a:cs typeface="Times New Roman"/>
              </a:rPr>
              <a:t>personal </a:t>
            </a:r>
            <a:r>
              <a:rPr dirty="0" sz="1100" spc="-5">
                <a:latin typeface="Times New Roman"/>
                <a:cs typeface="Times New Roman"/>
              </a:rPr>
              <a:t>relationships </a:t>
            </a:r>
            <a:r>
              <a:rPr dirty="0" sz="1100">
                <a:latin typeface="Times New Roman"/>
                <a:cs typeface="Times New Roman"/>
              </a:rPr>
              <a:t> can </a:t>
            </a:r>
            <a:r>
              <a:rPr dirty="0" sz="1100" spc="-5">
                <a:latin typeface="Times New Roman"/>
                <a:cs typeface="Times New Roman"/>
              </a:rPr>
              <a:t>suffer. Keep biological time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mind as you communicate with </a:t>
            </a:r>
            <a:r>
              <a:rPr dirty="0" sz="1100">
                <a:latin typeface="Times New Roman"/>
                <a:cs typeface="Times New Roman"/>
              </a:rPr>
              <a:t>others. </a:t>
            </a:r>
            <a:r>
              <a:rPr dirty="0" sz="1100" spc="-5">
                <a:latin typeface="Times New Roman"/>
                <a:cs typeface="Times New Roman"/>
              </a:rPr>
              <a:t>Remember that early morning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conversations and speeches may </a:t>
            </a:r>
            <a:r>
              <a:rPr dirty="0" sz="1100">
                <a:latin typeface="Times New Roman"/>
                <a:cs typeface="Times New Roman"/>
              </a:rPr>
              <a:t>require </a:t>
            </a:r>
            <a:r>
              <a:rPr dirty="0" sz="1100" spc="-5">
                <a:latin typeface="Times New Roman"/>
                <a:cs typeface="Times New Roman"/>
              </a:rPr>
              <a:t>more preparation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get yourself </a:t>
            </a:r>
            <a:r>
              <a:rPr dirty="0" sz="1100" spc="5">
                <a:latin typeface="Times New Roman"/>
                <a:cs typeface="Times New Roman"/>
              </a:rPr>
              <a:t>awake </a:t>
            </a:r>
            <a:r>
              <a:rPr dirty="0" sz="1100" spc="-5">
                <a:latin typeface="Times New Roman"/>
                <a:cs typeface="Times New Roman"/>
              </a:rPr>
              <a:t>enough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>
                <a:latin typeface="Times New Roman"/>
                <a:cs typeface="Times New Roman"/>
              </a:rPr>
              <a:t> well and 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patient or </a:t>
            </a:r>
            <a:r>
              <a:rPr dirty="0" sz="1100" spc="-5">
                <a:latin typeface="Times New Roman"/>
                <a:cs typeface="Times New Roman"/>
              </a:rPr>
              <a:t>energetic delivery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accommodate others who may </a:t>
            </a:r>
            <a:r>
              <a:rPr dirty="0" sz="1100">
                <a:latin typeface="Times New Roman"/>
                <a:cs typeface="Times New Roman"/>
              </a:rPr>
              <a:t>still be </a:t>
            </a:r>
            <a:r>
              <a:rPr dirty="0" sz="1100" spc="-5">
                <a:latin typeface="Times New Roman"/>
                <a:cs typeface="Times New Roman"/>
              </a:rPr>
              <a:t>getting warmed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Additionally, the way we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depends in </a:t>
            </a:r>
            <a:r>
              <a:rPr dirty="0" sz="1100" spc="-5">
                <a:latin typeface="Times New Roman"/>
                <a:cs typeface="Times New Roman"/>
              </a:rPr>
              <a:t>some ways </a:t>
            </a:r>
            <a:r>
              <a:rPr dirty="0" sz="1100">
                <a:latin typeface="Times New Roman"/>
                <a:cs typeface="Times New Roman"/>
              </a:rPr>
              <a:t>on our </a:t>
            </a:r>
            <a:r>
              <a:rPr dirty="0" sz="1100" spc="-5">
                <a:latin typeface="Times New Roman"/>
                <a:cs typeface="Times New Roman"/>
              </a:rPr>
              <a:t>status. For example, doctors 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their patients </a:t>
            </a:r>
            <a:r>
              <a:rPr dirty="0" sz="1100" spc="-10">
                <a:latin typeface="Times New Roman"/>
                <a:cs typeface="Times New Roman"/>
              </a:rPr>
              <a:t>wait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extended </a:t>
            </a:r>
            <a:r>
              <a:rPr dirty="0" sz="1100" spc="-5">
                <a:latin typeface="Times New Roman"/>
                <a:cs typeface="Times New Roman"/>
              </a:rPr>
              <a:t>periods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executives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celebrities may </a:t>
            </a:r>
            <a:r>
              <a:rPr dirty="0" sz="1100">
                <a:latin typeface="Times New Roman"/>
                <a:cs typeface="Times New Roman"/>
              </a:rPr>
              <a:t>run </a:t>
            </a:r>
            <a:r>
              <a:rPr dirty="0" sz="1100" spc="-5">
                <a:latin typeface="Times New Roman"/>
                <a:cs typeface="Times New Roman"/>
              </a:rPr>
              <a:t>consistently </a:t>
            </a:r>
            <a:r>
              <a:rPr dirty="0" sz="1100">
                <a:latin typeface="Times New Roman"/>
                <a:cs typeface="Times New Roman"/>
              </a:rPr>
              <a:t> behind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schedule,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wait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Promptness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acceptable for lateness and waiting vary </a:t>
            </a:r>
            <a:r>
              <a:rPr dirty="0" sz="1100">
                <a:latin typeface="Times New Roman"/>
                <a:cs typeface="Times New Roman"/>
              </a:rPr>
              <a:t>among </a:t>
            </a:r>
            <a:r>
              <a:rPr dirty="0" sz="1100" spc="-5">
                <a:latin typeface="Times New Roman"/>
                <a:cs typeface="Times New Roman"/>
              </a:rPr>
              <a:t>individuals </a:t>
            </a:r>
            <a:r>
              <a:rPr dirty="0" sz="1100">
                <a:latin typeface="Times New Roman"/>
                <a:cs typeface="Times New Roman"/>
              </a:rPr>
              <a:t>and contexts. </a:t>
            </a:r>
            <a:r>
              <a:rPr dirty="0" sz="1100" spc="-5">
                <a:latin typeface="Times New Roman"/>
                <a:cs typeface="Times New Roman"/>
              </a:rPr>
              <a:t>Chronemics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covers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spend </a:t>
            </a:r>
            <a:r>
              <a:rPr dirty="0" sz="1100" spc="-5">
                <a:latin typeface="Times New Roman"/>
                <a:cs typeface="Times New Roman"/>
              </a:rPr>
              <a:t>talking.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have already </a:t>
            </a:r>
            <a:r>
              <a:rPr dirty="0" sz="1100">
                <a:latin typeface="Times New Roman"/>
                <a:cs typeface="Times New Roman"/>
              </a:rPr>
              <a:t>learned </a:t>
            </a:r>
            <a:r>
              <a:rPr dirty="0" sz="1100" spc="-5">
                <a:latin typeface="Times New Roman"/>
                <a:cs typeface="Times New Roman"/>
              </a:rPr>
              <a:t>that conversational turns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turn taking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 are influenced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social norms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help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progress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our conversations. We all know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annoying it can be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a person dominates a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when we cannot get </a:t>
            </a:r>
            <a:r>
              <a:rPr dirty="0" sz="1100">
                <a:latin typeface="Times New Roman"/>
                <a:cs typeface="Times New Roman"/>
              </a:rPr>
              <a:t>a person to </a:t>
            </a:r>
            <a:r>
              <a:rPr dirty="0" sz="1100" spc="-5">
                <a:latin typeface="Times New Roman"/>
                <a:cs typeface="Times New Roman"/>
              </a:rPr>
              <a:t>contribute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 monochronic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system means that things are done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is segmented into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precise, small units. Under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system, time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scheduled, arranged </a:t>
            </a:r>
            <a:r>
              <a:rPr dirty="0" sz="1100">
                <a:latin typeface="Times New Roman"/>
                <a:cs typeface="Times New Roman"/>
              </a:rPr>
              <a:t>and managed. A </a:t>
            </a:r>
            <a:r>
              <a:rPr dirty="0" sz="1100" spc="-5">
                <a:latin typeface="Times New Roman"/>
                <a:cs typeface="Times New Roman"/>
              </a:rPr>
              <a:t>polychronic time </a:t>
            </a:r>
            <a:r>
              <a:rPr dirty="0" sz="1100">
                <a:latin typeface="Times New Roman"/>
                <a:cs typeface="Times New Roman"/>
              </a:rPr>
              <a:t> system is a system </a:t>
            </a:r>
            <a:r>
              <a:rPr dirty="0" sz="1100" spc="-5">
                <a:latin typeface="Times New Roman"/>
                <a:cs typeface="Times New Roman"/>
              </a:rPr>
              <a:t>where several things 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done at once,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wider view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exhibited and time 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perceived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fluid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7010793"/>
            <a:ext cx="4947457" cy="207708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1056487"/>
            <a:ext cx="5970905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456565">
              <a:lnSpc>
                <a:spcPct val="110500"/>
              </a:lnSpc>
              <a:spcBef>
                <a:spcPts val="90"/>
              </a:spcBef>
            </a:pPr>
            <a:r>
              <a:rPr dirty="0" sz="1100">
                <a:latin typeface="Times New Roman"/>
                <a:cs typeface="Times New Roman"/>
              </a:rPr>
              <a:t>Lateness or </a:t>
            </a:r>
            <a:r>
              <a:rPr dirty="0" sz="1100" spc="-5">
                <a:latin typeface="Times New Roman"/>
                <a:cs typeface="Times New Roman"/>
              </a:rPr>
              <a:t>promptness can </a:t>
            </a:r>
            <a:r>
              <a:rPr dirty="0" sz="1100">
                <a:latin typeface="Times New Roman"/>
                <a:cs typeface="Times New Roman"/>
              </a:rPr>
              <a:t>send </a:t>
            </a:r>
            <a:r>
              <a:rPr dirty="0" sz="1100" spc="-5">
                <a:latin typeface="Times New Roman"/>
                <a:cs typeface="Times New Roman"/>
              </a:rPr>
              <a:t>messages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our professionalism, </a:t>
            </a:r>
            <a:r>
              <a:rPr dirty="0" sz="1100">
                <a:latin typeface="Times New Roman"/>
                <a:cs typeface="Times New Roman"/>
              </a:rPr>
              <a:t>dependability, or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personality </a:t>
            </a:r>
            <a:r>
              <a:rPr dirty="0" sz="1100" spc="-5">
                <a:latin typeface="Times New Roman"/>
                <a:cs typeface="Times New Roman"/>
              </a:rPr>
              <a:t>traits. Formal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usually applies to </a:t>
            </a:r>
            <a:r>
              <a:rPr dirty="0" sz="1100" spc="-5">
                <a:latin typeface="Times New Roman"/>
                <a:cs typeface="Times New Roman"/>
              </a:rPr>
              <a:t>professional situations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we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expected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 early.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interpersonal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36410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Lesson-08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ANIMAL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VS.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HUMAN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COMMUNICATION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Introduction: Animal</a:t>
            </a:r>
            <a:r>
              <a:rPr dirty="0" u="heavy" sz="1100" spc="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vs.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Human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animals,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 probably </a:t>
            </a:r>
            <a:r>
              <a:rPr dirty="0" sz="1100" spc="-5">
                <a:latin typeface="Times New Roman"/>
                <a:cs typeface="Times New Roman"/>
              </a:rPr>
              <a:t>come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mind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Language is so fundamental </a:t>
            </a:r>
            <a:r>
              <a:rPr dirty="0" sz="1100" spc="-5">
                <a:latin typeface="Times New Roman"/>
                <a:cs typeface="Times New Roman"/>
              </a:rPr>
              <a:t>to human </a:t>
            </a:r>
            <a:r>
              <a:rPr dirty="0" sz="1100">
                <a:latin typeface="Times New Roman"/>
                <a:cs typeface="Times New Roman"/>
              </a:rPr>
              <a:t>life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hard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imagine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Barnett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highlights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inseparability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says, ‘verbal communication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condition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existence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society.’ But at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 time, </a:t>
            </a:r>
            <a:r>
              <a:rPr dirty="0" sz="1100">
                <a:latin typeface="Times New Roman"/>
                <a:cs typeface="Times New Roman"/>
              </a:rPr>
              <a:t>other animals also </a:t>
            </a:r>
            <a:r>
              <a:rPr dirty="0" sz="1100" spc="-5">
                <a:latin typeface="Times New Roman"/>
                <a:cs typeface="Times New Roman"/>
              </a:rPr>
              <a:t>communicate: Your cat may </a:t>
            </a:r>
            <a:r>
              <a:rPr dirty="0" sz="1100" spc="5">
                <a:latin typeface="Times New Roman"/>
                <a:cs typeface="Times New Roman"/>
              </a:rPr>
              <a:t>let </a:t>
            </a:r>
            <a:r>
              <a:rPr dirty="0" sz="1100" spc="-5">
                <a:latin typeface="Times New Roman"/>
                <a:cs typeface="Times New Roman"/>
              </a:rPr>
              <a:t>you know when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hungry, </a:t>
            </a:r>
            <a:r>
              <a:rPr dirty="0" sz="1100">
                <a:latin typeface="Times New Roman"/>
                <a:cs typeface="Times New Roman"/>
              </a:rPr>
              <a:t>ants </a:t>
            </a:r>
            <a:r>
              <a:rPr dirty="0" sz="1100" spc="-5">
                <a:latin typeface="Times New Roman"/>
                <a:cs typeface="Times New Roman"/>
              </a:rPr>
              <a:t>use pheromones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indicate social status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distress, bees dance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tell </a:t>
            </a:r>
            <a:r>
              <a:rPr dirty="0" sz="1100">
                <a:latin typeface="Times New Roman"/>
                <a:cs typeface="Times New Roman"/>
              </a:rPr>
              <a:t>one another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find honey,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chimpanzees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1960s,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anthropologist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Charles</a:t>
            </a:r>
            <a:r>
              <a:rPr dirty="0" sz="1100">
                <a:latin typeface="Times New Roman"/>
                <a:cs typeface="Times New Roman"/>
              </a:rPr>
              <a:t> F.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Hockett</a:t>
            </a:r>
            <a:r>
              <a:rPr dirty="0" sz="1100">
                <a:latin typeface="Times New Roman"/>
                <a:cs typeface="Times New Roman"/>
              </a:rPr>
              <a:t> defined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design features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Every communication system </a:t>
            </a:r>
            <a:r>
              <a:rPr dirty="0" sz="1100" spc="5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the 13 </a:t>
            </a:r>
            <a:r>
              <a:rPr dirty="0" sz="1100" spc="-5">
                <a:latin typeface="Times New Roman"/>
                <a:cs typeface="Times New Roman"/>
              </a:rPr>
              <a:t>design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spoken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has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</a:t>
            </a:r>
            <a:r>
              <a:rPr dirty="0" sz="1100" spc="-5">
                <a:latin typeface="Times New Roman"/>
                <a:cs typeface="Times New Roman"/>
              </a:rPr>
              <a:t> features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 table: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1656" y="4711319"/>
          <a:ext cx="5879465" cy="152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"/>
                <a:gridCol w="2573020"/>
                <a:gridCol w="399415"/>
                <a:gridCol w="2569845"/>
              </a:tblGrid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Vocal-Auditory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Channel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Arbitrariness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427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Broadcast  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dirty="0" sz="1100" spc="6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 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directional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reception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Discreteness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5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Fading(Transmission)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Displacement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Feedback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Productivity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Interchangeability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Transmission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Specialization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Duality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Patterning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Semanticity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6381978"/>
            <a:ext cx="5969635" cy="265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primate communication utilizes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9 features, the </a:t>
            </a:r>
            <a:r>
              <a:rPr dirty="0" sz="1100" spc="-5">
                <a:latin typeface="Times New Roman"/>
                <a:cs typeface="Times New Roman"/>
              </a:rPr>
              <a:t>final </a:t>
            </a:r>
            <a:r>
              <a:rPr dirty="0" sz="1100">
                <a:latin typeface="Times New Roman"/>
                <a:cs typeface="Times New Roman"/>
              </a:rPr>
              <a:t>4 </a:t>
            </a:r>
            <a:r>
              <a:rPr dirty="0" sz="1100" spc="-5">
                <a:latin typeface="Times New Roman"/>
                <a:cs typeface="Times New Roman"/>
              </a:rPr>
              <a:t>features (displacement,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productivity, cultural transmission, and duality)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reserved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humans. Gibbons relatively close to man </a:t>
            </a:r>
            <a:r>
              <a:rPr dirty="0" sz="1100">
                <a:latin typeface="Times New Roman"/>
                <a:cs typeface="Times New Roman"/>
              </a:rPr>
              <a:t> possess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nine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devoid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Displacement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Productivity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Traditional transmission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Duality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Hockett later </a:t>
            </a:r>
            <a:r>
              <a:rPr dirty="0" sz="1100">
                <a:latin typeface="Times New Roman"/>
                <a:cs typeface="Times New Roman"/>
              </a:rPr>
              <a:t>added </a:t>
            </a:r>
            <a:r>
              <a:rPr dirty="0" sz="1100" spc="-5">
                <a:latin typeface="Times New Roman"/>
                <a:cs typeface="Times New Roman"/>
              </a:rPr>
              <a:t>prevarication, reflexiveness,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learnability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list as uniquely human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 making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list </a:t>
            </a:r>
            <a:r>
              <a:rPr dirty="0" sz="1100">
                <a:latin typeface="Times New Roman"/>
                <a:cs typeface="Times New Roman"/>
              </a:rPr>
              <a:t>up to 16 </a:t>
            </a:r>
            <a:r>
              <a:rPr dirty="0" sz="1100" spc="-5">
                <a:latin typeface="Times New Roman"/>
                <a:cs typeface="Times New Roman"/>
              </a:rPr>
              <a:t>features. He </a:t>
            </a:r>
            <a:r>
              <a:rPr dirty="0" sz="1100">
                <a:latin typeface="Times New Roman"/>
                <a:cs typeface="Times New Roman"/>
              </a:rPr>
              <a:t>asserted </a:t>
            </a:r>
            <a:r>
              <a:rPr dirty="0" sz="1100" spc="-5">
                <a:latin typeface="Times New Roman"/>
                <a:cs typeface="Times New Roman"/>
              </a:rPr>
              <a:t>that even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basic human languages </a:t>
            </a:r>
            <a:r>
              <a:rPr dirty="0" sz="1100">
                <a:latin typeface="Times New Roman"/>
                <a:cs typeface="Times New Roman"/>
              </a:rPr>
              <a:t> possess </a:t>
            </a:r>
            <a:r>
              <a:rPr dirty="0" sz="1100" spc="-5">
                <a:latin typeface="Times New Roman"/>
                <a:cs typeface="Times New Roman"/>
              </a:rPr>
              <a:t>these 16 features.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last seven features are set human language apart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all other forms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communication.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language: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Displacement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Prevarication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31673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Productivity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Traditional transmission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Learnability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0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Reflexiveness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Learnability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when we think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 setting </a:t>
            </a:r>
            <a:r>
              <a:rPr dirty="0" sz="1100" spc="-5">
                <a:latin typeface="Times New Roman"/>
                <a:cs typeface="Times New Roman"/>
              </a:rPr>
              <a:t>ourselves apart, what </a:t>
            </a:r>
            <a:r>
              <a:rPr dirty="0" sz="1100">
                <a:latin typeface="Times New Roman"/>
                <a:cs typeface="Times New Roman"/>
              </a:rPr>
              <a:t>is it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is different </a:t>
            </a:r>
            <a:r>
              <a:rPr dirty="0" sz="1100">
                <a:latin typeface="Times New Roman"/>
                <a:cs typeface="Times New Roman"/>
              </a:rPr>
              <a:t>than how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animals </a:t>
            </a:r>
            <a:r>
              <a:rPr dirty="0" sz="1100" spc="-5">
                <a:latin typeface="Times New Roman"/>
                <a:cs typeface="Times New Roman"/>
              </a:rPr>
              <a:t>communicate? Hockett believes that </a:t>
            </a:r>
            <a:r>
              <a:rPr dirty="0" sz="1100" spc="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a system </a:t>
            </a:r>
            <a:r>
              <a:rPr dirty="0" sz="1100" spc="-5">
                <a:latin typeface="Times New Roman"/>
                <a:cs typeface="Times New Roman"/>
              </a:rPr>
              <a:t>lacks even one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Broadcast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Transmission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Directional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Reception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Message goes out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directions; receiver can tell what direction message comes from. (Sign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line-of-sight transmission instead.) When humans speak, </a:t>
            </a:r>
            <a:r>
              <a:rPr dirty="0" sz="1100">
                <a:latin typeface="Times New Roman"/>
                <a:cs typeface="Times New Roman"/>
              </a:rPr>
              <a:t>sounds are </a:t>
            </a:r>
            <a:r>
              <a:rPr dirty="0" sz="1100" spc="-5">
                <a:latin typeface="Times New Roman"/>
                <a:cs typeface="Times New Roman"/>
              </a:rPr>
              <a:t>transmitted in 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directions; however, listeners perceive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direction from which </a:t>
            </a:r>
            <a:r>
              <a:rPr dirty="0" sz="1100">
                <a:latin typeface="Times New Roman"/>
                <a:cs typeface="Times New Roman"/>
              </a:rPr>
              <a:t>the sounds </a:t>
            </a:r>
            <a:r>
              <a:rPr dirty="0" sz="1100" spc="-5">
                <a:latin typeface="Times New Roman"/>
                <a:cs typeface="Times New Roman"/>
              </a:rPr>
              <a:t>are coming. Similarly, </a:t>
            </a:r>
            <a:r>
              <a:rPr dirty="0" sz="1100">
                <a:latin typeface="Times New Roman"/>
                <a:cs typeface="Times New Roman"/>
              </a:rPr>
              <a:t>signers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anyone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sight,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watching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signing.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animal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235674"/>
            <a:ext cx="5970905" cy="2612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This refers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fact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human language signal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sent </a:t>
            </a:r>
            <a:r>
              <a:rPr dirty="0" sz="1100">
                <a:latin typeface="Times New Roman"/>
                <a:cs typeface="Times New Roman"/>
              </a:rPr>
              <a:t>out in </a:t>
            </a:r>
            <a:r>
              <a:rPr dirty="0" sz="1100" spc="-5">
                <a:latin typeface="Times New Roman"/>
                <a:cs typeface="Times New Roman"/>
              </a:rPr>
              <a:t>all directions, while it is </a:t>
            </a:r>
            <a:r>
              <a:rPr dirty="0" sz="1100">
                <a:latin typeface="Times New Roman"/>
                <a:cs typeface="Times New Roman"/>
              </a:rPr>
              <a:t> perceived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(Hyde).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visualize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room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against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wall,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around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him.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person standing in the </a:t>
            </a:r>
            <a:r>
              <a:rPr dirty="0" sz="1100" spc="-5">
                <a:latin typeface="Times New Roman"/>
                <a:cs typeface="Times New Roman"/>
              </a:rPr>
              <a:t>middle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room speaks, his </a:t>
            </a:r>
            <a:r>
              <a:rPr dirty="0" sz="1100" spc="-5">
                <a:latin typeface="Times New Roman"/>
                <a:cs typeface="Times New Roman"/>
              </a:rPr>
              <a:t>voice carries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directions </a:t>
            </a:r>
            <a:r>
              <a:rPr dirty="0" sz="1100">
                <a:latin typeface="Times New Roman"/>
                <a:cs typeface="Times New Roman"/>
              </a:rPr>
              <a:t>around the </a:t>
            </a:r>
            <a:r>
              <a:rPr dirty="0" sz="1100" spc="-5">
                <a:latin typeface="Times New Roman"/>
                <a:cs typeface="Times New Roman"/>
              </a:rPr>
              <a:t>room,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him </a:t>
            </a:r>
            <a:r>
              <a:rPr dirty="0" sz="1100" spc="-5">
                <a:latin typeface="Times New Roman"/>
                <a:cs typeface="Times New Roman"/>
              </a:rPr>
              <a:t>will have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easier time understanding what </a:t>
            </a:r>
            <a:r>
              <a:rPr dirty="0" sz="1100">
                <a:latin typeface="Times New Roman"/>
                <a:cs typeface="Times New Roman"/>
              </a:rPr>
              <a:t>he is saying in </a:t>
            </a:r>
            <a:r>
              <a:rPr dirty="0" sz="1100" spc="-5">
                <a:latin typeface="Times New Roman"/>
                <a:cs typeface="Times New Roman"/>
              </a:rPr>
              <a:t>comparison </a:t>
            </a:r>
            <a:r>
              <a:rPr dirty="0" sz="1100">
                <a:latin typeface="Times New Roman"/>
                <a:cs typeface="Times New Roman"/>
              </a:rPr>
              <a:t>to the people </a:t>
            </a:r>
            <a:r>
              <a:rPr dirty="0" sz="1100" spc="-5">
                <a:latin typeface="Times New Roman"/>
                <a:cs typeface="Times New Roman"/>
              </a:rPr>
              <a:t>standing behind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him.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binaural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reception,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source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(Salzmann).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means that the human language signal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sent out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directions, </a:t>
            </a:r>
            <a:r>
              <a:rPr dirty="0" sz="1100" spc="-10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it is perceived 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perpetuates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waveform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mouth)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directions.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can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room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(assuming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loudly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enough).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(i.e.,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sounds)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emitted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waveforms,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(broadcasted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auditory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space),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5" y="4239767"/>
            <a:ext cx="3022600" cy="182867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98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listeners)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emanating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direction,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origin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vocalizing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speaker).</a:t>
            </a:r>
            <a:endParaRPr sz="1100">
              <a:latin typeface="Times New Roman"/>
              <a:cs typeface="Times New Roman"/>
            </a:endParaRPr>
          </a:p>
          <a:p>
            <a:pPr marL="12700" marR="3210560">
              <a:lnSpc>
                <a:spcPct val="220000"/>
              </a:lnSpc>
              <a:spcBef>
                <a:spcPts val="4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045: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Creativity/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Novelty/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Prevarication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Creativity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Another distinctive feature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creativity. Human beings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their linguistic </a:t>
            </a:r>
            <a:r>
              <a:rPr dirty="0" sz="1100">
                <a:latin typeface="Times New Roman"/>
                <a:cs typeface="Times New Roman"/>
              </a:rPr>
              <a:t>resources </a:t>
            </a:r>
            <a:r>
              <a:rPr dirty="0" sz="1100" spc="-5">
                <a:latin typeface="Times New Roman"/>
                <a:cs typeface="Times New Roman"/>
              </a:rPr>
              <a:t>to produce </a:t>
            </a:r>
            <a:r>
              <a:rPr dirty="0" sz="1100">
                <a:latin typeface="Times New Roman"/>
                <a:cs typeface="Times New Roman"/>
              </a:rPr>
              <a:t> new </a:t>
            </a:r>
            <a:r>
              <a:rPr dirty="0" sz="1100" spc="-5">
                <a:latin typeface="Times New Roman"/>
                <a:cs typeface="Times New Roman"/>
              </a:rPr>
              <a:t>expressions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sentences.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arrange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rearrange phonemes, morphemes, </a:t>
            </a:r>
            <a:r>
              <a:rPr dirty="0" sz="1100">
                <a:latin typeface="Times New Roman"/>
                <a:cs typeface="Times New Roman"/>
              </a:rPr>
              <a:t>words, </a:t>
            </a:r>
            <a:r>
              <a:rPr dirty="0" sz="1100" spc="-5">
                <a:latin typeface="Times New Roman"/>
                <a:cs typeface="Times New Roman"/>
              </a:rPr>
              <a:t>and phrases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that can express </a:t>
            </a:r>
            <a:r>
              <a:rPr dirty="0" sz="1100" spc="-5">
                <a:latin typeface="Times New Roman"/>
                <a:cs typeface="Times New Roman"/>
              </a:rPr>
              <a:t>an infinite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ideas.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is also called the </a:t>
            </a:r>
            <a:r>
              <a:rPr dirty="0" sz="1100">
                <a:latin typeface="Times New Roman"/>
                <a:cs typeface="Times New Roman"/>
              </a:rPr>
              <a:t>open-endedness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 communication is </a:t>
            </a:r>
            <a:r>
              <a:rPr dirty="0" sz="1100">
                <a:latin typeface="Times New Roman"/>
                <a:cs typeface="Times New Roman"/>
              </a:rPr>
              <a:t>a closed </a:t>
            </a:r>
            <a:r>
              <a:rPr dirty="0" sz="1100" spc="-5">
                <a:latin typeface="Times New Roman"/>
                <a:cs typeface="Times New Roman"/>
              </a:rPr>
              <a:t>system.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cannot </a:t>
            </a:r>
            <a:r>
              <a:rPr dirty="0" sz="1100" spc="-5">
                <a:latin typeface="Times New Roman"/>
                <a:cs typeface="Times New Roman"/>
              </a:rPr>
              <a:t>produce new signals to communicate novel events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experiences. </a:t>
            </a:r>
            <a:r>
              <a:rPr dirty="0" sz="1100" spc="-5">
                <a:latin typeface="Times New Roman"/>
                <a:cs typeface="Times New Roman"/>
              </a:rPr>
              <a:t>Novel utterances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understood. New words </a:t>
            </a:r>
            <a:r>
              <a:rPr dirty="0" sz="1100">
                <a:latin typeface="Times New Roman"/>
                <a:cs typeface="Times New Roman"/>
              </a:rPr>
              <a:t>can be invented </a:t>
            </a:r>
            <a:r>
              <a:rPr dirty="0" sz="1100" spc="-5">
                <a:latin typeface="Times New Roman"/>
                <a:cs typeface="Times New Roman"/>
              </a:rPr>
              <a:t>easily. 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reform discrete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signals, (such 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words.)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rearrange</a:t>
            </a:r>
            <a:r>
              <a:rPr dirty="0" sz="1100">
                <a:latin typeface="Times New Roman"/>
                <a:cs typeface="Times New Roman"/>
              </a:rPr>
              <a:t> words to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arrange words </a:t>
            </a:r>
            <a:r>
              <a:rPr dirty="0" sz="1100">
                <a:latin typeface="Times New Roman"/>
                <a:cs typeface="Times New Roman"/>
              </a:rPr>
              <a:t>into an </a:t>
            </a:r>
            <a:r>
              <a:rPr dirty="0" sz="1100" spc="-5">
                <a:latin typeface="Times New Roman"/>
                <a:cs typeface="Times New Roman"/>
              </a:rPr>
              <a:t>infinite number </a:t>
            </a:r>
            <a:r>
              <a:rPr dirty="0" sz="1100">
                <a:latin typeface="Times New Roman"/>
                <a:cs typeface="Times New Roman"/>
              </a:rPr>
              <a:t>of ideas, </a:t>
            </a:r>
            <a:r>
              <a:rPr dirty="0" sz="1100" spc="-5">
                <a:latin typeface="Times New Roman"/>
                <a:cs typeface="Times New Roman"/>
              </a:rPr>
              <a:t>sometimes referred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discrete infinity.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refers to the </a:t>
            </a:r>
            <a:r>
              <a:rPr dirty="0" sz="1100" spc="-5">
                <a:latin typeface="Times New Roman"/>
                <a:cs typeface="Times New Roman"/>
              </a:rPr>
              <a:t>idea that </a:t>
            </a:r>
            <a:r>
              <a:rPr dirty="0" sz="1100">
                <a:latin typeface="Times New Roman"/>
                <a:cs typeface="Times New Roman"/>
              </a:rPr>
              <a:t>language-users </a:t>
            </a:r>
            <a:r>
              <a:rPr dirty="0" sz="1100" spc="-5">
                <a:latin typeface="Times New Roman"/>
                <a:cs typeface="Times New Roman"/>
              </a:rPr>
              <a:t>can create </a:t>
            </a:r>
            <a:r>
              <a:rPr dirty="0" sz="1100">
                <a:latin typeface="Times New Roman"/>
                <a:cs typeface="Times New Roman"/>
              </a:rPr>
              <a:t>and understand </a:t>
            </a:r>
            <a:r>
              <a:rPr dirty="0" sz="1100" spc="-5">
                <a:latin typeface="Times New Roman"/>
                <a:cs typeface="Times New Roman"/>
              </a:rPr>
              <a:t>novel utterances.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unlimited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utterances.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concept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grammatical patterning is </a:t>
            </a:r>
            <a:r>
              <a:rPr dirty="0" sz="1100">
                <a:latin typeface="Times New Roman"/>
                <a:cs typeface="Times New Roman"/>
              </a:rPr>
              <a:t> also </a:t>
            </a:r>
            <a:r>
              <a:rPr dirty="0" sz="1100" spc="-5">
                <a:latin typeface="Times New Roman"/>
                <a:cs typeface="Times New Roman"/>
              </a:rPr>
              <a:t>related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productivity, which facilitates </a:t>
            </a:r>
            <a:r>
              <a:rPr dirty="0" sz="1100">
                <a:latin typeface="Times New Roman"/>
                <a:cs typeface="Times New Roman"/>
              </a:rPr>
              <a:t>the use and </a:t>
            </a:r>
            <a:r>
              <a:rPr dirty="0" sz="1100" spc="-5">
                <a:latin typeface="Times New Roman"/>
                <a:cs typeface="Times New Roman"/>
              </a:rPr>
              <a:t>comprehension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stagnant, but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constantly </a:t>
            </a:r>
            <a:r>
              <a:rPr dirty="0" sz="1100">
                <a:latin typeface="Times New Roman"/>
                <a:cs typeface="Times New Roman"/>
              </a:rPr>
              <a:t>changing. </a:t>
            </a:r>
            <a:r>
              <a:rPr dirty="0" sz="1100" spc="-5">
                <a:latin typeface="Times New Roman"/>
                <a:cs typeface="Times New Roman"/>
              </a:rPr>
              <a:t>New idioms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created all the time;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signals can vary </a:t>
            </a:r>
            <a:r>
              <a:rPr dirty="0" sz="1100">
                <a:latin typeface="Times New Roman"/>
                <a:cs typeface="Times New Roman"/>
              </a:rPr>
              <a:t> depending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senses.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‘to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infinite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finite </a:t>
            </a:r>
            <a:r>
              <a:rPr dirty="0" sz="1100">
                <a:latin typeface="Times New Roman"/>
                <a:cs typeface="Times New Roman"/>
              </a:rPr>
              <a:t>means’ </a:t>
            </a:r>
            <a:r>
              <a:rPr dirty="0" sz="1100" spc="-5">
                <a:latin typeface="Times New Roman"/>
                <a:cs typeface="Times New Roman"/>
              </a:rPr>
              <a:t>(Chomsky, </a:t>
            </a:r>
            <a:r>
              <a:rPr dirty="0" sz="1100">
                <a:latin typeface="Times New Roman"/>
                <a:cs typeface="Times New Roman"/>
              </a:rPr>
              <a:t>1996, p. 8). </a:t>
            </a:r>
            <a:r>
              <a:rPr dirty="0" sz="1100" spc="-5">
                <a:latin typeface="Times New Roman"/>
                <a:cs typeface="Times New Roman"/>
              </a:rPr>
              <a:t>Dual structure, structure dependence,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 operations such </a:t>
            </a:r>
            <a:r>
              <a:rPr dirty="0" sz="1100">
                <a:latin typeface="Times New Roman"/>
                <a:cs typeface="Times New Roman"/>
              </a:rPr>
              <a:t>as recursion and </a:t>
            </a:r>
            <a:r>
              <a:rPr dirty="0" sz="1100" spc="-5">
                <a:latin typeface="Times New Roman"/>
                <a:cs typeface="Times New Roman"/>
              </a:rPr>
              <a:t>coordination mean that the setoff possible sentences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infinite.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said which have never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before. </a:t>
            </a:r>
            <a:r>
              <a:rPr dirty="0" sz="1100" spc="-5">
                <a:latin typeface="Times New Roman"/>
                <a:cs typeface="Times New Roman"/>
              </a:rPr>
              <a:t>This first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productivity, however, does </a:t>
            </a:r>
            <a:r>
              <a:rPr dirty="0" sz="1100">
                <a:latin typeface="Times New Roman"/>
                <a:cs typeface="Times New Roman"/>
              </a:rPr>
              <a:t> not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units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break </a:t>
            </a:r>
            <a:r>
              <a:rPr dirty="0" sz="1100">
                <a:latin typeface="Times New Roman"/>
                <a:cs typeface="Times New Roman"/>
              </a:rPr>
              <a:t>rules </a:t>
            </a:r>
            <a:r>
              <a:rPr dirty="0" sz="1100" spc="-5">
                <a:latin typeface="Times New Roman"/>
                <a:cs typeface="Times New Roman"/>
              </a:rPr>
              <a:t>for their combination. Another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productivity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is the capacity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items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of combining </a:t>
            </a:r>
            <a:r>
              <a:rPr dirty="0" sz="1100" spc="-5">
                <a:latin typeface="Times New Roman"/>
                <a:cs typeface="Times New Roman"/>
              </a:rPr>
              <a:t>them, </a:t>
            </a:r>
            <a:r>
              <a:rPr dirty="0" sz="1100">
                <a:latin typeface="Times New Roman"/>
                <a:cs typeface="Times New Roman"/>
              </a:rPr>
              <a:t>to be, in </a:t>
            </a:r>
            <a:r>
              <a:rPr dirty="0" sz="1100" spc="-5">
                <a:latin typeface="Times New Roman"/>
                <a:cs typeface="Times New Roman"/>
              </a:rPr>
              <a:t>other words,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 (Carter, 2004). People often depart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rules creatively </a:t>
            </a:r>
            <a:r>
              <a:rPr dirty="0" sz="1100">
                <a:latin typeface="Times New Roman"/>
                <a:cs typeface="Times New Roman"/>
              </a:rPr>
              <a:t>– to be </a:t>
            </a:r>
            <a:r>
              <a:rPr dirty="0" sz="1100" spc="-5">
                <a:latin typeface="Times New Roman"/>
                <a:cs typeface="Times New Roman"/>
              </a:rPr>
              <a:t>poetic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humorous,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 identity.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most easily </a:t>
            </a:r>
            <a:r>
              <a:rPr dirty="0" sz="1100">
                <a:latin typeface="Times New Roman"/>
                <a:cs typeface="Times New Roman"/>
              </a:rPr>
              <a:t>seen </a:t>
            </a:r>
            <a:r>
              <a:rPr dirty="0" sz="1100" spc="-5">
                <a:latin typeface="Times New Roman"/>
                <a:cs typeface="Times New Roman"/>
              </a:rPr>
              <a:t>at the lexical level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coinage </a:t>
            </a:r>
            <a:r>
              <a:rPr dirty="0" sz="1100">
                <a:latin typeface="Times New Roman"/>
                <a:cs typeface="Times New Roman"/>
              </a:rPr>
              <a:t>of new words. </a:t>
            </a:r>
            <a:r>
              <a:rPr dirty="0" sz="1100" spc="-5">
                <a:latin typeface="Times New Roman"/>
                <a:cs typeface="Times New Roman"/>
              </a:rPr>
              <a:t>Lewis Carroll’s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famous </a:t>
            </a:r>
            <a:r>
              <a:rPr dirty="0" sz="1100">
                <a:latin typeface="Times New Roman"/>
                <a:cs typeface="Times New Roman"/>
              </a:rPr>
              <a:t>poem </a:t>
            </a:r>
            <a:r>
              <a:rPr dirty="0" sz="1100" spc="-5">
                <a:latin typeface="Times New Roman"/>
                <a:cs typeface="Times New Roman"/>
              </a:rPr>
              <a:t>‘Jabberwocky’,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used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invented words ‘chortle’ and ‘galumph’, which are </a:t>
            </a:r>
            <a:r>
              <a:rPr dirty="0" sz="1100">
                <a:latin typeface="Times New Roman"/>
                <a:cs typeface="Times New Roman"/>
              </a:rPr>
              <a:t> now part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Advertisements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playfulness.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motoring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R.A.C.,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verb: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‘We’ll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R.A.C.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an open </a:t>
            </a:r>
            <a:r>
              <a:rPr dirty="0" sz="1100" spc="-10">
                <a:latin typeface="Times New Roman"/>
                <a:cs typeface="Times New Roman"/>
              </a:rPr>
              <a:t>system. </a:t>
            </a:r>
            <a:r>
              <a:rPr dirty="0" sz="1100">
                <a:latin typeface="Times New Roman"/>
                <a:cs typeface="Times New Roman"/>
              </a:rPr>
              <a:t>We can produce </a:t>
            </a:r>
            <a:r>
              <a:rPr dirty="0" sz="1100" spc="-5">
                <a:latin typeface="Times New Roman"/>
                <a:cs typeface="Times New Roman"/>
              </a:rPr>
              <a:t>potentially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infinite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messages </a:t>
            </a:r>
            <a:r>
              <a:rPr dirty="0" sz="1100">
                <a:latin typeface="Times New Roman"/>
                <a:cs typeface="Times New Roman"/>
              </a:rPr>
              <a:t> by </a:t>
            </a:r>
            <a:r>
              <a:rPr dirty="0" sz="1100" spc="-5">
                <a:latin typeface="Times New Roman"/>
                <a:cs typeface="Times New Roman"/>
              </a:rPr>
              <a:t>combining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elements differently. </a:t>
            </a:r>
            <a:r>
              <a:rPr dirty="0" sz="1100">
                <a:latin typeface="Times New Roman"/>
                <a:cs typeface="Times New Roman"/>
              </a:rPr>
              <a:t>This 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feature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animal communication,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gibbons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finite</a:t>
            </a:r>
            <a:r>
              <a:rPr dirty="0" sz="1100">
                <a:latin typeface="Times New Roman"/>
                <a:cs typeface="Times New Roman"/>
              </a:rPr>
              <a:t> number,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Prevarication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Prevarication 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lie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deceive.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using language, humans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false 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meaningless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statements.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affairs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797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mind. </a:t>
            </a:r>
            <a:r>
              <a:rPr dirty="0" sz="1100">
                <a:latin typeface="Times New Roman"/>
                <a:cs typeface="Times New Roman"/>
              </a:rPr>
              <a:t>Yet, as </a:t>
            </a:r>
            <a:r>
              <a:rPr dirty="0" sz="1100" spc="-5">
                <a:latin typeface="Times New Roman"/>
                <a:cs typeface="Times New Roman"/>
              </a:rPr>
              <a:t>we all know, these are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necessarily true. Language </a:t>
            </a:r>
            <a:r>
              <a:rPr dirty="0" sz="1100">
                <a:latin typeface="Times New Roman"/>
                <a:cs typeface="Times New Roman"/>
              </a:rPr>
              <a:t>can just as </a:t>
            </a:r>
            <a:r>
              <a:rPr dirty="0" sz="1100" spc="-5">
                <a:latin typeface="Times New Roman"/>
                <a:cs typeface="Times New Roman"/>
              </a:rPr>
              <a:t>easily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withhold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information,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give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false information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to </a:t>
            </a:r>
            <a:r>
              <a:rPr dirty="0" sz="1100" spc="-5">
                <a:latin typeface="Times New Roman"/>
                <a:cs typeface="Times New Roman"/>
              </a:rPr>
              <a:t>prevaricate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and deception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as universal as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itself. Some </a:t>
            </a:r>
            <a:r>
              <a:rPr dirty="0" sz="1100">
                <a:latin typeface="Times New Roman"/>
                <a:cs typeface="Times New Roman"/>
              </a:rPr>
              <a:t>theorists </a:t>
            </a:r>
            <a:r>
              <a:rPr dirty="0" sz="1100" spc="-5">
                <a:latin typeface="Times New Roman"/>
                <a:cs typeface="Times New Roman"/>
              </a:rPr>
              <a:t>have gone </a:t>
            </a:r>
            <a:r>
              <a:rPr dirty="0" sz="1100">
                <a:latin typeface="Times New Roman"/>
                <a:cs typeface="Times New Roman"/>
              </a:rPr>
              <a:t>so far as </a:t>
            </a:r>
            <a:r>
              <a:rPr dirty="0" sz="1100" spc="1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suggest that this capacity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deception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heart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Roger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(1973),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leading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child language, pointed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that children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frequently </a:t>
            </a:r>
            <a:r>
              <a:rPr dirty="0" sz="1100">
                <a:latin typeface="Times New Roman"/>
                <a:cs typeface="Times New Roman"/>
              </a:rPr>
              <a:t>told </a:t>
            </a:r>
            <a:r>
              <a:rPr dirty="0" sz="1100" spc="-5">
                <a:latin typeface="Times New Roman"/>
                <a:cs typeface="Times New Roman"/>
              </a:rPr>
              <a:t>off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telling </a:t>
            </a:r>
            <a:r>
              <a:rPr dirty="0" sz="1100">
                <a:latin typeface="Times New Roman"/>
                <a:cs typeface="Times New Roman"/>
              </a:rPr>
              <a:t>untruths </a:t>
            </a:r>
            <a:r>
              <a:rPr dirty="0" sz="1100" spc="-5">
                <a:latin typeface="Times New Roman"/>
                <a:cs typeface="Times New Roman"/>
              </a:rPr>
              <a:t>but rarely </a:t>
            </a:r>
            <a:r>
              <a:rPr dirty="0" sz="1100">
                <a:latin typeface="Times New Roman"/>
                <a:cs typeface="Times New Roman"/>
              </a:rPr>
              <a:t> corrected </a:t>
            </a:r>
            <a:r>
              <a:rPr dirty="0" sz="1100" spc="-5">
                <a:latin typeface="Times New Roman"/>
                <a:cs typeface="Times New Roman"/>
              </a:rPr>
              <a:t>for their grammar. Nevertheless, </a:t>
            </a:r>
            <a:r>
              <a:rPr dirty="0" sz="1100">
                <a:latin typeface="Times New Roman"/>
                <a:cs typeface="Times New Roman"/>
              </a:rPr>
              <a:t>they all </a:t>
            </a:r>
            <a:r>
              <a:rPr dirty="0" sz="1100" spc="-5">
                <a:latin typeface="Times New Roman"/>
                <a:cs typeface="Times New Roman"/>
              </a:rPr>
              <a:t>grow </a:t>
            </a:r>
            <a:r>
              <a:rPr dirty="0" sz="1100">
                <a:latin typeface="Times New Roman"/>
                <a:cs typeface="Times New Roman"/>
              </a:rPr>
              <a:t>up to speak </a:t>
            </a:r>
            <a:r>
              <a:rPr dirty="0" sz="1100" spc="-5">
                <a:latin typeface="Times New Roman"/>
                <a:cs typeface="Times New Roman"/>
              </a:rPr>
              <a:t>grammatically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tell lies. </a:t>
            </a:r>
            <a:r>
              <a:rPr dirty="0" sz="1100">
                <a:latin typeface="Times New Roman"/>
                <a:cs typeface="Times New Roman"/>
              </a:rPr>
              <a:t>Robin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Dunbar </a:t>
            </a:r>
            <a:r>
              <a:rPr dirty="0" sz="1100" spc="-5">
                <a:latin typeface="Times New Roman"/>
                <a:cs typeface="Times New Roman"/>
              </a:rPr>
              <a:t>(1996)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suggested that the origins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less </a:t>
            </a:r>
            <a:r>
              <a:rPr dirty="0" sz="1100">
                <a:latin typeface="Times New Roman"/>
                <a:cs typeface="Times New Roman"/>
              </a:rPr>
              <a:t>to do </a:t>
            </a:r>
            <a:r>
              <a:rPr dirty="0" sz="1100" spc="-5">
                <a:latin typeface="Times New Roman"/>
                <a:cs typeface="Times New Roman"/>
              </a:rPr>
              <a:t>with its capacity </a:t>
            </a:r>
            <a:r>
              <a:rPr dirty="0" sz="1100">
                <a:latin typeface="Times New Roman"/>
                <a:cs typeface="Times New Roman"/>
              </a:rPr>
              <a:t>to convey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information, and more </a:t>
            </a:r>
            <a:r>
              <a:rPr dirty="0" sz="1100">
                <a:latin typeface="Times New Roman"/>
                <a:cs typeface="Times New Roman"/>
              </a:rPr>
              <a:t>with its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form competing social </a:t>
            </a:r>
            <a:r>
              <a:rPr dirty="0" sz="1100" spc="-5">
                <a:latin typeface="Times New Roman"/>
                <a:cs typeface="Times New Roman"/>
              </a:rPr>
              <a:t>networks,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trust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deception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Novelty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not stagnant, but </a:t>
            </a:r>
            <a:r>
              <a:rPr dirty="0" sz="1100" spc="-5">
                <a:latin typeface="Times New Roman"/>
                <a:cs typeface="Times New Roman"/>
              </a:rPr>
              <a:t>constantly changing.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idioms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created all the time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signals can vary </a:t>
            </a:r>
            <a:r>
              <a:rPr dirty="0" sz="1100">
                <a:latin typeface="Times New Roman"/>
                <a:cs typeface="Times New Roman"/>
              </a:rPr>
              <a:t>depending on the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and situation. While </a:t>
            </a:r>
            <a:r>
              <a:rPr dirty="0" sz="1100" spc="-5">
                <a:latin typeface="Times New Roman"/>
                <a:cs typeface="Times New Roman"/>
              </a:rPr>
              <a:t>the unique design features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language have their effectiveness, language also makes human communication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social relationships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problematic.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prevarication;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are completely false,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deception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common </a:t>
            </a:r>
            <a:r>
              <a:rPr dirty="0" sz="1100">
                <a:latin typeface="Times New Roman"/>
                <a:cs typeface="Times New Roman"/>
              </a:rPr>
              <a:t>among other animals </a:t>
            </a:r>
            <a:r>
              <a:rPr dirty="0" sz="1100" spc="-5">
                <a:latin typeface="Times New Roman"/>
                <a:cs typeface="Times New Roman"/>
              </a:rPr>
              <a:t>(Salzmann). By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 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 three-years-old,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70% </a:t>
            </a:r>
            <a:r>
              <a:rPr dirty="0" sz="1100">
                <a:latin typeface="Times New Roman"/>
                <a:cs typeface="Times New Roman"/>
              </a:rPr>
              <a:t>of them are capable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lying.</a:t>
            </a:r>
            <a:r>
              <a:rPr dirty="0" sz="1100">
                <a:latin typeface="Times New Roman"/>
                <a:cs typeface="Times New Roman"/>
              </a:rPr>
              <a:t> Then, </a:t>
            </a:r>
            <a:r>
              <a:rPr dirty="0" sz="1100" spc="-1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four,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rate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lying will peak when </a:t>
            </a:r>
            <a:r>
              <a:rPr dirty="0" sz="1100">
                <a:latin typeface="Times New Roman"/>
                <a:cs typeface="Times New Roman"/>
              </a:rPr>
              <a:t>they are </a:t>
            </a:r>
            <a:r>
              <a:rPr dirty="0" sz="1100" spc="-5">
                <a:latin typeface="Times New Roman"/>
                <a:cs typeface="Times New Roman"/>
              </a:rPr>
              <a:t>told </a:t>
            </a:r>
            <a:r>
              <a:rPr dirty="0" sz="1100">
                <a:latin typeface="Times New Roman"/>
                <a:cs typeface="Times New Roman"/>
              </a:rPr>
              <a:t>not to </a:t>
            </a:r>
            <a:r>
              <a:rPr dirty="0" sz="1100" spc="-5">
                <a:latin typeface="Times New Roman"/>
                <a:cs typeface="Times New Roman"/>
              </a:rPr>
              <a:t>lie. </a:t>
            </a:r>
            <a:r>
              <a:rPr dirty="0" sz="1100">
                <a:latin typeface="Times New Roman"/>
                <a:cs typeface="Times New Roman"/>
              </a:rPr>
              <a:t>Young children lie </a:t>
            </a:r>
            <a:r>
              <a:rPr dirty="0" sz="1100" spc="-5">
                <a:latin typeface="Times New Roman"/>
                <a:cs typeface="Times New Roman"/>
              </a:rPr>
              <a:t>about their actions, but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about 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ten,</a:t>
            </a:r>
            <a:r>
              <a:rPr dirty="0" sz="1100" spc="-5">
                <a:latin typeface="Times New Roman"/>
                <a:cs typeface="Times New Roman"/>
              </a:rPr>
              <a:t> their lying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sophisticated,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(lying).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lie mainly </a:t>
            </a:r>
            <a:r>
              <a:rPr dirty="0" sz="1100">
                <a:latin typeface="Times New Roman"/>
                <a:cs typeface="Times New Roman"/>
              </a:rPr>
              <a:t>to dodge </a:t>
            </a:r>
            <a:r>
              <a:rPr dirty="0" sz="1100" spc="-5">
                <a:latin typeface="Times New Roman"/>
                <a:cs typeface="Times New Roman"/>
              </a:rPr>
              <a:t>trouble,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themselves </a:t>
            </a:r>
            <a:r>
              <a:rPr dirty="0" sz="1100">
                <a:latin typeface="Times New Roman"/>
                <a:cs typeface="Times New Roman"/>
              </a:rPr>
              <a:t>look </a:t>
            </a:r>
            <a:r>
              <a:rPr dirty="0" sz="1100" spc="-5">
                <a:latin typeface="Times New Roman"/>
                <a:cs typeface="Times New Roman"/>
              </a:rPr>
              <a:t>good, </a:t>
            </a:r>
            <a:r>
              <a:rPr dirty="0" sz="1100">
                <a:latin typeface="Times New Roman"/>
                <a:cs typeface="Times New Roman"/>
              </a:rPr>
              <a:t>or to </a:t>
            </a:r>
            <a:r>
              <a:rPr dirty="0" sz="1100" spc="-5">
                <a:latin typeface="Times New Roman"/>
                <a:cs typeface="Times New Roman"/>
              </a:rPr>
              <a:t>avoid discomfort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others; it is a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preserving social relations. </a:t>
            </a:r>
            <a:r>
              <a:rPr dirty="0" sz="1100">
                <a:latin typeface="Times New Roman"/>
                <a:cs typeface="Times New Roman"/>
              </a:rPr>
              <a:t>Think about the </a:t>
            </a:r>
            <a:r>
              <a:rPr dirty="0" sz="1100" spc="-5">
                <a:latin typeface="Times New Roman"/>
                <a:cs typeface="Times New Roman"/>
              </a:rPr>
              <a:t>role of ‘white’ lies: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compliment </a:t>
            </a:r>
            <a:r>
              <a:rPr dirty="0" sz="1100">
                <a:latin typeface="Times New Roman"/>
                <a:cs typeface="Times New Roman"/>
              </a:rPr>
              <a:t> friends or </a:t>
            </a:r>
            <a:r>
              <a:rPr dirty="0" sz="1100" spc="-5">
                <a:latin typeface="Times New Roman"/>
                <a:cs typeface="Times New Roman"/>
              </a:rPr>
              <a:t>family members</a:t>
            </a:r>
            <a:r>
              <a:rPr dirty="0" sz="1100">
                <a:latin typeface="Times New Roman"/>
                <a:cs typeface="Times New Roman"/>
              </a:rPr>
              <a:t> on </a:t>
            </a:r>
            <a:r>
              <a:rPr dirty="0" sz="1100" spc="-5">
                <a:latin typeface="Times New Roman"/>
                <a:cs typeface="Times New Roman"/>
              </a:rPr>
              <a:t>their inedible cooking,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praise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colleagues’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disorganized first </a:t>
            </a:r>
            <a:r>
              <a:rPr dirty="0" sz="1100">
                <a:latin typeface="Times New Roman"/>
                <a:cs typeface="Times New Roman"/>
              </a:rPr>
              <a:t> drafts, and a </a:t>
            </a:r>
            <a:r>
              <a:rPr dirty="0" sz="1100" spc="-5">
                <a:latin typeface="Times New Roman"/>
                <a:cs typeface="Times New Roman"/>
              </a:rPr>
              <a:t>doctor may tell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depressed patient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a 50-50 chance of a long-term recovery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s/he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confident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will only live </a:t>
            </a:r>
            <a:r>
              <a:rPr dirty="0" sz="1100">
                <a:latin typeface="Times New Roman"/>
                <a:cs typeface="Times New Roman"/>
              </a:rPr>
              <a:t>another </a:t>
            </a:r>
            <a:r>
              <a:rPr dirty="0" sz="1100" spc="-5">
                <a:latin typeface="Times New Roman"/>
                <a:cs typeface="Times New Roman"/>
              </a:rPr>
              <a:t>eight months. </a:t>
            </a:r>
            <a:r>
              <a:rPr dirty="0" sz="1100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at times these lies may </a:t>
            </a:r>
            <a:r>
              <a:rPr dirty="0" sz="1100">
                <a:latin typeface="Times New Roman"/>
                <a:cs typeface="Times New Roman"/>
              </a:rPr>
              <a:t>seem harmless,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 are where one can </a:t>
            </a:r>
            <a:r>
              <a:rPr dirty="0" sz="1100">
                <a:latin typeface="Times New Roman"/>
                <a:cs typeface="Times New Roman"/>
              </a:rPr>
              <a:t>see </a:t>
            </a:r>
            <a:r>
              <a:rPr dirty="0" sz="1100" spc="-5">
                <a:latin typeface="Times New Roman"/>
                <a:cs typeface="Times New Roman"/>
              </a:rPr>
              <a:t>how language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>
                <a:latin typeface="Times New Roman"/>
                <a:cs typeface="Times New Roman"/>
              </a:rPr>
              <a:t>one’s </a:t>
            </a:r>
            <a:r>
              <a:rPr dirty="0" sz="1100" spc="-5">
                <a:latin typeface="Times New Roman"/>
                <a:cs typeface="Times New Roman"/>
              </a:rPr>
              <a:t>life. Lying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morally wrong,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perfect </a:t>
            </a:r>
            <a:r>
              <a:rPr dirty="0" sz="1100">
                <a:latin typeface="Times New Roman"/>
                <a:cs typeface="Times New Roman"/>
              </a:rPr>
              <a:t> honesty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seem second best </a:t>
            </a:r>
            <a:r>
              <a:rPr dirty="0" sz="1100" spc="-5">
                <a:latin typeface="Times New Roman"/>
                <a:cs typeface="Times New Roman"/>
              </a:rPr>
              <a:t>next to compassion, respect, </a:t>
            </a:r>
            <a:r>
              <a:rPr dirty="0" sz="1100" spc="5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justice in certain situations. However,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lying </a:t>
            </a:r>
            <a:r>
              <a:rPr dirty="0" sz="1100">
                <a:latin typeface="Times New Roman"/>
                <a:cs typeface="Times New Roman"/>
              </a:rPr>
              <a:t>corrupts a </a:t>
            </a:r>
            <a:r>
              <a:rPr dirty="0" sz="1100" spc="-5">
                <a:latin typeface="Times New Roman"/>
                <a:cs typeface="Times New Roman"/>
              </a:rPr>
              <a:t>human being’s 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free, </a:t>
            </a:r>
            <a:r>
              <a:rPr dirty="0" sz="1100" spc="-5">
                <a:latin typeface="Times New Roman"/>
                <a:cs typeface="Times New Roman"/>
              </a:rPr>
              <a:t>rational </a:t>
            </a:r>
            <a:r>
              <a:rPr dirty="0" sz="1100">
                <a:latin typeface="Times New Roman"/>
                <a:cs typeface="Times New Roman"/>
              </a:rPr>
              <a:t>choices, and </a:t>
            </a:r>
            <a:r>
              <a:rPr dirty="0" sz="1100" spc="-5">
                <a:latin typeface="Times New Roman"/>
                <a:cs typeface="Times New Roman"/>
              </a:rPr>
              <a:t>robs </a:t>
            </a:r>
            <a:r>
              <a:rPr dirty="0" sz="1100">
                <a:latin typeface="Times New Roman"/>
                <a:cs typeface="Times New Roman"/>
              </a:rPr>
              <a:t>people of </a:t>
            </a:r>
            <a:r>
              <a:rPr dirty="0" sz="1100" spc="-5">
                <a:latin typeface="Times New Roman"/>
                <a:cs typeface="Times New Roman"/>
              </a:rPr>
              <a:t>their human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dignity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autonomy.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Thus,</a:t>
            </a:r>
            <a:r>
              <a:rPr dirty="0" sz="1100">
                <a:latin typeface="Times New Roman"/>
                <a:cs typeface="Times New Roman"/>
              </a:rPr>
              <a:t> lies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rob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choose </a:t>
            </a:r>
            <a:r>
              <a:rPr dirty="0" sz="1100" spc="-5">
                <a:latin typeface="Times New Roman"/>
                <a:cs typeface="Times New Roman"/>
              </a:rPr>
              <a:t>rationally.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046: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Discreteness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Symbols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combining smaller symbols that differ discontinuously </a:t>
            </a:r>
            <a:r>
              <a:rPr dirty="0" sz="1100">
                <a:latin typeface="Times New Roman"/>
                <a:cs typeface="Times New Roman"/>
              </a:rPr>
              <a:t>(e.g., ‘bin’, </a:t>
            </a:r>
            <a:r>
              <a:rPr dirty="0" sz="1100" spc="-5">
                <a:latin typeface="Times New Roman"/>
                <a:cs typeface="Times New Roman"/>
              </a:rPr>
              <a:t>‘pin’). </a:t>
            </a:r>
            <a:r>
              <a:rPr dirty="0" sz="1100">
                <a:latin typeface="Times New Roman"/>
                <a:cs typeface="Times New Roman"/>
              </a:rPr>
              <a:t> Linguistic </a:t>
            </a:r>
            <a:r>
              <a:rPr dirty="0" sz="1100" spc="-5">
                <a:latin typeface="Times New Roman"/>
                <a:cs typeface="Times New Roman"/>
              </a:rPr>
              <a:t>representations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broken </a:t>
            </a:r>
            <a:r>
              <a:rPr dirty="0" sz="1100">
                <a:latin typeface="Times New Roman"/>
                <a:cs typeface="Times New Roman"/>
              </a:rPr>
              <a:t>down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small </a:t>
            </a:r>
            <a:r>
              <a:rPr dirty="0" sz="1100" spc="-5">
                <a:latin typeface="Times New Roman"/>
                <a:cs typeface="Times New Roman"/>
              </a:rPr>
              <a:t>discrete units, which combine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each other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rule-governed ways. </a:t>
            </a:r>
            <a:r>
              <a:rPr dirty="0" sz="1100">
                <a:latin typeface="Times New Roman"/>
                <a:cs typeface="Times New Roman"/>
              </a:rPr>
              <a:t>They are </a:t>
            </a:r>
            <a:r>
              <a:rPr dirty="0" sz="1100" spc="-5">
                <a:latin typeface="Times New Roman"/>
                <a:cs typeface="Times New Roman"/>
              </a:rPr>
              <a:t>perceived categorically,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continuously.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English marks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/s/,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categorically,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continuously: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cannot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smaller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varying </a:t>
            </a:r>
            <a:r>
              <a:rPr dirty="0" sz="1100">
                <a:latin typeface="Times New Roman"/>
                <a:cs typeface="Times New Roman"/>
              </a:rPr>
              <a:t> how loudly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pronounce the </a:t>
            </a:r>
            <a:r>
              <a:rPr dirty="0" sz="1100" spc="-5">
                <a:latin typeface="Times New Roman"/>
                <a:cs typeface="Times New Roman"/>
              </a:rPr>
              <a:t>/s/.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system is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discrete units, which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broken apart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new signals. </a:t>
            </a:r>
            <a:r>
              <a:rPr dirty="0" sz="1100" spc="-5">
                <a:latin typeface="Times New Roman"/>
                <a:cs typeface="Times New Roman"/>
              </a:rPr>
              <a:t>For example, our sentences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words; our words are formed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letters.</a:t>
            </a:r>
            <a:r>
              <a:rPr dirty="0" sz="1100">
                <a:latin typeface="Times New Roman"/>
                <a:cs typeface="Times New Roman"/>
              </a:rPr>
              <a:t> 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Discreteness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 </a:t>
            </a:r>
            <a:r>
              <a:rPr dirty="0" sz="1100">
                <a:latin typeface="Times New Roman"/>
                <a:cs typeface="Times New Roman"/>
              </a:rPr>
              <a:t>for the </a:t>
            </a:r>
            <a:r>
              <a:rPr dirty="0" sz="1100" spc="-5">
                <a:latin typeface="Times New Roman"/>
                <a:cs typeface="Times New Roman"/>
              </a:rPr>
              <a:t>ninth design feature productivity,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note that just because </a:t>
            </a:r>
            <a:r>
              <a:rPr dirty="0" sz="1100">
                <a:latin typeface="Times New Roman"/>
                <a:cs typeface="Times New Roman"/>
              </a:rPr>
              <a:t>a system has </a:t>
            </a:r>
            <a:r>
              <a:rPr dirty="0" sz="1100" spc="-5">
                <a:latin typeface="Times New Roman"/>
                <a:cs typeface="Times New Roman"/>
              </a:rPr>
              <a:t>discrete units </a:t>
            </a:r>
            <a:r>
              <a:rPr dirty="0" sz="1100">
                <a:latin typeface="Times New Roman"/>
                <a:cs typeface="Times New Roman"/>
              </a:rPr>
              <a:t> does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>
                <a:latin typeface="Times New Roman"/>
                <a:cs typeface="Times New Roman"/>
              </a:rPr>
              <a:t> up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>
                <a:latin typeface="Times New Roman"/>
                <a:cs typeface="Times New Roman"/>
              </a:rPr>
              <a:t> new units.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6494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656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(Another note is that languages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 spc="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discrete,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Chinese, actually </a:t>
            </a:r>
            <a:r>
              <a:rPr dirty="0" sz="1100">
                <a:latin typeface="Times New Roman"/>
                <a:cs typeface="Times New Roman"/>
              </a:rPr>
              <a:t>are.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Chinese symbols are usually </a:t>
            </a:r>
            <a:r>
              <a:rPr dirty="0" sz="1100">
                <a:latin typeface="Times New Roman"/>
                <a:cs typeface="Times New Roman"/>
              </a:rPr>
              <a:t>composed of </a:t>
            </a:r>
            <a:r>
              <a:rPr dirty="0" sz="1100" spc="-5">
                <a:latin typeface="Times New Roman"/>
                <a:cs typeface="Times New Roman"/>
              </a:rPr>
              <a:t>two symbols, which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broken apart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15">
                <a:latin typeface="Times New Roman"/>
                <a:cs typeface="Times New Roman"/>
              </a:rPr>
              <a:t>re- 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arranged.)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discrete signs. </a:t>
            </a:r>
            <a:r>
              <a:rPr dirty="0" sz="1100">
                <a:latin typeface="Times New Roman"/>
                <a:cs typeface="Times New Roman"/>
              </a:rPr>
              <a:t>They are </a:t>
            </a:r>
            <a:r>
              <a:rPr dirty="0" sz="1100" spc="-5">
                <a:latin typeface="Times New Roman"/>
                <a:cs typeface="Times New Roman"/>
              </a:rPr>
              <a:t>either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thing </a:t>
            </a:r>
            <a:r>
              <a:rPr dirty="0" sz="1100">
                <a:latin typeface="Times New Roman"/>
                <a:cs typeface="Times New Roman"/>
              </a:rPr>
              <a:t>or another. A sound is perceived as one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another; there </a:t>
            </a:r>
            <a:r>
              <a:rPr dirty="0" sz="1100">
                <a:latin typeface="Times New Roman"/>
                <a:cs typeface="Times New Roman"/>
              </a:rPr>
              <a:t>are no </a:t>
            </a:r>
            <a:r>
              <a:rPr dirty="0" sz="1100" spc="-5">
                <a:latin typeface="Times New Roman"/>
                <a:cs typeface="Times New Roman"/>
              </a:rPr>
              <a:t>intermediate cases. (Though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could create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continuum </a:t>
            </a:r>
            <a:r>
              <a:rPr dirty="0" sz="1100">
                <a:latin typeface="Times New Roman"/>
                <a:cs typeface="Times New Roman"/>
              </a:rPr>
              <a:t>of sounds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between, say, /b/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/p/, </a:t>
            </a:r>
            <a:r>
              <a:rPr dirty="0" sz="1100">
                <a:latin typeface="Times New Roman"/>
                <a:cs typeface="Times New Roman"/>
              </a:rPr>
              <a:t>a speaker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with this distinction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perceive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along that </a:t>
            </a:r>
            <a:r>
              <a:rPr dirty="0" sz="1100">
                <a:latin typeface="Times New Roman"/>
                <a:cs typeface="Times New Roman"/>
              </a:rPr>
              <a:t> continuum as one or the other.) Words, </a:t>
            </a:r>
            <a:r>
              <a:rPr dirty="0" sz="1100" spc="-5">
                <a:latin typeface="Times New Roman"/>
                <a:cs typeface="Times New Roman"/>
              </a:rPr>
              <a:t>composed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phonemes, inherit this </a:t>
            </a:r>
            <a:r>
              <a:rPr dirty="0" sz="1100">
                <a:latin typeface="Times New Roman"/>
                <a:cs typeface="Times New Roman"/>
              </a:rPr>
              <a:t>absolute </a:t>
            </a:r>
            <a:r>
              <a:rPr dirty="0" sz="1100" spc="-5">
                <a:latin typeface="Times New Roman"/>
                <a:cs typeface="Times New Roman"/>
              </a:rPr>
              <a:t>quality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‘bat’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‘pat’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intermediate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Many </a:t>
            </a:r>
            <a:r>
              <a:rPr dirty="0" sz="1100" spc="-5">
                <a:latin typeface="Times New Roman"/>
                <a:cs typeface="Times New Roman"/>
              </a:rPr>
              <a:t>acts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non-verbal communication,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hand, </a:t>
            </a:r>
            <a:r>
              <a:rPr dirty="0" sz="1100" spc="-5">
                <a:latin typeface="Times New Roman"/>
                <a:cs typeface="Times New Roman"/>
              </a:rPr>
              <a:t>are graded. </a:t>
            </a:r>
            <a:r>
              <a:rPr dirty="0" sz="1100" spc="-10">
                <a:latin typeface="Times New Roman"/>
                <a:cs typeface="Times New Roman"/>
              </a:rPr>
              <a:t>If, </a:t>
            </a:r>
            <a:r>
              <a:rPr dirty="0" sz="1100" spc="-5">
                <a:latin typeface="Times New Roman"/>
                <a:cs typeface="Times New Roman"/>
              </a:rPr>
              <a:t>for example,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smile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while speaking, </a:t>
            </a:r>
            <a:r>
              <a:rPr dirty="0" sz="1100">
                <a:latin typeface="Times New Roman"/>
                <a:cs typeface="Times New Roman"/>
              </a:rPr>
              <a:t>squeeze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>
                <a:latin typeface="Times New Roman"/>
                <a:cs typeface="Times New Roman"/>
              </a:rPr>
              <a:t>hand, or </a:t>
            </a:r>
            <a:r>
              <a:rPr dirty="0" sz="1100" spc="-5">
                <a:latin typeface="Times New Roman"/>
                <a:cs typeface="Times New Roman"/>
              </a:rPr>
              <a:t>laugh,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increase or </a:t>
            </a:r>
            <a:r>
              <a:rPr dirty="0" sz="1100" spc="-5">
                <a:latin typeface="Times New Roman"/>
                <a:cs typeface="Times New Roman"/>
              </a:rPr>
              <a:t>decrease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breadth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smile,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squeeze, or the </a:t>
            </a:r>
            <a:r>
              <a:rPr dirty="0" sz="1100" spc="-5">
                <a:latin typeface="Times New Roman"/>
                <a:cs typeface="Times New Roman"/>
              </a:rPr>
              <a:t>loudness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laugh, </a:t>
            </a:r>
            <a:r>
              <a:rPr dirty="0" sz="1100" spc="-5">
                <a:latin typeface="Times New Roman"/>
                <a:cs typeface="Times New Roman"/>
              </a:rPr>
              <a:t>thus signifying more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whatever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mean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actions. Discreteness means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basic units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categorized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belonging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distinct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categories. Language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built </a:t>
            </a:r>
            <a:r>
              <a:rPr dirty="0" sz="1100">
                <a:latin typeface="Times New Roman"/>
                <a:cs typeface="Times New Roman"/>
              </a:rPr>
              <a:t>up from </a:t>
            </a:r>
            <a:r>
              <a:rPr dirty="0" sz="1100" spc="-5">
                <a:latin typeface="Times New Roman"/>
                <a:cs typeface="Times New Roman"/>
              </a:rPr>
              <a:t>discrete units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phonemes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language).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Exchanging such </a:t>
            </a:r>
            <a:r>
              <a:rPr dirty="0" sz="1100" spc="-5">
                <a:latin typeface="Times New Roman"/>
                <a:cs typeface="Times New Roman"/>
              </a:rPr>
              <a:t>discrete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signal. </a:t>
            </a:r>
            <a:r>
              <a:rPr dirty="0" sz="1100">
                <a:latin typeface="Times New Roman"/>
                <a:cs typeface="Times New Roman"/>
              </a:rPr>
              <a:t>This is an abrupt </a:t>
            </a:r>
            <a:r>
              <a:rPr dirty="0" sz="1100" spc="-5">
                <a:latin typeface="Times New Roman"/>
                <a:cs typeface="Times New Roman"/>
              </a:rPr>
              <a:t>change,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</a:t>
            </a:r>
            <a:r>
              <a:rPr dirty="0" sz="1100">
                <a:latin typeface="Times New Roman"/>
                <a:cs typeface="Times New Roman"/>
              </a:rPr>
              <a:t>than a </a:t>
            </a:r>
            <a:r>
              <a:rPr dirty="0" sz="1100" spc="-5">
                <a:latin typeface="Times New Roman"/>
                <a:cs typeface="Times New Roman"/>
              </a:rPr>
              <a:t>continuous change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‘cat’ doesn’t gradually change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to ‘bat’,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 abruptly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some point. Speech loudness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pitch can,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5">
                <a:latin typeface="Times New Roman"/>
                <a:cs typeface="Times New Roman"/>
              </a:rPr>
              <a:t>hand,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changed </a:t>
            </a:r>
            <a:r>
              <a:rPr dirty="0" sz="1100">
                <a:latin typeface="Times New Roman"/>
                <a:cs typeface="Times New Roman"/>
              </a:rPr>
              <a:t> continuously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abrupt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Interchangeability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Interchangeability refers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idea that humans can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receive identical linguistic signals;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 limited in the 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messages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say/hear. </a:t>
            </a: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say </a:t>
            </a:r>
            <a:r>
              <a:rPr dirty="0" sz="1100">
                <a:latin typeface="Times New Roman"/>
                <a:cs typeface="Times New Roman"/>
              </a:rPr>
              <a:t>‘I am a </a:t>
            </a:r>
            <a:r>
              <a:rPr dirty="0" sz="1100" spc="-5">
                <a:latin typeface="Times New Roman"/>
                <a:cs typeface="Times New Roman"/>
              </a:rPr>
              <a:t>boy’ even </a:t>
            </a:r>
            <a:r>
              <a:rPr dirty="0" sz="1100">
                <a:latin typeface="Times New Roman"/>
                <a:cs typeface="Times New Roman"/>
              </a:rPr>
              <a:t>if one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girl.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confused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(prevarication).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physically </a:t>
            </a:r>
            <a:r>
              <a:rPr dirty="0" sz="1100">
                <a:latin typeface="Times New Roman"/>
                <a:cs typeface="Times New Roman"/>
              </a:rPr>
              <a:t>create any and </a:t>
            </a:r>
            <a:r>
              <a:rPr dirty="0" sz="1100" spc="-5">
                <a:latin typeface="Times New Roman"/>
                <a:cs typeface="Times New Roman"/>
              </a:rPr>
              <a:t>all messages regardless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truth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relation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speaker.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5">
                <a:latin typeface="Times New Roman"/>
                <a:cs typeface="Times New Roman"/>
              </a:rPr>
              <a:t>words,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anything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Interchangeability refers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speaker’s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both receive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signal.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where,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behaviours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females </a:t>
            </a:r>
            <a:r>
              <a:rPr dirty="0" sz="1100">
                <a:latin typeface="Times New Roman"/>
                <a:cs typeface="Times New Roman"/>
              </a:rPr>
              <a:t>another, and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are unable </a:t>
            </a:r>
            <a:r>
              <a:rPr dirty="0" sz="1100" spc="-5">
                <a:latin typeface="Times New Roman"/>
                <a:cs typeface="Times New Roman"/>
              </a:rPr>
              <a:t>to interchange these messages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that males use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female </a:t>
            </a:r>
            <a:r>
              <a:rPr dirty="0" sz="1100">
                <a:latin typeface="Times New Roman"/>
                <a:cs typeface="Times New Roman"/>
              </a:rPr>
              <a:t>signal, </a:t>
            </a:r>
            <a:r>
              <a:rPr dirty="0" sz="1100" spc="-5">
                <a:latin typeface="Times New Roman"/>
                <a:cs typeface="Times New Roman"/>
              </a:rPr>
              <a:t>and vice versa. Not all species </a:t>
            </a:r>
            <a:r>
              <a:rPr dirty="0" sz="1100">
                <a:latin typeface="Times New Roman"/>
                <a:cs typeface="Times New Roman"/>
              </a:rPr>
              <a:t>possess </a:t>
            </a:r>
            <a:r>
              <a:rPr dirty="0" sz="1100" spc="-5">
                <a:latin typeface="Times New Roman"/>
                <a:cs typeface="Times New Roman"/>
              </a:rPr>
              <a:t>this feature.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in </a:t>
            </a:r>
            <a:r>
              <a:rPr dirty="0" sz="1100">
                <a:latin typeface="Times New Roman"/>
                <a:cs typeface="Times New Roman"/>
              </a:rPr>
              <a:t>order </a:t>
            </a:r>
            <a:r>
              <a:rPr dirty="0" sz="1100" spc="-5">
                <a:latin typeface="Times New Roman"/>
                <a:cs typeface="Times New Roman"/>
              </a:rPr>
              <a:t>to communicate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status, queen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chemical scents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produce.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048: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Semanticity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125" y="7565135"/>
            <a:ext cx="2409825" cy="137147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2797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Specific sound signals are directly tied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certain meanings.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signals have meaning. Symbols </a:t>
            </a:r>
            <a:r>
              <a:rPr dirty="0" sz="1100">
                <a:latin typeface="Times New Roman"/>
                <a:cs typeface="Times New Roman"/>
              </a:rPr>
              <a:t> used </a:t>
            </a:r>
            <a:r>
              <a:rPr dirty="0" sz="1100" spc="-5">
                <a:latin typeface="Times New Roman"/>
                <a:cs typeface="Times New Roman"/>
              </a:rPr>
              <a:t>(phonemes, morphemes) have particular meanings.</a:t>
            </a:r>
            <a:r>
              <a:rPr dirty="0" sz="1100">
                <a:latin typeface="Times New Roman"/>
                <a:cs typeface="Times New Roman"/>
              </a:rPr>
              <a:t> Specific </a:t>
            </a:r>
            <a:r>
              <a:rPr dirty="0" sz="1100" spc="-5">
                <a:latin typeface="Times New Roman"/>
                <a:cs typeface="Times New Roman"/>
              </a:rPr>
              <a:t>sound signals are directly </a:t>
            </a:r>
            <a:r>
              <a:rPr dirty="0" sz="1100">
                <a:latin typeface="Times New Roman"/>
                <a:cs typeface="Times New Roman"/>
              </a:rPr>
              <a:t>tied </a:t>
            </a:r>
            <a:r>
              <a:rPr dirty="0" sz="1100" spc="-5">
                <a:latin typeface="Times New Roman"/>
                <a:cs typeface="Times New Roman"/>
              </a:rPr>
              <a:t>to certain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 The units created </a:t>
            </a:r>
            <a:r>
              <a:rPr dirty="0" sz="1100">
                <a:latin typeface="Times New Roman"/>
                <a:cs typeface="Times New Roman"/>
              </a:rPr>
              <a:t>on the second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>
                <a:latin typeface="Times New Roman"/>
                <a:cs typeface="Times New Roman"/>
              </a:rPr>
              <a:t> – </a:t>
            </a:r>
            <a:r>
              <a:rPr dirty="0" sz="1100" spc="-5">
                <a:latin typeface="Times New Roman"/>
                <a:cs typeface="Times New Roman"/>
              </a:rPr>
              <a:t>whether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are words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combinations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is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say,</a:t>
            </a:r>
            <a:r>
              <a:rPr dirty="0" sz="1100">
                <a:latin typeface="Times New Roman"/>
                <a:cs typeface="Times New Roman"/>
              </a:rPr>
              <a:t> they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things.</a:t>
            </a:r>
            <a:r>
              <a:rPr dirty="0" sz="1100">
                <a:latin typeface="Times New Roman"/>
                <a:cs typeface="Times New Roman"/>
              </a:rPr>
              <a:t> They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affairs,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‘Rat’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rodent,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refer to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when it appears, </a:t>
            </a:r>
            <a:r>
              <a:rPr dirty="0" sz="1100">
                <a:latin typeface="Times New Roman"/>
                <a:cs typeface="Times New Roman"/>
              </a:rPr>
              <a:t>or to </a:t>
            </a:r>
            <a:r>
              <a:rPr dirty="0" sz="1100" spc="-5">
                <a:latin typeface="Times New Roman"/>
                <a:cs typeface="Times New Roman"/>
              </a:rPr>
              <a:t>talk </a:t>
            </a:r>
            <a:r>
              <a:rPr dirty="0" sz="1100">
                <a:latin typeface="Times New Roman"/>
                <a:cs typeface="Times New Roman"/>
              </a:rPr>
              <a:t>about one </a:t>
            </a:r>
            <a:r>
              <a:rPr dirty="0" sz="1100" spc="-5">
                <a:latin typeface="Times New Roman"/>
                <a:cs typeface="Times New Roman"/>
              </a:rPr>
              <a:t>which is not there.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fixed relationship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signal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Semanticity refers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 can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meanings,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fundamental </a:t>
            </a:r>
            <a:r>
              <a:rPr dirty="0" sz="1100">
                <a:latin typeface="Times New Roman"/>
                <a:cs typeface="Times New Roman"/>
              </a:rPr>
              <a:t>aspect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all communication systems. Vervet monkey </a:t>
            </a:r>
            <a:r>
              <a:rPr dirty="0" sz="1100">
                <a:latin typeface="Times New Roman"/>
                <a:cs typeface="Times New Roman"/>
              </a:rPr>
              <a:t>alarm </a:t>
            </a:r>
            <a:r>
              <a:rPr dirty="0" sz="1100" spc="-5">
                <a:latin typeface="Times New Roman"/>
                <a:cs typeface="Times New Roman"/>
              </a:rPr>
              <a:t>calls 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attention (and,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seems, imagination)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numerous </a:t>
            </a:r>
            <a:r>
              <a:rPr dirty="0" sz="1100">
                <a:latin typeface="Times New Roman"/>
                <a:cs typeface="Times New Roman"/>
              </a:rPr>
              <a:t>authors </a:t>
            </a:r>
            <a:r>
              <a:rPr dirty="0" sz="1100" spc="-5">
                <a:latin typeface="Times New Roman"/>
                <a:cs typeface="Times New Roman"/>
              </a:rPr>
              <a:t>after Hockett. The calls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vervet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monkeys </a:t>
            </a:r>
            <a:r>
              <a:rPr dirty="0" sz="1100">
                <a:latin typeface="Times New Roman"/>
                <a:cs typeface="Times New Roman"/>
              </a:rPr>
              <a:t>demonstrate a </a:t>
            </a:r>
            <a:r>
              <a:rPr dirty="0" sz="1100" spc="-5">
                <a:latin typeface="Times New Roman"/>
                <a:cs typeface="Times New Roman"/>
              </a:rPr>
              <a:t>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referential specificity, termed functional reference.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clearest case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arbitrariness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semanticity manifested </a:t>
            </a:r>
            <a:r>
              <a:rPr dirty="0" sz="1100">
                <a:latin typeface="Times New Roman"/>
                <a:cs typeface="Times New Roman"/>
              </a:rPr>
              <a:t>by a non-human </a:t>
            </a:r>
            <a:r>
              <a:rPr dirty="0" sz="1100" spc="-5">
                <a:latin typeface="Times New Roman"/>
                <a:cs typeface="Times New Roman"/>
              </a:rPr>
              <a:t>comes,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surprisingly, </a:t>
            </a:r>
            <a:r>
              <a:rPr dirty="0" sz="1100">
                <a:latin typeface="Times New Roman"/>
                <a:cs typeface="Times New Roman"/>
              </a:rPr>
              <a:t>from the apes and 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communication—the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behaviour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lexigrams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enculturated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apes </a:t>
            </a:r>
            <a:r>
              <a:rPr dirty="0" sz="1100">
                <a:latin typeface="Times New Roman"/>
                <a:cs typeface="Times New Roman"/>
              </a:rPr>
              <a:t>such as Kanzi.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short,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monkey </a:t>
            </a:r>
            <a:r>
              <a:rPr dirty="0" sz="1100">
                <a:latin typeface="Times New Roman"/>
                <a:cs typeface="Times New Roman"/>
              </a:rPr>
              <a:t>alarm </a:t>
            </a:r>
            <a:r>
              <a:rPr dirty="0" sz="1100" spc="-5">
                <a:latin typeface="Times New Roman"/>
                <a:cs typeface="Times New Roman"/>
              </a:rPr>
              <a:t>calls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superficially alike,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 being unlike each other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most relevant respects. Finally, </a:t>
            </a:r>
            <a:r>
              <a:rPr dirty="0" sz="1100">
                <a:latin typeface="Times New Roman"/>
                <a:cs typeface="Times New Roman"/>
              </a:rPr>
              <a:t>alarm </a:t>
            </a:r>
            <a:r>
              <a:rPr dirty="0" sz="1100" spc="-5">
                <a:latin typeface="Times New Roman"/>
                <a:cs typeface="Times New Roman"/>
              </a:rPr>
              <a:t>calls are </a:t>
            </a:r>
            <a:r>
              <a:rPr dirty="0" sz="1100">
                <a:latin typeface="Times New Roman"/>
                <a:cs typeface="Times New Roman"/>
              </a:rPr>
              <a:t>present in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non-primate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non-mammalian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chickens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(Evans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1993).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Lesson-09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2810" cy="800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WHAT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LINGUISTICS?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049: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143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communication, either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written, consisting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words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conventional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What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Scientific?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viewpoints,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divided into several branches: descriptive linguistics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historical/comparative </a:t>
            </a:r>
            <a:r>
              <a:rPr dirty="0" sz="1100">
                <a:latin typeface="Times New Roman"/>
                <a:cs typeface="Times New Roman"/>
              </a:rPr>
              <a:t>linguistics </a:t>
            </a:r>
            <a:r>
              <a:rPr dirty="0" sz="1100" spc="-5">
                <a:latin typeface="Times New Roman"/>
                <a:cs typeface="Times New Roman"/>
              </a:rPr>
              <a:t>(if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 on its </a:t>
            </a:r>
            <a:r>
              <a:rPr dirty="0" sz="1100" spc="-5">
                <a:latin typeface="Times New Roman"/>
                <a:cs typeface="Times New Roman"/>
              </a:rPr>
              <a:t>methodology), synchronic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diachronic linguistics (if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its aspect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time), </a:t>
            </a:r>
            <a:r>
              <a:rPr dirty="0" sz="1100" spc="-1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 phonetics, phonology, morphology, </a:t>
            </a:r>
            <a:r>
              <a:rPr dirty="0" sz="1100">
                <a:latin typeface="Times New Roman"/>
                <a:cs typeface="Times New Roman"/>
              </a:rPr>
              <a:t>syntax and </a:t>
            </a:r>
            <a:r>
              <a:rPr dirty="0" sz="1100" spc="-5">
                <a:latin typeface="Times New Roman"/>
                <a:cs typeface="Times New Roman"/>
              </a:rPr>
              <a:t>semantics (if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system),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psycholinguistics (if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related </a:t>
            </a:r>
            <a:r>
              <a:rPr dirty="0" sz="1100">
                <a:latin typeface="Times New Roman"/>
                <a:cs typeface="Times New Roman"/>
              </a:rPr>
              <a:t>to or </a:t>
            </a:r>
            <a:r>
              <a:rPr dirty="0" sz="1100" spc="-5">
                <a:latin typeface="Times New Roman"/>
                <a:cs typeface="Times New Roman"/>
              </a:rPr>
              <a:t>combined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disciplines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sociology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 respectively).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order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discipline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scientific,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three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explicitness,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systematicness,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What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integral 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language. All languages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surprisingly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their basic structure.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abstract thought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closely connected; there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surprising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studies </a:t>
            </a:r>
            <a:r>
              <a:rPr dirty="0" sz="1100" spc="-5">
                <a:latin typeface="Times New Roman"/>
                <a:cs typeface="Times New Roman"/>
              </a:rPr>
              <a:t>about 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fastest branch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linguistics,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tries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 questions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What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does </a:t>
            </a:r>
            <a:r>
              <a:rPr dirty="0" sz="1100" spc="-5">
                <a:latin typeface="Times New Roman"/>
                <a:cs typeface="Times New Roman"/>
              </a:rPr>
              <a:t>language work? What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all languages </a:t>
            </a:r>
            <a:r>
              <a:rPr dirty="0" sz="1100" spc="-10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common? How </a:t>
            </a:r>
            <a:r>
              <a:rPr dirty="0" sz="1100">
                <a:latin typeface="Times New Roman"/>
                <a:cs typeface="Times New Roman"/>
              </a:rPr>
              <a:t>does human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animal communication? How </a:t>
            </a:r>
            <a:r>
              <a:rPr dirty="0" sz="1100">
                <a:latin typeface="Times New Roman"/>
                <a:cs typeface="Times New Roman"/>
              </a:rPr>
              <a:t>does a </a:t>
            </a:r>
            <a:r>
              <a:rPr dirty="0" sz="1100" spc="-5">
                <a:latin typeface="Times New Roman"/>
                <a:cs typeface="Times New Roman"/>
              </a:rPr>
              <a:t>child learn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speak? How </a:t>
            </a:r>
            <a:r>
              <a:rPr dirty="0" sz="1100">
                <a:latin typeface="Times New Roman"/>
                <a:cs typeface="Times New Roman"/>
              </a:rPr>
              <a:t>does one </a:t>
            </a:r>
            <a:r>
              <a:rPr dirty="0" sz="1100" spc="-5">
                <a:latin typeface="Times New Roman"/>
                <a:cs typeface="Times New Roman"/>
              </a:rPr>
              <a:t>write down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unwritten language? </a:t>
            </a:r>
            <a:r>
              <a:rPr dirty="0" sz="1100">
                <a:latin typeface="Times New Roman"/>
                <a:cs typeface="Times New Roman"/>
              </a:rPr>
              <a:t>Why does </a:t>
            </a:r>
            <a:r>
              <a:rPr dirty="0" sz="1100" spc="-5">
                <a:latin typeface="Times New Roman"/>
                <a:cs typeface="Times New Roman"/>
              </a:rPr>
              <a:t>language change?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what extent are social class differences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language? Linguistics is </a:t>
            </a:r>
            <a:r>
              <a:rPr dirty="0" sz="1100">
                <a:latin typeface="Times New Roman"/>
                <a:cs typeface="Times New Roman"/>
              </a:rPr>
              <a:t>the scientific study 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Language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general </a:t>
            </a:r>
            <a:r>
              <a:rPr dirty="0" sz="1100">
                <a:latin typeface="Times New Roman"/>
                <a:cs typeface="Times New Roman"/>
              </a:rPr>
              <a:t>not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 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Robins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(1985):</a:t>
            </a:r>
            <a:endParaRPr sz="110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1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concerned with human language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universal and recognizable part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 behaviour and </a:t>
            </a:r>
            <a:r>
              <a:rPr dirty="0" sz="1100" spc="-5">
                <a:latin typeface="Times New Roman"/>
                <a:cs typeface="Times New Roman"/>
              </a:rPr>
              <a:t>human faculties, perhaps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 parts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life </a:t>
            </a:r>
            <a:r>
              <a:rPr dirty="0" sz="1100" spc="-5">
                <a:latin typeface="Times New Roman"/>
                <a:cs typeface="Times New Roman"/>
              </a:rPr>
              <a:t>as we know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far-reaching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capabilities,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mankind’s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Linguists vs.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Polyglot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does not emphasize practical knowledge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mastery </a:t>
            </a:r>
            <a:r>
              <a:rPr dirty="0" sz="1100">
                <a:latin typeface="Times New Roman"/>
                <a:cs typeface="Times New Roman"/>
              </a:rPr>
              <a:t>of a particular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Linguist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studies the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organized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fulfill human needs,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scientist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2810" cy="78257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characterised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Explicitness,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Systematicness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Objectivity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050: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Explicitness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Explicitness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dictates that you </a:t>
            </a:r>
            <a:r>
              <a:rPr dirty="0" sz="1100">
                <a:latin typeface="Times New Roman"/>
                <a:cs typeface="Times New Roman"/>
              </a:rPr>
              <a:t>should be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assumptions (proven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unproven)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study is </a:t>
            </a:r>
            <a:r>
              <a:rPr dirty="0" sz="1100">
                <a:latin typeface="Times New Roman"/>
                <a:cs typeface="Times New Roman"/>
              </a:rPr>
              <a:t>based, </a:t>
            </a:r>
            <a:r>
              <a:rPr dirty="0" sz="1100" spc="-5">
                <a:latin typeface="Times New Roman"/>
                <a:cs typeface="Times New Roman"/>
              </a:rPr>
              <a:t>you have 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intermediate </a:t>
            </a:r>
            <a:r>
              <a:rPr dirty="0" sz="1100">
                <a:latin typeface="Times New Roman"/>
                <a:cs typeface="Times New Roman"/>
              </a:rPr>
              <a:t>stages of an </a:t>
            </a:r>
            <a:r>
              <a:rPr dirty="0" sz="1100" spc="-5">
                <a:latin typeface="Times New Roman"/>
                <a:cs typeface="Times New Roman"/>
              </a:rPr>
              <a:t>argument clear e.g.,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leave </a:t>
            </a:r>
            <a:r>
              <a:rPr dirty="0" sz="1100">
                <a:latin typeface="Times New Roman"/>
                <a:cs typeface="Times New Roman"/>
              </a:rPr>
              <a:t> anything for the </a:t>
            </a:r>
            <a:r>
              <a:rPr dirty="0" sz="1100" spc="-5">
                <a:latin typeface="Times New Roman"/>
                <a:cs typeface="Times New Roman"/>
              </a:rPr>
              <a:t>intuition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reader.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science, linguistics must fulfill some scientific prerequisites. </a:t>
            </a:r>
            <a:r>
              <a:rPr dirty="0" sz="1100">
                <a:latin typeface="Times New Roman"/>
                <a:cs typeface="Times New Roman"/>
              </a:rPr>
              <a:t> First, </a:t>
            </a:r>
            <a:r>
              <a:rPr dirty="0" sz="1100" spc="-5">
                <a:latin typeface="Times New Roman"/>
                <a:cs typeface="Times New Roman"/>
              </a:rPr>
              <a:t>it must have </a:t>
            </a:r>
            <a:r>
              <a:rPr dirty="0" sz="1100">
                <a:latin typeface="Times New Roman"/>
                <a:cs typeface="Times New Roman"/>
              </a:rPr>
              <a:t>a subject matter.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to be a </a:t>
            </a:r>
            <a:r>
              <a:rPr dirty="0" sz="1100" spc="-5">
                <a:latin typeface="Times New Roman"/>
                <a:cs typeface="Times New Roman"/>
              </a:rPr>
              <a:t>subject matter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Linguistics. As </a:t>
            </a:r>
            <a:r>
              <a:rPr dirty="0" sz="1100">
                <a:latin typeface="Times New Roman"/>
                <a:cs typeface="Times New Roman"/>
              </a:rPr>
              <a:t>a subject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matter, a </a:t>
            </a:r>
            <a:r>
              <a:rPr dirty="0" sz="1100" spc="-5">
                <a:latin typeface="Times New Roman"/>
                <a:cs typeface="Times New Roman"/>
              </a:rPr>
              <a:t>language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clearly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explicitly </a:t>
            </a:r>
            <a:r>
              <a:rPr dirty="0" sz="1100">
                <a:latin typeface="Times New Roman"/>
                <a:cs typeface="Times New Roman"/>
              </a:rPr>
              <a:t>defined. </a:t>
            </a:r>
            <a:r>
              <a:rPr dirty="0" sz="1100" spc="-5">
                <a:latin typeface="Times New Roman"/>
                <a:cs typeface="Times New Roman"/>
              </a:rPr>
              <a:t>Before analyzing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language, some linguists </a:t>
            </a:r>
            <a:r>
              <a:rPr dirty="0" sz="1100">
                <a:latin typeface="Times New Roman"/>
                <a:cs typeface="Times New Roman"/>
              </a:rPr>
              <a:t> define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 as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arbitrary,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 that permit all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culture, or other people </a:t>
            </a:r>
            <a:r>
              <a:rPr dirty="0" sz="1100" spc="-5">
                <a:latin typeface="Times New Roman"/>
                <a:cs typeface="Times New Roman"/>
              </a:rPr>
              <a:t>who have </a:t>
            </a:r>
            <a:r>
              <a:rPr dirty="0" sz="1100">
                <a:latin typeface="Times New Roman"/>
                <a:cs typeface="Times New Roman"/>
              </a:rPr>
              <a:t>learned the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interact. </a:t>
            </a:r>
            <a:r>
              <a:rPr dirty="0" sz="1100">
                <a:latin typeface="Times New Roman"/>
                <a:cs typeface="Times New Roman"/>
              </a:rPr>
              <a:t>Thus, the </a:t>
            </a:r>
            <a:r>
              <a:rPr dirty="0" sz="1100" spc="-5">
                <a:latin typeface="Times New Roman"/>
                <a:cs typeface="Times New Roman"/>
              </a:rPr>
              <a:t>scope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clearly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explicitly </a:t>
            </a:r>
            <a:r>
              <a:rPr dirty="0" sz="1100">
                <a:latin typeface="Times New Roman"/>
                <a:cs typeface="Times New Roman"/>
              </a:rPr>
              <a:t> defined </a:t>
            </a:r>
            <a:r>
              <a:rPr dirty="0" sz="1100" spc="-5">
                <a:latin typeface="Times New Roman"/>
                <a:cs typeface="Times New Roman"/>
              </a:rPr>
              <a:t>subject matter. This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say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everything </a:t>
            </a:r>
            <a:r>
              <a:rPr dirty="0" sz="1100">
                <a:latin typeface="Times New Roman"/>
                <a:cs typeface="Times New Roman"/>
              </a:rPr>
              <a:t>beyond the </a:t>
            </a:r>
            <a:r>
              <a:rPr dirty="0" sz="1100" spc="-5">
                <a:latin typeface="Times New Roman"/>
                <a:cs typeface="Times New Roman"/>
              </a:rPr>
              <a:t>scope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 gestures/bodily movement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ignored. </a:t>
            </a: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explicitness in defining </a:t>
            </a:r>
            <a:r>
              <a:rPr dirty="0" sz="1100">
                <a:latin typeface="Times New Roman"/>
                <a:cs typeface="Times New Roman"/>
              </a:rPr>
              <a:t>the subject </a:t>
            </a:r>
            <a:r>
              <a:rPr dirty="0" sz="1100" spc="-5">
                <a:latin typeface="Times New Roman"/>
                <a:cs typeface="Times New Roman"/>
              </a:rPr>
              <a:t>matter must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conducted in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that we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studied/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left.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Degrees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explicitness: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b="1">
                <a:latin typeface="Times New Roman"/>
                <a:cs typeface="Times New Roman"/>
              </a:rPr>
              <a:t>High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Explicitness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explicitness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employs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elicit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data.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Low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Explicitness: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</a:t>
            </a:r>
            <a:r>
              <a:rPr dirty="0" sz="1100">
                <a:latin typeface="Times New Roman"/>
                <a:cs typeface="Times New Roman"/>
              </a:rPr>
              <a:t> data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produced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spontaneously.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051: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Systematicness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Systematicness refers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complexity,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variability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without which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impossible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general conclusions.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studied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highly organized way. Systematicness entails the </a:t>
            </a:r>
            <a:r>
              <a:rPr dirty="0" sz="1100">
                <a:latin typeface="Times New Roman"/>
                <a:cs typeface="Times New Roman"/>
              </a:rPr>
              <a:t> consistent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terms </a:t>
            </a:r>
            <a:r>
              <a:rPr dirty="0" sz="1100">
                <a:latin typeface="Times New Roman"/>
                <a:cs typeface="Times New Roman"/>
              </a:rPr>
              <a:t>or procedures;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procedures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as methodical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addition,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strict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vigorous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hypotheses: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hypothesis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statement, which suggests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predicts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relationship between two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 variables e.g.,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is nasalized whenever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followed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nasal </a:t>
            </a:r>
            <a:r>
              <a:rPr dirty="0" sz="1100">
                <a:latin typeface="Times New Roman"/>
                <a:cs typeface="Times New Roman"/>
              </a:rPr>
              <a:t>sound,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general </a:t>
            </a:r>
            <a:r>
              <a:rPr dirty="0" sz="1100" spc="-5">
                <a:latin typeface="Times New Roman"/>
                <a:cs typeface="Times New Roman"/>
              </a:rPr>
              <a:t>hypothesis like sound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 are regular.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elaborate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hypotheses: the linguist </a:t>
            </a:r>
            <a:r>
              <a:rPr dirty="0" sz="1100">
                <a:latin typeface="Times New Roman"/>
                <a:cs typeface="Times New Roman"/>
              </a:rPr>
              <a:t>should be </a:t>
            </a:r>
            <a:r>
              <a:rPr dirty="0" sz="1100" spc="-5">
                <a:latin typeface="Times New Roman"/>
                <a:cs typeface="Times New Roman"/>
              </a:rPr>
              <a:t>very specific.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well-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 hypothesis </a:t>
            </a:r>
            <a:r>
              <a:rPr dirty="0" sz="1100">
                <a:latin typeface="Times New Roman"/>
                <a:cs typeface="Times New Roman"/>
              </a:rPr>
              <a:t>should </a:t>
            </a:r>
            <a:r>
              <a:rPr dirty="0" sz="1100" spc="-5">
                <a:latin typeface="Times New Roman"/>
                <a:cs typeface="Times New Roman"/>
              </a:rPr>
              <a:t>assert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relationship 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i.e., try to study </a:t>
            </a:r>
            <a:r>
              <a:rPr dirty="0" sz="1100" spc="-5">
                <a:latin typeface="Times New Roman"/>
                <a:cs typeface="Times New Roman"/>
              </a:rPr>
              <a:t>relationships between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variables </a:t>
            </a:r>
            <a:r>
              <a:rPr dirty="0" sz="1100">
                <a:latin typeface="Times New Roman"/>
                <a:cs typeface="Times New Roman"/>
              </a:rPr>
              <a:t>only X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Y even </a:t>
            </a:r>
            <a:r>
              <a:rPr dirty="0" sz="1100" spc="-5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phenomenon you </a:t>
            </a:r>
            <a:r>
              <a:rPr dirty="0" sz="1100">
                <a:latin typeface="Times New Roman"/>
                <a:cs typeface="Times New Roman"/>
              </a:rPr>
              <a:t>are dealing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multivariate.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actually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this: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areas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research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whatever the </a:t>
            </a:r>
            <a:r>
              <a:rPr dirty="0" sz="1100" spc="-10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phenomenon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are dealing </a:t>
            </a:r>
            <a:r>
              <a:rPr dirty="0" sz="1100" spc="-5">
                <a:latin typeface="Times New Roman"/>
                <a:cs typeface="Times New Roman"/>
              </a:rPr>
              <a:t>with.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Thus, systematicness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needed by </a:t>
            </a:r>
            <a:r>
              <a:rPr dirty="0" sz="1100" spc="-5">
                <a:latin typeface="Times New Roman"/>
                <a:cs typeface="Times New Roman"/>
              </a:rPr>
              <a:t>linguistics. Language </a:t>
            </a:r>
            <a:r>
              <a:rPr dirty="0" sz="1100">
                <a:latin typeface="Times New Roman"/>
                <a:cs typeface="Times New Roman"/>
              </a:rPr>
              <a:t>analysis for </a:t>
            </a:r>
            <a:r>
              <a:rPr dirty="0" sz="1100" spc="-5">
                <a:latin typeface="Times New Roman"/>
                <a:cs typeface="Times New Roman"/>
              </a:rPr>
              <a:t>the sake </a:t>
            </a:r>
            <a:r>
              <a:rPr dirty="0" sz="1100">
                <a:latin typeface="Times New Roman"/>
                <a:cs typeface="Times New Roman"/>
              </a:rPr>
              <a:t>to develop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 </a:t>
            </a:r>
            <a:r>
              <a:rPr dirty="0" sz="1100" spc="-5">
                <a:latin typeface="Times New Roman"/>
                <a:cs typeface="Times New Roman"/>
              </a:rPr>
              <a:t>systematically 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framework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some general </a:t>
            </a:r>
            <a:r>
              <a:rPr dirty="0" sz="1100">
                <a:latin typeface="Times New Roman"/>
                <a:cs typeface="Times New Roman"/>
              </a:rPr>
              <a:t>theory of </a:t>
            </a:r>
            <a:r>
              <a:rPr dirty="0" sz="1100" spc="-5">
                <a:latin typeface="Times New Roman"/>
                <a:cs typeface="Times New Roman"/>
              </a:rPr>
              <a:t>language structure.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linguist tries 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verify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perceives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regularities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4255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052: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Objectivity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actually more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less synonymous </a:t>
            </a:r>
            <a:r>
              <a:rPr dirty="0" sz="1100" spc="5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empiricality.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studies </a:t>
            </a:r>
            <a:r>
              <a:rPr dirty="0" sz="1100">
                <a:latin typeface="Times New Roman"/>
                <a:cs typeface="Times New Roman"/>
              </a:rPr>
              <a:t>should 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empirical.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term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500"/>
              </a:lnSpc>
            </a:pPr>
            <a:r>
              <a:rPr dirty="0" sz="1100" spc="-5" b="1">
                <a:latin typeface="Times New Roman"/>
                <a:cs typeface="Times New Roman"/>
              </a:rPr>
              <a:t>Empirical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test: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results being available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direct observation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judgment.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replicated,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judgment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obtained.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verifiable.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 b="1">
                <a:latin typeface="Times New Roman"/>
                <a:cs typeface="Times New Roman"/>
              </a:rPr>
              <a:t>Objective Observation: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based on an </a:t>
            </a:r>
            <a:r>
              <a:rPr dirty="0" sz="1100" spc="-5">
                <a:latin typeface="Times New Roman"/>
                <a:cs typeface="Times New Roman"/>
              </a:rPr>
              <a:t>objective observation </a:t>
            </a:r>
            <a:r>
              <a:rPr dirty="0" sz="1100">
                <a:latin typeface="Times New Roman"/>
                <a:cs typeface="Times New Roman"/>
              </a:rPr>
              <a:t>and/or </a:t>
            </a:r>
            <a:r>
              <a:rPr dirty="0" sz="1100" spc="-5">
                <a:latin typeface="Times New Roman"/>
                <a:cs typeface="Times New Roman"/>
              </a:rPr>
              <a:t>investigation.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 </a:t>
            </a:r>
            <a:r>
              <a:rPr dirty="0" sz="1100">
                <a:latin typeface="Times New Roman"/>
                <a:cs typeface="Times New Roman"/>
              </a:rPr>
              <a:t>and/or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</a:t>
            </a:r>
            <a:r>
              <a:rPr dirty="0" sz="1100">
                <a:latin typeface="Times New Roman"/>
                <a:cs typeface="Times New Roman"/>
              </a:rPr>
              <a:t> on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be conducted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objectively.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observation </a:t>
            </a:r>
            <a:r>
              <a:rPr dirty="0" sz="1100">
                <a:latin typeface="Times New Roman"/>
                <a:cs typeface="Times New Roman"/>
              </a:rPr>
              <a:t>and/or </a:t>
            </a:r>
            <a:r>
              <a:rPr dirty="0" sz="1100" spc="-5">
                <a:latin typeface="Times New Roman"/>
                <a:cs typeface="Times New Roman"/>
              </a:rPr>
              <a:t>investigation must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described objectively.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verified </a:t>
            </a:r>
            <a:r>
              <a:rPr dirty="0" sz="1100">
                <a:latin typeface="Times New Roman"/>
                <a:cs typeface="Times New Roman"/>
              </a:rPr>
              <a:t>by any competent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investigator. </a:t>
            </a:r>
            <a:r>
              <a:rPr dirty="0" sz="1100" spc="-10">
                <a:latin typeface="Times New Roman"/>
                <a:cs typeface="Times New Roman"/>
              </a:rPr>
              <a:t>So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conducting </a:t>
            </a:r>
            <a:r>
              <a:rPr dirty="0" sz="1100">
                <a:latin typeface="Times New Roman"/>
                <a:cs typeface="Times New Roman"/>
              </a:rPr>
              <a:t>observation and/or </a:t>
            </a:r>
            <a:r>
              <a:rPr dirty="0" sz="1100" spc="-5">
                <a:latin typeface="Times New Roman"/>
                <a:cs typeface="Times New Roman"/>
              </a:rPr>
              <a:t>investigation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subject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fulfilled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undertaking.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053: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Scope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Linguistics</a:t>
            </a:r>
            <a:r>
              <a:rPr dirty="0" u="heavy" sz="1100" spc="8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scientific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vast </a:t>
            </a:r>
            <a:r>
              <a:rPr dirty="0" sz="1100">
                <a:latin typeface="Times New Roman"/>
                <a:cs typeface="Times New Roman"/>
              </a:rPr>
              <a:t>scope in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domains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vocalization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communication, history, sociology, anthropology, </a:t>
            </a:r>
            <a:r>
              <a:rPr dirty="0" sz="1100">
                <a:latin typeface="Times New Roman"/>
                <a:cs typeface="Times New Roman"/>
              </a:rPr>
              <a:t>psychology,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 allied fields </a:t>
            </a:r>
            <a:r>
              <a:rPr dirty="0" sz="1100">
                <a:latin typeface="Times New Roman"/>
                <a:cs typeface="Times New Roman"/>
              </a:rPr>
              <a:t>of study as </a:t>
            </a:r>
            <a:r>
              <a:rPr dirty="0" sz="1100" spc="-5">
                <a:latin typeface="Times New Roman"/>
                <a:cs typeface="Times New Roman"/>
              </a:rPr>
              <a:t>subjects including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cognitive </a:t>
            </a:r>
            <a:r>
              <a:rPr dirty="0" sz="1100">
                <a:latin typeface="Times New Roman"/>
                <a:cs typeface="Times New Roman"/>
              </a:rPr>
              <a:t>neural </a:t>
            </a:r>
            <a:r>
              <a:rPr dirty="0" sz="1100" spc="-5">
                <a:latin typeface="Times New Roman"/>
                <a:cs typeface="Times New Roman"/>
              </a:rPr>
              <a:t>sciences. </a:t>
            </a:r>
            <a:r>
              <a:rPr dirty="0" sz="1100">
                <a:latin typeface="Times New Roman"/>
                <a:cs typeface="Times New Roman"/>
              </a:rPr>
              <a:t>Micro-linguistics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morphology,</a:t>
            </a:r>
            <a:r>
              <a:rPr dirty="0" sz="1100">
                <a:latin typeface="Times New Roman"/>
                <a:cs typeface="Times New Roman"/>
              </a:rPr>
              <a:t> syntax,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semantics,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Macro-linguistics </a:t>
            </a:r>
            <a:r>
              <a:rPr dirty="0" sz="1100">
                <a:latin typeface="Times New Roman"/>
                <a:cs typeface="Times New Roman"/>
              </a:rPr>
              <a:t> includes </a:t>
            </a:r>
            <a:r>
              <a:rPr dirty="0" sz="1100" spc="-5">
                <a:latin typeface="Times New Roman"/>
                <a:cs typeface="Times New Roman"/>
              </a:rPr>
              <a:t>sociolinguistics, psycholinguistics, neurolinguistics, stylistics, discourse analysis, computational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426" y="5706117"/>
            <a:ext cx="4257548" cy="316876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905" cy="812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8665" marR="5715" indent="4447540">
              <a:lnSpc>
                <a:spcPct val="11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Le</a:t>
            </a:r>
            <a:r>
              <a:rPr dirty="0" sz="1400" spc="-1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o</a:t>
            </a:r>
            <a:r>
              <a:rPr dirty="0" sz="1400" b="1">
                <a:latin typeface="Times New Roman"/>
                <a:cs typeface="Times New Roman"/>
              </a:rPr>
              <a:t>n</a:t>
            </a:r>
            <a:r>
              <a:rPr dirty="0" sz="1400" spc="-15" b="1">
                <a:latin typeface="Times New Roman"/>
                <a:cs typeface="Times New Roman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10  </a:t>
            </a:r>
            <a:r>
              <a:rPr dirty="0" sz="1400" spc="-5" b="1">
                <a:latin typeface="Times New Roman"/>
                <a:cs typeface="Times New Roman"/>
              </a:rPr>
              <a:t>INTRA-DISCIPLINARY BRANCHES </a:t>
            </a:r>
            <a:r>
              <a:rPr dirty="0" sz="1400" b="1">
                <a:latin typeface="Times New Roman"/>
                <a:cs typeface="Times New Roman"/>
              </a:rPr>
              <a:t>OF </a:t>
            </a:r>
            <a:r>
              <a:rPr dirty="0" sz="1400" spc="-5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Intra-disciplinary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Branches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complex phenomenon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most important activity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life. </a:t>
            </a:r>
            <a:r>
              <a:rPr dirty="0" sz="1100" spc="-5">
                <a:latin typeface="Times New Roman"/>
                <a:cs typeface="Times New Roman"/>
              </a:rPr>
              <a:t>Linguistics deals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complex nature, origin, evolution, history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all other elements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>
                <a:latin typeface="Times New Roman"/>
                <a:cs typeface="Times New Roman"/>
              </a:rPr>
              <a:t>So, it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become </a:t>
            </a:r>
            <a:r>
              <a:rPr dirty="0" sz="1100" spc="-5">
                <a:latin typeface="Times New Roman"/>
                <a:cs typeface="Times New Roman"/>
              </a:rPr>
              <a:t>wide subject </a:t>
            </a:r>
            <a:r>
              <a:rPr dirty="0" sz="1100">
                <a:latin typeface="Times New Roman"/>
                <a:cs typeface="Times New Roman"/>
              </a:rPr>
              <a:t> of serious </a:t>
            </a:r>
            <a:r>
              <a:rPr dirty="0" sz="1100" spc="-5">
                <a:latin typeface="Times New Roman"/>
                <a:cs typeface="Times New Roman"/>
              </a:rPr>
              <a:t>contemplation.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rapid 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given birth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branches.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ordinary student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finds himself/herself into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troubled water </a:t>
            </a:r>
            <a:r>
              <a:rPr dirty="0" sz="1100">
                <a:latin typeface="Times New Roman"/>
                <a:cs typeface="Times New Roman"/>
              </a:rPr>
              <a:t>as to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to deal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branches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ups and </a:t>
            </a:r>
            <a:r>
              <a:rPr dirty="0" sz="1100" spc="-5">
                <a:latin typeface="Times New Roman"/>
                <a:cs typeface="Times New Roman"/>
              </a:rPr>
              <a:t>downs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subject. </a:t>
            </a:r>
            <a:r>
              <a:rPr dirty="0" sz="1100">
                <a:latin typeface="Times New Roman"/>
                <a:cs typeface="Times New Roman"/>
              </a:rPr>
              <a:t>There are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branches of </a:t>
            </a:r>
            <a:r>
              <a:rPr dirty="0" sz="1100" spc="-5">
                <a:latin typeface="Times New Roman"/>
                <a:cs typeface="Times New Roman"/>
              </a:rPr>
              <a:t>linguistics, </a:t>
            </a:r>
            <a:r>
              <a:rPr dirty="0" sz="110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nothing 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algn="just" marL="469265" marR="9525" indent="-228600">
              <a:lnSpc>
                <a:spcPct val="1109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Theoretical linguistics</a:t>
            </a:r>
            <a:r>
              <a:rPr dirty="0" sz="1100" spc="-5">
                <a:latin typeface="Times New Roman"/>
                <a:cs typeface="Times New Roman"/>
              </a:rPr>
              <a:t>: deals with concrete theories presented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scholars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about </a:t>
            </a:r>
            <a:r>
              <a:rPr dirty="0" sz="1100">
                <a:latin typeface="Times New Roman"/>
                <a:cs typeface="Times New Roman"/>
              </a:rPr>
              <a:t> various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aspects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 algn="just" marL="469265" marR="635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Applied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highlights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evolution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year.</a:t>
            </a:r>
            <a:endParaRPr sz="1100">
              <a:latin typeface="Times New Roman"/>
              <a:cs typeface="Times New Roman"/>
            </a:endParaRPr>
          </a:p>
          <a:p>
            <a:pPr algn="just" marL="469265" marR="762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Historical linguistics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concerned with constructing theories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languages,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developing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theory.</a:t>
            </a:r>
            <a:endParaRPr sz="110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Descriptive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r>
              <a:rPr dirty="0" sz="1100" spc="-5">
                <a:latin typeface="Times New Roman"/>
                <a:cs typeface="Times New Roman"/>
              </a:rPr>
              <a:t>: deals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elaboration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</a:t>
            </a:r>
            <a:r>
              <a:rPr dirty="0" sz="1100">
                <a:latin typeface="Times New Roman"/>
                <a:cs typeface="Times New Roman"/>
              </a:rPr>
              <a:t> 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scholars.</a:t>
            </a:r>
            <a:endParaRPr sz="1100">
              <a:latin typeface="Times New Roman"/>
              <a:cs typeface="Times New Roman"/>
            </a:endParaRPr>
          </a:p>
          <a:p>
            <a:pPr algn="just" marL="469265" marR="7620" indent="-228600">
              <a:lnSpc>
                <a:spcPct val="1103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Applied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fundamental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relating language.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linguistics, linguists after pain </a:t>
            </a:r>
            <a:r>
              <a:rPr dirty="0" sz="1100">
                <a:latin typeface="Times New Roman"/>
                <a:cs typeface="Times New Roman"/>
              </a:rPr>
              <a:t>taking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apply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set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formulas and these formulas pave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way for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researches, inquiries and discoveries in the </a:t>
            </a:r>
            <a:r>
              <a:rPr dirty="0" sz="1100">
                <a:latin typeface="Times New Roman"/>
                <a:cs typeface="Times New Roman"/>
              </a:rPr>
              <a:t> subject. For </a:t>
            </a:r>
            <a:r>
              <a:rPr dirty="0" sz="1100" spc="-5">
                <a:latin typeface="Times New Roman"/>
                <a:cs typeface="Times New Roman"/>
              </a:rPr>
              <a:t>example, traditional grammar </a:t>
            </a:r>
            <a:r>
              <a:rPr dirty="0" sz="1100">
                <a:latin typeface="Times New Roman"/>
                <a:cs typeface="Times New Roman"/>
              </a:rPr>
              <a:t>does </a:t>
            </a:r>
            <a:r>
              <a:rPr dirty="0" sz="1100" spc="-5">
                <a:latin typeface="Times New Roman"/>
                <a:cs typeface="Times New Roman"/>
              </a:rPr>
              <a:t>not quench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thirst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linguist </a:t>
            </a:r>
            <a:r>
              <a:rPr dirty="0" sz="1100">
                <a:latin typeface="Times New Roman"/>
                <a:cs typeface="Times New Roman"/>
              </a:rPr>
              <a:t>and he </a:t>
            </a:r>
            <a:r>
              <a:rPr dirty="0" sz="1100" spc="-5">
                <a:latin typeface="Times New Roman"/>
                <a:cs typeface="Times New Roman"/>
              </a:rPr>
              <a:t>goes </a:t>
            </a:r>
            <a:r>
              <a:rPr dirty="0" sz="1100">
                <a:latin typeface="Times New Roman"/>
                <a:cs typeface="Times New Roman"/>
              </a:rPr>
              <a:t> beyond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gives his own 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as in </a:t>
            </a:r>
            <a:r>
              <a:rPr dirty="0" sz="1100" spc="-5">
                <a:latin typeface="Times New Roman"/>
                <a:cs typeface="Times New Roman"/>
              </a:rPr>
              <a:t>traditional grammar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beyond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level whereas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maximal unit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is discourse beyond the </a:t>
            </a:r>
            <a:r>
              <a:rPr dirty="0" sz="1100">
                <a:latin typeface="Times New Roman"/>
                <a:cs typeface="Times New Roman"/>
              </a:rPr>
              <a:t> 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level.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055: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General 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General linguistics </a:t>
            </a:r>
            <a:r>
              <a:rPr dirty="0" sz="1100">
                <a:latin typeface="Times New Roman"/>
                <a:cs typeface="Times New Roman"/>
              </a:rPr>
              <a:t>is the 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devoted to the study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theoretical bases 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studies the </a:t>
            </a:r>
            <a:r>
              <a:rPr dirty="0" sz="1100" spc="-5">
                <a:latin typeface="Times New Roman"/>
                <a:cs typeface="Times New Roman"/>
              </a:rPr>
              <a:t>connection between linguistics,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 fields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learning, </a:t>
            </a:r>
            <a:r>
              <a:rPr dirty="0" sz="1100">
                <a:latin typeface="Times New Roman"/>
                <a:cs typeface="Times New Roman"/>
              </a:rPr>
              <a:t>including </a:t>
            </a:r>
            <a:r>
              <a:rPr dirty="0" sz="1100" spc="-5">
                <a:latin typeface="Times New Roman"/>
                <a:cs typeface="Times New Roman"/>
              </a:rPr>
              <a:t>dialectical materialism,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addition,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materialism, inasmuch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conditioned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society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processes.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semiotics,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physiology,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acoustics.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One feature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general linguistics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dual approach to the study </a:t>
            </a:r>
            <a:r>
              <a:rPr dirty="0" sz="1100">
                <a:latin typeface="Times New Roman"/>
                <a:cs typeface="Times New Roman"/>
              </a:rPr>
              <a:t>of language—a </a:t>
            </a:r>
            <a:r>
              <a:rPr dirty="0" sz="1100" spc="-5">
                <a:latin typeface="Times New Roman"/>
                <a:cs typeface="Times New Roman"/>
              </a:rPr>
              <a:t>structural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approach engendered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nature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standpoint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structural linguistics,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 linguistics studies language </a:t>
            </a:r>
            <a:r>
              <a:rPr dirty="0" sz="1100">
                <a:latin typeface="Times New Roman"/>
                <a:cs typeface="Times New Roman"/>
              </a:rPr>
              <a:t>as an </a:t>
            </a:r>
            <a:r>
              <a:rPr dirty="0" sz="1100" spc="-5">
                <a:latin typeface="Times New Roman"/>
                <a:cs typeface="Times New Roman"/>
              </a:rPr>
              <a:t>integrated structure consisting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interrelated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interacting </a:t>
            </a:r>
            <a:r>
              <a:rPr dirty="0" sz="1100">
                <a:latin typeface="Times New Roman"/>
                <a:cs typeface="Times New Roman"/>
              </a:rPr>
              <a:t> phonetic, </a:t>
            </a:r>
            <a:r>
              <a:rPr dirty="0" sz="1100" spc="-5">
                <a:latin typeface="Times New Roman"/>
                <a:cs typeface="Times New Roman"/>
              </a:rPr>
              <a:t>phonological, morphological, syntactical, 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systems, with internal rules specific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 indent="456565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structure may </a:t>
            </a:r>
            <a:r>
              <a:rPr dirty="0" sz="1100">
                <a:latin typeface="Times New Roman"/>
                <a:cs typeface="Times New Roman"/>
              </a:rPr>
              <a:t>be either </a:t>
            </a:r>
            <a:r>
              <a:rPr dirty="0" sz="1100" spc="-5">
                <a:latin typeface="Times New Roman"/>
                <a:cs typeface="Times New Roman"/>
              </a:rPr>
              <a:t>synchronic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taking </a:t>
            </a:r>
            <a:r>
              <a:rPr dirty="0" sz="1100">
                <a:latin typeface="Times New Roman"/>
                <a:cs typeface="Times New Roman"/>
              </a:rPr>
              <a:t>account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dynamics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diachronic.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reveals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typological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genetic </a:t>
            </a:r>
            <a:r>
              <a:rPr dirty="0" sz="1100">
                <a:latin typeface="Times New Roman"/>
                <a:cs typeface="Times New Roman"/>
              </a:rPr>
              <a:t>level. </a:t>
            </a:r>
            <a:r>
              <a:rPr dirty="0" sz="1100" spc="-5">
                <a:latin typeface="Times New Roman"/>
                <a:cs typeface="Times New Roman"/>
              </a:rPr>
              <a:t>The study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content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helps </a:t>
            </a:r>
            <a:r>
              <a:rPr dirty="0" sz="1100" spc="-5">
                <a:latin typeface="Times New Roman"/>
                <a:cs typeface="Times New Roman"/>
              </a:rPr>
              <a:t>reveal the </a:t>
            </a:r>
            <a:r>
              <a:rPr dirty="0" sz="1100">
                <a:latin typeface="Times New Roman"/>
                <a:cs typeface="Times New Roman"/>
              </a:rPr>
              <a:t>nature and processes of thinking, and thereby relates </a:t>
            </a:r>
            <a:r>
              <a:rPr dirty="0" sz="1100" spc="-5">
                <a:latin typeface="Times New Roman"/>
                <a:cs typeface="Times New Roman"/>
              </a:rPr>
              <a:t>structural linguistics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aspect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standpoint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territorial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differentiation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and  </a:t>
            </a:r>
            <a:r>
              <a:rPr dirty="0" sz="1100" spc="-5">
                <a:latin typeface="Times New Roman"/>
                <a:cs typeface="Times New Roman"/>
              </a:rPr>
              <a:t>stylistic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apparent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intermediation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social relationships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different 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different stages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development, </a:t>
            </a:r>
            <a:r>
              <a:rPr dirty="0" sz="1100" spc="-5">
                <a:latin typeface="Times New Roman"/>
                <a:cs typeface="Times New Roman"/>
              </a:rPr>
              <a:t>for example,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formation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national languages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the historical emergence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ethnic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056: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Descriptive 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Descriptive Linguistics </a:t>
            </a:r>
            <a:r>
              <a:rPr dirty="0" sz="1100">
                <a:latin typeface="Times New Roman"/>
                <a:cs typeface="Times New Roman"/>
              </a:rPr>
              <a:t>is concerned </a:t>
            </a:r>
            <a:r>
              <a:rPr dirty="0" sz="1100" spc="-5">
                <a:latin typeface="Times New Roman"/>
                <a:cs typeface="Times New Roman"/>
              </a:rPr>
              <a:t>with the description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ways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operates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set of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at a </a:t>
            </a:r>
            <a:r>
              <a:rPr dirty="0" sz="1100" spc="-5">
                <a:latin typeface="Times New Roman"/>
                <a:cs typeface="Times New Roman"/>
              </a:rPr>
              <a:t>given time.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time may </a:t>
            </a:r>
            <a:r>
              <a:rPr dirty="0" sz="1100">
                <a:latin typeface="Times New Roman"/>
                <a:cs typeface="Times New Roman"/>
              </a:rPr>
              <a:t>be the present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precede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Descriptive linguistics emphasizes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modern linguistics </a:t>
            </a:r>
            <a:r>
              <a:rPr dirty="0" sz="1100">
                <a:latin typeface="Times New Roman"/>
                <a:cs typeface="Times New Roman"/>
              </a:rPr>
              <a:t>as it is the </a:t>
            </a:r>
            <a:r>
              <a:rPr dirty="0" sz="1100" spc="-5">
                <a:latin typeface="Times New Roman"/>
                <a:cs typeface="Times New Roman"/>
              </a:rPr>
              <a:t>fundamental </a:t>
            </a:r>
            <a:r>
              <a:rPr dirty="0" sz="1100">
                <a:latin typeface="Times New Roman"/>
                <a:cs typeface="Times New Roman"/>
              </a:rPr>
              <a:t>aspect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contrasted with prescriptive linguistics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earlier times </a:t>
            </a:r>
            <a:r>
              <a:rPr dirty="0" sz="1100">
                <a:latin typeface="Times New Roman"/>
                <a:cs typeface="Times New Roman"/>
              </a:rPr>
              <a:t>because it </a:t>
            </a:r>
            <a:r>
              <a:rPr dirty="0" sz="1100" spc="-5">
                <a:latin typeface="Times New Roman"/>
                <a:cs typeface="Times New Roman"/>
              </a:rPr>
              <a:t>deals with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describe the </a:t>
            </a:r>
            <a:r>
              <a:rPr dirty="0" sz="1100" spc="-5">
                <a:latin typeface="Times New Roman"/>
                <a:cs typeface="Times New Roman"/>
              </a:rPr>
              <a:t>language systematically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levels.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analyze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Modern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structural approach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exemplified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Bloomfield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others. The terms </a:t>
            </a:r>
            <a:r>
              <a:rPr dirty="0" sz="1100">
                <a:latin typeface="Times New Roman"/>
                <a:cs typeface="Times New Roman"/>
              </a:rPr>
              <a:t>synchronic and </a:t>
            </a:r>
            <a:r>
              <a:rPr dirty="0" sz="1100" spc="-5">
                <a:latin typeface="Times New Roman"/>
                <a:cs typeface="Times New Roman"/>
              </a:rPr>
              <a:t>diachronic given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Saussure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distinguish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descriptions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at a </a:t>
            </a:r>
            <a:r>
              <a:rPr dirty="0" sz="1100" spc="-5">
                <a:latin typeface="Times New Roman"/>
                <a:cs typeface="Times New Roman"/>
              </a:rPr>
              <a:t>given time.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synchronic description is </a:t>
            </a:r>
            <a:r>
              <a:rPr dirty="0" sz="1100">
                <a:latin typeface="Times New Roman"/>
                <a:cs typeface="Times New Roman"/>
              </a:rPr>
              <a:t>non-historic;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diachronic description traces the historical development 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language’ (Lyons </a:t>
            </a:r>
            <a:r>
              <a:rPr dirty="0" sz="1100">
                <a:latin typeface="Times New Roman"/>
                <a:cs typeface="Times New Roman"/>
              </a:rPr>
              <a:t>1981).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 that have taken </a:t>
            </a:r>
            <a:r>
              <a:rPr dirty="0" sz="1100">
                <a:latin typeface="Times New Roman"/>
                <a:cs typeface="Times New Roman"/>
              </a:rPr>
              <a:t>place in </a:t>
            </a:r>
            <a:r>
              <a:rPr dirty="0" sz="1100" spc="-5">
                <a:latin typeface="Times New Roman"/>
                <a:cs typeface="Times New Roman"/>
              </a:rPr>
              <a:t>English from Old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 to Middle </a:t>
            </a:r>
            <a:r>
              <a:rPr dirty="0" sz="1100" spc="-5">
                <a:latin typeface="Times New Roman"/>
                <a:cs typeface="Times New Roman"/>
              </a:rPr>
              <a:t>English,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diachronic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historical study.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study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as it exists today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describe it without reference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it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used in the </a:t>
            </a:r>
            <a:r>
              <a:rPr dirty="0" sz="1100" spc="-5">
                <a:latin typeface="Times New Roman"/>
                <a:cs typeface="Times New Roman"/>
              </a:rPr>
              <a:t>past,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synchronic study. Descriptivism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belief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prescription.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057: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Comparative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 the comparison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related </a:t>
            </a:r>
            <a:r>
              <a:rPr dirty="0" sz="1100">
                <a:latin typeface="Times New Roman"/>
                <a:cs typeface="Times New Roman"/>
              </a:rPr>
              <a:t>languages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reconstructing forms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their lost parent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 Comparative linguistics (originally comparative philology) is </a:t>
            </a:r>
            <a:r>
              <a:rPr dirty="0" sz="1100">
                <a:latin typeface="Times New Roman"/>
                <a:cs typeface="Times New Roman"/>
              </a:rPr>
              <a:t>a branch of </a:t>
            </a:r>
            <a:r>
              <a:rPr dirty="0" sz="1100" spc="-5">
                <a:latin typeface="Times New Roman"/>
                <a:cs typeface="Times New Roman"/>
              </a:rPr>
              <a:t>historical linguistics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concerned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 relatedness.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Genetic relatedness implies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common origin </a:t>
            </a:r>
            <a:r>
              <a:rPr dirty="0" sz="1100">
                <a:latin typeface="Times New Roman"/>
                <a:cs typeface="Times New Roman"/>
              </a:rPr>
              <a:t>or proto-language and </a:t>
            </a:r>
            <a:r>
              <a:rPr dirty="0" sz="1100" spc="-5">
                <a:latin typeface="Times New Roman"/>
                <a:cs typeface="Times New Roman"/>
              </a:rPr>
              <a:t>comparative linguistics aims 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proto-languages,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3760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890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documented languages.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maintain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clear </a:t>
            </a:r>
            <a:r>
              <a:rPr dirty="0" sz="1100">
                <a:latin typeface="Times New Roman"/>
                <a:cs typeface="Times New Roman"/>
              </a:rPr>
              <a:t>distinction </a:t>
            </a:r>
            <a:r>
              <a:rPr dirty="0" sz="1100" spc="-5">
                <a:latin typeface="Times New Roman"/>
                <a:cs typeface="Times New Roman"/>
              </a:rPr>
              <a:t>between attested and reconstructed forms,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 linguists prefix </a:t>
            </a:r>
            <a:r>
              <a:rPr dirty="0" sz="1100">
                <a:latin typeface="Times New Roman"/>
                <a:cs typeface="Times New Roman"/>
              </a:rPr>
              <a:t>an asterisk to any form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found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surviving </a:t>
            </a:r>
            <a:r>
              <a:rPr dirty="0" sz="1100">
                <a:latin typeface="Times New Roman"/>
                <a:cs typeface="Times New Roman"/>
              </a:rPr>
              <a:t>texts.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 for carrying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language classification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developed, ranging from simple inspection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computerized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hypothesis testing.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explicable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>
                <a:latin typeface="Times New Roman"/>
                <a:cs typeface="Times New Roman"/>
              </a:rPr>
              <a:t> degree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plausibility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systematic </a:t>
            </a:r>
            <a:r>
              <a:rPr dirty="0" sz="1100">
                <a:latin typeface="Times New Roman"/>
                <a:cs typeface="Times New Roman"/>
              </a:rPr>
              <a:t>changes. A </a:t>
            </a:r>
            <a:r>
              <a:rPr dirty="0" sz="1100" spc="-5">
                <a:latin typeface="Times New Roman"/>
                <a:cs typeface="Times New Roman"/>
              </a:rPr>
              <a:t>proto-language,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parent language (L) is the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from which 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>
                <a:latin typeface="Times New Roman"/>
                <a:cs typeface="Times New Roman"/>
              </a:rPr>
              <a:t> (L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1, L </a:t>
            </a:r>
            <a:r>
              <a:rPr dirty="0" sz="1100" spc="-10">
                <a:latin typeface="Times New Roman"/>
                <a:cs typeface="Times New Roman"/>
              </a:rPr>
              <a:t>2)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sister 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Proto-Indo-European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proto-languages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comparative method which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hypothetical.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reconstruction may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predictive </a:t>
            </a:r>
            <a:r>
              <a:rPr dirty="0" sz="1100">
                <a:latin typeface="Times New Roman"/>
                <a:cs typeface="Times New Roman"/>
              </a:rPr>
              <a:t> power. </a:t>
            </a:r>
            <a:r>
              <a:rPr dirty="0" sz="1100" spc="-5">
                <a:latin typeface="Times New Roman"/>
                <a:cs typeface="Times New Roman"/>
              </a:rPr>
              <a:t>Saussure's </a:t>
            </a:r>
            <a:r>
              <a:rPr dirty="0" sz="1100">
                <a:latin typeface="Times New Roman"/>
                <a:cs typeface="Times New Roman"/>
              </a:rPr>
              <a:t>proposal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the Indo-European </a:t>
            </a:r>
            <a:r>
              <a:rPr dirty="0" sz="1100">
                <a:latin typeface="Times New Roman"/>
                <a:cs typeface="Times New Roman"/>
              </a:rPr>
              <a:t>consonant system contained </a:t>
            </a:r>
            <a:r>
              <a:rPr dirty="0" sz="1100" spc="-5">
                <a:latin typeface="Times New Roman"/>
                <a:cs typeface="Times New Roman"/>
              </a:rPr>
              <a:t>laryngeals,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 </a:t>
            </a:r>
            <a:r>
              <a:rPr dirty="0" sz="1100" spc="-5">
                <a:latin typeface="Times New Roman"/>
                <a:cs typeface="Times New Roman"/>
              </a:rPr>
              <a:t>attested </a:t>
            </a:r>
            <a:r>
              <a:rPr dirty="0" sz="1100">
                <a:latin typeface="Times New Roman"/>
                <a:cs typeface="Times New Roman"/>
              </a:rPr>
              <a:t>in no </a:t>
            </a:r>
            <a:r>
              <a:rPr dirty="0" sz="1100" spc="-5">
                <a:latin typeface="Times New Roman"/>
                <a:cs typeface="Times New Roman"/>
              </a:rPr>
              <a:t>Indo-European language known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 time. </a:t>
            </a:r>
            <a:r>
              <a:rPr dirty="0" sz="1100">
                <a:latin typeface="Times New Roman"/>
                <a:cs typeface="Times New Roman"/>
              </a:rPr>
              <a:t>We can </a:t>
            </a:r>
            <a:r>
              <a:rPr dirty="0" sz="1100" spc="-5">
                <a:latin typeface="Times New Roman"/>
                <a:cs typeface="Times New Roman"/>
              </a:rPr>
              <a:t>find certain Cognate in sister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Proto-Indo-European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ancestor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Italic </a:t>
            </a:r>
            <a:r>
              <a:rPr dirty="0" sz="1100">
                <a:latin typeface="Times New Roman"/>
                <a:cs typeface="Times New Roman"/>
              </a:rPr>
              <a:t>branch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Indo-European: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Spanish: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madre,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padre,</a:t>
            </a:r>
            <a:r>
              <a:rPr dirty="0" sz="1100" spc="-10">
                <a:latin typeface="Times New Roman"/>
                <a:cs typeface="Times New Roman"/>
              </a:rPr>
              <a:t> amigo</a:t>
            </a:r>
            <a:endParaRPr sz="1100">
              <a:latin typeface="Times New Roman"/>
              <a:cs typeface="Times New Roman"/>
            </a:endParaRPr>
          </a:p>
          <a:p>
            <a:pPr marL="12700" marR="3604895" indent="228600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Italian: madre, </a:t>
            </a:r>
            <a:r>
              <a:rPr dirty="0" sz="1100">
                <a:latin typeface="Times New Roman"/>
                <a:cs typeface="Times New Roman"/>
              </a:rPr>
              <a:t>padre, </a:t>
            </a:r>
            <a:r>
              <a:rPr dirty="0" sz="1100" spc="-5">
                <a:latin typeface="Times New Roman"/>
                <a:cs typeface="Times New Roman"/>
              </a:rPr>
              <a:t>amico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ancestor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friend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German: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mutter, vater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freund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tree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showing languages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proto-Indo-European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family: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242" y="4865693"/>
            <a:ext cx="5971263" cy="40719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117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525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law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operating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is related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058: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Historical 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16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diachronic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 concerns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reconstruct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pre-history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relatedness,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families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develop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 theories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changes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speech</a:t>
            </a:r>
            <a:r>
              <a:rPr dirty="0" sz="1100" spc="-5">
                <a:latin typeface="Times New Roman"/>
                <a:cs typeface="Times New Roman"/>
              </a:rPr>
              <a:t> communities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i.e.,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etymology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5">
                <a:latin typeface="Times New Roman"/>
                <a:cs typeface="Times New Roman"/>
              </a:rPr>
              <a:t> 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languages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develop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 theories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changes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Modern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grew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philology,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documents </a:t>
            </a:r>
            <a:r>
              <a:rPr dirty="0" sz="1100">
                <a:latin typeface="Times New Roman"/>
                <a:cs typeface="Times New Roman"/>
              </a:rPr>
              <a:t>dating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antiquity.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At first, historical linguistics was comparative linguistics. Scholars were concerned chiefly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prehistoric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proto-languages,</a:t>
            </a:r>
            <a:r>
              <a:rPr dirty="0" sz="1100">
                <a:latin typeface="Times New Roman"/>
                <a:cs typeface="Times New Roman"/>
              </a:rPr>
              <a:t> 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internal reconstruction.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focus was initially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well-known Indo-European languages,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Uralic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 </a:t>
            </a:r>
            <a:r>
              <a:rPr dirty="0" sz="1100">
                <a:latin typeface="Times New Roman"/>
                <a:cs typeface="Times New Roman"/>
              </a:rPr>
              <a:t> European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>
                <a:latin typeface="Times New Roman"/>
                <a:cs typeface="Times New Roman"/>
              </a:rPr>
              <a:t> then,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 comparative linguistic work </a:t>
            </a:r>
            <a:r>
              <a:rPr dirty="0" sz="1100">
                <a:latin typeface="Times New Roman"/>
                <a:cs typeface="Times New Roman"/>
              </a:rPr>
              <a:t>expanding outside of </a:t>
            </a:r>
            <a:r>
              <a:rPr dirty="0" sz="1100" spc="-5">
                <a:latin typeface="Times New Roman"/>
                <a:cs typeface="Times New Roman"/>
              </a:rPr>
              <a:t>European languages </a:t>
            </a:r>
            <a:r>
              <a:rPr dirty="0" sz="1100">
                <a:latin typeface="Times New Roman"/>
                <a:cs typeface="Times New Roman"/>
              </a:rPr>
              <a:t>as well,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Austronesian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others.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 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now, however, </a:t>
            </a:r>
            <a:r>
              <a:rPr dirty="0" sz="1100">
                <a:latin typeface="Times New Roman"/>
                <a:cs typeface="Times New Roman"/>
              </a:rPr>
              <a:t>only a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broadly </a:t>
            </a:r>
            <a:r>
              <a:rPr dirty="0" sz="1100" spc="-5">
                <a:latin typeface="Times New Roman"/>
                <a:cs typeface="Times New Roman"/>
              </a:rPr>
              <a:t>conceived discipline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historical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 For the Indo-European languages, comparative study </a:t>
            </a:r>
            <a:r>
              <a:rPr dirty="0" sz="1100">
                <a:latin typeface="Times New Roman"/>
                <a:cs typeface="Times New Roman"/>
              </a:rPr>
              <a:t>is now a </a:t>
            </a:r>
            <a:r>
              <a:rPr dirty="0" sz="1100" spc="-5">
                <a:latin typeface="Times New Roman"/>
                <a:cs typeface="Times New Roman"/>
              </a:rPr>
              <a:t>highly specialized field. </a:t>
            </a:r>
            <a:r>
              <a:rPr dirty="0" sz="1100" spc="-10">
                <a:latin typeface="Times New Roman"/>
                <a:cs typeface="Times New Roman"/>
              </a:rPr>
              <a:t>Most </a:t>
            </a:r>
            <a:r>
              <a:rPr dirty="0" sz="1100" spc="-5">
                <a:latin typeface="Times New Roman"/>
                <a:cs typeface="Times New Roman"/>
              </a:rPr>
              <a:t> research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carried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subsequent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Initially,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modern linguistics was historical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orientation. Even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modern dialects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 looking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their origins. Ferdinand </a:t>
            </a:r>
            <a:r>
              <a:rPr dirty="0" sz="1100" spc="-10">
                <a:latin typeface="Times New Roman"/>
                <a:cs typeface="Times New Roman"/>
              </a:rPr>
              <a:t>de </a:t>
            </a:r>
            <a:r>
              <a:rPr dirty="0" sz="1100" spc="-5">
                <a:latin typeface="Times New Roman"/>
                <a:cs typeface="Times New Roman"/>
              </a:rPr>
              <a:t>Saussure's distinction between synchronic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diachronic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is fundamental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present </a:t>
            </a:r>
            <a:r>
              <a:rPr dirty="0" sz="1100">
                <a:latin typeface="Times New Roman"/>
                <a:cs typeface="Times New Roman"/>
              </a:rPr>
              <a:t>day </a:t>
            </a:r>
            <a:r>
              <a:rPr dirty="0" sz="1100" spc="-5">
                <a:latin typeface="Times New Roman"/>
                <a:cs typeface="Times New Roman"/>
              </a:rPr>
              <a:t>organization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discipline.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20th </a:t>
            </a:r>
            <a:r>
              <a:rPr dirty="0" sz="1100" spc="-5">
                <a:latin typeface="Times New Roman"/>
                <a:cs typeface="Times New Roman"/>
              </a:rPr>
              <a:t>century, historical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 successfully </a:t>
            </a:r>
            <a:r>
              <a:rPr dirty="0" sz="1100">
                <a:latin typeface="Times New Roman"/>
                <a:cs typeface="Times New Roman"/>
              </a:rPr>
              <a:t>extended the </a:t>
            </a:r>
            <a:r>
              <a:rPr dirty="0" sz="1100" spc="-5">
                <a:latin typeface="Times New Roman"/>
                <a:cs typeface="Times New Roman"/>
              </a:rPr>
              <a:t>application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theories and </a:t>
            </a:r>
            <a:r>
              <a:rPr dirty="0" sz="1100" spc="-5">
                <a:latin typeface="Times New Roman"/>
                <a:cs typeface="Times New Roman"/>
              </a:rPr>
              <a:t>methods </a:t>
            </a:r>
            <a:r>
              <a:rPr dirty="0" sz="1100">
                <a:latin typeface="Times New Roman"/>
                <a:cs typeface="Times New Roman"/>
              </a:rPr>
              <a:t>of the 19th </a:t>
            </a:r>
            <a:r>
              <a:rPr dirty="0" sz="1100" spc="-5">
                <a:latin typeface="Times New Roman"/>
                <a:cs typeface="Times New Roman"/>
              </a:rPr>
              <a:t>century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non-Indo-European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contrasted with synchronic linguistics,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at a </a:t>
            </a:r>
            <a:r>
              <a:rPr dirty="0" sz="1100" spc="-5">
                <a:latin typeface="Times New Roman"/>
                <a:cs typeface="Times New Roman"/>
              </a:rPr>
              <a:t>particular point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often called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diachronic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7960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4380" marR="6350" indent="4441825">
              <a:lnSpc>
                <a:spcPct val="11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Le</a:t>
            </a:r>
            <a:r>
              <a:rPr dirty="0" sz="1400" spc="-1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o</a:t>
            </a:r>
            <a:r>
              <a:rPr dirty="0" sz="1400" b="1">
                <a:latin typeface="Times New Roman"/>
                <a:cs typeface="Times New Roman"/>
              </a:rPr>
              <a:t>n</a:t>
            </a:r>
            <a:r>
              <a:rPr dirty="0" sz="1400" spc="-15" b="1">
                <a:latin typeface="Times New Roman"/>
                <a:cs typeface="Times New Roman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11  </a:t>
            </a:r>
            <a:r>
              <a:rPr dirty="0" sz="1400" spc="-5" b="1">
                <a:latin typeface="Times New Roman"/>
                <a:cs typeface="Times New Roman"/>
              </a:rPr>
              <a:t>INTER-DISCIPLINARY BRANCHES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" b="1">
                <a:latin typeface="Times New Roman"/>
                <a:cs typeface="Times New Roman"/>
              </a:rPr>
              <a:t> 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059: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Inter-disciplinary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Branches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intra-disciplinary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Intra-disciplinary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micro-linguistics</a:t>
            </a:r>
            <a:r>
              <a:rPr dirty="0" sz="1100">
                <a:latin typeface="Times New Roman"/>
                <a:cs typeface="Times New Roman"/>
              </a:rPr>
              <a:t> whereas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macro-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</a:t>
            </a:r>
            <a:r>
              <a:rPr dirty="0" sz="1100">
                <a:latin typeface="Times New Roman"/>
                <a:cs typeface="Times New Roman"/>
              </a:rPr>
              <a:t> studies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distinct. 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are: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macro-linguistics: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Socio-linguistics: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Psycho-linguistics: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relation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825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application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recovery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ability.</a:t>
            </a:r>
            <a:r>
              <a:rPr dirty="0" sz="1100">
                <a:latin typeface="Times New Roman"/>
                <a:cs typeface="Times New Roman"/>
              </a:rPr>
              <a:t> 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branches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Psycholinguistics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Ethno-linguistics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060: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Sociolinguistics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‘Sociolinguistics’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 This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broad area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investigation that developed through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interaction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academic disciplines.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has strong </a:t>
            </a:r>
            <a:r>
              <a:rPr dirty="0" sz="1100" spc="-5">
                <a:latin typeface="Times New Roman"/>
                <a:cs typeface="Times New Roman"/>
              </a:rPr>
              <a:t>connections with anthropology through </a:t>
            </a:r>
            <a:r>
              <a:rPr dirty="0" sz="1100" spc="1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with sociology through the investigation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role language plays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how </a:t>
            </a:r>
            <a:r>
              <a:rPr dirty="0" sz="1100" spc="-5">
                <a:latin typeface="Times New Roman"/>
                <a:cs typeface="Times New Roman"/>
              </a:rPr>
              <a:t>attitudes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perceptions are expressed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how in-group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out-group behaviours are identified. </a:t>
            </a:r>
            <a:r>
              <a:rPr dirty="0" sz="1100">
                <a:latin typeface="Times New Roman"/>
                <a:cs typeface="Times New Roman"/>
              </a:rPr>
              <a:t> We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Whereas the </a:t>
            </a:r>
            <a:r>
              <a:rPr dirty="0" sz="1100" spc="-5">
                <a:latin typeface="Times New Roman"/>
                <a:cs typeface="Times New Roman"/>
              </a:rPr>
              <a:t>traditional study </a:t>
            </a:r>
            <a:r>
              <a:rPr dirty="0" sz="1100">
                <a:latin typeface="Times New Roman"/>
                <a:cs typeface="Times New Roman"/>
              </a:rPr>
              <a:t>of regional </a:t>
            </a:r>
            <a:r>
              <a:rPr dirty="0" sz="1100" spc="-5">
                <a:latin typeface="Times New Roman"/>
                <a:cs typeface="Times New Roman"/>
              </a:rPr>
              <a:t>dialects tended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concentrate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 mainly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 speakers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towns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cities.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social study </a:t>
            </a:r>
            <a:r>
              <a:rPr dirty="0" sz="1100">
                <a:latin typeface="Times New Roman"/>
                <a:cs typeface="Times New Roman"/>
              </a:rPr>
              <a:t>of dialect, it </a:t>
            </a:r>
            <a:r>
              <a:rPr dirty="0" sz="1100" spc="-5">
                <a:latin typeface="Times New Roman"/>
                <a:cs typeface="Times New Roman"/>
              </a:rPr>
              <a:t>is social class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mainly </a:t>
            </a:r>
            <a:r>
              <a:rPr dirty="0" sz="1100">
                <a:latin typeface="Times New Roman"/>
                <a:cs typeface="Times New Roman"/>
              </a:rPr>
              <a:t>used to define </a:t>
            </a:r>
            <a:r>
              <a:rPr dirty="0" sz="1100" spc="-5">
                <a:latin typeface="Times New Roman"/>
                <a:cs typeface="Times New Roman"/>
              </a:rPr>
              <a:t>groups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as having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 in </a:t>
            </a:r>
            <a:r>
              <a:rPr dirty="0" sz="1100" spc="-5">
                <a:latin typeface="Times New Roman"/>
                <a:cs typeface="Times New Roman"/>
              </a:rPr>
              <a:t>common.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two main </a:t>
            </a:r>
            <a:r>
              <a:rPr dirty="0" sz="1100">
                <a:latin typeface="Times New Roman"/>
                <a:cs typeface="Times New Roman"/>
              </a:rPr>
              <a:t>groups are </a:t>
            </a:r>
            <a:r>
              <a:rPr dirty="0" sz="1100" spc="-5">
                <a:latin typeface="Times New Roman"/>
                <a:cs typeface="Times New Roman"/>
              </a:rPr>
              <a:t>generally identified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‘middle </a:t>
            </a:r>
            <a:r>
              <a:rPr dirty="0" sz="1100">
                <a:latin typeface="Times New Roman"/>
                <a:cs typeface="Times New Roman"/>
              </a:rPr>
              <a:t>class’, </a:t>
            </a:r>
            <a:r>
              <a:rPr dirty="0" sz="1100" spc="-5">
                <a:latin typeface="Times New Roman"/>
                <a:cs typeface="Times New Roman"/>
              </a:rPr>
              <a:t>those who 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years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 and </a:t>
            </a:r>
            <a:r>
              <a:rPr dirty="0" sz="1100">
                <a:latin typeface="Times New Roman"/>
                <a:cs typeface="Times New Roman"/>
              </a:rPr>
              <a:t>perform non-manual </a:t>
            </a:r>
            <a:r>
              <a:rPr dirty="0" sz="1100" spc="-5">
                <a:latin typeface="Times New Roman"/>
                <a:cs typeface="Times New Roman"/>
              </a:rPr>
              <a:t>work,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‘working </a:t>
            </a:r>
            <a:r>
              <a:rPr dirty="0" sz="1100">
                <a:latin typeface="Times New Roman"/>
                <a:cs typeface="Times New Roman"/>
              </a:rPr>
              <a:t>class’, </a:t>
            </a:r>
            <a:r>
              <a:rPr dirty="0" sz="1100" spc="-5">
                <a:latin typeface="Times New Roman"/>
                <a:cs typeface="Times New Roman"/>
              </a:rPr>
              <a:t>those who have </a:t>
            </a:r>
            <a:r>
              <a:rPr dirty="0" sz="1100">
                <a:latin typeface="Times New Roman"/>
                <a:cs typeface="Times New Roman"/>
              </a:rPr>
              <a:t>fewer </a:t>
            </a:r>
            <a:r>
              <a:rPr dirty="0" sz="1100" spc="-5">
                <a:latin typeface="Times New Roman"/>
                <a:cs typeface="Times New Roman"/>
              </a:rPr>
              <a:t>years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education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perform </a:t>
            </a:r>
            <a:r>
              <a:rPr dirty="0" sz="1100">
                <a:latin typeface="Times New Roman"/>
                <a:cs typeface="Times New Roman"/>
              </a:rPr>
              <a:t>manual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some kind. So, when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‘working-class speech’, we are </a:t>
            </a:r>
            <a:r>
              <a:rPr dirty="0" sz="1100">
                <a:latin typeface="Times New Roman"/>
                <a:cs typeface="Times New Roman"/>
              </a:rPr>
              <a:t> talking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 dialect.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‘upper’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‘lower’ are used to </a:t>
            </a:r>
            <a:r>
              <a:rPr dirty="0" sz="1100" spc="-5">
                <a:latin typeface="Times New Roman"/>
                <a:cs typeface="Times New Roman"/>
              </a:rPr>
              <a:t>further subdivide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groups,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‘upper-middle-class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sociolect. As in all dialect </a:t>
            </a:r>
            <a:r>
              <a:rPr dirty="0" sz="1100">
                <a:latin typeface="Times New Roman"/>
                <a:cs typeface="Times New Roman"/>
              </a:rPr>
              <a:t>studies,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certain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are treated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relevant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social dialects.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features are pronunciations, words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structures that are regularly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one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working-class </a:t>
            </a:r>
            <a:r>
              <a:rPr dirty="0" sz="1100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middle-class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990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Edinburgh, </a:t>
            </a:r>
            <a:r>
              <a:rPr dirty="0" sz="1100" spc="-5">
                <a:latin typeface="Times New Roman"/>
                <a:cs typeface="Times New Roman"/>
              </a:rPr>
              <a:t>Scotland, for example,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home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regularly pronounced as </a:t>
            </a:r>
            <a:r>
              <a:rPr dirty="0" sz="1100">
                <a:latin typeface="Times New Roman"/>
                <a:cs typeface="Times New Roman"/>
              </a:rPr>
              <a:t>[heɪm],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rhyming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name,</a:t>
            </a:r>
            <a:r>
              <a:rPr dirty="0" sz="1100">
                <a:latin typeface="Times New Roman"/>
                <a:cs typeface="Times New Roman"/>
              </a:rPr>
              <a:t> among </a:t>
            </a:r>
            <a:r>
              <a:rPr dirty="0" sz="1100" spc="-5">
                <a:latin typeface="Times New Roman"/>
                <a:cs typeface="Times New Roman"/>
              </a:rPr>
              <a:t>lower-working-class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as [həʊm],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if </a:t>
            </a:r>
            <a:r>
              <a:rPr dirty="0" sz="1100" spc="-5">
                <a:latin typeface="Times New Roman"/>
                <a:cs typeface="Times New Roman"/>
              </a:rPr>
              <a:t>rhyming 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foam, </a:t>
            </a:r>
            <a:r>
              <a:rPr dirty="0" sz="1100">
                <a:latin typeface="Times New Roman"/>
                <a:cs typeface="Times New Roman"/>
              </a:rPr>
              <a:t> among </a:t>
            </a:r>
            <a:r>
              <a:rPr dirty="0" sz="1100" spc="-5">
                <a:latin typeface="Times New Roman"/>
                <a:cs typeface="Times New Roman"/>
              </a:rPr>
              <a:t>middle-class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small difference</a:t>
            </a:r>
            <a:r>
              <a:rPr dirty="0" sz="1100">
                <a:latin typeface="Times New Roman"/>
                <a:cs typeface="Times New Roman"/>
              </a:rPr>
              <a:t> in pronunciation,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indicator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status. A </a:t>
            </a:r>
            <a:r>
              <a:rPr dirty="0" sz="1100" spc="-5">
                <a:latin typeface="Times New Roman"/>
                <a:cs typeface="Times New Roman"/>
              </a:rPr>
              <a:t>more familiar example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be the </a:t>
            </a:r>
            <a:r>
              <a:rPr dirty="0" sz="1100" spc="-5">
                <a:latin typeface="Times New Roman"/>
                <a:cs typeface="Times New Roman"/>
              </a:rPr>
              <a:t>verb ain’t, as </a:t>
            </a:r>
            <a:r>
              <a:rPr dirty="0" sz="1100">
                <a:latin typeface="Times New Roman"/>
                <a:cs typeface="Times New Roman"/>
              </a:rPr>
              <a:t>in I ain’t </a:t>
            </a:r>
            <a:r>
              <a:rPr dirty="0" sz="1100" spc="-5">
                <a:latin typeface="Times New Roman"/>
                <a:cs typeface="Times New Roman"/>
              </a:rPr>
              <a:t>finished </a:t>
            </a:r>
            <a:r>
              <a:rPr dirty="0" sz="1100">
                <a:latin typeface="Times New Roman"/>
                <a:cs typeface="Times New Roman"/>
              </a:rPr>
              <a:t>yet, </a:t>
            </a:r>
            <a:r>
              <a:rPr dirty="0" sz="1100" spc="-5">
                <a:latin typeface="Times New Roman"/>
                <a:cs typeface="Times New Roman"/>
              </a:rPr>
              <a:t>which is generally used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often in </a:t>
            </a:r>
            <a:r>
              <a:rPr dirty="0" sz="1100" spc="-5">
                <a:latin typeface="Times New Roman"/>
                <a:cs typeface="Times New Roman"/>
              </a:rPr>
              <a:t>working-class </a:t>
            </a:r>
            <a:r>
              <a:rPr dirty="0" sz="1100">
                <a:latin typeface="Times New Roman"/>
                <a:cs typeface="Times New Roman"/>
              </a:rPr>
              <a:t>speech than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middle-class </a:t>
            </a:r>
            <a:r>
              <a:rPr dirty="0" sz="1100" spc="-5">
                <a:latin typeface="Times New Roman"/>
                <a:cs typeface="Times New Roman"/>
              </a:rPr>
              <a:t>speech.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we look </a:t>
            </a:r>
            <a:r>
              <a:rPr dirty="0" sz="1100">
                <a:latin typeface="Times New Roman"/>
                <a:cs typeface="Times New Roman"/>
              </a:rPr>
              <a:t>for other </a:t>
            </a: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characteristic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 dialect, we treat class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-5">
                <a:latin typeface="Times New Roman"/>
                <a:cs typeface="Times New Roman"/>
              </a:rPr>
              <a:t>social variable 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word as the linguistic variable. We can </a:t>
            </a:r>
            <a:r>
              <a:rPr dirty="0" sz="1100">
                <a:latin typeface="Times New Roman"/>
                <a:cs typeface="Times New Roman"/>
              </a:rPr>
              <a:t>then </a:t>
            </a:r>
            <a:r>
              <a:rPr dirty="0" sz="1100" spc="-5">
                <a:latin typeface="Times New Roman"/>
                <a:cs typeface="Times New Roman"/>
              </a:rPr>
              <a:t>try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investigate </a:t>
            </a:r>
            <a:r>
              <a:rPr dirty="0" sz="1100">
                <a:latin typeface="Times New Roman"/>
                <a:cs typeface="Times New Roman"/>
              </a:rPr>
              <a:t>the extent to </a:t>
            </a:r>
            <a:r>
              <a:rPr dirty="0" sz="1100" spc="-5">
                <a:latin typeface="Times New Roman"/>
                <a:cs typeface="Times New Roman"/>
              </a:rPr>
              <a:t>which there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 variation involving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two variables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counting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often speakers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each class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 version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linguistic variable.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an all-or-nothing </a:t>
            </a:r>
            <a:r>
              <a:rPr dirty="0" sz="1100" spc="-5">
                <a:latin typeface="Times New Roman"/>
                <a:cs typeface="Times New Roman"/>
              </a:rPr>
              <a:t>situation,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dialects typically report how </a:t>
            </a:r>
            <a:r>
              <a:rPr dirty="0" sz="1100">
                <a:latin typeface="Times New Roman"/>
                <a:cs typeface="Times New Roman"/>
              </a:rPr>
              <a:t>often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particular group use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certain form </a:t>
            </a:r>
            <a:r>
              <a:rPr dirty="0" sz="1100">
                <a:latin typeface="Times New Roman"/>
                <a:cs typeface="Times New Roman"/>
              </a:rPr>
              <a:t>rather </a:t>
            </a:r>
            <a:r>
              <a:rPr dirty="0" sz="1100" spc="1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find that </a:t>
            </a:r>
            <a:r>
              <a:rPr dirty="0" sz="1100">
                <a:latin typeface="Times New Roman"/>
                <a:cs typeface="Times New Roman"/>
              </a:rPr>
              <a:t> 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Unique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>
                <a:latin typeface="Times New Roman"/>
                <a:cs typeface="Times New Roman"/>
              </a:rPr>
              <a:t> life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 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individual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personal dialect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idiolect. Features occur frequently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one’s speech (or not);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mark you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particular social group, whether </a:t>
            </a:r>
            <a:r>
              <a:rPr dirty="0" sz="1100">
                <a:latin typeface="Times New Roman"/>
                <a:cs typeface="Times New Roman"/>
              </a:rPr>
              <a:t>one realizes it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not. </a:t>
            </a:r>
            <a:r>
              <a:rPr dirty="0" sz="1100" spc="-5">
                <a:latin typeface="Times New Roman"/>
                <a:cs typeface="Times New Roman"/>
              </a:rPr>
              <a:t>Final pronunciation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-ing with [n]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[ŋ]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drinking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distinct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Psycholinguistics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Psycholinguistics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study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primarily </a:t>
            </a:r>
            <a:r>
              <a:rPr dirty="0" sz="1100">
                <a:latin typeface="Times New Roman"/>
                <a:cs typeface="Times New Roman"/>
              </a:rPr>
              <a:t> concerned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the ways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represented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processed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brain.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field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cognitive</a:t>
            </a:r>
            <a:r>
              <a:rPr dirty="0" sz="1100">
                <a:latin typeface="Times New Roman"/>
                <a:cs typeface="Times New Roman"/>
              </a:rPr>
              <a:t> science.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psychologist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Jacob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Robert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Kantor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(1936)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introduced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term </a:t>
            </a:r>
            <a:r>
              <a:rPr dirty="0" sz="1100" spc="-5">
                <a:latin typeface="Times New Roman"/>
                <a:cs typeface="Times New Roman"/>
              </a:rPr>
              <a:t>psycholinguistics. ‘Psycholinguistics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mental mechanisms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possible </a:t>
            </a:r>
            <a:r>
              <a:rPr dirty="0" sz="1100">
                <a:latin typeface="Times New Roman"/>
                <a:cs typeface="Times New Roman"/>
              </a:rPr>
              <a:t> for people to </a:t>
            </a:r>
            <a:r>
              <a:rPr dirty="0" sz="1100" spc="-5">
                <a:latin typeface="Times New Roman"/>
                <a:cs typeface="Times New Roman"/>
              </a:rPr>
              <a:t>use language.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scientific discipline </a:t>
            </a:r>
            <a:r>
              <a:rPr dirty="0" sz="1100">
                <a:latin typeface="Times New Roman"/>
                <a:cs typeface="Times New Roman"/>
              </a:rPr>
              <a:t>whose </a:t>
            </a:r>
            <a:r>
              <a:rPr dirty="0" sz="1100" spc="-5">
                <a:latin typeface="Times New Roman"/>
                <a:cs typeface="Times New Roman"/>
              </a:rPr>
              <a:t>goal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coherent </a:t>
            </a:r>
            <a:r>
              <a:rPr dirty="0" sz="1100">
                <a:latin typeface="Times New Roman"/>
                <a:cs typeface="Times New Roman"/>
              </a:rPr>
              <a:t>theory of </a:t>
            </a:r>
            <a:r>
              <a:rPr dirty="0" sz="1100" spc="-5">
                <a:latin typeface="Times New Roman"/>
                <a:cs typeface="Times New Roman"/>
              </a:rPr>
              <a:t>the way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understood.’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answer.</a:t>
            </a:r>
            <a:endParaRPr sz="1100">
              <a:latin typeface="Times New Roman"/>
              <a:cs typeface="Times New Roman"/>
            </a:endParaRPr>
          </a:p>
          <a:p>
            <a:pPr algn="just" marL="469265" marR="13335" indent="-228600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needed for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language?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sense, </a:t>
            </a:r>
            <a:r>
              <a:rPr dirty="0" sz="1100" spc="-5">
                <a:latin typeface="Times New Roman"/>
                <a:cs typeface="Times New Roman"/>
              </a:rPr>
              <a:t>we must know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>
                <a:latin typeface="Times New Roman"/>
                <a:cs typeface="Times New Roman"/>
              </a:rPr>
              <a:t> fully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aware</a:t>
            </a:r>
            <a:r>
              <a:rPr dirty="0" sz="1100" spc="-1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knowledge.</a:t>
            </a:r>
            <a:endParaRPr sz="110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102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cognitive processes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involved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ordinary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language? By</a:t>
            </a:r>
            <a:r>
              <a:rPr dirty="0" sz="1100">
                <a:latin typeface="Times New Roman"/>
                <a:cs typeface="Times New Roman"/>
              </a:rPr>
              <a:t> ‘ordinary use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language’ we mean such things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lecture, </a:t>
            </a:r>
            <a:r>
              <a:rPr dirty="0" sz="1100">
                <a:latin typeface="Times New Roman"/>
                <a:cs typeface="Times New Roman"/>
              </a:rPr>
              <a:t>reading a </a:t>
            </a:r>
            <a:r>
              <a:rPr dirty="0" sz="1100" spc="-5">
                <a:latin typeface="Times New Roman"/>
                <a:cs typeface="Times New Roman"/>
              </a:rPr>
              <a:t>book, writing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letter,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holding </a:t>
            </a:r>
            <a:r>
              <a:rPr dirty="0" sz="1100">
                <a:latin typeface="Times New Roman"/>
                <a:cs typeface="Times New Roman"/>
              </a:rPr>
              <a:t>a conversation. </a:t>
            </a:r>
            <a:r>
              <a:rPr dirty="0" sz="1100" spc="-5">
                <a:latin typeface="Times New Roman"/>
                <a:cs typeface="Times New Roman"/>
              </a:rPr>
              <a:t>By cognitive processes, we mean processes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perception, memory,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thinking. Although we </a:t>
            </a:r>
            <a:r>
              <a:rPr dirty="0" sz="1100">
                <a:latin typeface="Times New Roman"/>
                <a:cs typeface="Times New Roman"/>
              </a:rPr>
              <a:t>do few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easily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speaking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listening, we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processing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during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activities.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Psycholinguists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>
                <a:latin typeface="Times New Roman"/>
                <a:cs typeface="Times New Roman"/>
              </a:rPr>
              <a:t> 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computed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represented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r>
              <a:rPr dirty="0" sz="1100">
                <a:latin typeface="Times New Roman"/>
                <a:cs typeface="Times New Roman"/>
              </a:rPr>
              <a:t> They study how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reading.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essentially two schools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thought </a:t>
            </a:r>
            <a:r>
              <a:rPr dirty="0" sz="1100">
                <a:latin typeface="Times New Roman"/>
                <a:cs typeface="Times New Roman"/>
              </a:rPr>
              <a:t>as to </a:t>
            </a:r>
            <a:r>
              <a:rPr dirty="0" sz="1100" spc="-5">
                <a:latin typeface="Times New Roman"/>
                <a:cs typeface="Times New Roman"/>
              </a:rPr>
              <a:t>how children acquire </a:t>
            </a:r>
            <a:r>
              <a:rPr dirty="0" sz="1100">
                <a:latin typeface="Times New Roman"/>
                <a:cs typeface="Times New Roman"/>
              </a:rPr>
              <a:t>or learn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there is still much </a:t>
            </a:r>
            <a:r>
              <a:rPr dirty="0" sz="1100">
                <a:latin typeface="Times New Roman"/>
                <a:cs typeface="Times New Roman"/>
              </a:rPr>
              <a:t> debate as to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theory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>
                <a:latin typeface="Times New Roman"/>
                <a:cs typeface="Times New Roman"/>
              </a:rPr>
              <a:t> one. </a:t>
            </a:r>
            <a:r>
              <a:rPr dirty="0" sz="1100" spc="-5">
                <a:latin typeface="Times New Roman"/>
                <a:cs typeface="Times New Roman"/>
              </a:rPr>
              <a:t>The first </a:t>
            </a:r>
            <a:r>
              <a:rPr dirty="0" sz="1100">
                <a:latin typeface="Times New Roman"/>
                <a:cs typeface="Times New Roman"/>
              </a:rPr>
              <a:t>theory states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learned 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child. </a:t>
            </a:r>
            <a:r>
              <a:rPr dirty="0" sz="1100">
                <a:latin typeface="Times New Roman"/>
                <a:cs typeface="Times New Roman"/>
              </a:rPr>
              <a:t>The second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states </a:t>
            </a:r>
            <a:r>
              <a:rPr dirty="0" sz="1100" spc="-5">
                <a:latin typeface="Times New Roman"/>
                <a:cs typeface="Times New Roman"/>
              </a:rPr>
              <a:t>that the abstract 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learned, but that humans </a:t>
            </a:r>
            <a:r>
              <a:rPr dirty="0" sz="1100">
                <a:latin typeface="Times New Roman"/>
                <a:cs typeface="Times New Roman"/>
              </a:rPr>
              <a:t> possess an </a:t>
            </a:r>
            <a:r>
              <a:rPr dirty="0" sz="1100" spc="-5">
                <a:latin typeface="Times New Roman"/>
                <a:cs typeface="Times New Roman"/>
              </a:rPr>
              <a:t>innate language faculty, </a:t>
            </a:r>
            <a:r>
              <a:rPr dirty="0" sz="1100">
                <a:latin typeface="Times New Roman"/>
                <a:cs typeface="Times New Roman"/>
              </a:rPr>
              <a:t>or an access </a:t>
            </a:r>
            <a:r>
              <a:rPr dirty="0" sz="1100" spc="-5">
                <a:latin typeface="Times New Roman"/>
                <a:cs typeface="Times New Roman"/>
              </a:rPr>
              <a:t>to what </a:t>
            </a:r>
            <a:r>
              <a:rPr dirty="0" sz="1100">
                <a:latin typeface="Times New Roman"/>
                <a:cs typeface="Times New Roman"/>
              </a:rPr>
              <a:t>has been </a:t>
            </a:r>
            <a:r>
              <a:rPr dirty="0" sz="1100" spc="-5">
                <a:latin typeface="Times New Roman"/>
                <a:cs typeface="Times New Roman"/>
              </a:rPr>
              <a:t>called universal grammar.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learned was especially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before 1960 </a:t>
            </a:r>
            <a:r>
              <a:rPr dirty="0" sz="1100">
                <a:latin typeface="Times New Roman"/>
                <a:cs typeface="Times New Roman"/>
              </a:rPr>
              <a:t>and is </a:t>
            </a:r>
            <a:r>
              <a:rPr dirty="0" sz="1100" spc="-10">
                <a:latin typeface="Times New Roman"/>
                <a:cs typeface="Times New Roman"/>
              </a:rPr>
              <a:t>well </a:t>
            </a:r>
            <a:r>
              <a:rPr dirty="0" sz="1100" spc="-5">
                <a:latin typeface="Times New Roman"/>
                <a:cs typeface="Times New Roman"/>
              </a:rPr>
              <a:t>represented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mentalistic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Jean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Piaget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empiricist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Rudolf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Carnap.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Likewise,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47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behaviourism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(B.F.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Skinner,1957)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behaviour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shaped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hence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innatist perspective began with Noam Chomsky's highly critical </a:t>
            </a:r>
            <a:r>
              <a:rPr dirty="0" sz="1100">
                <a:latin typeface="Times New Roman"/>
                <a:cs typeface="Times New Roman"/>
              </a:rPr>
              <a:t>review of </a:t>
            </a:r>
            <a:r>
              <a:rPr dirty="0" sz="1100" spc="-5">
                <a:latin typeface="Times New Roman"/>
                <a:cs typeface="Times New Roman"/>
              </a:rPr>
              <a:t>Skinner's </a:t>
            </a:r>
            <a:r>
              <a:rPr dirty="0" sz="1100">
                <a:latin typeface="Times New Roman"/>
                <a:cs typeface="Times New Roman"/>
              </a:rPr>
              <a:t>book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1959.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review</a:t>
            </a:r>
            <a:r>
              <a:rPr dirty="0" sz="1100">
                <a:latin typeface="Times New Roman"/>
                <a:cs typeface="Times New Roman"/>
              </a:rPr>
              <a:t> helped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termed</a:t>
            </a:r>
            <a:r>
              <a:rPr dirty="0" sz="1100">
                <a:latin typeface="Times New Roman"/>
                <a:cs typeface="Times New Roman"/>
              </a:rPr>
              <a:t> ‘the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revolution’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Chomsky</a:t>
            </a:r>
            <a:r>
              <a:rPr dirty="0" sz="1100">
                <a:latin typeface="Times New Roman"/>
                <a:cs typeface="Times New Roman"/>
              </a:rPr>
              <a:t> posited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>
                <a:latin typeface="Times New Roman"/>
                <a:cs typeface="Times New Roman"/>
              </a:rPr>
              <a:t> possess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features,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recursion,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‘hard-wired’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brain. 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 beyond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grasp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intelligent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non-humans.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Chomsky,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vast </a:t>
            </a:r>
            <a:r>
              <a:rPr dirty="0" sz="1100">
                <a:latin typeface="Times New Roman"/>
                <a:cs typeface="Times New Roman"/>
              </a:rPr>
              <a:t>search space to </a:t>
            </a:r>
            <a:r>
              <a:rPr dirty="0" sz="1100" spc="-5">
                <a:latin typeface="Times New Roman"/>
                <a:cs typeface="Times New Roman"/>
              </a:rPr>
              <a:t>explore among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possible human grammars, yet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the time, there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evidence that children receive sufficient input to learn all the rules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language. </a:t>
            </a:r>
            <a:r>
              <a:rPr dirty="0" sz="1100">
                <a:latin typeface="Times New Roman"/>
                <a:cs typeface="Times New Roman"/>
              </a:rPr>
              <a:t>Hence,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mechanism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endows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humans.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062: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Applied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important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learning </a:t>
            </a:r>
            <a:r>
              <a:rPr dirty="0" sz="1100">
                <a:latin typeface="Times New Roman"/>
                <a:cs typeface="Times New Roman"/>
              </a:rPr>
              <a:t>of second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foreign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 Linguistics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challenging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stimulating discipline, offering many opportunities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original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work. </a:t>
            </a:r>
            <a:r>
              <a:rPr dirty="0" sz="1100">
                <a:latin typeface="Times New Roman"/>
                <a:cs typeface="Times New Roman"/>
              </a:rPr>
              <a:t>Applied </a:t>
            </a:r>
            <a:r>
              <a:rPr dirty="0" sz="1100" spc="-5">
                <a:latin typeface="Times New Roman"/>
                <a:cs typeface="Times New Roman"/>
              </a:rPr>
              <a:t>linguistics is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interdisciplinary field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that identifies, investigates,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offers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language-related real-life problems. Some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academic fields related to applied linguistics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education,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sociology.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350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translators,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speech-language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pathologists,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audiologists,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examines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5">
                <a:latin typeface="Times New Roman"/>
                <a:cs typeface="Times New Roman"/>
              </a:rPr>
              <a:t> role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explores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studies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second-language</a:t>
            </a:r>
            <a:r>
              <a:rPr dirty="0" sz="1100">
                <a:latin typeface="Times New Roman"/>
                <a:cs typeface="Times New Roman"/>
              </a:rPr>
              <a:t> speakers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investigates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social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develops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gains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clinical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bilingualism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multilingualism,</a:t>
            </a:r>
            <a:r>
              <a:rPr dirty="0" sz="1100">
                <a:latin typeface="Times New Roman"/>
                <a:cs typeface="Times New Roman"/>
              </a:rPr>
              <a:t> conversation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assessment,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literacies,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pedagogy,</a:t>
            </a:r>
            <a:r>
              <a:rPr dirty="0" sz="1100">
                <a:latin typeface="Times New Roman"/>
                <a:cs typeface="Times New Roman"/>
              </a:rPr>
              <a:t> second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inter-linguistics,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forensic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linguistics,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important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of second or foreign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>
                <a:latin typeface="Times New Roman"/>
                <a:cs typeface="Times New Roman"/>
              </a:rPr>
              <a:t>Others </a:t>
            </a:r>
            <a:r>
              <a:rPr dirty="0" sz="1100" spc="-5">
                <a:latin typeface="Times New Roman"/>
                <a:cs typeface="Times New Roman"/>
              </a:rPr>
              <a:t>include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preservation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revival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endangered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 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assessment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treatment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difficulties. Other areas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interest include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 communication,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between doctors and their patients, between lawyers and 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clients </a:t>
            </a:r>
            <a:r>
              <a:rPr dirty="0" sz="1100">
                <a:latin typeface="Times New Roman"/>
                <a:cs typeface="Times New Roman"/>
              </a:rPr>
              <a:t>and in </a:t>
            </a:r>
            <a:r>
              <a:rPr dirty="0" sz="1100" spc="-5">
                <a:latin typeface="Times New Roman"/>
                <a:cs typeface="Times New Roman"/>
              </a:rPr>
              <a:t>courtrooms, as well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other areas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institutional </a:t>
            </a:r>
            <a:r>
              <a:rPr dirty="0" sz="1100">
                <a:latin typeface="Times New Roman"/>
                <a:cs typeface="Times New Roman"/>
              </a:rPr>
              <a:t>and cross-cultural </a:t>
            </a:r>
            <a:r>
              <a:rPr dirty="0" sz="1100" spc="-5">
                <a:latin typeface="Times New Roman"/>
                <a:cs typeface="Times New Roman"/>
              </a:rPr>
              <a:t>communication ranging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boardroom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routines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7857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79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Linguistics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stimulating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work.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063: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Computational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Computational linguistics is </a:t>
            </a:r>
            <a:r>
              <a:rPr dirty="0" sz="1100">
                <a:latin typeface="Times New Roman"/>
                <a:cs typeface="Times New Roman"/>
              </a:rPr>
              <a:t>the 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in which </a:t>
            </a:r>
            <a:r>
              <a:rPr dirty="0" sz="1100">
                <a:latin typeface="Times New Roman"/>
                <a:cs typeface="Times New Roman"/>
              </a:rPr>
              <a:t>the techniques of </a:t>
            </a:r>
            <a:r>
              <a:rPr dirty="0" sz="1100" spc="-5">
                <a:latin typeface="Times New Roman"/>
                <a:cs typeface="Times New Roman"/>
              </a:rPr>
              <a:t>computer science 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 field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statistical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rule-based modeling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natural language 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Traditionally,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had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specialized in the application </a:t>
            </a:r>
            <a:r>
              <a:rPr dirty="0" sz="1100">
                <a:latin typeface="Times New Roman"/>
                <a:cs typeface="Times New Roman"/>
              </a:rPr>
              <a:t>of computers to the </a:t>
            </a:r>
            <a:r>
              <a:rPr dirty="0" sz="1100" spc="-5">
                <a:latin typeface="Times New Roman"/>
                <a:cs typeface="Times New Roman"/>
              </a:rPr>
              <a:t>processing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natural language. </a:t>
            </a:r>
            <a:r>
              <a:rPr dirty="0" sz="1100">
                <a:latin typeface="Times New Roman"/>
                <a:cs typeface="Times New Roman"/>
              </a:rPr>
              <a:t>Today, </a:t>
            </a:r>
            <a:r>
              <a:rPr dirty="0" sz="1100" spc="-5">
                <a:latin typeface="Times New Roman"/>
                <a:cs typeface="Times New Roman"/>
              </a:rPr>
              <a:t>computational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 often work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members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interdisciplinary teams, which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include regular linguists, experts in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draws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linguists, computer scientists, experts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artificial intelligence, mathematicians, logicians,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psycholinguists,</a:t>
            </a:r>
            <a:r>
              <a:rPr dirty="0" sz="1100">
                <a:latin typeface="Times New Roman"/>
                <a:cs typeface="Times New Roman"/>
              </a:rPr>
              <a:t> anthropologists,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neuroscientists,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components.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focuses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issues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theoretical linguistics </a:t>
            </a:r>
            <a:r>
              <a:rPr dirty="0" sz="1100">
                <a:latin typeface="Times New Roman"/>
                <a:cs typeface="Times New Roman"/>
              </a:rPr>
              <a:t>and cognitive science,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applied </a:t>
            </a:r>
            <a:r>
              <a:rPr dirty="0" sz="1100" spc="-5">
                <a:latin typeface="Times New Roman"/>
                <a:cs typeface="Times New Roman"/>
              </a:rPr>
              <a:t>computational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focuses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outcome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use.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Computational linguistics is often grouped within </a:t>
            </a:r>
            <a:r>
              <a:rPr dirty="0" sz="1100">
                <a:latin typeface="Times New Roman"/>
                <a:cs typeface="Times New Roman"/>
              </a:rPr>
              <a:t>the field of </a:t>
            </a:r>
            <a:r>
              <a:rPr dirty="0" sz="1100" spc="-5">
                <a:latin typeface="Times New Roman"/>
                <a:cs typeface="Times New Roman"/>
              </a:rPr>
              <a:t>artificial intelligence, but actually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present before the development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artificial intelligence. Computational linguistics originated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United </a:t>
            </a:r>
            <a:r>
              <a:rPr dirty="0" sz="1100" spc="-5">
                <a:latin typeface="Times New Roman"/>
                <a:cs typeface="Times New Roman"/>
              </a:rPr>
              <a:t>States </a:t>
            </a:r>
            <a:r>
              <a:rPr dirty="0" sz="1100">
                <a:latin typeface="Times New Roman"/>
                <a:cs typeface="Times New Roman"/>
              </a:rPr>
              <a:t>in the 1950s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efforts to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computers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translate texts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foreign languages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automatically,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Russian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 journals,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arithmetic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calculations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faster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was thought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a short </a:t>
            </a:r>
            <a:r>
              <a:rPr dirty="0" sz="1100" spc="-5">
                <a:latin typeface="Times New Roman"/>
                <a:cs typeface="Times New Roman"/>
              </a:rPr>
              <a:t>matter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before they </a:t>
            </a:r>
            <a:r>
              <a:rPr dirty="0" sz="1100" spc="-5">
                <a:latin typeface="Times New Roman"/>
                <a:cs typeface="Times New Roman"/>
              </a:rPr>
              <a:t>could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begin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process language.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 and quantitative methods </a:t>
            </a:r>
            <a:r>
              <a:rPr dirty="0" sz="1100">
                <a:latin typeface="Times New Roman"/>
                <a:cs typeface="Times New Roman"/>
              </a:rPr>
              <a:t>are also </a:t>
            </a:r>
            <a:r>
              <a:rPr dirty="0" sz="1100" spc="-5">
                <a:latin typeface="Times New Roman"/>
                <a:cs typeface="Times New Roman"/>
              </a:rPr>
              <a:t>used historically </a:t>
            </a:r>
            <a:r>
              <a:rPr dirty="0" sz="1100">
                <a:latin typeface="Times New Roman"/>
                <a:cs typeface="Times New Roman"/>
              </a:rPr>
              <a:t>in attempted </a:t>
            </a:r>
            <a:r>
              <a:rPr dirty="0" sz="1100" spc="-5">
                <a:latin typeface="Times New Roman"/>
                <a:cs typeface="Times New Roman"/>
              </a:rPr>
              <a:t>reconstruction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earlier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modern 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subgrouping modern languages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language families. Earlier methods </a:t>
            </a:r>
            <a:r>
              <a:rPr dirty="0" sz="1100">
                <a:latin typeface="Times New Roman"/>
                <a:cs typeface="Times New Roman"/>
              </a:rPr>
              <a:t> such as </a:t>
            </a:r>
            <a:r>
              <a:rPr dirty="0" sz="1100" spc="-5">
                <a:latin typeface="Times New Roman"/>
                <a:cs typeface="Times New Roman"/>
              </a:rPr>
              <a:t>lexicostatistics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glottochronology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proven </a:t>
            </a:r>
            <a:r>
              <a:rPr dirty="0" sz="1100">
                <a:latin typeface="Times New Roman"/>
                <a:cs typeface="Times New Roman"/>
              </a:rPr>
              <a:t>to be premature </a:t>
            </a:r>
            <a:r>
              <a:rPr dirty="0" sz="1100" spc="-5">
                <a:latin typeface="Times New Roman"/>
                <a:cs typeface="Times New Roman"/>
              </a:rPr>
              <a:t>and inaccurate. However, </a:t>
            </a:r>
            <a:r>
              <a:rPr dirty="0" sz="1100">
                <a:latin typeface="Times New Roman"/>
                <a:cs typeface="Times New Roman"/>
              </a:rPr>
              <a:t> recent </a:t>
            </a:r>
            <a:r>
              <a:rPr dirty="0" sz="1100" spc="-5">
                <a:latin typeface="Times New Roman"/>
                <a:cs typeface="Times New Roman"/>
              </a:rPr>
              <a:t>interdisciplinary studies, which borrow concepts from biological studies, especially gene mapping,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proved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sophisticated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analytical tools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machine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 failed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yield accurate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translations right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away, automated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languages was recognized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more complex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originally been assumed.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order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translate one </a:t>
            </a:r>
            <a:r>
              <a:rPr dirty="0" sz="1100" spc="-5">
                <a:latin typeface="Times New Roman"/>
                <a:cs typeface="Times New Roman"/>
              </a:rPr>
              <a:t>language into another, it was observed that one had to understand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both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 including both morphology </a:t>
            </a:r>
            <a:r>
              <a:rPr dirty="0" sz="1100">
                <a:latin typeface="Times New Roman"/>
                <a:cs typeface="Times New Roman"/>
              </a:rPr>
              <a:t>and syntax.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understand </a:t>
            </a:r>
            <a:r>
              <a:rPr dirty="0" sz="1100" spc="-5">
                <a:latin typeface="Times New Roman"/>
                <a:cs typeface="Times New Roman"/>
              </a:rPr>
              <a:t>syntax, </a:t>
            </a:r>
            <a:r>
              <a:rPr dirty="0" sz="1100">
                <a:latin typeface="Times New Roman"/>
                <a:cs typeface="Times New Roman"/>
              </a:rPr>
              <a:t>one had to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an </a:t>
            </a:r>
            <a:r>
              <a:rPr dirty="0" sz="1100" spc="-5">
                <a:latin typeface="Times New Roman"/>
                <a:cs typeface="Times New Roman"/>
              </a:rPr>
              <a:t>effort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translate between languages evolved into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entire discipline devoted </a:t>
            </a:r>
            <a:r>
              <a:rPr dirty="0" sz="1100">
                <a:latin typeface="Times New Roman"/>
                <a:cs typeface="Times New Roman"/>
              </a:rPr>
              <a:t>to understanding how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 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66776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 indent="456565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Nowadays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departments,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laboratories,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departments,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and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departments. </a:t>
            </a:r>
            <a:r>
              <a:rPr dirty="0" sz="1100" spc="-1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research </a:t>
            </a:r>
            <a:r>
              <a:rPr dirty="0" sz="1100" spc="-5">
                <a:latin typeface="Times New Roman"/>
                <a:cs typeface="Times New Roman"/>
              </a:rPr>
              <a:t>in the field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computational linguistics aims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create working 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human-machine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human-machine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conversational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064: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Geographical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geography: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— </a:t>
            </a:r>
            <a:r>
              <a:rPr dirty="0" sz="1100" spc="-5">
                <a:latin typeface="Times New Roman"/>
                <a:cs typeface="Times New Roman"/>
              </a:rPr>
              <a:t>also called dialect geography. Language geography </a:t>
            </a:r>
            <a:r>
              <a:rPr dirty="0" sz="1100">
                <a:latin typeface="Times New Roman"/>
                <a:cs typeface="Times New Roman"/>
              </a:rPr>
              <a:t>is the 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language(s)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 fields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study </a:t>
            </a:r>
            <a:r>
              <a:rPr dirty="0" sz="1100">
                <a:latin typeface="Times New Roman"/>
                <a:cs typeface="Times New Roman"/>
              </a:rPr>
              <a:t>within the </a:t>
            </a:r>
            <a:r>
              <a:rPr dirty="0" sz="1100" spc="-5">
                <a:latin typeface="Times New Roman"/>
                <a:cs typeface="Times New Roman"/>
              </a:rPr>
              <a:t>geography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‘geography </a:t>
            </a:r>
            <a:r>
              <a:rPr dirty="0" sz="1100">
                <a:latin typeface="Times New Roman"/>
                <a:cs typeface="Times New Roman"/>
              </a:rPr>
              <a:t>of languages’,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 distribution through </a:t>
            </a:r>
            <a:r>
              <a:rPr dirty="0" sz="1100">
                <a:latin typeface="Times New Roman"/>
                <a:cs typeface="Times New Roman"/>
              </a:rPr>
              <a:t>history and </a:t>
            </a:r>
            <a:r>
              <a:rPr dirty="0" sz="1100" spc="-5">
                <a:latin typeface="Times New Roman"/>
                <a:cs typeface="Times New Roman"/>
              </a:rPr>
              <a:t>space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languages, </a:t>
            </a:r>
            <a:r>
              <a:rPr dirty="0" sz="1100">
                <a:latin typeface="Times New Roman"/>
                <a:cs typeface="Times New Roman"/>
              </a:rPr>
              <a:t>and is </a:t>
            </a:r>
            <a:r>
              <a:rPr dirty="0" sz="1100" spc="-5">
                <a:latin typeface="Times New Roman"/>
                <a:cs typeface="Times New Roman"/>
              </a:rPr>
              <a:t>concerned with the analysis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 patterns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spatial structures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contact. Geolinguistics </a:t>
            </a:r>
            <a:r>
              <a:rPr dirty="0" sz="1100">
                <a:latin typeface="Times New Roman"/>
                <a:cs typeface="Times New Roman"/>
              </a:rPr>
              <a:t>being the study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political, economic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cultural processes that affect the </a:t>
            </a:r>
            <a:r>
              <a:rPr dirty="0" sz="1100">
                <a:latin typeface="Times New Roman"/>
                <a:cs typeface="Times New Roman"/>
              </a:rPr>
              <a:t>status and distribution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or in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words, the study 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dialects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contact and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conflict with various societal, economic,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ideological,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contemporary </a:t>
            </a:r>
            <a:r>
              <a:rPr dirty="0" sz="1100">
                <a:latin typeface="Times New Roman"/>
                <a:cs typeface="Times New Roman"/>
              </a:rPr>
              <a:t>trends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regard to a </a:t>
            </a:r>
            <a:r>
              <a:rPr dirty="0" sz="1100" spc="-5">
                <a:latin typeface="Times New Roman"/>
                <a:cs typeface="Times New Roman"/>
              </a:rPr>
              <a:t>particular geographic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planetary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Linguistic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geography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how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landscape.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toponymy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names.</a:t>
            </a:r>
            <a:r>
              <a:rPr dirty="0" sz="1100">
                <a:latin typeface="Times New Roman"/>
                <a:cs typeface="Times New Roman"/>
              </a:rPr>
              <a:t> Landscape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ethno-ecology,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ethno-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physiography,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landscape ontologies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contact,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(varieties)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peoples </a:t>
            </a:r>
            <a:r>
              <a:rPr dirty="0" sz="1100" spc="-5">
                <a:latin typeface="Times New Roman"/>
                <a:cs typeface="Times New Roman"/>
              </a:rPr>
              <a:t>have interacted.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territorial expansion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groups </a:t>
            </a:r>
            <a:r>
              <a:rPr dirty="0" sz="1100">
                <a:latin typeface="Times New Roman"/>
                <a:cs typeface="Times New Roman"/>
              </a:rPr>
              <a:t>has usually </a:t>
            </a:r>
            <a:r>
              <a:rPr dirty="0" sz="1100" spc="-5">
                <a:latin typeface="Times New Roman"/>
                <a:cs typeface="Times New Roman"/>
              </a:rPr>
              <a:t>resulted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overlaying </a:t>
            </a:r>
            <a:r>
              <a:rPr dirty="0" sz="1100">
                <a:latin typeface="Times New Roman"/>
                <a:cs typeface="Times New Roman"/>
              </a:rPr>
              <a:t>of languages upon </a:t>
            </a:r>
            <a:r>
              <a:rPr dirty="0" sz="1100" spc="-5">
                <a:latin typeface="Times New Roman"/>
                <a:cs typeface="Times New Roman"/>
              </a:rPr>
              <a:t>existing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areas, rather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the replacement </a:t>
            </a:r>
            <a:r>
              <a:rPr dirty="0" sz="1100">
                <a:latin typeface="Times New Roman"/>
                <a:cs typeface="Times New Roman"/>
              </a:rPr>
              <a:t>of one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another. </a:t>
            </a:r>
            <a:r>
              <a:rPr dirty="0" sz="1100" spc="-5">
                <a:latin typeface="Times New Roman"/>
                <a:cs typeface="Times New Roman"/>
              </a:rPr>
              <a:t>An example could </a:t>
            </a:r>
            <a:r>
              <a:rPr dirty="0" sz="1100">
                <a:latin typeface="Times New Roman"/>
                <a:cs typeface="Times New Roman"/>
              </a:rPr>
              <a:t>be sought in the </a:t>
            </a:r>
            <a:r>
              <a:rPr dirty="0" sz="1100" spc="-5">
                <a:latin typeface="Times New Roman"/>
                <a:cs typeface="Times New Roman"/>
              </a:rPr>
              <a:t>Norman </a:t>
            </a:r>
            <a:r>
              <a:rPr dirty="0" sz="1100">
                <a:latin typeface="Times New Roman"/>
                <a:cs typeface="Times New Roman"/>
              </a:rPr>
              <a:t>Conquest of </a:t>
            </a:r>
            <a:r>
              <a:rPr dirty="0" sz="1100" spc="-5">
                <a:latin typeface="Times New Roman"/>
                <a:cs typeface="Times New Roman"/>
              </a:rPr>
              <a:t>England: Old </a:t>
            </a:r>
            <a:r>
              <a:rPr dirty="0" sz="1100">
                <a:latin typeface="Times New Roman"/>
                <a:cs typeface="Times New Roman"/>
              </a:rPr>
              <a:t>French </a:t>
            </a:r>
            <a:r>
              <a:rPr dirty="0" sz="1100" spc="-5">
                <a:latin typeface="Times New Roman"/>
                <a:cs typeface="Times New Roman"/>
              </a:rPr>
              <a:t>became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aristocracy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Middle English </a:t>
            </a:r>
            <a:r>
              <a:rPr dirty="0" sz="1100">
                <a:latin typeface="Times New Roman"/>
                <a:cs typeface="Times New Roman"/>
              </a:rPr>
              <a:t>remained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majority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population.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Trudgill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geography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>
                <a:latin typeface="Times New Roman"/>
                <a:cs typeface="Times New Roman"/>
              </a:rPr>
              <a:t> 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phenomena.’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production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investigators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dialects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dotted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map)</a:t>
            </a:r>
            <a:r>
              <a:rPr dirty="0" sz="1100">
                <a:latin typeface="Times New Roman"/>
                <a:cs typeface="Times New Roman"/>
              </a:rPr>
              <a:t> showing where one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>
                <a:latin typeface="Times New Roman"/>
                <a:cs typeface="Times New Roman"/>
              </a:rPr>
              <a:t> ends </a:t>
            </a:r>
            <a:r>
              <a:rPr dirty="0" sz="1100" spc="-5">
                <a:latin typeface="Times New Roman"/>
                <a:cs typeface="Times New Roman"/>
              </a:rPr>
              <a:t>and 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begins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overlaps.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 issued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years, including </a:t>
            </a:r>
            <a:r>
              <a:rPr dirty="0" sz="1100">
                <a:latin typeface="Times New Roman"/>
                <a:cs typeface="Times New Roman"/>
              </a:rPr>
              <a:t>Joseph </a:t>
            </a:r>
            <a:r>
              <a:rPr dirty="0" sz="1100" spc="-5">
                <a:latin typeface="Times New Roman"/>
                <a:cs typeface="Times New Roman"/>
              </a:rPr>
              <a:t>Wright's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>
                <a:latin typeface="Times New Roman"/>
                <a:cs typeface="Times New Roman"/>
              </a:rPr>
              <a:t>(1896–1905),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Survey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Dialects </a:t>
            </a:r>
            <a:r>
              <a:rPr dirty="0" sz="1100">
                <a:latin typeface="Times New Roman"/>
                <a:cs typeface="Times New Roman"/>
              </a:rPr>
              <a:t>(1962-8), and The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Atlas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(1978).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791019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Lesson-12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LINGUISTICS VS.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TRADITIONAL</a:t>
            </a:r>
            <a:r>
              <a:rPr dirty="0" sz="140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GRAMMAR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065: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580390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Words can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combined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limited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patterns.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recognize that the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‘the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lucky boys’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well formed phrase in English, but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 two ‘phrases’ are </a:t>
            </a:r>
            <a:r>
              <a:rPr dirty="0" sz="1100">
                <a:latin typeface="Times New Roman"/>
                <a:cs typeface="Times New Roman"/>
              </a:rPr>
              <a:t>not at </a:t>
            </a:r>
            <a:r>
              <a:rPr dirty="0" sz="1100" spc="-5">
                <a:latin typeface="Times New Roman"/>
                <a:cs typeface="Times New Roman"/>
              </a:rPr>
              <a:t>all well-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*boys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lucky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*lucky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asterisk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*is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indicate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unacceptable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ungrammatical.)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580390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can see </a:t>
            </a:r>
            <a:r>
              <a:rPr dirty="0" sz="1100" spc="-5">
                <a:latin typeface="Times New Roman"/>
                <a:cs typeface="Times New Roman"/>
              </a:rPr>
              <a:t>that English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strict rules for combining words into phrases.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article </a:t>
            </a:r>
            <a:r>
              <a:rPr dirty="0" sz="1100" i="1">
                <a:latin typeface="Times New Roman"/>
                <a:cs typeface="Times New Roman"/>
              </a:rPr>
              <a:t>the 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before </a:t>
            </a:r>
            <a:r>
              <a:rPr dirty="0" sz="1100" spc="-5">
                <a:latin typeface="Times New Roman"/>
                <a:cs typeface="Times New Roman"/>
              </a:rPr>
              <a:t>the adjective </a:t>
            </a:r>
            <a:r>
              <a:rPr dirty="0" sz="1100" spc="-5" i="1">
                <a:latin typeface="Times New Roman"/>
                <a:cs typeface="Times New Roman"/>
              </a:rPr>
              <a:t>lucky</a:t>
            </a:r>
            <a:r>
              <a:rPr dirty="0" sz="1100" spc="-5">
                <a:latin typeface="Times New Roman"/>
                <a:cs typeface="Times New Roman"/>
              </a:rPr>
              <a:t>, which must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before the noun </a:t>
            </a:r>
            <a:r>
              <a:rPr dirty="0" sz="1100" i="1">
                <a:latin typeface="Times New Roman"/>
                <a:cs typeface="Times New Roman"/>
              </a:rPr>
              <a:t>boys</a:t>
            </a:r>
            <a:r>
              <a:rPr dirty="0" sz="1100">
                <a:latin typeface="Times New Roman"/>
                <a:cs typeface="Times New Roman"/>
              </a:rPr>
              <a:t>. So, 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grammatical,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phrase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sequence:</a:t>
            </a:r>
            <a:endParaRPr sz="1100">
              <a:latin typeface="Times New Roman"/>
              <a:cs typeface="Times New Roman"/>
            </a:endParaRPr>
          </a:p>
          <a:p>
            <a:pPr algn="just" marL="241300" marR="4062729" indent="227965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article </a:t>
            </a:r>
            <a:r>
              <a:rPr dirty="0" sz="1100">
                <a:latin typeface="Times New Roman"/>
                <a:cs typeface="Times New Roman"/>
              </a:rPr>
              <a:t>+ </a:t>
            </a:r>
            <a:r>
              <a:rPr dirty="0" sz="1100" spc="-5">
                <a:latin typeface="Times New Roman"/>
                <a:cs typeface="Times New Roman"/>
              </a:rPr>
              <a:t>adjective </a:t>
            </a:r>
            <a:r>
              <a:rPr dirty="0" sz="1100">
                <a:latin typeface="Times New Roman"/>
                <a:cs typeface="Times New Roman"/>
              </a:rPr>
              <a:t>+ </a:t>
            </a:r>
            <a:r>
              <a:rPr dirty="0" sz="1100" spc="-5">
                <a:latin typeface="Times New Roman"/>
                <a:cs typeface="Times New Roman"/>
              </a:rPr>
              <a:t>noun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not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*noun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Times New Roman"/>
                <a:cs typeface="Times New Roman"/>
              </a:rPr>
              <a:t> adjective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580390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phrases and sentences in such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way that we account 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ungrammatical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defining grammar.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definition assumed when we talk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the grammar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 opposed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grammar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Swahili,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Tagalog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Turkish.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Traditional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580390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terms ‘article,’, ‘adjective’,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‘noun’ that we use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label the grammatical categories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phrase </a:t>
            </a:r>
            <a:r>
              <a:rPr dirty="0" sz="1100" spc="-5" i="1">
                <a:latin typeface="Times New Roman"/>
                <a:cs typeface="Times New Roman"/>
              </a:rPr>
              <a:t>the lucky boys </a:t>
            </a:r>
            <a:r>
              <a:rPr dirty="0" sz="1100" spc="-5">
                <a:latin typeface="Times New Roman"/>
                <a:cs typeface="Times New Roman"/>
              </a:rPr>
              <a:t>come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traditional grammar, which has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origins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Greek.</a:t>
            </a:r>
            <a:r>
              <a:rPr dirty="0" sz="1100">
                <a:latin typeface="Times New Roman"/>
                <a:cs typeface="Times New Roman"/>
              </a:rPr>
              <a:t> 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well-established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apply them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‘newer’ languages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English. After all, Latin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 </a:t>
            </a:r>
            <a:r>
              <a:rPr dirty="0" sz="1100">
                <a:latin typeface="Times New Roman"/>
                <a:cs typeface="Times New Roman"/>
              </a:rPr>
              <a:t>were the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scholarship, religion, philosophy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‘knowledge,’, </a:t>
            </a:r>
            <a:r>
              <a:rPr dirty="0" sz="1100">
                <a:latin typeface="Times New Roman"/>
                <a:cs typeface="Times New Roman"/>
              </a:rPr>
              <a:t>so the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of these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was taken </a:t>
            </a:r>
            <a:r>
              <a:rPr dirty="0" sz="1100">
                <a:latin typeface="Times New Roman"/>
                <a:cs typeface="Times New Roman"/>
              </a:rPr>
              <a:t>to be the </a:t>
            </a:r>
            <a:r>
              <a:rPr dirty="0" sz="1100" spc="-5">
                <a:latin typeface="Times New Roman"/>
                <a:cs typeface="Times New Roman"/>
              </a:rPr>
              <a:t>model for other grammars. The best-known terms </a:t>
            </a:r>
            <a:r>
              <a:rPr dirty="0" sz="1100">
                <a:latin typeface="Times New Roman"/>
                <a:cs typeface="Times New Roman"/>
              </a:rPr>
              <a:t>from that </a:t>
            </a:r>
            <a:r>
              <a:rPr dirty="0" sz="1100" spc="-5">
                <a:latin typeface="Times New Roman"/>
                <a:cs typeface="Times New Roman"/>
              </a:rPr>
              <a:t>tradition are </a:t>
            </a:r>
            <a:r>
              <a:rPr dirty="0" sz="1100">
                <a:latin typeface="Times New Roman"/>
                <a:cs typeface="Times New Roman"/>
              </a:rPr>
              <a:t> 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Parts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580390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‘adjective’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‘noun’ 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label forms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language as the parts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word classes.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technical terms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speech </a:t>
            </a:r>
            <a:r>
              <a:rPr dirty="0" sz="1100" spc="-5">
                <a:latin typeface="Times New Roman"/>
                <a:cs typeface="Times New Roman"/>
              </a:rPr>
              <a:t>are illustrated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469265" marR="587375">
              <a:lnSpc>
                <a:spcPct val="110000"/>
              </a:lnSpc>
              <a:tabLst>
                <a:tab pos="2647950" algn="l"/>
              </a:tabLst>
            </a:pP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5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Adj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   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     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	P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    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</a:t>
            </a:r>
            <a:r>
              <a:rPr dirty="0" sz="1100" spc="5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     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  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backpack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park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carefully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97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58039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Basic </a:t>
            </a:r>
            <a:r>
              <a:rPr dirty="0" sz="1100" spc="-5">
                <a:latin typeface="Times New Roman"/>
                <a:cs typeface="Times New Roman"/>
              </a:rPr>
              <a:t>definitions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useful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identifying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in a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 but </a:t>
            </a:r>
            <a:r>
              <a:rPr dirty="0" sz="1100">
                <a:latin typeface="Times New Roman"/>
                <a:cs typeface="Times New Roman"/>
              </a:rPr>
              <a:t>they are not completely </a:t>
            </a:r>
            <a:r>
              <a:rPr dirty="0" sz="1100" spc="-5">
                <a:latin typeface="Times New Roman"/>
                <a:cs typeface="Times New Roman"/>
              </a:rPr>
              <a:t>reliable.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some other properties 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can take inflections for possessive </a:t>
            </a:r>
            <a:r>
              <a:rPr dirty="0" sz="1100">
                <a:latin typeface="Times New Roman"/>
                <a:cs typeface="Times New Roman"/>
              </a:rPr>
              <a:t>(-’s) and </a:t>
            </a:r>
            <a:r>
              <a:rPr dirty="0" sz="1100" spc="-5">
                <a:latin typeface="Times New Roman"/>
                <a:cs typeface="Times New Roman"/>
              </a:rPr>
              <a:t>plural </a:t>
            </a:r>
            <a:r>
              <a:rPr dirty="0" sz="1100">
                <a:latin typeface="Times New Roman"/>
                <a:cs typeface="Times New Roman"/>
              </a:rPr>
              <a:t>(-s).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course, not all nouns (e.g., </a:t>
            </a:r>
            <a:r>
              <a:rPr dirty="0" sz="1100" spc="-5">
                <a:latin typeface="Times New Roman"/>
                <a:cs typeface="Times New Roman"/>
              </a:rPr>
              <a:t>information,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mud)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all these </a:t>
            </a:r>
            <a:r>
              <a:rPr dirty="0" sz="1100" spc="-5">
                <a:latin typeface="Times New Roman"/>
                <a:cs typeface="Times New Roman"/>
              </a:rPr>
              <a:t>characteristics. Moreover, these characteristics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unlikely </a:t>
            </a:r>
            <a:r>
              <a:rPr dirty="0" sz="1100">
                <a:latin typeface="Times New Roman"/>
                <a:cs typeface="Times New Roman"/>
              </a:rPr>
              <a:t>to be true of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languages that we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want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describe. An alternative way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looking </a:t>
            </a:r>
            <a:r>
              <a:rPr dirty="0" sz="1100">
                <a:latin typeface="Times New Roman"/>
                <a:cs typeface="Times New Roman"/>
              </a:rPr>
              <a:t>at nouns and </a:t>
            </a:r>
            <a:r>
              <a:rPr dirty="0" sz="1100" spc="-5">
                <a:latin typeface="Times New Roman"/>
                <a:cs typeface="Times New Roman"/>
              </a:rPr>
              <a:t>other parts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had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Agreement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580390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addition to </a:t>
            </a:r>
            <a:r>
              <a:rPr dirty="0" sz="1100" spc="-5">
                <a:latin typeface="Times New Roman"/>
                <a:cs typeface="Times New Roman"/>
              </a:rPr>
              <a:t>the terms </a:t>
            </a:r>
            <a:r>
              <a:rPr dirty="0" sz="1100">
                <a:latin typeface="Times New Roman"/>
                <a:cs typeface="Times New Roman"/>
              </a:rPr>
              <a:t>used for </a:t>
            </a:r>
            <a:r>
              <a:rPr dirty="0" sz="1100" spc="-5">
                <a:latin typeface="Times New Roman"/>
                <a:cs typeface="Times New Roman"/>
              </a:rPr>
              <a:t>the parts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speech, traditional grammatical analysis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us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categories, including </a:t>
            </a:r>
            <a:r>
              <a:rPr dirty="0" sz="1100">
                <a:latin typeface="Times New Roman"/>
                <a:cs typeface="Times New Roman"/>
              </a:rPr>
              <a:t>‘number,’ </a:t>
            </a:r>
            <a:r>
              <a:rPr dirty="0" sz="1100" spc="-5">
                <a:latin typeface="Times New Roman"/>
                <a:cs typeface="Times New Roman"/>
              </a:rPr>
              <a:t>‘person,’ ‘tense, ‘voice’ and, ‘gender.’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discussed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isolation,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their role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describing language </a:t>
            </a:r>
            <a:r>
              <a:rPr dirty="0" sz="1100">
                <a:latin typeface="Times New Roman"/>
                <a:cs typeface="Times New Roman"/>
              </a:rPr>
              <a:t>structure </a:t>
            </a:r>
            <a:r>
              <a:rPr dirty="0" sz="1100" spc="-5">
                <a:latin typeface="Times New Roman"/>
                <a:cs typeface="Times New Roman"/>
              </a:rPr>
              <a:t>becomes clearer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we consider </a:t>
            </a:r>
            <a:r>
              <a:rPr dirty="0" sz="1100">
                <a:latin typeface="Times New Roman"/>
                <a:cs typeface="Times New Roman"/>
              </a:rPr>
              <a:t>them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agreement.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we </a:t>
            </a:r>
            <a:r>
              <a:rPr dirty="0" sz="1100">
                <a:latin typeface="Times New Roman"/>
                <a:cs typeface="Times New Roman"/>
              </a:rPr>
              <a:t>say </a:t>
            </a:r>
            <a:r>
              <a:rPr dirty="0" sz="1100" spc="-5">
                <a:latin typeface="Times New Roman"/>
                <a:cs typeface="Times New Roman"/>
              </a:rPr>
              <a:t>that the verb </a:t>
            </a:r>
            <a:r>
              <a:rPr dirty="0" sz="1100" spc="-5" i="1">
                <a:latin typeface="Times New Roman"/>
                <a:cs typeface="Times New Roman"/>
              </a:rPr>
              <a:t>loves </a:t>
            </a:r>
            <a:r>
              <a:rPr dirty="0" sz="1100" spc="-5">
                <a:latin typeface="Times New Roman"/>
                <a:cs typeface="Times New Roman"/>
              </a:rPr>
              <a:t>‘agrees with’ the </a:t>
            </a:r>
            <a:r>
              <a:rPr dirty="0" sz="1100">
                <a:latin typeface="Times New Roman"/>
                <a:cs typeface="Times New Roman"/>
              </a:rPr>
              <a:t> noun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Cathy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Cathy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5803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agreement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partially </a:t>
            </a:r>
            <a:r>
              <a:rPr dirty="0" sz="1100">
                <a:latin typeface="Times New Roman"/>
                <a:cs typeface="Times New Roman"/>
              </a:rPr>
              <a:t>based on the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number,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noun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plural.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based on the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person, which covers the distinctions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(involving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speaker),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(involving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hearer),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(involving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others).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different 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pronouns can be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person and </a:t>
            </a:r>
            <a:r>
              <a:rPr dirty="0" sz="1100" spc="-5">
                <a:latin typeface="Times New Roman"/>
                <a:cs typeface="Times New Roman"/>
              </a:rPr>
              <a:t>number.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me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singular, you for </a:t>
            </a:r>
            <a:r>
              <a:rPr dirty="0" sz="1100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person singular,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him, </a:t>
            </a:r>
            <a:r>
              <a:rPr dirty="0" sz="1100">
                <a:latin typeface="Times New Roman"/>
                <a:cs typeface="Times New Roman"/>
              </a:rPr>
              <a:t>her, it </a:t>
            </a:r>
            <a:r>
              <a:rPr dirty="0" sz="1100" spc="-5">
                <a:latin typeface="Times New Roman"/>
                <a:cs typeface="Times New Roman"/>
              </a:rPr>
              <a:t>(or </a:t>
            </a:r>
            <a:r>
              <a:rPr dirty="0" sz="1100">
                <a:latin typeface="Times New Roman"/>
                <a:cs typeface="Times New Roman"/>
              </a:rPr>
              <a:t>Cathy) for </a:t>
            </a:r>
            <a:r>
              <a:rPr dirty="0" sz="1100" spc="-5">
                <a:latin typeface="Times New Roman"/>
                <a:cs typeface="Times New Roman"/>
              </a:rPr>
              <a:t>third person singular. </a:t>
            </a:r>
            <a:r>
              <a:rPr dirty="0" sz="1100">
                <a:latin typeface="Times New Roman"/>
                <a:cs typeface="Times New Roman"/>
              </a:rPr>
              <a:t> So, in </a:t>
            </a:r>
            <a:r>
              <a:rPr dirty="0" sz="1100" spc="-5">
                <a:latin typeface="Times New Roman"/>
                <a:cs typeface="Times New Roman"/>
              </a:rPr>
              <a:t>the sentence Cathy loves </a:t>
            </a:r>
            <a:r>
              <a:rPr dirty="0" sz="1100">
                <a:latin typeface="Times New Roman"/>
                <a:cs typeface="Times New Roman"/>
              </a:rPr>
              <a:t>her </a:t>
            </a:r>
            <a:r>
              <a:rPr dirty="0" sz="1100" spc="-5">
                <a:latin typeface="Times New Roman"/>
                <a:cs typeface="Times New Roman"/>
              </a:rPr>
              <a:t>dog, we have </a:t>
            </a:r>
            <a:r>
              <a:rPr dirty="0" sz="1100">
                <a:latin typeface="Times New Roman"/>
                <a:cs typeface="Times New Roman"/>
              </a:rPr>
              <a:t>a noun </a:t>
            </a:r>
            <a:r>
              <a:rPr dirty="0" sz="1100" spc="-5">
                <a:latin typeface="Times New Roman"/>
                <a:cs typeface="Times New Roman"/>
              </a:rPr>
              <a:t>Cathy, which is third person singular, </a:t>
            </a:r>
            <a:r>
              <a:rPr dirty="0" sz="1100">
                <a:latin typeface="Times New Roman"/>
                <a:cs typeface="Times New Roman"/>
              </a:rPr>
              <a:t>and we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‘agree </a:t>
            </a:r>
            <a:r>
              <a:rPr dirty="0" sz="1100" spc="-5">
                <a:latin typeface="Times New Roman"/>
                <a:cs typeface="Times New Roman"/>
              </a:rPr>
              <a:t>with’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580390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addition,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form of the </a:t>
            </a:r>
            <a:r>
              <a:rPr dirty="0" sz="1100" spc="-5">
                <a:latin typeface="Times New Roman"/>
                <a:cs typeface="Times New Roman"/>
              </a:rPr>
              <a:t>verb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another </a:t>
            </a:r>
            <a:r>
              <a:rPr dirty="0" sz="1100" spc="-5">
                <a:latin typeface="Times New Roman"/>
                <a:cs typeface="Times New Roman"/>
              </a:rPr>
              <a:t>category called tense.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(loved).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 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active voice, describing what Cathy </a:t>
            </a:r>
            <a:r>
              <a:rPr dirty="0" sz="1100">
                <a:latin typeface="Times New Roman"/>
                <a:cs typeface="Times New Roman"/>
              </a:rPr>
              <a:t>does (i.e., </a:t>
            </a:r>
            <a:r>
              <a:rPr dirty="0" sz="1100" spc="-5">
                <a:latin typeface="Times New Roman"/>
                <a:cs typeface="Times New Roman"/>
              </a:rPr>
              <a:t>she performs </a:t>
            </a:r>
            <a:r>
              <a:rPr dirty="0" sz="1100">
                <a:latin typeface="Times New Roman"/>
                <a:cs typeface="Times New Roman"/>
              </a:rPr>
              <a:t>the action of </a:t>
            </a:r>
            <a:r>
              <a:rPr dirty="0" sz="1100" spc="-5">
                <a:latin typeface="Times New Roman"/>
                <a:cs typeface="Times New Roman"/>
              </a:rPr>
              <a:t>the verb).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alternative would </a:t>
            </a:r>
            <a:r>
              <a:rPr dirty="0" sz="1100" spc="-10">
                <a:latin typeface="Times New Roman"/>
                <a:cs typeface="Times New Roman"/>
              </a:rPr>
              <a:t>be the </a:t>
            </a:r>
            <a:r>
              <a:rPr dirty="0" sz="1100" spc="-5">
                <a:latin typeface="Times New Roman"/>
                <a:cs typeface="Times New Roman"/>
              </a:rPr>
              <a:t>passive voice, which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what </a:t>
            </a:r>
            <a:r>
              <a:rPr dirty="0" sz="1100">
                <a:latin typeface="Times New Roman"/>
                <a:cs typeface="Times New Roman"/>
              </a:rPr>
              <a:t>happens to Cathy (i.e., </a:t>
            </a:r>
            <a:r>
              <a:rPr dirty="0" sz="1100" spc="-5">
                <a:latin typeface="Times New Roman"/>
                <a:cs typeface="Times New Roman"/>
              </a:rPr>
              <a:t>she </a:t>
            </a:r>
            <a:r>
              <a:rPr dirty="0" sz="1100">
                <a:latin typeface="Times New Roman"/>
                <a:cs typeface="Times New Roman"/>
              </a:rPr>
              <a:t> does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action),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580390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Our final category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gender, which helps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describe the agreement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Cathy </a:t>
            </a:r>
            <a:r>
              <a:rPr dirty="0" sz="1100">
                <a:latin typeface="Times New Roman"/>
                <a:cs typeface="Times New Roman"/>
              </a:rPr>
              <a:t>and her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example sentence.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English, we have to describe this relationship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natural gender, mainly </a:t>
            </a:r>
            <a:r>
              <a:rPr dirty="0" sz="1100">
                <a:latin typeface="Times New Roman"/>
                <a:cs typeface="Times New Roman"/>
              </a:rPr>
              <a:t> derived from a </a:t>
            </a:r>
            <a:r>
              <a:rPr dirty="0" sz="1100" spc="-5">
                <a:latin typeface="Times New Roman"/>
                <a:cs typeface="Times New Roman"/>
              </a:rPr>
              <a:t>biological distinction between male </a:t>
            </a:r>
            <a:r>
              <a:rPr dirty="0" sz="1100" spc="-1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female.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agreement between Cathy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her is </a:t>
            </a:r>
            <a:r>
              <a:rPr dirty="0" sz="1100">
                <a:latin typeface="Times New Roman"/>
                <a:cs typeface="Times New Roman"/>
              </a:rPr>
              <a:t> based on a </a:t>
            </a:r>
            <a:r>
              <a:rPr dirty="0" sz="1100" spc="-5">
                <a:latin typeface="Times New Roman"/>
                <a:cs typeface="Times New Roman"/>
              </a:rPr>
              <a:t>distinction made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between reference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female entities (she, her), male entities </a:t>
            </a:r>
            <a:r>
              <a:rPr dirty="0" sz="1100">
                <a:latin typeface="Times New Roman"/>
                <a:cs typeface="Times New Roman"/>
              </a:rPr>
              <a:t>(he,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his),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sex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irrelevant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58039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biological distinction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quite different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common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 </a:t>
            </a:r>
            <a:r>
              <a:rPr dirty="0" sz="1100">
                <a:latin typeface="Times New Roman"/>
                <a:cs typeface="Times New Roman"/>
              </a:rPr>
              <a:t>found </a:t>
            </a:r>
            <a:r>
              <a:rPr dirty="0" sz="1100" spc="-5">
                <a:latin typeface="Times New Roman"/>
                <a:cs typeface="Times New Roman"/>
              </a:rPr>
              <a:t>in languages that use grammatical gender. Whereas natural gender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sex (male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female), grammatical gender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type </a:t>
            </a:r>
            <a:r>
              <a:rPr dirty="0" sz="1100">
                <a:latin typeface="Times New Roman"/>
                <a:cs typeface="Times New Roman"/>
              </a:rPr>
              <a:t>of noun </a:t>
            </a:r>
            <a:r>
              <a:rPr dirty="0" sz="1100" spc="-5">
                <a:latin typeface="Times New Roman"/>
                <a:cs typeface="Times New Roman"/>
              </a:rPr>
              <a:t>(masculine and </a:t>
            </a:r>
            <a:r>
              <a:rPr dirty="0" sz="1100">
                <a:latin typeface="Times New Roman"/>
                <a:cs typeface="Times New Roman"/>
              </a:rPr>
              <a:t>feminine),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tied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sex.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latter sense, nouns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classified according </a:t>
            </a:r>
            <a:r>
              <a:rPr dirty="0" sz="1100">
                <a:latin typeface="Times New Roman"/>
                <a:cs typeface="Times New Roman"/>
              </a:rPr>
              <a:t>to their </a:t>
            </a:r>
            <a:r>
              <a:rPr dirty="0" sz="1100" spc="-5">
                <a:latin typeface="Times New Roman"/>
                <a:cs typeface="Times New Roman"/>
              </a:rPr>
              <a:t>gender </a:t>
            </a:r>
            <a:r>
              <a:rPr dirty="0" sz="1100">
                <a:latin typeface="Times New Roman"/>
                <a:cs typeface="Times New Roman"/>
              </a:rPr>
              <a:t>class, </a:t>
            </a:r>
            <a:r>
              <a:rPr dirty="0" sz="1100" spc="-5">
                <a:latin typeface="Times New Roman"/>
                <a:cs typeface="Times New Roman"/>
              </a:rPr>
              <a:t>and typically, articles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forms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‘agree </a:t>
            </a:r>
            <a:r>
              <a:rPr dirty="0" sz="1100" spc="-5">
                <a:latin typeface="Times New Roman"/>
                <a:cs typeface="Times New Roman"/>
              </a:rPr>
              <a:t>with’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1853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066: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Linguistics: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Scientific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Study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Definition</a:t>
            </a:r>
            <a:r>
              <a:rPr dirty="0" sz="1100" spc="-10" b="1">
                <a:latin typeface="Times New Roman"/>
                <a:cs typeface="Times New Roman"/>
              </a:rPr>
              <a:t> of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may </a:t>
            </a:r>
            <a:r>
              <a:rPr dirty="0" sz="1100">
                <a:latin typeface="Times New Roman"/>
                <a:cs typeface="Times New Roman"/>
              </a:rPr>
              <a:t>be defined as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scientific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definition is </a:t>
            </a:r>
            <a:r>
              <a:rPr dirty="0" sz="1100">
                <a:latin typeface="Times New Roman"/>
                <a:cs typeface="Times New Roman"/>
              </a:rPr>
              <a:t>hardly </a:t>
            </a:r>
            <a:r>
              <a:rPr dirty="0" sz="1100" spc="-5">
                <a:latin typeface="Times New Roman"/>
                <a:cs typeface="Times New Roman"/>
              </a:rPr>
              <a:t>sufficient 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reader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positive indication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fundamental principles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subject.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revealing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qualification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‘scientific’. For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moment,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enough to say that by the </a:t>
            </a:r>
            <a:r>
              <a:rPr dirty="0" sz="1100" spc="-5">
                <a:latin typeface="Times New Roman"/>
                <a:cs typeface="Times New Roman"/>
              </a:rPr>
              <a:t>scientific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meant its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controlled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empirically verifiable observations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with reference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language-structure.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follows: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71092" y="2946145"/>
          <a:ext cx="5708650" cy="1338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350"/>
                <a:gridCol w="4550410"/>
              </a:tblGrid>
              <a:tr h="192024"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Objectivity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primitive,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pure,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beautiful,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cultural,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sophisticated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Empiricism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speculative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intuitive,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observation,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experiments,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Rationalism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Role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plays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acquisition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knowledge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Exhaustiveness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Deals with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data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Consistency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contradictory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statements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Economy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Repetition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allowed,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economic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statements,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fewer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concepts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symbols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4424908"/>
            <a:ext cx="5971540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15">
              <a:lnSpc>
                <a:spcPct val="1109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static.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fundamental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067: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Linguistics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Descriptivism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Descriptivism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nonjudgmental approach </a:t>
            </a:r>
            <a:r>
              <a:rPr dirty="0" sz="1100">
                <a:latin typeface="Times New Roman"/>
                <a:cs typeface="Times New Roman"/>
              </a:rPr>
              <a:t>to language that </a:t>
            </a:r>
            <a:r>
              <a:rPr dirty="0" sz="1100" spc="-5">
                <a:latin typeface="Times New Roman"/>
                <a:cs typeface="Times New Roman"/>
              </a:rPr>
              <a:t>focuses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actually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written.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called linguistic descriptivism,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is contrasted with prescriptivism.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idea </a:t>
            </a:r>
            <a:r>
              <a:rPr dirty="0" sz="1100">
                <a:latin typeface="Times New Roman"/>
                <a:cs typeface="Times New Roman"/>
              </a:rPr>
              <a:t> behind </a:t>
            </a:r>
            <a:r>
              <a:rPr dirty="0" sz="1100" spc="-5">
                <a:latin typeface="Times New Roman"/>
                <a:cs typeface="Times New Roman"/>
              </a:rPr>
              <a:t>descriptive 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defined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1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it.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other words, </a:t>
            </a:r>
            <a:r>
              <a:rPr dirty="0" sz="1100" spc="10">
                <a:latin typeface="Times New Roman"/>
                <a:cs typeface="Times New Roman"/>
              </a:rPr>
              <a:t>you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listening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article ‘Beyond </a:t>
            </a:r>
            <a:r>
              <a:rPr dirty="0" sz="1100">
                <a:latin typeface="Times New Roman"/>
                <a:cs typeface="Times New Roman"/>
              </a:rPr>
              <a:t>and Between the Three </a:t>
            </a:r>
            <a:r>
              <a:rPr dirty="0" sz="1100" spc="-5">
                <a:latin typeface="Times New Roman"/>
                <a:cs typeface="Times New Roman"/>
              </a:rPr>
              <a:t>Circles’, linguist Christian Mair has observed that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spirit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descriptivism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great </a:t>
            </a:r>
            <a:r>
              <a:rPr dirty="0" sz="1100" spc="-5">
                <a:latin typeface="Times New Roman"/>
                <a:cs typeface="Times New Roman"/>
              </a:rPr>
              <a:t> democratic enterprises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past two centuries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scholarship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humanities.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twentieth </a:t>
            </a:r>
            <a:r>
              <a:rPr dirty="0" sz="1100" spc="-5">
                <a:latin typeface="Times New Roman"/>
                <a:cs typeface="Times New Roman"/>
              </a:rPr>
              <a:t>century,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structuralist descriptivism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sociolinguistics have </a:t>
            </a:r>
            <a:r>
              <a:rPr dirty="0" sz="1100">
                <a:latin typeface="Times New Roman"/>
                <a:cs typeface="Times New Roman"/>
              </a:rPr>
              <a:t>. . . taught us to </a:t>
            </a:r>
            <a:r>
              <a:rPr dirty="0" sz="1100" spc="-5">
                <a:latin typeface="Times New Roman"/>
                <a:cs typeface="Times New Roman"/>
              </a:rPr>
              <a:t>respect the structural complexity,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 adequacy and creative-expressive potential </a:t>
            </a:r>
            <a:r>
              <a:rPr dirty="0" sz="1100" spc="-10">
                <a:latin typeface="Times New Roman"/>
                <a:cs typeface="Times New Roman"/>
              </a:rPr>
              <a:t>of all </a:t>
            </a:r>
            <a:r>
              <a:rPr dirty="0" sz="1100" spc="-5">
                <a:latin typeface="Times New Roman"/>
                <a:cs typeface="Times New Roman"/>
              </a:rPr>
              <a:t>the world's languages, including socially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stigmatized working-class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ethnic </a:t>
            </a:r>
            <a:r>
              <a:rPr dirty="0" sz="1100">
                <a:latin typeface="Times New Roman"/>
                <a:cs typeface="Times New Roman"/>
              </a:rPr>
              <a:t>speech.’ </a:t>
            </a:r>
            <a:r>
              <a:rPr dirty="0" sz="1100" spc="-5">
                <a:latin typeface="Times New Roman"/>
                <a:cs typeface="Times New Roman"/>
              </a:rPr>
              <a:t>Look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different approaches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descriptivism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prescriptivism.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43076" y="7795006"/>
          <a:ext cx="5948045" cy="1332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260"/>
                <a:gridCol w="2969260"/>
              </a:tblGrid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split an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infinitive.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would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like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to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quickly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finish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 homework.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not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sentence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preposition.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go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Never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sentence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and!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started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his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practice.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428"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</a:t>
                      </a:r>
                      <a:r>
                        <a:rPr dirty="0" sz="11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dirty="0" sz="11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nominative</a:t>
                      </a:r>
                      <a:r>
                        <a:rPr dirty="0" sz="11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1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Mary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runs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377"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Nominative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797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2065" indent="456565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Except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certain educational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contexts, modern linguists utterly </a:t>
            </a:r>
            <a:r>
              <a:rPr dirty="0" sz="1100">
                <a:latin typeface="Times New Roman"/>
                <a:cs typeface="Times New Roman"/>
              </a:rPr>
              <a:t>reject </a:t>
            </a:r>
            <a:r>
              <a:rPr dirty="0" sz="1100" spc="-5">
                <a:latin typeface="Times New Roman"/>
                <a:cs typeface="Times New Roman"/>
              </a:rPr>
              <a:t>prescriptivism,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investigations are based instead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descriptivism.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descriptivist approach, we </a:t>
            </a:r>
            <a:r>
              <a:rPr dirty="0" sz="1100">
                <a:latin typeface="Times New Roman"/>
                <a:cs typeface="Times New Roman"/>
              </a:rPr>
              <a:t>try 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behaviour </a:t>
            </a:r>
            <a:r>
              <a:rPr dirty="0" sz="1100">
                <a:latin typeface="Times New Roman"/>
                <a:cs typeface="Times New Roman"/>
              </a:rPr>
              <a:t>exactly as </a:t>
            </a:r>
            <a:r>
              <a:rPr dirty="0" sz="1100" spc="-5">
                <a:latin typeface="Times New Roman"/>
                <a:cs typeface="Times New Roman"/>
              </a:rPr>
              <a:t>we find them,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we refrain from making value </a:t>
            </a:r>
            <a:r>
              <a:rPr dirty="0" sz="1100">
                <a:latin typeface="Times New Roman"/>
                <a:cs typeface="Times New Roman"/>
              </a:rPr>
              <a:t>judgments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speech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instance,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take inventory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specific linguistic features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 speech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gamers,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enthusiasts, technology </a:t>
            </a:r>
            <a:r>
              <a:rPr dirty="0" sz="1100">
                <a:latin typeface="Times New Roman"/>
                <a:cs typeface="Times New Roman"/>
              </a:rPr>
              <a:t>majors),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the realm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descriptivism. </a:t>
            </a:r>
            <a:r>
              <a:rPr dirty="0" sz="1100">
                <a:latin typeface="Times New Roman"/>
                <a:cs typeface="Times New Roman"/>
              </a:rPr>
              <a:t>A speech </a:t>
            </a:r>
            <a:r>
              <a:rPr dirty="0" sz="1100" spc="-5">
                <a:latin typeface="Times New Roman"/>
                <a:cs typeface="Times New Roman"/>
              </a:rPr>
              <a:t>community,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Gumperz </a:t>
            </a:r>
            <a:r>
              <a:rPr dirty="0" sz="1100" spc="5">
                <a:latin typeface="Times New Roman"/>
                <a:cs typeface="Times New Roman"/>
              </a:rPr>
              <a:t>(1968, </a:t>
            </a:r>
            <a:r>
              <a:rPr dirty="0" sz="1100" spc="-5">
                <a:latin typeface="Times New Roman"/>
                <a:cs typeface="Times New Roman"/>
              </a:rPr>
              <a:t>p.381) points </a:t>
            </a:r>
            <a:r>
              <a:rPr dirty="0" sz="1100">
                <a:latin typeface="Times New Roman"/>
                <a:cs typeface="Times New Roman"/>
              </a:rPr>
              <a:t>out,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‘any </a:t>
            </a:r>
            <a:r>
              <a:rPr dirty="0" sz="1100" spc="-5">
                <a:latin typeface="Times New Roman"/>
                <a:cs typeface="Times New Roman"/>
              </a:rPr>
              <a:t>human aggregate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regular </a:t>
            </a:r>
            <a:r>
              <a:rPr dirty="0" sz="1100" spc="-5">
                <a:latin typeface="Times New Roman"/>
                <a:cs typeface="Times New Roman"/>
              </a:rPr>
              <a:t>and frequent interaction </a:t>
            </a:r>
            <a:r>
              <a:rPr dirty="0" sz="1100">
                <a:latin typeface="Times New Roman"/>
                <a:cs typeface="Times New Roman"/>
              </a:rPr>
              <a:t>by means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shared </a:t>
            </a:r>
            <a:r>
              <a:rPr dirty="0" sz="1100">
                <a:latin typeface="Times New Roman"/>
                <a:cs typeface="Times New Roman"/>
              </a:rPr>
              <a:t>body of </a:t>
            </a:r>
            <a:r>
              <a:rPr dirty="0" sz="1100" spc="-5">
                <a:latin typeface="Times New Roman"/>
                <a:cs typeface="Times New Roman"/>
              </a:rPr>
              <a:t>verbal signs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10">
                <a:latin typeface="Times New Roman"/>
                <a:cs typeface="Times New Roman"/>
              </a:rPr>
              <a:t>sets </a:t>
            </a:r>
            <a:r>
              <a:rPr dirty="0" sz="1100" spc="-10">
                <a:latin typeface="Times New Roman"/>
                <a:cs typeface="Times New Roman"/>
              </a:rPr>
              <a:t>off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aggregates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usage.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Descriptivism involves observing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analyzing, without passing </a:t>
            </a:r>
            <a:r>
              <a:rPr dirty="0" sz="1100">
                <a:latin typeface="Times New Roman"/>
                <a:cs typeface="Times New Roman"/>
              </a:rPr>
              <a:t>too </a:t>
            </a:r>
            <a:r>
              <a:rPr dirty="0" sz="1100" spc="-5">
                <a:latin typeface="Times New Roman"/>
                <a:cs typeface="Times New Roman"/>
              </a:rPr>
              <a:t>much judgment,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habits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practices within speech communities, focusing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language users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uses without </a:t>
            </a:r>
            <a:r>
              <a:rPr dirty="0" sz="1100">
                <a:latin typeface="Times New Roman"/>
                <a:cs typeface="Times New Roman"/>
              </a:rPr>
              <a:t>attempting to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>
                <a:latin typeface="Times New Roman"/>
                <a:cs typeface="Times New Roman"/>
              </a:rPr>
              <a:t> them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</a:t>
            </a:r>
            <a:r>
              <a:rPr dirty="0" sz="1100">
                <a:latin typeface="Times New Roman"/>
                <a:cs typeface="Times New Roman"/>
              </a:rPr>
              <a:t> 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according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standards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 spc="-10">
                <a:latin typeface="Times New Roman"/>
                <a:cs typeface="Times New Roman"/>
              </a:rPr>
              <a:t>aims </a:t>
            </a:r>
            <a:r>
              <a:rPr dirty="0" sz="1100">
                <a:latin typeface="Times New Roman"/>
                <a:cs typeface="Times New Roman"/>
              </a:rPr>
              <a:t>to understand </a:t>
            </a:r>
            <a:r>
              <a:rPr dirty="0" sz="1100" spc="-5">
                <a:latin typeface="Times New Roman"/>
                <a:cs typeface="Times New Roman"/>
              </a:rPr>
              <a:t>the ways </a:t>
            </a:r>
            <a:r>
              <a:rPr dirty="0" sz="1100">
                <a:latin typeface="Times New Roman"/>
                <a:cs typeface="Times New Roman"/>
              </a:rPr>
              <a:t>people use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world, given all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forces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 </a:t>
            </a:r>
            <a:r>
              <a:rPr dirty="0" sz="1100">
                <a:latin typeface="Times New Roman"/>
                <a:cs typeface="Times New Roman"/>
              </a:rPr>
              <a:t>such use. </a:t>
            </a:r>
            <a:r>
              <a:rPr dirty="0" sz="1100" spc="-5">
                <a:latin typeface="Times New Roman"/>
                <a:cs typeface="Times New Roman"/>
              </a:rPr>
              <a:t>Prescriptivism lies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other end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continuum and is usually </a:t>
            </a:r>
            <a:r>
              <a:rPr dirty="0" sz="1100" spc="-5">
                <a:latin typeface="Times New Roman"/>
                <a:cs typeface="Times New Roman"/>
              </a:rPr>
              <a:t>associated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 stipulating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use.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Non-Speculative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non-speculative. </a:t>
            </a:r>
            <a:r>
              <a:rPr dirty="0" sz="1100">
                <a:latin typeface="Times New Roman"/>
                <a:cs typeface="Times New Roman"/>
              </a:rPr>
              <a:t>So, the </a:t>
            </a:r>
            <a:r>
              <a:rPr dirty="0" sz="1100" spc="-5">
                <a:latin typeface="Times New Roman"/>
                <a:cs typeface="Times New Roman"/>
              </a:rPr>
              <a:t>main difference between scientific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non-scientific study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linguistics is empirical rather than speculative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intuitive.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operates with publically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verifiable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obtained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Speculative mood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epistemic grammatical mood </a:t>
            </a:r>
            <a:r>
              <a:rPr dirty="0" sz="1100">
                <a:latin typeface="Times New Roman"/>
                <a:cs typeface="Times New Roman"/>
              </a:rPr>
              <a:t>found 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languages, </a:t>
            </a:r>
            <a:r>
              <a:rPr dirty="0" sz="1100" spc="-5">
                <a:latin typeface="Times New Roman"/>
                <a:cs typeface="Times New Roman"/>
              </a:rPr>
              <a:t>which indicates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utterance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speculation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speaker, </a:t>
            </a:r>
            <a:r>
              <a:rPr dirty="0" sz="1100">
                <a:latin typeface="Times New Roman"/>
                <a:cs typeface="Times New Roman"/>
              </a:rPr>
              <a:t>and not </a:t>
            </a:r>
            <a:r>
              <a:rPr dirty="0" sz="1100" spc="-5">
                <a:latin typeface="Times New Roman"/>
                <a:cs typeface="Times New Roman"/>
              </a:rPr>
              <a:t>necessarily known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the case.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butler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been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killer.’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069: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Linguistics and Objectivity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Close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empiricism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considers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 equal’.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linguist,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primitive, pure, beautiful, </a:t>
            </a:r>
            <a:r>
              <a:rPr dirty="0" sz="1100">
                <a:latin typeface="Times New Roman"/>
                <a:cs typeface="Times New Roman"/>
              </a:rPr>
              <a:t>cultural, and </a:t>
            </a:r>
            <a:r>
              <a:rPr dirty="0" sz="1100" spc="-5">
                <a:latin typeface="Times New Roman"/>
                <a:cs typeface="Times New Roman"/>
              </a:rPr>
              <a:t>sophisticated languages.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 is difficult </a:t>
            </a:r>
            <a:r>
              <a:rPr dirty="0" sz="1100">
                <a:latin typeface="Times New Roman"/>
                <a:cs typeface="Times New Roman"/>
              </a:rPr>
              <a:t>to attain </a:t>
            </a:r>
            <a:r>
              <a:rPr dirty="0" sz="1100" spc="-5">
                <a:latin typeface="Times New Roman"/>
                <a:cs typeface="Times New Roman"/>
              </a:rPr>
              <a:t>because language </a:t>
            </a:r>
            <a:r>
              <a:rPr dirty="0" sz="1100">
                <a:latin typeface="Times New Roman"/>
                <a:cs typeface="Times New Roman"/>
              </a:rPr>
              <a:t>is so </a:t>
            </a:r>
            <a:r>
              <a:rPr dirty="0" sz="1100" spc="-5">
                <a:latin typeface="Times New Roman"/>
                <a:cs typeface="Times New Roman"/>
              </a:rPr>
              <a:t>familiar </a:t>
            </a:r>
            <a:r>
              <a:rPr dirty="0" sz="1100">
                <a:latin typeface="Times New Roman"/>
                <a:cs typeface="Times New Roman"/>
              </a:rPr>
              <a:t>to us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hardly </a:t>
            </a:r>
            <a:r>
              <a:rPr dirty="0" sz="1100" spc="-5">
                <a:latin typeface="Times New Roman"/>
                <a:cs typeface="Times New Roman"/>
              </a:rPr>
              <a:t>dissociate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ourselves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 familiarity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its</a:t>
            </a:r>
            <a:r>
              <a:rPr dirty="0" sz="1100" spc="-5">
                <a:latin typeface="Times New Roman"/>
                <a:cs typeface="Times New Roman"/>
              </a:rPr>
              <a:t> objective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sorts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social, </a:t>
            </a:r>
            <a:r>
              <a:rPr dirty="0" sz="1100" spc="-5">
                <a:latin typeface="Times New Roman"/>
                <a:cs typeface="Times New Roman"/>
              </a:rPr>
              <a:t>cultural,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nationalistic prejudices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associated with laypersons’ view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language(s).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objective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hindered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cultural,</a:t>
            </a:r>
            <a:r>
              <a:rPr dirty="0" sz="1100">
                <a:latin typeface="Times New Roman"/>
                <a:cs typeface="Times New Roman"/>
              </a:rPr>
              <a:t> social,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linguistics, objectivity also means </a:t>
            </a:r>
            <a:r>
              <a:rPr dirty="0" sz="1100">
                <a:latin typeface="Times New Roman"/>
                <a:cs typeface="Times New Roman"/>
              </a:rPr>
              <a:t>that the </a:t>
            </a:r>
            <a:r>
              <a:rPr dirty="0" sz="1100" spc="-5">
                <a:latin typeface="Times New Roman"/>
                <a:cs typeface="Times New Roman"/>
              </a:rPr>
              <a:t>linguist and </a:t>
            </a:r>
            <a:r>
              <a:rPr dirty="0" sz="1100">
                <a:latin typeface="Times New Roman"/>
                <a:cs typeface="Times New Roman"/>
              </a:rPr>
              <a:t>his </a:t>
            </a:r>
            <a:r>
              <a:rPr dirty="0" sz="1100" spc="-5">
                <a:latin typeface="Times New Roman"/>
                <a:cs typeface="Times New Roman"/>
              </a:rPr>
              <a:t>informants are distinct.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linguist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listens; his informants talk. Questions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reproducibility </a:t>
            </a:r>
            <a:r>
              <a:rPr dirty="0" sz="1100">
                <a:latin typeface="Times New Roman"/>
                <a:cs typeface="Times New Roman"/>
              </a:rPr>
              <a:t>are different.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taken for granted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language</a:t>
            </a:r>
            <a:r>
              <a:rPr dirty="0" sz="1100">
                <a:latin typeface="Times New Roman"/>
                <a:cs typeface="Times New Roman"/>
              </a:rPr>
              <a:t> since </a:t>
            </a:r>
            <a:r>
              <a:rPr dirty="0" sz="1100" spc="-5">
                <a:latin typeface="Times New Roman"/>
                <a:cs typeface="Times New Roman"/>
              </a:rPr>
              <a:t>childhood 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unreflective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manner.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example, one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purer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Objectivity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demands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5383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35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prescriptive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challenged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primitive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-5">
                <a:latin typeface="Times New Roman"/>
                <a:cs typeface="Times New Roman"/>
              </a:rPr>
              <a:t>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rejected.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Linguistics and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Spoken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A spoken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produced by </a:t>
            </a:r>
            <a:r>
              <a:rPr dirty="0" sz="1100" spc="-5">
                <a:latin typeface="Times New Roman"/>
                <a:cs typeface="Times New Roman"/>
              </a:rPr>
              <a:t>articulate </a:t>
            </a:r>
            <a:r>
              <a:rPr dirty="0" sz="1100">
                <a:latin typeface="Times New Roman"/>
                <a:cs typeface="Times New Roman"/>
              </a:rPr>
              <a:t>sounds, as opposed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written language.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 </a:t>
            </a:r>
            <a:r>
              <a:rPr dirty="0" sz="1100" spc="-5">
                <a:latin typeface="Times New Roman"/>
                <a:cs typeface="Times New Roman"/>
              </a:rPr>
              <a:t>languages have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written form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are only </a:t>
            </a:r>
            <a:r>
              <a:rPr dirty="0" sz="1100">
                <a:latin typeface="Times New Roman"/>
                <a:cs typeface="Times New Roman"/>
              </a:rPr>
              <a:t>spoken.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current </a:t>
            </a:r>
            <a:r>
              <a:rPr dirty="0" sz="1100">
                <a:latin typeface="Times New Roman"/>
                <a:cs typeface="Times New Roman"/>
              </a:rPr>
              <a:t> consensus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capability,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oral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vocal 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produced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vocal </a:t>
            </a:r>
            <a:r>
              <a:rPr dirty="0" sz="1100">
                <a:latin typeface="Times New Roman"/>
                <a:cs typeface="Times New Roman"/>
              </a:rPr>
              <a:t>tract, as opposed to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 language,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is produced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hands and face.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‘spoken language’ is </a:t>
            </a:r>
            <a:r>
              <a:rPr dirty="0" sz="1100" spc="-5">
                <a:latin typeface="Times New Roman"/>
                <a:cs typeface="Times New Roman"/>
              </a:rPr>
              <a:t>sometimes 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>
                <a:latin typeface="Times New Roman"/>
                <a:cs typeface="Times New Roman"/>
              </a:rPr>
              <a:t> 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especially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by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excluding </a:t>
            </a:r>
            <a:r>
              <a:rPr dirty="0" sz="1100" spc="-5">
                <a:latin typeface="Times New Roman"/>
                <a:cs typeface="Times New Roman"/>
              </a:rPr>
              <a:t>sign languages. Others refer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sign language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‘spoken’, especially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contrast to written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transcriptions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the context. </a:t>
            </a:r>
            <a:r>
              <a:rPr dirty="0" sz="1100" spc="-5">
                <a:latin typeface="Times New Roman"/>
                <a:cs typeface="Times New Roman"/>
              </a:rPr>
              <a:t>That contrasts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 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more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meaning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provided directly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text.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language,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proposition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common-sense reference to </a:t>
            </a:r>
            <a:r>
              <a:rPr dirty="0" sz="1100" spc="-5">
                <a:latin typeface="Times New Roman"/>
                <a:cs typeface="Times New Roman"/>
              </a:rPr>
              <a:t>experience.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relationship between </a:t>
            </a:r>
            <a:r>
              <a:rPr dirty="0" sz="1100">
                <a:latin typeface="Times New Roman"/>
                <a:cs typeface="Times New Roman"/>
              </a:rPr>
              <a:t> spoken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written language is complex. Within </a:t>
            </a:r>
            <a:r>
              <a:rPr dirty="0" sz="1100">
                <a:latin typeface="Times New Roman"/>
                <a:cs typeface="Times New Roman"/>
              </a:rPr>
              <a:t>the field of </a:t>
            </a:r>
            <a:r>
              <a:rPr dirty="0" sz="1100" spc="-5">
                <a:latin typeface="Times New Roman"/>
                <a:cs typeface="Times New Roman"/>
              </a:rPr>
              <a:t>linguistics, the current consensus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an innate </a:t>
            </a:r>
            <a:r>
              <a:rPr dirty="0" sz="1100" spc="-5">
                <a:latin typeface="Times New Roman"/>
                <a:cs typeface="Times New Roman"/>
              </a:rPr>
              <a:t>human capability,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written 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cultural invention. </a:t>
            </a:r>
            <a:r>
              <a:rPr dirty="0" sz="1100">
                <a:latin typeface="Times New Roman"/>
                <a:cs typeface="Times New Roman"/>
              </a:rPr>
              <a:t>However,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Prague school, argue that written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spoken language possess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 qualities which would argue against written language </a:t>
            </a:r>
            <a:r>
              <a:rPr dirty="0" sz="1100">
                <a:latin typeface="Times New Roman"/>
                <a:cs typeface="Times New Roman"/>
              </a:rPr>
              <a:t>being dependent on spoken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for its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Accordingly,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exclusively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view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 study individual human languages </a:t>
            </a:r>
            <a:r>
              <a:rPr dirty="0" sz="1100">
                <a:latin typeface="Times New Roman"/>
                <a:cs typeface="Times New Roman"/>
              </a:rPr>
              <a:t>and linguistic behaviour in </a:t>
            </a:r>
            <a:r>
              <a:rPr dirty="0" sz="1100" spc="-5">
                <a:latin typeface="Times New Roman"/>
                <a:cs typeface="Times New Roman"/>
              </a:rPr>
              <a:t>order to discover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fundamental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general human language. Through this enterprise, </a:t>
            </a:r>
            <a:r>
              <a:rPr dirty="0" sz="1100">
                <a:latin typeface="Times New Roman"/>
                <a:cs typeface="Times New Roman"/>
              </a:rPr>
              <a:t>they also hope to </a:t>
            </a:r>
            <a:r>
              <a:rPr dirty="0" sz="1100" spc="-5">
                <a:latin typeface="Times New Roman"/>
                <a:cs typeface="Times New Roman"/>
              </a:rPr>
              <a:t>discover 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fundamental 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human.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importance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languages goes far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endeavours.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27171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Lesson-13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PHONETICS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ITS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BRANCHES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071: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Phonetics and phonology </a:t>
            </a:r>
            <a:r>
              <a:rPr dirty="0" sz="1100">
                <a:latin typeface="Times New Roman"/>
                <a:cs typeface="Times New Roman"/>
              </a:rPr>
              <a:t>deal </a:t>
            </a:r>
            <a:r>
              <a:rPr dirty="0" sz="1100" spc="-5">
                <a:latin typeface="Times New Roman"/>
                <a:cs typeface="Times New Roman"/>
              </a:rPr>
              <a:t>with pronunciation, </a:t>
            </a:r>
            <a:r>
              <a:rPr dirty="0" sz="1100">
                <a:latin typeface="Times New Roman"/>
                <a:cs typeface="Times New Roman"/>
              </a:rPr>
              <a:t>or, </a:t>
            </a:r>
            <a:r>
              <a:rPr dirty="0" sz="1100" spc="-5">
                <a:latin typeface="Times New Roman"/>
                <a:cs typeface="Times New Roman"/>
              </a:rPr>
              <a:t>more precisely, with speech </a:t>
            </a:r>
            <a:r>
              <a:rPr dirty="0" sz="1100">
                <a:latin typeface="Times New Roman"/>
                <a:cs typeface="Times New Roman"/>
              </a:rPr>
              <a:t>sounds 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sound </a:t>
            </a:r>
            <a:r>
              <a:rPr dirty="0" sz="1100" spc="-5">
                <a:latin typeface="Times New Roman"/>
                <a:cs typeface="Times New Roman"/>
              </a:rPr>
              <a:t>system.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all, phonetics divides,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segments concrete utterances into individual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sounds.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exclusively</a:t>
            </a:r>
            <a:r>
              <a:rPr dirty="0" sz="1100" spc="3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with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parole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performance.</a:t>
            </a:r>
            <a:r>
              <a:rPr dirty="0" sz="1100" spc="3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Phonetics</a:t>
            </a:r>
            <a:r>
              <a:rPr dirty="0" sz="1100" spc="3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(pronounced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/fəˈnɛtɪks/, 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Greek means </a:t>
            </a:r>
            <a:r>
              <a:rPr dirty="0" sz="1100">
                <a:latin typeface="Times New Roman"/>
                <a:cs typeface="Times New Roman"/>
              </a:rPr>
              <a:t>sound, </a:t>
            </a:r>
            <a:r>
              <a:rPr dirty="0" sz="1100" spc="-5">
                <a:latin typeface="Times New Roman"/>
                <a:cs typeface="Times New Roman"/>
              </a:rPr>
              <a:t>voice)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that comprises the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human</a:t>
            </a:r>
            <a:r>
              <a:rPr dirty="0" sz="1100">
                <a:latin typeface="Times New Roman"/>
                <a:cs typeface="Times New Roman"/>
              </a:rPr>
              <a:t> speech,</a:t>
            </a:r>
            <a:r>
              <a:rPr dirty="0" sz="1100" spc="5">
                <a:latin typeface="Times New Roman"/>
                <a:cs typeface="Times New Roman"/>
              </a:rPr>
              <a:t> or—in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sign</a:t>
            </a:r>
            <a:r>
              <a:rPr dirty="0" sz="1100">
                <a:latin typeface="Times New Roman"/>
                <a:cs typeface="Times New Roman"/>
              </a:rPr>
              <a:t> languages—the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(phones):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physiological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production,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1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acoustic properties, auditory </a:t>
            </a:r>
            <a:r>
              <a:rPr dirty="0" sz="1100">
                <a:latin typeface="Times New Roman"/>
                <a:cs typeface="Times New Roman"/>
              </a:rPr>
              <a:t>perception, and </a:t>
            </a:r>
            <a:r>
              <a:rPr dirty="0" sz="1100" spc="-5">
                <a:latin typeface="Times New Roman"/>
                <a:cs typeface="Times New Roman"/>
              </a:rPr>
              <a:t>neurophysiological </a:t>
            </a:r>
            <a:r>
              <a:rPr dirty="0" sz="1100">
                <a:latin typeface="Times New Roman"/>
                <a:cs typeface="Times New Roman"/>
              </a:rPr>
              <a:t>status. </a:t>
            </a:r>
            <a:r>
              <a:rPr dirty="0" sz="1100" spc="-5">
                <a:latin typeface="Times New Roman"/>
                <a:cs typeface="Times New Roman"/>
              </a:rPr>
              <a:t>Phonology, </a:t>
            </a:r>
            <a:r>
              <a:rPr dirty="0" sz="1100">
                <a:latin typeface="Times New Roman"/>
                <a:cs typeface="Times New Roman"/>
              </a:rPr>
              <a:t>on the other hand,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concerned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encompasses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breadth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8753652"/>
            <a:ext cx="596582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Phonetics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phases: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(1)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articulatory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phonetics,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(2)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acoustic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(3)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00" y="3786251"/>
            <a:ext cx="5227249" cy="33094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22" y="7374015"/>
            <a:ext cx="5610747" cy="11477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7984"/>
            <a:ext cx="5971540" cy="74752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469265" marR="5080" indent="-228600">
              <a:lnSpc>
                <a:spcPct val="103699"/>
              </a:lnSpc>
              <a:spcBef>
                <a:spcPts val="55"/>
              </a:spcBef>
              <a:buAutoNum type="arabicParenR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Articulatory phonetics </a:t>
            </a:r>
            <a:r>
              <a:rPr dirty="0" sz="1100" spc="-5">
                <a:latin typeface="Times New Roman"/>
                <a:cs typeface="Times New Roman"/>
              </a:rPr>
              <a:t>describes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detail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organs, also called vocal organs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articulators,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vocal tract are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articulate, speech </a:t>
            </a:r>
            <a:r>
              <a:rPr dirty="0" sz="1100">
                <a:latin typeface="Times New Roman"/>
                <a:cs typeface="Times New Roman"/>
              </a:rPr>
              <a:t>sounds.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organs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arenR"/>
            </a:pPr>
            <a:endParaRPr sz="115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03299"/>
              </a:lnSpc>
              <a:buAutoNum type="arabicParenR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Acoustic phonetics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physical properties </a:t>
            </a:r>
            <a:r>
              <a:rPr dirty="0" sz="1100">
                <a:latin typeface="Times New Roman"/>
                <a:cs typeface="Times New Roman"/>
              </a:rPr>
              <a:t>of speech sounds i.e., </a:t>
            </a:r>
            <a:r>
              <a:rPr dirty="0" sz="1100" spc="-5">
                <a:latin typeface="Times New Roman"/>
                <a:cs typeface="Times New Roman"/>
              </a:rPr>
              <a:t>the way in which the air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vibrates </a:t>
            </a:r>
            <a:r>
              <a:rPr dirty="0" sz="1100">
                <a:latin typeface="Times New Roman"/>
                <a:cs typeface="Times New Roman"/>
              </a:rPr>
              <a:t>as sounds </a:t>
            </a:r>
            <a:r>
              <a:rPr dirty="0" sz="1100" spc="-5">
                <a:latin typeface="Times New Roman"/>
                <a:cs typeface="Times New Roman"/>
              </a:rPr>
              <a:t>pass from </a:t>
            </a:r>
            <a:r>
              <a:rPr dirty="0" sz="1100">
                <a:latin typeface="Times New Roman"/>
                <a:cs typeface="Times New Roman"/>
              </a:rPr>
              <a:t>speaker to listener. A </a:t>
            </a:r>
            <a:r>
              <a:rPr dirty="0" sz="1100" spc="-5">
                <a:latin typeface="Times New Roman"/>
                <a:cs typeface="Times New Roman"/>
              </a:rPr>
              <a:t>spectrograph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machine that measures the </a:t>
            </a:r>
            <a:r>
              <a:rPr dirty="0" sz="1100">
                <a:latin typeface="Times New Roman"/>
                <a:cs typeface="Times New Roman"/>
              </a:rPr>
              <a:t> 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depicts</a:t>
            </a:r>
            <a:r>
              <a:rPr dirty="0" sz="1100">
                <a:latin typeface="Times New Roman"/>
                <a:cs typeface="Times New Roman"/>
              </a:rPr>
              <a:t> them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spectrograms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sonograms,</a:t>
            </a:r>
            <a:r>
              <a:rPr dirty="0" sz="1100">
                <a:latin typeface="Times New Roman"/>
                <a:cs typeface="Times New Roman"/>
              </a:rPr>
              <a:t> showing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frequency,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intensity,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quality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arenR"/>
            </a:pPr>
            <a:endParaRPr sz="1250">
              <a:latin typeface="Times New Roman"/>
              <a:cs typeface="Times New Roman"/>
            </a:endParaRPr>
          </a:p>
          <a:p>
            <a:pPr algn="just" marL="469265" marR="5080" indent="-228600">
              <a:lnSpc>
                <a:spcPct val="103499"/>
              </a:lnSpc>
              <a:spcBef>
                <a:spcPts val="5"/>
              </a:spcBef>
              <a:buAutoNum type="arabicParenR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Auditory </a:t>
            </a:r>
            <a:r>
              <a:rPr dirty="0" sz="1100" spc="-5" b="1">
                <a:latin typeface="Times New Roman"/>
                <a:cs typeface="Times New Roman"/>
              </a:rPr>
              <a:t>phonetics </a:t>
            </a:r>
            <a:r>
              <a:rPr dirty="0" sz="1100" spc="-5">
                <a:latin typeface="Times New Roman"/>
                <a:cs typeface="Times New Roman"/>
              </a:rPr>
              <a:t>investigates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perception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 sounds by </a:t>
            </a:r>
            <a:r>
              <a:rPr dirty="0" sz="1100" spc="-5">
                <a:latin typeface="Times New Roman"/>
                <a:cs typeface="Times New Roman"/>
              </a:rPr>
              <a:t>the listener i.e.,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sounds are </a:t>
            </a:r>
            <a:r>
              <a:rPr dirty="0" sz="1100" spc="-5">
                <a:latin typeface="Times New Roman"/>
                <a:cs typeface="Times New Roman"/>
              </a:rPr>
              <a:t>transmitted from </a:t>
            </a:r>
            <a:r>
              <a:rPr dirty="0" sz="1100">
                <a:latin typeface="Times New Roman"/>
                <a:cs typeface="Times New Roman"/>
              </a:rPr>
              <a:t>the ear to </a:t>
            </a:r>
            <a:r>
              <a:rPr dirty="0" sz="1100" spc="-5">
                <a:latin typeface="Times New Roman"/>
                <a:cs typeface="Times New Roman"/>
              </a:rPr>
              <a:t>the brain, </a:t>
            </a:r>
            <a:r>
              <a:rPr dirty="0" sz="1100">
                <a:latin typeface="Times New Roman"/>
                <a:cs typeface="Times New Roman"/>
              </a:rPr>
              <a:t>and how they are </a:t>
            </a:r>
            <a:r>
              <a:rPr dirty="0" sz="1100" spc="-5">
                <a:latin typeface="Times New Roman"/>
                <a:cs typeface="Times New Roman"/>
              </a:rPr>
              <a:t>processed.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focuses 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effect those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have when they reach the listener's </a:t>
            </a:r>
            <a:r>
              <a:rPr dirty="0" sz="1100">
                <a:latin typeface="Times New Roman"/>
                <a:cs typeface="Times New Roman"/>
              </a:rPr>
              <a:t>ear and brain. </a:t>
            </a: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thus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field that draws heavily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other scientific disciplines including anatomy, physiology,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neurology, </a:t>
            </a:r>
            <a:r>
              <a:rPr dirty="0" sz="1100">
                <a:latin typeface="Times New Roman"/>
                <a:cs typeface="Times New Roman"/>
              </a:rPr>
              <a:t>and physics.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072: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Nature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Functions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scientific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does not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individual language; </a:t>
            </a:r>
            <a:r>
              <a:rPr dirty="0" sz="1100">
                <a:latin typeface="Times New Roman"/>
                <a:cs typeface="Times New Roman"/>
              </a:rPr>
              <a:t>rather 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studies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general.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concerned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and communication.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linguistics. </a:t>
            </a:r>
            <a:r>
              <a:rPr dirty="0" sz="1100" spc="-10">
                <a:latin typeface="Times New Roman"/>
                <a:cs typeface="Times New Roman"/>
              </a:rPr>
              <a:t>Like </a:t>
            </a:r>
            <a:r>
              <a:rPr dirty="0" sz="1100" spc="-5">
                <a:latin typeface="Times New Roman"/>
                <a:cs typeface="Times New Roman"/>
              </a:rPr>
              <a:t>human body,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very complex. Language </a:t>
            </a:r>
            <a:r>
              <a:rPr dirty="0" sz="1100">
                <a:latin typeface="Times New Roman"/>
                <a:cs typeface="Times New Roman"/>
              </a:rPr>
              <a:t>system </a:t>
            </a:r>
            <a:r>
              <a:rPr dirty="0" sz="1100" spc="-5">
                <a:latin typeface="Times New Roman"/>
                <a:cs typeface="Times New Roman"/>
              </a:rPr>
              <a:t>functions because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structures, </a:t>
            </a:r>
            <a:r>
              <a:rPr dirty="0" sz="1100">
                <a:latin typeface="Times New Roman"/>
                <a:cs typeface="Times New Roman"/>
              </a:rPr>
              <a:t>sounds,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 works through symbols. Symbols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known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listener.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inherent function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man.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1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instrument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society. Language </a:t>
            </a:r>
            <a:r>
              <a:rPr dirty="0" sz="1100">
                <a:latin typeface="Times New Roman"/>
                <a:cs typeface="Times New Roman"/>
              </a:rPr>
              <a:t>does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remain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vacuum. Language </a:t>
            </a:r>
            <a:r>
              <a:rPr dirty="0" sz="1100">
                <a:latin typeface="Times New Roman"/>
                <a:cs typeface="Times New Roman"/>
              </a:rPr>
              <a:t>is flexible; </a:t>
            </a:r>
            <a:r>
              <a:rPr dirty="0" sz="1100" spc="-5">
                <a:latin typeface="Times New Roman"/>
                <a:cs typeface="Times New Roman"/>
              </a:rPr>
              <a:t>it changes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 quenches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linguist’s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thirst;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mysteries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language;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improving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reforming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usage.</a:t>
            </a:r>
            <a:endParaRPr sz="1100">
              <a:latin typeface="Times New Roman"/>
              <a:cs typeface="Times New Roman"/>
            </a:endParaRPr>
          </a:p>
          <a:p>
            <a:pPr marL="12700" marR="3881754">
              <a:lnSpc>
                <a:spcPct val="220900"/>
              </a:lnSpc>
              <a:spcBef>
                <a:spcPts val="1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Topic- 073: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Articulatory Phonetics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Articulatory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4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production </a:t>
            </a:r>
            <a:r>
              <a:rPr dirty="0" sz="1100">
                <a:latin typeface="Times New Roman"/>
                <a:cs typeface="Times New Roman"/>
              </a:rPr>
              <a:t>of speech sounds. </a:t>
            </a:r>
            <a:r>
              <a:rPr dirty="0" sz="1100" spc="-5">
                <a:latin typeface="Times New Roman"/>
                <a:cs typeface="Times New Roman"/>
              </a:rPr>
              <a:t>Unlike auditory </a:t>
            </a:r>
            <a:r>
              <a:rPr dirty="0" sz="1100">
                <a:latin typeface="Times New Roman"/>
                <a:cs typeface="Times New Roman"/>
              </a:rPr>
              <a:t>phonetics, </a:t>
            </a:r>
            <a:r>
              <a:rPr dirty="0" sz="1100" spc="-5">
                <a:latin typeface="Times New Roman"/>
                <a:cs typeface="Times New Roman"/>
              </a:rPr>
              <a:t>articulatory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discusses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manifestation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in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waves; how these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are articulated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perceived, characteristics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transcription.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-5">
                <a:latin typeface="Times New Roman"/>
                <a:cs typeface="Times New Roman"/>
              </a:rPr>
              <a:t> fall 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said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69635" cy="2593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Articulatory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Airstream: </a:t>
            </a:r>
            <a:r>
              <a:rPr dirty="0" sz="1100">
                <a:latin typeface="Times New Roman"/>
                <a:cs typeface="Times New Roman"/>
              </a:rPr>
              <a:t>a stream of </a:t>
            </a:r>
            <a:r>
              <a:rPr dirty="0" sz="1100" spc="-5">
                <a:latin typeface="Times New Roman"/>
                <a:cs typeface="Times New Roman"/>
              </a:rPr>
              <a:t>air coming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lungs produces </a:t>
            </a:r>
            <a:r>
              <a:rPr dirty="0" sz="1100">
                <a:latin typeface="Times New Roman"/>
                <a:cs typeface="Times New Roman"/>
              </a:rPr>
              <a:t>speech. </a:t>
            </a:r>
            <a:r>
              <a:rPr dirty="0" sz="1100" spc="-5">
                <a:latin typeface="Times New Roman"/>
                <a:cs typeface="Times New Roman"/>
              </a:rPr>
              <a:t>The lungs act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bellows, </a:t>
            </a:r>
            <a:r>
              <a:rPr dirty="0" sz="1100">
                <a:latin typeface="Times New Roman"/>
                <a:cs typeface="Times New Roman"/>
              </a:rPr>
              <a:t> pushing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throat, </a:t>
            </a:r>
            <a:r>
              <a:rPr dirty="0" sz="1100" spc="-5">
                <a:latin typeface="Times New Roman"/>
                <a:cs typeface="Times New Roman"/>
              </a:rPr>
              <a:t>nose,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mouth.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Ingressive Sounds: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produced while inhaling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called ingressive </a:t>
            </a:r>
            <a:r>
              <a:rPr dirty="0" sz="1100">
                <a:latin typeface="Times New Roman"/>
                <a:cs typeface="Times New Roman"/>
              </a:rPr>
              <a:t>sounds.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does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>
                <a:latin typeface="Times New Roman"/>
                <a:cs typeface="Times New Roman"/>
              </a:rPr>
              <a:t> 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b="1">
                <a:latin typeface="Times New Roman"/>
                <a:cs typeface="Times New Roman"/>
              </a:rPr>
              <a:t>Egressive </a:t>
            </a:r>
            <a:r>
              <a:rPr dirty="0" sz="1100" spc="-5" b="1">
                <a:latin typeface="Times New Roman"/>
                <a:cs typeface="Times New Roman"/>
              </a:rPr>
              <a:t>Sounds: </a:t>
            </a:r>
            <a:r>
              <a:rPr dirty="0" sz="1100" spc="-5">
                <a:latin typeface="Times New Roman"/>
                <a:cs typeface="Times New Roman"/>
              </a:rPr>
              <a:t>Sounds </a:t>
            </a:r>
            <a:r>
              <a:rPr dirty="0" sz="1100">
                <a:latin typeface="Times New Roman"/>
                <a:cs typeface="Times New Roman"/>
              </a:rPr>
              <a:t>produced by expelling air are </a:t>
            </a:r>
            <a:r>
              <a:rPr dirty="0" sz="1100" spc="-5">
                <a:latin typeface="Times New Roman"/>
                <a:cs typeface="Times New Roman"/>
              </a:rPr>
              <a:t>called egressive sounds. All languages </a:t>
            </a:r>
            <a:r>
              <a:rPr dirty="0" sz="1100">
                <a:latin typeface="Times New Roman"/>
                <a:cs typeface="Times New Roman"/>
              </a:rPr>
              <a:t> produce</a:t>
            </a:r>
            <a:r>
              <a:rPr dirty="0" sz="1100" spc="-5">
                <a:latin typeface="Times New Roman"/>
                <a:cs typeface="Times New Roman"/>
              </a:rPr>
              <a:t> sounds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expelling.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600"/>
              </a:lnSpc>
            </a:pPr>
            <a:r>
              <a:rPr dirty="0" sz="1100" spc="-5">
                <a:latin typeface="Times New Roman"/>
                <a:cs typeface="Times New Roman"/>
              </a:rPr>
              <a:t>Organs </a:t>
            </a:r>
            <a:r>
              <a:rPr dirty="0" sz="1100">
                <a:latin typeface="Times New Roman"/>
                <a:cs typeface="Times New Roman"/>
              </a:rPr>
              <a:t>of Speech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Articulators: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air is modified </a:t>
            </a:r>
            <a:r>
              <a:rPr dirty="0" sz="1100">
                <a:latin typeface="Times New Roman"/>
                <a:cs typeface="Times New Roman"/>
              </a:rPr>
              <a:t>by the structures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respiratory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digestive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before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released.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articulators.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958050"/>
            <a:ext cx="5969635" cy="1873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 indent="456565">
              <a:lnSpc>
                <a:spcPct val="110100"/>
              </a:lnSpc>
              <a:spcBef>
                <a:spcPts val="9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phoneticians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>
                <a:latin typeface="Times New Roman"/>
                <a:cs typeface="Times New Roman"/>
              </a:rPr>
              <a:t> 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physiological </a:t>
            </a:r>
            <a:r>
              <a:rPr dirty="0" sz="1100">
                <a:latin typeface="Times New Roman"/>
                <a:cs typeface="Times New Roman"/>
              </a:rPr>
              <a:t>structures. </a:t>
            </a:r>
            <a:r>
              <a:rPr dirty="0" sz="1100" spc="-5">
                <a:latin typeface="Times New Roman"/>
                <a:cs typeface="Times New Roman"/>
              </a:rPr>
              <a:t>Generally, articulatory phonetics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concerned with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aerodynamic</a:t>
            </a:r>
            <a:r>
              <a:rPr dirty="0" sz="1100">
                <a:latin typeface="Times New Roman"/>
                <a:cs typeface="Times New Roman"/>
              </a:rPr>
              <a:t> energy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acoustic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energy.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Acoustic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Acoustic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vocal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 communication. Phoneticians depict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analyze sound waves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machines and computer programs. </a:t>
            </a:r>
            <a:r>
              <a:rPr dirty="0" sz="1100">
                <a:latin typeface="Times New Roman"/>
                <a:cs typeface="Times New Roman"/>
              </a:rPr>
              <a:t> Speech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variations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air pressure which result from </a:t>
            </a:r>
            <a:r>
              <a:rPr dirty="0" sz="1100">
                <a:latin typeface="Times New Roman"/>
                <a:cs typeface="Times New Roman"/>
              </a:rPr>
              <a:t>physical </a:t>
            </a:r>
            <a:r>
              <a:rPr dirty="0" sz="1100" spc="-5">
                <a:latin typeface="Times New Roman"/>
                <a:cs typeface="Times New Roman"/>
              </a:rPr>
              <a:t>disturbances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air molecules </a:t>
            </a:r>
            <a:r>
              <a:rPr dirty="0" sz="1100">
                <a:latin typeface="Times New Roman"/>
                <a:cs typeface="Times New Roman"/>
              </a:rPr>
              <a:t> caused 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flow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lungs.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airflow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molecules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crowd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36420" y="3537208"/>
            <a:ext cx="4554220" cy="3028315"/>
            <a:chOff x="1836420" y="3537208"/>
            <a:chExt cx="4554220" cy="30283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6420" y="3537208"/>
              <a:ext cx="4553711" cy="30281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375" y="3557904"/>
              <a:ext cx="4457700" cy="29337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55724" y="3556253"/>
              <a:ext cx="4460875" cy="2936875"/>
            </a:xfrm>
            <a:custGeom>
              <a:avLst/>
              <a:gdLst/>
              <a:ahLst/>
              <a:cxnLst/>
              <a:rect l="l" t="t" r="r" b="b"/>
              <a:pathLst>
                <a:path w="4460875" h="2936875">
                  <a:moveTo>
                    <a:pt x="0" y="2936875"/>
                  </a:moveTo>
                  <a:lnTo>
                    <a:pt x="4460875" y="2936875"/>
                  </a:lnTo>
                  <a:lnTo>
                    <a:pt x="4460875" y="0"/>
                  </a:lnTo>
                  <a:lnTo>
                    <a:pt x="0" y="0"/>
                  </a:lnTo>
                  <a:lnTo>
                    <a:pt x="0" y="29368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6460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move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apart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(oscillate),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decreases,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respectively,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wave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transmits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changes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391636"/>
            <a:ext cx="5970905" cy="37198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1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waves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cycle, period, frequency,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amplitude. </a:t>
            </a:r>
            <a:r>
              <a:rPr dirty="0" sz="1100">
                <a:latin typeface="Times New Roman"/>
                <a:cs typeface="Times New Roman"/>
              </a:rPr>
              <a:t>A cycle is a </a:t>
            </a:r>
            <a:r>
              <a:rPr dirty="0" sz="1100" spc="-5">
                <a:latin typeface="Times New Roman"/>
                <a:cs typeface="Times New Roman"/>
              </a:rPr>
              <a:t>sequence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one decrease in air pressure.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period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(expressed in seconds or </a:t>
            </a:r>
            <a:r>
              <a:rPr dirty="0" sz="1100" spc="-5">
                <a:latin typeface="Times New Roman"/>
                <a:cs typeface="Times New Roman"/>
              </a:rPr>
              <a:t>milliseconds) that </a:t>
            </a:r>
            <a:r>
              <a:rPr dirty="0" sz="1100">
                <a:latin typeface="Times New Roman"/>
                <a:cs typeface="Times New Roman"/>
              </a:rPr>
              <a:t>one cycle </a:t>
            </a:r>
            <a:r>
              <a:rPr dirty="0" sz="1100" spc="-5">
                <a:latin typeface="Times New Roman"/>
                <a:cs typeface="Times New Roman"/>
              </a:rPr>
              <a:t>takes. Frequency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cycles in </a:t>
            </a: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second, expressed in </a:t>
            </a:r>
            <a:r>
              <a:rPr dirty="0" sz="1100" spc="-5">
                <a:latin typeface="Times New Roman"/>
                <a:cs typeface="Times New Roman"/>
              </a:rPr>
              <a:t>hertz (Hz). An </a:t>
            </a:r>
            <a:r>
              <a:rPr dirty="0" sz="1100">
                <a:latin typeface="Times New Roman"/>
                <a:cs typeface="Times New Roman"/>
              </a:rPr>
              <a:t>increase in </a:t>
            </a:r>
            <a:r>
              <a:rPr dirty="0" sz="1100" spc="-5">
                <a:latin typeface="Times New Roman"/>
                <a:cs typeface="Times New Roman"/>
              </a:rPr>
              <a:t>frequency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results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 </a:t>
            </a:r>
            <a:r>
              <a:rPr dirty="0" sz="1100" spc="-5">
                <a:latin typeface="Times New Roman"/>
                <a:cs typeface="Times New Roman"/>
              </a:rPr>
              <a:t>pitch.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Amplitude</a:t>
            </a:r>
            <a:r>
              <a:rPr dirty="0" sz="1100">
                <a:latin typeface="Times New Roman"/>
                <a:cs typeface="Times New Roman"/>
              </a:rPr>
              <a:t> refers 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magnitude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vibrations,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 vibrations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resulting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 peaks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pressure (greater </a:t>
            </a:r>
            <a:r>
              <a:rPr dirty="0" sz="1100">
                <a:latin typeface="Times New Roman"/>
                <a:cs typeface="Times New Roman"/>
              </a:rPr>
              <a:t>amplitude),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perceived loudness.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>
                <a:latin typeface="Times New Roman"/>
                <a:cs typeface="Times New Roman"/>
              </a:rPr>
              <a:t> pure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rarely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environment,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frequencies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amplitudes.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Auditory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auditory </a:t>
            </a:r>
            <a:r>
              <a:rPr dirty="0" sz="1100" spc="-5">
                <a:latin typeface="Times New Roman"/>
                <a:cs typeface="Times New Roman"/>
              </a:rPr>
              <a:t>phonetics, we are dealing with two distinct operations that are closely interrelated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 each other: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hand,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talk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audition proper, that </a:t>
            </a:r>
            <a:r>
              <a:rPr dirty="0" sz="1100" spc="10">
                <a:latin typeface="Times New Roman"/>
                <a:cs typeface="Times New Roman"/>
              </a:rPr>
              <a:t>is,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perception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sounds </a:t>
            </a:r>
            <a:r>
              <a:rPr dirty="0" sz="1100">
                <a:latin typeface="Times New Roman"/>
                <a:cs typeface="Times New Roman"/>
              </a:rPr>
              <a:t> by our auditory apparatus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transforming </a:t>
            </a:r>
            <a:r>
              <a:rPr dirty="0" sz="1100">
                <a:latin typeface="Times New Roman"/>
                <a:cs typeface="Times New Roman"/>
              </a:rPr>
              <a:t>of the information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a neural </a:t>
            </a:r>
            <a:r>
              <a:rPr dirty="0" sz="1100" spc="-10">
                <a:latin typeface="Times New Roman"/>
                <a:cs typeface="Times New Roman"/>
              </a:rPr>
              <a:t>sign </a:t>
            </a:r>
            <a:r>
              <a:rPr dirty="0" sz="1100">
                <a:latin typeface="Times New Roman"/>
                <a:cs typeface="Times New Roman"/>
              </a:rPr>
              <a:t>and sending it 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brain. On the other hand,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talk </a:t>
            </a:r>
            <a:r>
              <a:rPr dirty="0" sz="1100">
                <a:latin typeface="Times New Roman"/>
                <a:cs typeface="Times New Roman"/>
              </a:rPr>
              <a:t>about 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information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brain, which eventually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decoding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beginner,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auditory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 and the </a:t>
            </a:r>
            <a:r>
              <a:rPr dirty="0" sz="1100" spc="-5">
                <a:latin typeface="Times New Roman"/>
                <a:cs typeface="Times New Roman"/>
              </a:rPr>
              <a:t>general hearing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5">
                <a:latin typeface="Times New Roman"/>
                <a:cs typeface="Times New Roman"/>
              </a:rPr>
              <a:t>work. Have </a:t>
            </a:r>
            <a:r>
              <a:rPr dirty="0" sz="1100">
                <a:latin typeface="Times New Roman"/>
                <a:cs typeface="Times New Roman"/>
              </a:rPr>
              <a:t>a close look at the </a:t>
            </a:r>
            <a:r>
              <a:rPr dirty="0" sz="1100" spc="-5">
                <a:latin typeface="Times New Roman"/>
                <a:cs typeface="Times New Roman"/>
              </a:rPr>
              <a:t>picture below, </a:t>
            </a:r>
            <a:r>
              <a:rPr dirty="0" sz="1100">
                <a:latin typeface="Times New Roman"/>
                <a:cs typeface="Times New Roman"/>
              </a:rPr>
              <a:t>and read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brief description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469136"/>
            <a:ext cx="2737485" cy="175526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4501108"/>
            <a:ext cx="5971540" cy="4643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 indent="456565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Keeping it </a:t>
            </a:r>
            <a:r>
              <a:rPr dirty="0" sz="1100" spc="-5">
                <a:latin typeface="Times New Roman"/>
                <a:cs typeface="Times New Roman"/>
              </a:rPr>
              <a:t>very simple, we </a:t>
            </a:r>
            <a:r>
              <a:rPr dirty="0" sz="1100">
                <a:latin typeface="Times New Roman"/>
                <a:cs typeface="Times New Roman"/>
              </a:rPr>
              <a:t>can state,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sound coming </a:t>
            </a:r>
            <a:r>
              <a:rPr dirty="0" sz="1100">
                <a:latin typeface="Times New Roman"/>
                <a:cs typeface="Times New Roman"/>
              </a:rPr>
              <a:t>from any source, be it a </a:t>
            </a:r>
            <a:r>
              <a:rPr dirty="0" sz="1100" spc="-5">
                <a:latin typeface="Times New Roman"/>
                <a:cs typeface="Times New Roman"/>
              </a:rPr>
              <a:t>door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slamming </a:t>
            </a:r>
            <a:r>
              <a:rPr dirty="0" sz="1100">
                <a:latin typeface="Times New Roman"/>
                <a:cs typeface="Times New Roman"/>
              </a:rPr>
              <a:t>or someone </a:t>
            </a:r>
            <a:r>
              <a:rPr dirty="0" sz="1100" spc="-5">
                <a:latin typeface="Times New Roman"/>
                <a:cs typeface="Times New Roman"/>
              </a:rPr>
              <a:t>speaking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you, </a:t>
            </a:r>
            <a:r>
              <a:rPr dirty="0" sz="1100">
                <a:latin typeface="Times New Roman"/>
                <a:cs typeface="Times New Roman"/>
              </a:rPr>
              <a:t>is spreading from that source as a </a:t>
            </a:r>
            <a:r>
              <a:rPr dirty="0" sz="1100" spc="-5">
                <a:latin typeface="Times New Roman"/>
                <a:cs typeface="Times New Roman"/>
              </a:rPr>
              <a:t>sound wave, </a:t>
            </a:r>
            <a:r>
              <a:rPr dirty="0" sz="1100">
                <a:latin typeface="Times New Roman"/>
                <a:cs typeface="Times New Roman"/>
              </a:rPr>
              <a:t>causing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molecules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its way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crowd together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move </a:t>
            </a:r>
            <a:r>
              <a:rPr dirty="0" sz="1100">
                <a:latin typeface="Times New Roman"/>
                <a:cs typeface="Times New Roman"/>
              </a:rPr>
              <a:t>apart again or in </a:t>
            </a:r>
            <a:r>
              <a:rPr dirty="0" sz="1100" spc="-5">
                <a:latin typeface="Times New Roman"/>
                <a:cs typeface="Times New Roman"/>
              </a:rPr>
              <a:t>other words,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vibrate.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vibrating </a:t>
            </a:r>
            <a:r>
              <a:rPr dirty="0" sz="1100">
                <a:latin typeface="Times New Roman"/>
                <a:cs typeface="Times New Roman"/>
              </a:rPr>
              <a:t>air </a:t>
            </a:r>
            <a:r>
              <a:rPr dirty="0" sz="1100" spc="-5">
                <a:latin typeface="Times New Roman"/>
                <a:cs typeface="Times New Roman"/>
              </a:rPr>
              <a:t>molecules reach your </a:t>
            </a:r>
            <a:r>
              <a:rPr dirty="0" sz="1100">
                <a:latin typeface="Times New Roman"/>
                <a:cs typeface="Times New Roman"/>
              </a:rPr>
              <a:t>ear, they cause the </a:t>
            </a:r>
            <a:r>
              <a:rPr dirty="0" sz="1100" spc="-5">
                <a:latin typeface="Times New Roman"/>
                <a:cs typeface="Times New Roman"/>
              </a:rPr>
              <a:t>eardrum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your middle ear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vibrate </a:t>
            </a:r>
            <a:r>
              <a:rPr dirty="0" sz="1100">
                <a:latin typeface="Times New Roman"/>
                <a:cs typeface="Times New Roman"/>
              </a:rPr>
              <a:t>too and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vibration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eardrum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the</a:t>
            </a:r>
            <a:r>
              <a:rPr dirty="0" sz="1100" spc="-5">
                <a:latin typeface="Times New Roman"/>
                <a:cs typeface="Times New Roman"/>
              </a:rPr>
              <a:t> 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bones: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mallet,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incus,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stirrup.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stirrup,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vibration is carried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to the inner ear,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into the cochlea,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little coil-like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 filled with liquid. </a:t>
            </a:r>
            <a:r>
              <a:rPr dirty="0" sz="1100">
                <a:latin typeface="Times New Roman"/>
                <a:cs typeface="Times New Roman"/>
              </a:rPr>
              <a:t>Inside </a:t>
            </a:r>
            <a:r>
              <a:rPr dirty="0" sz="1100" spc="-5">
                <a:latin typeface="Times New Roman"/>
                <a:cs typeface="Times New Roman"/>
              </a:rPr>
              <a:t>the cochlea, there are two membranes: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vestibular membrane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basilar membrane.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latter membrane plays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central role in </a:t>
            </a:r>
            <a:r>
              <a:rPr dirty="0" sz="1100">
                <a:latin typeface="Times New Roman"/>
                <a:cs typeface="Times New Roman"/>
              </a:rPr>
              <a:t>the act of </a:t>
            </a:r>
            <a:r>
              <a:rPr dirty="0" sz="1100" spc="-5">
                <a:latin typeface="Times New Roman"/>
                <a:cs typeface="Times New Roman"/>
              </a:rPr>
              <a:t>audition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2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where the </a:t>
            </a:r>
            <a:r>
              <a:rPr dirty="0" sz="1100">
                <a:latin typeface="Times New Roman"/>
                <a:cs typeface="Times New Roman"/>
              </a:rPr>
              <a:t> auditory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cells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Depending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frequency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cells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basilar membrane is stimulated. Thus, </a:t>
            </a:r>
            <a:r>
              <a:rPr dirty="0" sz="1100">
                <a:latin typeface="Times New Roman"/>
                <a:cs typeface="Times New Roman"/>
              </a:rPr>
              <a:t>low-frequency </a:t>
            </a:r>
            <a:r>
              <a:rPr dirty="0" sz="1100" spc="-5">
                <a:latin typeface="Times New Roman"/>
                <a:cs typeface="Times New Roman"/>
              </a:rPr>
              <a:t>(grave)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10">
                <a:latin typeface="Times New Roman"/>
                <a:cs typeface="Times New Roman"/>
              </a:rPr>
              <a:t>will make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membrane </a:t>
            </a:r>
            <a:r>
              <a:rPr dirty="0" sz="1100">
                <a:latin typeface="Times New Roman"/>
                <a:cs typeface="Times New Roman"/>
              </a:rPr>
              <a:t> vibrate at the </a:t>
            </a:r>
            <a:r>
              <a:rPr dirty="0" sz="1100" spc="-5">
                <a:latin typeface="Times New Roman"/>
                <a:cs typeface="Times New Roman"/>
              </a:rPr>
              <a:t>less stiff </a:t>
            </a:r>
            <a:r>
              <a:rPr dirty="0" sz="1100">
                <a:latin typeface="Times New Roman"/>
                <a:cs typeface="Times New Roman"/>
              </a:rPr>
              <a:t>(upper) end, </a:t>
            </a:r>
            <a:r>
              <a:rPr dirty="0" sz="1100" spc="-5">
                <a:latin typeface="Times New Roman"/>
                <a:cs typeface="Times New Roman"/>
              </a:rPr>
              <a:t>while high-frequency </a:t>
            </a:r>
            <a:r>
              <a:rPr dirty="0" sz="1100">
                <a:latin typeface="Times New Roman"/>
                <a:cs typeface="Times New Roman"/>
              </a:rPr>
              <a:t>(acute) sounds </a:t>
            </a:r>
            <a:r>
              <a:rPr dirty="0" sz="1100" spc="-5">
                <a:latin typeface="Times New Roman"/>
                <a:cs typeface="Times New Roman"/>
              </a:rPr>
              <a:t>will cause the lower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stiffer </a:t>
            </a:r>
            <a:r>
              <a:rPr dirty="0" sz="1100">
                <a:latin typeface="Times New Roman"/>
                <a:cs typeface="Times New Roman"/>
              </a:rPr>
              <a:t> end of the </a:t>
            </a:r>
            <a:r>
              <a:rPr dirty="0" sz="1100" spc="-5">
                <a:latin typeface="Times New Roman"/>
                <a:cs typeface="Times New Roman"/>
              </a:rPr>
              <a:t>membrane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vibrate.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cells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basilar membrane </a:t>
            </a:r>
            <a:r>
              <a:rPr dirty="0" sz="1100">
                <a:latin typeface="Times New Roman"/>
                <a:cs typeface="Times New Roman"/>
              </a:rPr>
              <a:t>convert </a:t>
            </a:r>
            <a:r>
              <a:rPr dirty="0" sz="1100" spc="-5">
                <a:latin typeface="Times New Roman"/>
                <a:cs typeface="Times New Roman"/>
              </a:rPr>
              <a:t>these vibrations into neural </a:t>
            </a:r>
            <a:r>
              <a:rPr dirty="0" sz="1100">
                <a:latin typeface="Times New Roman"/>
                <a:cs typeface="Times New Roman"/>
              </a:rPr>
              <a:t> signals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transmitted via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auditory </a:t>
            </a:r>
            <a:r>
              <a:rPr dirty="0" sz="1100">
                <a:latin typeface="Times New Roman"/>
                <a:cs typeface="Times New Roman"/>
              </a:rPr>
              <a:t>nerves to the </a:t>
            </a:r>
            <a:r>
              <a:rPr dirty="0" sz="1100" spc="-5">
                <a:latin typeface="Times New Roman"/>
                <a:cs typeface="Times New Roman"/>
              </a:rPr>
              <a:t>central receptor and </a:t>
            </a:r>
            <a:r>
              <a:rPr dirty="0" sz="1100">
                <a:latin typeface="Times New Roman"/>
                <a:cs typeface="Times New Roman"/>
              </a:rPr>
              <a:t>controller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entire </a:t>
            </a:r>
            <a:r>
              <a:rPr dirty="0" sz="1100">
                <a:latin typeface="Times New Roman"/>
                <a:cs typeface="Times New Roman"/>
              </a:rPr>
              <a:t> process,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actual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076: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Instrumental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Instrumental phonetics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quantitative approach.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attempts </a:t>
            </a:r>
            <a:r>
              <a:rPr dirty="0" sz="1100">
                <a:latin typeface="Times New Roman"/>
                <a:cs typeface="Times New Roman"/>
              </a:rPr>
              <a:t>to characterize speech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measurements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numbers rather </a:t>
            </a:r>
            <a:r>
              <a:rPr dirty="0" sz="1100">
                <a:latin typeface="Times New Roman"/>
                <a:cs typeface="Times New Roman"/>
              </a:rPr>
              <a:t>than by </a:t>
            </a:r>
            <a:r>
              <a:rPr dirty="0" sz="1100" spc="-5">
                <a:latin typeface="Times New Roman"/>
                <a:cs typeface="Times New Roman"/>
              </a:rPr>
              <a:t>relying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listeners’ impression.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different instruments 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of speech sounds.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supposed </a:t>
            </a:r>
            <a:r>
              <a:rPr dirty="0" sz="1100" spc="-5">
                <a:latin typeface="Times New Roman"/>
                <a:cs typeface="Times New Roman"/>
              </a:rPr>
              <a:t>best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acoustic analysis </a:t>
            </a:r>
            <a:r>
              <a:rPr dirty="0" sz="1100">
                <a:latin typeface="Times New Roman"/>
                <a:cs typeface="Times New Roman"/>
              </a:rPr>
              <a:t>as it </a:t>
            </a:r>
            <a:r>
              <a:rPr dirty="0" sz="1100" spc="-5">
                <a:latin typeface="Times New Roman"/>
                <a:cs typeface="Times New Roman"/>
              </a:rPr>
              <a:t>uses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spectrograph that </a:t>
            </a:r>
            <a:r>
              <a:rPr dirty="0" sz="1100">
                <a:latin typeface="Times New Roman"/>
                <a:cs typeface="Times New Roman"/>
              </a:rPr>
              <a:t> produces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Nowadays,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instead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is best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display.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914400"/>
            <a:ext cx="4864227" cy="34204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224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656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articulatory activity many </a:t>
            </a:r>
            <a:r>
              <a:rPr dirty="0" sz="1100">
                <a:latin typeface="Times New Roman"/>
                <a:cs typeface="Times New Roman"/>
              </a:rPr>
              <a:t>instruments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Radiography </a:t>
            </a:r>
            <a:r>
              <a:rPr dirty="0" sz="1100">
                <a:latin typeface="Times New Roman"/>
                <a:cs typeface="Times New Roman"/>
              </a:rPr>
              <a:t>(x-rays), </a:t>
            </a:r>
            <a:r>
              <a:rPr dirty="0" sz="1100" spc="-5">
                <a:latin typeface="Times New Roman"/>
                <a:cs typeface="Times New Roman"/>
              </a:rPr>
              <a:t>Laryngoscopy </a:t>
            </a:r>
            <a:r>
              <a:rPr dirty="0" sz="1100">
                <a:latin typeface="Times New Roman"/>
                <a:cs typeface="Times New Roman"/>
              </a:rPr>
              <a:t> (inside </a:t>
            </a:r>
            <a:r>
              <a:rPr dirty="0" sz="1100" spc="-5">
                <a:latin typeface="Times New Roman"/>
                <a:cs typeface="Times New Roman"/>
              </a:rPr>
              <a:t>larynx), Palatography </a:t>
            </a:r>
            <a:r>
              <a:rPr dirty="0" sz="1100">
                <a:latin typeface="Times New Roman"/>
                <a:cs typeface="Times New Roman"/>
              </a:rPr>
              <a:t>(patterns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contact between tongue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palate),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Glottography (studying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vibration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Measurement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airflow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vocal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tract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it also gives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valuable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articulation.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all instrumental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experimental.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hypothesis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conditions,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experimental.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simply makes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measurement </a:t>
            </a:r>
            <a:r>
              <a:rPr dirty="0" sz="1100">
                <a:latin typeface="Times New Roman"/>
                <a:cs typeface="Times New Roman"/>
              </a:rPr>
              <a:t>using instruments,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case. Instrumental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quantitative </a:t>
            </a:r>
            <a:r>
              <a:rPr dirty="0" sz="1100">
                <a:latin typeface="Times New Roman"/>
                <a:cs typeface="Times New Roman"/>
              </a:rPr>
              <a:t>approach; it </a:t>
            </a:r>
            <a:r>
              <a:rPr dirty="0" sz="1100" spc="-5">
                <a:latin typeface="Times New Roman"/>
                <a:cs typeface="Times New Roman"/>
              </a:rPr>
              <a:t>attempts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characterize </a:t>
            </a:r>
            <a:r>
              <a:rPr dirty="0" sz="1100">
                <a:latin typeface="Times New Roman"/>
                <a:cs typeface="Times New Roman"/>
              </a:rPr>
              <a:t>speech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measurements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relying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listeners’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devised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sounds.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2175" cy="80962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Lesson-14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b="1">
                <a:latin typeface="Times New Roman"/>
                <a:cs typeface="Times New Roman"/>
              </a:rPr>
              <a:t>PHONOLOGY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ITS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BRANCHES</a:t>
            </a:r>
            <a:endParaRPr sz="1400">
              <a:latin typeface="Times New Roman"/>
              <a:cs typeface="Times New Roman"/>
            </a:endParaRPr>
          </a:p>
          <a:p>
            <a:pPr algn="just" marL="12700" marR="4638040">
              <a:lnSpc>
                <a:spcPct val="220000"/>
              </a:lnSpc>
              <a:spcBef>
                <a:spcPts val="7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077: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Phonology 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the sound system of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mental representation </a:t>
            </a:r>
            <a:r>
              <a:rPr dirty="0" sz="1100">
                <a:latin typeface="Times New Roman"/>
                <a:cs typeface="Times New Roman"/>
              </a:rPr>
              <a:t>of sounds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symbolic cognitive system; </a:t>
            </a:r>
            <a:r>
              <a:rPr dirty="0" sz="1100">
                <a:latin typeface="Times New Roman"/>
                <a:cs typeface="Times New Roman"/>
              </a:rPr>
              <a:t>it studies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abstract </a:t>
            </a:r>
            <a:r>
              <a:rPr dirty="0" sz="1100" spc="-5">
                <a:latin typeface="Times New Roman"/>
                <a:cs typeface="Times New Roman"/>
              </a:rPr>
              <a:t>sound categories </a:t>
            </a:r>
            <a:r>
              <a:rPr dirty="0" sz="1100" spc="15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manipulated 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Phonology is </a:t>
            </a:r>
            <a:r>
              <a:rPr dirty="0" sz="1100" spc="-5">
                <a:latin typeface="Times New Roman"/>
                <a:cs typeface="Times New Roman"/>
              </a:rPr>
              <a:t>concerned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range and function </a:t>
            </a:r>
            <a:r>
              <a:rPr dirty="0" sz="1100">
                <a:latin typeface="Times New Roman"/>
                <a:cs typeface="Times New Roman"/>
              </a:rPr>
              <a:t>of sounds in a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with rules, which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written to show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phonetic relationship that relates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89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Phonology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speakers’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competence.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Segmental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Supra-segmental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Segmental phonology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segmentation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speech sounds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phonetics.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physical properties,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perception of these sounds,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function </a:t>
            </a:r>
            <a:r>
              <a:rPr dirty="0" sz="1100" spc="-5">
                <a:latin typeface="Times New Roman"/>
                <a:cs typeface="Times New Roman"/>
              </a:rPr>
              <a:t>and possible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sounds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Supra-segmental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phonology,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prosody,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 that 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segmented because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extend </a:t>
            </a:r>
            <a:r>
              <a:rPr dirty="0" sz="1100" spc="-5">
                <a:latin typeface="Times New Roman"/>
                <a:cs typeface="Times New Roman"/>
              </a:rPr>
              <a:t>over more </a:t>
            </a:r>
            <a:r>
              <a:rPr dirty="0" sz="1100">
                <a:latin typeface="Times New Roman"/>
                <a:cs typeface="Times New Roman"/>
              </a:rPr>
              <a:t>than one </a:t>
            </a:r>
            <a:r>
              <a:rPr dirty="0" sz="1100" spc="-5">
                <a:latin typeface="Times New Roman"/>
                <a:cs typeface="Times New Roman"/>
              </a:rPr>
              <a:t>segment, </a:t>
            </a:r>
            <a:r>
              <a:rPr dirty="0" sz="1100">
                <a:latin typeface="Times New Roman"/>
                <a:cs typeface="Times New Roman"/>
              </a:rPr>
              <a:t>or sound. Such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5">
                <a:latin typeface="Times New Roman"/>
                <a:cs typeface="Times New Roman"/>
              </a:rPr>
              <a:t> stress,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078: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Difference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between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Phonetics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Phonology 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how sounds </a:t>
            </a:r>
            <a:r>
              <a:rPr dirty="0" sz="1100" spc="-5">
                <a:latin typeface="Times New Roman"/>
                <a:cs typeface="Times New Roman"/>
              </a:rPr>
              <a:t>are organized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individual languages. 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 spc="5">
                <a:latin typeface="Times New Roman"/>
                <a:cs typeface="Times New Roman"/>
              </a:rPr>
              <a:t>hand,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actual process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making. </a:t>
            </a:r>
            <a:r>
              <a:rPr dirty="0" sz="1100">
                <a:latin typeface="Times New Roman"/>
                <a:cs typeface="Times New Roman"/>
              </a:rPr>
              <a:t>Both are </a:t>
            </a:r>
            <a:r>
              <a:rPr dirty="0" sz="1100" spc="-5">
                <a:latin typeface="Times New Roman"/>
                <a:cs typeface="Times New Roman"/>
              </a:rPr>
              <a:t>important areas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linguistics. Phonetics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phonology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two subfields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dealing with </a:t>
            </a:r>
            <a:r>
              <a:rPr dirty="0" sz="1100">
                <a:latin typeface="Times New Roman"/>
                <a:cs typeface="Times New Roman"/>
              </a:rPr>
              <a:t>speech sounds. </a:t>
            </a:r>
            <a:r>
              <a:rPr dirty="0" sz="1100" spc="-5">
                <a:latin typeface="Times New Roman"/>
                <a:cs typeface="Times New Roman"/>
              </a:rPr>
              <a:t>Both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overlapping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Phonetics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been derived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Greek word phone meaning </a:t>
            </a:r>
            <a:r>
              <a:rPr dirty="0" sz="1100">
                <a:latin typeface="Times New Roman"/>
                <a:cs typeface="Times New Roman"/>
              </a:rPr>
              <a:t>sound/voice.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one 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branches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linguistics, which deals with the </a:t>
            </a:r>
            <a:r>
              <a:rPr dirty="0" sz="1100">
                <a:latin typeface="Times New Roman"/>
                <a:cs typeface="Times New Roman"/>
              </a:rPr>
              <a:t>study of speech sounds.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covers the </a:t>
            </a:r>
            <a:r>
              <a:rPr dirty="0" sz="1100" spc="-5">
                <a:latin typeface="Times New Roman"/>
                <a:cs typeface="Times New Roman"/>
              </a:rPr>
              <a:t>domain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production and its transmission.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also covers </a:t>
            </a:r>
            <a:r>
              <a:rPr dirty="0" sz="1100" spc="-5">
                <a:latin typeface="Times New Roman"/>
                <a:cs typeface="Times New Roman"/>
              </a:rPr>
              <a:t>the reception aspect </a:t>
            </a:r>
            <a:r>
              <a:rPr dirty="0" sz="1100">
                <a:latin typeface="Times New Roman"/>
                <a:cs typeface="Times New Roman"/>
              </a:rPr>
              <a:t>of speech. The sounds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when we </a:t>
            </a:r>
            <a:r>
              <a:rPr dirty="0" sz="1100">
                <a:latin typeface="Times New Roman"/>
                <a:cs typeface="Times New Roman"/>
              </a:rPr>
              <a:t>talk </a:t>
            </a:r>
            <a:r>
              <a:rPr dirty="0" sz="1100" spc="-5">
                <a:latin typeface="Times New Roman"/>
                <a:cs typeface="Times New Roman"/>
              </a:rPr>
              <a:t>are studied through different branches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phonetics like acoustic phonetics, auditory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articulatory </a:t>
            </a:r>
            <a:r>
              <a:rPr dirty="0" sz="1100">
                <a:latin typeface="Times New Roman"/>
                <a:cs typeface="Times New Roman"/>
              </a:rPr>
              <a:t>phonetics. </a:t>
            </a:r>
            <a:r>
              <a:rPr dirty="0" sz="1100" spc="-5">
                <a:latin typeface="Times New Roman"/>
                <a:cs typeface="Times New Roman"/>
              </a:rPr>
              <a:t>On the other hand, phonology </a:t>
            </a:r>
            <a:r>
              <a:rPr dirty="0" sz="1100">
                <a:latin typeface="Times New Roman"/>
                <a:cs typeface="Times New Roman"/>
              </a:rPr>
              <a:t>focuses on </a:t>
            </a:r>
            <a:r>
              <a:rPr dirty="0" sz="1100" spc="-5">
                <a:latin typeface="Times New Roman"/>
                <a:cs typeface="Times New Roman"/>
              </a:rPr>
              <a:t>the organization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studying speech </a:t>
            </a:r>
            <a:r>
              <a:rPr dirty="0" sz="1100" spc="-5">
                <a:latin typeface="Times New Roman"/>
                <a:cs typeface="Times New Roman"/>
              </a:rPr>
              <a:t>patterns. The key words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describing phonology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distribution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patterning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 </a:t>
            </a:r>
            <a:r>
              <a:rPr dirty="0" sz="1100">
                <a:latin typeface="Times New Roman"/>
                <a:cs typeface="Times New Roman"/>
              </a:rPr>
              <a:t>to speech.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aimed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determine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sound patterns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>
                <a:latin typeface="Times New Roman"/>
                <a:cs typeface="Times New Roman"/>
              </a:rPr>
              <a:t>Phonologists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look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sound,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latter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/z/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below: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3076" y="1283461"/>
          <a:ext cx="5948045" cy="4164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260"/>
                <a:gridCol w="2969260"/>
              </a:tblGrid>
              <a:tr h="192024">
                <a:tc>
                  <a:txBody>
                    <a:bodyPr/>
                    <a:lstStyle/>
                    <a:p>
                      <a:pPr marL="52514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Phonetics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Phonology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9116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145" marR="60960" indent="-228600">
                        <a:lnSpc>
                          <a:spcPct val="110500"/>
                        </a:lnSpc>
                        <a:spcBef>
                          <a:spcPts val="65"/>
                        </a:spcBef>
                        <a:buFont typeface="Symbol"/>
                        <a:buChar char="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 be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considered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branch of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linguistics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 deals with 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study of the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 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speech.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also considers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auditory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qualities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780" marR="60325" indent="-228600">
                        <a:lnSpc>
                          <a:spcPct val="110400"/>
                        </a:lnSpc>
                        <a:spcBef>
                          <a:spcPts val="65"/>
                        </a:spcBef>
                        <a:buFont typeface="Symbol"/>
                        <a:buChar char=""/>
                        <a:tabLst>
                          <a:tab pos="5264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Phonology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branch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linguistics,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focuses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organization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studying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patterns.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describing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phonology are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distribution 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patterning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525145" indent="-228600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Described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physics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sound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9235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525780" algn="l"/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Psychology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5953">
                <a:tc>
                  <a:txBody>
                    <a:bodyPr/>
                    <a:lstStyle/>
                    <a:p>
                      <a:pPr marL="525145" indent="-228600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theories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perception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9235">
                        <a:lnSpc>
                          <a:spcPts val="1310"/>
                        </a:lnSpc>
                        <a:buFont typeface="Symbol"/>
                        <a:buChar char=""/>
                        <a:tabLst>
                          <a:tab pos="525780" algn="l"/>
                          <a:tab pos="5264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constraints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dirty="0" sz="11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combinations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language.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69846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145" marR="59690" indent="-228600">
                        <a:lnSpc>
                          <a:spcPct val="110500"/>
                        </a:lnSpc>
                        <a:spcBef>
                          <a:spcPts val="75"/>
                        </a:spcBef>
                        <a:buFont typeface="Symbol"/>
                        <a:buChar char="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Acoustic phonetics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 the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study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dirty="0" sz="11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produced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vocal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tract.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145" marR="60325" indent="-228600">
                        <a:lnSpc>
                          <a:spcPct val="110300"/>
                        </a:lnSpc>
                        <a:spcBef>
                          <a:spcPts val="70"/>
                        </a:spcBef>
                        <a:buFont typeface="Symbol"/>
                        <a:buChar char="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Auditory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deals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understanding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ear perceives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sound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brain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recognizes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speech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units.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145" marR="59690" indent="-228600">
                        <a:lnSpc>
                          <a:spcPct val="110500"/>
                        </a:lnSpc>
                        <a:spcBef>
                          <a:spcPts val="65"/>
                        </a:spcBef>
                        <a:buFont typeface="Symbol"/>
                        <a:buChar char="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Articulatory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phonetics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deals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studying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making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 by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vocal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tract.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Branches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780" marR="59690" indent="-228600">
                        <a:lnSpc>
                          <a:spcPct val="110500"/>
                        </a:lnSpc>
                        <a:spcBef>
                          <a:spcPts val="75"/>
                        </a:spcBef>
                        <a:buFont typeface="Symbol"/>
                        <a:buChar char=""/>
                        <a:tabLst>
                          <a:tab pos="5264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Segmental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is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segmentation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individual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speech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derived from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phonetics.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525780" marR="59690" indent="-228600">
                        <a:lnSpc>
                          <a:spcPct val="110300"/>
                        </a:lnSpc>
                        <a:spcBef>
                          <a:spcPts val="70"/>
                        </a:spcBef>
                        <a:buFont typeface="Symbol"/>
                        <a:buChar char="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Supra-segmental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phonology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deals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(like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rhythm,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stress,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etc.)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pronunciation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segmented.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5589498"/>
            <a:ext cx="5971540" cy="2242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can summarize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phonetics looks into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sounds 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a generalized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idealized manner. 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hand, phonology looks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the functional aspect </a:t>
            </a:r>
            <a:r>
              <a:rPr dirty="0" sz="1100">
                <a:latin typeface="Times New Roman"/>
                <a:cs typeface="Times New Roman"/>
              </a:rPr>
              <a:t>of speech sounds in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often </a:t>
            </a:r>
            <a:r>
              <a:rPr dirty="0" sz="1100" spc="-5">
                <a:latin typeface="Times New Roman"/>
                <a:cs typeface="Times New Roman"/>
              </a:rPr>
              <a:t> recommended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strict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079: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Phoneme: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Basic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Unit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Phoneme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smallest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itself.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‘bake’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‘bade,’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alphabet.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one-to-one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dog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spellings</a:t>
            </a:r>
            <a:r>
              <a:rPr dirty="0" sz="1100">
                <a:latin typeface="Times New Roman"/>
                <a:cs typeface="Times New Roman"/>
              </a:rPr>
              <a:t> 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7984"/>
            <a:ext cx="3289935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phones,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consonants.</a:t>
            </a:r>
            <a:endParaRPr sz="1100">
              <a:latin typeface="Times New Roman"/>
              <a:cs typeface="Times New Roman"/>
            </a:endParaRPr>
          </a:p>
          <a:p>
            <a:pPr marL="12700" marR="1596390">
              <a:lnSpc>
                <a:spcPct val="220900"/>
              </a:lnSpc>
              <a:spcBef>
                <a:spcPts val="15"/>
              </a:spcBef>
            </a:pPr>
            <a:r>
              <a:rPr dirty="0" sz="1100" b="1">
                <a:latin typeface="Times New Roman"/>
                <a:cs typeface="Times New Roman"/>
              </a:rPr>
              <a:t>Segments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Consonant</a:t>
            </a:r>
            <a:r>
              <a:rPr dirty="0" sz="1100" spc="-5" b="1">
                <a:latin typeface="Times New Roman"/>
                <a:cs typeface="Times New Roman"/>
              </a:rPr>
              <a:t> Sounds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535807"/>
            <a:ext cx="12382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Short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Vowel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4550790"/>
            <a:ext cx="12141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Long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Vowel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5567552"/>
            <a:ext cx="11334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Times New Roman"/>
                <a:cs typeface="Times New Roman"/>
              </a:rPr>
              <a:t>Diphthong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6753834"/>
            <a:ext cx="5971540" cy="2243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456565">
              <a:lnSpc>
                <a:spcPct val="110400"/>
              </a:lnSpc>
              <a:spcBef>
                <a:spcPts val="90"/>
              </a:spcBef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10">
                <a:latin typeface="Times New Roman"/>
                <a:cs typeface="Times New Roman"/>
              </a:rPr>
              <a:t>44 </a:t>
            </a:r>
            <a:r>
              <a:rPr dirty="0" sz="1100" spc="-5">
                <a:latin typeface="Times New Roman"/>
                <a:cs typeface="Times New Roman"/>
              </a:rPr>
              <a:t>phonemes in BBC English accent. However,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different dialects the 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phonemes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different.</a:t>
            </a:r>
            <a:r>
              <a:rPr dirty="0" sz="1100">
                <a:latin typeface="Times New Roman"/>
                <a:cs typeface="Times New Roman"/>
              </a:rPr>
              <a:t> 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segmentation,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slightly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laughed/lɑːfd/,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>
                <a:latin typeface="Times New Roman"/>
                <a:cs typeface="Times New Roman"/>
              </a:rPr>
              <a:t> d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/t/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played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/d/ </a:t>
            </a:r>
            <a:r>
              <a:rPr dirty="0" sz="1100">
                <a:latin typeface="Times New Roman"/>
                <a:cs typeface="Times New Roman"/>
              </a:rPr>
              <a:t>sound.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080: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Segmental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Segmental </a:t>
            </a:r>
            <a:r>
              <a:rPr dirty="0" sz="1100" spc="-5">
                <a:latin typeface="Times New Roman"/>
                <a:cs typeface="Times New Roman"/>
              </a:rPr>
              <a:t>phonology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segmentation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speech sounds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phonetics. Segmental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interested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production, the </a:t>
            </a:r>
            <a:r>
              <a:rPr dirty="0" sz="1100" spc="-5">
                <a:latin typeface="Times New Roman"/>
                <a:cs typeface="Times New Roman"/>
              </a:rPr>
              <a:t>physical properties, 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perception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sounds, but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>
                <a:latin typeface="Times New Roman"/>
                <a:cs typeface="Times New Roman"/>
              </a:rPr>
              <a:t> of sounds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system.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segment </a:t>
            </a:r>
            <a:r>
              <a:rPr dirty="0" sz="1100">
                <a:latin typeface="Times New Roman"/>
                <a:cs typeface="Times New Roman"/>
              </a:rPr>
              <a:t>is ‘any </a:t>
            </a:r>
            <a:r>
              <a:rPr dirty="0" sz="1100" spc="-5">
                <a:latin typeface="Times New Roman"/>
                <a:cs typeface="Times New Roman"/>
              </a:rPr>
              <a:t>discrete unit that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identified, either </a:t>
            </a:r>
            <a:r>
              <a:rPr dirty="0" sz="1100">
                <a:latin typeface="Times New Roman"/>
                <a:cs typeface="Times New Roman"/>
              </a:rPr>
              <a:t>physically or </a:t>
            </a:r>
            <a:r>
              <a:rPr dirty="0" sz="1100" spc="-5">
                <a:latin typeface="Times New Roman"/>
                <a:cs typeface="Times New Roman"/>
              </a:rPr>
              <a:t>auditorily,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stream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speech’.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375" y="2047242"/>
            <a:ext cx="4791835" cy="135952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950" y="3953231"/>
            <a:ext cx="4737224" cy="47500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950" y="4962132"/>
            <a:ext cx="4743321" cy="49347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5900" y="5983228"/>
            <a:ext cx="4752429" cy="47558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6692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Segments </a:t>
            </a:r>
            <a:r>
              <a:rPr dirty="0" sz="1100" spc="-5">
                <a:latin typeface="Times New Roman"/>
                <a:cs typeface="Times New Roman"/>
              </a:rPr>
              <a:t>are called ‘discrete’ because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separate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individual, such as consonants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vowels,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occur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 temporal order.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gesture,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regardless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exact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meanings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contrast, a </a:t>
            </a:r>
            <a:r>
              <a:rPr dirty="0" sz="1100" spc="-5">
                <a:latin typeface="Times New Roman"/>
                <a:cs typeface="Times New Roman"/>
              </a:rPr>
              <a:t>phoneme </a:t>
            </a:r>
            <a:r>
              <a:rPr dirty="0" sz="1100">
                <a:latin typeface="Times New Roman"/>
                <a:cs typeface="Times New Roman"/>
              </a:rPr>
              <a:t>is a speech sound </a:t>
            </a:r>
            <a:r>
              <a:rPr dirty="0" sz="1100" spc="-5">
                <a:latin typeface="Times New Roman"/>
                <a:cs typeface="Times New Roman"/>
              </a:rPr>
              <a:t>that,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10">
                <a:latin typeface="Times New Roman"/>
                <a:cs typeface="Times New Roman"/>
              </a:rPr>
              <a:t>given </a:t>
            </a:r>
            <a:r>
              <a:rPr dirty="0" sz="1100" spc="-5">
                <a:latin typeface="Times New Roman"/>
                <a:cs typeface="Times New Roman"/>
              </a:rPr>
              <a:t>language, if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were </a:t>
            </a:r>
            <a:r>
              <a:rPr dirty="0" sz="1100">
                <a:latin typeface="Times New Roman"/>
                <a:cs typeface="Times New Roman"/>
              </a:rPr>
              <a:t> swapped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/bet/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/bed/.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endParaRPr sz="11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specific language. </a:t>
            </a: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segmental phonology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segmentation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081: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Supra-segmental 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Vowels and consonants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thought </a:t>
            </a:r>
            <a:r>
              <a:rPr dirty="0" sz="1100">
                <a:latin typeface="Times New Roman"/>
                <a:cs typeface="Times New Roman"/>
              </a:rPr>
              <a:t>of as </a:t>
            </a:r>
            <a:r>
              <a:rPr dirty="0" sz="1100" spc="-5">
                <a:latin typeface="Times New Roman"/>
                <a:cs typeface="Times New Roman"/>
              </a:rPr>
              <a:t>the segments of which speech </a:t>
            </a:r>
            <a:r>
              <a:rPr dirty="0" sz="1100">
                <a:latin typeface="Times New Roman"/>
                <a:cs typeface="Times New Roman"/>
              </a:rPr>
              <a:t>is composed. </a:t>
            </a:r>
            <a:r>
              <a:rPr dirty="0" sz="1100" spc="-5">
                <a:latin typeface="Times New Roman"/>
                <a:cs typeface="Times New Roman"/>
              </a:rPr>
              <a:t>Together 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utterances.</a:t>
            </a:r>
            <a:r>
              <a:rPr dirty="0" sz="1100">
                <a:latin typeface="Times New Roman"/>
                <a:cs typeface="Times New Roman"/>
              </a:rPr>
              <a:t> 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supra-segmentals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superimposed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0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Stress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60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Pitch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Tone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Juncture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relative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emphasis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prominence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respiratory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muscles,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verb: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Insult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2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nsu</a:t>
            </a:r>
            <a:r>
              <a:rPr dirty="0" sz="1100" spc="5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</a:t>
            </a:r>
            <a:r>
              <a:rPr dirty="0" sz="1100" spc="5">
                <a:latin typeface="Times New Roman"/>
                <a:cs typeface="Times New Roman"/>
              </a:rPr>
              <a:t>V</a:t>
            </a:r>
            <a:r>
              <a:rPr dirty="0" sz="110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(V)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pitch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voice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frequency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which the vocal cords vibrate. Tone is the </a:t>
            </a:r>
            <a:r>
              <a:rPr dirty="0" sz="1100">
                <a:latin typeface="Times New Roman"/>
                <a:cs typeface="Times New Roman"/>
              </a:rPr>
              <a:t> use of </a:t>
            </a:r>
            <a:r>
              <a:rPr dirty="0" sz="1100" spc="-5">
                <a:latin typeface="Times New Roman"/>
                <a:cs typeface="Times New Roman"/>
              </a:rPr>
              <a:t>pitch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distinguish lexical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grammatical </a:t>
            </a:r>
            <a:r>
              <a:rPr dirty="0" sz="1100">
                <a:latin typeface="Times New Roman"/>
                <a:cs typeface="Times New Roman"/>
              </a:rPr>
              <a:t>meaning, that is, to </a:t>
            </a:r>
            <a:r>
              <a:rPr dirty="0" sz="1100" spc="-5">
                <a:latin typeface="Times New Roman"/>
                <a:cs typeface="Times New Roman"/>
              </a:rPr>
              <a:t>distinguish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inflect </a:t>
            </a:r>
            <a:r>
              <a:rPr dirty="0" sz="1100">
                <a:latin typeface="Times New Roman"/>
                <a:cs typeface="Times New Roman"/>
              </a:rPr>
              <a:t> words. </a:t>
            </a:r>
            <a:r>
              <a:rPr dirty="0" sz="1100" spc="-5">
                <a:latin typeface="Times New Roman"/>
                <a:cs typeface="Times New Roman"/>
              </a:rPr>
              <a:t>Juncture,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linguistics,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manner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moving (transition)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mode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relationship between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consecutive sounds.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‘a</a:t>
            </a:r>
            <a:r>
              <a:rPr dirty="0" sz="1100" spc="-5">
                <a:latin typeface="Times New Roman"/>
                <a:cs typeface="Times New Roman"/>
              </a:rPr>
              <a:t> name’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/ə.neɪm/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 </a:t>
            </a:r>
            <a:r>
              <a:rPr dirty="0" sz="1100" spc="-10">
                <a:latin typeface="Times New Roman"/>
                <a:cs typeface="Times New Roman"/>
              </a:rPr>
              <a:t>aim’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/ən.eɪm/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75"/>
              </a:spcBef>
              <a:buFont typeface="Calibri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stuff’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/ðæt.stʌf/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‘that's</a:t>
            </a:r>
            <a:r>
              <a:rPr dirty="0" sz="1100">
                <a:latin typeface="Times New Roman"/>
                <a:cs typeface="Times New Roman"/>
              </a:rPr>
              <a:t> tough’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/ðæts.tʌf/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67730" cy="1537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SYLLABLE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082: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Syllable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Division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Words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into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Syllables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pronunciation</a:t>
            </a:r>
            <a:r>
              <a:rPr dirty="0" sz="1100">
                <a:latin typeface="Times New Roman"/>
                <a:cs typeface="Times New Roman"/>
              </a:rPr>
              <a:t> having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>
                <a:latin typeface="Times New Roman"/>
                <a:cs typeface="Times New Roman"/>
              </a:rPr>
              <a:t> sound,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surrounding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whole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word; for example, there are two syllables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‘contact’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three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‘potato’.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syllable consists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onset (consonant),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rhyme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nucleus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(vowel)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coda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(consonant).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4350232"/>
            <a:ext cx="5827395" cy="209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phonologically.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Phonetically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centre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obstruction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airflow,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</a:t>
            </a:r>
            <a:endParaRPr sz="1100">
              <a:latin typeface="Times New Roman"/>
              <a:cs typeface="Times New Roman"/>
            </a:endParaRPr>
          </a:p>
          <a:p>
            <a:pPr marL="12700" marR="868044">
              <a:lnSpc>
                <a:spcPts val="14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/kæt/.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Phonologically,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phonotactics.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word </a:t>
            </a:r>
            <a:r>
              <a:rPr dirty="0" sz="1100" spc="-5">
                <a:latin typeface="Times New Roman"/>
                <a:cs typeface="Times New Roman"/>
              </a:rPr>
              <a:t>begins: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Air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Smoke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Spray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7465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‘building</a:t>
            </a:r>
            <a:r>
              <a:rPr dirty="0" sz="1100">
                <a:latin typeface="Times New Roman"/>
                <a:cs typeface="Times New Roman"/>
              </a:rPr>
              <a:t> blocks’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language, </a:t>
            </a:r>
            <a:r>
              <a:rPr dirty="0" sz="1100" spc="-10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prosody,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poetic</a:t>
            </a:r>
            <a:r>
              <a:rPr dirty="0" sz="1100">
                <a:latin typeface="Times New Roman"/>
                <a:cs typeface="Times New Roman"/>
              </a:rPr>
              <a:t> metre,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637" y="2757036"/>
            <a:ext cx="2390053" cy="14202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6843" y="7543341"/>
            <a:ext cx="756232" cy="13171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2215" y="7097957"/>
            <a:ext cx="1121664" cy="167674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7906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single syllable (like English dog)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monosyllable </a:t>
            </a:r>
            <a:r>
              <a:rPr dirty="0" sz="1100">
                <a:latin typeface="Times New Roman"/>
                <a:cs typeface="Times New Roman"/>
              </a:rPr>
              <a:t>(and </a:t>
            </a:r>
            <a:r>
              <a:rPr dirty="0" sz="1100" spc="-5">
                <a:latin typeface="Times New Roman"/>
                <a:cs typeface="Times New Roman"/>
              </a:rPr>
              <a:t>is said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monosyllabic). Similar terms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disyllabic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 bisyllable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bisyllabic)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two syllables; trisyllable (and trisyllabic) 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three </a:t>
            </a:r>
            <a:r>
              <a:rPr dirty="0" sz="1100">
                <a:latin typeface="Times New Roman"/>
                <a:cs typeface="Times New Roman"/>
              </a:rPr>
              <a:t>syllables; and </a:t>
            </a:r>
            <a:r>
              <a:rPr dirty="0" sz="1100" spc="-5">
                <a:latin typeface="Times New Roman"/>
                <a:cs typeface="Times New Roman"/>
              </a:rPr>
              <a:t>polysyllable (and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polysyllabic), which may </a:t>
            </a:r>
            <a:r>
              <a:rPr dirty="0" sz="1100">
                <a:latin typeface="Times New Roman"/>
                <a:cs typeface="Times New Roman"/>
              </a:rPr>
              <a:t>refer </a:t>
            </a:r>
            <a:r>
              <a:rPr dirty="0" sz="1100" spc="-5">
                <a:latin typeface="Times New Roman"/>
                <a:cs typeface="Times New Roman"/>
              </a:rPr>
              <a:t>either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more than three syllables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to any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can </a:t>
            </a:r>
            <a:r>
              <a:rPr dirty="0" sz="1100" spc="-5">
                <a:latin typeface="Times New Roman"/>
                <a:cs typeface="Times New Roman"/>
              </a:rPr>
              <a:t>observe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 division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‘extra’: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5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e.kstrə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AutoNum type="romanL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ek.strə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AutoNum type="romanL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eks.trə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ekst.rə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AutoNum type="romanL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ekstr.ə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romanLcPeriod"/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083: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Syllable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CVC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(Consonant </a:t>
            </a:r>
            <a:r>
              <a:rPr dirty="0" sz="1100" spc="-5">
                <a:latin typeface="Times New Roman"/>
                <a:cs typeface="Times New Roman"/>
              </a:rPr>
              <a:t>Vowel </a:t>
            </a:r>
            <a:r>
              <a:rPr dirty="0" sz="1100">
                <a:latin typeface="Times New Roman"/>
                <a:cs typeface="Times New Roman"/>
              </a:rPr>
              <a:t>Consonant),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example,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cat/kæt/.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minimum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coda,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Are/a:/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>
                <a:latin typeface="Times New Roman"/>
                <a:cs typeface="Times New Roman"/>
              </a:rPr>
              <a:t>r/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ɔ</a:t>
            </a:r>
            <a:r>
              <a:rPr dirty="0" sz="1100" spc="5">
                <a:latin typeface="Times New Roman"/>
                <a:cs typeface="Times New Roman"/>
              </a:rPr>
              <a:t>:/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Err/3:/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Times New Roman"/>
                <a:cs typeface="Times New Roman"/>
              </a:rPr>
              <a:t>/m/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ʃ/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phoneticians.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syllables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onset.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697865" algn="l"/>
                <a:tab pos="698500" algn="l"/>
                <a:tab pos="1040765" algn="l"/>
              </a:tabLst>
            </a:pPr>
            <a:r>
              <a:rPr dirty="0" sz="1100">
                <a:latin typeface="Times New Roman"/>
                <a:cs typeface="Times New Roman"/>
              </a:rPr>
              <a:t>Car	</a:t>
            </a:r>
            <a:r>
              <a:rPr dirty="0" sz="1100" spc="-5">
                <a:latin typeface="Times New Roman"/>
                <a:cs typeface="Times New Roman"/>
              </a:rPr>
              <a:t>/ka:/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Key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ki:/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/mɔ:/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syllable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no </a:t>
            </a:r>
            <a:r>
              <a:rPr dirty="0" sz="1100" spc="-5">
                <a:latin typeface="Times New Roman"/>
                <a:cs typeface="Times New Roman"/>
              </a:rPr>
              <a:t>onset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coda.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5">
                <a:latin typeface="Times New Roman"/>
                <a:cs typeface="Times New Roman"/>
              </a:rPr>
              <a:t>Am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{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æm/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  <a:tab pos="1186815" algn="l"/>
              </a:tabLst>
            </a:pPr>
            <a:r>
              <a:rPr dirty="0" sz="1100" spc="-5">
                <a:latin typeface="Times New Roman"/>
                <a:cs typeface="Times New Roman"/>
              </a:rPr>
              <a:t>Ought	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ɔ:t/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Ease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i:z/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syllables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 onset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coda.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Hut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/hʌt/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Sat</a:t>
            </a:r>
            <a:r>
              <a:rPr dirty="0" sz="1100" spc="4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/sæt/</a:t>
            </a:r>
            <a:endParaRPr sz="1100">
              <a:latin typeface="Times New Roman"/>
              <a:cs typeface="Times New Roman"/>
            </a:endParaRPr>
          </a:p>
          <a:p>
            <a:pPr lvl="2" marL="69786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/fɪl/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36854" indent="456565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Zero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Onset: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except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/ʊ/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rare.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except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/ŋ/.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782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084: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Syllabic Consonants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492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syllables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unstressed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happen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weak</a:t>
            </a:r>
            <a:r>
              <a:rPr dirty="0" sz="1100" spc="-5">
                <a:latin typeface="Times New Roman"/>
                <a:cs typeface="Times New Roman"/>
              </a:rPr>
              <a:t> syllables.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consist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,n/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cattle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kæt.əl/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kæt.l.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the preceding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alveolar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wrestle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/res.l/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/res.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əl/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plosive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couple </a:t>
            </a:r>
            <a:r>
              <a:rPr dirty="0" sz="1100">
                <a:latin typeface="Times New Roman"/>
                <a:cs typeface="Times New Roman"/>
              </a:rPr>
              <a:t>/kʌp.l/,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schwa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 words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intact.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Bottling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/ˈbɒt.ˌlɪŋ/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Struggling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/strʌg.ˌlɪŋ/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</a:t>
            </a:r>
            <a:r>
              <a:rPr dirty="0" sz="1100">
                <a:latin typeface="Times New Roman"/>
                <a:cs typeface="Times New Roman"/>
              </a:rPr>
              <a:t>oddle</a:t>
            </a:r>
            <a:r>
              <a:rPr dirty="0" sz="1100" spc="-10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/ˈ</a:t>
            </a:r>
            <a:r>
              <a:rPr dirty="0" sz="1100" spc="-15">
                <a:latin typeface="Times New Roman"/>
                <a:cs typeface="Times New Roman"/>
              </a:rPr>
              <a:t>k</a:t>
            </a:r>
            <a:r>
              <a:rPr dirty="0" sz="1100">
                <a:latin typeface="Times New Roman"/>
                <a:cs typeface="Times New Roman"/>
              </a:rPr>
              <a:t>ɒd</a:t>
            </a:r>
            <a:r>
              <a:rPr dirty="0" sz="1100" spc="-10">
                <a:latin typeface="Times New Roman"/>
                <a:cs typeface="Times New Roman"/>
              </a:rPr>
              <a:t>ˌ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10">
                <a:latin typeface="Times New Roman"/>
                <a:cs typeface="Times New Roman"/>
              </a:rPr>
              <a:t>ɪŋ</a:t>
            </a:r>
            <a:r>
              <a:rPr dirty="0" sz="1100">
                <a:latin typeface="Times New Roman"/>
                <a:cs typeface="Times New Roman"/>
              </a:rPr>
              <a:t>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Cod+ling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/ˈkɒd.lɪŋ/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100">
                <a:latin typeface="Times New Roman"/>
                <a:cs typeface="Times New Roman"/>
              </a:rPr>
              <a:t>Words 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‘al’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‘el’: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Panel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/´pænl/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60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Petal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/pɛt(ə)l/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Parcel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/ˈpɑːs(ə)l/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5"/>
              </a:spcBef>
              <a:buFont typeface="Calibri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Babel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/ˈbeɪbl/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/n/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‘Listen’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/lɪsən/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/lɪsn/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/ˈɡəʊldən/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/ˈɡəʊldn/.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085: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 of the Syllable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1447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vowel.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vowel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long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 letter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ba. </a:t>
            </a:r>
            <a:r>
              <a:rPr dirty="0" sz="1100" spc="-5" i="1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9212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closed syllable </a:t>
            </a:r>
            <a:r>
              <a:rPr dirty="0" sz="1100" spc="-5">
                <a:latin typeface="Times New Roman"/>
                <a:cs typeface="Times New Roman"/>
              </a:rPr>
              <a:t>has only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vowel. The vowel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short sound (like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‘i’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mill).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2 </a:t>
            </a:r>
            <a:r>
              <a:rPr dirty="0" sz="1100" spc="-5">
                <a:latin typeface="Times New Roman"/>
                <a:cs typeface="Times New Roman"/>
              </a:rPr>
              <a:t>letters,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must end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consonant, for example: </a:t>
            </a:r>
            <a:r>
              <a:rPr dirty="0" sz="1100">
                <a:latin typeface="Times New Roman"/>
                <a:cs typeface="Times New Roman"/>
              </a:rPr>
              <a:t>in, </a:t>
            </a:r>
            <a:r>
              <a:rPr dirty="0" sz="1100" spc="-5">
                <a:latin typeface="Times New Roman"/>
                <a:cs typeface="Times New Roman"/>
              </a:rPr>
              <a:t>on, </a:t>
            </a:r>
            <a:r>
              <a:rPr dirty="0" sz="1100">
                <a:latin typeface="Times New Roman"/>
                <a:cs typeface="Times New Roman"/>
              </a:rPr>
              <a:t>of, </a:t>
            </a:r>
            <a:r>
              <a:rPr dirty="0" sz="1100" spc="-5">
                <a:latin typeface="Times New Roman"/>
                <a:cs typeface="Times New Roman"/>
              </a:rPr>
              <a:t>at,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is </a:t>
            </a:r>
            <a:r>
              <a:rPr dirty="0" sz="1100" spc="-10">
                <a:latin typeface="Times New Roman"/>
                <a:cs typeface="Times New Roman"/>
              </a:rPr>
              <a:t>3+ </a:t>
            </a:r>
            <a:r>
              <a:rPr dirty="0" sz="1100" spc="-5">
                <a:latin typeface="Times New Roman"/>
                <a:cs typeface="Times New Roman"/>
              </a:rPr>
              <a:t> letters, </a:t>
            </a:r>
            <a:r>
              <a:rPr dirty="0" sz="1100">
                <a:latin typeface="Times New Roman"/>
                <a:cs typeface="Times New Roman"/>
              </a:rPr>
              <a:t>a closed </a:t>
            </a:r>
            <a:r>
              <a:rPr dirty="0" sz="1100" spc="-5">
                <a:latin typeface="Times New Roman"/>
                <a:cs typeface="Times New Roman"/>
              </a:rPr>
              <a:t>syllable has </a:t>
            </a:r>
            <a:r>
              <a:rPr dirty="0" sz="1100">
                <a:latin typeface="Times New Roman"/>
                <a:cs typeface="Times New Roman"/>
              </a:rPr>
              <a:t>1 </a:t>
            </a:r>
            <a:r>
              <a:rPr dirty="0" sz="1100" spc="-5">
                <a:latin typeface="Times New Roman"/>
                <a:cs typeface="Times New Roman"/>
              </a:rPr>
              <a:t>consonant </a:t>
            </a:r>
            <a:r>
              <a:rPr dirty="0" sz="1100">
                <a:latin typeface="Times New Roman"/>
                <a:cs typeface="Times New Roman"/>
              </a:rPr>
              <a:t>before and 1+ consonants </a:t>
            </a:r>
            <a:r>
              <a:rPr dirty="0" sz="1100" spc="-5">
                <a:latin typeface="Times New Roman"/>
                <a:cs typeface="Times New Roman"/>
              </a:rPr>
              <a:t>after the vowel. For examples: </a:t>
            </a:r>
            <a:r>
              <a:rPr dirty="0" sz="1100">
                <a:latin typeface="Times New Roman"/>
                <a:cs typeface="Times New Roman"/>
              </a:rPr>
              <a:t>cat,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catch, net, nest, web, man, roll, and bark.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has </a:t>
            </a:r>
            <a:r>
              <a:rPr dirty="0" sz="1100">
                <a:latin typeface="Times New Roman"/>
                <a:cs typeface="Times New Roman"/>
              </a:rPr>
              <a:t>2 </a:t>
            </a:r>
            <a:r>
              <a:rPr dirty="0" sz="1100" spc="-5">
                <a:latin typeface="Times New Roman"/>
                <a:cs typeface="Times New Roman"/>
              </a:rPr>
              <a:t>closed syllables next to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other, there </a:t>
            </a:r>
            <a:r>
              <a:rPr dirty="0" sz="1100" spc="-10">
                <a:latin typeface="Times New Roman"/>
                <a:cs typeface="Times New Roman"/>
              </a:rPr>
              <a:t>will be 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win-ter,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sum-mer,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com-mon,</a:t>
            </a:r>
            <a:r>
              <a:rPr dirty="0" sz="1100" spc="5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tem-per.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An r-controlled syllable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vowel, diphthong,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triphthong with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‘r’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‘re’ after it.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 deer, </a:t>
            </a:r>
            <a:r>
              <a:rPr dirty="0" sz="1100">
                <a:latin typeface="Times New Roman"/>
                <a:cs typeface="Times New Roman"/>
              </a:rPr>
              <a:t>whis-per, worth, </a:t>
            </a:r>
            <a:r>
              <a:rPr dirty="0" sz="1100" spc="-5">
                <a:latin typeface="Times New Roman"/>
                <a:cs typeface="Times New Roman"/>
              </a:rPr>
              <a:t>care, </a:t>
            </a:r>
            <a:r>
              <a:rPr dirty="0" sz="1100">
                <a:latin typeface="Times New Roman"/>
                <a:cs typeface="Times New Roman"/>
              </a:rPr>
              <a:t>and fire. </a:t>
            </a:r>
            <a:r>
              <a:rPr dirty="0" sz="1100" spc="-5">
                <a:latin typeface="Times New Roman"/>
                <a:cs typeface="Times New Roman"/>
              </a:rPr>
              <a:t>er, </a:t>
            </a:r>
            <a:r>
              <a:rPr dirty="0" sz="1100">
                <a:latin typeface="Times New Roman"/>
                <a:cs typeface="Times New Roman"/>
              </a:rPr>
              <a:t>ur,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ir </a:t>
            </a:r>
            <a:r>
              <a:rPr dirty="0" sz="1100" spc="-5">
                <a:latin typeface="Times New Roman"/>
                <a:cs typeface="Times New Roman"/>
              </a:rPr>
              <a:t>vowels sound like </a:t>
            </a:r>
            <a:r>
              <a:rPr dirty="0" sz="1100">
                <a:latin typeface="Times New Roman"/>
                <a:cs typeface="Times New Roman"/>
              </a:rPr>
              <a:t>the er in </a:t>
            </a:r>
            <a:r>
              <a:rPr dirty="0" sz="1100" spc="-5">
                <a:latin typeface="Times New Roman"/>
                <a:cs typeface="Times New Roman"/>
              </a:rPr>
              <a:t>per, fur, </a:t>
            </a:r>
            <a:r>
              <a:rPr dirty="0" sz="1100">
                <a:latin typeface="Times New Roman"/>
                <a:cs typeface="Times New Roman"/>
              </a:rPr>
              <a:t>her, </a:t>
            </a:r>
            <a:r>
              <a:rPr dirty="0" sz="1100" spc="-10">
                <a:latin typeface="Times New Roman"/>
                <a:cs typeface="Times New Roman"/>
              </a:rPr>
              <a:t>birth,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shirt,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hurt.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ar </a:t>
            </a:r>
            <a:r>
              <a:rPr dirty="0" sz="1100" spc="-5">
                <a:latin typeface="Times New Roman"/>
                <a:cs typeface="Times New Roman"/>
              </a:rPr>
              <a:t>vowels that sound like the </a:t>
            </a:r>
            <a:r>
              <a:rPr dirty="0" sz="1100">
                <a:latin typeface="Times New Roman"/>
                <a:cs typeface="Times New Roman"/>
              </a:rPr>
              <a:t>ar in ‘far’, </a:t>
            </a:r>
            <a:r>
              <a:rPr dirty="0" sz="1100" spc="-5">
                <a:latin typeface="Times New Roman"/>
                <a:cs typeface="Times New Roman"/>
              </a:rPr>
              <a:t>for example, par, far, car, </a:t>
            </a:r>
            <a:r>
              <a:rPr dirty="0" sz="1100">
                <a:latin typeface="Times New Roman"/>
                <a:cs typeface="Times New Roman"/>
              </a:rPr>
              <a:t>and star.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ar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>
                <a:latin typeface="Times New Roman"/>
                <a:cs typeface="Times New Roman"/>
              </a:rPr>
              <a:t> sound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‘share’,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pair, hare,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hair, </a:t>
            </a:r>
            <a:r>
              <a:rPr dirty="0" sz="1100">
                <a:latin typeface="Times New Roman"/>
                <a:cs typeface="Times New Roman"/>
              </a:rPr>
              <a:t>and stare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 sound like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‘or’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or, floor,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door.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vowel </a:t>
            </a:r>
            <a:r>
              <a:rPr dirty="0" sz="1100">
                <a:latin typeface="Times New Roman"/>
                <a:cs typeface="Times New Roman"/>
              </a:rPr>
              <a:t>team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group </a:t>
            </a:r>
            <a:r>
              <a:rPr dirty="0" sz="1100">
                <a:latin typeface="Times New Roman"/>
                <a:cs typeface="Times New Roman"/>
              </a:rPr>
              <a:t>of 2-4 letters, </a:t>
            </a:r>
            <a:r>
              <a:rPr dirty="0" sz="1100" spc="-5">
                <a:latin typeface="Times New Roman"/>
                <a:cs typeface="Times New Roman"/>
              </a:rPr>
              <a:t>usually vowels, which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a 1 </a:t>
            </a:r>
            <a:r>
              <a:rPr dirty="0" sz="1100" spc="-5">
                <a:latin typeface="Times New Roman"/>
                <a:cs typeface="Times New Roman"/>
              </a:rPr>
              <a:t>vowel </a:t>
            </a:r>
            <a:r>
              <a:rPr dirty="0" sz="1100">
                <a:latin typeface="Times New Roman"/>
                <a:cs typeface="Times New Roman"/>
              </a:rPr>
              <a:t>sound.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pronounced,for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rain,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suit,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7138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6738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silent-e syllable is also called </a:t>
            </a:r>
            <a:r>
              <a:rPr dirty="0" sz="1100">
                <a:latin typeface="Times New Roman"/>
                <a:cs typeface="Times New Roman"/>
              </a:rPr>
              <a:t>VCe, </a:t>
            </a:r>
            <a:r>
              <a:rPr dirty="0" sz="1100" spc="-5">
                <a:latin typeface="Times New Roman"/>
                <a:cs typeface="Times New Roman"/>
              </a:rPr>
              <a:t>which stands for </a:t>
            </a:r>
            <a:r>
              <a:rPr dirty="0" sz="1100">
                <a:latin typeface="Times New Roman"/>
                <a:cs typeface="Times New Roman"/>
              </a:rPr>
              <a:t>Vowel-Consonant-e.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consists 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vowel, followed </a:t>
            </a:r>
            <a:r>
              <a:rPr dirty="0" sz="1100">
                <a:latin typeface="Times New Roman"/>
                <a:cs typeface="Times New Roman"/>
              </a:rPr>
              <a:t>by a consonant, </a:t>
            </a:r>
            <a:r>
              <a:rPr dirty="0" sz="1100" spc="-5">
                <a:latin typeface="Times New Roman"/>
                <a:cs typeface="Times New Roman"/>
              </a:rPr>
              <a:t>followed </a:t>
            </a:r>
            <a:r>
              <a:rPr dirty="0" sz="1100">
                <a:latin typeface="Times New Roman"/>
                <a:cs typeface="Times New Roman"/>
              </a:rPr>
              <a:t>by an </a:t>
            </a:r>
            <a:r>
              <a:rPr dirty="0" sz="1100" spc="-5">
                <a:latin typeface="Times New Roman"/>
                <a:cs typeface="Times New Roman"/>
              </a:rPr>
              <a:t>‘e’ that is silent.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vowel has </a:t>
            </a:r>
            <a:r>
              <a:rPr dirty="0" sz="1100">
                <a:latin typeface="Times New Roman"/>
                <a:cs typeface="Times New Roman"/>
              </a:rPr>
              <a:t>a long </a:t>
            </a:r>
            <a:r>
              <a:rPr dirty="0" sz="1100" spc="-5">
                <a:latin typeface="Times New Roman"/>
                <a:cs typeface="Times New Roman"/>
              </a:rPr>
              <a:t>sound (like the ‘i’ 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line),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cake,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theme,</a:t>
            </a:r>
            <a:r>
              <a:rPr dirty="0" sz="1100">
                <a:latin typeface="Times New Roman"/>
                <a:cs typeface="Times New Roman"/>
              </a:rPr>
              <a:t> line,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tone,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tune,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ex-ile.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66738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C-le syllable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the Consonant-le.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consists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 </a:t>
            </a:r>
            <a:r>
              <a:rPr dirty="0" sz="1100">
                <a:latin typeface="Times New Roman"/>
                <a:cs typeface="Times New Roman"/>
              </a:rPr>
              <a:t>by 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‘le’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last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root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tack-le,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freck-le,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tick-le,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buck-le.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086: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Consonant Clusters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6860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/ŋ/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-5">
                <a:latin typeface="Times New Roman"/>
                <a:cs typeface="Times New Roman"/>
              </a:rPr>
              <a:t> rare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63195" indent="-151130">
              <a:lnSpc>
                <a:spcPct val="100000"/>
              </a:lnSpc>
              <a:buFont typeface="Times New Roman"/>
              <a:buAutoNum type="arabicParenR"/>
              <a:tabLst>
                <a:tab pos="163830" algn="l"/>
              </a:tabLst>
            </a:pPr>
            <a:r>
              <a:rPr dirty="0" sz="1100">
                <a:latin typeface="Times New Roman"/>
                <a:cs typeface="Times New Roman"/>
              </a:rPr>
              <a:t>Two-consonant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initial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endParaRPr sz="1100">
              <a:latin typeface="Times New Roman"/>
              <a:cs typeface="Times New Roman"/>
            </a:endParaRPr>
          </a:p>
          <a:p>
            <a:pPr marL="12700" marR="24384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S+t=stay,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S+w=sway,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S+m=smoke.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 examples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pre-initial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/t,w,m/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04139">
              <a:lnSpc>
                <a:spcPct val="110000"/>
              </a:lnSpc>
              <a:buFont typeface="Times New Roman"/>
              <a:buAutoNum type="arabicParenR" startAt="2"/>
              <a:tabLst>
                <a:tab pos="1651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fifteen consonants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/l,r,w,j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quick,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post initial.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arenR" startAt="2"/>
            </a:pPr>
            <a:endParaRPr sz="1350">
              <a:latin typeface="Times New Roman"/>
              <a:cs typeface="Times New Roman"/>
            </a:endParaRPr>
          </a:p>
          <a:p>
            <a:pPr marL="163195" indent="-151130">
              <a:lnSpc>
                <a:spcPct val="100000"/>
              </a:lnSpc>
              <a:spcBef>
                <a:spcPts val="5"/>
              </a:spcBef>
              <a:buFont typeface="Times New Roman"/>
              <a:buAutoNum type="arabicParenR" startAt="2"/>
              <a:tabLst>
                <a:tab pos="163830" algn="l"/>
              </a:tabLst>
            </a:pPr>
            <a:r>
              <a:rPr dirty="0" sz="1100">
                <a:latin typeface="Times New Roman"/>
                <a:cs typeface="Times New Roman"/>
              </a:rPr>
              <a:t>Three </a:t>
            </a:r>
            <a:r>
              <a:rPr dirty="0" sz="1100" spc="-5">
                <a:latin typeface="Times New Roman"/>
                <a:cs typeface="Times New Roman"/>
              </a:rPr>
              <a:t>consonant cluster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 position:</a:t>
            </a:r>
            <a:endParaRPr sz="11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p,t,k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l,r,w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Split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Stream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Square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805939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these words /S /is pre </a:t>
            </a:r>
            <a:r>
              <a:rPr dirty="0" sz="1100" spc="-5">
                <a:latin typeface="Times New Roman"/>
                <a:cs typeface="Times New Roman"/>
              </a:rPr>
              <a:t>initial. </a:t>
            </a:r>
            <a:r>
              <a:rPr dirty="0" sz="1100">
                <a:latin typeface="Times New Roman"/>
                <a:cs typeface="Times New Roman"/>
              </a:rPr>
              <a:t>/p,t,k/ are </a:t>
            </a:r>
            <a:r>
              <a:rPr dirty="0" sz="1100" spc="-5">
                <a:latin typeface="Times New Roman"/>
                <a:cs typeface="Times New Roman"/>
              </a:rPr>
              <a:t>initial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/l,r,w/ are post initial.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final 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/h,r,w,j/ consonants.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Font typeface="Times New Roman"/>
              <a:buAutoNum type="arabicParenR"/>
              <a:tabLst>
                <a:tab pos="1651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Pre-final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+final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/m,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ŋ,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s/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bump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/bʌmp/,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/bent/,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bank</a:t>
            </a:r>
            <a:r>
              <a:rPr dirty="0" sz="1100">
                <a:latin typeface="Times New Roman"/>
                <a:cs typeface="Times New Roman"/>
              </a:rPr>
              <a:t> /bæŋk/,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belt /belt/,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/æsk/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  <a:p>
            <a:pPr algn="r" marL="165100" marR="4896485" indent="-165100">
              <a:lnSpc>
                <a:spcPct val="100000"/>
              </a:lnSpc>
              <a:spcBef>
                <a:spcPts val="155"/>
              </a:spcBef>
              <a:buFont typeface="Times New Roman"/>
              <a:buAutoNum type="arabicParenR" startAt="2"/>
              <a:tabLst>
                <a:tab pos="165100" algn="l"/>
              </a:tabLst>
            </a:pPr>
            <a:r>
              <a:rPr dirty="0" sz="1100">
                <a:latin typeface="Times New Roman"/>
                <a:cs typeface="Times New Roman"/>
              </a:rPr>
              <a:t>Fi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+po</a:t>
            </a:r>
            <a:r>
              <a:rPr dirty="0" sz="1100" spc="-10">
                <a:latin typeface="Times New Roman"/>
                <a:cs typeface="Times New Roman"/>
              </a:rPr>
              <a:t>s</a:t>
            </a:r>
            <a:r>
              <a:rPr dirty="0" sz="1100" spc="5">
                <a:latin typeface="Times New Roman"/>
                <a:cs typeface="Times New Roman"/>
              </a:rPr>
              <a:t>t</a:t>
            </a:r>
            <a:r>
              <a:rPr dirty="0" sz="1100" spc="-20">
                <a:latin typeface="Times New Roman"/>
                <a:cs typeface="Times New Roman"/>
              </a:rPr>
              <a:t>-</a:t>
            </a:r>
            <a:r>
              <a:rPr dirty="0" sz="1100">
                <a:latin typeface="Times New Roman"/>
                <a:cs typeface="Times New Roman"/>
              </a:rPr>
              <a:t>final</a:t>
            </a:r>
            <a:endParaRPr sz="1100">
              <a:latin typeface="Times New Roman"/>
              <a:cs typeface="Times New Roman"/>
            </a:endParaRPr>
          </a:p>
          <a:p>
            <a:pPr algn="r" lvl="1" marL="227965" marR="4842510" indent="-227965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-5">
                <a:latin typeface="Times New Roman"/>
                <a:cs typeface="Times New Roman"/>
              </a:rPr>
              <a:t>/s,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θ/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Bets,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backed,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Bagged,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27406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Two </a:t>
            </a:r>
            <a:r>
              <a:rPr dirty="0" sz="1100" spc="-5" b="1">
                <a:latin typeface="Times New Roman"/>
                <a:cs typeface="Times New Roman"/>
              </a:rPr>
              <a:t>Types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Three-Consonant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Cluster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99946" y="1283842"/>
            <a:ext cx="4800600" cy="6415405"/>
            <a:chOff x="1599946" y="1283842"/>
            <a:chExt cx="4800600" cy="64154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9946" y="1283842"/>
              <a:ext cx="4572000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4736972"/>
              <a:ext cx="4571365" cy="296202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4314570"/>
            <a:ext cx="30308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5" b="1">
                <a:latin typeface="Times New Roman"/>
                <a:cs typeface="Times New Roman"/>
              </a:rPr>
              <a:t> Different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Analysis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</a:t>
            </a:r>
            <a:r>
              <a:rPr dirty="0" sz="1100" b="1">
                <a:latin typeface="Times New Roman"/>
                <a:cs typeface="Times New Roman"/>
              </a:rPr>
              <a:t> Pre-Final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Consonant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7559802"/>
            <a:ext cx="5970270" cy="1300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Abutting Consonants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three consonants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beginning of a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and up to </a:t>
            </a:r>
            <a:r>
              <a:rPr dirty="0" sz="1100" spc="-5">
                <a:latin typeface="Times New Roman"/>
                <a:cs typeface="Times New Roman"/>
              </a:rPr>
              <a:t>four </a:t>
            </a:r>
            <a:r>
              <a:rPr dirty="0" sz="1100">
                <a:latin typeface="Times New Roman"/>
                <a:cs typeface="Times New Roman"/>
              </a:rPr>
              <a:t>consonants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end. </a:t>
            </a:r>
            <a:r>
              <a:rPr dirty="0" sz="1100">
                <a:latin typeface="Times New Roman"/>
                <a:cs typeface="Times New Roman"/>
              </a:rPr>
              <a:t> Sequences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occurring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consonant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In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send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/send/, </a:t>
            </a:r>
            <a:r>
              <a:rPr dirty="0" sz="1100">
                <a:latin typeface="Times New Roman"/>
                <a:cs typeface="Times New Roman"/>
              </a:rPr>
              <a:t>/-nd/ </a:t>
            </a:r>
            <a:r>
              <a:rPr dirty="0" sz="1100" spc="-5">
                <a:latin typeface="Times New Roman"/>
                <a:cs typeface="Times New Roman"/>
              </a:rPr>
              <a:t>belongs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same syllable whereas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number /ˈnʌmbər/, /-mb-/ </a:t>
            </a:r>
            <a:r>
              <a:rPr dirty="0" sz="1100">
                <a:latin typeface="Times New Roman"/>
                <a:cs typeface="Times New Roman"/>
              </a:rPr>
              <a:t>belongs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different syllables. Consonants like /-m/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/b-/ occurring </a:t>
            </a:r>
            <a:r>
              <a:rPr dirty="0" sz="1100">
                <a:latin typeface="Times New Roman"/>
                <a:cs typeface="Times New Roman"/>
              </a:rPr>
              <a:t>together in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belonging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syllables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abutting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914400"/>
            <a:ext cx="4571365" cy="30286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4706365"/>
            <a:ext cx="4568190" cy="266687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41903" y="1122934"/>
            <a:ext cx="6889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ST</a:t>
            </a:r>
            <a:r>
              <a:rPr dirty="0" sz="1400" spc="-10" b="1">
                <a:latin typeface="Times New Roman"/>
                <a:cs typeface="Times New Roman"/>
              </a:rPr>
              <a:t>R</a:t>
            </a:r>
            <a:r>
              <a:rPr dirty="0" sz="1400" b="1">
                <a:latin typeface="Times New Roman"/>
                <a:cs typeface="Times New Roman"/>
              </a:rPr>
              <a:t>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362201"/>
            <a:ext cx="5971540" cy="688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088: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phonology, </a:t>
            </a:r>
            <a:r>
              <a:rPr dirty="0" sz="1100">
                <a:latin typeface="Times New Roman"/>
                <a:cs typeface="Times New Roman"/>
              </a:rPr>
              <a:t>stress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accent is </a:t>
            </a:r>
            <a:r>
              <a:rPr dirty="0" sz="1100" spc="-5">
                <a:latin typeface="Times New Roman"/>
                <a:cs typeface="Times New Roman"/>
              </a:rPr>
              <a:t>relative emphasis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prominence given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certain syllable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look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second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disyllable word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first syllable while the third word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tri-syllable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syllable: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537845">
              <a:lnSpc>
                <a:spcPct val="100000"/>
              </a:lnSpc>
              <a:tabLst>
                <a:tab pos="2755900" algn="l"/>
                <a:tab pos="4584700" algn="l"/>
              </a:tabLst>
            </a:pP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/ˈfreɪz/	profile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/ˈprəʊ.faɪl/	</a:t>
            </a:r>
            <a:r>
              <a:rPr dirty="0" sz="1100">
                <a:latin typeface="Times New Roman"/>
                <a:cs typeface="Times New Roman"/>
              </a:rPr>
              <a:t>potato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/pəˈteɪ.təʊ/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emphasis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typically </a:t>
            </a:r>
            <a:r>
              <a:rPr dirty="0" sz="1100">
                <a:latin typeface="Times New Roman"/>
                <a:cs typeface="Times New Roman"/>
              </a:rPr>
              <a:t>caused by </a:t>
            </a:r>
            <a:r>
              <a:rPr dirty="0" sz="1100" spc="-5">
                <a:latin typeface="Times New Roman"/>
                <a:cs typeface="Times New Roman"/>
              </a:rPr>
              <a:t>such properties as increased loudness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vowel </a:t>
            </a:r>
            <a:r>
              <a:rPr dirty="0" sz="1100">
                <a:latin typeface="Times New Roman"/>
                <a:cs typeface="Times New Roman"/>
              </a:rPr>
              <a:t>length, </a:t>
            </a:r>
            <a:r>
              <a:rPr dirty="0" sz="1100" spc="-5">
                <a:latin typeface="Times New Roman"/>
                <a:cs typeface="Times New Roman"/>
              </a:rPr>
              <a:t>full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terms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often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synonymously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context,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they are sometimes distinguished.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when emphasis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produced 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 alone,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called pitch accent,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produced </a:t>
            </a:r>
            <a:r>
              <a:rPr dirty="0" sz="1100" spc="-5">
                <a:latin typeface="Times New Roman"/>
                <a:cs typeface="Times New Roman"/>
              </a:rPr>
              <a:t>through length alone, it is called quantitative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accent. When </a:t>
            </a:r>
            <a:r>
              <a:rPr dirty="0" sz="1100">
                <a:latin typeface="Times New Roman"/>
                <a:cs typeface="Times New Roman"/>
              </a:rPr>
              <a:t>caused by a </a:t>
            </a:r>
            <a:r>
              <a:rPr dirty="0" sz="1100" spc="-5">
                <a:latin typeface="Times New Roman"/>
                <a:cs typeface="Times New Roman"/>
              </a:rPr>
              <a:t>combination </a:t>
            </a:r>
            <a:r>
              <a:rPr dirty="0" sz="1100">
                <a:latin typeface="Times New Roman"/>
                <a:cs typeface="Times New Roman"/>
              </a:rPr>
              <a:t>of various </a:t>
            </a:r>
            <a:r>
              <a:rPr dirty="0" sz="1100" spc="-5">
                <a:latin typeface="Times New Roman"/>
                <a:cs typeface="Times New Roman"/>
              </a:rPr>
              <a:t>intensified properties, it is called stress accent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dynamic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characteristics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stress? We can </a:t>
            </a:r>
            <a:r>
              <a:rPr dirty="0" sz="1100">
                <a:latin typeface="Times New Roman"/>
                <a:cs typeface="Times New Roman"/>
              </a:rPr>
              <a:t>look </a:t>
            </a:r>
            <a:r>
              <a:rPr dirty="0" sz="1100" spc="-5">
                <a:latin typeface="Times New Roman"/>
                <a:cs typeface="Times New Roman"/>
              </a:rPr>
              <a:t>at this question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two points: production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perception point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view. </a:t>
            </a:r>
            <a:r>
              <a:rPr dirty="0" sz="1100" spc="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production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view,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articulatory muscles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active,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energy,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sub-glottal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perception point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view,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stressed syllable </a:t>
            </a:r>
            <a:r>
              <a:rPr dirty="0" sz="1100" spc="5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the feature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prominence which has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 qualities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loudness, vowel length, quality, </a:t>
            </a:r>
            <a:r>
              <a:rPr dirty="0" sz="1100">
                <a:latin typeface="Times New Roman"/>
                <a:cs typeface="Times New Roman"/>
              </a:rPr>
              <a:t>and pitch, </a:t>
            </a:r>
            <a:r>
              <a:rPr dirty="0" sz="1100" spc="-5">
                <a:latin typeface="Times New Roman"/>
                <a:cs typeface="Times New Roman"/>
              </a:rPr>
              <a:t>which are also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for other 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functions;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>
                <a:latin typeface="Times New Roman"/>
                <a:cs typeface="Times New Roman"/>
              </a:rPr>
              <a:t>solely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phonetically.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-5">
                <a:latin typeface="Times New Roman"/>
                <a:cs typeface="Times New Roman"/>
              </a:rPr>
              <a:t> characteristics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prominence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Louder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Length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Pitch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Quality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stress </a:t>
            </a:r>
            <a:r>
              <a:rPr dirty="0" sz="1100" spc="-5">
                <a:latin typeface="Times New Roman"/>
                <a:cs typeface="Times New Roman"/>
              </a:rPr>
              <a:t>placed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syllables within words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word stress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lexical stress. Some </a:t>
            </a:r>
            <a:r>
              <a:rPr dirty="0" sz="1100">
                <a:latin typeface="Times New Roman"/>
                <a:cs typeface="Times New Roman"/>
              </a:rPr>
              <a:t>languages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fixed stress, meaning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virtually any multisyllabic word falls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particular syllable, </a:t>
            </a:r>
            <a:r>
              <a:rPr dirty="0" sz="1100">
                <a:latin typeface="Times New Roman"/>
                <a:cs typeface="Times New Roman"/>
              </a:rPr>
              <a:t> such as </a:t>
            </a:r>
            <a:r>
              <a:rPr dirty="0" sz="1100" spc="-5">
                <a:latin typeface="Times New Roman"/>
                <a:cs typeface="Times New Roman"/>
              </a:rPr>
              <a:t>the first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penultimate. Other languages, like English, </a:t>
            </a:r>
            <a:r>
              <a:rPr dirty="0" sz="1100" spc="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variable </a:t>
            </a:r>
            <a:r>
              <a:rPr dirty="0" sz="1100" spc="-5">
                <a:latin typeface="Times New Roman"/>
                <a:cs typeface="Times New Roman"/>
              </a:rPr>
              <a:t>stress,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the position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 in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predictable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that way. Sometimes more than one level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stress,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primary </a:t>
            </a:r>
            <a:r>
              <a:rPr dirty="0" sz="1100">
                <a:latin typeface="Times New Roman"/>
                <a:cs typeface="Times New Roman"/>
              </a:rPr>
              <a:t> stress </a:t>
            </a:r>
            <a:r>
              <a:rPr dirty="0" sz="1100" spc="-5">
                <a:latin typeface="Times New Roman"/>
                <a:cs typeface="Times New Roman"/>
              </a:rPr>
              <a:t>and secondary </a:t>
            </a:r>
            <a:r>
              <a:rPr dirty="0" sz="1100">
                <a:latin typeface="Times New Roman"/>
                <a:cs typeface="Times New Roman"/>
              </a:rPr>
              <a:t>stress,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identified. </a:t>
            </a:r>
            <a:r>
              <a:rPr dirty="0" sz="1100" spc="-5">
                <a:latin typeface="Times New Roman"/>
                <a:cs typeface="Times New Roman"/>
              </a:rPr>
              <a:t>However, some languages,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French and </a:t>
            </a:r>
            <a:r>
              <a:rPr dirty="0" sz="1100" spc="-5">
                <a:latin typeface="Times New Roman"/>
                <a:cs typeface="Times New Roman"/>
              </a:rPr>
              <a:t>Mandarin,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sometimes analyzed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lacking lexical stress entirely. Stress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placed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lexical words like verb,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3445" cy="779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089: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Stress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(Word-stress)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prosodic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three components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prosody, </a:t>
            </a:r>
            <a:r>
              <a:rPr dirty="0" sz="1100">
                <a:latin typeface="Times New Roman"/>
                <a:cs typeface="Times New Roman"/>
              </a:rPr>
              <a:t>along </a:t>
            </a:r>
            <a:r>
              <a:rPr dirty="0" sz="1100" spc="-5">
                <a:latin typeface="Times New Roman"/>
                <a:cs typeface="Times New Roman"/>
              </a:rPr>
              <a:t>with rhythm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intonation. Spoken English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rhythmic,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 music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poetry, and that rhythm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pauses and stress.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 spc="5">
                <a:latin typeface="Times New Roman"/>
                <a:cs typeface="Times New Roman"/>
              </a:rPr>
              <a:t>tells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listener 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important. Most</a:t>
            </a:r>
            <a:r>
              <a:rPr dirty="0" sz="1100">
                <a:latin typeface="Times New Roman"/>
                <a:cs typeface="Times New Roman"/>
              </a:rPr>
              <a:t> unstressed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discarded.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native speaker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forced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listen </a:t>
            </a:r>
            <a:r>
              <a:rPr dirty="0" sz="1100">
                <a:latin typeface="Times New Roman"/>
                <a:cs typeface="Times New Roman"/>
              </a:rPr>
              <a:t>to every </a:t>
            </a:r>
            <a:r>
              <a:rPr dirty="0" sz="1100" spc="-5">
                <a:latin typeface="Times New Roman"/>
                <a:cs typeface="Times New Roman"/>
              </a:rPr>
              <a:t>word, which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boring, </a:t>
            </a:r>
            <a:r>
              <a:rPr dirty="0" sz="1100">
                <a:latin typeface="Times New Roman"/>
                <a:cs typeface="Times New Roman"/>
              </a:rPr>
              <a:t>difficult, </a:t>
            </a:r>
            <a:r>
              <a:rPr dirty="0" sz="1100" spc="-5">
                <a:latin typeface="Times New Roman"/>
                <a:cs typeface="Times New Roman"/>
              </a:rPr>
              <a:t>and tiring. Thus,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-10">
                <a:latin typeface="Times New Roman"/>
                <a:cs typeface="Times New Roman"/>
              </a:rPr>
              <a:t> rhythm,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stress.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syllables: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unstressed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endParaRPr sz="1100">
              <a:latin typeface="Times New Roman"/>
              <a:cs typeface="Times New Roman"/>
            </a:endParaRPr>
          </a:p>
          <a:p>
            <a:pPr algn="just" marL="469265" marR="6350" indent="-228600">
              <a:lnSpc>
                <a:spcPct val="1104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Primary </a:t>
            </a:r>
            <a:r>
              <a:rPr dirty="0" sz="1100" spc="-5">
                <a:latin typeface="Times New Roman"/>
                <a:cs typeface="Times New Roman"/>
              </a:rPr>
              <a:t>stress: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syllable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louder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the unstressed syllable has primary </a:t>
            </a:r>
            <a:r>
              <a:rPr dirty="0" sz="1100">
                <a:latin typeface="Times New Roman"/>
                <a:cs typeface="Times New Roman"/>
              </a:rPr>
              <a:t>stress.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IPA </a:t>
            </a:r>
            <a:r>
              <a:rPr dirty="0" sz="1100" spc="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putting a </a:t>
            </a:r>
            <a:r>
              <a:rPr dirty="0" sz="1100" spc="-5">
                <a:latin typeface="Times New Roman"/>
                <a:cs typeface="Times New Roman"/>
              </a:rPr>
              <a:t>raised vertical line [']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beginning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syllable.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 ‘about’ </a:t>
            </a:r>
            <a:r>
              <a:rPr dirty="0" sz="1100" spc="-5">
                <a:latin typeface="Times New Roman"/>
                <a:cs typeface="Times New Roman"/>
              </a:rPr>
              <a:t>/əˈbaʊt/ </a:t>
            </a:r>
            <a:r>
              <a:rPr dirty="0" sz="1100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stressed. The second syllable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prominent </a:t>
            </a:r>
            <a:r>
              <a:rPr dirty="0" sz="1100">
                <a:latin typeface="Times New Roman"/>
                <a:cs typeface="Times New Roman"/>
              </a:rPr>
              <a:t>and said </a:t>
            </a:r>
            <a:r>
              <a:rPr dirty="0" sz="1100" spc="-5">
                <a:latin typeface="Times New Roman"/>
                <a:cs typeface="Times New Roman"/>
              </a:rPr>
              <a:t>with great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force, </a:t>
            </a:r>
            <a:r>
              <a:rPr dirty="0" sz="1100">
                <a:latin typeface="Times New Roman"/>
                <a:cs typeface="Times New Roman"/>
              </a:rPr>
              <a:t>so,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stress.</a:t>
            </a:r>
            <a:endParaRPr sz="1100">
              <a:latin typeface="Times New Roman"/>
              <a:cs typeface="Times New Roman"/>
            </a:endParaRPr>
          </a:p>
          <a:p>
            <a:pPr algn="just" marL="469265" marR="6985" indent="-228600">
              <a:lnSpc>
                <a:spcPct val="1105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Secondary </a:t>
            </a:r>
            <a:r>
              <a:rPr dirty="0" sz="1100" spc="-5">
                <a:latin typeface="Times New Roman"/>
                <a:cs typeface="Times New Roman"/>
              </a:rPr>
              <a:t>stress: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syllables </a:t>
            </a:r>
            <a:r>
              <a:rPr dirty="0" sz="1100">
                <a:latin typeface="Times New Roman"/>
                <a:cs typeface="Times New Roman"/>
              </a:rPr>
              <a:t>having </a:t>
            </a:r>
            <a:r>
              <a:rPr dirty="0" sz="1100" spc="-5">
                <a:latin typeface="Times New Roman"/>
                <a:cs typeface="Times New Roman"/>
              </a:rPr>
              <a:t>secondary stress are not completely </a:t>
            </a:r>
            <a:r>
              <a:rPr dirty="0" sz="1100">
                <a:latin typeface="Times New Roman"/>
                <a:cs typeface="Times New Roman"/>
              </a:rPr>
              <a:t>unstressed, but </a:t>
            </a:r>
            <a:r>
              <a:rPr dirty="0" sz="1100" spc="-5">
                <a:latin typeface="Times New Roman"/>
                <a:cs typeface="Times New Roman"/>
              </a:rPr>
              <a:t>are not </a:t>
            </a:r>
            <a:r>
              <a:rPr dirty="0" sz="1100">
                <a:latin typeface="Times New Roman"/>
                <a:cs typeface="Times New Roman"/>
              </a:rPr>
              <a:t> as loud </a:t>
            </a:r>
            <a:r>
              <a:rPr dirty="0" sz="1100" spc="-5">
                <a:latin typeface="Times New Roman"/>
                <a:cs typeface="Times New Roman"/>
              </a:rPr>
              <a:t>as the primary stress. Secondary stress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marked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lowered vertical line [ˌ] at the </a:t>
            </a:r>
            <a:r>
              <a:rPr dirty="0" sz="1100">
                <a:latin typeface="Times New Roman"/>
                <a:cs typeface="Times New Roman"/>
              </a:rPr>
              <a:t> beginning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endParaRPr sz="1100">
              <a:latin typeface="Times New Roman"/>
              <a:cs typeface="Times New Roman"/>
            </a:endParaRPr>
          </a:p>
          <a:p>
            <a:pPr algn="just" marL="469265" marR="508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‘photographic’ /ˌfəʊ.təˈɡræf.ɪk/ we </a:t>
            </a:r>
            <a:r>
              <a:rPr dirty="0" sz="1100">
                <a:latin typeface="Times New Roman"/>
                <a:cs typeface="Times New Roman"/>
              </a:rPr>
              <a:t>find </a:t>
            </a:r>
            <a:r>
              <a:rPr dirty="0" sz="1100" spc="-5">
                <a:latin typeface="Times New Roman"/>
                <a:cs typeface="Times New Roman"/>
              </a:rPr>
              <a:t>primary </a:t>
            </a:r>
            <a:r>
              <a:rPr dirty="0" sz="1100">
                <a:latin typeface="Times New Roman"/>
                <a:cs typeface="Times New Roman"/>
              </a:rPr>
              <a:t>stress is on </a:t>
            </a:r>
            <a:r>
              <a:rPr dirty="0" sz="1100" spc="-5">
                <a:latin typeface="Times New Roman"/>
                <a:cs typeface="Times New Roman"/>
              </a:rPr>
              <a:t>third syllable whereas </a:t>
            </a:r>
            <a:r>
              <a:rPr dirty="0" sz="1100">
                <a:latin typeface="Times New Roman"/>
                <a:cs typeface="Times New Roman"/>
              </a:rPr>
              <a:t>secondary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Besides,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three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situations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265" marR="8255" indent="-228600">
              <a:lnSpc>
                <a:spcPts val="1460"/>
              </a:lnSpc>
              <a:spcBef>
                <a:spcPts val="65"/>
              </a:spcBef>
              <a:buAutoNum type="arabicPeriod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Syllable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stress: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louder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clearly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adjacent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syllables.</a:t>
            </a:r>
            <a:endParaRPr sz="1100">
              <a:latin typeface="Times New Roman"/>
              <a:cs typeface="Times New Roman"/>
            </a:endParaRPr>
          </a:p>
          <a:p>
            <a:pPr marL="469265" marR="10160" indent="-228600">
              <a:lnSpc>
                <a:spcPts val="145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Word</a:t>
            </a:r>
            <a:r>
              <a:rPr dirty="0" sz="1100" spc="1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stress: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stress,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louder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adjacent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469265" marR="7620" indent="-228600">
              <a:lnSpc>
                <a:spcPts val="145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Phrase,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clause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or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stress: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louder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clearly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adjacent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469265" marR="10795">
              <a:lnSpc>
                <a:spcPts val="145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paragraph.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most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paragraph.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Sentence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-5">
                <a:latin typeface="Times New Roman"/>
                <a:cs typeface="Times New Roman"/>
              </a:rPr>
              <a:t>stress 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music </a:t>
            </a:r>
            <a:r>
              <a:rPr dirty="0" sz="1100">
                <a:latin typeface="Times New Roman"/>
                <a:cs typeface="Times New Roman"/>
              </a:rPr>
              <a:t>of spoken </a:t>
            </a:r>
            <a:r>
              <a:rPr dirty="0" sz="1100" spc="-5">
                <a:latin typeface="Times New Roman"/>
                <a:cs typeface="Times New Roman"/>
              </a:rPr>
              <a:t>English. Like word </a:t>
            </a:r>
            <a:r>
              <a:rPr dirty="0" sz="1100">
                <a:latin typeface="Times New Roman"/>
                <a:cs typeface="Times New Roman"/>
              </a:rPr>
              <a:t>stress, </a:t>
            </a:r>
            <a:r>
              <a:rPr dirty="0" sz="1100" spc="-5">
                <a:latin typeface="Times New Roman"/>
                <a:cs typeface="Times New Roman"/>
              </a:rPr>
              <a:t>sentence stress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help understand </a:t>
            </a:r>
            <a:r>
              <a:rPr dirty="0" sz="1100">
                <a:latin typeface="Times New Roman"/>
                <a:cs typeface="Times New Roman"/>
              </a:rPr>
              <a:t> spoken </a:t>
            </a:r>
            <a:r>
              <a:rPr dirty="0" sz="1100" spc="-5">
                <a:latin typeface="Times New Roman"/>
                <a:cs typeface="Times New Roman"/>
              </a:rPr>
              <a:t>English, 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rapid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rhythm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‘beat’.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 stress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accent on </a:t>
            </a:r>
            <a:r>
              <a:rPr dirty="0" sz="1100" spc="-5">
                <a:latin typeface="Times New Roman"/>
                <a:cs typeface="Times New Roman"/>
              </a:rPr>
              <a:t>one syllable within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whereas </a:t>
            </a: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-5">
                <a:latin typeface="Times New Roman"/>
                <a:cs typeface="Times New Roman"/>
              </a:rPr>
              <a:t>stress is </a:t>
            </a:r>
            <a:r>
              <a:rPr dirty="0" sz="1100">
                <a:latin typeface="Times New Roman"/>
                <a:cs typeface="Times New Roman"/>
              </a:rPr>
              <a:t>accent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certain </a:t>
            </a:r>
            <a:r>
              <a:rPr dirty="0" sz="1100" spc="-5">
                <a:latin typeface="Times New Roman"/>
                <a:cs typeface="Times New Roman"/>
              </a:rPr>
              <a:t>words within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algn="just" marL="50482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words: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Content</a:t>
            </a:r>
            <a:r>
              <a:rPr dirty="0" sz="1100" spc="-5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206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Content words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the key words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sentence. They </a:t>
            </a:r>
            <a:r>
              <a:rPr dirty="0" sz="1100">
                <a:latin typeface="Times New Roman"/>
                <a:cs typeface="Times New Roman"/>
              </a:rPr>
              <a:t>are the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 spc="-1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that carry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sense—the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67730" cy="1302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Structure</a:t>
            </a:r>
            <a:r>
              <a:rPr dirty="0" sz="1100" spc="-5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Structure words are not </a:t>
            </a:r>
            <a:r>
              <a:rPr dirty="0" sz="1100">
                <a:latin typeface="Times New Roman"/>
                <a:cs typeface="Times New Roman"/>
              </a:rPr>
              <a:t>very </a:t>
            </a:r>
            <a:r>
              <a:rPr dirty="0" sz="1100" spc="-5">
                <a:latin typeface="Times New Roman"/>
                <a:cs typeface="Times New Roman"/>
              </a:rPr>
              <a:t>important words. They </a:t>
            </a:r>
            <a:r>
              <a:rPr dirty="0" sz="1100">
                <a:latin typeface="Times New Roman"/>
                <a:cs typeface="Times New Roman"/>
              </a:rPr>
              <a:t>are small, </a:t>
            </a:r>
            <a:r>
              <a:rPr dirty="0" sz="1100" spc="-5">
                <a:latin typeface="Times New Roman"/>
                <a:cs typeface="Times New Roman"/>
              </a:rPr>
              <a:t>simple words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the sentence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grammatically correct. They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its correct </a:t>
            </a:r>
            <a:r>
              <a:rPr dirty="0" sz="1100">
                <a:latin typeface="Times New Roman"/>
                <a:cs typeface="Times New Roman"/>
              </a:rPr>
              <a:t>form i.e., its </a:t>
            </a:r>
            <a:r>
              <a:rPr dirty="0" sz="1100" spc="-5">
                <a:latin typeface="Times New Roman"/>
                <a:cs typeface="Times New Roman"/>
              </a:rPr>
              <a:t>structure. Content words 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removed</a:t>
            </a:r>
            <a:r>
              <a:rPr dirty="0" sz="1100">
                <a:latin typeface="Times New Roman"/>
                <a:cs typeface="Times New Roman"/>
              </a:rPr>
              <a:t> while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removed.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Sentence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Stress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2208276"/>
            <a:ext cx="4571365" cy="32278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8285" y="5645340"/>
            <a:ext cx="4571365" cy="316204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7316571"/>
            <a:ext cx="5919470" cy="156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kinds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usually stressed.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(help)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two-part verbs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(quick)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(emergency)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negative auxiliary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(don't)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 verbs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‘Don't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late!’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914400"/>
            <a:ext cx="4571365" cy="27810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946" y="3904488"/>
            <a:ext cx="4572635" cy="342963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7856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 indent="45656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pronouns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(your)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(was)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 (can)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conjunctions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(and,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prepositions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 verbs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(can't,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don't,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hasn't,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 stressed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091:</a:t>
            </a:r>
            <a:r>
              <a:rPr dirty="0" u="heavy" sz="1100" spc="2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Syllable-timed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Languages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Stress-timed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Many people </a:t>
            </a:r>
            <a:r>
              <a:rPr dirty="0" sz="1100" spc="-5">
                <a:latin typeface="Times New Roman"/>
                <a:cs typeface="Times New Roman"/>
              </a:rPr>
              <a:t>think, when </a:t>
            </a:r>
            <a:r>
              <a:rPr dirty="0" sz="1100">
                <a:latin typeface="Times New Roman"/>
                <a:cs typeface="Times New Roman"/>
              </a:rPr>
              <a:t>they are studying a language, and they are new to </a:t>
            </a:r>
            <a:r>
              <a:rPr dirty="0" sz="1100" spc="-5">
                <a:latin typeface="Times New Roman"/>
                <a:cs typeface="Times New Roman"/>
              </a:rPr>
              <a:t>it, that they </a:t>
            </a:r>
            <a:r>
              <a:rPr dirty="0" sz="1100">
                <a:latin typeface="Times New Roman"/>
                <a:cs typeface="Times New Roman"/>
              </a:rPr>
              <a:t>need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pronounce each </a:t>
            </a:r>
            <a:r>
              <a:rPr dirty="0" sz="1100" spc="-5">
                <a:latin typeface="Times New Roman"/>
                <a:cs typeface="Times New Roman"/>
              </a:rPr>
              <a:t>word fully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clearly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to </a:t>
            </a:r>
            <a:r>
              <a:rPr dirty="0" sz="1100">
                <a:latin typeface="Times New Roman"/>
                <a:cs typeface="Times New Roman"/>
              </a:rPr>
              <a:t>be well-understood.  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that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the case.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stress-timed language.</a:t>
            </a:r>
            <a:r>
              <a:rPr dirty="0" sz="1100">
                <a:latin typeface="Times New Roman"/>
                <a:cs typeface="Times New Roman"/>
              </a:rPr>
              <a:t> That </a:t>
            </a:r>
            <a:r>
              <a:rPr dirty="0" sz="1100" spc="-5">
                <a:latin typeface="Times New Roman"/>
                <a:cs typeface="Times New Roman"/>
              </a:rPr>
              <a:t>means some syllables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 longer,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will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shorter.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languages, however,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syllable-timed, </a:t>
            </a:r>
            <a:r>
              <a:rPr dirty="0" sz="1100">
                <a:latin typeface="Times New Roman"/>
                <a:cs typeface="Times New Roman"/>
              </a:rPr>
              <a:t>which means each </a:t>
            </a:r>
            <a:r>
              <a:rPr dirty="0" sz="1100" spc="-5">
                <a:latin typeface="Times New Roman"/>
                <a:cs typeface="Times New Roman"/>
              </a:rPr>
              <a:t>syllable has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length.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syllable-timed languages </a:t>
            </a:r>
            <a:r>
              <a:rPr dirty="0" sz="1100">
                <a:latin typeface="Times New Roman"/>
                <a:cs typeface="Times New Roman"/>
              </a:rPr>
              <a:t>include French, </a:t>
            </a:r>
            <a:r>
              <a:rPr dirty="0" sz="1100" spc="-5">
                <a:latin typeface="Times New Roman"/>
                <a:cs typeface="Times New Roman"/>
              </a:rPr>
              <a:t>Spanish, </a:t>
            </a:r>
            <a:r>
              <a:rPr dirty="0" sz="1100">
                <a:latin typeface="Times New Roman"/>
                <a:cs typeface="Times New Roman"/>
              </a:rPr>
              <a:t>and Cantonese.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British/American hears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English, with each syllable </a:t>
            </a:r>
            <a:r>
              <a:rPr dirty="0" sz="1100">
                <a:latin typeface="Times New Roman"/>
                <a:cs typeface="Times New Roman"/>
              </a:rPr>
              <a:t>having the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 spc="5">
                <a:latin typeface="Times New Roman"/>
                <a:cs typeface="Times New Roman"/>
              </a:rPr>
              <a:t>length,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takes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r>
              <a:rPr dirty="0" sz="1100">
                <a:latin typeface="Times New Roman"/>
                <a:cs typeface="Times New Roman"/>
              </a:rPr>
              <a:t> This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 will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 of the </a:t>
            </a:r>
            <a:r>
              <a:rPr dirty="0" sz="1100" spc="-5">
                <a:latin typeface="Times New Roman"/>
                <a:cs typeface="Times New Roman"/>
              </a:rPr>
              <a:t>line </a:t>
            </a:r>
            <a:r>
              <a:rPr dirty="0" sz="1100">
                <a:latin typeface="Times New Roman"/>
                <a:cs typeface="Times New Roman"/>
              </a:rPr>
              <a:t> because they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longer, </a:t>
            </a:r>
            <a:r>
              <a:rPr dirty="0" sz="1100" spc="-5">
                <a:latin typeface="Times New Roman"/>
                <a:cs typeface="Times New Roman"/>
              </a:rPr>
              <a:t>and they have more shape.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English ears and brains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 spc="-5">
                <a:latin typeface="Times New Roman"/>
                <a:cs typeface="Times New Roman"/>
              </a:rPr>
              <a:t>straight to those </a:t>
            </a:r>
            <a:r>
              <a:rPr dirty="0" sz="1100">
                <a:latin typeface="Times New Roman"/>
                <a:cs typeface="Times New Roman"/>
              </a:rPr>
              <a:t> 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5">
                <a:latin typeface="Times New Roman"/>
                <a:cs typeface="Times New Roman"/>
              </a:rPr>
              <a:t>are the content words.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all syllables are the same </a:t>
            </a:r>
            <a:r>
              <a:rPr dirty="0" sz="1100">
                <a:latin typeface="Times New Roman"/>
                <a:cs typeface="Times New Roman"/>
              </a:rPr>
              <a:t>length, </a:t>
            </a:r>
            <a:r>
              <a:rPr dirty="0" sz="1100" spc="-5">
                <a:latin typeface="Times New Roman"/>
                <a:cs typeface="Times New Roman"/>
              </a:rPr>
              <a:t>then there is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know 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most important.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5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syllable-timed </a:t>
            </a:r>
            <a:r>
              <a:rPr dirty="0" sz="1100">
                <a:latin typeface="Times New Roman"/>
                <a:cs typeface="Times New Roman"/>
              </a:rPr>
              <a:t>language, every syllable </a:t>
            </a:r>
            <a:r>
              <a:rPr dirty="0" sz="1100" spc="-5">
                <a:latin typeface="Times New Roman"/>
                <a:cs typeface="Times New Roman"/>
              </a:rPr>
              <a:t>is perceived </a:t>
            </a:r>
            <a:r>
              <a:rPr dirty="0" sz="1100">
                <a:latin typeface="Times New Roman"/>
                <a:cs typeface="Times New Roman"/>
              </a:rPr>
              <a:t>as taking up </a:t>
            </a:r>
            <a:r>
              <a:rPr dirty="0" sz="1100" spc="-5">
                <a:latin typeface="Times New Roman"/>
                <a:cs typeface="Times New Roman"/>
              </a:rPr>
              <a:t>roughly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amount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 though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absolute length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depends on </a:t>
            </a:r>
            <a:r>
              <a:rPr dirty="0" sz="1100" spc="-5">
                <a:latin typeface="Times New Roman"/>
                <a:cs typeface="Times New Roman"/>
              </a:rPr>
              <a:t>the prosody. Syllable-timed languages tend to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 spc="-5">
                <a:latin typeface="Times New Roman"/>
                <a:cs typeface="Times New Roman"/>
              </a:rPr>
              <a:t> syllables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approximately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equal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prominence,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French,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Italian,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Spanish,</a:t>
            </a:r>
            <a:r>
              <a:rPr dirty="0" sz="1100">
                <a:latin typeface="Times New Roman"/>
                <a:cs typeface="Times New Roman"/>
              </a:rPr>
              <a:t> Icelandic,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Cantonese,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Georgian,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Romanian,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Armenian,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Welsh,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Turkish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quoted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syllable-timed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rhythm was </a:t>
            </a:r>
            <a:r>
              <a:rPr dirty="0" sz="1100">
                <a:latin typeface="Times New Roman"/>
                <a:cs typeface="Times New Roman"/>
              </a:rPr>
              <a:t>originally </a:t>
            </a:r>
            <a:r>
              <a:rPr dirty="0" sz="1100" spc="-5">
                <a:latin typeface="Times New Roman"/>
                <a:cs typeface="Times New Roman"/>
              </a:rPr>
              <a:t>metaphorically referred </a:t>
            </a:r>
            <a:r>
              <a:rPr dirty="0" sz="1100">
                <a:latin typeface="Times New Roman"/>
                <a:cs typeface="Times New Roman"/>
              </a:rPr>
              <a:t>to as </a:t>
            </a:r>
            <a:r>
              <a:rPr dirty="0" sz="1100" spc="-5">
                <a:latin typeface="Times New Roman"/>
                <a:cs typeface="Times New Roman"/>
              </a:rPr>
              <a:t>‘machine-gun rhythm’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each underlying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bullet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machine-gun.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Since </a:t>
            </a:r>
            <a:r>
              <a:rPr dirty="0" sz="1100" spc="-5">
                <a:latin typeface="Times New Roman"/>
                <a:cs typeface="Times New Roman"/>
              </a:rPr>
              <a:t>the 1950s,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scientists have tried </a:t>
            </a:r>
            <a:r>
              <a:rPr dirty="0" sz="1100">
                <a:latin typeface="Times New Roman"/>
                <a:cs typeface="Times New Roman"/>
              </a:rPr>
              <a:t>to show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existence of </a:t>
            </a:r>
            <a:r>
              <a:rPr dirty="0" sz="1100" spc="-5">
                <a:latin typeface="Times New Roman"/>
                <a:cs typeface="Times New Roman"/>
              </a:rPr>
              <a:t>equal syllable durations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acoustic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signal without success. More recent research claims that the </a:t>
            </a:r>
            <a:r>
              <a:rPr dirty="0" sz="1100">
                <a:latin typeface="Times New Roman"/>
                <a:cs typeface="Times New Roman"/>
              </a:rPr>
              <a:t>duration of </a:t>
            </a:r>
            <a:r>
              <a:rPr dirty="0" sz="1100" spc="-5">
                <a:latin typeface="Times New Roman"/>
                <a:cs typeface="Times New Roman"/>
              </a:rPr>
              <a:t>consonantal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vocalic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responsible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syllable-timed</a:t>
            </a:r>
            <a:r>
              <a:rPr dirty="0" sz="1100">
                <a:latin typeface="Times New Roman"/>
                <a:cs typeface="Times New Roman"/>
              </a:rPr>
              <a:t> perception.\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stress-timed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 </a:t>
            </a:r>
            <a:r>
              <a:rPr dirty="0" sz="1100" spc="-5">
                <a:latin typeface="Times New Roman"/>
                <a:cs typeface="Times New Roman"/>
              </a:rPr>
              <a:t>fairly </a:t>
            </a:r>
            <a:r>
              <a:rPr dirty="0" sz="1100">
                <a:latin typeface="Times New Roman"/>
                <a:cs typeface="Times New Roman"/>
              </a:rPr>
              <a:t>constant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(on </a:t>
            </a:r>
            <a:r>
              <a:rPr dirty="0" sz="1100" spc="-5">
                <a:latin typeface="Times New Roman"/>
                <a:cs typeface="Times New Roman"/>
              </a:rPr>
              <a:t>average) between consecutive stressed syllables. Consequently, </a:t>
            </a:r>
            <a:r>
              <a:rPr dirty="0" sz="1100">
                <a:latin typeface="Times New Roman"/>
                <a:cs typeface="Times New Roman"/>
              </a:rPr>
              <a:t> unstressed </a:t>
            </a:r>
            <a:r>
              <a:rPr dirty="0" sz="1100" spc="-5">
                <a:latin typeface="Times New Roman"/>
                <a:cs typeface="Times New Roman"/>
              </a:rPr>
              <a:t>syllables between stressed syllables tend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compressed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fit into the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interval.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 syllables are separated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single unstressed syllable, </a:t>
            </a:r>
            <a:r>
              <a:rPr dirty="0" sz="1100">
                <a:latin typeface="Times New Roman"/>
                <a:cs typeface="Times New Roman"/>
              </a:rPr>
              <a:t>as in </a:t>
            </a:r>
            <a:r>
              <a:rPr dirty="0" sz="1100" spc="-5">
                <a:latin typeface="Times New Roman"/>
                <a:cs typeface="Times New Roman"/>
              </a:rPr>
              <a:t>'COME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TEA',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unstressed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relatively long, while</a:t>
            </a:r>
            <a:r>
              <a:rPr dirty="0" sz="1100">
                <a:latin typeface="Times New Roman"/>
                <a:cs typeface="Times New Roman"/>
              </a:rPr>
              <a:t> if a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>
                <a:latin typeface="Times New Roman"/>
                <a:cs typeface="Times New Roman"/>
              </a:rPr>
              <a:t> number of </a:t>
            </a:r>
            <a:r>
              <a:rPr dirty="0" sz="1100" spc="-5">
                <a:latin typeface="Times New Roman"/>
                <a:cs typeface="Times New Roman"/>
              </a:rPr>
              <a:t>unstressed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 </a:t>
            </a:r>
            <a:r>
              <a:rPr dirty="0" sz="1100">
                <a:latin typeface="Times New Roman"/>
                <a:cs typeface="Times New Roman"/>
              </a:rPr>
              <a:t>intervene, as in </a:t>
            </a:r>
            <a:r>
              <a:rPr dirty="0" sz="1100" spc="-5">
                <a:latin typeface="Times New Roman"/>
                <a:cs typeface="Times New Roman"/>
              </a:rPr>
              <a:t>'COME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TEA',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unstressed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7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Stress </a:t>
            </a:r>
            <a:r>
              <a:rPr dirty="0" sz="1100" spc="-5">
                <a:latin typeface="Times New Roman"/>
                <a:cs typeface="Times New Roman"/>
              </a:rPr>
              <a:t>timing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sometimes called </a:t>
            </a:r>
            <a:r>
              <a:rPr dirty="0" sz="1100">
                <a:latin typeface="Times New Roman"/>
                <a:cs typeface="Times New Roman"/>
              </a:rPr>
              <a:t>Morse-code </a:t>
            </a:r>
            <a:r>
              <a:rPr dirty="0" sz="1100" spc="-5">
                <a:latin typeface="Times New Roman"/>
                <a:cs typeface="Times New Roman"/>
              </a:rPr>
              <a:t>rhythm, </a:t>
            </a:r>
            <a:r>
              <a:rPr dirty="0" sz="1100">
                <a:latin typeface="Times New Roman"/>
                <a:cs typeface="Times New Roman"/>
              </a:rPr>
              <a:t>but any resemblance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two is </a:t>
            </a:r>
            <a:r>
              <a:rPr dirty="0" sz="1100">
                <a:latin typeface="Times New Roman"/>
                <a:cs typeface="Times New Roman"/>
              </a:rPr>
              <a:t> only </a:t>
            </a:r>
            <a:r>
              <a:rPr dirty="0" sz="1100" spc="-5">
                <a:latin typeface="Times New Roman"/>
                <a:cs typeface="Times New Roman"/>
              </a:rPr>
              <a:t>superficial.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strongly </a:t>
            </a:r>
            <a:r>
              <a:rPr dirty="0" sz="1100">
                <a:latin typeface="Times New Roman"/>
                <a:cs typeface="Times New Roman"/>
              </a:rPr>
              <a:t>related to </a:t>
            </a:r>
            <a:r>
              <a:rPr dirty="0" sz="1100" spc="-5">
                <a:latin typeface="Times New Roman"/>
                <a:cs typeface="Times New Roman"/>
              </a:rPr>
              <a:t>vowel reduction processes. English, </a:t>
            </a:r>
            <a:r>
              <a:rPr dirty="0" sz="1100">
                <a:latin typeface="Times New Roman"/>
                <a:cs typeface="Times New Roman"/>
              </a:rPr>
              <a:t>Thai,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German, Russian, </a:t>
            </a:r>
            <a:r>
              <a:rPr dirty="0" sz="1100">
                <a:latin typeface="Times New Roman"/>
                <a:cs typeface="Times New Roman"/>
              </a:rPr>
              <a:t> Danish, </a:t>
            </a:r>
            <a:r>
              <a:rPr dirty="0" sz="1100" spc="-5">
                <a:latin typeface="Times New Roman"/>
                <a:cs typeface="Times New Roman"/>
              </a:rPr>
              <a:t>Swedish, Norwegian, Faroese, Dutch, Portuguese,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Persian are typical stress-timed languages.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stress-timed</a:t>
            </a:r>
            <a:r>
              <a:rPr dirty="0" sz="1100">
                <a:latin typeface="Times New Roman"/>
                <a:cs typeface="Times New Roman"/>
              </a:rPr>
              <a:t> languages,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Arabic,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unreduced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092:</a:t>
            </a:r>
            <a:r>
              <a:rPr dirty="0" u="heavy" sz="1100" spc="254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Rules of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While </a:t>
            </a:r>
            <a:r>
              <a:rPr dirty="0" sz="1100" spc="-5">
                <a:latin typeface="Times New Roman"/>
                <a:cs typeface="Times New Roman"/>
              </a:rPr>
              <a:t>giving </a:t>
            </a:r>
            <a:r>
              <a:rPr dirty="0" sz="1100">
                <a:latin typeface="Times New Roman"/>
                <a:cs typeface="Times New Roman"/>
              </a:rPr>
              <a:t>stress it is </a:t>
            </a:r>
            <a:r>
              <a:rPr dirty="0" sz="1100" spc="-5">
                <a:latin typeface="Times New Roman"/>
                <a:cs typeface="Times New Roman"/>
              </a:rPr>
              <a:t>important to </a:t>
            </a:r>
            <a:r>
              <a:rPr dirty="0" sz="1100">
                <a:latin typeface="Times New Roman"/>
                <a:cs typeface="Times New Roman"/>
              </a:rPr>
              <a:t>see </a:t>
            </a:r>
            <a:r>
              <a:rPr dirty="0" sz="1100" spc="-5">
                <a:latin typeface="Times New Roman"/>
                <a:cs typeface="Times New Roman"/>
              </a:rPr>
              <a:t>whether the 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morphologically simple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complex </a:t>
            </a:r>
            <a:r>
              <a:rPr dirty="0" sz="1100">
                <a:latin typeface="Times New Roman"/>
                <a:cs typeface="Times New Roman"/>
              </a:rPr>
              <a:t> (one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 affixes)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compound. Besides, what grammatical category </a:t>
            </a:r>
            <a:r>
              <a:rPr dirty="0" sz="1100">
                <a:latin typeface="Times New Roman"/>
                <a:cs typeface="Times New Roman"/>
              </a:rPr>
              <a:t>it belongs to, how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and what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phonological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syllables </a:t>
            </a:r>
            <a:r>
              <a:rPr dirty="0" sz="1100">
                <a:latin typeface="Times New Roman"/>
                <a:cs typeface="Times New Roman"/>
              </a:rPr>
              <a:t>is.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things matter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306195">
              <a:lnSpc>
                <a:spcPct val="110000"/>
              </a:lnSpc>
              <a:tabLst>
                <a:tab pos="1834514" algn="l"/>
                <a:tab pos="2332355" algn="l"/>
              </a:tabLst>
            </a:pP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has 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vowel/diphthong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>
                <a:latin typeface="Times New Roman"/>
                <a:cs typeface="Times New Roman"/>
              </a:rPr>
              <a:t> +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consonants)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/'dai/	</a:t>
            </a:r>
            <a:r>
              <a:rPr dirty="0" sz="1100" spc="-5">
                <a:latin typeface="Times New Roman"/>
                <a:cs typeface="Times New Roman"/>
              </a:rPr>
              <a:t>/'hα:t/	/'bæt/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Weak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syllable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peak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Ø coda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unless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peak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/ə/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/ı/,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1990" algn="l"/>
              </a:tabLst>
            </a:pP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rı'dju:s/	/'əυ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pən/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35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unstressed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Weak</a:t>
            </a:r>
            <a:r>
              <a:rPr dirty="0" sz="1100" spc="-5">
                <a:latin typeface="Times New Roman"/>
                <a:cs typeface="Times New Roman"/>
              </a:rPr>
              <a:t> syllables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always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unstressed.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2nd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verbs,</a:t>
            </a:r>
            <a:r>
              <a:rPr dirty="0" sz="1100">
                <a:latin typeface="Times New Roman"/>
                <a:cs typeface="Times New Roman"/>
              </a:rPr>
              <a:t> 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2nd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strong,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Apply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əˈplaɪ/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Arrive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/əˈraɪv/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the 2nd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weak,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1st syllable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Enter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ˈen</a:t>
            </a:r>
            <a:r>
              <a:rPr dirty="0" sz="1100" spc="-10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tə/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Envy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/ˈen.</a:t>
            </a:r>
            <a:r>
              <a:rPr dirty="0" sz="1100" spc="-10">
                <a:latin typeface="Times New Roman"/>
                <a:cs typeface="Times New Roman"/>
              </a:rPr>
              <a:t>v</a:t>
            </a:r>
            <a:r>
              <a:rPr dirty="0" sz="1100">
                <a:latin typeface="Times New Roman"/>
                <a:cs typeface="Times New Roman"/>
              </a:rPr>
              <a:t>i/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/əυ/.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Follow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/ˈfɒl.əʊ/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Borrow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ˈbɒr.əʊ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weak,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stressed.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200" spc="-5">
                <a:latin typeface="Times New Roman"/>
                <a:cs typeface="Times New Roman"/>
              </a:rPr>
              <a:t>ˈiːv(ə)n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5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/kəˈrekt/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Exceptions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 </a:t>
            </a:r>
            <a:r>
              <a:rPr dirty="0" sz="1100">
                <a:latin typeface="Times New Roman"/>
                <a:cs typeface="Times New Roman"/>
              </a:rPr>
              <a:t>on the</a:t>
            </a:r>
            <a:r>
              <a:rPr dirty="0" sz="1100" spc="-5">
                <a:latin typeface="Times New Roman"/>
                <a:cs typeface="Times New Roman"/>
              </a:rPr>
              <a:t> 1st: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honest/ˈɒn.ɪst/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/ˈpɜː.fekt/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Different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Rule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5" b="1">
                <a:latin typeface="Times New Roman"/>
                <a:cs typeface="Times New Roman"/>
              </a:rPr>
              <a:t>for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2nd </a:t>
            </a:r>
            <a:r>
              <a:rPr dirty="0" sz="1100" spc="-5">
                <a:latin typeface="Times New Roman"/>
                <a:cs typeface="Times New Roman"/>
              </a:rPr>
              <a:t>syllable unless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Balloon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/bəˈluːn/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8651"/>
            <a:ext cx="5969635" cy="313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Money/ˈmʌn.i/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100" spc="-5">
                <a:latin typeface="Times New Roman"/>
                <a:cs typeface="Times New Roman"/>
              </a:rPr>
              <a:t>Other two-syllable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Strong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´entertain /en.təˈteɪn/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preceding (penultimate)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stressed: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´encounter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/ɪnˈkaʊn.tə/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´determine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/dɪˈtɜː.mɪn/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both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´parody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/ˈpær.ə.di/.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 /əυ/, stress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falls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preceding: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´potato </a:t>
            </a:r>
            <a:r>
              <a:rPr dirty="0" sz="1100">
                <a:latin typeface="Times New Roman"/>
                <a:cs typeface="Times New Roman"/>
              </a:rPr>
              <a:t>/pəˈteɪ.təʊ/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penultimate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quantity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/ˈkwɒn.tə.ti/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move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syllables.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840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MORPHOLOGY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093: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formed?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in the same language?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analyses 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parts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stems, </a:t>
            </a:r>
            <a:r>
              <a:rPr dirty="0" sz="1100" spc="-10">
                <a:latin typeface="Times New Roman"/>
                <a:cs typeface="Times New Roman"/>
              </a:rPr>
              <a:t>root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prefixes,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grammar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e.g.,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relation between take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took, dog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dogs. </a:t>
            </a:r>
            <a:r>
              <a:rPr dirty="0" sz="1100">
                <a:latin typeface="Times New Roman"/>
                <a:cs typeface="Times New Roman"/>
              </a:rPr>
              <a:t>Words 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related to other words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i="1">
                <a:latin typeface="Times New Roman"/>
                <a:cs typeface="Times New Roman"/>
              </a:rPr>
              <a:t>, </a:t>
            </a:r>
            <a:r>
              <a:rPr dirty="0" sz="1100" spc="-5">
                <a:latin typeface="Times New Roman"/>
                <a:cs typeface="Times New Roman"/>
              </a:rPr>
              <a:t>dogs,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dogcatcher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closely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Lexemes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Word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‘word’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arguably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sense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‘word,’ the </a:t>
            </a:r>
            <a:r>
              <a:rPr dirty="0" sz="1100">
                <a:latin typeface="Times New Roman"/>
                <a:cs typeface="Times New Roman"/>
              </a:rPr>
              <a:t>one 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dog and </a:t>
            </a:r>
            <a:r>
              <a:rPr dirty="0" sz="1100" spc="-5">
                <a:latin typeface="Times New Roman"/>
                <a:cs typeface="Times New Roman"/>
              </a:rPr>
              <a:t>dogs are ‘the same word,’ is called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lexeme. </a:t>
            </a:r>
            <a:r>
              <a:rPr dirty="0" sz="1100">
                <a:latin typeface="Times New Roman"/>
                <a:cs typeface="Times New Roman"/>
              </a:rPr>
              <a:t>The second </a:t>
            </a:r>
            <a:r>
              <a:rPr dirty="0" sz="1100" spc="-5">
                <a:latin typeface="Times New Roman"/>
                <a:cs typeface="Times New Roman"/>
              </a:rPr>
              <a:t>sense is called word </a:t>
            </a:r>
            <a:r>
              <a:rPr dirty="0" sz="1100" spc="-10">
                <a:latin typeface="Times New Roman"/>
                <a:cs typeface="Times New Roman"/>
              </a:rPr>
              <a:t>form.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thus </a:t>
            </a:r>
            <a:r>
              <a:rPr dirty="0" sz="1100">
                <a:latin typeface="Times New Roman"/>
                <a:cs typeface="Times New Roman"/>
              </a:rPr>
              <a:t>say that dog and </a:t>
            </a:r>
            <a:r>
              <a:rPr dirty="0" sz="1100" spc="-5">
                <a:latin typeface="Times New Roman"/>
                <a:cs typeface="Times New Roman"/>
              </a:rPr>
              <a:t>dogs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different forms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lexeme.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catcher,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lexemes;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different kinds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entities. </a:t>
            </a:r>
            <a:r>
              <a:rPr dirty="0" sz="1100">
                <a:latin typeface="Times New Roman"/>
                <a:cs typeface="Times New Roman"/>
              </a:rPr>
              <a:t>The form of a </a:t>
            </a:r>
            <a:r>
              <a:rPr dirty="0" sz="1100" spc="-5">
                <a:latin typeface="Times New Roman"/>
                <a:cs typeface="Times New Roman"/>
              </a:rPr>
              <a:t>word that </a:t>
            </a:r>
            <a:r>
              <a:rPr dirty="0" sz="1100">
                <a:latin typeface="Times New Roman"/>
                <a:cs typeface="Times New Roman"/>
              </a:rPr>
              <a:t>is chosen </a:t>
            </a:r>
            <a:r>
              <a:rPr dirty="0" sz="1100" spc="-5">
                <a:latin typeface="Times New Roman"/>
                <a:cs typeface="Times New Roman"/>
              </a:rPr>
              <a:t>conventionally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represent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canonical </a:t>
            </a:r>
            <a:r>
              <a:rPr dirty="0" sz="1100">
                <a:latin typeface="Times New Roman"/>
                <a:cs typeface="Times New Roman"/>
              </a:rPr>
              <a:t> form of a </a:t>
            </a:r>
            <a:r>
              <a:rPr dirty="0" sz="1100" spc="-5">
                <a:latin typeface="Times New Roman"/>
                <a:cs typeface="Times New Roman"/>
              </a:rPr>
              <a:t>word is 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lemma,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citation form. Informally, word formation rules </a:t>
            </a:r>
            <a:r>
              <a:rPr dirty="0" sz="1100">
                <a:latin typeface="Times New Roman"/>
                <a:cs typeface="Times New Roman"/>
              </a:rPr>
              <a:t>form ‘new </a:t>
            </a:r>
            <a:r>
              <a:rPr dirty="0" sz="1100" spc="-5">
                <a:latin typeface="Times New Roman"/>
                <a:cs typeface="Times New Roman"/>
              </a:rPr>
              <a:t>words’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is,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lexemes).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yield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‘same’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(lexeme).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Joining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word is 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compounding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compound form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dogcatcher. Derivation involves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affixing </a:t>
            </a:r>
            <a:r>
              <a:rPr dirty="0" sz="1100">
                <a:latin typeface="Times New Roman"/>
                <a:cs typeface="Times New Roman"/>
              </a:rPr>
              <a:t>bound </a:t>
            </a:r>
            <a:r>
              <a:rPr dirty="0" sz="1100" spc="-5">
                <a:latin typeface="Times New Roman"/>
                <a:cs typeface="Times New Roman"/>
              </a:rPr>
              <a:t>(non-independent)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to existing </a:t>
            </a:r>
            <a:r>
              <a:rPr dirty="0" sz="1100" spc="-5">
                <a:latin typeface="Times New Roman"/>
                <a:cs typeface="Times New Roman"/>
              </a:rPr>
              <a:t>lexemes, </a:t>
            </a:r>
            <a:r>
              <a:rPr dirty="0" sz="1100">
                <a:latin typeface="Times New Roman"/>
                <a:cs typeface="Times New Roman"/>
              </a:rPr>
              <a:t>whereby the </a:t>
            </a:r>
            <a:r>
              <a:rPr dirty="0" sz="1100" spc="-5">
                <a:latin typeface="Times New Roman"/>
                <a:cs typeface="Times New Roman"/>
              </a:rPr>
              <a:t>addition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affix derives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lexeme.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dependent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prefixing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in-,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derived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many languages, what </a:t>
            </a:r>
            <a:r>
              <a:rPr dirty="0" sz="1100">
                <a:latin typeface="Times New Roman"/>
                <a:cs typeface="Times New Roman"/>
              </a:rPr>
              <a:t>appear 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actually turn out </a:t>
            </a:r>
            <a:r>
              <a:rPr dirty="0" sz="1100">
                <a:latin typeface="Times New Roman"/>
                <a:cs typeface="Times New Roman"/>
              </a:rPr>
              <a:t>to contain a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‘word-like’ elements. For example, in Swahili (spoken throughout East Africa),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 i="1">
                <a:latin typeface="Times New Roman"/>
                <a:cs typeface="Times New Roman"/>
              </a:rPr>
              <a:t>nitakupenda 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conveys </a:t>
            </a:r>
            <a:r>
              <a:rPr dirty="0" sz="1100">
                <a:latin typeface="Times New Roman"/>
                <a:cs typeface="Times New Roman"/>
              </a:rPr>
              <a:t>what, in </a:t>
            </a:r>
            <a:r>
              <a:rPr dirty="0" sz="1100" spc="-5">
                <a:latin typeface="Times New Roman"/>
                <a:cs typeface="Times New Roman"/>
              </a:rPr>
              <a:t>English,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represented as </a:t>
            </a:r>
            <a:r>
              <a:rPr dirty="0" sz="1100">
                <a:latin typeface="Times New Roman"/>
                <a:cs typeface="Times New Roman"/>
              </a:rPr>
              <a:t>something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 i="1">
                <a:latin typeface="Times New Roman"/>
                <a:cs typeface="Times New Roman"/>
              </a:rPr>
              <a:t>I </a:t>
            </a:r>
            <a:r>
              <a:rPr dirty="0" sz="1100" spc="-10" i="1">
                <a:latin typeface="Times New Roman"/>
                <a:cs typeface="Times New Roman"/>
              </a:rPr>
              <a:t>will </a:t>
            </a:r>
            <a:r>
              <a:rPr dirty="0" sz="1100" spc="-5" i="1">
                <a:latin typeface="Times New Roman"/>
                <a:cs typeface="Times New Roman"/>
              </a:rPr>
              <a:t>love </a:t>
            </a:r>
            <a:r>
              <a:rPr dirty="0" sz="1100" i="1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. </a:t>
            </a:r>
            <a:r>
              <a:rPr dirty="0" sz="1100" spc="-5">
                <a:latin typeface="Times New Roman"/>
                <a:cs typeface="Times New Roman"/>
              </a:rPr>
              <a:t>Now,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Swahili 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word?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it is a </a:t>
            </a:r>
            <a:r>
              <a:rPr dirty="0" sz="1100" spc="-5">
                <a:latin typeface="Times New Roman"/>
                <a:cs typeface="Times New Roman"/>
              </a:rPr>
              <a:t>‘word,’ </a:t>
            </a:r>
            <a:r>
              <a:rPr dirty="0" sz="1100">
                <a:latin typeface="Times New Roman"/>
                <a:cs typeface="Times New Roman"/>
              </a:rPr>
              <a:t>then it </a:t>
            </a:r>
            <a:r>
              <a:rPr dirty="0" sz="1100" spc="-5">
                <a:latin typeface="Times New Roman"/>
                <a:cs typeface="Times New Roman"/>
              </a:rPr>
              <a:t>seems </a:t>
            </a:r>
            <a:r>
              <a:rPr dirty="0" sz="1100">
                <a:latin typeface="Times New Roman"/>
                <a:cs typeface="Times New Roman"/>
              </a:rPr>
              <a:t>to consist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number of </a:t>
            </a:r>
            <a:r>
              <a:rPr dirty="0" sz="1100" spc="-5">
                <a:latin typeface="Times New Roman"/>
                <a:cs typeface="Times New Roman"/>
              </a:rPr>
              <a:t>elements which,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 </a:t>
            </a:r>
            <a:r>
              <a:rPr dirty="0" sz="1100">
                <a:latin typeface="Times New Roman"/>
                <a:cs typeface="Times New Roman"/>
              </a:rPr>
              <a:t>turn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‘words.’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ni-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ta-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ku-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penda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‘I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Perhaps a </a:t>
            </a:r>
            <a:r>
              <a:rPr dirty="0" sz="1100" spc="-5">
                <a:latin typeface="Times New Roman"/>
                <a:cs typeface="Times New Roman"/>
              </a:rPr>
              <a:t>better way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looking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different languages </a:t>
            </a:r>
            <a:r>
              <a:rPr dirty="0" sz="1100">
                <a:latin typeface="Times New Roman"/>
                <a:cs typeface="Times New Roman"/>
              </a:rPr>
              <a:t>would be to use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notion of </a:t>
            </a:r>
            <a:r>
              <a:rPr dirty="0" sz="1100" spc="-5">
                <a:latin typeface="Times New Roman"/>
                <a:cs typeface="Times New Roman"/>
              </a:rPr>
              <a:t>‘elements’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message, </a:t>
            </a:r>
            <a:r>
              <a:rPr dirty="0" sz="1100">
                <a:latin typeface="Times New Roman"/>
                <a:cs typeface="Times New Roman"/>
              </a:rPr>
              <a:t>rather </a:t>
            </a:r>
            <a:r>
              <a:rPr dirty="0" sz="1100" spc="-5">
                <a:latin typeface="Times New Roman"/>
                <a:cs typeface="Times New Roman"/>
              </a:rPr>
              <a:t>than depend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identifying </a:t>
            </a:r>
            <a:r>
              <a:rPr dirty="0" sz="1100">
                <a:latin typeface="Times New Roman"/>
                <a:cs typeface="Times New Roman"/>
              </a:rPr>
              <a:t>only ‘words.’ 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exercise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have </a:t>
            </a:r>
            <a:r>
              <a:rPr dirty="0" sz="1100">
                <a:latin typeface="Times New Roman"/>
                <a:cs typeface="Times New Roman"/>
              </a:rPr>
              <a:t>just </a:t>
            </a:r>
            <a:r>
              <a:rPr dirty="0" sz="1100" spc="-5">
                <a:latin typeface="Times New Roman"/>
                <a:cs typeface="Times New Roman"/>
              </a:rPr>
              <a:t>performed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example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investigating </a:t>
            </a:r>
            <a:r>
              <a:rPr dirty="0" sz="1100">
                <a:latin typeface="Times New Roman"/>
                <a:cs typeface="Times New Roman"/>
              </a:rPr>
              <a:t>basic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language, generally 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term, which literally means ‘the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forms,’ was originally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Biology, but </a:t>
            </a:r>
            <a:r>
              <a:rPr dirty="0" sz="1100">
                <a:latin typeface="Times New Roman"/>
                <a:cs typeface="Times New Roman"/>
              </a:rPr>
              <a:t> since the </a:t>
            </a:r>
            <a:r>
              <a:rPr dirty="0" sz="1100" spc="-5">
                <a:latin typeface="Times New Roman"/>
                <a:cs typeface="Times New Roman"/>
              </a:rPr>
              <a:t>middle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nineteenth century,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also been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describe the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investigation that </a:t>
            </a:r>
            <a:r>
              <a:rPr dirty="0" sz="1100">
                <a:latin typeface="Times New Roman"/>
                <a:cs typeface="Times New Roman"/>
              </a:rPr>
              <a:t> analyses </a:t>
            </a:r>
            <a:r>
              <a:rPr dirty="0" sz="1100" spc="-5">
                <a:latin typeface="Times New Roman"/>
                <a:cs typeface="Times New Roman"/>
              </a:rPr>
              <a:t>all those basic ‘elements’ </a:t>
            </a:r>
            <a:r>
              <a:rPr dirty="0" sz="1100">
                <a:latin typeface="Times New Roman"/>
                <a:cs typeface="Times New Roman"/>
              </a:rPr>
              <a:t>used in a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we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‘elements’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‘morphemes.’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800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094: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smallest grammatical unit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words, </a:t>
            </a:r>
            <a:r>
              <a:rPr dirty="0" sz="1100">
                <a:latin typeface="Times New Roman"/>
                <a:cs typeface="Times New Roman"/>
              </a:rPr>
              <a:t>it is the </a:t>
            </a:r>
            <a:r>
              <a:rPr dirty="0" sz="1100" spc="-5">
                <a:latin typeface="Times New Roman"/>
                <a:cs typeface="Times New Roman"/>
              </a:rPr>
              <a:t>smallest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meaningful unit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>
                <a:latin typeface="Times New Roman"/>
                <a:cs typeface="Times New Roman"/>
              </a:rPr>
              <a:t>is not identical to a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principal difference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morpheme may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stand alone, whereas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definition,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freestanding.</a:t>
            </a:r>
            <a:r>
              <a:rPr dirty="0" sz="1100">
                <a:latin typeface="Times New Roman"/>
                <a:cs typeface="Times New Roman"/>
              </a:rPr>
              <a:t> When a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>
                <a:latin typeface="Times New Roman"/>
                <a:cs typeface="Times New Roman"/>
              </a:rPr>
              <a:t> stands by </a:t>
            </a:r>
            <a:r>
              <a:rPr dirty="0" sz="1100" spc="-5">
                <a:latin typeface="Times New Roman"/>
                <a:cs typeface="Times New Roman"/>
              </a:rPr>
              <a:t>itself,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is considered a </a:t>
            </a:r>
            <a:r>
              <a:rPr dirty="0" sz="1100" spc="-5">
                <a:latin typeface="Times New Roman"/>
                <a:cs typeface="Times New Roman"/>
              </a:rPr>
              <a:t>root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its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 </a:t>
            </a:r>
            <a:r>
              <a:rPr dirty="0" sz="1100">
                <a:latin typeface="Times New Roman"/>
                <a:cs typeface="Times New Roman"/>
              </a:rPr>
              <a:t>(e.g., the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>
                <a:latin typeface="Times New Roman"/>
                <a:cs typeface="Times New Roman"/>
              </a:rPr>
              <a:t>dog) and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depends </a:t>
            </a:r>
            <a:r>
              <a:rPr dirty="0" sz="1100">
                <a:latin typeface="Times New Roman"/>
                <a:cs typeface="Times New Roman"/>
              </a:rPr>
              <a:t>on another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>
                <a:latin typeface="Times New Roman"/>
                <a:cs typeface="Times New Roman"/>
              </a:rPr>
              <a:t>to express an </a:t>
            </a:r>
            <a:r>
              <a:rPr dirty="0" sz="1100" spc="-5">
                <a:latin typeface="Times New Roman"/>
                <a:cs typeface="Times New Roman"/>
              </a:rPr>
              <a:t>idea, it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affix </a:t>
            </a:r>
            <a:r>
              <a:rPr dirty="0" sz="1100">
                <a:latin typeface="Times New Roman"/>
                <a:cs typeface="Times New Roman"/>
              </a:rPr>
              <a:t> because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grammatical function </a:t>
            </a:r>
            <a:r>
              <a:rPr dirty="0" sz="1100">
                <a:latin typeface="Times New Roman"/>
                <a:cs typeface="Times New Roman"/>
              </a:rPr>
              <a:t>(e.g., the </a:t>
            </a:r>
            <a:r>
              <a:rPr dirty="0" sz="1100" spc="-10">
                <a:latin typeface="Times New Roman"/>
                <a:cs typeface="Times New Roman"/>
              </a:rPr>
              <a:t>–s </a:t>
            </a:r>
            <a:r>
              <a:rPr dirty="0" sz="1100" spc="-5">
                <a:latin typeface="Times New Roman"/>
                <a:cs typeface="Times New Roman"/>
              </a:rPr>
              <a:t>in dogs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indicate that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plural). Every word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morphemes.</a:t>
            </a:r>
            <a:endParaRPr sz="11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Talks, talker,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talked,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talking</a:t>
            </a:r>
            <a:endParaRPr sz="11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talk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-er, </a:t>
            </a:r>
            <a:r>
              <a:rPr dirty="0" sz="1100" spc="-5">
                <a:latin typeface="Times New Roman"/>
                <a:cs typeface="Times New Roman"/>
              </a:rPr>
              <a:t>-ed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–ing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consist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Therefore,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meaning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grammatical function include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indicate </a:t>
            </a:r>
            <a:r>
              <a:rPr dirty="0" sz="1100">
                <a:latin typeface="Times New Roman"/>
                <a:cs typeface="Times New Roman"/>
              </a:rPr>
              <a:t>past </a:t>
            </a:r>
            <a:r>
              <a:rPr dirty="0" sz="1100" spc="-5">
                <a:latin typeface="Times New Roman"/>
                <a:cs typeface="Times New Roman"/>
              </a:rPr>
              <a:t>tense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plural, </a:t>
            </a:r>
            <a:r>
              <a:rPr dirty="0" sz="1100">
                <a:latin typeface="Times New Roman"/>
                <a:cs typeface="Times New Roman"/>
              </a:rPr>
              <a:t>etc.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>
                <a:latin typeface="Times New Roman"/>
                <a:cs typeface="Times New Roman"/>
              </a:rPr>
              <a:t>‘the police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reopened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investigation’ </a:t>
            </a:r>
            <a:r>
              <a:rPr dirty="0" sz="1100">
                <a:latin typeface="Times New Roman"/>
                <a:cs typeface="Times New Roman"/>
              </a:rPr>
              <a:t>contains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re-, open and </a:t>
            </a:r>
            <a:r>
              <a:rPr dirty="0" sz="1100" spc="-5">
                <a:latin typeface="Times New Roman"/>
                <a:cs typeface="Times New Roman"/>
              </a:rPr>
              <a:t>-ed.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morpheme meets three criteria: it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 that has </a:t>
            </a:r>
            <a:r>
              <a:rPr dirty="0" sz="1100">
                <a:latin typeface="Times New Roman"/>
                <a:cs typeface="Times New Roman"/>
              </a:rPr>
              <a:t>a meaning.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divided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smaller meaningful parts without violation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meaningless remainder.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recurs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differing </a:t>
            </a:r>
            <a:r>
              <a:rPr dirty="0" sz="1100">
                <a:latin typeface="Times New Roman"/>
                <a:cs typeface="Times New Roman"/>
              </a:rPr>
              <a:t> 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stable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Unlikely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ly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Unkindly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5">
                <a:latin typeface="Times New Roman"/>
                <a:cs typeface="Times New Roman"/>
              </a:rPr>
              <a:t> +kind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ly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Carpet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Garbage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095: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Free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morpheme that can stand alone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single word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itself is called free morpheme. The free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>
                <a:latin typeface="Times New Roman"/>
                <a:cs typeface="Times New Roman"/>
              </a:rPr>
              <a:t>can generally be identiﬁed as the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separate English word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basic </a:t>
            </a:r>
            <a:r>
              <a:rPr dirty="0" sz="1100">
                <a:latin typeface="Times New Roman"/>
                <a:cs typeface="Times New Roman"/>
              </a:rPr>
              <a:t>nouns,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 verbs, etc. When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used with bound morphemes, </a:t>
            </a:r>
            <a:r>
              <a:rPr dirty="0" sz="1100">
                <a:latin typeface="Times New Roman"/>
                <a:cs typeface="Times New Roman"/>
              </a:rPr>
              <a:t>the basic </a:t>
            </a:r>
            <a:r>
              <a:rPr dirty="0" sz="1100" spc="-5">
                <a:latin typeface="Times New Roman"/>
                <a:cs typeface="Times New Roman"/>
              </a:rPr>
              <a:t>word forms are technically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stems.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95998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Reopened: </a:t>
            </a:r>
            <a:r>
              <a:rPr dirty="0" sz="1100" spc="-5">
                <a:latin typeface="Times New Roman"/>
                <a:cs typeface="Times New Roman"/>
              </a:rPr>
              <a:t>open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Tourists: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re-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-ed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-ist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-s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316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12381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Unexplainable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</a:t>
            </a: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5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20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)  </a:t>
            </a:r>
            <a:r>
              <a:rPr dirty="0" sz="1100">
                <a:latin typeface="Times New Roman"/>
                <a:cs typeface="Times New Roman"/>
              </a:rPr>
              <a:t>un-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(bound)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Times New Roman"/>
                <a:cs typeface="Times New Roman"/>
              </a:rPr>
              <a:t>-able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(bound)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50304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is 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simpliﬁcation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receive, </a:t>
            </a:r>
            <a:r>
              <a:rPr dirty="0" sz="1100">
                <a:latin typeface="Times New Roman"/>
                <a:cs typeface="Times New Roman"/>
              </a:rPr>
              <a:t>reduce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repeat,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-ceive,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-duce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-peat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‘bound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cannot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89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 free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isolation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units.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'House'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'dog'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‘free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stem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</a:t>
            </a:r>
            <a:r>
              <a:rPr dirty="0" sz="1100">
                <a:latin typeface="Times New Roman"/>
                <a:cs typeface="Times New Roman"/>
              </a:rPr>
              <a:t> split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root.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096: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Bound 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10900"/>
              </a:lnSpc>
            </a:pPr>
            <a:r>
              <a:rPr dirty="0" sz="1100">
                <a:latin typeface="Times New Roman"/>
                <a:cs typeface="Times New Roman"/>
              </a:rPr>
              <a:t>Segments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cannot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attached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afﬁxes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(preﬁxes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sufﬁxes)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English.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4013428"/>
            <a:ext cx="1026794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Reopened: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5">
                <a:latin typeface="Times New Roman"/>
                <a:cs typeface="Times New Roman"/>
              </a:rPr>
              <a:t>v</a:t>
            </a:r>
            <a:r>
              <a:rPr dirty="0" sz="1100">
                <a:latin typeface="Times New Roman"/>
                <a:cs typeface="Times New Roman"/>
              </a:rPr>
              <a:t>iron</a:t>
            </a:r>
            <a:r>
              <a:rPr dirty="0" sz="1100" spc="-20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5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t:  </a:t>
            </a:r>
            <a:r>
              <a:rPr dirty="0" sz="1100">
                <a:latin typeface="Times New Roman"/>
                <a:cs typeface="Times New Roman"/>
              </a:rPr>
              <a:t>Schools: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3554" y="4013428"/>
            <a:ext cx="534035" cy="579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29"/>
              </a:spcBef>
              <a:tabLst>
                <a:tab pos="343535" algn="l"/>
              </a:tabLst>
            </a:pPr>
            <a:r>
              <a:rPr dirty="0" sz="1100">
                <a:latin typeface="Times New Roman"/>
                <a:cs typeface="Times New Roman"/>
              </a:rPr>
              <a:t>re-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20">
                <a:latin typeface="Times New Roman"/>
                <a:cs typeface="Times New Roman"/>
              </a:rPr>
              <a:t>-</a:t>
            </a:r>
            <a:r>
              <a:rPr dirty="0" sz="1100">
                <a:latin typeface="Times New Roman"/>
                <a:cs typeface="Times New Roman"/>
              </a:rPr>
              <a:t>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-ist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10">
                <a:latin typeface="Times New Roman"/>
                <a:cs typeface="Times New Roman"/>
              </a:rPr>
              <a:t>-s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43076" y="4795138"/>
          <a:ext cx="5948045" cy="96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/>
                <a:gridCol w="989965"/>
                <a:gridCol w="991235"/>
                <a:gridCol w="989964"/>
                <a:gridCol w="989964"/>
                <a:gridCol w="991235"/>
              </a:tblGrid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Prefix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Base/stem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Base/stem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Affix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unhappy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happy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friendship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friend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-ship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277"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immobile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im-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mobile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Boyhood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boy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-hood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enable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Boys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boy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Illegal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il-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legal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Nicely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nice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-ly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02004" y="5915025"/>
            <a:ext cx="5970270" cy="2951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Times New Roman"/>
                <a:cs typeface="Times New Roman"/>
              </a:rPr>
              <a:t>Affixes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Lexical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Free </a:t>
            </a:r>
            <a:r>
              <a:rPr dirty="0" sz="1100" spc="-5">
                <a:latin typeface="Times New Roman"/>
                <a:cs typeface="Times New Roman"/>
              </a:rPr>
              <a:t>morphemes fall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Lexical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Lexical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absolutely necessary </a:t>
            </a:r>
            <a:r>
              <a:rPr dirty="0" sz="1100">
                <a:latin typeface="Times New Roman"/>
                <a:cs typeface="Times New Roman"/>
              </a:rPr>
              <a:t>to convey an </a:t>
            </a:r>
            <a:r>
              <a:rPr dirty="0" sz="1100" spc="-5">
                <a:latin typeface="Times New Roman"/>
                <a:cs typeface="Times New Roman"/>
              </a:rPr>
              <a:t>idea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someone else.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understood fully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itself—boy,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as well as </a:t>
            </a:r>
            <a:r>
              <a:rPr dirty="0" sz="1100" spc="-5">
                <a:latin typeface="Times New Roman"/>
                <a:cs typeface="Times New Roman"/>
              </a:rPr>
              <a:t>run, green, quick, </a:t>
            </a:r>
            <a:r>
              <a:rPr dirty="0" sz="1100">
                <a:latin typeface="Times New Roman"/>
                <a:cs typeface="Times New Roman"/>
              </a:rPr>
              <a:t>paper, </a:t>
            </a:r>
            <a:r>
              <a:rPr dirty="0" sz="1100" spc="-5">
                <a:latin typeface="Times New Roman"/>
                <a:cs typeface="Times New Roman"/>
              </a:rPr>
              <a:t>large, </a:t>
            </a:r>
            <a:r>
              <a:rPr dirty="0" sz="1100">
                <a:latin typeface="Times New Roman"/>
                <a:cs typeface="Times New Roman"/>
              </a:rPr>
              <a:t>throw,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Nouns, verbs, </a:t>
            </a:r>
            <a:r>
              <a:rPr dirty="0" sz="1100" spc="-5">
                <a:latin typeface="Times New Roman"/>
                <a:cs typeface="Times New Roman"/>
              </a:rPr>
              <a:t>adjectives, and </a:t>
            </a:r>
            <a:r>
              <a:rPr dirty="0" sz="1100">
                <a:latin typeface="Times New Roman"/>
                <a:cs typeface="Times New Roman"/>
              </a:rPr>
              <a:t>adverbs are </a:t>
            </a:r>
            <a:r>
              <a:rPr dirty="0" sz="1100" spc="-5">
                <a:latin typeface="Times New Roman"/>
                <a:cs typeface="Times New Roman"/>
              </a:rPr>
              <a:t>typical kinds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lexical morphemes. </a:t>
            </a:r>
            <a:r>
              <a:rPr dirty="0" sz="1100">
                <a:latin typeface="Times New Roman"/>
                <a:cs typeface="Times New Roman"/>
              </a:rPr>
              <a:t>Lexical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exception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‘ox’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English's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‘ax’,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minimum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graphemes.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Lexical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carry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word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stressed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prominence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contextually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warranted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4047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Free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categories: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Lexical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Some examples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functional morphemes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and, </a:t>
            </a:r>
            <a:r>
              <a:rPr dirty="0" sz="1100" spc="-5">
                <a:latin typeface="Times New Roman"/>
                <a:cs typeface="Times New Roman"/>
              </a:rPr>
              <a:t>but, when, </a:t>
            </a:r>
            <a:r>
              <a:rPr dirty="0" sz="1100">
                <a:latin typeface="Times New Roman"/>
                <a:cs typeface="Times New Roman"/>
              </a:rPr>
              <a:t>because, on, </a:t>
            </a:r>
            <a:r>
              <a:rPr dirty="0" sz="1100" spc="-5">
                <a:latin typeface="Times New Roman"/>
                <a:cs typeface="Times New Roman"/>
              </a:rPr>
              <a:t>near, </a:t>
            </a:r>
            <a:r>
              <a:rPr dirty="0" sz="1100">
                <a:latin typeface="Times New Roman"/>
                <a:cs typeface="Times New Roman"/>
              </a:rPr>
              <a:t>above, </a:t>
            </a:r>
            <a:r>
              <a:rPr dirty="0" sz="1100" spc="-5">
                <a:latin typeface="Times New Roman"/>
                <a:cs typeface="Times New Roman"/>
              </a:rPr>
              <a:t>in, the,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r>
              <a:rPr dirty="0" sz="1100">
                <a:latin typeface="Times New Roman"/>
                <a:cs typeface="Times New Roman"/>
              </a:rPr>
              <a:t> Functional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Conjunctions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Prepositions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Articles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Auxiliary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Modals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functional morpheme simply modifies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word, rather than supplying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root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word.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encodes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girls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classroom.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functional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specifying girl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classroom.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‘closed’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coined.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662295" cy="1557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670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MORPHOLOGY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099: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Derivational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afﬁxes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43076" y="2882138"/>
          <a:ext cx="5948045" cy="771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7450"/>
                <a:gridCol w="1188085"/>
                <a:gridCol w="1189355"/>
                <a:gridCol w="1187450"/>
                <a:gridCol w="1188085"/>
              </a:tblGrid>
              <a:tr h="192023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Part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speech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Affix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Changed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class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81"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Baker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quick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-ly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Quickly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adverb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Happy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happiness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02004" y="3793973"/>
            <a:ext cx="5971540" cy="409257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240"/>
              </a:spcBef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</a:t>
            </a:r>
            <a:r>
              <a:rPr dirty="0" sz="1100" spc="-5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‘Transform’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follows: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(root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word)</a:t>
            </a:r>
            <a:endParaRPr sz="1100">
              <a:latin typeface="Times New Roman"/>
              <a:cs typeface="Times New Roman"/>
            </a:endParaRPr>
          </a:p>
          <a:p>
            <a:pPr marL="12700" marR="3524250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Prefix trans-,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derivational morpheme </a:t>
            </a:r>
            <a:r>
              <a:rPr dirty="0" sz="1100">
                <a:latin typeface="Times New Roman"/>
                <a:cs typeface="Times New Roman"/>
              </a:rPr>
              <a:t> Suffix </a:t>
            </a:r>
            <a:r>
              <a:rPr dirty="0" sz="1100" spc="-5">
                <a:latin typeface="Times New Roman"/>
                <a:cs typeface="Times New Roman"/>
              </a:rPr>
              <a:t>-ation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‘transformation’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 spc="-10">
                <a:latin typeface="Times New Roman"/>
                <a:cs typeface="Times New Roman"/>
              </a:rPr>
              <a:t>-al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transformation will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to </a:t>
            </a:r>
            <a:r>
              <a:rPr dirty="0" sz="1100" spc="-5">
                <a:latin typeface="Times New Roman"/>
                <a:cs typeface="Times New Roman"/>
              </a:rPr>
              <a:t>‘transformational’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Semantic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Content words </a:t>
            </a:r>
            <a:r>
              <a:rPr dirty="0" sz="1100">
                <a:latin typeface="Times New Roman"/>
                <a:cs typeface="Times New Roman"/>
              </a:rPr>
              <a:t>add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 spc="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words.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English, all prefixes are derivational. 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contrasts with English suffixes, which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either derivational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inflectional.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derivational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open-ended;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is,</a:t>
            </a:r>
            <a:r>
              <a:rPr dirty="0" sz="1100">
                <a:latin typeface="Times New Roman"/>
                <a:cs typeface="Times New Roman"/>
              </a:rPr>
              <a:t> 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potentially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infinite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100: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Inflectional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 inflectional morpheme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suffix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added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assign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 grammatical </a:t>
            </a:r>
            <a:r>
              <a:rPr dirty="0" sz="1100">
                <a:latin typeface="Times New Roman"/>
                <a:cs typeface="Times New Roman"/>
              </a:rPr>
              <a:t> property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Play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tense,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number,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possession,  or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or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43076" y="8087613"/>
          <a:ext cx="5948045" cy="963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630"/>
                <a:gridCol w="1485265"/>
                <a:gridCol w="1485264"/>
                <a:gridCol w="1485264"/>
              </a:tblGrid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Noun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plural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-s)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-s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Book+s/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glass+es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Books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/glasses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Possessive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-‘s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Captain+‘s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Captain‘s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tense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start+s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Starts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449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tense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play+ed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Played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participle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Playing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Playing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076" y="914400"/>
          <a:ext cx="5948045" cy="771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630"/>
                <a:gridCol w="1485265"/>
                <a:gridCol w="1485264"/>
                <a:gridCol w="1485264"/>
              </a:tblGrid>
              <a:tr h="190753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participle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Eat+en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Eaten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comparative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larg+er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Larger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superlative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large+st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Largest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827630"/>
            <a:ext cx="5972175" cy="6755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lexical </a:t>
            </a:r>
            <a:r>
              <a:rPr dirty="0" sz="1100" spc="-5">
                <a:latin typeface="Times New Roman"/>
                <a:cs typeface="Times New Roman"/>
              </a:rPr>
              <a:t>words take </a:t>
            </a:r>
            <a:r>
              <a:rPr dirty="0" sz="1100">
                <a:latin typeface="Times New Roman"/>
                <a:cs typeface="Times New Roman"/>
              </a:rPr>
              <a:t>inflectional </a:t>
            </a:r>
            <a:r>
              <a:rPr dirty="0" sz="1100" spc="-5">
                <a:latin typeface="Times New Roman"/>
                <a:cs typeface="Times New Roman"/>
              </a:rPr>
              <a:t>affixes. The inflectional affixes are </a:t>
            </a:r>
            <a:r>
              <a:rPr dirty="0" sz="1100" spc="5">
                <a:latin typeface="Times New Roman"/>
                <a:cs typeface="Times New Roman"/>
              </a:rPr>
              <a:t>few; </a:t>
            </a:r>
            <a:r>
              <a:rPr dirty="0" sz="1100" spc="-5">
                <a:latin typeface="Times New Roman"/>
                <a:cs typeface="Times New Roman"/>
              </a:rPr>
              <a:t>there number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Closed classes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words take</a:t>
            </a:r>
            <a:r>
              <a:rPr dirty="0" sz="1100">
                <a:latin typeface="Times New Roman"/>
                <a:cs typeface="Times New Roman"/>
              </a:rPr>
              <a:t> no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 affixes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follow derivational affixes. An inflectional morpheme does not have the </a:t>
            </a:r>
            <a:r>
              <a:rPr dirty="0" sz="1100">
                <a:latin typeface="Times New Roman"/>
                <a:cs typeface="Times New Roman"/>
              </a:rPr>
              <a:t>capacity to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or the </a:t>
            </a:r>
            <a:r>
              <a:rPr dirty="0" sz="1100" spc="-5">
                <a:latin typeface="Times New Roman"/>
                <a:cs typeface="Times New Roman"/>
              </a:rPr>
              <a:t>syntactic class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words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bound </a:t>
            </a:r>
            <a:r>
              <a:rPr dirty="0" sz="1100">
                <a:latin typeface="Times New Roman"/>
                <a:cs typeface="Times New Roman"/>
              </a:rPr>
              <a:t>to and </a:t>
            </a:r>
            <a:r>
              <a:rPr dirty="0" sz="1100" spc="-5">
                <a:latin typeface="Times New Roman"/>
                <a:cs typeface="Times New Roman"/>
              </a:rPr>
              <a:t>will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predictable meaning </a:t>
            </a:r>
            <a:r>
              <a:rPr dirty="0" sz="1100">
                <a:latin typeface="Times New Roman"/>
                <a:cs typeface="Times New Roman"/>
              </a:rPr>
              <a:t>for all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 words.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101: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Derivational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vs.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Inflectional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Morphemes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Tall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(adj.)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Taller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(adj.)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 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Workers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Work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(derivational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suffix)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(inflectional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(verb)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(noun)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prefixes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un-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re-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happy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unhappy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refill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-hood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-dom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neighbourhood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kingdom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‘inner’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 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‘outer’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102: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Morphological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inﬂectional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follows.</a:t>
            </a:r>
            <a:endParaRPr sz="1100">
              <a:latin typeface="Times New Roman"/>
              <a:cs typeface="Times New Roman"/>
            </a:endParaRPr>
          </a:p>
          <a:p>
            <a:pPr marL="12700" marR="8255" indent="34925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adjectives.-er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inﬂection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(from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-ra)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verb </a:t>
            </a:r>
            <a:r>
              <a:rPr dirty="0" sz="1100" spc="-5" i="1">
                <a:latin typeface="Times New Roman"/>
                <a:cs typeface="Times New Roman"/>
              </a:rPr>
              <a:t>teach </a:t>
            </a:r>
            <a:r>
              <a:rPr dirty="0" sz="1100" spc="-5">
                <a:latin typeface="Times New Roman"/>
                <a:cs typeface="Times New Roman"/>
              </a:rPr>
              <a:t>becomes the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5" i="1">
                <a:latin typeface="Times New Roman"/>
                <a:cs typeface="Times New Roman"/>
              </a:rPr>
              <a:t>teacher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add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derivational morpheme </a:t>
            </a:r>
            <a:r>
              <a:rPr dirty="0" sz="1100" spc="-10">
                <a:latin typeface="Times New Roman"/>
                <a:cs typeface="Times New Roman"/>
              </a:rPr>
              <a:t>-er </a:t>
            </a:r>
            <a:r>
              <a:rPr dirty="0" sz="1100" spc="-5">
                <a:latin typeface="Times New Roman"/>
                <a:cs typeface="Times New Roman"/>
              </a:rPr>
              <a:t>(from Old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-ere).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sufﬁx </a:t>
            </a:r>
            <a:r>
              <a:rPr dirty="0" sz="1100" spc="-5">
                <a:latin typeface="Times New Roman"/>
                <a:cs typeface="Times New Roman"/>
              </a:rPr>
              <a:t>-er in Modern English </a:t>
            </a:r>
            <a:r>
              <a:rPr dirty="0" sz="1100">
                <a:latin typeface="Times New Roman"/>
                <a:cs typeface="Times New Roman"/>
              </a:rPr>
              <a:t>is as </a:t>
            </a:r>
            <a:r>
              <a:rPr dirty="0" sz="1100" spc="-5">
                <a:latin typeface="Times New Roman"/>
                <a:cs typeface="Times New Roman"/>
              </a:rPr>
              <a:t>an inﬂectional morpheme </a:t>
            </a:r>
            <a:r>
              <a:rPr dirty="0" sz="1100">
                <a:latin typeface="Times New Roman"/>
                <a:cs typeface="Times New Roman"/>
              </a:rPr>
              <a:t>as 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adjective,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‘The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simplicity impressed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teacher’.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076" y="914400"/>
          <a:ext cx="5948045" cy="1324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630"/>
                <a:gridCol w="1485265"/>
                <a:gridCol w="1485264"/>
                <a:gridCol w="1485264"/>
              </a:tblGrid>
              <a:tr h="745489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Morpheme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Free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Lexical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Child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1036319">
                        <a:lnSpc>
                          <a:spcPct val="11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teach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Bound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Functional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Derivational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-er,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Inflectional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-‘s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2388464"/>
            <a:ext cx="5971540" cy="31597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00" b="1">
                <a:latin typeface="Times New Roman"/>
                <a:cs typeface="Times New Roman"/>
              </a:rPr>
              <a:t>Order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teacher+s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teacher+s.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Problems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Morphological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3401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Apparent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simple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seen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Cat + </a:t>
            </a:r>
            <a:r>
              <a:rPr dirty="0" sz="1100" spc="-10">
                <a:latin typeface="Times New Roman"/>
                <a:cs typeface="Times New Roman"/>
              </a:rPr>
              <a:t>-s</a:t>
            </a:r>
            <a:r>
              <a:rPr dirty="0" sz="1100">
                <a:latin typeface="Times New Roman"/>
                <a:cs typeface="Times New Roman"/>
              </a:rPr>
              <a:t> = </a:t>
            </a:r>
            <a:r>
              <a:rPr dirty="0" sz="1100" spc="-5">
                <a:latin typeface="Times New Roman"/>
                <a:cs typeface="Times New Roman"/>
              </a:rPr>
              <a:t>cats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Sheep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 ?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 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60"/>
              </a:lnSpc>
              <a:spcBef>
                <a:spcPts val="65"/>
              </a:spcBef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institution +-al</a:t>
            </a:r>
            <a:r>
              <a:rPr dirty="0" sz="1100">
                <a:latin typeface="Times New Roman"/>
                <a:cs typeface="Times New Roman"/>
              </a:rPr>
              <a:t> = </a:t>
            </a:r>
            <a:r>
              <a:rPr dirty="0" sz="1100" spc="-5">
                <a:latin typeface="Times New Roman"/>
                <a:cs typeface="Times New Roman"/>
              </a:rPr>
              <a:t>institutional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–al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adjective suffix, </a:t>
            </a:r>
            <a:r>
              <a:rPr dirty="0" sz="1100">
                <a:latin typeface="Times New Roman"/>
                <a:cs typeface="Times New Roman"/>
              </a:rPr>
              <a:t>but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leg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>
                <a:latin typeface="Times New Roman"/>
                <a:cs typeface="Times New Roman"/>
              </a:rPr>
              <a:t> as leg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-10">
                <a:latin typeface="Times New Roman"/>
                <a:cs typeface="Times New Roman"/>
              </a:rPr>
              <a:t> no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Problematic Cases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relationship between law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legal is also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same problem. At best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say that </a:t>
            </a:r>
            <a:r>
              <a:rPr dirty="0" sz="1100">
                <a:latin typeface="Times New Roman"/>
                <a:cs typeface="Times New Roman"/>
              </a:rPr>
              <a:t>law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(Old English (lagu) </a:t>
            </a:r>
            <a:r>
              <a:rPr dirty="0" sz="1100">
                <a:latin typeface="Times New Roman"/>
                <a:cs typeface="Times New Roman"/>
              </a:rPr>
              <a:t>from a Scandinavian </a:t>
            </a:r>
            <a:r>
              <a:rPr dirty="0" sz="1100" spc="-5">
                <a:latin typeface="Times New Roman"/>
                <a:cs typeface="Times New Roman"/>
              </a:rPr>
              <a:t>source)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legal </a:t>
            </a:r>
            <a:r>
              <a:rPr dirty="0" sz="1100">
                <a:latin typeface="Times New Roman"/>
                <a:cs typeface="Times New Roman"/>
              </a:rPr>
              <a:t>(Latin form </a:t>
            </a:r>
            <a:r>
              <a:rPr dirty="0" sz="1100" spc="-5">
                <a:latin typeface="Times New Roman"/>
                <a:cs typeface="Times New Roman"/>
              </a:rPr>
              <a:t>legalis </a:t>
            </a:r>
            <a:r>
              <a:rPr dirty="0" sz="1100">
                <a:latin typeface="Times New Roman"/>
                <a:cs typeface="Times New Roman"/>
              </a:rPr>
              <a:t>(‘of the </a:t>
            </a:r>
            <a:r>
              <a:rPr dirty="0" sz="1100" spc="-5">
                <a:latin typeface="Times New Roman"/>
                <a:cs typeface="Times New Roman"/>
              </a:rPr>
              <a:t>law’) have come </a:t>
            </a:r>
            <a:r>
              <a:rPr dirty="0" sz="1100">
                <a:latin typeface="Times New Roman"/>
                <a:cs typeface="Times New Roman"/>
              </a:rPr>
              <a:t> into </a:t>
            </a:r>
            <a:r>
              <a:rPr dirty="0" sz="1100" spc="-5">
                <a:latin typeface="Times New Roman"/>
                <a:cs typeface="Times New Roman"/>
              </a:rPr>
              <a:t>English from different 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different periods. We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find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derivational relationship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604" y="5520918"/>
            <a:ext cx="610870" cy="6108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law</a:t>
            </a:r>
            <a:endParaRPr sz="11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20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outh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585" y="5520918"/>
            <a:ext cx="537210" cy="610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890">
              <a:lnSpc>
                <a:spcPct val="116399"/>
              </a:lnSpc>
              <a:spcBef>
                <a:spcPts val="95"/>
              </a:spcBef>
            </a:pP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d</a:t>
            </a:r>
            <a:r>
              <a:rPr dirty="0" sz="1100" spc="15">
                <a:latin typeface="Times New Roman"/>
                <a:cs typeface="Times New Roman"/>
              </a:rPr>
              <a:t>j</a:t>
            </a:r>
            <a:r>
              <a:rPr dirty="0" sz="1100" spc="-10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10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v</a:t>
            </a:r>
            <a:r>
              <a:rPr dirty="0" sz="1100">
                <a:latin typeface="Times New Roman"/>
                <a:cs typeface="Times New Roman"/>
              </a:rPr>
              <a:t>e  </a:t>
            </a:r>
            <a:r>
              <a:rPr dirty="0" sz="1100" spc="-5">
                <a:latin typeface="Times New Roman"/>
                <a:cs typeface="Times New Roman"/>
              </a:rPr>
              <a:t>legal </a:t>
            </a:r>
            <a:r>
              <a:rPr dirty="0" sz="1100">
                <a:latin typeface="Times New Roman"/>
                <a:cs typeface="Times New Roman"/>
              </a:rPr>
              <a:t> oral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6311264"/>
            <a:ext cx="5818505" cy="1873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Allomorphs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 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actual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realize morphemes.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Cats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cat+s(plural)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Buses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+es(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least,</a:t>
            </a:r>
            <a:r>
              <a:rPr dirty="0" sz="1100" spc="-5">
                <a:latin typeface="Times New Roman"/>
                <a:cs typeface="Times New Roman"/>
              </a:rPr>
              <a:t> 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(-s,-es)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/s/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/ɪz/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‘plural’.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Allomorph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‘allomorphs’.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076" y="914400"/>
          <a:ext cx="5948045" cy="2058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2725"/>
                <a:gridCol w="4455795"/>
              </a:tblGrid>
              <a:tr h="190753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Plural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morpheme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Allomorphs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116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{e(s)}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/ɪz/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/s/,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/z/,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/ʃ/,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/ʒ/,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/tʃ/,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/dʒ/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e.g.,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buses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/bʌsɪz/,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vases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/vɑː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zɪz/,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bushes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ʊ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ʃ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ɪz/,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rouges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/ruː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ʒɪz/,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churches /tʃɜː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tʃɪz/,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judges /dʒʌdʒɪz/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29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/s/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voiceless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consonant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(other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/ʃ,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tʃ/):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cats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/kæts/,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caps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/kæps/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/z/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voiced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(other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(/z,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ʒ,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dʒ/):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boys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/bɔɪz/,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bags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/bæɡz/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3103601"/>
            <a:ext cx="5969000" cy="13589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00" spc="-5">
                <a:latin typeface="Times New Roman"/>
                <a:cs typeface="Times New Roman"/>
              </a:rPr>
              <a:t>Similarly,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{-e(s)}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allomorphs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/s/,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/z/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/ɪz/.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Packs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/pæks/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Digs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/dɪɡz/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Washes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/wɒʃɪz/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{-e(d)}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(phonologically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conditioned)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allomorphs /t/,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/d/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/ɪd/.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43076" y="4665599"/>
          <a:ext cx="5948045" cy="112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640"/>
                <a:gridCol w="4627880"/>
              </a:tblGrid>
              <a:tr h="190500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morpheme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1417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{e(d)}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/t/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morphs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voiceless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(except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/t/)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booked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/bʊkt/,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pushed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/pʊʃt/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/d/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morphs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voiced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sounds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(except</a:t>
                      </a:r>
                      <a:r>
                        <a:rPr dirty="0" sz="11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/d/)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loved</a:t>
                      </a:r>
                      <a:r>
                        <a:rPr dirty="0" sz="11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/lʌvd/,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bagged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/bæɡd/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/ɪd/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morphs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/t/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/d/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wanted /ˈwɒntɪd/,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wedded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/wedɪd/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02004" y="5751042"/>
            <a:ext cx="2998470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63600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‘zero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sheep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Sheep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+ø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Man + </a:t>
            </a:r>
            <a:r>
              <a:rPr dirty="0" sz="1100" spc="-5">
                <a:latin typeface="Times New Roman"/>
                <a:cs typeface="Times New Roman"/>
              </a:rPr>
              <a:t>Plural (vowel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irregular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Times New Roman"/>
                <a:cs typeface="Times New Roman"/>
              </a:rPr>
              <a:t> past tense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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Lesson-19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7082" y="1122934"/>
            <a:ext cx="1620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MORPHOLOGY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III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546606"/>
            <a:ext cx="5967730" cy="749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105: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Coinage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Coinage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word formation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5">
                <a:latin typeface="Times New Roman"/>
                <a:cs typeface="Times New Roman"/>
              </a:rPr>
              <a:t>in which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created either deliberately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accidentally without </a:t>
            </a:r>
            <a:r>
              <a:rPr dirty="0" sz="1100">
                <a:latin typeface="Times New Roman"/>
                <a:cs typeface="Times New Roman"/>
              </a:rPr>
              <a:t>using the </a:t>
            </a:r>
            <a:r>
              <a:rPr dirty="0" sz="1100" spc="-5">
                <a:latin typeface="Times New Roman"/>
                <a:cs typeface="Times New Roman"/>
              </a:rPr>
              <a:t>other word formation </a:t>
            </a:r>
            <a:r>
              <a:rPr dirty="0" sz="1100">
                <a:latin typeface="Times New Roman"/>
                <a:cs typeface="Times New Roman"/>
              </a:rPr>
              <a:t>processes,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often from </a:t>
            </a:r>
            <a:r>
              <a:rPr dirty="0" sz="1100" spc="-5">
                <a:latin typeface="Times New Roman"/>
                <a:cs typeface="Times New Roman"/>
              </a:rPr>
              <a:t>seemingly nothing. As </a:t>
            </a:r>
            <a:r>
              <a:rPr dirty="0" sz="1100">
                <a:latin typeface="Times New Roman"/>
                <a:cs typeface="Times New Roman"/>
              </a:rPr>
              <a:t> neologism or </a:t>
            </a:r>
            <a:r>
              <a:rPr dirty="0" sz="1100" spc="-5">
                <a:latin typeface="Times New Roman"/>
                <a:cs typeface="Times New Roman"/>
              </a:rPr>
              <a:t>coinage, we identify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formation </a:t>
            </a:r>
            <a:r>
              <a:rPr dirty="0" sz="1100">
                <a:latin typeface="Times New Roman"/>
                <a:cs typeface="Times New Roman"/>
              </a:rPr>
              <a:t>process of </a:t>
            </a:r>
            <a:r>
              <a:rPr dirty="0" sz="1100" spc="-5">
                <a:latin typeface="Times New Roman"/>
                <a:cs typeface="Times New Roman"/>
              </a:rPr>
              <a:t>inventing </a:t>
            </a:r>
            <a:r>
              <a:rPr dirty="0" sz="1100">
                <a:latin typeface="Times New Roman"/>
                <a:cs typeface="Times New Roman"/>
              </a:rPr>
              <a:t>entirely new </a:t>
            </a:r>
            <a:r>
              <a:rPr dirty="0" sz="1100" spc="-5">
                <a:latin typeface="Times New Roman"/>
                <a:cs typeface="Times New Roman"/>
              </a:rPr>
              <a:t>words. This is </a:t>
            </a:r>
            <a:r>
              <a:rPr dirty="0" sz="1100">
                <a:latin typeface="Times New Roman"/>
                <a:cs typeface="Times New Roman"/>
              </a:rPr>
              <a:t> constant </a:t>
            </a:r>
            <a:r>
              <a:rPr dirty="0" sz="1100" spc="-5">
                <a:latin typeface="Times New Roman"/>
                <a:cs typeface="Times New Roman"/>
              </a:rPr>
              <a:t>evolution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new words </a:t>
            </a:r>
            <a:r>
              <a:rPr dirty="0" sz="1100">
                <a:latin typeface="Times New Roman"/>
                <a:cs typeface="Times New Roman"/>
              </a:rPr>
              <a:t>and new </a:t>
            </a:r>
            <a:r>
              <a:rPr dirty="0" sz="1100" spc="-5">
                <a:latin typeface="Times New Roman"/>
                <a:cs typeface="Times New Roman"/>
              </a:rPr>
              <a:t>uses.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sign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vitality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creativeness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way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shaped by the needs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 users. These words are invented as trade names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commercial </a:t>
            </a:r>
            <a:r>
              <a:rPr dirty="0" sz="1100">
                <a:latin typeface="Times New Roman"/>
                <a:cs typeface="Times New Roman"/>
              </a:rPr>
              <a:t> products,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Older examples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aspirin, nylon, vaseline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zipper; recent examples are granola, kleenex,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teﬂon,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Xerox.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everyday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language;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Google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Googleplex,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later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name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(Google).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Similarly,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online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‘ebay’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tried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ebaying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Eponyms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person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Hoover (after the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marketed</a:t>
            </a:r>
            <a:r>
              <a:rPr dirty="0" sz="1100" spc="-5">
                <a:latin typeface="Times New Roman"/>
                <a:cs typeface="Times New Roman"/>
              </a:rPr>
              <a:t> it</a:t>
            </a:r>
            <a:r>
              <a:rPr dirty="0" sz="1100">
                <a:latin typeface="Times New Roman"/>
                <a:cs typeface="Times New Roman"/>
              </a:rPr>
              <a:t> 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Spangle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Sandwich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 </a:t>
            </a:r>
            <a:r>
              <a:rPr dirty="0" sz="1100" spc="-5">
                <a:latin typeface="Times New Roman"/>
                <a:cs typeface="Times New Roman"/>
              </a:rPr>
              <a:t>pieces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gambling)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Jeans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(after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Italy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Genoa)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6350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eponyms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5">
                <a:latin typeface="Times New Roman"/>
                <a:cs typeface="Times New Roman"/>
              </a:rPr>
              <a:t> as: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Fahrenheit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Gabriel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Fahrenheit)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Volt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Italian,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Alessandro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Volta)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Watt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Scottish inventor,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106: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Borrowing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linguistics, borrowing (also 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lexical borrowing)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from </a:t>
            </a:r>
            <a:r>
              <a:rPr dirty="0" sz="1100">
                <a:latin typeface="Times New Roman"/>
                <a:cs typeface="Times New Roman"/>
              </a:rPr>
              <a:t> one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adapted for </a:t>
            </a:r>
            <a:r>
              <a:rPr dirty="0" sz="1100">
                <a:latin typeface="Times New Roman"/>
                <a:cs typeface="Times New Roman"/>
              </a:rPr>
              <a:t>use in </a:t>
            </a:r>
            <a:r>
              <a:rPr dirty="0" sz="1100" spc="-5">
                <a:latin typeface="Times New Roman"/>
                <a:cs typeface="Times New Roman"/>
              </a:rPr>
              <a:t>another. The word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borrowed is 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borrowing,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borrowed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loanword.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borrowed </a:t>
            </a:r>
            <a:r>
              <a:rPr dirty="0" sz="1100">
                <a:latin typeface="Times New Roman"/>
                <a:cs typeface="Times New Roman"/>
              </a:rPr>
              <a:t>word </a:t>
            </a:r>
            <a:r>
              <a:rPr dirty="0" sz="1100" spc="-5">
                <a:latin typeface="Times New Roman"/>
                <a:cs typeface="Times New Roman"/>
              </a:rPr>
              <a:t>is never given </a:t>
            </a:r>
            <a:r>
              <a:rPr dirty="0" sz="1100">
                <a:latin typeface="Times New Roman"/>
                <a:cs typeface="Times New Roman"/>
              </a:rPr>
              <a:t>back as the </a:t>
            </a:r>
            <a:r>
              <a:rPr dirty="0" sz="1100" spc="-5">
                <a:latin typeface="Times New Roman"/>
                <a:cs typeface="Times New Roman"/>
              </a:rPr>
              <a:t>word indicates.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most common </a:t>
            </a:r>
            <a:r>
              <a:rPr dirty="0" sz="1100">
                <a:latin typeface="Times New Roman"/>
                <a:cs typeface="Times New Roman"/>
              </a:rPr>
              <a:t> source of new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English. Some common </a:t>
            </a:r>
            <a:r>
              <a:rPr dirty="0" sz="1100">
                <a:latin typeface="Times New Roman"/>
                <a:cs typeface="Times New Roman"/>
              </a:rPr>
              <a:t>borrowed </a:t>
            </a:r>
            <a:r>
              <a:rPr dirty="0" sz="1100" spc="-5">
                <a:latin typeface="Times New Roman"/>
                <a:cs typeface="Times New Roman"/>
              </a:rPr>
              <a:t>words 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borrowed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 below.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Croissant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(French) Dope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(Dutch)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Lilac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(Persian)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Pia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-2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ta</a:t>
            </a:r>
            <a:r>
              <a:rPr dirty="0" sz="1100" spc="5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n)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66460" cy="79368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Pretzel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(German),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Sofa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(Arabic),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Tattoo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(Tahitian)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Tycoon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(Japanese)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Yogurt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(Turkish)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Zebra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(Bantu)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Loan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Translation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Calque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Sometimes 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another language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translated. This process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loan translation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 translation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elements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word into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borrowing language. The English word skyscraper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calques</a:t>
            </a:r>
            <a:r>
              <a:rPr dirty="0" sz="1100" spc="-5">
                <a:latin typeface="Times New Roman"/>
                <a:cs typeface="Times New Roman"/>
              </a:rPr>
              <a:t> 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skyscraper.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French </a:t>
            </a:r>
            <a:r>
              <a:rPr dirty="0" sz="1100" spc="-5">
                <a:latin typeface="Times New Roman"/>
                <a:cs typeface="Times New Roman"/>
              </a:rPr>
              <a:t>gratte-ciel,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(literally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‘scrape-sky,’)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wolkenkrabber </a:t>
            </a:r>
            <a:r>
              <a:rPr dirty="0" sz="1100">
                <a:latin typeface="Times New Roman"/>
                <a:cs typeface="Times New Roman"/>
              </a:rPr>
              <a:t>(‘cloud </a:t>
            </a:r>
            <a:r>
              <a:rPr dirty="0" sz="1100" spc="-5">
                <a:latin typeface="Times New Roman"/>
                <a:cs typeface="Times New Roman"/>
              </a:rPr>
              <a:t>scratcher’)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German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Wolkenkratzer(‘cloud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scraper’),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‘moment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momento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verdad.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Nowadays,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perros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calientes </a:t>
            </a:r>
            <a:r>
              <a:rPr dirty="0" sz="1100" spc="-5">
                <a:latin typeface="Times New Roman"/>
                <a:cs typeface="Times New Roman"/>
              </a:rPr>
              <a:t>(dogs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Compounding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/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Blending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635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Joining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compounding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nouns:</a:t>
            </a:r>
            <a:endParaRPr sz="1100">
              <a:latin typeface="Times New Roman"/>
              <a:cs typeface="Times New Roman"/>
            </a:endParaRPr>
          </a:p>
          <a:p>
            <a:pPr marL="12700" marR="476884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bookcase,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doorknob,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ﬁngerprint,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sunburn,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wallpaper,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wastebasket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waterbed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adjectives:</a:t>
            </a:r>
            <a:endParaRPr sz="1100">
              <a:latin typeface="Times New Roman"/>
              <a:cs typeface="Times New Roman"/>
            </a:endParaRPr>
          </a:p>
          <a:p>
            <a:pPr marL="12700" marR="4168775" indent="456565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good-looking,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low-paid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adjective:</a:t>
            </a:r>
            <a:endParaRPr sz="1100">
              <a:latin typeface="Times New Roman"/>
              <a:cs typeface="Times New Roman"/>
            </a:endParaRPr>
          </a:p>
          <a:p>
            <a:pPr marL="12700" marR="276669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Fast </a:t>
            </a:r>
            <a:r>
              <a:rPr dirty="0" sz="1100" spc="-5">
                <a:latin typeface="Times New Roman"/>
                <a:cs typeface="Times New Roman"/>
              </a:rPr>
              <a:t>plus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5">
                <a:latin typeface="Times New Roman"/>
                <a:cs typeface="Times New Roman"/>
              </a:rPr>
              <a:t>food=fast-food </a:t>
            </a:r>
            <a:r>
              <a:rPr dirty="0" sz="1100">
                <a:latin typeface="Times New Roman"/>
                <a:cs typeface="Times New Roman"/>
              </a:rPr>
              <a:t>restaurant, a </a:t>
            </a:r>
            <a:r>
              <a:rPr dirty="0" sz="1100" spc="-5">
                <a:latin typeface="Times New Roman"/>
                <a:cs typeface="Times New Roman"/>
              </a:rPr>
              <a:t>full-time job.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process in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too.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Blending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05613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combination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 forms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single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Smoke </a:t>
            </a:r>
            <a:r>
              <a:rPr dirty="0" sz="1100">
                <a:latin typeface="Times New Roman"/>
                <a:cs typeface="Times New Roman"/>
              </a:rPr>
              <a:t>+fog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smog</a:t>
            </a:r>
            <a:endParaRPr sz="1100">
              <a:latin typeface="Times New Roman"/>
              <a:cs typeface="Times New Roman"/>
            </a:endParaRPr>
          </a:p>
          <a:p>
            <a:pPr marL="12700" marR="4685665">
              <a:lnSpc>
                <a:spcPct val="1102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Smoke </a:t>
            </a:r>
            <a:r>
              <a:rPr dirty="0" sz="1100">
                <a:latin typeface="Times New Roman"/>
                <a:cs typeface="Times New Roman"/>
              </a:rPr>
              <a:t>+ </a:t>
            </a:r>
            <a:r>
              <a:rPr dirty="0" sz="1100" spc="-5">
                <a:latin typeface="Times New Roman"/>
                <a:cs typeface="Times New Roman"/>
              </a:rPr>
              <a:t>haze= smaze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murk=smurk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Bit()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Brunch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(breakfast</a:t>
            </a:r>
            <a:r>
              <a:rPr dirty="0" sz="1100">
                <a:latin typeface="Times New Roman"/>
                <a:cs typeface="Times New Roman"/>
              </a:rPr>
              <a:t> +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Motel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(hotel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motor)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Telecast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Infotainment</a:t>
            </a:r>
            <a:r>
              <a:rPr dirty="0" sz="1100">
                <a:latin typeface="Times New Roman"/>
                <a:cs typeface="Times New Roman"/>
              </a:rPr>
              <a:t> (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 entertainment)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Simulcast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1540" cy="79990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Times New Roman"/>
                <a:cs typeface="Times New Roman"/>
              </a:rPr>
              <a:t>Mixing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Franglais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 </a:t>
            </a:r>
            <a:r>
              <a:rPr dirty="0" sz="1100" spc="-5">
                <a:latin typeface="Times New Roman"/>
                <a:cs typeface="Times New Roman"/>
              </a:rPr>
              <a:t>French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Times New Roman"/>
                <a:cs typeface="Times New Roman"/>
              </a:rPr>
              <a:t> English)</a:t>
            </a:r>
            <a:endParaRPr sz="1100">
              <a:latin typeface="Times New Roman"/>
              <a:cs typeface="Times New Roman"/>
            </a:endParaRPr>
          </a:p>
          <a:p>
            <a:pPr marL="12700" marR="3761104" indent="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Spanglish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Telex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108: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Clipping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1206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reduction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noticeable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blending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apparent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clipping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Fax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facsimile</a:t>
            </a:r>
            <a:endParaRPr sz="1100">
              <a:latin typeface="Times New Roman"/>
              <a:cs typeface="Times New Roman"/>
            </a:endParaRPr>
          </a:p>
          <a:p>
            <a:pPr marL="12700" marR="10795">
              <a:lnSpc>
                <a:spcPct val="1102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clipped.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casual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 marL="469265" marR="50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gas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(gasoline),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(advertisement),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cab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(cabriolet),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condo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(condominium),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(fanatic),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ﬂu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(Inﬂuenza)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other’s names.</a:t>
            </a:r>
            <a:endParaRPr sz="1100">
              <a:latin typeface="Times New Roman"/>
              <a:cs typeface="Times New Roman"/>
            </a:endParaRPr>
          </a:p>
          <a:p>
            <a:pPr marL="12700" marR="3482975" indent="45656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Ed, </a:t>
            </a:r>
            <a:r>
              <a:rPr dirty="0" sz="1100" spc="-5">
                <a:latin typeface="Times New Roman"/>
                <a:cs typeface="Times New Roman"/>
              </a:rPr>
              <a:t>Liz, Mike, </a:t>
            </a:r>
            <a:r>
              <a:rPr dirty="0" sz="1100">
                <a:latin typeface="Times New Roman"/>
                <a:cs typeface="Times New Roman"/>
              </a:rPr>
              <a:t>Ron, </a:t>
            </a:r>
            <a:r>
              <a:rPr dirty="0" sz="1100" spc="-10">
                <a:latin typeface="Times New Roman"/>
                <a:cs typeface="Times New Roman"/>
              </a:rPr>
              <a:t>Sam, </a:t>
            </a:r>
            <a:r>
              <a:rPr dirty="0" sz="1100">
                <a:latin typeface="Times New Roman"/>
                <a:cs typeface="Times New Roman"/>
              </a:rPr>
              <a:t>Sue, Tom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educational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chem,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gym,</a:t>
            </a:r>
            <a:r>
              <a:rPr dirty="0" sz="1100">
                <a:latin typeface="Times New Roman"/>
                <a:cs typeface="Times New Roman"/>
              </a:rPr>
              <a:t> lab,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typo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Hypocorisms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reduction, </a:t>
            </a:r>
            <a:r>
              <a:rPr dirty="0" sz="1100">
                <a:latin typeface="Times New Roman"/>
                <a:cs typeface="Times New Roman"/>
              </a:rPr>
              <a:t>favoured in </a:t>
            </a:r>
            <a:r>
              <a:rPr dirty="0" sz="1100" spc="-5">
                <a:latin typeface="Times New Roman"/>
                <a:cs typeface="Times New Roman"/>
              </a:rPr>
              <a:t>Australian </a:t>
            </a:r>
            <a:r>
              <a:rPr dirty="0" sz="1100">
                <a:latin typeface="Times New Roman"/>
                <a:cs typeface="Times New Roman"/>
              </a:rPr>
              <a:t>and British </a:t>
            </a:r>
            <a:r>
              <a:rPr dirty="0" sz="1100" spc="-5">
                <a:latin typeface="Times New Roman"/>
                <a:cs typeface="Times New Roman"/>
              </a:rPr>
              <a:t>English, produces forms technically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hypocorisms.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reduced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-ie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Movie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(‘moving</a:t>
            </a:r>
            <a:r>
              <a:rPr dirty="0" sz="1100">
                <a:latin typeface="Times New Roman"/>
                <a:cs typeface="Times New Roman"/>
              </a:rPr>
              <a:t> pictures’),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(‘television’),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Aussie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(‘Australian’),</a:t>
            </a:r>
            <a:r>
              <a:rPr dirty="0" sz="1100">
                <a:latin typeface="Times New Roman"/>
                <a:cs typeface="Times New Roman"/>
              </a:rPr>
              <a:t> barbie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(‘barbecue’),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brekky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(‘breakfast’),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hankie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(‘handkerchief’)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Acronyms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 acronym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 spc="-10">
                <a:latin typeface="Times New Roman"/>
                <a:cs typeface="Times New Roman"/>
              </a:rPr>
              <a:t>or name </a:t>
            </a:r>
            <a:r>
              <a:rPr dirty="0" sz="1100" spc="-5">
                <a:latin typeface="Times New Roman"/>
                <a:cs typeface="Times New Roman"/>
              </a:rPr>
              <a:t>formed </a:t>
            </a:r>
            <a:r>
              <a:rPr dirty="0" sz="1100">
                <a:latin typeface="Times New Roman"/>
                <a:cs typeface="Times New Roman"/>
              </a:rPr>
              <a:t>as an </a:t>
            </a:r>
            <a:r>
              <a:rPr dirty="0" sz="1100" spc="-5">
                <a:latin typeface="Times New Roman"/>
                <a:cs typeface="Times New Roman"/>
              </a:rPr>
              <a:t>abbreviation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initial </a:t>
            </a:r>
            <a:r>
              <a:rPr dirty="0" sz="1100">
                <a:latin typeface="Times New Roman"/>
                <a:cs typeface="Times New Roman"/>
              </a:rPr>
              <a:t>components in a </a:t>
            </a:r>
            <a:r>
              <a:rPr dirty="0" sz="1100" spc="-5">
                <a:latin typeface="Times New Roman"/>
                <a:cs typeface="Times New Roman"/>
              </a:rPr>
              <a:t>phrase </a:t>
            </a:r>
            <a:r>
              <a:rPr dirty="0" sz="1100">
                <a:latin typeface="Times New Roman"/>
                <a:cs typeface="Times New Roman"/>
              </a:rPr>
              <a:t> or a </a:t>
            </a:r>
            <a:r>
              <a:rPr dirty="0" sz="1100" spc="-5">
                <a:latin typeface="Times New Roman"/>
                <a:cs typeface="Times New Roman"/>
              </a:rPr>
              <a:t>word, usually individual letters,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sometimes syllables (as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Benelux).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no universal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standards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multiple names </a:t>
            </a:r>
            <a:r>
              <a:rPr dirty="0" sz="1100">
                <a:latin typeface="Times New Roman"/>
                <a:cs typeface="Times New Roman"/>
              </a:rPr>
              <a:t>for such </a:t>
            </a:r>
            <a:r>
              <a:rPr dirty="0" sz="1100" spc="-5">
                <a:latin typeface="Times New Roman"/>
                <a:cs typeface="Times New Roman"/>
              </a:rPr>
              <a:t>abbreviations </a:t>
            </a:r>
            <a:r>
              <a:rPr dirty="0" sz="1100">
                <a:latin typeface="Times New Roman"/>
                <a:cs typeface="Times New Roman"/>
              </a:rPr>
              <a:t>and of </a:t>
            </a:r>
            <a:r>
              <a:rPr dirty="0" sz="1100" spc="-5">
                <a:latin typeface="Times New Roman"/>
                <a:cs typeface="Times New Roman"/>
              </a:rPr>
              <a:t>their orthographic styling. Words formed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47777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CD </a:t>
            </a:r>
            <a:r>
              <a:rPr dirty="0" sz="1100" spc="-5">
                <a:latin typeface="Times New Roman"/>
                <a:cs typeface="Times New Roman"/>
              </a:rPr>
              <a:t>(‘compact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disk’),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VCR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(‘video</a:t>
            </a:r>
            <a:r>
              <a:rPr dirty="0" sz="1100" spc="-5">
                <a:latin typeface="Times New Roman"/>
                <a:cs typeface="Times New Roman"/>
              </a:rPr>
              <a:t> cassette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recorder’)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NATO,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NASA,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UNESCO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There are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every day terms such </a:t>
            </a:r>
            <a:r>
              <a:rPr dirty="0" sz="1100" spc="-5">
                <a:latin typeface="Times New Roman"/>
                <a:cs typeface="Times New Roman"/>
              </a:rPr>
              <a:t>as: laser (‘light ampliﬁcation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stimulated emission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radiation’),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radar</a:t>
            </a:r>
            <a:r>
              <a:rPr dirty="0" sz="1100">
                <a:latin typeface="Times New Roman"/>
                <a:cs typeface="Times New Roman"/>
              </a:rPr>
              <a:t> (‘radio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detecting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ranging’),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scuba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(‘self-contained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underwater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breathing</a:t>
            </a:r>
            <a:r>
              <a:rPr dirty="0" sz="1100">
                <a:latin typeface="Times New Roman"/>
                <a:cs typeface="Times New Roman"/>
              </a:rPr>
              <a:t> apparatus’)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Names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designed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5">
                <a:latin typeface="Times New Roman"/>
                <a:cs typeface="Times New Roman"/>
              </a:rPr>
              <a:t> acronym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appropriate term.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4900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Some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Acronyms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ATM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(‘automatic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machine’),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(‘personal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identiﬁcation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number’)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forget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ATM machine.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110: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Derivation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(Prefixes,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Suffixes,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Infixes)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>
                <a:latin typeface="Times New Roman"/>
                <a:cs typeface="Times New Roman"/>
              </a:rPr>
              <a:t> affix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an affix by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one 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formed (derived)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another.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derived 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different word </a:t>
            </a:r>
            <a:r>
              <a:rPr dirty="0" sz="1100">
                <a:latin typeface="Times New Roman"/>
                <a:cs typeface="Times New Roman"/>
              </a:rPr>
              <a:t>class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original.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contrast </a:t>
            </a:r>
            <a:r>
              <a:rPr dirty="0" sz="1100">
                <a:latin typeface="Times New Roman"/>
                <a:cs typeface="Times New Roman"/>
              </a:rPr>
              <a:t>to an </a:t>
            </a:r>
            <a:r>
              <a:rPr dirty="0" sz="1100" spc="-5">
                <a:latin typeface="Times New Roman"/>
                <a:cs typeface="Times New Roman"/>
              </a:rPr>
              <a:t>inflectional affix,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obligatory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affixes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occurs</a:t>
            </a:r>
            <a:r>
              <a:rPr dirty="0" sz="1100" spc="-5">
                <a:latin typeface="Times New Roman"/>
                <a:cs typeface="Times New Roman"/>
              </a:rPr>
              <a:t> closer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the root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more meaningful,</a:t>
            </a:r>
            <a:r>
              <a:rPr dirty="0" sz="1100">
                <a:latin typeface="Times New Roman"/>
                <a:cs typeface="Times New Roman"/>
              </a:rPr>
              <a:t> and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somewhat idiosyncratic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Prefixes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afﬁxes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beginning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word: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un-,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mis-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Afﬁxes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end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word </a:t>
            </a:r>
            <a:r>
              <a:rPr dirty="0" sz="1100" spc="-5">
                <a:latin typeface="Times New Roman"/>
                <a:cs typeface="Times New Roman"/>
              </a:rPr>
              <a:t>-less,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preﬁxes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sufﬁxes,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Mislead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Disrespectful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Foolishness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Infix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third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afﬁx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infixes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Absogoddamlutely!,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Fandamntastic.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7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22446" y="1122934"/>
            <a:ext cx="1125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GRAMMAR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546606"/>
            <a:ext cx="5972810" cy="712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111: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‘gramma’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‘art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letters’.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 of </a:t>
            </a:r>
            <a:r>
              <a:rPr dirty="0" sz="1100" spc="-5">
                <a:latin typeface="Times New Roman"/>
                <a:cs typeface="Times New Roman"/>
              </a:rPr>
              <a:t>structural rules governing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composition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clauses, phrases,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any </a:t>
            </a:r>
            <a:r>
              <a:rPr dirty="0" sz="1100" spc="-5">
                <a:latin typeface="Times New Roman"/>
                <a:cs typeface="Times New Roman"/>
              </a:rPr>
              <a:t>given natural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term </a:t>
            </a:r>
            <a:r>
              <a:rPr dirty="0" sz="1100">
                <a:latin typeface="Times New Roman"/>
                <a:cs typeface="Times New Roman"/>
              </a:rPr>
              <a:t>also refers to the study of </a:t>
            </a:r>
            <a:r>
              <a:rPr dirty="0" sz="1100" spc="-5">
                <a:latin typeface="Times New Roman"/>
                <a:cs typeface="Times New Roman"/>
              </a:rPr>
              <a:t>such rules, and this field </a:t>
            </a:r>
            <a:r>
              <a:rPr dirty="0" sz="1100">
                <a:latin typeface="Times New Roman"/>
                <a:cs typeface="Times New Roman"/>
              </a:rPr>
              <a:t>includes </a:t>
            </a:r>
            <a:r>
              <a:rPr dirty="0" sz="1100" spc="-5">
                <a:latin typeface="Times New Roman"/>
                <a:cs typeface="Times New Roman"/>
              </a:rPr>
              <a:t>phonology, morphology,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syntax,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complemented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refers to </a:t>
            </a:r>
            <a:r>
              <a:rPr dirty="0" sz="1100" spc="-5">
                <a:latin typeface="Times New Roman"/>
                <a:cs typeface="Times New Roman"/>
              </a:rPr>
              <a:t>cognitive information underlying language </a:t>
            </a:r>
            <a:r>
              <a:rPr dirty="0" sz="1100">
                <a:latin typeface="Times New Roman"/>
                <a:cs typeface="Times New Roman"/>
              </a:rPr>
              <a:t>use. Speakers of a </a:t>
            </a:r>
            <a:r>
              <a:rPr dirty="0" sz="1100" spc="-5">
                <a:latin typeface="Times New Roman"/>
                <a:cs typeface="Times New Roman"/>
              </a:rPr>
              <a:t>language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 of </a:t>
            </a:r>
            <a:r>
              <a:rPr dirty="0" sz="1100" spc="-5">
                <a:latin typeface="Times New Roman"/>
                <a:cs typeface="Times New Roman"/>
              </a:rPr>
              <a:t>internalized rules for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that language. These rules constitute grammar,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vast majority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is—at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case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one's</a:t>
            </a:r>
            <a:r>
              <a:rPr dirty="0" sz="1100">
                <a:latin typeface="Times New Roman"/>
                <a:cs typeface="Times New Roman"/>
              </a:rPr>
              <a:t> native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language—acquired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conscious study or </a:t>
            </a:r>
            <a:r>
              <a:rPr dirty="0" sz="1100" spc="-5">
                <a:latin typeface="Times New Roman"/>
                <a:cs typeface="Times New Roman"/>
              </a:rPr>
              <a:t>instruction, but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observing other </a:t>
            </a:r>
            <a:r>
              <a:rPr dirty="0" sz="1100">
                <a:latin typeface="Times New Roman"/>
                <a:cs typeface="Times New Roman"/>
              </a:rPr>
              <a:t>speakers.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work </a:t>
            </a:r>
            <a:r>
              <a:rPr dirty="0" sz="1100">
                <a:latin typeface="Times New Roman"/>
                <a:cs typeface="Times New Roman"/>
              </a:rPr>
              <a:t>is done during </a:t>
            </a:r>
            <a:r>
              <a:rPr dirty="0" sz="1100" spc="-5">
                <a:latin typeface="Times New Roman"/>
                <a:cs typeface="Times New Roman"/>
              </a:rPr>
              <a:t>early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childhood;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explicit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instruction.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079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Babylonians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early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grammars,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Iron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Yaska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(6th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Pāṇini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(4th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Pingala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Katyayana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(300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Patanjali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BC)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strict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combining 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5">
                <a:latin typeface="Times New Roman"/>
                <a:cs typeface="Times New Roman"/>
              </a:rPr>
              <a:t> phrases.</a:t>
            </a:r>
            <a:endParaRPr sz="1100">
              <a:latin typeface="Times New Roman"/>
              <a:cs typeface="Times New Roman"/>
            </a:endParaRPr>
          </a:p>
          <a:p>
            <a:pPr marL="469265" marR="4524375" indent="-228600">
              <a:lnSpc>
                <a:spcPct val="1105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adj.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469265" marR="4806315" indent="-228600">
              <a:lnSpc>
                <a:spcPct val="1105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5">
                <a:latin typeface="Times New Roman"/>
                <a:cs typeface="Times New Roman"/>
              </a:rPr>
              <a:t>V</a:t>
            </a:r>
            <a:r>
              <a:rPr dirty="0" sz="1100" spc="-10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</a:t>
            </a:r>
            <a:r>
              <a:rPr dirty="0" sz="1100" spc="-10">
                <a:latin typeface="Times New Roman"/>
                <a:cs typeface="Times New Roman"/>
              </a:rPr>
              <a:t>r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e  </a:t>
            </a:r>
            <a:r>
              <a:rPr dirty="0" sz="1100" spc="-10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playing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469265" marR="4384040" indent="-228600">
              <a:lnSpc>
                <a:spcPct val="1105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Adjective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 </a:t>
            </a:r>
            <a:r>
              <a:rPr dirty="0" sz="1100" spc="-5">
                <a:latin typeface="Times New Roman"/>
                <a:cs typeface="Times New Roman"/>
              </a:rPr>
              <a:t>beautiful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endParaRPr sz="1100">
              <a:latin typeface="Times New Roman"/>
              <a:cs typeface="Times New Roman"/>
            </a:endParaRPr>
          </a:p>
          <a:p>
            <a:pPr marL="469265" marR="4507230" indent="-228600">
              <a:lnSpc>
                <a:spcPct val="1105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Adverb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 easily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endParaRPr sz="1100">
              <a:latin typeface="Times New Roman"/>
              <a:cs typeface="Times New Roman"/>
            </a:endParaRPr>
          </a:p>
          <a:p>
            <a:pPr marL="469265" marR="435737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Prepositional phrase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park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Preposition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Times New Roman"/>
                <a:cs typeface="Times New Roman"/>
              </a:rPr>
              <a:t> Art</a:t>
            </a:r>
            <a:r>
              <a:rPr dirty="0" sz="1100">
                <a:latin typeface="Times New Roman"/>
                <a:cs typeface="Times New Roman"/>
              </a:rPr>
              <a:t> +</a:t>
            </a:r>
            <a:r>
              <a:rPr dirty="0" sz="1100" spc="-5">
                <a:latin typeface="Times New Roman"/>
                <a:cs typeface="Times New Roman"/>
              </a:rPr>
              <a:t> noun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Different 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sequencing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8185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112: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Traditional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collection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prescriptive </a:t>
            </a:r>
            <a:r>
              <a:rPr dirty="0" sz="1100">
                <a:latin typeface="Times New Roman"/>
                <a:cs typeface="Times New Roman"/>
              </a:rPr>
              <a:t>rules and </a:t>
            </a:r>
            <a:r>
              <a:rPr dirty="0" sz="1100" spc="-5">
                <a:latin typeface="Times New Roman"/>
                <a:cs typeface="Times New Roman"/>
              </a:rPr>
              <a:t>concepts about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commonly </a:t>
            </a:r>
            <a:r>
              <a:rPr dirty="0" sz="1100">
                <a:latin typeface="Times New Roman"/>
                <a:cs typeface="Times New Roman"/>
              </a:rPr>
              <a:t> taught in </a:t>
            </a:r>
            <a:r>
              <a:rPr dirty="0" sz="1100" spc="-5">
                <a:latin typeface="Times New Roman"/>
                <a:cs typeface="Times New Roman"/>
              </a:rPr>
              <a:t>schools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traditional grammar.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largely based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principles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Latin grammar, </a:t>
            </a:r>
            <a:r>
              <a:rPr dirty="0" sz="1100">
                <a:latin typeface="Times New Roman"/>
                <a:cs typeface="Times New Roman"/>
              </a:rPr>
              <a:t> not on </a:t>
            </a:r>
            <a:r>
              <a:rPr dirty="0" sz="1100" spc="-5">
                <a:latin typeface="Times New Roman"/>
                <a:cs typeface="Times New Roman"/>
              </a:rPr>
              <a:t>current linguistic research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focuses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distinction between what some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1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 they 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pre-established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chief goal is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perpetuate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historical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 supposedly constitutes </a:t>
            </a:r>
            <a:r>
              <a:rPr dirty="0" sz="1100">
                <a:latin typeface="Times New Roman"/>
                <a:cs typeface="Times New Roman"/>
              </a:rPr>
              <a:t>proper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terms ‘article,’ ‘adjective’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‘noun’ that we use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label the grammatical categories come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>
                <a:latin typeface="Times New Roman"/>
                <a:cs typeface="Times New Roman"/>
              </a:rPr>
              <a:t> 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scholarship,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religion,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philosophy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‘knowledge’;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traditional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Mechanics: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 </a:t>
            </a:r>
            <a:r>
              <a:rPr dirty="0" sz="1100" spc="-5">
                <a:latin typeface="Times New Roman"/>
                <a:cs typeface="Times New Roman"/>
              </a:rPr>
              <a:t>Punctuation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Style: Sentence Structure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Usage: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Usage: Parts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best-known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those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traditional grammar, </a:t>
            </a:r>
            <a:r>
              <a:rPr dirty="0" sz="1100">
                <a:latin typeface="Times New Roman"/>
                <a:cs typeface="Times New Roman"/>
              </a:rPr>
              <a:t>a 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 is a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which have similar grammatical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Sanskrit grammarian Yāska defined four main categories </a:t>
            </a:r>
            <a:r>
              <a:rPr dirty="0" sz="1100">
                <a:latin typeface="Times New Roman"/>
                <a:cs typeface="Times New Roman"/>
              </a:rPr>
              <a:t>(6th </a:t>
            </a:r>
            <a:r>
              <a:rPr dirty="0" sz="1100" spc="-5">
                <a:latin typeface="Times New Roman"/>
                <a:cs typeface="Times New Roman"/>
              </a:rPr>
              <a:t>century BC). Dionysius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Thrax </a:t>
            </a:r>
            <a:r>
              <a:rPr dirty="0" sz="1100">
                <a:latin typeface="Times New Roman"/>
                <a:cs typeface="Times New Roman"/>
              </a:rPr>
              <a:t>(2nd </a:t>
            </a:r>
            <a:r>
              <a:rPr dirty="0" sz="1100" spc="-5">
                <a:latin typeface="Times New Roman"/>
                <a:cs typeface="Times New Roman"/>
              </a:rPr>
              <a:t>century </a:t>
            </a:r>
            <a:r>
              <a:rPr dirty="0" sz="1100">
                <a:latin typeface="Times New Roman"/>
                <a:cs typeface="Times New Roman"/>
              </a:rPr>
              <a:t>BC) </a:t>
            </a:r>
            <a:r>
              <a:rPr dirty="0" sz="1100" spc="-10">
                <a:latin typeface="Times New Roman"/>
                <a:cs typeface="Times New Roman"/>
              </a:rPr>
              <a:t>gave </a:t>
            </a:r>
            <a:r>
              <a:rPr dirty="0" sz="1100">
                <a:latin typeface="Times New Roman"/>
                <a:cs typeface="Times New Roman"/>
              </a:rPr>
              <a:t>the concept of </a:t>
            </a:r>
            <a:r>
              <a:rPr dirty="0" sz="1100" spc="-5">
                <a:latin typeface="Times New Roman"/>
                <a:cs typeface="Times New Roman"/>
              </a:rPr>
              <a:t>eight parts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which was further modified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Latin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grammarian Priscian (500 AD).</a:t>
            </a:r>
            <a:r>
              <a:rPr dirty="0" sz="1100">
                <a:latin typeface="Times New Roman"/>
                <a:cs typeface="Times New Roman"/>
              </a:rPr>
              <a:t> Basic </a:t>
            </a:r>
            <a:r>
              <a:rPr dirty="0" sz="1100" spc="-5">
                <a:latin typeface="Times New Roman"/>
                <a:cs typeface="Times New Roman"/>
              </a:rPr>
              <a:t>deﬁnitions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type </a:t>
            </a:r>
            <a:r>
              <a:rPr dirty="0" sz="1100">
                <a:latin typeface="Times New Roman"/>
                <a:cs typeface="Times New Roman"/>
              </a:rPr>
              <a:t>are useful </a:t>
            </a:r>
            <a:r>
              <a:rPr dirty="0" sz="1100" spc="-5">
                <a:latin typeface="Times New Roman"/>
                <a:cs typeface="Times New Roman"/>
              </a:rPr>
              <a:t>for identifying most forms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different approach might focus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parts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114: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Agreement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>
                <a:latin typeface="Times New Roman"/>
                <a:cs typeface="Times New Roman"/>
              </a:rPr>
              <a:t> 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 </a:t>
            </a:r>
            <a:r>
              <a:rPr dirty="0" sz="1100">
                <a:latin typeface="Times New Roman"/>
                <a:cs typeface="Times New Roman"/>
              </a:rPr>
              <a:t> ‘number,’ </a:t>
            </a:r>
            <a:r>
              <a:rPr dirty="0" sz="1100" spc="-5">
                <a:latin typeface="Times New Roman"/>
                <a:cs typeface="Times New Roman"/>
              </a:rPr>
              <a:t>‘person,’ ‘tense,’ ‘voice’ and ‘gender.’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role in describing language structure becomes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‘Cathy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Agreement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partially based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number. The subject </a:t>
            </a:r>
            <a:r>
              <a:rPr dirty="0" sz="1100">
                <a:latin typeface="Times New Roman"/>
                <a:cs typeface="Times New Roman"/>
              </a:rPr>
              <a:t>is singular so the verb is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‘person’.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Similarly,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takes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singular verb.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pronouns can be </a:t>
            </a:r>
            <a:r>
              <a:rPr dirty="0" sz="1100" spc="-5">
                <a:latin typeface="Times New Roman"/>
                <a:cs typeface="Times New Roman"/>
              </a:rPr>
              <a:t>described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-5">
                <a:latin typeface="Times New Roman"/>
                <a:cs typeface="Times New Roman"/>
              </a:rPr>
              <a:t> we, </a:t>
            </a:r>
            <a:r>
              <a:rPr dirty="0" sz="1100">
                <a:latin typeface="Times New Roman"/>
                <a:cs typeface="Times New Roman"/>
              </a:rPr>
              <a:t>he,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701540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‘Cathy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dog.’</a:t>
            </a:r>
            <a:endParaRPr sz="1100">
              <a:latin typeface="Times New Roman"/>
              <a:cs typeface="Times New Roman"/>
            </a:endParaRPr>
          </a:p>
          <a:p>
            <a:pPr marL="12700" marR="2154555" indent="3492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‘Loves’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 tense.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voice.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>
                <a:latin typeface="Times New Roman"/>
                <a:cs typeface="Times New Roman"/>
              </a:rPr>
              <a:t> would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59416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00" spc="-5">
                <a:latin typeface="Times New Roman"/>
                <a:cs typeface="Times New Roman"/>
              </a:rPr>
              <a:t>Her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Cathy.</a:t>
            </a:r>
            <a:endParaRPr sz="1100">
              <a:latin typeface="Times New Roman"/>
              <a:cs typeface="Times New Roman"/>
            </a:endParaRPr>
          </a:p>
          <a:p>
            <a:pPr marL="12700" marR="698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female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>
                <a:latin typeface="Times New Roman"/>
                <a:cs typeface="Times New Roman"/>
              </a:rPr>
              <a:t> entities,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-5">
                <a:latin typeface="Times New Roman"/>
                <a:cs typeface="Times New Roman"/>
              </a:rPr>
              <a:t> creatures.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115: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Grammatical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biological distinction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is quite different 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common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 </a:t>
            </a:r>
            <a:r>
              <a:rPr dirty="0" sz="1100">
                <a:latin typeface="Times New Roman"/>
                <a:cs typeface="Times New Roman"/>
              </a:rPr>
              <a:t>found in </a:t>
            </a:r>
            <a:r>
              <a:rPr dirty="0" sz="1100" spc="-5">
                <a:latin typeface="Times New Roman"/>
                <a:cs typeface="Times New Roman"/>
              </a:rPr>
              <a:t>languages that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grammatical gender. Natural gender is </a:t>
            </a:r>
            <a:r>
              <a:rPr dirty="0" sz="1100">
                <a:latin typeface="Times New Roman"/>
                <a:cs typeface="Times New Roman"/>
              </a:rPr>
              <a:t>based on </a:t>
            </a:r>
            <a:r>
              <a:rPr dirty="0" sz="1100" spc="-5">
                <a:latin typeface="Times New Roman"/>
                <a:cs typeface="Times New Roman"/>
              </a:rPr>
              <a:t>sex (male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female), </a:t>
            </a:r>
            <a:r>
              <a:rPr dirty="0" sz="1100" spc="-5">
                <a:latin typeface="Times New Roman"/>
                <a:cs typeface="Times New Roman"/>
              </a:rPr>
              <a:t>grammatical gender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noun (masculine </a:t>
            </a:r>
            <a:r>
              <a:rPr dirty="0" sz="1100">
                <a:latin typeface="Times New Roman"/>
                <a:cs typeface="Times New Roman"/>
              </a:rPr>
              <a:t>and feminine), and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tied </a:t>
            </a:r>
            <a:r>
              <a:rPr dirty="0" sz="1100">
                <a:latin typeface="Times New Roman"/>
                <a:cs typeface="Times New Roman"/>
              </a:rPr>
              <a:t>to sex.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 </a:t>
            </a:r>
            <a:r>
              <a:rPr dirty="0" sz="1100" spc="-5">
                <a:latin typeface="Times New Roman"/>
                <a:cs typeface="Times New Roman"/>
              </a:rPr>
              <a:t>are classiﬁed 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their gender </a:t>
            </a:r>
            <a:r>
              <a:rPr dirty="0" sz="1100">
                <a:latin typeface="Times New Roman"/>
                <a:cs typeface="Times New Roman"/>
              </a:rPr>
              <a:t>class, and </a:t>
            </a:r>
            <a:r>
              <a:rPr dirty="0" sz="1100" spc="-5">
                <a:latin typeface="Times New Roman"/>
                <a:cs typeface="Times New Roman"/>
              </a:rPr>
              <a:t>typically, articles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adjectives have different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‘agree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gender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Spanish, </a:t>
            </a:r>
            <a:r>
              <a:rPr dirty="0" sz="1100" spc="-5">
                <a:latin typeface="Times New Roman"/>
                <a:cs typeface="Times New Roman"/>
              </a:rPr>
              <a:t>for example, has two grammatical genders, </a:t>
            </a:r>
            <a:r>
              <a:rPr dirty="0" sz="1100">
                <a:latin typeface="Times New Roman"/>
                <a:cs typeface="Times New Roman"/>
              </a:rPr>
              <a:t>masculine </a:t>
            </a:r>
            <a:r>
              <a:rPr dirty="0" sz="1100" spc="-5">
                <a:latin typeface="Times New Roman"/>
                <a:cs typeface="Times New Roman"/>
              </a:rPr>
              <a:t>and feminine, illustrated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expressions el </a:t>
            </a:r>
            <a:r>
              <a:rPr dirty="0" sz="1100" spc="-5">
                <a:latin typeface="Times New Roman"/>
                <a:cs typeface="Times New Roman"/>
              </a:rPr>
              <a:t>sol ‘the sun’ </a:t>
            </a:r>
            <a:r>
              <a:rPr dirty="0" sz="1100">
                <a:latin typeface="Times New Roman"/>
                <a:cs typeface="Times New Roman"/>
              </a:rPr>
              <a:t>and la </a:t>
            </a:r>
            <a:r>
              <a:rPr dirty="0" sz="1100" spc="-5">
                <a:latin typeface="Times New Roman"/>
                <a:cs typeface="Times New Roman"/>
              </a:rPr>
              <a:t>luna ‘the moon’.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three genders, </a:t>
            </a:r>
            <a:r>
              <a:rPr dirty="0" sz="1100">
                <a:latin typeface="Times New Roman"/>
                <a:cs typeface="Times New Roman"/>
              </a:rPr>
              <a:t>masculine </a:t>
            </a:r>
            <a:r>
              <a:rPr dirty="0" sz="1100" spc="-5">
                <a:latin typeface="Times New Roman"/>
                <a:cs typeface="Times New Roman"/>
              </a:rPr>
              <a:t>der </a:t>
            </a:r>
            <a:r>
              <a:rPr dirty="0" sz="1100">
                <a:latin typeface="Times New Roman"/>
                <a:cs typeface="Times New Roman"/>
              </a:rPr>
              <a:t>Mond </a:t>
            </a:r>
            <a:r>
              <a:rPr dirty="0" sz="1100" spc="-5">
                <a:latin typeface="Times New Roman"/>
                <a:cs typeface="Times New Roman"/>
              </a:rPr>
              <a:t>‘the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moon’, feminine </a:t>
            </a:r>
            <a:r>
              <a:rPr dirty="0" sz="1100">
                <a:latin typeface="Times New Roman"/>
                <a:cs typeface="Times New Roman"/>
              </a:rPr>
              <a:t>die </a:t>
            </a:r>
            <a:r>
              <a:rPr dirty="0" sz="1100" spc="-5">
                <a:latin typeface="Times New Roman"/>
                <a:cs typeface="Times New Roman"/>
              </a:rPr>
              <a:t>Sonne </a:t>
            </a:r>
            <a:r>
              <a:rPr dirty="0" sz="1100">
                <a:latin typeface="Times New Roman"/>
                <a:cs typeface="Times New Roman"/>
              </a:rPr>
              <a:t>‘the </a:t>
            </a:r>
            <a:r>
              <a:rPr dirty="0" sz="1100" spc="-5">
                <a:latin typeface="Times New Roman"/>
                <a:cs typeface="Times New Roman"/>
              </a:rPr>
              <a:t>sun’, </a:t>
            </a:r>
            <a:r>
              <a:rPr dirty="0" sz="1100">
                <a:latin typeface="Times New Roman"/>
                <a:cs typeface="Times New Roman"/>
              </a:rPr>
              <a:t>and neuter </a:t>
            </a:r>
            <a:r>
              <a:rPr dirty="0" sz="1100" spc="-5">
                <a:latin typeface="Times New Roman"/>
                <a:cs typeface="Times New Roman"/>
              </a:rPr>
              <a:t>das </a:t>
            </a:r>
            <a:r>
              <a:rPr dirty="0" sz="1100">
                <a:latin typeface="Times New Roman"/>
                <a:cs typeface="Times New Roman"/>
              </a:rPr>
              <a:t>Feuer </a:t>
            </a:r>
            <a:r>
              <a:rPr dirty="0" sz="1100" spc="-5">
                <a:latin typeface="Times New Roman"/>
                <a:cs typeface="Times New Roman"/>
              </a:rPr>
              <a:t>‘the ﬁre’.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different forms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articles in </a:t>
            </a:r>
            <a:r>
              <a:rPr dirty="0" sz="1100">
                <a:latin typeface="Times New Roman"/>
                <a:cs typeface="Times New Roman"/>
              </a:rPr>
              <a:t> both the </a:t>
            </a:r>
            <a:r>
              <a:rPr dirty="0" sz="1100" spc="-5">
                <a:latin typeface="Times New Roman"/>
                <a:cs typeface="Times New Roman"/>
              </a:rPr>
              <a:t>Spanish (el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German (der, die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das) examples correspond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gender </a:t>
            </a:r>
            <a:r>
              <a:rPr dirty="0" sz="1100">
                <a:latin typeface="Times New Roman"/>
                <a:cs typeface="Times New Roman"/>
              </a:rPr>
              <a:t> class</a:t>
            </a:r>
            <a:r>
              <a:rPr dirty="0" sz="1100" spc="-5">
                <a:latin typeface="Times New Roman"/>
                <a:cs typeface="Times New Roman"/>
              </a:rPr>
              <a:t>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nouns.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9212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biologically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‘female’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Ma¨dchen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grammatically </a:t>
            </a:r>
            <a:r>
              <a:rPr dirty="0" sz="1100">
                <a:latin typeface="Times New Roman"/>
                <a:cs typeface="Times New Roman"/>
              </a:rPr>
              <a:t>neuter. The French </a:t>
            </a:r>
            <a:r>
              <a:rPr dirty="0" sz="1100" spc="-5">
                <a:latin typeface="Times New Roman"/>
                <a:cs typeface="Times New Roman"/>
              </a:rPr>
              <a:t>noun </a:t>
            </a:r>
            <a:r>
              <a:rPr dirty="0" sz="1100">
                <a:latin typeface="Times New Roman"/>
                <a:cs typeface="Times New Roman"/>
              </a:rPr>
              <a:t>in le </a:t>
            </a:r>
            <a:r>
              <a:rPr dirty="0" sz="1100" spc="-5">
                <a:latin typeface="Times New Roman"/>
                <a:cs typeface="Times New Roman"/>
              </a:rPr>
              <a:t>livre </a:t>
            </a:r>
            <a:r>
              <a:rPr dirty="0" sz="1100">
                <a:latin typeface="Times New Roman"/>
                <a:cs typeface="Times New Roman"/>
              </a:rPr>
              <a:t>(‘the </a:t>
            </a:r>
            <a:r>
              <a:rPr dirty="0" sz="1100" spc="-5">
                <a:latin typeface="Times New Roman"/>
                <a:cs typeface="Times New Roman"/>
              </a:rPr>
              <a:t>book’)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grammatically masculine,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neither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nor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French </a:t>
            </a:r>
            <a:r>
              <a:rPr dirty="0" sz="1100" spc="-5">
                <a:latin typeface="Times New Roman"/>
                <a:cs typeface="Times New Roman"/>
              </a:rPr>
              <a:t>people consider </a:t>
            </a:r>
            <a:r>
              <a:rPr dirty="0" sz="1100">
                <a:latin typeface="Times New Roman"/>
                <a:cs typeface="Times New Roman"/>
              </a:rPr>
              <a:t>a book to be </a:t>
            </a:r>
            <a:r>
              <a:rPr dirty="0" sz="1100" spc="-5">
                <a:latin typeface="Times New Roman"/>
                <a:cs typeface="Times New Roman"/>
              </a:rPr>
              <a:t>biologically male. The grammatical category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gender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usefully applied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(including </a:t>
            </a:r>
            <a:r>
              <a:rPr dirty="0" sz="1100">
                <a:latin typeface="Times New Roman"/>
                <a:cs typeface="Times New Roman"/>
              </a:rPr>
              <a:t>Latin), </a:t>
            </a:r>
            <a:r>
              <a:rPr dirty="0" sz="1100" spc="-5">
                <a:latin typeface="Times New Roman"/>
                <a:cs typeface="Times New Roman"/>
              </a:rPr>
              <a:t>but may </a:t>
            </a:r>
            <a:r>
              <a:rPr dirty="0" sz="1100" spc="1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appropriate 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such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116: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Traditional 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notion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‘appropriateness’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analytic categories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 language</a:t>
            </a:r>
            <a:r>
              <a:rPr dirty="0" sz="1100">
                <a:latin typeface="Times New Roman"/>
                <a:cs typeface="Times New Roman"/>
              </a:rPr>
              <a:t> has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</a:t>
            </a:r>
            <a:r>
              <a:rPr dirty="0" sz="1100">
                <a:latin typeface="Times New Roman"/>
                <a:cs typeface="Times New Roman"/>
              </a:rPr>
              <a:t> been a </a:t>
            </a:r>
            <a:r>
              <a:rPr dirty="0" sz="1100" spc="-5">
                <a:latin typeface="Times New Roman"/>
                <a:cs typeface="Times New Roman"/>
              </a:rPr>
              <a:t>consideration. Each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Latin verb </a:t>
            </a:r>
            <a:r>
              <a:rPr dirty="0" sz="1100">
                <a:latin typeface="Times New Roman"/>
                <a:cs typeface="Times New Roman"/>
              </a:rPr>
              <a:t>forms is </a:t>
            </a:r>
            <a:r>
              <a:rPr dirty="0" sz="1100" spc="-5">
                <a:latin typeface="Times New Roman"/>
                <a:cs typeface="Times New Roman"/>
              </a:rPr>
              <a:t>different, 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categories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person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English verb forms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(with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exception) mostly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English, it makes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sense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Traditional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3076" y="6826885"/>
          <a:ext cx="5948045" cy="2268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7450"/>
                <a:gridCol w="1188085"/>
                <a:gridCol w="1189355"/>
                <a:gridCol w="1187450"/>
                <a:gridCol w="1188085"/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English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Latin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4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  <a:tabLst>
                          <a:tab pos="74739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First	person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singular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  <a:tabLst>
                          <a:tab pos="74803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Second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singular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voice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  <a:tabLst>
                          <a:tab pos="74803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Second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singular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plural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amamus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  <a:tabLst>
                          <a:tab pos="74803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Second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plural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amatis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6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person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Plural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735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GRAMMAR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117: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Prescriptive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one thing to </a:t>
            </a:r>
            <a:r>
              <a:rPr dirty="0" sz="1100" spc="-5">
                <a:latin typeface="Times New Roman"/>
                <a:cs typeface="Times New Roman"/>
              </a:rPr>
              <a:t>adopt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grammatical labels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‘noun,’ ‘verb’)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categorize 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quite another thing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on to claim that 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sentences </a:t>
            </a:r>
            <a:r>
              <a:rPr dirty="0" sz="1100">
                <a:latin typeface="Times New Roman"/>
                <a:cs typeface="Times New Roman"/>
              </a:rPr>
              <a:t>should be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sentences in Latin. This was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approach taken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inﬂuential grammarians,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eighteenth-century England, who </a:t>
            </a:r>
            <a:r>
              <a:rPr dirty="0" sz="1100">
                <a:latin typeface="Times New Roman"/>
                <a:cs typeface="Times New Roman"/>
              </a:rPr>
              <a:t>set out </a:t>
            </a:r>
            <a:r>
              <a:rPr dirty="0" sz="1100" spc="-5">
                <a:latin typeface="Times New Roman"/>
                <a:cs typeface="Times New Roman"/>
              </a:rPr>
              <a:t>rules for the ‘proper’ 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as a set of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‘proper’ use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still to be </a:t>
            </a:r>
            <a:r>
              <a:rPr dirty="0" sz="1100" spc="-5">
                <a:latin typeface="Times New Roman"/>
                <a:cs typeface="Times New Roman"/>
              </a:rPr>
              <a:t>found </a:t>
            </a:r>
            <a:r>
              <a:rPr dirty="0" sz="1100">
                <a:latin typeface="Times New Roman"/>
                <a:cs typeface="Times New Roman"/>
              </a:rPr>
              <a:t>today and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best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prescriptive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-5">
                <a:latin typeface="Times New Roman"/>
                <a:cs typeface="Times New Roman"/>
              </a:rPr>
              <a:t> split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inﬁnitive.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immediately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 </a:t>
            </a:r>
            <a:r>
              <a:rPr dirty="0" sz="1100" spc="-5">
                <a:latin typeface="Times New Roman"/>
                <a:cs typeface="Times New Roman"/>
              </a:rPr>
              <a:t>him.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immediately.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preposition.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Who</a:t>
            </a:r>
            <a:r>
              <a:rPr dirty="0" sz="1100" spc="-5">
                <a:latin typeface="Times New Roman"/>
                <a:cs typeface="Times New Roman"/>
              </a:rPr>
              <a:t> 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case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 comparative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nominative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runs faster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Me</a:t>
            </a:r>
            <a:r>
              <a:rPr dirty="0" sz="1100" spc="-5">
                <a:latin typeface="Times New Roman"/>
                <a:cs typeface="Times New Roman"/>
              </a:rPr>
              <a:t> and 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family….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  <a:tab pos="1730375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5">
                <a:latin typeface="Times New Roman"/>
                <a:cs typeface="Times New Roman"/>
              </a:rPr>
              <a:t> family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I….	</a:t>
            </a:r>
            <a:r>
              <a:rPr dirty="0" sz="1100"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1430">
              <a:lnSpc>
                <a:spcPct val="1100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addition,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and!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Similarly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split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infinite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incorrect.</a:t>
            </a:r>
            <a:endParaRPr sz="1100">
              <a:latin typeface="Times New Roman"/>
              <a:cs typeface="Times New Roman"/>
            </a:endParaRPr>
          </a:p>
          <a:p>
            <a:pPr marL="50165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boldly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so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follows the Latin rules imposed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English, whereas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Latin ire </a:t>
            </a:r>
            <a:r>
              <a:rPr dirty="0" sz="1100" spc="5">
                <a:latin typeface="Times New Roman"/>
                <a:cs typeface="Times New Roman"/>
              </a:rPr>
              <a:t>(‘to </a:t>
            </a:r>
            <a:r>
              <a:rPr dirty="0" sz="1100" spc="-5">
                <a:latin typeface="Times New Roman"/>
                <a:cs typeface="Times New Roman"/>
              </a:rPr>
              <a:t>go’) is </a:t>
            </a:r>
            <a:r>
              <a:rPr dirty="0" sz="1100">
                <a:latin typeface="Times New Roman"/>
                <a:cs typeface="Times New Roman"/>
              </a:rPr>
              <a:t> one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‘audacter’ (‘boldly’) is another. Besides,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Latin word for infinite ‘ire’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single word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split.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structures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Descriptive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Using a </a:t>
            </a:r>
            <a:r>
              <a:rPr dirty="0" sz="1100" spc="-5">
                <a:latin typeface="Times New Roman"/>
                <a:cs typeface="Times New Roman"/>
              </a:rPr>
              <a:t>well-established grammatical description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Latin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useful guide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European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Italian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Spanish),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English).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became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clear to </a:t>
            </a:r>
            <a:r>
              <a:rPr dirty="0" sz="1100" spc="-5">
                <a:latin typeface="Times New Roman"/>
                <a:cs typeface="Times New Roman"/>
              </a:rPr>
              <a:t>those linguists </a:t>
            </a:r>
            <a:r>
              <a:rPr dirty="0" sz="1100">
                <a:latin typeface="Times New Roman"/>
                <a:cs typeface="Times New Roman"/>
              </a:rPr>
              <a:t>who were </a:t>
            </a:r>
            <a:r>
              <a:rPr dirty="0" sz="1100" spc="-5">
                <a:latin typeface="Times New Roman"/>
                <a:cs typeface="Times New Roman"/>
              </a:rPr>
              <a:t>trying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native </a:t>
            </a:r>
            <a:r>
              <a:rPr dirty="0" sz="1100">
                <a:latin typeface="Times New Roman"/>
                <a:cs typeface="Times New Roman"/>
              </a:rPr>
              <a:t>languages of </a:t>
            </a:r>
            <a:r>
              <a:rPr dirty="0" sz="1100" spc="-5">
                <a:latin typeface="Times New Roman"/>
                <a:cs typeface="Times New Roman"/>
              </a:rPr>
              <a:t>North America </a:t>
            </a:r>
            <a:r>
              <a:rPr dirty="0" sz="1100">
                <a:latin typeface="Times New Roman"/>
                <a:cs typeface="Times New Roman"/>
              </a:rPr>
              <a:t> toward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nineteenth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Latin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just </a:t>
            </a:r>
            <a:r>
              <a:rPr dirty="0" sz="1100" spc="-5">
                <a:latin typeface="Times New Roman"/>
                <a:cs typeface="Times New Roman"/>
              </a:rPr>
              <a:t>did not seem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ﬁt </a:t>
            </a:r>
            <a:r>
              <a:rPr dirty="0" sz="1100" spc="-5">
                <a:latin typeface="Times New Roman"/>
                <a:cs typeface="Times New Roman"/>
              </a:rPr>
              <a:t>these languages.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twentieth century,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rather different approach was </a:t>
            </a:r>
            <a:r>
              <a:rPr dirty="0" sz="1100">
                <a:latin typeface="Times New Roman"/>
                <a:cs typeface="Times New Roman"/>
              </a:rPr>
              <a:t> adopted. </a:t>
            </a:r>
            <a:r>
              <a:rPr dirty="0" sz="1100" spc="-5">
                <a:latin typeface="Times New Roman"/>
                <a:cs typeface="Times New Roman"/>
              </a:rPr>
              <a:t>The linguists took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language they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interested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and attempted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regular structures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language. 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the descriptive approach.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descriptive grammarian </a:t>
            </a:r>
            <a:r>
              <a:rPr dirty="0" sz="1100">
                <a:latin typeface="Times New Roman"/>
                <a:cs typeface="Times New Roman"/>
              </a:rPr>
              <a:t> would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‘grammatical’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speaker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85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sentence in </a:t>
            </a:r>
            <a:r>
              <a:rPr dirty="0" sz="1100" spc="-5">
                <a:latin typeface="Times New Roman"/>
                <a:cs typeface="Times New Roman"/>
              </a:rPr>
              <a:t>speaking. </a:t>
            </a:r>
            <a:r>
              <a:rPr dirty="0" sz="1100">
                <a:latin typeface="Times New Roman"/>
                <a:cs typeface="Times New Roman"/>
              </a:rPr>
              <a:t>So, all </a:t>
            </a:r>
            <a:r>
              <a:rPr dirty="0" sz="1100" spc="-5">
                <a:latin typeface="Times New Roman"/>
                <a:cs typeface="Times New Roman"/>
              </a:rPr>
              <a:t>prescriptive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normative </a:t>
            </a:r>
            <a:r>
              <a:rPr dirty="0" sz="1100">
                <a:latin typeface="Times New Roman"/>
                <a:cs typeface="Times New Roman"/>
              </a:rPr>
              <a:t>rules of </a:t>
            </a:r>
            <a:r>
              <a:rPr dirty="0" sz="1100" spc="-5">
                <a:latin typeface="Times New Roman"/>
                <a:cs typeface="Times New Roman"/>
              </a:rPr>
              <a:t>Latin grammar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applicable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119: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Structural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>
                <a:latin typeface="Times New Roman"/>
                <a:cs typeface="Times New Roman"/>
              </a:rPr>
              <a:t> approach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>
                <a:latin typeface="Times New Roman"/>
                <a:cs typeface="Times New Roman"/>
              </a:rPr>
              <a:t> concern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‘test-frames’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sentences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empty </a:t>
            </a:r>
            <a:r>
              <a:rPr dirty="0" sz="1100">
                <a:latin typeface="Times New Roman"/>
                <a:cs typeface="Times New Roman"/>
              </a:rPr>
              <a:t>slots in </a:t>
            </a:r>
            <a:r>
              <a:rPr dirty="0" sz="1100" spc="-5">
                <a:latin typeface="Times New Roman"/>
                <a:cs typeface="Times New Roman"/>
              </a:rPr>
              <a:t>them. All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ﬁt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test-frame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the examples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grammatical category. </a:t>
            </a:r>
            <a:r>
              <a:rPr dirty="0" sz="1100">
                <a:latin typeface="Times New Roman"/>
                <a:cs typeface="Times New Roman"/>
              </a:rPr>
              <a:t>We can </a:t>
            </a:r>
            <a:r>
              <a:rPr dirty="0" sz="1100" spc="-5">
                <a:latin typeface="Times New Roman"/>
                <a:cs typeface="Times New Roman"/>
              </a:rPr>
              <a:t>fill in the words </a:t>
            </a:r>
            <a:r>
              <a:rPr dirty="0" sz="1100" spc="-10">
                <a:latin typeface="Times New Roman"/>
                <a:cs typeface="Times New Roman"/>
              </a:rPr>
              <a:t>like </a:t>
            </a:r>
            <a:r>
              <a:rPr dirty="0" sz="1100" spc="-5">
                <a:latin typeface="Times New Roman"/>
                <a:cs typeface="Times New Roman"/>
              </a:rPr>
              <a:t>boy, girl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horse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 pronoun </a:t>
            </a:r>
            <a:r>
              <a:rPr dirty="0" sz="1100" spc="-5">
                <a:latin typeface="Times New Roman"/>
                <a:cs typeface="Times New Roman"/>
              </a:rPr>
              <a:t>like he, </a:t>
            </a:r>
            <a:r>
              <a:rPr dirty="0" sz="1100" spc="10">
                <a:latin typeface="Times New Roman"/>
                <a:cs typeface="Times New Roman"/>
              </a:rPr>
              <a:t>she,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slot: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-------------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water.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----------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water.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We can </a:t>
            </a:r>
            <a:r>
              <a:rPr dirty="0" sz="1100" spc="-5">
                <a:latin typeface="Times New Roman"/>
                <a:cs typeface="Times New Roman"/>
              </a:rPr>
              <a:t>see that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pronouns </a:t>
            </a:r>
            <a:r>
              <a:rPr dirty="0" sz="1100" spc="-10">
                <a:latin typeface="Times New Roman"/>
                <a:cs typeface="Times New Roman"/>
              </a:rPr>
              <a:t>ﬁt </a:t>
            </a:r>
            <a:r>
              <a:rPr dirty="0" sz="1100">
                <a:latin typeface="Times New Roman"/>
                <a:cs typeface="Times New Roman"/>
              </a:rPr>
              <a:t>in this </a:t>
            </a:r>
            <a:r>
              <a:rPr dirty="0" sz="1100" spc="-5">
                <a:latin typeface="Times New Roman"/>
                <a:cs typeface="Times New Roman"/>
              </a:rPr>
              <a:t>second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test-frames, </a:t>
            </a:r>
            <a:r>
              <a:rPr dirty="0" sz="1100">
                <a:latin typeface="Times New Roman"/>
                <a:cs typeface="Times New Roman"/>
              </a:rPr>
              <a:t>and not in </a:t>
            </a:r>
            <a:r>
              <a:rPr dirty="0" sz="1100" spc="-5">
                <a:latin typeface="Times New Roman"/>
                <a:cs typeface="Times New Roman"/>
              </a:rPr>
              <a:t>the ﬁrst set (*The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noise).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older </a:t>
            </a:r>
            <a:r>
              <a:rPr dirty="0" sz="1100">
                <a:latin typeface="Times New Roman"/>
                <a:cs typeface="Times New Roman"/>
              </a:rPr>
              <a:t>analysis, </a:t>
            </a:r>
            <a:r>
              <a:rPr dirty="0" sz="1100" spc="-5">
                <a:latin typeface="Times New Roman"/>
                <a:cs typeface="Times New Roman"/>
              </a:rPr>
              <a:t>under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Latin, pronouns were described as </a:t>
            </a:r>
            <a:r>
              <a:rPr dirty="0" sz="1100">
                <a:latin typeface="Times New Roman"/>
                <a:cs typeface="Times New Roman"/>
              </a:rPr>
              <a:t> ‘words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nouns’.</a:t>
            </a:r>
            <a:r>
              <a:rPr dirty="0" sz="1100">
                <a:latin typeface="Times New Roman"/>
                <a:cs typeface="Times New Roman"/>
              </a:rPr>
              <a:t> We can now </a:t>
            </a:r>
            <a:r>
              <a:rPr dirty="0" sz="1100" spc="-5">
                <a:latin typeface="Times New Roman"/>
                <a:cs typeface="Times New Roman"/>
              </a:rPr>
              <a:t>see that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accurate to </a:t>
            </a:r>
            <a:r>
              <a:rPr dirty="0" sz="1100" spc="-5">
                <a:latin typeface="Times New Roman"/>
                <a:cs typeface="Times New Roman"/>
              </a:rPr>
              <a:t>say that pronouns are </a:t>
            </a:r>
            <a:r>
              <a:rPr dirty="0" sz="1100">
                <a:latin typeface="Times New Roman"/>
                <a:cs typeface="Times New Roman"/>
              </a:rPr>
              <a:t>used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noun </a:t>
            </a:r>
            <a:r>
              <a:rPr dirty="0" sz="1100">
                <a:latin typeface="Times New Roman"/>
                <a:cs typeface="Times New Roman"/>
              </a:rPr>
              <a:t>phrases </a:t>
            </a:r>
            <a:r>
              <a:rPr dirty="0" sz="1100" spc="-5">
                <a:latin typeface="Times New Roman"/>
                <a:cs typeface="Times New Roman"/>
              </a:rPr>
              <a:t>(not </a:t>
            </a:r>
            <a:r>
              <a:rPr dirty="0" sz="1100">
                <a:latin typeface="Times New Roman"/>
                <a:cs typeface="Times New Roman"/>
              </a:rPr>
              <a:t>just nouns). </a:t>
            </a:r>
            <a:r>
              <a:rPr dirty="0" sz="1100" spc="-5">
                <a:latin typeface="Times New Roman"/>
                <a:cs typeface="Times New Roman"/>
              </a:rPr>
              <a:t>By developing </a:t>
            </a:r>
            <a:r>
              <a:rPr dirty="0" sz="1100">
                <a:latin typeface="Times New Roman"/>
                <a:cs typeface="Times New Roman"/>
              </a:rPr>
              <a:t>a set of test-frames of this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discovering </a:t>
            </a:r>
            <a:r>
              <a:rPr dirty="0" sz="1100">
                <a:latin typeface="Times New Roman"/>
                <a:cs typeface="Times New Roman"/>
              </a:rPr>
              <a:t> which </a:t>
            </a:r>
            <a:r>
              <a:rPr dirty="0" sz="1100" spc="-10">
                <a:latin typeface="Times New Roman"/>
                <a:cs typeface="Times New Roman"/>
              </a:rPr>
              <a:t>forms ﬁt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slots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test-frames, we </a:t>
            </a:r>
            <a:r>
              <a:rPr dirty="0" sz="1100">
                <a:latin typeface="Times New Roman"/>
                <a:cs typeface="Times New Roman"/>
              </a:rPr>
              <a:t>can produce a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sentence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Constituent 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an approach </a:t>
            </a:r>
            <a:r>
              <a:rPr dirty="0" sz="1100" spc="-5">
                <a:latin typeface="Times New Roman"/>
                <a:cs typeface="Times New Roman"/>
              </a:rPr>
              <a:t>to 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show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small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 (or components) in sentences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together to </a:t>
            </a:r>
            <a:r>
              <a:rPr dirty="0" sz="1100" spc="-5">
                <a:latin typeface="Times New Roman"/>
                <a:cs typeface="Times New Roman"/>
              </a:rPr>
              <a:t>form larger constituents. One basic </a:t>
            </a:r>
            <a:r>
              <a:rPr dirty="0" sz="1100">
                <a:latin typeface="Times New Roman"/>
                <a:cs typeface="Times New Roman"/>
              </a:rPr>
              <a:t>step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516953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algn="ctr" marR="242125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-5">
                <a:latin typeface="Times New Roman"/>
                <a:cs typeface="Times New Roman"/>
              </a:rPr>
              <a:t> man </a:t>
            </a:r>
            <a:r>
              <a:rPr dirty="0" sz="1100">
                <a:latin typeface="Times New Roman"/>
                <a:cs typeface="Times New Roman"/>
              </a:rPr>
              <a:t>brought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shotgun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wedding.</a:t>
            </a:r>
            <a:endParaRPr sz="1100">
              <a:latin typeface="Times New Roman"/>
              <a:cs typeface="Times New Roman"/>
            </a:endParaRPr>
          </a:p>
          <a:p>
            <a:pPr algn="ctr" marR="254698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do 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level?</a:t>
            </a:r>
            <a:endParaRPr sz="1100">
              <a:latin typeface="Times New Roman"/>
              <a:cs typeface="Times New Roman"/>
            </a:endParaRPr>
          </a:p>
          <a:p>
            <a:pPr algn="ctr" marR="182435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(An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old)</a:t>
            </a:r>
            <a:r>
              <a:rPr dirty="0" sz="1100">
                <a:latin typeface="Times New Roman"/>
                <a:cs typeface="Times New Roman"/>
              </a:rPr>
              <a:t> (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brought) (brought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shotgun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to)(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the)</a:t>
            </a:r>
            <a:endParaRPr sz="1100">
              <a:latin typeface="Times New Roman"/>
              <a:cs typeface="Times New Roman"/>
            </a:endParaRPr>
          </a:p>
          <a:p>
            <a:pPr algn="ctr" marR="178943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phrase-like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types: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shotgun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wedding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121: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Labeled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Bracketed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079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marked</a:t>
            </a:r>
            <a:r>
              <a:rPr dirty="0" sz="1100">
                <a:latin typeface="Times New Roman"/>
                <a:cs typeface="Times New Roman"/>
              </a:rPr>
              <a:t> off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labeled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brackets.</a:t>
            </a:r>
            <a:endParaRPr sz="1100">
              <a:latin typeface="Times New Roman"/>
              <a:cs typeface="Times New Roman"/>
            </a:endParaRPr>
          </a:p>
          <a:p>
            <a:pPr marL="501650" marR="3872229" indent="-489584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level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[the]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[dog],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marL="12700" marR="3894454" indent="4889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[the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dog]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[loved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girl],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7984"/>
            <a:ext cx="5971540" cy="296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[The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girl].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 label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abbreviated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article)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 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noun) </a:t>
            </a:r>
            <a:r>
              <a:rPr dirty="0" sz="1100">
                <a:latin typeface="Times New Roman"/>
                <a:cs typeface="Times New Roman"/>
              </a:rPr>
              <a:t>VP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5">
                <a:latin typeface="Times New Roman"/>
                <a:cs typeface="Times New Roman"/>
              </a:rPr>
              <a:t> phrase)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 sentence)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helps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122: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Gaelic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501650" marR="2735580" indent="-489584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Gaelic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 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endParaRPr sz="1100">
              <a:latin typeface="Times New Roman"/>
              <a:cs typeface="Times New Roman"/>
            </a:endParaRPr>
          </a:p>
          <a:p>
            <a:pPr marL="501650" marR="2640330" indent="-489584">
              <a:lnSpc>
                <a:spcPts val="1470"/>
              </a:lnSpc>
              <a:spcBef>
                <a:spcPts val="55"/>
              </a:spcBef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the </a:t>
            </a:r>
            <a:r>
              <a:rPr dirty="0" sz="1100" spc="-5">
                <a:latin typeface="Times New Roman"/>
                <a:cs typeface="Times New Roman"/>
              </a:rPr>
              <a:t>following structure: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 like</a:t>
            </a:r>
            <a:endParaRPr sz="1100">
              <a:latin typeface="Times New Roman"/>
              <a:cs typeface="Times New Roman"/>
            </a:endParaRPr>
          </a:p>
          <a:p>
            <a:pPr marL="50165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*the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So,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51986" y="1122934"/>
            <a:ext cx="869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SYNTAX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362201"/>
            <a:ext cx="5972175" cy="776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123: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‘syntax’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originally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>
                <a:latin typeface="Times New Roman"/>
                <a:cs typeface="Times New Roman"/>
              </a:rPr>
              <a:t> ‘a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putting</a:t>
            </a:r>
            <a:r>
              <a:rPr dirty="0" sz="1100">
                <a:latin typeface="Times New Roman"/>
                <a:cs typeface="Times New Roman"/>
              </a:rPr>
              <a:t> together’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arrangement.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ordering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‘arrangement’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elements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linear structure </a:t>
            </a:r>
            <a:r>
              <a:rPr dirty="0" sz="1100" spc="-1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sentence.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recent attempts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analyze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used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‘generate’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prepositional </a:t>
            </a:r>
            <a:r>
              <a:rPr dirty="0" sz="1100">
                <a:latin typeface="Times New Roman"/>
                <a:cs typeface="Times New Roman"/>
              </a:rPr>
              <a:t>phrase in </a:t>
            </a:r>
            <a:r>
              <a:rPr dirty="0" sz="1100" spc="-5">
                <a:latin typeface="Times New Roman"/>
                <a:cs typeface="Times New Roman"/>
              </a:rPr>
              <a:t>English consists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preposition followed </a:t>
            </a:r>
            <a:r>
              <a:rPr dirty="0" sz="1100">
                <a:latin typeface="Times New Roman"/>
                <a:cs typeface="Times New Roman"/>
              </a:rPr>
              <a:t>by a noun phrase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a noun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>
                <a:latin typeface="Times New Roman"/>
                <a:cs typeface="Times New Roman"/>
              </a:rPr>
              <a:t>of an </a:t>
            </a:r>
            <a:r>
              <a:rPr dirty="0" sz="1100" spc="-5">
                <a:latin typeface="Times New Roman"/>
                <a:cs typeface="Times New Roman"/>
              </a:rPr>
              <a:t>article </a:t>
            </a:r>
            <a:r>
              <a:rPr dirty="0" sz="1100">
                <a:latin typeface="Times New Roman"/>
                <a:cs typeface="Times New Roman"/>
              </a:rPr>
              <a:t>and a noun. 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‘near </a:t>
            </a:r>
            <a:r>
              <a:rPr dirty="0" sz="1100" spc="-5">
                <a:latin typeface="Times New Roman"/>
                <a:cs typeface="Times New Roman"/>
              </a:rPr>
              <a:t>London’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correct prepositional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London is a </a:t>
            </a:r>
            <a:r>
              <a:rPr dirty="0" sz="1100" spc="-5">
                <a:latin typeface="Times New Roman"/>
                <a:cs typeface="Times New Roman"/>
              </a:rPr>
              <a:t>proper </a:t>
            </a:r>
            <a:r>
              <a:rPr dirty="0" sz="1100">
                <a:latin typeface="Times New Roman"/>
                <a:cs typeface="Times New Roman"/>
              </a:rPr>
              <a:t>noun and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 spc="5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article;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other hand, ‘with dog’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correct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 </a:t>
            </a:r>
            <a:r>
              <a:rPr dirty="0" sz="1100">
                <a:latin typeface="Times New Roman"/>
                <a:cs typeface="Times New Roman"/>
              </a:rPr>
              <a:t>phrase 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‘dog’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 ‘a’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-5">
                <a:latin typeface="Times New Roman"/>
                <a:cs typeface="Times New Roman"/>
              </a:rPr>
              <a:t> So,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dog’.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Another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5" b="1">
                <a:latin typeface="Times New Roman"/>
                <a:cs typeface="Times New Roman"/>
              </a:rPr>
              <a:t> Syntactic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ﬁnite</a:t>
            </a:r>
            <a:r>
              <a:rPr dirty="0" sz="1100">
                <a:latin typeface="Times New Roman"/>
                <a:cs typeface="Times New Roman"/>
              </a:rPr>
              <a:t> (i.e., </a:t>
            </a:r>
            <a:r>
              <a:rPr dirty="0" sz="1100" spc="-5">
                <a:latin typeface="Times New Roman"/>
                <a:cs typeface="Times New Roman"/>
              </a:rPr>
              <a:t>limited)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capable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producing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potentially inﬁnite </a:t>
            </a:r>
            <a:r>
              <a:rPr dirty="0" sz="1100">
                <a:latin typeface="Times New Roman"/>
                <a:cs typeface="Times New Roman"/>
              </a:rPr>
              <a:t>(i.e., </a:t>
            </a:r>
            <a:r>
              <a:rPr dirty="0" sz="1100" spc="-5">
                <a:latin typeface="Times New Roman"/>
                <a:cs typeface="Times New Roman"/>
              </a:rPr>
              <a:t>unlimited)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well-formed structures. The small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ﬁnite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rules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 described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‘generative grammar’ because </a:t>
            </a:r>
            <a:r>
              <a:rPr dirty="0" sz="1100" spc="1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‘generate’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produce sentence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7835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capable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revealing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superﬁcially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How 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superﬁcially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 different?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Generative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Generative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generates exactly those combinations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that form grammatical sentences </a:t>
            </a:r>
            <a:r>
              <a:rPr dirty="0" sz="1100">
                <a:latin typeface="Times New Roman"/>
                <a:cs typeface="Times New Roman"/>
              </a:rPr>
              <a:t>in a given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generative school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focused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syntax, but has </a:t>
            </a:r>
            <a:r>
              <a:rPr dirty="0" sz="1100" spc="-5">
                <a:latin typeface="Times New Roman"/>
                <a:cs typeface="Times New Roman"/>
              </a:rPr>
              <a:t>also addressed other </a:t>
            </a:r>
            <a:r>
              <a:rPr dirty="0" sz="1100">
                <a:latin typeface="Times New Roman"/>
                <a:cs typeface="Times New Roman"/>
              </a:rPr>
              <a:t>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language's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phonology.</a:t>
            </a:r>
            <a:r>
              <a:rPr dirty="0" sz="1100">
                <a:latin typeface="Times New Roman"/>
                <a:cs typeface="Times New Roman"/>
              </a:rPr>
              <a:t> Early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Chomsky's</a:t>
            </a:r>
            <a:r>
              <a:rPr dirty="0" sz="1100">
                <a:latin typeface="Times New Roman"/>
                <a:cs typeface="Times New Roman"/>
              </a:rPr>
              <a:t> 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transformational grammar, which </a:t>
            </a:r>
            <a:r>
              <a:rPr dirty="0" sz="1100">
                <a:latin typeface="Times New Roman"/>
                <a:cs typeface="Times New Roman"/>
              </a:rPr>
              <a:t>is still used as a </a:t>
            </a:r>
            <a:r>
              <a:rPr dirty="0" sz="1100" spc="-5">
                <a:latin typeface="Times New Roman"/>
                <a:cs typeface="Times New Roman"/>
              </a:rPr>
              <a:t>general term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includes </a:t>
            </a:r>
            <a:r>
              <a:rPr dirty="0" sz="1100">
                <a:latin typeface="Times New Roman"/>
                <a:cs typeface="Times New Roman"/>
              </a:rPr>
              <a:t>his </a:t>
            </a:r>
            <a:r>
              <a:rPr dirty="0" sz="1100" spc="-5">
                <a:latin typeface="Times New Roman"/>
                <a:cs typeface="Times New Roman"/>
              </a:rPr>
              <a:t>subsequent theories.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Generativists have </a:t>
            </a:r>
            <a:r>
              <a:rPr dirty="0" sz="1100">
                <a:latin typeface="Times New Roman"/>
                <a:cs typeface="Times New Roman"/>
              </a:rPr>
              <a:t>argued </a:t>
            </a:r>
            <a:r>
              <a:rPr dirty="0" sz="1100" spc="-5">
                <a:latin typeface="Times New Roman"/>
                <a:cs typeface="Times New Roman"/>
              </a:rPr>
              <a:t>that many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generative grammar </a:t>
            </a:r>
            <a:r>
              <a:rPr dirty="0" sz="1100">
                <a:latin typeface="Times New Roman"/>
                <a:cs typeface="Times New Roman"/>
              </a:rPr>
              <a:t>arise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universal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>
                <a:latin typeface="Times New Roman"/>
                <a:cs typeface="Times New Roman"/>
              </a:rPr>
              <a:t> that is innate to the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5">
                <a:latin typeface="Times New Roman"/>
                <a:cs typeface="Times New Roman"/>
              </a:rPr>
              <a:t>being </a:t>
            </a:r>
            <a:r>
              <a:rPr dirty="0" sz="1100">
                <a:latin typeface="Times New Roman"/>
                <a:cs typeface="Times New Roman"/>
              </a:rPr>
              <a:t>learned from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environment. </a:t>
            </a:r>
            <a:r>
              <a:rPr dirty="0" sz="1100" spc="-5">
                <a:latin typeface="Times New Roman"/>
                <a:cs typeface="Times New Roman"/>
              </a:rPr>
              <a:t>Noam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Chomsky </a:t>
            </a:r>
            <a:r>
              <a:rPr dirty="0" sz="1100">
                <a:latin typeface="Times New Roman"/>
                <a:cs typeface="Times New Roman"/>
              </a:rPr>
              <a:t>opposed </a:t>
            </a:r>
            <a:r>
              <a:rPr dirty="0" sz="1100" spc="-5">
                <a:latin typeface="Times New Roman"/>
                <a:cs typeface="Times New Roman"/>
              </a:rPr>
              <a:t>the earlier theories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structuralism </a:t>
            </a:r>
            <a:r>
              <a:rPr dirty="0" sz="1100">
                <a:latin typeface="Times New Roman"/>
                <a:cs typeface="Times New Roman"/>
              </a:rPr>
              <a:t>by rejecting the idea </a:t>
            </a:r>
            <a:r>
              <a:rPr dirty="0" sz="1100" spc="-5">
                <a:latin typeface="Times New Roman"/>
                <a:cs typeface="Times New Roman"/>
              </a:rPr>
              <a:t>that each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basic </a:t>
            </a:r>
            <a:r>
              <a:rPr dirty="0" sz="1100">
                <a:latin typeface="Times New Roman"/>
                <a:cs typeface="Times New Roman"/>
              </a:rPr>
              <a:t>concept </a:t>
            </a:r>
            <a:r>
              <a:rPr dirty="0" sz="1100" spc="-5">
                <a:latin typeface="Times New Roman"/>
                <a:cs typeface="Times New Roman"/>
              </a:rPr>
              <a:t>sets forth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recognize grammatical sentences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These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 differentiate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correct structures from </a:t>
            </a:r>
            <a:r>
              <a:rPr dirty="0" sz="1100">
                <a:latin typeface="Times New Roman"/>
                <a:cs typeface="Times New Roman"/>
              </a:rPr>
              <a:t>improper sequences of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ungrammatical sentences in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is represented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tree </a:t>
            </a:r>
            <a:r>
              <a:rPr dirty="0" sz="1100">
                <a:latin typeface="Times New Roman"/>
                <a:cs typeface="Times New Roman"/>
              </a:rPr>
              <a:t>having </a:t>
            </a:r>
            <a:r>
              <a:rPr dirty="0" sz="1100" spc="-5">
                <a:latin typeface="Times New Roman"/>
                <a:cs typeface="Times New Roman"/>
              </a:rPr>
              <a:t>branches denoting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subordinate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superordinate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just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sequence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Generative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formalize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implicit rules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person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10">
                <a:latin typeface="Times New Roman"/>
                <a:cs typeface="Times New Roman"/>
              </a:rPr>
              <a:t>while </a:t>
            </a:r>
            <a:r>
              <a:rPr dirty="0" sz="1100">
                <a:latin typeface="Times New Roman"/>
                <a:cs typeface="Times New Roman"/>
              </a:rPr>
              <a:t>speaking </a:t>
            </a:r>
            <a:r>
              <a:rPr dirty="0" sz="1100" spc="-5">
                <a:latin typeface="Times New Roman"/>
                <a:cs typeface="Times New Roman"/>
              </a:rPr>
              <a:t>his native 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generative grammar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125: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Properties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Generative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Noam </a:t>
            </a:r>
            <a:r>
              <a:rPr dirty="0" sz="1100">
                <a:latin typeface="Times New Roman"/>
                <a:cs typeface="Times New Roman"/>
              </a:rPr>
              <a:t>Chomsky has </a:t>
            </a:r>
            <a:r>
              <a:rPr dirty="0" sz="1100" spc="-5">
                <a:latin typeface="Times New Roman"/>
                <a:cs typeface="Times New Roman"/>
              </a:rPr>
              <a:t>argued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properties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generative grammar arise from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‘innate’ universal grammar, which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languages. The grammar must generate all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well-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 syntactic structures </a:t>
            </a:r>
            <a:r>
              <a:rPr dirty="0" sz="1100">
                <a:latin typeface="Times New Roman"/>
                <a:cs typeface="Times New Roman"/>
              </a:rPr>
              <a:t>(i.e., </a:t>
            </a:r>
            <a:r>
              <a:rPr dirty="0" sz="1100" spc="-5">
                <a:latin typeface="Times New Roman"/>
                <a:cs typeface="Times New Roman"/>
              </a:rPr>
              <a:t>sentences)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fails to </a:t>
            </a:r>
            <a:r>
              <a:rPr dirty="0" sz="1100" spc="-5">
                <a:latin typeface="Times New Roman"/>
                <a:cs typeface="Times New Roman"/>
              </a:rPr>
              <a:t>generate any ill-formed structures.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grammar will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finite </a:t>
            </a:r>
            <a:r>
              <a:rPr dirty="0" sz="1100">
                <a:latin typeface="Times New Roman"/>
                <a:cs typeface="Times New Roman"/>
              </a:rPr>
              <a:t>(i.e., </a:t>
            </a:r>
            <a:r>
              <a:rPr dirty="0" sz="1100" spc="-5">
                <a:latin typeface="Times New Roman"/>
                <a:cs typeface="Times New Roman"/>
              </a:rPr>
              <a:t>limited) 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rules but will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capable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generating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infinite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well-formed </a:t>
            </a:r>
            <a:r>
              <a:rPr dirty="0" sz="1100">
                <a:latin typeface="Times New Roman"/>
                <a:cs typeface="Times New Roman"/>
              </a:rPr>
              <a:t>structures. The </a:t>
            </a:r>
            <a:r>
              <a:rPr dirty="0" sz="1100" spc="-5">
                <a:latin typeface="Times New Roman"/>
                <a:cs typeface="Times New Roman"/>
              </a:rPr>
              <a:t>productivity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would be </a:t>
            </a:r>
            <a:r>
              <a:rPr dirty="0" sz="1100" spc="-5">
                <a:latin typeface="Times New Roman"/>
                <a:cs typeface="Times New Roman"/>
              </a:rPr>
              <a:t>captured within the grammar. </a:t>
            </a:r>
            <a:r>
              <a:rPr dirty="0" sz="1100">
                <a:latin typeface="Times New Roman"/>
                <a:cs typeface="Times New Roman"/>
              </a:rPr>
              <a:t> Rules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-10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also need </a:t>
            </a:r>
            <a:r>
              <a:rPr dirty="0" sz="1100" spc="-5">
                <a:latin typeface="Times New Roman"/>
                <a:cs typeface="Times New Roman"/>
              </a:rPr>
              <a:t>the crucial property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recursion.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grammar will 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capture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 can have </a:t>
            </a:r>
            <a:r>
              <a:rPr dirty="0" sz="1100">
                <a:latin typeface="Times New Roman"/>
                <a:cs typeface="Times New Roman"/>
              </a:rPr>
              <a:t>another </a:t>
            </a:r>
            <a:r>
              <a:rPr dirty="0" sz="1100" spc="-5">
                <a:latin typeface="Times New Roman"/>
                <a:cs typeface="Times New Roman"/>
              </a:rPr>
              <a:t>sentence inside </a:t>
            </a:r>
            <a:r>
              <a:rPr dirty="0" sz="1100" spc="-10">
                <a:latin typeface="Times New Roman"/>
                <a:cs typeface="Times New Roman"/>
              </a:rPr>
              <a:t>it.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should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be capable of </a:t>
            </a:r>
            <a:r>
              <a:rPr dirty="0" sz="1100" spc="-5">
                <a:latin typeface="Times New Roman"/>
                <a:cs typeface="Times New Roman"/>
              </a:rPr>
              <a:t>revealing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phenomena:</a:t>
            </a:r>
            <a:endParaRPr sz="1100">
              <a:latin typeface="Times New Roman"/>
              <a:cs typeface="Times New Roman"/>
            </a:endParaRPr>
          </a:p>
          <a:p>
            <a:pPr marL="12700" marR="2344420">
              <a:lnSpc>
                <a:spcPct val="110000"/>
              </a:lnSpc>
              <a:buFont typeface="Times New Roman"/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superficially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related?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Charlie</a:t>
            </a:r>
            <a:r>
              <a:rPr dirty="0" sz="1100" spc="-5">
                <a:latin typeface="Times New Roman"/>
                <a:cs typeface="Times New Roman"/>
              </a:rPr>
              <a:t> broke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window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Charlie.</a:t>
            </a:r>
            <a:endParaRPr sz="1100">
              <a:latin typeface="Times New Roman"/>
              <a:cs typeface="Times New Roman"/>
            </a:endParaRPr>
          </a:p>
          <a:p>
            <a:pPr marL="12700" marR="2379345">
              <a:lnSpc>
                <a:spcPct val="110000"/>
              </a:lnSpc>
              <a:buFont typeface="Times New Roman"/>
              <a:buAutoNum type="arabicPeriod" startAt="2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superficially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are in</a:t>
            </a:r>
            <a:r>
              <a:rPr dirty="0" sz="1100" spc="-5">
                <a:latin typeface="Times New Roman"/>
                <a:cs typeface="Times New Roman"/>
              </a:rPr>
              <a:t> fact</a:t>
            </a:r>
            <a:r>
              <a:rPr dirty="0" sz="1100">
                <a:latin typeface="Times New Roman"/>
                <a:cs typeface="Times New Roman"/>
              </a:rPr>
              <a:t> distinct?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please.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eager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please.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126:</a:t>
            </a:r>
            <a:r>
              <a:rPr dirty="0" u="heavy" sz="1100" spc="2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Well-Formed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Syntactic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Well-formedness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quality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clause, word,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other linguistic element that conforms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it is a </a:t>
            </a:r>
            <a:r>
              <a:rPr dirty="0" sz="1100" spc="-5">
                <a:latin typeface="Times New Roman"/>
                <a:cs typeface="Times New Roman"/>
              </a:rPr>
              <a:t>part. Well-formed words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phrases are grammatical, meaning </a:t>
            </a:r>
            <a:r>
              <a:rPr dirty="0" sz="1100">
                <a:latin typeface="Times New Roman"/>
                <a:cs typeface="Times New Roman"/>
              </a:rPr>
              <a:t> they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violates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ill-formed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well-formed.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clause,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utterance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grammatically well-formed.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semantically well-formed </a:t>
            </a:r>
            <a:r>
              <a:rPr dirty="0" sz="1100">
                <a:latin typeface="Times New Roman"/>
                <a:cs typeface="Times New Roman"/>
              </a:rPr>
              <a:t>utterance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sentence is one </a:t>
            </a:r>
            <a:r>
              <a:rPr dirty="0" sz="1100">
                <a:latin typeface="Times New Roman"/>
                <a:cs typeface="Times New Roman"/>
              </a:rPr>
              <a:t> that </a:t>
            </a:r>
            <a:r>
              <a:rPr dirty="0" sz="1100" spc="-5">
                <a:latin typeface="Times New Roman"/>
                <a:cs typeface="Times New Roman"/>
              </a:rPr>
              <a:t>is meaningful. Grammatical well-formedness and semantic well-formedness </a:t>
            </a:r>
            <a:r>
              <a:rPr dirty="0" sz="1100">
                <a:latin typeface="Times New Roman"/>
                <a:cs typeface="Times New Roman"/>
              </a:rPr>
              <a:t>do not </a:t>
            </a:r>
            <a:r>
              <a:rPr dirty="0" sz="1100" spc="-5">
                <a:latin typeface="Times New Roman"/>
                <a:cs typeface="Times New Roman"/>
              </a:rPr>
              <a:t>always coincide,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colorless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>
                <a:latin typeface="Times New Roman"/>
                <a:cs typeface="Times New Roman"/>
              </a:rPr>
              <a:t> sleep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furiously.</a:t>
            </a:r>
            <a:r>
              <a:rPr dirty="0" sz="1100">
                <a:latin typeface="Times New Roman"/>
                <a:cs typeface="Times New Roman"/>
              </a:rPr>
              <a:t> 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grammatically</a:t>
            </a:r>
            <a:r>
              <a:rPr dirty="0" sz="1100">
                <a:latin typeface="Times New Roman"/>
                <a:cs typeface="Times New Roman"/>
              </a:rPr>
              <a:t> correct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semantically </a:t>
            </a:r>
            <a:r>
              <a:rPr dirty="0" sz="1100">
                <a:latin typeface="Times New Roman"/>
                <a:cs typeface="Times New Roman"/>
              </a:rPr>
              <a:t> incorrect.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Sometimes, </a:t>
            </a:r>
            <a:r>
              <a:rPr dirty="0" sz="1100" spc="-10">
                <a:latin typeface="Times New Roman"/>
                <a:cs typeface="Times New Roman"/>
              </a:rPr>
              <a:t>native </a:t>
            </a:r>
            <a:r>
              <a:rPr dirty="0" sz="1100">
                <a:latin typeface="Times New Roman"/>
                <a:cs typeface="Times New Roman"/>
              </a:rPr>
              <a:t>speakers 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agree whether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 word, </a:t>
            </a:r>
            <a:r>
              <a:rPr dirty="0" sz="1100">
                <a:latin typeface="Times New Roman"/>
                <a:cs typeface="Times New Roman"/>
              </a:rPr>
              <a:t>phrase, 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well-formed.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well-formedness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follows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127:</a:t>
            </a:r>
            <a:r>
              <a:rPr dirty="0" u="heavy" sz="1100" spc="2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Finite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Number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small 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rules operating </a:t>
            </a:r>
            <a:r>
              <a:rPr dirty="0" sz="1100">
                <a:latin typeface="Times New Roman"/>
                <a:cs typeface="Times New Roman"/>
              </a:rPr>
              <a:t>on a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finite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generates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infinite 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sentences.’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problem with this definition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assumes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bound and </a:t>
            </a:r>
            <a:r>
              <a:rPr dirty="0" sz="1100" spc="-5">
                <a:latin typeface="Times New Roman"/>
                <a:cs typeface="Times New Roman"/>
              </a:rPr>
              <a:t>discrete view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elements: rules, lexical </a:t>
            </a:r>
            <a:r>
              <a:rPr dirty="0" sz="1100" spc="-10">
                <a:latin typeface="Times New Roman"/>
                <a:cs typeface="Times New Roman"/>
              </a:rPr>
              <a:t>items, </a:t>
            </a:r>
            <a:r>
              <a:rPr dirty="0" sz="1100">
                <a:latin typeface="Times New Roman"/>
                <a:cs typeface="Times New Roman"/>
              </a:rPr>
              <a:t>and sentences.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organized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sentences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difference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words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rules is likely </a:t>
            </a:r>
            <a:r>
              <a:rPr dirty="0" sz="1100">
                <a:latin typeface="Times New Roman"/>
                <a:cs typeface="Times New Roman"/>
              </a:rPr>
              <a:t>to be an </a:t>
            </a:r>
            <a:r>
              <a:rPr dirty="0" sz="1100" spc="-5">
                <a:latin typeface="Times New Roman"/>
                <a:cs typeface="Times New Roman"/>
              </a:rPr>
              <a:t>artifact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dictionary making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grammar writing. Similarly,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is no </a:t>
            </a:r>
            <a:r>
              <a:rPr dirty="0" sz="1100" spc="-5">
                <a:latin typeface="Times New Roman"/>
                <a:cs typeface="Times New Roman"/>
              </a:rPr>
              <a:t>guarantee, that the actual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possible sentences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infinite rather </a:t>
            </a:r>
            <a:r>
              <a:rPr dirty="0" sz="1100">
                <a:latin typeface="Times New Roman"/>
                <a:cs typeface="Times New Roman"/>
              </a:rPr>
              <a:t>than just </a:t>
            </a:r>
            <a:r>
              <a:rPr dirty="0" sz="1100" spc="-5">
                <a:latin typeface="Times New Roman"/>
                <a:cs typeface="Times New Roman"/>
              </a:rPr>
              <a:t>unimaginably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practically inexhaustibly large</a:t>
            </a:r>
            <a:r>
              <a:rPr dirty="0" sz="1100">
                <a:latin typeface="Times New Roman"/>
                <a:cs typeface="Times New Roman"/>
              </a:rPr>
              <a:t> (as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argued by Pullum and Scholtz in 2010).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practical fact, the 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possible expressions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given language may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infinite; the actual set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uttered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finite.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machines)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enumerate practically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current (and possibly any) technology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it is going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finite. </a:t>
            </a:r>
            <a:r>
              <a:rPr dirty="0" sz="1100">
                <a:latin typeface="Times New Roman"/>
                <a:cs typeface="Times New Roman"/>
              </a:rPr>
              <a:t>Therefore,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infinite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not.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000" cy="41294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25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128:</a:t>
            </a:r>
            <a:r>
              <a:rPr dirty="0" u="heavy" sz="1100" spc="2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Recursion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5" b="1">
                <a:latin typeface="Times New Roman"/>
                <a:cs typeface="Times New Roman"/>
              </a:rPr>
              <a:t> Crucial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Property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Recursion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571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Recursive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(‘repeatable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times’)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generating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gun was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 marL="12700" marR="9740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i.e.,</a:t>
            </a:r>
            <a:r>
              <a:rPr dirty="0" sz="1100">
                <a:latin typeface="Times New Roman"/>
                <a:cs typeface="Times New Roman"/>
              </a:rPr>
              <a:t> ‘on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table’. </a:t>
            </a:r>
            <a:r>
              <a:rPr dirty="0" sz="1100">
                <a:latin typeface="Times New Roman"/>
                <a:cs typeface="Times New Roman"/>
              </a:rPr>
              <a:t> We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window’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bedroom’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will </a:t>
            </a:r>
            <a:r>
              <a:rPr dirty="0" sz="1100">
                <a:latin typeface="Times New Roman"/>
                <a:cs typeface="Times New Roman"/>
              </a:rPr>
              <a:t>be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window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bedroom.</a:t>
            </a:r>
            <a:endParaRPr sz="110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Sentences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inside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‘Mary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George.’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become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‘Cathy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Mary</a:t>
            </a:r>
            <a:r>
              <a:rPr dirty="0" sz="1100">
                <a:latin typeface="Times New Roman"/>
                <a:cs typeface="Times New Roman"/>
              </a:rPr>
              <a:t> helped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George.’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addition,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5">
                <a:latin typeface="Times New Roman"/>
                <a:cs typeface="Times New Roman"/>
              </a:rPr>
              <a:t> as: </a:t>
            </a:r>
            <a:r>
              <a:rPr dirty="0" sz="1100">
                <a:latin typeface="Times New Roman"/>
                <a:cs typeface="Times New Roman"/>
              </a:rPr>
              <a:t> John </a:t>
            </a:r>
            <a:r>
              <a:rPr dirty="0" sz="1100" spc="-5">
                <a:latin typeface="Times New Roman"/>
                <a:cs typeface="Times New Roman"/>
              </a:rPr>
              <a:t>believed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 </a:t>
            </a:r>
            <a:r>
              <a:rPr dirty="0" sz="1100" spc="-5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Principally,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recursion.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</a:t>
            </a:r>
            <a:r>
              <a:rPr dirty="0" sz="1100">
                <a:latin typeface="Times New Roman"/>
                <a:cs typeface="Times New Roman"/>
              </a:rPr>
              <a:t> the facts</a:t>
            </a:r>
            <a:r>
              <a:rPr dirty="0" sz="1100" spc="-5">
                <a:latin typeface="Times New Roman"/>
                <a:cs typeface="Times New Roman"/>
              </a:rPr>
              <a:t> that: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repeated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Recursion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theory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cosmic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0905" cy="751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SYNTAX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Surface Structure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transformational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generative grammar, </a:t>
            </a:r>
            <a:r>
              <a:rPr dirty="0" sz="1100">
                <a:latin typeface="Times New Roman"/>
                <a:cs typeface="Times New Roman"/>
              </a:rPr>
              <a:t>surface </a:t>
            </a:r>
            <a:r>
              <a:rPr dirty="0" sz="1100" spc="-5">
                <a:latin typeface="Times New Roman"/>
                <a:cs typeface="Times New Roman"/>
              </a:rPr>
              <a:t>structure 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outward form </a:t>
            </a:r>
            <a:r>
              <a:rPr dirty="0" sz="1100">
                <a:latin typeface="Times New Roman"/>
                <a:cs typeface="Times New Roman"/>
              </a:rPr>
              <a:t>of a sentence.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Surface </a:t>
            </a:r>
            <a:r>
              <a:rPr dirty="0" sz="1100" spc="-5">
                <a:latin typeface="Times New Roman"/>
                <a:cs typeface="Times New Roman"/>
              </a:rPr>
              <a:t>structures are </a:t>
            </a:r>
            <a:r>
              <a:rPr dirty="0" sz="1100" spc="-10">
                <a:latin typeface="Times New Roman"/>
                <a:cs typeface="Times New Roman"/>
              </a:rPr>
              <a:t>derived </a:t>
            </a:r>
            <a:r>
              <a:rPr dirty="0" sz="1100">
                <a:latin typeface="Times New Roman"/>
                <a:cs typeface="Times New Roman"/>
              </a:rPr>
              <a:t>from deep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by a series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transformations. Deep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surface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often used as terms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binary opposition,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deep structure representing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surface structure being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actual </a:t>
            </a: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-5">
                <a:latin typeface="Times New Roman"/>
                <a:cs typeface="Times New Roman"/>
              </a:rPr>
              <a:t>we see.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final stage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syntactic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 provides the input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phonological component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grammar.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corresponds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hear.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Charlie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window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Charlie.</a:t>
            </a:r>
            <a:endParaRPr sz="1100">
              <a:latin typeface="Times New Roman"/>
              <a:cs typeface="Times New Roman"/>
            </a:endParaRPr>
          </a:p>
          <a:p>
            <a:pPr algn="just" marL="12700" marR="1143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distinction between them </a:t>
            </a:r>
            <a:r>
              <a:rPr dirty="0" sz="1100">
                <a:latin typeface="Times New Roman"/>
                <a:cs typeface="Times New Roman"/>
              </a:rPr>
              <a:t>is a difference in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surface </a:t>
            </a:r>
            <a:r>
              <a:rPr dirty="0" sz="1100" spc="-5">
                <a:latin typeface="Times New Roman"/>
                <a:cs typeface="Times New Roman"/>
              </a:rPr>
              <a:t>structure.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capable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 representation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Deep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Charlie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window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Charlie.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superﬁcial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disguises the </a:t>
            </a:r>
            <a:r>
              <a:rPr dirty="0" sz="1100" spc="-5">
                <a:latin typeface="Times New Roman"/>
                <a:cs typeface="Times New Roman"/>
              </a:rPr>
              <a:t>fact that the two sentences are very </a:t>
            </a:r>
            <a:r>
              <a:rPr dirty="0" sz="1100">
                <a:latin typeface="Times New Roman"/>
                <a:cs typeface="Times New Roman"/>
              </a:rPr>
              <a:t>closely </a:t>
            </a:r>
            <a:r>
              <a:rPr dirty="0" sz="1100" spc="-5">
                <a:latin typeface="Times New Roman"/>
                <a:cs typeface="Times New Roman"/>
              </a:rPr>
              <a:t>related, even identical,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some less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superﬁcial level. The ‘underlying’ </a:t>
            </a:r>
            <a:r>
              <a:rPr dirty="0" sz="1100">
                <a:latin typeface="Times New Roman"/>
                <a:cs typeface="Times New Roman"/>
              </a:rPr>
              <a:t>level,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basic </a:t>
            </a:r>
            <a:r>
              <a:rPr dirty="0" sz="1100">
                <a:latin typeface="Times New Roman"/>
                <a:cs typeface="Times New Roman"/>
              </a:rPr>
              <a:t>components </a:t>
            </a:r>
            <a:r>
              <a:rPr dirty="0" sz="1100" spc="-5">
                <a:latin typeface="Times New Roman"/>
                <a:cs typeface="Times New Roman"/>
              </a:rPr>
              <a:t>(Noun Phrase </a:t>
            </a:r>
            <a:r>
              <a:rPr dirty="0" sz="1100">
                <a:latin typeface="Times New Roman"/>
                <a:cs typeface="Times New Roman"/>
              </a:rPr>
              <a:t>+Verb +Noun </a:t>
            </a:r>
            <a:r>
              <a:rPr dirty="0" sz="1100" spc="-5">
                <a:latin typeface="Times New Roman"/>
                <a:cs typeface="Times New Roman"/>
              </a:rPr>
              <a:t>Phrase) </a:t>
            </a:r>
            <a:r>
              <a:rPr dirty="0" sz="1100">
                <a:latin typeface="Times New Roman"/>
                <a:cs typeface="Times New Roman"/>
              </a:rPr>
              <a:t> shared by the </a:t>
            </a:r>
            <a:r>
              <a:rPr dirty="0" sz="1100" spc="-5">
                <a:latin typeface="Times New Roman"/>
                <a:cs typeface="Times New Roman"/>
              </a:rPr>
              <a:t>two sentences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represented,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their ‘deep structure’.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deep structure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 level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structural organization in which all the elements determining </a:t>
            </a:r>
            <a:r>
              <a:rPr dirty="0" sz="1100">
                <a:latin typeface="Times New Roman"/>
                <a:cs typeface="Times New Roman"/>
              </a:rPr>
              <a:t>structural interpretation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represented.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deep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surface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Charlie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broke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window.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capable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showing </a:t>
            </a:r>
            <a:r>
              <a:rPr dirty="0" sz="1100">
                <a:latin typeface="Times New Roman"/>
                <a:cs typeface="Times New Roman"/>
              </a:rPr>
              <a:t>how a </a:t>
            </a:r>
            <a:r>
              <a:rPr dirty="0" sz="1100" spc="-5">
                <a:latin typeface="Times New Roman"/>
                <a:cs typeface="Times New Roman"/>
              </a:rPr>
              <a:t>single underlying abstract representation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131: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Structural Ambiguity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Observe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distinct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deep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‘Annie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umbrella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 </a:t>
            </a:r>
            <a:r>
              <a:rPr dirty="0" sz="1100" spc="-5">
                <a:latin typeface="Times New Roman"/>
                <a:cs typeface="Times New Roman"/>
              </a:rPr>
              <a:t>bumped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it.’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‘Annie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bumped</a:t>
            </a:r>
            <a:r>
              <a:rPr dirty="0" sz="1100">
                <a:latin typeface="Times New Roman"/>
                <a:cs typeface="Times New Roman"/>
              </a:rPr>
              <a:t> into a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>
                <a:latin typeface="Times New Roman"/>
                <a:cs typeface="Times New Roman"/>
              </a:rPr>
              <a:t> happened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umbrella.’</a:t>
            </a:r>
            <a:endParaRPr sz="1100">
              <a:latin typeface="Times New Roman"/>
              <a:cs typeface="Times New Roman"/>
            </a:endParaRPr>
          </a:p>
          <a:p>
            <a:pPr marL="12700" marR="14478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form: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Annie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bumped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umbrella.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represented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differently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deep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1540" cy="81895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Times New Roman"/>
                <a:cs typeface="Times New Roman"/>
              </a:rPr>
              <a:t>Phrases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ambiguous.</a:t>
            </a:r>
            <a:endParaRPr sz="1100">
              <a:latin typeface="Times New Roman"/>
              <a:cs typeface="Times New Roman"/>
            </a:endParaRPr>
          </a:p>
          <a:p>
            <a:pPr marL="241300" marR="427736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‘small boys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girls’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‘small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(small) girls’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‘small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(all) girls.’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capable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132: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Symbols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Syntactic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abbreviations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‘S’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‘NP’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>
                <a:latin typeface="Times New Roman"/>
                <a:cs typeface="Times New Roman"/>
              </a:rPr>
              <a:t> noun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phrase),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 noun),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‘Art’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‘V’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verb)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‘VP’ (=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‘PP’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phrase),</a:t>
            </a:r>
            <a:endParaRPr sz="1100">
              <a:latin typeface="Times New Roman"/>
              <a:cs typeface="Times New Roman"/>
            </a:endParaRPr>
          </a:p>
          <a:p>
            <a:pPr marL="12700" marR="1074420">
              <a:lnSpc>
                <a:spcPct val="1100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arrow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rule:</a:t>
            </a:r>
            <a:endParaRPr sz="1100">
              <a:latin typeface="Times New Roman"/>
              <a:cs typeface="Times New Roman"/>
            </a:endParaRPr>
          </a:p>
          <a:p>
            <a:pPr marL="12700" marR="2285365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NP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Art </a:t>
            </a:r>
            <a:r>
              <a:rPr dirty="0" sz="1100">
                <a:latin typeface="Times New Roman"/>
                <a:cs typeface="Times New Roman"/>
              </a:rPr>
              <a:t>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dog (→) an </a:t>
            </a:r>
            <a:r>
              <a:rPr dirty="0" sz="1100" spc="-5">
                <a:latin typeface="Times New Roman"/>
                <a:cs typeface="Times New Roman"/>
              </a:rPr>
              <a:t>article (Art) </a:t>
            </a:r>
            <a:r>
              <a:rPr dirty="0" sz="1100">
                <a:latin typeface="Times New Roman"/>
                <a:cs typeface="Times New Roman"/>
              </a:rPr>
              <a:t>the and a </a:t>
            </a:r>
            <a:r>
              <a:rPr dirty="0" sz="1100" spc="-5">
                <a:latin typeface="Times New Roman"/>
                <a:cs typeface="Times New Roman"/>
              </a:rPr>
              <a:t>noun (N) dog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Second: a </a:t>
            </a:r>
            <a:r>
              <a:rPr dirty="0" sz="1100" spc="-5">
                <a:latin typeface="Times New Roman"/>
                <a:cs typeface="Times New Roman"/>
              </a:rPr>
              <a:t>pair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brackets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()</a:t>
            </a:r>
            <a:endParaRPr sz="1100">
              <a:latin typeface="Times New Roman"/>
              <a:cs typeface="Times New Roman"/>
            </a:endParaRPr>
          </a:p>
          <a:p>
            <a:pPr marL="12700" marR="3948429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‘the </a:t>
            </a:r>
            <a:r>
              <a:rPr dirty="0" sz="1100" spc="-5">
                <a:latin typeface="Times New Roman"/>
                <a:cs typeface="Times New Roman"/>
              </a:rPr>
              <a:t>dog’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‘the small dog’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(NP)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(Adj)</a:t>
            </a:r>
            <a:r>
              <a:rPr dirty="0" sz="1100">
                <a:latin typeface="Times New Roman"/>
                <a:cs typeface="Times New Roman"/>
              </a:rPr>
              <a:t> 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109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shorthand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rewrites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(→)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(Art)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5">
                <a:latin typeface="Times New Roman"/>
                <a:cs typeface="Times New Roman"/>
              </a:rPr>
              <a:t>(N),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(Adj.)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Third: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Curly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brackets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{}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5308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5">
                <a:latin typeface="Times New Roman"/>
                <a:cs typeface="Times New Roman"/>
              </a:rPr>
              <a:t> indicate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elements </a:t>
            </a:r>
            <a:r>
              <a:rPr dirty="0" sz="1100" spc="-5">
                <a:latin typeface="Times New Roman"/>
                <a:cs typeface="Times New Roman"/>
              </a:rPr>
              <a:t>enclosed within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brackets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abbreviations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summarized</a:t>
            </a:r>
            <a:r>
              <a:rPr dirty="0" sz="1100">
                <a:latin typeface="Times New Roman"/>
                <a:cs typeface="Times New Roman"/>
              </a:rPr>
              <a:t> here.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NP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PN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Adv.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adverb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Adj.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Prep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Pro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70905" cy="24695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ungrammatical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 of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rewrites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optional constituent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{}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 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133: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Labelled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common way </a:t>
            </a:r>
            <a:r>
              <a:rPr dirty="0" sz="1100">
                <a:latin typeface="Times New Roman"/>
                <a:cs typeface="Times New Roman"/>
              </a:rPr>
              <a:t>to create a </a:t>
            </a:r>
            <a:r>
              <a:rPr dirty="0" sz="1100" spc="-5">
                <a:latin typeface="Times New Roman"/>
                <a:cs typeface="Times New Roman"/>
              </a:rPr>
              <a:t>visual representation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syntactic </a:t>
            </a:r>
            <a:r>
              <a:rPr dirty="0" sz="1100">
                <a:latin typeface="Times New Roman"/>
                <a:cs typeface="Times New Roman"/>
              </a:rPr>
              <a:t>structures is </a:t>
            </a:r>
            <a:r>
              <a:rPr dirty="0" sz="1100" spc="-5">
                <a:latin typeface="Times New Roman"/>
                <a:cs typeface="Times New Roman"/>
              </a:rPr>
              <a:t>through tree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can use the symbols introduced (Art=article, </a:t>
            </a:r>
            <a:r>
              <a:rPr dirty="0" sz="1100">
                <a:latin typeface="Times New Roman"/>
                <a:cs typeface="Times New Roman"/>
              </a:rPr>
              <a:t>N = </a:t>
            </a:r>
            <a:r>
              <a:rPr dirty="0" sz="1100" spc="-5">
                <a:latin typeface="Times New Roman"/>
                <a:cs typeface="Times New Roman"/>
              </a:rPr>
              <a:t>noun, NP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noun </a:t>
            </a:r>
            <a:r>
              <a:rPr dirty="0" sz="1100">
                <a:latin typeface="Times New Roman"/>
                <a:cs typeface="Times New Roman"/>
              </a:rPr>
              <a:t>phrase) to </a:t>
            </a:r>
            <a:r>
              <a:rPr dirty="0" sz="1100" spc="-5">
                <a:latin typeface="Times New Roman"/>
                <a:cs typeface="Times New Roman"/>
              </a:rPr>
              <a:t>label parts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tree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try to </a:t>
            </a:r>
            <a:r>
              <a:rPr dirty="0" sz="1100" spc="-5">
                <a:latin typeface="Times New Roman"/>
                <a:cs typeface="Times New Roman"/>
              </a:rPr>
              <a:t>capture the hierarchical organization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those parts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underlying structure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 and </a:t>
            </a:r>
            <a:r>
              <a:rPr dirty="0" sz="1100" spc="-5">
                <a:latin typeface="Times New Roman"/>
                <a:cs typeface="Times New Roman"/>
              </a:rPr>
              <a:t>sentences. At the top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tree diagram, we begin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 spc="5">
                <a:latin typeface="Times New Roman"/>
                <a:cs typeface="Times New Roman"/>
              </a:rPr>
              <a:t>(S), </a:t>
            </a:r>
            <a:r>
              <a:rPr dirty="0" sz="1100" spc="-5">
                <a:latin typeface="Times New Roman"/>
                <a:cs typeface="Times New Roman"/>
              </a:rPr>
              <a:t>and divide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into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(NP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VP).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turn,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(Art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N)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VP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801078"/>
            <a:ext cx="5965190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top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(S)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(NP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VP).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turn,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N).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5796" y="3931388"/>
            <a:ext cx="1694956" cy="6416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1148" y="5548414"/>
            <a:ext cx="1940464" cy="9902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1540" cy="76117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Lesson-24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SYNTAX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III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(RULES</a:t>
            </a:r>
            <a:r>
              <a:rPr dirty="0" sz="1400" b="1">
                <a:latin typeface="Times New Roman"/>
                <a:cs typeface="Times New Roman"/>
              </a:rPr>
              <a:t> OF</a:t>
            </a:r>
            <a:r>
              <a:rPr dirty="0" sz="1400" spc="-5" b="1">
                <a:latin typeface="Times New Roman"/>
                <a:cs typeface="Times New Roman"/>
              </a:rPr>
              <a:t> SYNTACTIC DESCRIPTION)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Phrase Structure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phrases of </a:t>
            </a:r>
            <a:r>
              <a:rPr dirty="0" sz="1100" spc="-5">
                <a:latin typeface="Times New Roman"/>
                <a:cs typeface="Times New Roman"/>
              </a:rPr>
              <a:t>different 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>
                <a:latin typeface="Times New Roman"/>
                <a:cs typeface="Times New Roman"/>
              </a:rPr>
              <a:t> noun phrase, </a:t>
            </a:r>
            <a:r>
              <a:rPr dirty="0" sz="1100" spc="-5">
                <a:latin typeface="Times New Roman"/>
                <a:cs typeface="Times New Roman"/>
              </a:rPr>
              <a:t>verb phrase,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etc.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tree </a:t>
            </a:r>
            <a:r>
              <a:rPr dirty="0" sz="1100">
                <a:latin typeface="Times New Roman"/>
                <a:cs typeface="Times New Roman"/>
              </a:rPr>
              <a:t>diagram can </a:t>
            </a:r>
            <a:r>
              <a:rPr dirty="0" sz="1100" spc="-5">
                <a:latin typeface="Times New Roman"/>
                <a:cs typeface="Times New Roman"/>
              </a:rPr>
              <a:t>have two different ways: simply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static representation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sentence shown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bottom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tree diagram. Every single sentence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tree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dynamic format which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generating </a:t>
            </a:r>
            <a:r>
              <a:rPr dirty="0" sz="1100">
                <a:latin typeface="Times New Roman"/>
                <a:cs typeface="Times New Roman"/>
              </a:rPr>
              <a:t>not only </a:t>
            </a:r>
            <a:r>
              <a:rPr dirty="0" sz="1100" spc="-5">
                <a:latin typeface="Times New Roman"/>
                <a:cs typeface="Times New Roman"/>
              </a:rPr>
              <a:t>that particular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 </a:t>
            </a:r>
            <a:r>
              <a:rPr dirty="0" sz="1100">
                <a:latin typeface="Times New Roman"/>
                <a:cs typeface="Times New Roman"/>
              </a:rPr>
              <a:t>but a </a:t>
            </a:r>
            <a:r>
              <a:rPr dirty="0" sz="1100" spc="-5">
                <a:latin typeface="Times New Roman"/>
                <a:cs typeface="Times New Roman"/>
              </a:rPr>
              <a:t>very 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sentences with similar structures. </a:t>
            </a:r>
            <a:r>
              <a:rPr dirty="0" sz="1100">
                <a:latin typeface="Times New Roman"/>
                <a:cs typeface="Times New Roman"/>
              </a:rPr>
              <a:t>This second approach is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 appealing because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would enable us to </a:t>
            </a:r>
            <a:r>
              <a:rPr dirty="0" sz="1100" spc="-5">
                <a:latin typeface="Times New Roman"/>
                <a:cs typeface="Times New Roman"/>
              </a:rPr>
              <a:t>generate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very large </a:t>
            </a:r>
            <a:r>
              <a:rPr dirty="0" sz="1100">
                <a:latin typeface="Times New Roman"/>
                <a:cs typeface="Times New Roman"/>
              </a:rPr>
              <a:t>number of sentences </a:t>
            </a:r>
            <a:r>
              <a:rPr dirty="0" sz="1100" spc="-5">
                <a:latin typeface="Times New Roman"/>
                <a:cs typeface="Times New Roman"/>
              </a:rPr>
              <a:t>with what looks like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called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rules.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These rules state that the structure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phrase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speciﬁc type will consist </a:t>
            </a:r>
            <a:r>
              <a:rPr dirty="0" sz="1100">
                <a:latin typeface="Times New Roman"/>
                <a:cs typeface="Times New Roman"/>
              </a:rPr>
              <a:t>of one or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particular order.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rules </a:t>
            </a:r>
            <a:r>
              <a:rPr dirty="0" sz="1100" spc="-5">
                <a:latin typeface="Times New Roman"/>
                <a:cs typeface="Times New Roman"/>
              </a:rPr>
              <a:t>present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tree diagram in </a:t>
            </a:r>
            <a:r>
              <a:rPr dirty="0" sz="1100">
                <a:latin typeface="Times New Roman"/>
                <a:cs typeface="Times New Roman"/>
              </a:rPr>
              <a:t> another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NP</a:t>
            </a:r>
            <a:r>
              <a:rPr dirty="0" sz="1100" spc="-10" b="1">
                <a:latin typeface="Times New Roman"/>
                <a:cs typeface="Times New Roman"/>
              </a:rPr>
              <a:t> VP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NP</a:t>
            </a:r>
            <a:r>
              <a:rPr dirty="0" sz="1100" b="1">
                <a:latin typeface="Times New Roman"/>
                <a:cs typeface="Times New Roman"/>
              </a:rPr>
              <a:t> →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{Art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(Adj)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N,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Pro,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PN}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VP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V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NP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(PP)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(Adv)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PP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Prep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NP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135: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Lexical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structure rules generate structures.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turn those structures into recognizable English, we </a:t>
            </a:r>
            <a:r>
              <a:rPr dirty="0" sz="1100">
                <a:latin typeface="Times New Roman"/>
                <a:cs typeface="Times New Roman"/>
              </a:rPr>
              <a:t> also </a:t>
            </a:r>
            <a:r>
              <a:rPr dirty="0" sz="1100" spc="-5">
                <a:latin typeface="Times New Roman"/>
                <a:cs typeface="Times New Roman"/>
              </a:rPr>
              <a:t>need lexical rules. </a:t>
            </a:r>
            <a:r>
              <a:rPr dirty="0" sz="1100">
                <a:latin typeface="Times New Roman"/>
                <a:cs typeface="Times New Roman"/>
              </a:rPr>
              <a:t>They specify which </a:t>
            </a:r>
            <a:r>
              <a:rPr dirty="0" sz="1100" spc="-5">
                <a:latin typeface="Times New Roman"/>
                <a:cs typeface="Times New Roman"/>
              </a:rPr>
              <a:t>words can we rewrite constituents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ﬁrst rule in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>
                <a:latin typeface="Times New Roman"/>
                <a:cs typeface="Times New Roman"/>
              </a:rPr>
              <a:t> noun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rewrites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George’.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5" b="1">
                <a:latin typeface="Times New Roman"/>
                <a:cs typeface="Times New Roman"/>
              </a:rPr>
              <a:t>PN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{Mary,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George}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{girl, dog,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boy}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Art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{a,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Pro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{it,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you}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V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→</a:t>
            </a:r>
            <a:r>
              <a:rPr dirty="0" sz="1100" spc="-5" b="1">
                <a:latin typeface="Times New Roman"/>
                <a:cs typeface="Times New Roman"/>
              </a:rPr>
              <a:t> {followed, helped, saw}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These </a:t>
            </a:r>
            <a:r>
              <a:rPr dirty="0" sz="1100" spc="-5" b="1">
                <a:latin typeface="Times New Roman"/>
                <a:cs typeface="Times New Roman"/>
              </a:rPr>
              <a:t>rules generate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grammatical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5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04865" cy="22421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lack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like:</a:t>
            </a:r>
            <a:endParaRPr sz="1100">
              <a:latin typeface="Times New Roman"/>
              <a:cs typeface="Times New Roman"/>
            </a:endParaRPr>
          </a:p>
          <a:p>
            <a:pPr marL="12700" marR="4734560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Dog </a:t>
            </a:r>
            <a:r>
              <a:rPr dirty="0" sz="1100">
                <a:latin typeface="Times New Roman"/>
                <a:cs typeface="Times New Roman"/>
              </a:rPr>
              <a:t>followed </a:t>
            </a:r>
            <a:r>
              <a:rPr dirty="0" sz="1100" spc="-5">
                <a:latin typeface="Times New Roman"/>
                <a:cs typeface="Times New Roman"/>
              </a:rPr>
              <a:t>boy.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boy.</a:t>
            </a:r>
            <a:endParaRPr sz="1100">
              <a:latin typeface="Times New Roman"/>
              <a:cs typeface="Times New Roman"/>
            </a:endParaRPr>
          </a:p>
          <a:p>
            <a:pPr marL="12700" marR="4549140">
              <a:lnSpc>
                <a:spcPct val="1100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George Mary dog. </a:t>
            </a:r>
            <a:r>
              <a:rPr dirty="0" sz="1100">
                <a:latin typeface="Times New Roman"/>
                <a:cs typeface="Times New Roman"/>
              </a:rPr>
              <a:t> Helped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visualizing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rules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(1) and </a:t>
            </a:r>
            <a:r>
              <a:rPr dirty="0" sz="1100" spc="-5">
                <a:latin typeface="Times New Roman"/>
                <a:cs typeface="Times New Roman"/>
              </a:rPr>
              <a:t>(6).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4994275"/>
            <a:ext cx="5969635" cy="4150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136: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 to Recursion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5">
                <a:latin typeface="Times New Roman"/>
                <a:cs typeface="Times New Roman"/>
              </a:rPr>
              <a:t>structure rules listed earlier have </a:t>
            </a:r>
            <a:r>
              <a:rPr dirty="0" sz="1100" spc="-1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recursive elements.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time we </a:t>
            </a:r>
            <a:r>
              <a:rPr dirty="0" sz="1100">
                <a:latin typeface="Times New Roman"/>
                <a:cs typeface="Times New Roman"/>
              </a:rPr>
              <a:t>start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 an S,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only create 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S </a:t>
            </a:r>
            <a:r>
              <a:rPr dirty="0" sz="1100" spc="-5">
                <a:latin typeface="Times New Roman"/>
                <a:cs typeface="Times New Roman"/>
              </a:rPr>
              <a:t>(sentence structure). We </a:t>
            </a:r>
            <a:r>
              <a:rPr dirty="0" sz="1100">
                <a:latin typeface="Times New Roman"/>
                <a:cs typeface="Times New Roman"/>
              </a:rPr>
              <a:t>actually need to be able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include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traditional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‘clauses’.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Cathy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[Mary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George].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tediously recursive,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repeatable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sentences:</a:t>
            </a:r>
            <a:endParaRPr sz="1100">
              <a:latin typeface="Times New Roman"/>
              <a:cs typeface="Times New Roman"/>
            </a:endParaRPr>
          </a:p>
          <a:p>
            <a:pPr marL="12700" marR="2113280" indent="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John </a:t>
            </a:r>
            <a:r>
              <a:rPr dirty="0" sz="1100" spc="-5">
                <a:latin typeface="Times New Roman"/>
                <a:cs typeface="Times New Roman"/>
              </a:rPr>
              <a:t>believed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[Cathy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[Mary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 </a:t>
            </a:r>
            <a:r>
              <a:rPr dirty="0" sz="1100" spc="-5">
                <a:latin typeface="Times New Roman"/>
                <a:cs typeface="Times New Roman"/>
              </a:rPr>
              <a:t>George]].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been</a:t>
            </a:r>
            <a:r>
              <a:rPr dirty="0" sz="1100" spc="-5">
                <a:latin typeface="Times New Roman"/>
                <a:cs typeface="Times New Roman"/>
              </a:rPr>
              <a:t> used.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{John,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Cathy}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{believed,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knew}.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‘that’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as;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Cathy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John</a:t>
            </a:r>
            <a:r>
              <a:rPr dirty="0" sz="1100" spc="-5">
                <a:latin typeface="Times New Roman"/>
                <a:cs typeface="Times New Roman"/>
              </a:rPr>
              <a:t> believed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 </a:t>
            </a:r>
            <a:r>
              <a:rPr dirty="0" sz="1100" spc="-5">
                <a:latin typeface="Times New Roman"/>
                <a:cs typeface="Times New Roman"/>
              </a:rPr>
              <a:t>George.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137: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Transformational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825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Transformational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(T-Rules)  </a:t>
            </a:r>
            <a:r>
              <a:rPr dirty="0" sz="1100" spc="-5">
                <a:latin typeface="Times New Roman"/>
                <a:cs typeface="Times New Roman"/>
              </a:rPr>
              <a:t>relate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 the 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(surface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(deep </a:t>
            </a:r>
            <a:r>
              <a:rPr dirty="0" sz="1100" spc="-5">
                <a:latin typeface="Times New Roman"/>
                <a:cs typeface="Times New Roman"/>
              </a:rPr>
              <a:t>structure),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822" y="3466998"/>
            <a:ext cx="2928429" cy="10944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66460" cy="78073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Linguists often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words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set contain </a:t>
            </a:r>
            <a:r>
              <a:rPr dirty="0" sz="1100">
                <a:latin typeface="Times New Roman"/>
                <a:cs typeface="Times New Roman"/>
              </a:rPr>
              <a:t>s </a:t>
            </a:r>
            <a:r>
              <a:rPr dirty="0" sz="1100" spc="-5">
                <a:latin typeface="Times New Roman"/>
                <a:cs typeface="Times New Roman"/>
              </a:rPr>
              <a:t>synonymous </a:t>
            </a:r>
            <a:r>
              <a:rPr dirty="0" sz="1100">
                <a:latin typeface="Times New Roman"/>
                <a:cs typeface="Times New Roman"/>
              </a:rPr>
              <a:t>sentence.   </a:t>
            </a:r>
            <a:r>
              <a:rPr dirty="0" sz="1100" spc="-5">
                <a:latin typeface="Times New Roman"/>
                <a:cs typeface="Times New Roman"/>
              </a:rPr>
              <a:t>As the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different their phrase marker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different. </a:t>
            </a:r>
            <a:r>
              <a:rPr dirty="0" sz="1100">
                <a:latin typeface="Times New Roman"/>
                <a:cs typeface="Times New Roman"/>
              </a:rPr>
              <a:t>Surface </a:t>
            </a:r>
            <a:r>
              <a:rPr dirty="0" sz="1100" spc="-5">
                <a:latin typeface="Times New Roman"/>
                <a:cs typeface="Times New Roman"/>
              </a:rPr>
              <a:t>structure refers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broken down </a:t>
            </a:r>
            <a:r>
              <a:rPr dirty="0" sz="1100">
                <a:latin typeface="Times New Roman"/>
                <a:cs typeface="Times New Roman"/>
              </a:rPr>
              <a:t>by traditional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deep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vice versa.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55"/>
              </a:spcBef>
            </a:pPr>
            <a:r>
              <a:rPr dirty="0" sz="1100" b="1">
                <a:latin typeface="Times New Roman"/>
                <a:cs typeface="Times New Roman"/>
              </a:rPr>
              <a:t>Some</a:t>
            </a:r>
            <a:r>
              <a:rPr dirty="0" sz="1100" spc="-5" b="1">
                <a:latin typeface="Times New Roman"/>
                <a:cs typeface="Times New Roman"/>
              </a:rPr>
              <a:t> Types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Transformations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350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Deletion: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undergoes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transformation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 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37160">
              <a:lnSpc>
                <a:spcPct val="1102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Imperative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transformation: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Insertion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here.</a:t>
            </a:r>
            <a:endParaRPr sz="1100">
              <a:latin typeface="Times New Roman"/>
              <a:cs typeface="Times New Roman"/>
            </a:endParaRPr>
          </a:p>
          <a:p>
            <a:pPr marL="12700" marR="441642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race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won</a:t>
            </a:r>
            <a:r>
              <a:rPr dirty="0" sz="1100" spc="-5">
                <a:latin typeface="Times New Roman"/>
                <a:cs typeface="Times New Roman"/>
              </a:rPr>
              <a:t> the race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Substitution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86143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Pronoun </a:t>
            </a:r>
            <a:r>
              <a:rPr dirty="0" sz="1100" spc="-5">
                <a:latin typeface="Times New Roman"/>
                <a:cs typeface="Times New Roman"/>
              </a:rPr>
              <a:t>substitution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Pronominalization Transformation </a:t>
            </a:r>
            <a:r>
              <a:rPr dirty="0" sz="1100">
                <a:latin typeface="Times New Roman"/>
                <a:cs typeface="Times New Roman"/>
              </a:rPr>
              <a:t> Tony </a:t>
            </a:r>
            <a:r>
              <a:rPr dirty="0" sz="1100" spc="-5">
                <a:latin typeface="Times New Roman"/>
                <a:cs typeface="Times New Roman"/>
              </a:rPr>
              <a:t>thought that </a:t>
            </a:r>
            <a:r>
              <a:rPr dirty="0" sz="1100">
                <a:latin typeface="Times New Roman"/>
                <a:cs typeface="Times New Roman"/>
              </a:rPr>
              <a:t>Tony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best.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Particle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Movement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446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Particle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particle</a:t>
            </a:r>
            <a:r>
              <a:rPr dirty="0" sz="1100">
                <a:latin typeface="Times New Roman"/>
                <a:cs typeface="Times New Roman"/>
              </a:rPr>
              <a:t> (e.g.,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‘look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number’).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relocation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particle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‘look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up’)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movement.</a:t>
            </a:r>
            <a:r>
              <a:rPr dirty="0" sz="1100">
                <a:latin typeface="Times New Roman"/>
                <a:cs typeface="Times New Roman"/>
              </a:rPr>
              <a:t> .</a:t>
            </a:r>
            <a:endParaRPr sz="1100">
              <a:latin typeface="Times New Roman"/>
              <a:cs typeface="Times New Roman"/>
            </a:endParaRPr>
          </a:p>
          <a:p>
            <a:pPr marL="12700" marR="4156075">
              <a:lnSpc>
                <a:spcPct val="1101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 boy passed </a:t>
            </a:r>
            <a:r>
              <a:rPr dirty="0" sz="1100" spc="-5">
                <a:latin typeface="Times New Roman"/>
                <a:cs typeface="Times New Roman"/>
              </a:rPr>
              <a:t>out the candy. </a:t>
            </a:r>
            <a:r>
              <a:rPr dirty="0" sz="1100">
                <a:latin typeface="Times New Roman"/>
                <a:cs typeface="Times New Roman"/>
              </a:rPr>
              <a:t> The boy passed </a:t>
            </a:r>
            <a:r>
              <a:rPr dirty="0" sz="1100" spc="-5">
                <a:latin typeface="Times New Roman"/>
                <a:cs typeface="Times New Roman"/>
              </a:rPr>
              <a:t>the candy </a:t>
            </a:r>
            <a:r>
              <a:rPr dirty="0" sz="1100">
                <a:latin typeface="Times New Roman"/>
                <a:cs typeface="Times New Roman"/>
              </a:rPr>
              <a:t>out.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 often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words.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words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48107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always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Please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homework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tonight.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pl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homework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tonight.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635" cy="6388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64287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Particle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optional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Subject-verb-direct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it 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obligatory movement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</a:t>
            </a:r>
            <a:r>
              <a:rPr dirty="0" sz="1100" b="1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265" marR="454406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*Mary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out.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Demonstrative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Pronoun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469265" marR="46329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Pick </a:t>
            </a:r>
            <a:r>
              <a:rPr dirty="0" sz="1100" spc="-5">
                <a:latin typeface="Times New Roman"/>
                <a:cs typeface="Times New Roman"/>
              </a:rPr>
              <a:t>that out. </a:t>
            </a:r>
            <a:r>
              <a:rPr dirty="0" sz="1100">
                <a:latin typeface="Times New Roman"/>
                <a:cs typeface="Times New Roman"/>
              </a:rPr>
              <a:t> Throw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Obligatory Movement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Reflexes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5" b="1">
                <a:latin typeface="Times New Roman"/>
                <a:cs typeface="Times New Roman"/>
              </a:rPr>
              <a:t> Objects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Jane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 herself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thief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myself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‘Out’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 lactation.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/turned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ignition.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turned the ignition off.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Tom/ turned/ off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road.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Adverb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Manner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Mother </a:t>
            </a:r>
            <a:r>
              <a:rPr dirty="0" sz="1100" spc="-5">
                <a:latin typeface="Times New Roman"/>
                <a:cs typeface="Times New Roman"/>
              </a:rPr>
              <a:t>hung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quickly.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*Mother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quickly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clothes.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Particles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S-V-O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particle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occur.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IC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Immediate constituent analysis </a:t>
            </a:r>
            <a:r>
              <a:rPr dirty="0" sz="1100" spc="-10">
                <a:latin typeface="Times New Roman"/>
                <a:cs typeface="Times New Roman"/>
              </a:rPr>
              <a:t>or IC </a:t>
            </a:r>
            <a:r>
              <a:rPr dirty="0" sz="1100">
                <a:latin typeface="Times New Roman"/>
                <a:cs typeface="Times New Roman"/>
              </a:rPr>
              <a:t>analysis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sentence analysis that was first </a:t>
            </a:r>
            <a:r>
              <a:rPr dirty="0" sz="1100">
                <a:latin typeface="Times New Roman"/>
                <a:cs typeface="Times New Roman"/>
              </a:rPr>
              <a:t> mentioned by Leonard </a:t>
            </a:r>
            <a:r>
              <a:rPr dirty="0" sz="1100" spc="-5">
                <a:latin typeface="Times New Roman"/>
                <a:cs typeface="Times New Roman"/>
              </a:rPr>
              <a:t>Bloomfield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developed further </a:t>
            </a:r>
            <a:r>
              <a:rPr dirty="0" sz="1100">
                <a:latin typeface="Times New Roman"/>
                <a:cs typeface="Times New Roman"/>
              </a:rPr>
              <a:t>by Rulon Wells.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principle of </a:t>
            </a:r>
            <a:r>
              <a:rPr dirty="0" sz="1100" spc="-10">
                <a:latin typeface="Times New Roman"/>
                <a:cs typeface="Times New Roman"/>
              </a:rPr>
              <a:t>IC </a:t>
            </a:r>
            <a:r>
              <a:rPr dirty="0" sz="1100">
                <a:latin typeface="Times New Roman"/>
                <a:cs typeface="Times New Roman"/>
              </a:rPr>
              <a:t>analysis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cut a </a:t>
            </a:r>
            <a:r>
              <a:rPr dirty="0" sz="1100" spc="-5">
                <a:latin typeface="Times New Roman"/>
                <a:cs typeface="Times New Roman"/>
              </a:rPr>
              <a:t>sentence into two and </a:t>
            </a:r>
            <a:r>
              <a:rPr dirty="0" sz="1100">
                <a:latin typeface="Times New Roman"/>
                <a:cs typeface="Times New Roman"/>
              </a:rPr>
              <a:t>then to </a:t>
            </a:r>
            <a:r>
              <a:rPr dirty="0" sz="1100" spc="-5">
                <a:latin typeface="Times New Roman"/>
                <a:cs typeface="Times New Roman"/>
              </a:rPr>
              <a:t>cut those parts into two and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continue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segmentation until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indivisible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binary.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7417155"/>
            <a:ext cx="2030730" cy="1516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0020">
              <a:lnSpc>
                <a:spcPct val="1109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young man followed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girl.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 </a:t>
            </a:r>
            <a:r>
              <a:rPr dirty="0" sz="1100">
                <a:latin typeface="Times New Roman"/>
                <a:cs typeface="Times New Roman"/>
              </a:rPr>
              <a:t>+followed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girl.</a:t>
            </a:r>
            <a:endParaRPr sz="1100">
              <a:latin typeface="Times New Roman"/>
              <a:cs typeface="Times New Roman"/>
            </a:endParaRPr>
          </a:p>
          <a:p>
            <a:pPr marL="12700" marR="10414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Followed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a+</a:t>
            </a:r>
            <a:r>
              <a:rPr dirty="0" sz="1100" spc="-5">
                <a:latin typeface="Times New Roman"/>
                <a:cs typeface="Times New Roman"/>
              </a:rPr>
              <a:t> girl</a:t>
            </a:r>
            <a:endParaRPr sz="1100">
              <a:latin typeface="Times New Roman"/>
              <a:cs typeface="Times New Roman"/>
            </a:endParaRPr>
          </a:p>
          <a:p>
            <a:pPr marL="12700" marR="762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+young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Young+ man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Times New Roman"/>
                <a:cs typeface="Times New Roman"/>
              </a:rPr>
              <a:t>Follow+ed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948055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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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	</a:t>
            </a:r>
            <a:r>
              <a:rPr dirty="0" sz="1100" spc="-5">
                <a:latin typeface="Symbol"/>
                <a:cs typeface="Symbol"/>
              </a:rPr>
              <a:t>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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525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</a:t>
            </a:r>
            <a:r>
              <a:rPr dirty="0" sz="1100" spc="5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758" y="8739327"/>
            <a:ext cx="11537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Symbol"/>
                <a:cs typeface="Symbol"/>
              </a:rPr>
              <a:t>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Symbol"/>
                <a:cs typeface="Symbol"/>
              </a:rPr>
              <a:t>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Symbol"/>
                <a:cs typeface="Symbol"/>
              </a:rPr>
              <a:t>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Symbol"/>
                <a:cs typeface="Symbol"/>
              </a:rPr>
              <a:t>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Symbol"/>
                <a:cs typeface="Symbol"/>
              </a:rPr>
              <a:t>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8925255"/>
            <a:ext cx="28663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((The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(((young)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 </a:t>
            </a:r>
            <a:r>
              <a:rPr dirty="0" sz="1100" spc="-5">
                <a:latin typeface="Times New Roman"/>
                <a:cs typeface="Times New Roman"/>
              </a:rPr>
              <a:t>man))) </a:t>
            </a:r>
            <a:r>
              <a:rPr dirty="0" sz="1100">
                <a:latin typeface="Times New Roman"/>
                <a:cs typeface="Times New Roman"/>
              </a:rPr>
              <a:t>((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followed)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((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(girl))).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3248381"/>
            <a:ext cx="5967095" cy="3246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where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cut?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expansion.</a:t>
            </a:r>
            <a:endParaRPr sz="1100">
              <a:latin typeface="Times New Roman"/>
              <a:cs typeface="Times New Roman"/>
            </a:endParaRPr>
          </a:p>
          <a:p>
            <a:pPr marL="12700" marR="224790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Expansion: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technical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substitution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another.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sequence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 American children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always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justified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Egyptian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cotton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shirt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  <a:tab pos="1113790" algn="l"/>
                <a:tab pos="1333500" algn="l"/>
              </a:tabLst>
            </a:pPr>
            <a:r>
              <a:rPr dirty="0" sz="1100" spc="-5">
                <a:latin typeface="Times New Roman"/>
                <a:cs typeface="Times New Roman"/>
              </a:rPr>
              <a:t>Egyptian	</a:t>
            </a:r>
            <a:r>
              <a:rPr dirty="0" sz="1100">
                <a:latin typeface="Times New Roman"/>
                <a:cs typeface="Times New Roman"/>
              </a:rPr>
              <a:t>+	</a:t>
            </a:r>
            <a:r>
              <a:rPr dirty="0" sz="1100" spc="-5">
                <a:latin typeface="Times New Roman"/>
                <a:cs typeface="Times New Roman"/>
              </a:rPr>
              <a:t>cotton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shirt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Egyptian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cotton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shirt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flaws.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Firstly,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 parts are; it does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even identify </a:t>
            </a:r>
            <a:r>
              <a:rPr dirty="0" sz="1100">
                <a:latin typeface="Times New Roman"/>
                <a:cs typeface="Times New Roman"/>
              </a:rPr>
              <a:t>except </a:t>
            </a:r>
            <a:r>
              <a:rPr dirty="0" sz="1100" spc="-5">
                <a:latin typeface="Times New Roman"/>
                <a:cs typeface="Times New Roman"/>
              </a:rPr>
              <a:t>implication. Secondly,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does not show clearly that </a:t>
            </a:r>
            <a:r>
              <a:rPr dirty="0" sz="1100">
                <a:latin typeface="Times New Roman"/>
                <a:cs typeface="Times New Roman"/>
              </a:rPr>
              <a:t> noun </a:t>
            </a:r>
            <a:r>
              <a:rPr dirty="0" sz="1100" spc="-5">
                <a:latin typeface="Times New Roman"/>
                <a:cs typeface="Times New Roman"/>
              </a:rPr>
              <a:t>phrases are built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nouns, verb phrases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verbs, etc. Thirdly, </a:t>
            </a:r>
            <a:r>
              <a:rPr dirty="0" sz="1100" spc="-10">
                <a:latin typeface="Times New Roman"/>
                <a:cs typeface="Times New Roman"/>
              </a:rPr>
              <a:t>IC </a:t>
            </a:r>
            <a:r>
              <a:rPr dirty="0" sz="1100">
                <a:latin typeface="Times New Roman"/>
                <a:cs typeface="Times New Roman"/>
              </a:rPr>
              <a:t>analysis does </a:t>
            </a:r>
            <a:r>
              <a:rPr dirty="0" sz="1100" spc="-5">
                <a:latin typeface="Times New Roman"/>
                <a:cs typeface="Times New Roman"/>
              </a:rPr>
              <a:t>not tell </a:t>
            </a:r>
            <a:r>
              <a:rPr dirty="0" sz="1100">
                <a:latin typeface="Times New Roman"/>
                <a:cs typeface="Times New Roman"/>
              </a:rPr>
              <a:t>us how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>
                <a:latin typeface="Times New Roman"/>
                <a:cs typeface="Times New Roman"/>
              </a:rPr>
              <a:t> i.e.,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produce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already</a:t>
            </a:r>
            <a:r>
              <a:rPr dirty="0" sz="1100" spc="-5">
                <a:latin typeface="Times New Roman"/>
                <a:cs typeface="Times New Roman"/>
              </a:rPr>
              <a:t> 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attested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corpus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575" y="914400"/>
            <a:ext cx="5427980" cy="235140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88919" y="1122934"/>
            <a:ext cx="11969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SEMANTICS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362201"/>
            <a:ext cx="5971540" cy="7310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140: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semantics </a:t>
            </a:r>
            <a:r>
              <a:rPr dirty="0" sz="1100" spc="-5">
                <a:latin typeface="Times New Roman"/>
                <a:cs typeface="Times New Roman"/>
              </a:rPr>
              <a:t>comes </a:t>
            </a:r>
            <a:r>
              <a:rPr dirty="0" sz="1100">
                <a:latin typeface="Times New Roman"/>
                <a:cs typeface="Times New Roman"/>
              </a:rPr>
              <a:t>from Greece </a:t>
            </a:r>
            <a:r>
              <a:rPr dirty="0" sz="1100" spc="-5">
                <a:latin typeface="Times New Roman"/>
                <a:cs typeface="Times New Roman"/>
              </a:rPr>
              <a:t>word sema </a:t>
            </a:r>
            <a:r>
              <a:rPr dirty="0" sz="1100">
                <a:latin typeface="Times New Roman"/>
                <a:cs typeface="Times New Roman"/>
              </a:rPr>
              <a:t>(noun) </a:t>
            </a:r>
            <a:r>
              <a:rPr dirty="0" sz="1100" spc="-5">
                <a:latin typeface="Times New Roman"/>
                <a:cs typeface="Times New Roman"/>
              </a:rPr>
              <a:t>which means ‘symbol’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‘sign’.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Semaino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‘signify’.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Saussure (1996) states that linguistic sign consists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signifier, </a:t>
            </a:r>
            <a:r>
              <a:rPr dirty="0" sz="1100">
                <a:latin typeface="Times New Roman"/>
                <a:cs typeface="Times New Roman"/>
              </a:rPr>
              <a:t>component,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sort </a:t>
            </a:r>
            <a:r>
              <a:rPr dirty="0" sz="1100">
                <a:latin typeface="Times New Roman"/>
                <a:cs typeface="Times New Roman"/>
              </a:rPr>
              <a:t>of sounds 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signified,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referent outside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Semantics is </a:t>
            </a:r>
            <a:r>
              <a:rPr dirty="0" sz="1100">
                <a:latin typeface="Times New Roman"/>
                <a:cs typeface="Times New Roman"/>
              </a:rPr>
              <a:t>a term </a:t>
            </a:r>
            <a:r>
              <a:rPr dirty="0" sz="1100" spc="-5">
                <a:latin typeface="Times New Roman"/>
                <a:cs typeface="Times New Roman"/>
              </a:rPr>
              <a:t>which is used in linguistics, which studies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Halliday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(1985)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“semantics”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words;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the entire 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expressed by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as well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vocabulary. </a:t>
            </a:r>
            <a:r>
              <a:rPr dirty="0" sz="1100">
                <a:latin typeface="Times New Roman"/>
                <a:cs typeface="Times New Roman"/>
              </a:rPr>
              <a:t> Semantics </a:t>
            </a:r>
            <a:r>
              <a:rPr dirty="0" sz="1100" spc="-5">
                <a:latin typeface="Times New Roman"/>
                <a:cs typeface="Times New Roman"/>
              </a:rPr>
              <a:t>brings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symbols use </a:t>
            </a:r>
            <a:r>
              <a:rPr dirty="0" sz="1100">
                <a:latin typeface="Times New Roman"/>
                <a:cs typeface="Times New Roman"/>
              </a:rPr>
              <a:t>in the language </a:t>
            </a:r>
            <a:r>
              <a:rPr dirty="0" sz="1100" spc="-5">
                <a:latin typeface="Times New Roman"/>
                <a:cs typeface="Times New Roman"/>
              </a:rPr>
              <a:t>and outside the language, but its primary </a:t>
            </a:r>
            <a:r>
              <a:rPr dirty="0" sz="1100">
                <a:latin typeface="Times New Roman"/>
                <a:cs typeface="Times New Roman"/>
              </a:rPr>
              <a:t>concern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 language.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semantics, one is </a:t>
            </a:r>
            <a:r>
              <a:rPr dirty="0" sz="1100" spc="-5">
                <a:latin typeface="Times New Roman"/>
                <a:cs typeface="Times New Roman"/>
              </a:rPr>
              <a:t>trying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explicit meanings, </a:t>
            </a:r>
            <a:r>
              <a:rPr dirty="0" sz="1100">
                <a:latin typeface="Times New Roman"/>
                <a:cs typeface="Times New Roman"/>
              </a:rPr>
              <a:t>i.e., in </a:t>
            </a:r>
            <a:r>
              <a:rPr dirty="0" sz="1100" spc="-5">
                <a:latin typeface="Times New Roman"/>
                <a:cs typeface="Times New Roman"/>
              </a:rPr>
              <a:t>which manner words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>
                <a:latin typeface="Times New Roman"/>
                <a:cs typeface="Times New Roman"/>
              </a:rPr>
              <a:t> speakers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141: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Types of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Times New Roman"/>
              <a:cs typeface="Times New Roman"/>
            </a:endParaRPr>
          </a:p>
          <a:p>
            <a:pPr algn="just" marL="469265" marR="11430" indent="-228600">
              <a:lnSpc>
                <a:spcPct val="1105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Semantics 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 is </a:t>
            </a:r>
            <a:r>
              <a:rPr dirty="0" sz="1100" spc="-5">
                <a:latin typeface="Times New Roman"/>
                <a:cs typeface="Times New Roman"/>
              </a:rPr>
              <a:t>more interest </a:t>
            </a:r>
            <a:r>
              <a:rPr dirty="0" sz="1100">
                <a:latin typeface="Times New Roman"/>
                <a:cs typeface="Times New Roman"/>
              </a:rPr>
              <a:t>in certain </a:t>
            </a:r>
            <a:r>
              <a:rPr dirty="0" sz="1100" spc="-5">
                <a:latin typeface="Times New Roman"/>
                <a:cs typeface="Times New Roman"/>
              </a:rPr>
              <a:t>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meaning </a:t>
            </a:r>
            <a:r>
              <a:rPr dirty="0" sz="1100">
                <a:latin typeface="Times New Roman"/>
                <a:cs typeface="Times New Roman"/>
              </a:rPr>
              <a:t>than in </a:t>
            </a:r>
            <a:r>
              <a:rPr dirty="0" sz="1100" spc="-5">
                <a:latin typeface="Times New Roman"/>
                <a:cs typeface="Times New Roman"/>
              </a:rPr>
              <a:t>others.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different 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meanings. </a:t>
            </a:r>
            <a:r>
              <a:rPr dirty="0" sz="1100">
                <a:latin typeface="Times New Roman"/>
                <a:cs typeface="Times New Roman"/>
              </a:rPr>
              <a:t>We can </a:t>
            </a:r>
            <a:r>
              <a:rPr dirty="0" sz="1100" spc="-5">
                <a:latin typeface="Times New Roman"/>
                <a:cs typeface="Times New Roman"/>
              </a:rPr>
              <a:t>have the following types 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meaning:</a:t>
            </a:r>
            <a:endParaRPr sz="1100">
              <a:latin typeface="Times New Roman"/>
              <a:cs typeface="Times New Roman"/>
            </a:endParaRPr>
          </a:p>
          <a:p>
            <a:pPr algn="just" marL="469265" marR="10160" indent="-228600">
              <a:lnSpc>
                <a:spcPct val="1109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Lexical meaning </a:t>
            </a:r>
            <a:r>
              <a:rPr dirty="0" sz="1100" spc="-5">
                <a:latin typeface="Times New Roman"/>
                <a:cs typeface="Times New Roman"/>
              </a:rPr>
              <a:t>refers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that </a:t>
            </a:r>
            <a:r>
              <a:rPr dirty="0" sz="1100">
                <a:latin typeface="Times New Roman"/>
                <a:cs typeface="Times New Roman"/>
              </a:rPr>
              <a:t>belong to </a:t>
            </a: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four lexical word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>
                <a:latin typeface="Times New Roman"/>
                <a:cs typeface="Times New Roman"/>
              </a:rPr>
              <a:t> in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dictionary.</a:t>
            </a:r>
            <a:endParaRPr sz="1100">
              <a:latin typeface="Times New Roman"/>
              <a:cs typeface="Times New Roman"/>
            </a:endParaRPr>
          </a:p>
          <a:p>
            <a:pPr algn="just" marL="469265" marR="6985" indent="-228600">
              <a:lnSpc>
                <a:spcPct val="1105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Grammatical meaning </a:t>
            </a:r>
            <a:r>
              <a:rPr dirty="0" sz="1100" spc="-5">
                <a:latin typeface="Times New Roman"/>
                <a:cs typeface="Times New Roman"/>
              </a:rPr>
              <a:t>includes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grammatical items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function words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 affixes), grammatical functions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subject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object), and different sentence-types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(e.g.,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declarative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interrogative).</a:t>
            </a:r>
            <a:endParaRPr sz="1100">
              <a:latin typeface="Times New Roman"/>
              <a:cs typeface="Times New Roman"/>
            </a:endParaRPr>
          </a:p>
          <a:p>
            <a:pPr algn="just" marL="469265" marR="889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Taking </a:t>
            </a:r>
            <a:r>
              <a:rPr dirty="0" sz="1100" spc="-5">
                <a:latin typeface="Times New Roman"/>
                <a:cs typeface="Times New Roman"/>
              </a:rPr>
              <a:t>into account certain non-linguistic 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meaning, Geoffrey </a:t>
            </a:r>
            <a:r>
              <a:rPr dirty="0" sz="1100">
                <a:latin typeface="Times New Roman"/>
                <a:cs typeface="Times New Roman"/>
              </a:rPr>
              <a:t>Leech (1981) </a:t>
            </a:r>
            <a:r>
              <a:rPr dirty="0" sz="1100" spc="-5">
                <a:latin typeface="Times New Roman"/>
                <a:cs typeface="Times New Roman"/>
              </a:rPr>
              <a:t>lists seven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 algn="just" marL="469265" marR="889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Referential </a:t>
            </a:r>
            <a:r>
              <a:rPr dirty="0" sz="1100" b="1">
                <a:latin typeface="Times New Roman"/>
                <a:cs typeface="Times New Roman"/>
              </a:rPr>
              <a:t>meaning </a:t>
            </a:r>
            <a:r>
              <a:rPr dirty="0" sz="1100" spc="-5">
                <a:latin typeface="Times New Roman"/>
                <a:cs typeface="Times New Roman"/>
              </a:rPr>
              <a:t>(also called denotative meaning, descriptive meaning, </a:t>
            </a:r>
            <a:r>
              <a:rPr dirty="0" sz="1100">
                <a:latin typeface="Times New Roman"/>
                <a:cs typeface="Times New Roman"/>
              </a:rPr>
              <a:t>conceptual </a:t>
            </a:r>
            <a:r>
              <a:rPr dirty="0" sz="1100" spc="-5">
                <a:latin typeface="Times New Roman"/>
                <a:cs typeface="Times New Roman"/>
              </a:rPr>
              <a:t>meaning, 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sense)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denotative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-5">
                <a:latin typeface="Times New Roman"/>
                <a:cs typeface="Times New Roman"/>
              </a:rPr>
              <a:t> expression.</a:t>
            </a:r>
            <a:endParaRPr sz="1100">
              <a:latin typeface="Times New Roman"/>
              <a:cs typeface="Times New Roman"/>
            </a:endParaRPr>
          </a:p>
          <a:p>
            <a:pPr algn="just" marL="469265" marR="698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Connotative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meaning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(associative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meaning)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denotes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secondary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expression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evokes.</a:t>
            </a:r>
            <a:endParaRPr sz="1100">
              <a:latin typeface="Times New Roman"/>
              <a:cs typeface="Times New Roman"/>
            </a:endParaRPr>
          </a:p>
          <a:p>
            <a:pPr algn="just" marL="469265" marR="952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Social meaning </a:t>
            </a:r>
            <a:r>
              <a:rPr dirty="0" sz="1100" spc="-5">
                <a:latin typeface="Times New Roman"/>
                <a:cs typeface="Times New Roman"/>
              </a:rPr>
              <a:t>(stylistic meaning)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information that the linguistic expression conveys about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 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characteristics.</a:t>
            </a:r>
            <a:endParaRPr sz="110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Emotive </a:t>
            </a:r>
            <a:r>
              <a:rPr dirty="0" sz="1100" b="1">
                <a:latin typeface="Times New Roman"/>
                <a:cs typeface="Times New Roman"/>
              </a:rPr>
              <a:t>or </a:t>
            </a:r>
            <a:r>
              <a:rPr dirty="0" sz="1100" spc="-5" b="1">
                <a:latin typeface="Times New Roman"/>
                <a:cs typeface="Times New Roman"/>
              </a:rPr>
              <a:t>affective </a:t>
            </a:r>
            <a:r>
              <a:rPr dirty="0" sz="1100" spc="-5">
                <a:latin typeface="Times New Roman"/>
                <a:cs typeface="Times New Roman"/>
              </a:rPr>
              <a:t>component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expression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referred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 its affective meaning. </a:t>
            </a:r>
            <a:r>
              <a:rPr dirty="0" sz="1100" spc="5">
                <a:latin typeface="Times New Roman"/>
                <a:cs typeface="Times New Roman"/>
              </a:rPr>
              <a:t>Social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affective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connotation.</a:t>
            </a:r>
            <a:endParaRPr sz="1100">
              <a:latin typeface="Times New Roman"/>
              <a:cs typeface="Times New Roman"/>
            </a:endParaRPr>
          </a:p>
          <a:p>
            <a:pPr algn="just" marL="469265" marR="889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Reflected meaning </a:t>
            </a:r>
            <a:r>
              <a:rPr dirty="0" sz="1100" spc="-5">
                <a:latin typeface="Times New Roman"/>
                <a:cs typeface="Times New Roman"/>
              </a:rPr>
              <a:t>refers </a:t>
            </a:r>
            <a:r>
              <a:rPr dirty="0" sz="1100">
                <a:latin typeface="Times New Roman"/>
                <a:cs typeface="Times New Roman"/>
              </a:rPr>
              <a:t>to certain </a:t>
            </a:r>
            <a:r>
              <a:rPr dirty="0" sz="1100" spc="-5">
                <a:latin typeface="Times New Roman"/>
                <a:cs typeface="Times New Roman"/>
              </a:rPr>
              <a:t>associations with </a:t>
            </a:r>
            <a:r>
              <a:rPr dirty="0" sz="1100">
                <a:latin typeface="Times New Roman"/>
                <a:cs typeface="Times New Roman"/>
              </a:rPr>
              <a:t>another </a:t>
            </a:r>
            <a:r>
              <a:rPr dirty="0" sz="1100" spc="-5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expression,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collocative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(collocation)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combinations.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Thematic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meaning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denotes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organization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58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142: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Conceptual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or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Denotative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Conceptual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denotative meaning </a:t>
            </a:r>
            <a:r>
              <a:rPr dirty="0" sz="1100">
                <a:latin typeface="Times New Roman"/>
                <a:cs typeface="Times New Roman"/>
              </a:rPr>
              <a:t>covers </a:t>
            </a:r>
            <a:r>
              <a:rPr dirty="0" sz="1100" spc="-5">
                <a:latin typeface="Times New Roman"/>
                <a:cs typeface="Times New Roman"/>
              </a:rPr>
              <a:t>those basic, essential </a:t>
            </a:r>
            <a:r>
              <a:rPr dirty="0" sz="1100">
                <a:latin typeface="Times New Roman"/>
                <a:cs typeface="Times New Roman"/>
              </a:rPr>
              <a:t>components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are conveyed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literal 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dictionaries are designed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 spc="-10">
                <a:latin typeface="Times New Roman"/>
                <a:cs typeface="Times New Roman"/>
              </a:rPr>
              <a:t>like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‘needle’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 </a:t>
            </a:r>
            <a:r>
              <a:rPr dirty="0" sz="1100" spc="-5">
                <a:latin typeface="Times New Roman"/>
                <a:cs typeface="Times New Roman"/>
              </a:rPr>
              <a:t>“thin, sharp,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steel instrument.” 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conceptual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needle.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have different associations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connotations attached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like needle. They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 associate it with “pain,”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“illness,”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“blood,”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“drugs,”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“thread,”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“knitting,”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“hard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ﬁnd”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(especially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haystack),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</a:t>
            </a:r>
            <a:r>
              <a:rPr dirty="0" sz="1100">
                <a:latin typeface="Times New Roman"/>
                <a:cs typeface="Times New Roman"/>
              </a:rPr>
              <a:t> from one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next.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associations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 treated as 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word’s conceptual meaning.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similar way,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associate the </a:t>
            </a:r>
            <a:r>
              <a:rPr dirty="0" sz="1100" spc="-5">
                <a:latin typeface="Times New Roman"/>
                <a:cs typeface="Times New Roman"/>
              </a:rPr>
              <a:t>expression low-calorie, when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5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product, with “healthy,” but this </a:t>
            </a:r>
            <a:r>
              <a:rPr dirty="0" sz="1100">
                <a:latin typeface="Times New Roman"/>
                <a:cs typeface="Times New Roman"/>
              </a:rPr>
              <a:t> is not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basic conceptual 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expression </a:t>
            </a:r>
            <a:r>
              <a:rPr dirty="0" sz="1100" spc="5">
                <a:latin typeface="Times New Roman"/>
                <a:cs typeface="Times New Roman"/>
              </a:rPr>
              <a:t>(i.e., </a:t>
            </a:r>
            <a:r>
              <a:rPr dirty="0" sz="1100" spc="-5">
                <a:latin typeface="Times New Roman"/>
                <a:cs typeface="Times New Roman"/>
              </a:rPr>
              <a:t>“producing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 amount </a:t>
            </a:r>
            <a:r>
              <a:rPr dirty="0" sz="1100">
                <a:latin typeface="Times New Roman"/>
                <a:cs typeface="Times New Roman"/>
              </a:rPr>
              <a:t>of heat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energy”).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Poets,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song-writers,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novelists,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critics,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advertisers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interested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words can </a:t>
            </a:r>
            <a:r>
              <a:rPr dirty="0" sz="1100" spc="-5">
                <a:latin typeface="Times New Roman"/>
                <a:cs typeface="Times New Roman"/>
              </a:rPr>
              <a:t>evoke </a:t>
            </a:r>
            <a:r>
              <a:rPr dirty="0" sz="1100">
                <a:latin typeface="Times New Roman"/>
                <a:cs typeface="Times New Roman"/>
              </a:rPr>
              <a:t>certain </a:t>
            </a:r>
            <a:r>
              <a:rPr dirty="0" sz="1100" spc="-5">
                <a:latin typeface="Times New Roman"/>
                <a:cs typeface="Times New Roman"/>
              </a:rPr>
              <a:t>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associative meaning, </a:t>
            </a:r>
            <a:r>
              <a:rPr dirty="0" sz="1100">
                <a:latin typeface="Times New Roman"/>
                <a:cs typeface="Times New Roman"/>
              </a:rPr>
              <a:t>but in </a:t>
            </a:r>
            <a:r>
              <a:rPr dirty="0" sz="1100" spc="-5">
                <a:latin typeface="Times New Roman"/>
                <a:cs typeface="Times New Roman"/>
              </a:rPr>
              <a:t>linguistic semantics we’re more </a:t>
            </a:r>
            <a:r>
              <a:rPr dirty="0" sz="1100">
                <a:latin typeface="Times New Roman"/>
                <a:cs typeface="Times New Roman"/>
              </a:rPr>
              <a:t> concerned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conceptual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143:</a:t>
            </a:r>
            <a:r>
              <a:rPr dirty="0" u="heavy" sz="1100" spc="5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Associative or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Connotative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Connotative meaning is what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think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two words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find whether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possible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impossible for the word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two different meanings </a:t>
            </a:r>
            <a:r>
              <a:rPr dirty="0" sz="1100">
                <a:latin typeface="Times New Roman"/>
                <a:cs typeface="Times New Roman"/>
              </a:rPr>
              <a:t>from its </a:t>
            </a:r>
            <a:r>
              <a:rPr dirty="0" sz="1100" spc="-5">
                <a:latin typeface="Times New Roman"/>
                <a:cs typeface="Times New Roman"/>
              </a:rPr>
              <a:t>denotative meaning. Based </a:t>
            </a:r>
            <a:r>
              <a:rPr dirty="0" sz="1100">
                <a:latin typeface="Times New Roman"/>
                <a:cs typeface="Times New Roman"/>
              </a:rPr>
              <a:t>on it,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depends on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Sometimes,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 when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both positive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negative sense value,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connotative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word.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also </a:t>
            </a:r>
            <a:r>
              <a:rPr dirty="0" sz="1100" spc="-5">
                <a:latin typeface="Times New Roman"/>
                <a:cs typeface="Times New Roman"/>
              </a:rPr>
              <a:t>pointed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that connotation meaning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subjective,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notion that there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shift 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common meaning </a:t>
            </a:r>
            <a:r>
              <a:rPr dirty="0" sz="1100">
                <a:latin typeface="Times New Roman"/>
                <a:cs typeface="Times New Roman"/>
              </a:rPr>
              <a:t>because it has </a:t>
            </a:r>
            <a:r>
              <a:rPr dirty="0" sz="1100" spc="-5">
                <a:latin typeface="Times New Roman"/>
                <a:cs typeface="Times New Roman"/>
              </a:rPr>
              <a:t>been added </a:t>
            </a:r>
            <a:r>
              <a:rPr dirty="0" sz="1100">
                <a:latin typeface="Times New Roman"/>
                <a:cs typeface="Times New Roman"/>
              </a:rPr>
              <a:t>by sense </a:t>
            </a:r>
            <a:r>
              <a:rPr dirty="0" sz="1100" spc="1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certain value, for example, bookworm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person who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>
                <a:latin typeface="Times New Roman"/>
                <a:cs typeface="Times New Roman"/>
              </a:rPr>
              <a:t> read </a:t>
            </a:r>
            <a:r>
              <a:rPr dirty="0" sz="1100" spc="-5">
                <a:latin typeface="Times New Roman"/>
                <a:cs typeface="Times New Roman"/>
              </a:rPr>
              <a:t>books,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>
                <a:latin typeface="Times New Roman"/>
                <a:cs typeface="Times New Roman"/>
              </a:rPr>
              <a:t> sense.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Connotative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is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expression has,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virtue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it </a:t>
            </a:r>
            <a:r>
              <a:rPr dirty="0" sz="1100">
                <a:latin typeface="Times New Roman"/>
                <a:cs typeface="Times New Roman"/>
              </a:rPr>
              <a:t> refers to, </a:t>
            </a:r>
            <a:r>
              <a:rPr dirty="0" sz="1100" spc="-5">
                <a:latin typeface="Times New Roman"/>
                <a:cs typeface="Times New Roman"/>
              </a:rPr>
              <a:t>over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above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purely </a:t>
            </a:r>
            <a:r>
              <a:rPr dirty="0" sz="1100">
                <a:latin typeface="Times New Roman"/>
                <a:cs typeface="Times New Roman"/>
              </a:rPr>
              <a:t>conceptual </a:t>
            </a:r>
            <a:r>
              <a:rPr dirty="0" sz="1100" spc="-5">
                <a:latin typeface="Times New Roman"/>
                <a:cs typeface="Times New Roman"/>
              </a:rPr>
              <a:t>content.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vary </a:t>
            </a:r>
            <a:r>
              <a:rPr dirty="0" sz="1100">
                <a:latin typeface="Times New Roman"/>
                <a:cs typeface="Times New Roman"/>
              </a:rPr>
              <a:t>from age to </a:t>
            </a:r>
            <a:r>
              <a:rPr dirty="0" sz="1100" spc="-5">
                <a:latin typeface="Times New Roman"/>
                <a:cs typeface="Times New Roman"/>
              </a:rPr>
              <a:t>age, </a:t>
            </a:r>
            <a:r>
              <a:rPr dirty="0" sz="1100">
                <a:latin typeface="Times New Roman"/>
                <a:cs typeface="Times New Roman"/>
              </a:rPr>
              <a:t>from society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144: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Prepositional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Propositional meaning is the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that comes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context within which the </a:t>
            </a:r>
            <a:r>
              <a:rPr dirty="0" sz="1100">
                <a:latin typeface="Times New Roman"/>
                <a:cs typeface="Times New Roman"/>
              </a:rPr>
              <a:t> sentence </a:t>
            </a:r>
            <a:r>
              <a:rPr dirty="0" sz="1100" spc="-5">
                <a:latin typeface="Times New Roman"/>
                <a:cs typeface="Times New Roman"/>
              </a:rPr>
              <a:t>is used. Another distinction that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been made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'linguistic meaning' which is different </a:t>
            </a:r>
            <a:r>
              <a:rPr dirty="0" sz="1100">
                <a:latin typeface="Times New Roman"/>
                <a:cs typeface="Times New Roman"/>
              </a:rPr>
              <a:t> from a </a:t>
            </a:r>
            <a:r>
              <a:rPr dirty="0" sz="1100" spc="-5">
                <a:latin typeface="Times New Roman"/>
                <a:cs typeface="Times New Roman"/>
              </a:rPr>
              <a:t>proposition,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carry </a:t>
            </a:r>
            <a:r>
              <a:rPr dirty="0" sz="1100">
                <a:latin typeface="Times New Roman"/>
                <a:cs typeface="Times New Roman"/>
              </a:rPr>
              <a:t>truth-value. </a:t>
            </a:r>
            <a:r>
              <a:rPr dirty="0" sz="1100" spc="-5">
                <a:latin typeface="Times New Roman"/>
                <a:cs typeface="Times New Roman"/>
              </a:rPr>
              <a:t>E.g., </a:t>
            </a:r>
            <a:r>
              <a:rPr dirty="0" sz="1100">
                <a:latin typeface="Times New Roman"/>
                <a:cs typeface="Times New Roman"/>
              </a:rPr>
              <a:t>Mary </a:t>
            </a:r>
            <a:r>
              <a:rPr dirty="0" sz="1100" spc="-5">
                <a:latin typeface="Times New Roman"/>
                <a:cs typeface="Times New Roman"/>
              </a:rPr>
              <a:t>loves </a:t>
            </a:r>
            <a:r>
              <a:rPr dirty="0" sz="1100">
                <a:latin typeface="Times New Roman"/>
                <a:cs typeface="Times New Roman"/>
              </a:rPr>
              <a:t>Carl’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as ‘Mary </a:t>
            </a:r>
            <a:r>
              <a:rPr dirty="0" sz="1100" spc="-5">
                <a:latin typeface="Times New Roman"/>
                <a:cs typeface="Times New Roman"/>
              </a:rPr>
              <a:t>ama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Carl.’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Spanish speaker then fully understands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linguistic 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‘Mary </a:t>
            </a:r>
            <a:r>
              <a:rPr dirty="0" sz="1100" spc="5">
                <a:latin typeface="Times New Roman"/>
                <a:cs typeface="Times New Roman"/>
              </a:rPr>
              <a:t>loves </a:t>
            </a:r>
            <a:r>
              <a:rPr dirty="0" sz="1100" spc="-5">
                <a:latin typeface="Times New Roman"/>
                <a:cs typeface="Times New Roman"/>
              </a:rPr>
              <a:t>Carl’ but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needing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any proposition, any </a:t>
            </a:r>
            <a:r>
              <a:rPr dirty="0" sz="1100" spc="-5">
                <a:latin typeface="Times New Roman"/>
                <a:cs typeface="Times New Roman"/>
              </a:rPr>
              <a:t>truth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falsehood, which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English sentence has ever </a:t>
            </a:r>
            <a:r>
              <a:rPr dirty="0" sz="1100">
                <a:latin typeface="Times New Roman"/>
                <a:cs typeface="Times New Roman"/>
              </a:rPr>
              <a:t> expressed. The </a:t>
            </a:r>
            <a:r>
              <a:rPr dirty="0" sz="1100" spc="-5">
                <a:latin typeface="Times New Roman"/>
                <a:cs typeface="Times New Roman"/>
              </a:rPr>
              <a:t>linguistic meaning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declarative </a:t>
            </a:r>
            <a:r>
              <a:rPr dirty="0" sz="1100">
                <a:latin typeface="Times New Roman"/>
                <a:cs typeface="Times New Roman"/>
              </a:rPr>
              <a:t>sentence is </a:t>
            </a:r>
            <a:r>
              <a:rPr dirty="0" sz="1100" spc="-5">
                <a:latin typeface="Times New Roman"/>
                <a:cs typeface="Times New Roman"/>
              </a:rPr>
              <a:t>distinct 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proposition expressed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on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occasion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sentence’s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596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350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Propositions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false.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selfhood,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actions.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behaviour,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propositions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complete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clauses).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proposition. </a:t>
            </a:r>
            <a:r>
              <a:rPr dirty="0" sz="1100">
                <a:latin typeface="Times New Roman"/>
                <a:cs typeface="Times New Roman"/>
              </a:rPr>
              <a:t> “A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jeep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crashed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barrier”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topic/subject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(“a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jeep”)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conceptually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verifiable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Sarah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jeep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crashed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barrier.”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“Sarah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jeep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crashed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barrier.”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Each of </a:t>
            </a:r>
            <a:r>
              <a:rPr dirty="0" sz="1100" spc="-5">
                <a:latin typeface="Times New Roman"/>
                <a:cs typeface="Times New Roman"/>
              </a:rPr>
              <a:t>these sentences contains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embedded clause, e.g., </a:t>
            </a:r>
            <a:r>
              <a:rPr dirty="0" sz="1100">
                <a:latin typeface="Times New Roman"/>
                <a:cs typeface="Times New Roman"/>
              </a:rPr>
              <a:t>“[Sarah </a:t>
            </a:r>
            <a:r>
              <a:rPr dirty="0" sz="1100" spc="-5">
                <a:latin typeface="Times New Roman"/>
                <a:cs typeface="Times New Roman"/>
              </a:rPr>
              <a:t>realizes [that </a:t>
            </a:r>
            <a:r>
              <a:rPr dirty="0" sz="1100">
                <a:latin typeface="Times New Roman"/>
                <a:cs typeface="Times New Roman"/>
              </a:rPr>
              <a:t>a jeep </a:t>
            </a:r>
            <a:r>
              <a:rPr dirty="0" sz="1100" spc="-5">
                <a:latin typeface="Times New Roman"/>
                <a:cs typeface="Times New Roman"/>
              </a:rPr>
              <a:t>crashed </a:t>
            </a:r>
            <a:r>
              <a:rPr dirty="0" sz="1100">
                <a:latin typeface="Times New Roman"/>
                <a:cs typeface="Times New Roman"/>
              </a:rPr>
              <a:t> into a </a:t>
            </a:r>
            <a:r>
              <a:rPr dirty="0" sz="1100" spc="-5">
                <a:latin typeface="Times New Roman"/>
                <a:cs typeface="Times New Roman"/>
              </a:rPr>
              <a:t>barrier]]”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embedded content is dependent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verb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superordinate </a:t>
            </a:r>
            <a:r>
              <a:rPr dirty="0" sz="1100">
                <a:latin typeface="Times New Roman"/>
                <a:cs typeface="Times New Roman"/>
              </a:rPr>
              <a:t>clause. </a:t>
            </a:r>
            <a:r>
              <a:rPr dirty="0" sz="1100" spc="-5">
                <a:latin typeface="Times New Roman"/>
                <a:cs typeface="Times New Roman"/>
              </a:rPr>
              <a:t>Mental state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categorized as factive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‘realize’, ‘regret’,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‘know’)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non-factive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‘believe’,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‘think’,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‘assume’).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factive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‘Sarah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jeep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crashed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barrier’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true, the </a:t>
            </a:r>
            <a:r>
              <a:rPr dirty="0" sz="1100">
                <a:latin typeface="Times New Roman"/>
                <a:cs typeface="Times New Roman"/>
              </a:rPr>
              <a:t>jeep </a:t>
            </a:r>
            <a:r>
              <a:rPr dirty="0" sz="1100" spc="-5">
                <a:latin typeface="Times New Roman"/>
                <a:cs typeface="Times New Roman"/>
              </a:rPr>
              <a:t>must have </a:t>
            </a:r>
            <a:r>
              <a:rPr dirty="0" sz="1100">
                <a:latin typeface="Times New Roman"/>
                <a:cs typeface="Times New Roman"/>
              </a:rPr>
              <a:t>crashed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barrier </a:t>
            </a:r>
            <a:r>
              <a:rPr dirty="0" sz="1100">
                <a:latin typeface="Times New Roman"/>
                <a:cs typeface="Times New Roman"/>
              </a:rPr>
              <a:t>and Sarah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certain about it.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non-factive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 ‘Sarah thinks that </a:t>
            </a:r>
            <a:r>
              <a:rPr dirty="0" sz="1100">
                <a:latin typeface="Times New Roman"/>
                <a:cs typeface="Times New Roman"/>
              </a:rPr>
              <a:t>a jeep </a:t>
            </a:r>
            <a:r>
              <a:rPr dirty="0" sz="1100" spc="-5">
                <a:latin typeface="Times New Roman"/>
                <a:cs typeface="Times New Roman"/>
              </a:rPr>
              <a:t>crashed into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barrier’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true,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does not </a:t>
            </a:r>
            <a:r>
              <a:rPr dirty="0" sz="1100" spc="-5">
                <a:latin typeface="Times New Roman"/>
                <a:cs typeface="Times New Roman"/>
              </a:rPr>
              <a:t>actually matter whether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accident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happened.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Sarah’s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world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Propositional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that comes </a:t>
            </a:r>
            <a:r>
              <a:rPr dirty="0" sz="1100">
                <a:latin typeface="Times New Roman"/>
                <a:cs typeface="Times New Roman"/>
              </a:rPr>
              <a:t>from the context </a:t>
            </a:r>
            <a:r>
              <a:rPr dirty="0" sz="1100" spc="-5">
                <a:latin typeface="Times New Roman"/>
                <a:cs typeface="Times New Roman"/>
              </a:rPr>
              <a:t>within which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>
                <a:latin typeface="Times New Roman"/>
                <a:cs typeface="Times New Roman"/>
              </a:rPr>
              <a:t>is used independent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context.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Prosodic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Prosody 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the tune and </a:t>
            </a:r>
            <a:r>
              <a:rPr dirty="0" sz="1100" spc="-5">
                <a:latin typeface="Times New Roman"/>
                <a:cs typeface="Times New Roman"/>
              </a:rPr>
              <a:t>rhythm </a:t>
            </a:r>
            <a:r>
              <a:rPr dirty="0" sz="1100">
                <a:latin typeface="Times New Roman"/>
                <a:cs typeface="Times New Roman"/>
              </a:rPr>
              <a:t>of speech, and the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contribute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 </a:t>
            </a:r>
            <a:r>
              <a:rPr dirty="0" sz="1100">
                <a:latin typeface="Times New Roman"/>
                <a:cs typeface="Times New Roman"/>
              </a:rPr>
              <a:t>Prosody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apply to a </a:t>
            </a:r>
            <a:r>
              <a:rPr dirty="0" sz="1100" spc="-5">
                <a:latin typeface="Times New Roman"/>
                <a:cs typeface="Times New Roman"/>
              </a:rPr>
              <a:t>level above that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individual phoneme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often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sequences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 </a:t>
            </a:r>
            <a:r>
              <a:rPr dirty="0" sz="1100">
                <a:latin typeface="Times New Roman"/>
                <a:cs typeface="Times New Roman"/>
              </a:rPr>
              <a:t>levels </a:t>
            </a:r>
            <a:r>
              <a:rPr dirty="0" sz="1100" spc="-5">
                <a:latin typeface="Times New Roman"/>
                <a:cs typeface="Times New Roman"/>
              </a:rPr>
              <a:t>of 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described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as;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Linguistic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Paralinguistic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5">
                <a:latin typeface="Times New Roman"/>
                <a:cs typeface="Times New Roman"/>
              </a:rPr>
              <a:t> may </a:t>
            </a:r>
            <a:r>
              <a:rPr dirty="0" sz="1100">
                <a:latin typeface="Times New Roman"/>
                <a:cs typeface="Times New Roman"/>
              </a:rPr>
              <a:t>indicate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algn="just" marL="469265" marR="1016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Non-linguistic </a:t>
            </a:r>
            <a:r>
              <a:rPr dirty="0" sz="1100">
                <a:latin typeface="Times New Roman"/>
                <a:cs typeface="Times New Roman"/>
              </a:rPr>
              <a:t>-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indicate </a:t>
            </a:r>
            <a:r>
              <a:rPr dirty="0" sz="1100" spc="-5">
                <a:latin typeface="Times New Roman"/>
                <a:cs typeface="Times New Roman"/>
              </a:rPr>
              <a:t>something </a:t>
            </a:r>
            <a:r>
              <a:rPr dirty="0" sz="1100">
                <a:latin typeface="Times New Roman"/>
                <a:cs typeface="Times New Roman"/>
              </a:rPr>
              <a:t>about a </a:t>
            </a:r>
            <a:r>
              <a:rPr dirty="0" sz="1100" spc="-5">
                <a:latin typeface="Times New Roman"/>
                <a:cs typeface="Times New Roman"/>
              </a:rPr>
              <a:t>speaker's vocal physiology, </a:t>
            </a:r>
            <a:r>
              <a:rPr dirty="0" sz="1100">
                <a:latin typeface="Times New Roman"/>
                <a:cs typeface="Times New Roman"/>
              </a:rPr>
              <a:t>state of </a:t>
            </a:r>
            <a:r>
              <a:rPr dirty="0" sz="1100" spc="-5">
                <a:latin typeface="Times New Roman"/>
                <a:cs typeface="Times New Roman"/>
              </a:rPr>
              <a:t>health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linguistics, prosody is concerned with properties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syllables and larger units </a:t>
            </a:r>
            <a:r>
              <a:rPr dirty="0" sz="1100" spc="2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speech.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linguistic functions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intonation, tone, stress,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rhythm. </a:t>
            </a:r>
            <a:r>
              <a:rPr dirty="0" sz="1100">
                <a:latin typeface="Times New Roman"/>
                <a:cs typeface="Times New Roman"/>
              </a:rPr>
              <a:t>Prosody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reflect </a:t>
            </a:r>
            <a:r>
              <a:rPr dirty="0" sz="1100" spc="-5">
                <a:latin typeface="Times New Roman"/>
                <a:cs typeface="Times New Roman"/>
              </a:rPr>
              <a:t>various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or the </a:t>
            </a:r>
            <a:r>
              <a:rPr dirty="0" sz="1100" spc="-5">
                <a:latin typeface="Times New Roman"/>
                <a:cs typeface="Times New Roman"/>
              </a:rPr>
              <a:t>utterance: The emotional state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speaker; the </a:t>
            </a:r>
            <a:r>
              <a:rPr dirty="0" sz="1100">
                <a:latin typeface="Times New Roman"/>
                <a:cs typeface="Times New Roman"/>
              </a:rPr>
              <a:t>form of the </a:t>
            </a:r>
            <a:r>
              <a:rPr dirty="0" sz="1100" spc="-5">
                <a:latin typeface="Times New Roman"/>
                <a:cs typeface="Times New Roman"/>
              </a:rPr>
              <a:t>utterance </a:t>
            </a:r>
            <a:r>
              <a:rPr dirty="0" sz="1100">
                <a:latin typeface="Times New Roman"/>
                <a:cs typeface="Times New Roman"/>
              </a:rPr>
              <a:t> (statement, </a:t>
            </a:r>
            <a:r>
              <a:rPr dirty="0" sz="1100" spc="-5">
                <a:latin typeface="Times New Roman"/>
                <a:cs typeface="Times New Roman"/>
              </a:rPr>
              <a:t>question,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command);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presence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irony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sarcasm;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emphasis,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focus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encoded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vocabulary.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792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5595" marR="5080" indent="4880610">
              <a:lnSpc>
                <a:spcPct val="11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Le</a:t>
            </a:r>
            <a:r>
              <a:rPr dirty="0" sz="1400" spc="-1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s</a:t>
            </a:r>
            <a:r>
              <a:rPr dirty="0" sz="1400" b="1">
                <a:latin typeface="Times New Roman"/>
                <a:cs typeface="Times New Roman"/>
              </a:rPr>
              <a:t>o</a:t>
            </a:r>
            <a:r>
              <a:rPr dirty="0" sz="1400" b="1">
                <a:latin typeface="Times New Roman"/>
                <a:cs typeface="Times New Roman"/>
              </a:rPr>
              <a:t>n</a:t>
            </a:r>
            <a:r>
              <a:rPr dirty="0" sz="1400" spc="-15" b="1">
                <a:latin typeface="Times New Roman"/>
                <a:cs typeface="Times New Roman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26  </a:t>
            </a:r>
            <a:r>
              <a:rPr dirty="0" sz="1400" spc="-5" b="1">
                <a:latin typeface="Times New Roman"/>
                <a:cs typeface="Times New Roman"/>
              </a:rPr>
              <a:t>SEMANTICS</a:t>
            </a:r>
            <a:r>
              <a:rPr dirty="0" sz="1400" b="1">
                <a:latin typeface="Times New Roman"/>
                <a:cs typeface="Times New Roman"/>
              </a:rPr>
              <a:t> II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(SEMANTIC FEATURES</a:t>
            </a:r>
            <a:r>
              <a:rPr dirty="0" sz="1400" b="1">
                <a:latin typeface="Times New Roman"/>
                <a:cs typeface="Times New Roman"/>
              </a:rPr>
              <a:t> and </a:t>
            </a:r>
            <a:r>
              <a:rPr dirty="0" sz="1400" spc="-5" b="1">
                <a:latin typeface="Times New Roman"/>
                <a:cs typeface="Times New Roman"/>
              </a:rPr>
              <a:t>SEMANTIC </a:t>
            </a:r>
            <a:r>
              <a:rPr dirty="0" sz="1400" b="1">
                <a:latin typeface="Times New Roman"/>
                <a:cs typeface="Times New Roman"/>
              </a:rPr>
              <a:t>ROLES)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146: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Semantic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06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conceptual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helpful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accounting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‘oddness’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such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hamburger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ate the boy.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radio.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reading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newspaper.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oddness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887094" marR="3571240" indent="-36830">
              <a:lnSpc>
                <a:spcPts val="1460"/>
              </a:lnSpc>
              <a:spcBef>
                <a:spcPts val="65"/>
              </a:spcBef>
              <a:tabLst>
                <a:tab pos="1482725" algn="l"/>
                <a:tab pos="197612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hamburger </a:t>
            </a:r>
            <a:r>
              <a:rPr dirty="0" sz="1100">
                <a:latin typeface="Times New Roman"/>
                <a:cs typeface="Times New Roman"/>
              </a:rPr>
              <a:t>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	</a:t>
            </a:r>
            <a:r>
              <a:rPr dirty="0" sz="1100">
                <a:latin typeface="Times New Roman"/>
                <a:cs typeface="Times New Roman"/>
              </a:rPr>
              <a:t>VP	</a:t>
            </a:r>
            <a:r>
              <a:rPr dirty="0" sz="1100" spc="-5">
                <a:latin typeface="Times New Roman"/>
                <a:cs typeface="Times New Roman"/>
              </a:rPr>
              <a:t>NP</a:t>
            </a:r>
            <a:endParaRPr sz="1100">
              <a:latin typeface="Times New Roman"/>
              <a:cs typeface="Times New Roman"/>
            </a:endParaRPr>
          </a:p>
          <a:p>
            <a:pPr algn="r" marR="36068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hamburger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components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conceptual 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noun hamburger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signiﬁcantly different </a:t>
            </a:r>
            <a:r>
              <a:rPr dirty="0" sz="1100">
                <a:latin typeface="Times New Roman"/>
                <a:cs typeface="Times New Roman"/>
              </a:rPr>
              <a:t> from those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noun boy.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kind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can be the </a:t>
            </a:r>
            <a:r>
              <a:rPr dirty="0" sz="1100" spc="-5">
                <a:latin typeface="Times New Roman"/>
                <a:cs typeface="Times New Roman"/>
              </a:rPr>
              <a:t>subject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verb ate must </a:t>
            </a:r>
            <a:r>
              <a:rPr dirty="0" sz="1100">
                <a:latin typeface="Times New Roman"/>
                <a:cs typeface="Times New Roman"/>
              </a:rPr>
              <a:t>denote </a:t>
            </a:r>
            <a:r>
              <a:rPr dirty="0" sz="1100" spc="-5">
                <a:latin typeface="Times New Roman"/>
                <a:cs typeface="Times New Roman"/>
              </a:rPr>
              <a:t>an entity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is </a:t>
            </a:r>
            <a:r>
              <a:rPr dirty="0" sz="1100">
                <a:latin typeface="Times New Roman"/>
                <a:cs typeface="Times New Roman"/>
              </a:rPr>
              <a:t>capable of </a:t>
            </a:r>
            <a:r>
              <a:rPr dirty="0" sz="1100" spc="-5">
                <a:latin typeface="Times New Roman"/>
                <a:cs typeface="Times New Roman"/>
              </a:rPr>
              <a:t>‘eating’.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noun hamburger does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5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property </a:t>
            </a:r>
            <a:r>
              <a:rPr dirty="0" sz="1100">
                <a:latin typeface="Times New Roman"/>
                <a:cs typeface="Times New Roman"/>
              </a:rPr>
              <a:t>and the noun boy does.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crucial element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feature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that any noun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in order to 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subject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verb</a:t>
            </a:r>
            <a:r>
              <a:rPr dirty="0" sz="1100">
                <a:latin typeface="Times New Roman"/>
                <a:cs typeface="Times New Roman"/>
              </a:rPr>
              <a:t> ate.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‘animate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(+)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not having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(−)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boy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‘+animate’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denotes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being)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hamburger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‘−animate’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(=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denote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animate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algn="r" marR="355346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 </a:t>
            </a:r>
            <a:r>
              <a:rPr dirty="0" sz="1100" spc="-5">
                <a:latin typeface="Times New Roman"/>
                <a:cs typeface="Times New Roman"/>
              </a:rPr>
              <a:t>[+human]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reading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newspaper.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This approach would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>
                <a:latin typeface="Times New Roman"/>
                <a:cs typeface="Times New Roman"/>
              </a:rPr>
              <a:t>us the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predict </a:t>
            </a:r>
            <a:r>
              <a:rPr dirty="0" sz="110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nouns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sentence semantically </a:t>
            </a:r>
            <a:r>
              <a:rPr dirty="0" sz="1100">
                <a:latin typeface="Times New Roman"/>
                <a:cs typeface="Times New Roman"/>
              </a:rPr>
              <a:t> odd.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 of </a:t>
            </a:r>
            <a:r>
              <a:rPr dirty="0" sz="1100" spc="-5">
                <a:latin typeface="Times New Roman"/>
                <a:cs typeface="Times New Roman"/>
              </a:rPr>
              <a:t>‘containers’ that carry meaning </a:t>
            </a:r>
            <a:r>
              <a:rPr dirty="0" sz="1100">
                <a:latin typeface="Times New Roman"/>
                <a:cs typeface="Times New Roman"/>
              </a:rPr>
              <a:t>components.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 is </a:t>
            </a:r>
            <a:r>
              <a:rPr dirty="0" sz="1100" spc="-5">
                <a:latin typeface="Times New Roman"/>
                <a:cs typeface="Times New Roman"/>
              </a:rPr>
              <a:t>clearly more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than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Semantic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semantic role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underlying relationship 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participant</a:t>
            </a:r>
            <a:r>
              <a:rPr dirty="0" sz="1100">
                <a:latin typeface="Times New Roman"/>
                <a:cs typeface="Times New Roman"/>
              </a:rPr>
              <a:t> has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main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clause.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participant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imagined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situation,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encoding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used to </a:t>
            </a:r>
            <a:r>
              <a:rPr dirty="0" sz="1100" spc="-5">
                <a:latin typeface="Times New Roman"/>
                <a:cs typeface="Times New Roman"/>
              </a:rPr>
              <a:t>indicate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played by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in ‘The boy kicked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ball’, </a:t>
            </a:r>
            <a:r>
              <a:rPr dirty="0" sz="1100">
                <a:latin typeface="Times New Roman"/>
                <a:cs typeface="Times New Roman"/>
              </a:rPr>
              <a:t>then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verb </a:t>
            </a:r>
            <a:r>
              <a:rPr dirty="0" sz="1100" spc="-5">
                <a:latin typeface="Times New Roman"/>
                <a:cs typeface="Times New Roman"/>
              </a:rPr>
              <a:t>describes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action (kick). </a:t>
            </a:r>
            <a:r>
              <a:rPr dirty="0" sz="1100">
                <a:latin typeface="Times New Roman"/>
                <a:cs typeface="Times New Roman"/>
              </a:rPr>
              <a:t>The noun phrases in </a:t>
            </a:r>
            <a:r>
              <a:rPr dirty="0" sz="1100" spc="-5">
                <a:latin typeface="Times New Roman"/>
                <a:cs typeface="Times New Roman"/>
              </a:rPr>
              <a:t>the sentence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0905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‘thematic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roles’)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major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drawbacks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 role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 </a:t>
            </a:r>
            <a:r>
              <a:rPr dirty="0" sz="1100">
                <a:latin typeface="Times New Roman"/>
                <a:cs typeface="Times New Roman"/>
              </a:rPr>
              <a:t>are;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 about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Agent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semantic role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person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thing who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doer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an event. </a:t>
            </a:r>
            <a:r>
              <a:rPr dirty="0" sz="1100" spc="-5">
                <a:latin typeface="Times New Roman"/>
                <a:cs typeface="Times New Roman"/>
              </a:rPr>
              <a:t>An agent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 subject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verb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active clause.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prototypical agent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conscious, acts with volition </a:t>
            </a:r>
            <a:r>
              <a:rPr dirty="0" sz="1100">
                <a:latin typeface="Times New Roman"/>
                <a:cs typeface="Times New Roman"/>
              </a:rPr>
              <a:t> (on </a:t>
            </a:r>
            <a:r>
              <a:rPr dirty="0" sz="1100" spc="-5">
                <a:latin typeface="Times New Roman"/>
                <a:cs typeface="Times New Roman"/>
              </a:rPr>
              <a:t>purpose),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performs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street.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Although we have changed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active </a:t>
            </a:r>
            <a:r>
              <a:rPr dirty="0" sz="1100">
                <a:latin typeface="Times New Roman"/>
                <a:cs typeface="Times New Roman"/>
              </a:rPr>
              <a:t>clause into a </a:t>
            </a:r>
            <a:r>
              <a:rPr dirty="0" sz="1100" spc="-5">
                <a:latin typeface="Times New Roman"/>
                <a:cs typeface="Times New Roman"/>
              </a:rPr>
              <a:t>passive </a:t>
            </a:r>
            <a:r>
              <a:rPr dirty="0" sz="1100">
                <a:latin typeface="Times New Roman"/>
                <a:cs typeface="Times New Roman"/>
              </a:rPr>
              <a:t>one, 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boy is now the </a:t>
            </a:r>
            <a:r>
              <a:rPr dirty="0" sz="1100" spc="-5">
                <a:latin typeface="Times New Roman"/>
                <a:cs typeface="Times New Roman"/>
              </a:rPr>
              <a:t>subject,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nothing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changed in the real world. Although </a:t>
            </a:r>
            <a:r>
              <a:rPr dirty="0" sz="1100">
                <a:latin typeface="Times New Roman"/>
                <a:cs typeface="Times New Roman"/>
              </a:rPr>
              <a:t>agents </a:t>
            </a:r>
            <a:r>
              <a:rPr dirty="0" sz="1100" spc="-5">
                <a:latin typeface="Times New Roman"/>
                <a:cs typeface="Times New Roman"/>
              </a:rPr>
              <a:t>are typically human (The boy), they </a:t>
            </a:r>
            <a:r>
              <a:rPr dirty="0" sz="1100">
                <a:latin typeface="Times New Roman"/>
                <a:cs typeface="Times New Roman"/>
              </a:rPr>
              <a:t>can also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non-human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denoting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machine </a:t>
            </a:r>
            <a:r>
              <a:rPr dirty="0" sz="1100">
                <a:latin typeface="Times New Roman"/>
                <a:cs typeface="Times New Roman"/>
              </a:rPr>
              <a:t>(A car),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creature </a:t>
            </a: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-5">
                <a:latin typeface="Times New Roman"/>
                <a:cs typeface="Times New Roman"/>
              </a:rPr>
              <a:t> dog),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affect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kicked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ball.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 blew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parts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participants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affairs’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 </a:t>
            </a:r>
            <a:r>
              <a:rPr dirty="0" sz="1100" spc="-5">
                <a:latin typeface="Times New Roman"/>
                <a:cs typeface="Times New Roman"/>
              </a:rPr>
              <a:t>situation’.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Theme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Another role </a:t>
            </a:r>
            <a:r>
              <a:rPr dirty="0" sz="1100">
                <a:latin typeface="Times New Roman"/>
                <a:cs typeface="Times New Roman"/>
              </a:rPr>
              <a:t>is taken by the </a:t>
            </a:r>
            <a:r>
              <a:rPr dirty="0" sz="1100" spc="-5">
                <a:latin typeface="Times New Roman"/>
                <a:cs typeface="Times New Roman"/>
              </a:rPr>
              <a:t>ball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‘the entity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is involved </a:t>
            </a:r>
            <a:r>
              <a:rPr dirty="0" sz="1100">
                <a:latin typeface="Times New Roman"/>
                <a:cs typeface="Times New Roman"/>
              </a:rPr>
              <a:t>in or </a:t>
            </a:r>
            <a:r>
              <a:rPr dirty="0" sz="1100" spc="-5">
                <a:latin typeface="Times New Roman"/>
                <a:cs typeface="Times New Roman"/>
              </a:rPr>
              <a:t>affected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action’, which 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theme (or sometimes the ‘patient’).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theme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entity </a:t>
            </a:r>
            <a:r>
              <a:rPr dirty="0" sz="1100">
                <a:latin typeface="Times New Roman"/>
                <a:cs typeface="Times New Roman"/>
              </a:rPr>
              <a:t>(The </a:t>
            </a:r>
            <a:r>
              <a:rPr dirty="0" sz="1100" spc="-5">
                <a:latin typeface="Times New Roman"/>
                <a:cs typeface="Times New Roman"/>
              </a:rPr>
              <a:t>ball) that </a:t>
            </a:r>
            <a:r>
              <a:rPr dirty="0" sz="1100" spc="15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simply </a:t>
            </a:r>
            <a:r>
              <a:rPr dirty="0" sz="1100">
                <a:latin typeface="Times New Roman"/>
                <a:cs typeface="Times New Roman"/>
              </a:rPr>
              <a:t> being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(i.e.,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action),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non-human,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boy),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kicked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ball.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 blew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appear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12700" marR="1079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boy cut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himself. </a:t>
            </a:r>
            <a:r>
              <a:rPr dirty="0" sz="1100">
                <a:latin typeface="Times New Roman"/>
                <a:cs typeface="Times New Roman"/>
              </a:rPr>
              <a:t>The boy is </a:t>
            </a:r>
            <a:r>
              <a:rPr dirty="0" sz="1100" spc="-5">
                <a:latin typeface="Times New Roman"/>
                <a:cs typeface="Times New Roman"/>
              </a:rPr>
              <a:t>agent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himself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theme.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also be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‘patient’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‘undergoer’.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150: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10160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action,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ﬁlls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old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razor.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 </a:t>
            </a:r>
            <a:r>
              <a:rPr dirty="0" sz="1100">
                <a:latin typeface="Times New Roman"/>
                <a:cs typeface="Times New Roman"/>
              </a:rPr>
              <a:t>drew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picture with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crayon.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razor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crayon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‘instrument’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action.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68365" cy="4276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151: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Experiencer,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Location,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Goal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Experiencer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5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Experiencer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(or </a:t>
            </a:r>
            <a:r>
              <a:rPr dirty="0" sz="1100" spc="-5">
                <a:latin typeface="Times New Roman"/>
                <a:cs typeface="Times New Roman"/>
              </a:rPr>
              <a:t>referent)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undergoes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action.</a:t>
            </a:r>
            <a:endParaRPr sz="1100">
              <a:latin typeface="Times New Roman"/>
              <a:cs typeface="Times New Roman"/>
            </a:endParaRPr>
          </a:p>
          <a:p>
            <a:pPr marL="466725" marR="430403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see something. </a:t>
            </a:r>
            <a:r>
              <a:rPr dirty="0" sz="1100">
                <a:latin typeface="Times New Roman"/>
                <a:cs typeface="Times New Roman"/>
              </a:rPr>
              <a:t> We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agents.</a:t>
            </a:r>
            <a:endParaRPr sz="11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experiencer </a:t>
            </a: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 role.</a:t>
            </a:r>
            <a:endParaRPr sz="1100">
              <a:latin typeface="Times New Roman"/>
              <a:cs typeface="Times New Roman"/>
            </a:endParaRPr>
          </a:p>
          <a:p>
            <a:pPr marL="53784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you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noise?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experiencer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7620">
              <a:lnSpc>
                <a:spcPct val="110000"/>
              </a:lnSpc>
            </a:pPr>
            <a:r>
              <a:rPr dirty="0" sz="1100" b="1">
                <a:latin typeface="Times New Roman"/>
                <a:cs typeface="Times New Roman"/>
              </a:rPr>
              <a:t>Location: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designate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(on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ﬁlls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entity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Chicago)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Goal: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moves </a:t>
            </a:r>
            <a:r>
              <a:rPr dirty="0" sz="1100">
                <a:latin typeface="Times New Roman"/>
                <a:cs typeface="Times New Roman"/>
              </a:rPr>
              <a:t>to,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goal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 Lahore),</a:t>
            </a:r>
            <a:endParaRPr sz="1100">
              <a:latin typeface="Times New Roman"/>
              <a:cs typeface="Times New Roman"/>
            </a:endParaRPr>
          </a:p>
          <a:p>
            <a:pPr marL="5835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583565" algn="l"/>
                <a:tab pos="584200" algn="l"/>
              </a:tabLst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drove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Chicago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 </a:t>
            </a:r>
            <a:r>
              <a:rPr dirty="0" sz="1100">
                <a:latin typeface="Times New Roman"/>
                <a:cs typeface="Times New Roman"/>
              </a:rPr>
              <a:t>Lahore.</a:t>
            </a:r>
            <a:endParaRPr sz="1100">
              <a:latin typeface="Times New Roman"/>
              <a:cs typeface="Times New Roman"/>
            </a:endParaRPr>
          </a:p>
          <a:p>
            <a:pPr marL="12700" marR="2827655" indent="3429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583565" algn="l"/>
                <a:tab pos="584200" algn="l"/>
              </a:tabLst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transfer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savings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checking.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source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savings. 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checking.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807783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Lesson-27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SEMANTICS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III</a:t>
            </a:r>
            <a:r>
              <a:rPr dirty="0" sz="1400" spc="-5" b="1">
                <a:latin typeface="Times New Roman"/>
                <a:cs typeface="Times New Roman"/>
              </a:rPr>
              <a:t> (LEXICAL RELATIONS)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152: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Synonymy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reply?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1079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closely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synonyms.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substituted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sentences.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pairs: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almost/nearly,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big/large,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broad/wide, buy/purchase,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cab/taxi,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car/automobile,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couch/sofa,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freedom/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idea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‘sameness’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synonymy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necessarily ‘total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sameness’.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Sandy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 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 correct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test.</a:t>
            </a:r>
            <a:endParaRPr sz="1100">
              <a:latin typeface="Times New Roman"/>
              <a:cs typeface="Times New Roman"/>
            </a:endParaRPr>
          </a:p>
          <a:p>
            <a:pPr marL="12700" marR="1016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odd.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Synonymous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uses.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purchased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automobile.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second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 much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casual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153: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Antonymy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762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Antonymy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pair-wise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context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below).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Alive/dead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Big/small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Fast/slow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Happy/sad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Hot/cold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Long/short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Male/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female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Married/single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Old/new,</a:t>
            </a:r>
            <a:endParaRPr sz="1100">
              <a:latin typeface="Times New Roman"/>
              <a:cs typeface="Times New Roman"/>
            </a:endParaRPr>
          </a:p>
          <a:p>
            <a:pPr lvl="1" marL="469265" indent="-1708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Rich/poor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opposite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antonyms.</a:t>
            </a:r>
            <a:endParaRPr sz="1100">
              <a:latin typeface="Times New Roman"/>
              <a:cs typeface="Times New Roman"/>
            </a:endParaRPr>
          </a:p>
          <a:p>
            <a:pPr lvl="2" marL="641985" indent="-2292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641985" algn="l"/>
                <a:tab pos="642620" algn="l"/>
              </a:tabLst>
            </a:pP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‘Gradable’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(opposites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scale)</a:t>
            </a:r>
            <a:endParaRPr sz="1100">
              <a:latin typeface="Times New Roman"/>
              <a:cs typeface="Times New Roman"/>
            </a:endParaRPr>
          </a:p>
          <a:p>
            <a:pPr lvl="2" marL="12700" marR="3334385" indent="400685">
              <a:lnSpc>
                <a:spcPct val="102699"/>
              </a:lnSpc>
              <a:spcBef>
                <a:spcPts val="95"/>
              </a:spcBef>
              <a:buFont typeface="Symbol"/>
              <a:buChar char=""/>
              <a:tabLst>
                <a:tab pos="641985" algn="l"/>
                <a:tab pos="64262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‘Non-gradable’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(direct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opposites).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Gradable antonyms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pair:</a:t>
            </a:r>
            <a:endParaRPr sz="11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big/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2810" cy="8128634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like:</a:t>
            </a:r>
            <a:endParaRPr sz="1100">
              <a:latin typeface="Times New Roman"/>
              <a:cs typeface="Times New Roman"/>
            </a:endParaRPr>
          </a:p>
          <a:p>
            <a:pPr marL="926465" indent="-11493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bigger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you.</a:t>
            </a:r>
            <a:endParaRPr sz="1100">
              <a:latin typeface="Times New Roman"/>
              <a:cs typeface="Times New Roman"/>
            </a:endParaRPr>
          </a:p>
          <a:p>
            <a:pPr marL="926465" indent="-11493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smaller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horse.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negative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member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‘My</a:t>
            </a:r>
            <a:r>
              <a:rPr dirty="0" sz="1100">
                <a:latin typeface="Times New Roman"/>
                <a:cs typeface="Times New Roman"/>
              </a:rPr>
              <a:t> 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necessarily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‘My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1430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Non-gradable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antonyms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“complementary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pairs”),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 marL="926465" indent="-17399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deader</a:t>
            </a:r>
            <a:endParaRPr sz="1100">
              <a:latin typeface="Times New Roman"/>
              <a:cs typeface="Times New Roman"/>
            </a:endParaRPr>
          </a:p>
          <a:p>
            <a:pPr marL="926465" indent="-17399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negative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member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non-gradable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member.</a:t>
            </a:r>
            <a:endParaRPr sz="1100">
              <a:latin typeface="Times New Roman"/>
              <a:cs typeface="Times New Roman"/>
            </a:endParaRPr>
          </a:p>
          <a:p>
            <a:pPr marL="926465" indent="-17081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grandparents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alive.</a:t>
            </a:r>
            <a:endParaRPr sz="1100">
              <a:latin typeface="Times New Roman"/>
              <a:cs typeface="Times New Roman"/>
            </a:endParaRPr>
          </a:p>
          <a:p>
            <a:pPr marL="926465" indent="-170815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grandparents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non-gradable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antonyms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the pairs: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male/female,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married/single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true/false.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9212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usually avoid </a:t>
            </a:r>
            <a:r>
              <a:rPr dirty="0" sz="1100">
                <a:latin typeface="Times New Roman"/>
                <a:cs typeface="Times New Roman"/>
              </a:rPr>
              <a:t>describing one </a:t>
            </a:r>
            <a:r>
              <a:rPr dirty="0" sz="1100" spc="-5">
                <a:latin typeface="Times New Roman"/>
                <a:cs typeface="Times New Roman"/>
              </a:rPr>
              <a:t>member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an </a:t>
            </a:r>
            <a:r>
              <a:rPr dirty="0" sz="1100" spc="-5">
                <a:latin typeface="Times New Roman"/>
                <a:cs typeface="Times New Roman"/>
              </a:rPr>
              <a:t>antonymous </a:t>
            </a:r>
            <a:r>
              <a:rPr dirty="0" sz="1100">
                <a:latin typeface="Times New Roman"/>
                <a:cs typeface="Times New Roman"/>
              </a:rPr>
              <a:t>pair as </a:t>
            </a:r>
            <a:r>
              <a:rPr dirty="0" sz="1100" spc="-5">
                <a:latin typeface="Times New Roman"/>
                <a:cs typeface="Times New Roman"/>
              </a:rPr>
              <a:t>the negative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other. </a:t>
            </a:r>
            <a:r>
              <a:rPr dirty="0" sz="1100">
                <a:latin typeface="Times New Roman"/>
                <a:cs typeface="Times New Roman"/>
              </a:rPr>
              <a:t> They are </a:t>
            </a:r>
            <a:r>
              <a:rPr dirty="0" sz="1100" spc="-5">
                <a:latin typeface="Times New Roman"/>
                <a:cs typeface="Times New Roman"/>
              </a:rPr>
              <a:t>reversives. Undress</a:t>
            </a:r>
            <a:r>
              <a:rPr dirty="0" sz="1100">
                <a:latin typeface="Times New Roman"/>
                <a:cs typeface="Times New Roman"/>
              </a:rPr>
              <a:t> can be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the opposite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dress;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doesn’t </a:t>
            </a:r>
            <a:r>
              <a:rPr dirty="0" sz="1100" spc="-5">
                <a:latin typeface="Times New Roman"/>
                <a:cs typeface="Times New Roman"/>
              </a:rPr>
              <a:t>mean </a:t>
            </a:r>
            <a:r>
              <a:rPr dirty="0" sz="1100">
                <a:latin typeface="Times New Roman"/>
                <a:cs typeface="Times New Roman"/>
              </a:rPr>
              <a:t>‘not </a:t>
            </a:r>
            <a:r>
              <a:rPr dirty="0" sz="1100" spc="-5">
                <a:latin typeface="Times New Roman"/>
                <a:cs typeface="Times New Roman"/>
              </a:rPr>
              <a:t>dress’.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 actually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>
                <a:latin typeface="Times New Roman"/>
                <a:cs typeface="Times New Roman"/>
              </a:rPr>
              <a:t> ‘the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reverse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dress’.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enter/exit,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pack/unpack,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lengthen/shorten,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raise/lower,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tie/untie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154: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Hyponymy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Animal/dog</a:t>
            </a:r>
            <a:endParaRPr sz="11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Dog/poodle</a:t>
            </a:r>
            <a:endParaRPr sz="11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Vegetable/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carrot</a:t>
            </a:r>
            <a:endParaRPr sz="11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ﬂower/rose</a:t>
            </a:r>
            <a:endParaRPr sz="11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Tree/banyan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hyponymy.</a:t>
            </a:r>
            <a:endParaRPr sz="1100">
              <a:latin typeface="Times New Roman"/>
              <a:cs typeface="Times New Roman"/>
            </a:endParaRPr>
          </a:p>
          <a:p>
            <a:pPr marL="469265" indent="-1143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rose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hyponym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ﬂower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2065">
              <a:lnSpc>
                <a:spcPct val="1100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hyponymous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hierarchical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Superordinate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higher-level)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Two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 words that </a:t>
            </a:r>
            <a:r>
              <a:rPr dirty="0" sz="1100">
                <a:latin typeface="Times New Roman"/>
                <a:cs typeface="Times New Roman"/>
              </a:rPr>
              <a:t>share 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superordinate </a:t>
            </a:r>
            <a:r>
              <a:rPr dirty="0" sz="1100">
                <a:latin typeface="Times New Roman"/>
                <a:cs typeface="Times New Roman"/>
              </a:rPr>
              <a:t>term are </a:t>
            </a:r>
            <a:r>
              <a:rPr dirty="0" sz="1100" spc="-5">
                <a:latin typeface="Times New Roman"/>
                <a:cs typeface="Times New Roman"/>
              </a:rPr>
              <a:t>co-hyponyms.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Co-hyponymy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of’,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asp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snake’.It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“things”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hyponyms.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as; punch </a:t>
            </a:r>
            <a:r>
              <a:rPr dirty="0" sz="1100" spc="-5">
                <a:latin typeface="Times New Roman"/>
                <a:cs typeface="Times New Roman"/>
              </a:rPr>
              <a:t>shoot and stab, describing ‘actions’, can all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treated as </a:t>
            </a:r>
            <a:r>
              <a:rPr dirty="0" sz="1100" spc="10">
                <a:latin typeface="Times New Roman"/>
                <a:cs typeface="Times New Roman"/>
              </a:rPr>
              <a:t>co-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hyponyms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superordinate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injure.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155: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Prototypes</a:t>
            </a:r>
            <a:endParaRPr sz="1100">
              <a:latin typeface="Times New Roman"/>
              <a:cs typeface="Times New Roman"/>
            </a:endParaRPr>
          </a:p>
          <a:p>
            <a:pPr marL="469265" indent="-18351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Canary,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cormorant,</a:t>
            </a:r>
            <a:endParaRPr sz="1100">
              <a:latin typeface="Times New Roman"/>
              <a:cs typeface="Times New Roman"/>
            </a:endParaRPr>
          </a:p>
          <a:p>
            <a:pPr marL="469265" indent="-1835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Dove,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duck</a:t>
            </a:r>
            <a:endParaRPr sz="1100">
              <a:latin typeface="Times New Roman"/>
              <a:cs typeface="Times New Roman"/>
            </a:endParaRPr>
          </a:p>
          <a:p>
            <a:pPr marL="469265" indent="-1835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Flamingo,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parrot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9195"/>
            <a:ext cx="5969635" cy="81229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469265" indent="-183515">
              <a:lnSpc>
                <a:spcPct val="100000"/>
              </a:lnSpc>
              <a:spcBef>
                <a:spcPts val="24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Pelican,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robin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co-hyponyms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superordinate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category ‘bird’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robin.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idea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‘the characteristic instance’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prototype.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concept of a </a:t>
            </a:r>
            <a:r>
              <a:rPr dirty="0" sz="1100" spc="-5">
                <a:latin typeface="Times New Roman"/>
                <a:cs typeface="Times New Roman"/>
              </a:rPr>
              <a:t>prototype helps explain the 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certain words, like bird, </a:t>
            </a:r>
            <a:r>
              <a:rPr dirty="0" sz="1100" spc="10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component features (e.g., </a:t>
            </a:r>
            <a:r>
              <a:rPr dirty="0" sz="1100">
                <a:latin typeface="Times New Roman"/>
                <a:cs typeface="Times New Roman"/>
              </a:rPr>
              <a:t>‘has </a:t>
            </a:r>
            <a:r>
              <a:rPr dirty="0" sz="1100" spc="-5">
                <a:latin typeface="Times New Roman"/>
                <a:cs typeface="Times New Roman"/>
              </a:rPr>
              <a:t>feathers’, ‘has wings’), but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resemblance to the clearest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example. Ostrich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penguin should be </a:t>
            </a:r>
            <a:r>
              <a:rPr dirty="0" sz="1100" spc="-5">
                <a:latin typeface="Times New Roman"/>
                <a:cs typeface="Times New Roman"/>
              </a:rPr>
              <a:t>hyponyms </a:t>
            </a:r>
            <a:r>
              <a:rPr dirty="0" sz="1100">
                <a:latin typeface="Times New Roman"/>
                <a:cs typeface="Times New Roman"/>
              </a:rPr>
              <a:t>of bird </a:t>
            </a:r>
            <a:r>
              <a:rPr dirty="0" sz="1100" spc="-5">
                <a:latin typeface="Times New Roman"/>
                <a:cs typeface="Times New Roman"/>
              </a:rPr>
              <a:t>(technically </a:t>
            </a:r>
            <a:r>
              <a:rPr dirty="0" sz="1100">
                <a:latin typeface="Times New Roman"/>
                <a:cs typeface="Times New Roman"/>
              </a:rPr>
              <a:t>they are), but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trouble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sparrow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pigeon.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Category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labels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2852420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Furniture: chair</a:t>
            </a:r>
            <a:r>
              <a:rPr dirty="0" sz="1100">
                <a:latin typeface="Times New Roman"/>
                <a:cs typeface="Times New Roman"/>
              </a:rPr>
              <a:t> is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5">
                <a:latin typeface="Times New Roman"/>
                <a:cs typeface="Times New Roman"/>
              </a:rPr>
              <a:t> bench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stool.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Clothing: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recognize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shirts quicker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Vegetable: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</a:t>
            </a:r>
            <a:r>
              <a:rPr dirty="0" sz="1100" spc="-5">
                <a:latin typeface="Times New Roman"/>
                <a:cs typeface="Times New Roman"/>
              </a:rPr>
              <a:t> carrot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potato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tomato.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general pattern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categorization process involved </a:t>
            </a:r>
            <a:r>
              <a:rPr dirty="0" sz="1100">
                <a:latin typeface="Times New Roman"/>
                <a:cs typeface="Times New Roman"/>
              </a:rPr>
              <a:t>in prototypes </a:t>
            </a:r>
            <a:r>
              <a:rPr dirty="0" sz="1100" spc="-5">
                <a:latin typeface="Times New Roman"/>
                <a:cs typeface="Times New Roman"/>
              </a:rPr>
              <a:t>and that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determines </a:t>
            </a:r>
            <a:r>
              <a:rPr dirty="0" sz="1100">
                <a:latin typeface="Times New Roman"/>
                <a:cs typeface="Times New Roman"/>
              </a:rPr>
              <a:t> 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lead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substantial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interpretation: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Avocado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tomato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vegetable.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may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co-hyponyms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vegetable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contexts.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156: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Homophony,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Homonymy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Polysemy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(written)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homophones: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bare/bear,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meat/meet,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ﬂour/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ﬂower,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pail/pale,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right/write,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sew/so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to/too/two.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Homonyms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762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(written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spoken)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unrelated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histories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exactly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bank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river)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bank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(ﬁnancial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(ﬂying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creature)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(used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sports)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(small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pupil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(at school)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pupil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(contest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speed)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(ethnic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175" cy="814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430">
              <a:lnSpc>
                <a:spcPct val="1102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Polysemy: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Polysemy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multiple, 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object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body,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froth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glass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beer,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department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mountain)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run </a:t>
            </a:r>
            <a:r>
              <a:rPr dirty="0" sz="1100" spc="-5">
                <a:latin typeface="Times New Roman"/>
                <a:cs typeface="Times New Roman"/>
              </a:rPr>
              <a:t>(person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Homonymy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or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Polysemy?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35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Polysemy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phenomenon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whereby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polysemy</a:t>
            </a:r>
            <a:endParaRPr sz="1100">
              <a:latin typeface="Times New Roman"/>
              <a:cs typeface="Times New Roman"/>
            </a:endParaRPr>
          </a:p>
          <a:p>
            <a:pPr marL="12700" marR="10795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Homonymy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phenomenon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several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unrelated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meanings,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bank,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mole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sole,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Two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distinguished via homonymy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for 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also to </a:t>
            </a:r>
            <a:r>
              <a:rPr dirty="0" sz="1100" spc="-5">
                <a:latin typeface="Times New Roman"/>
                <a:cs typeface="Times New Roman"/>
              </a:rPr>
              <a:t>have various uses via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polysemy.The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date (a thing 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eat)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dates </a:t>
            </a:r>
            <a:r>
              <a:rPr dirty="0" sz="1100">
                <a:latin typeface="Times New Roman"/>
                <a:cs typeface="Times New Roman"/>
              </a:rPr>
              <a:t>(a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time) are homonyms.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‘point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time’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date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polysemous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particular day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month </a:t>
            </a:r>
            <a:r>
              <a:rPr dirty="0" sz="1100">
                <a:latin typeface="Times New Roman"/>
                <a:cs typeface="Times New Roman"/>
              </a:rPr>
              <a:t>(on a </a:t>
            </a:r>
            <a:r>
              <a:rPr dirty="0" sz="1100" spc="-5">
                <a:latin typeface="Times New Roman"/>
                <a:cs typeface="Times New Roman"/>
              </a:rPr>
              <a:t>letter),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arranged meeting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appointment),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like),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like).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157: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Metonymy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Metonymy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close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everyday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container–contents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(bottle/water,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can/juice)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whole–part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(car/wheels,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house/roof).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representative–symbol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(king/crow.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President/the White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refer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metonymy.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</a:t>
            </a:r>
            <a:r>
              <a:rPr dirty="0" sz="1100" spc="-5">
                <a:latin typeface="Times New Roman"/>
                <a:cs typeface="Times New Roman"/>
              </a:rPr>
              <a:t> 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announced </a:t>
            </a:r>
            <a:r>
              <a:rPr dirty="0" sz="1100">
                <a:latin typeface="Times New Roman"/>
                <a:cs typeface="Times New Roman"/>
              </a:rPr>
              <a:t>…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Downing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Street </a:t>
            </a:r>
            <a:r>
              <a:rPr dirty="0" sz="1100" spc="-5">
                <a:latin typeface="Times New Roman"/>
                <a:cs typeface="Times New Roman"/>
              </a:rPr>
              <a:t>protested...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Filling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car,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Answering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door,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Boiling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kettle,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hand,</a:t>
            </a:r>
            <a:endParaRPr sz="1100">
              <a:latin typeface="Times New Roman"/>
              <a:cs typeface="Times New Roman"/>
            </a:endParaRPr>
          </a:p>
          <a:p>
            <a:pPr marL="469265" indent="-28511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Needing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wheels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890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Metonymy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highly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conventionalized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strings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(music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etc.).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cable (regarding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channels).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09670" y="1122934"/>
            <a:ext cx="13544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PRAGMATICS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546606"/>
            <a:ext cx="5969635" cy="2593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158: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Pragmatics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in context. </a:t>
            </a:r>
            <a:r>
              <a:rPr dirty="0" sz="1100" spc="-5">
                <a:latin typeface="Times New Roman"/>
                <a:cs typeface="Times New Roman"/>
              </a:rPr>
              <a:t>This 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is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sentences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environment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occur </a:t>
            </a:r>
            <a:r>
              <a:rPr dirty="0" sz="1100" spc="-5">
                <a:latin typeface="Times New Roman"/>
                <a:cs typeface="Times New Roman"/>
              </a:rPr>
              <a:t>is categorized.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recognizing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utterance, but also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interpret what </a:t>
            </a:r>
            <a:r>
              <a:rPr dirty="0" sz="1100">
                <a:latin typeface="Times New Roman"/>
                <a:cs typeface="Times New Roman"/>
              </a:rPr>
              <a:t> speakers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say.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Invisible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Pragmatics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“invisible” meaning,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how we recognize </a:t>
            </a:r>
            <a:r>
              <a:rPr dirty="0" sz="1100" spc="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meant even when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 actually said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written. </a:t>
            </a:r>
            <a:r>
              <a:rPr dirty="0" sz="1100">
                <a:latin typeface="Times New Roman"/>
                <a:cs typeface="Times New Roman"/>
              </a:rPr>
              <a:t>A lot of </a:t>
            </a:r>
            <a:r>
              <a:rPr dirty="0" sz="1100" spc="-5">
                <a:latin typeface="Times New Roman"/>
                <a:cs typeface="Times New Roman"/>
              </a:rPr>
              <a:t>shared assumptions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expectations exist when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try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8095" y="4159630"/>
            <a:ext cx="1083945" cy="111569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25145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HEAT</a:t>
            </a:r>
            <a:endParaRPr sz="11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130"/>
              </a:spcBef>
            </a:pPr>
            <a:r>
              <a:rPr dirty="0" sz="1100" spc="-5" b="1">
                <a:latin typeface="Times New Roman"/>
                <a:cs typeface="Times New Roman"/>
              </a:rPr>
              <a:t>ED</a:t>
            </a:r>
            <a:endParaRPr sz="1100">
              <a:latin typeface="Times New Roman"/>
              <a:cs typeface="Times New Roman"/>
            </a:endParaRPr>
          </a:p>
          <a:p>
            <a:pPr marL="525145">
              <a:lnSpc>
                <a:spcPct val="100000"/>
              </a:lnSpc>
              <a:spcBef>
                <a:spcPts val="135"/>
              </a:spcBef>
            </a:pPr>
            <a:r>
              <a:rPr dirty="0" sz="1100" spc="-10" b="1">
                <a:latin typeface="Times New Roman"/>
                <a:cs typeface="Times New Roman"/>
              </a:rPr>
              <a:t>ATTEN</a:t>
            </a:r>
            <a:endParaRPr sz="11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140"/>
              </a:spcBef>
            </a:pPr>
            <a:r>
              <a:rPr dirty="0" sz="1100" spc="-10" b="1">
                <a:latin typeface="Times New Roman"/>
                <a:cs typeface="Times New Roman"/>
              </a:rPr>
              <a:t>DANT</a:t>
            </a:r>
            <a:endParaRPr sz="1100">
              <a:latin typeface="Times New Roman"/>
              <a:cs typeface="Times New Roman"/>
            </a:endParaRPr>
          </a:p>
          <a:p>
            <a:pPr marL="525145">
              <a:lnSpc>
                <a:spcPct val="100000"/>
              </a:lnSpc>
              <a:spcBef>
                <a:spcPts val="135"/>
              </a:spcBef>
            </a:pPr>
            <a:r>
              <a:rPr dirty="0" sz="1100" spc="-5" b="1">
                <a:latin typeface="Times New Roman"/>
                <a:cs typeface="Times New Roman"/>
              </a:rPr>
              <a:t>PARKI</a:t>
            </a:r>
            <a:endParaRPr sz="11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130"/>
              </a:spcBef>
            </a:pPr>
            <a:r>
              <a:rPr dirty="0" sz="1100" spc="-10" b="1">
                <a:latin typeface="Times New Roman"/>
                <a:cs typeface="Times New Roman"/>
              </a:rPr>
              <a:t>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5420334"/>
            <a:ext cx="5972810" cy="3535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6565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can park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car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place, that it’s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heated </a:t>
            </a:r>
            <a:r>
              <a:rPr dirty="0" sz="1100">
                <a:latin typeface="Times New Roman"/>
                <a:cs typeface="Times New Roman"/>
              </a:rPr>
              <a:t>area, and </a:t>
            </a:r>
            <a:r>
              <a:rPr dirty="0" sz="1100" spc="-5">
                <a:latin typeface="Times New Roman"/>
                <a:cs typeface="Times New Roman"/>
              </a:rPr>
              <a:t>that there will </a:t>
            </a:r>
            <a:r>
              <a:rPr dirty="0" sz="1100">
                <a:latin typeface="Times New Roman"/>
                <a:cs typeface="Times New Roman"/>
              </a:rPr>
              <a:t>be an attendant to look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 the car. </a:t>
            </a:r>
            <a:r>
              <a:rPr dirty="0" sz="1100" spc="-1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interpretation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‘meaning’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sign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based solely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words, but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think </a:t>
            </a:r>
            <a:r>
              <a:rPr dirty="0" sz="1100" spc="-5">
                <a:latin typeface="Times New Roman"/>
                <a:cs typeface="Times New Roman"/>
              </a:rPr>
              <a:t>the writer intended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communicate.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are actively involved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creating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interpretation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160: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Without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some very </a:t>
            </a:r>
            <a:r>
              <a:rPr dirty="0" sz="1100">
                <a:latin typeface="Times New Roman"/>
                <a:cs typeface="Times New Roman"/>
              </a:rPr>
              <a:t>common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our language </a:t>
            </a:r>
            <a:r>
              <a:rPr dirty="0" sz="1100">
                <a:latin typeface="Times New Roman"/>
                <a:cs typeface="Times New Roman"/>
              </a:rPr>
              <a:t>that cannot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interpreted at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if we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the context, </a:t>
            </a:r>
            <a:r>
              <a:rPr dirty="0" sz="1100" spc="-5">
                <a:latin typeface="Times New Roman"/>
                <a:cs typeface="Times New Roman"/>
              </a:rPr>
              <a:t>especially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physical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speaker.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are words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 here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there,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yesterday,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today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well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 and </a:t>
            </a:r>
            <a:r>
              <a:rPr dirty="0" sz="1100" spc="-5">
                <a:latin typeface="Times New Roman"/>
                <a:cs typeface="Times New Roman"/>
              </a:rPr>
              <a:t>them. Some </a:t>
            </a:r>
            <a:r>
              <a:rPr dirty="0" sz="1100">
                <a:latin typeface="Times New Roman"/>
                <a:cs typeface="Times New Roman"/>
              </a:rPr>
              <a:t>sentences of </a:t>
            </a:r>
            <a:r>
              <a:rPr dirty="0" sz="1100" spc="-5">
                <a:latin typeface="Times New Roman"/>
                <a:cs typeface="Times New Roman"/>
              </a:rPr>
              <a:t>English are virtually impossible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know who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whom,</a:t>
            </a:r>
            <a:r>
              <a:rPr dirty="0" sz="1100">
                <a:latin typeface="Times New Roman"/>
                <a:cs typeface="Times New Roman"/>
              </a:rPr>
              <a:t> where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You’ll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 </a:t>
            </a:r>
            <a:r>
              <a:rPr dirty="0" sz="1100" spc="-5">
                <a:latin typeface="Times New Roman"/>
                <a:cs typeface="Times New Roman"/>
              </a:rPr>
              <a:t>isn’t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contains a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(you, </a:t>
            </a:r>
            <a:r>
              <a:rPr dirty="0" sz="1100">
                <a:latin typeface="Times New Roman"/>
                <a:cs typeface="Times New Roman"/>
              </a:rPr>
              <a:t>it, </a:t>
            </a:r>
            <a:r>
              <a:rPr dirty="0" sz="1100" spc="-5">
                <a:latin typeface="Times New Roman"/>
                <a:cs typeface="Times New Roman"/>
              </a:rPr>
              <a:t>tomorrow, </a:t>
            </a:r>
            <a:r>
              <a:rPr dirty="0" sz="1100">
                <a:latin typeface="Times New Roman"/>
                <a:cs typeface="Times New Roman"/>
              </a:rPr>
              <a:t>she, </a:t>
            </a:r>
            <a:r>
              <a:rPr dirty="0" sz="1100" spc="-5">
                <a:latin typeface="Times New Roman"/>
                <a:cs typeface="Times New Roman"/>
              </a:rPr>
              <a:t>here,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today)</a:t>
            </a:r>
            <a:r>
              <a:rPr dirty="0" sz="1100">
                <a:latin typeface="Times New Roman"/>
                <a:cs typeface="Times New Roman"/>
              </a:rPr>
              <a:t> that </a:t>
            </a:r>
            <a:r>
              <a:rPr dirty="0" sz="1100" spc="-5">
                <a:latin typeface="Times New Roman"/>
                <a:cs typeface="Times New Roman"/>
              </a:rPr>
              <a:t>rely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immediate physical context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their interpretation </a:t>
            </a:r>
            <a:r>
              <a:rPr dirty="0" sz="1100" spc="5">
                <a:latin typeface="Times New Roman"/>
                <a:cs typeface="Times New Roman"/>
              </a:rPr>
              <a:t>(i.e.,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delivery driver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 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return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February </a:t>
            </a:r>
            <a:r>
              <a:rPr dirty="0" sz="1100">
                <a:latin typeface="Times New Roman"/>
                <a:cs typeface="Times New Roman"/>
              </a:rPr>
              <a:t>15 to </a:t>
            </a:r>
            <a:r>
              <a:rPr dirty="0" sz="1100" spc="-5">
                <a:latin typeface="Times New Roman"/>
                <a:cs typeface="Times New Roman"/>
              </a:rPr>
              <a:t>660 College </a:t>
            </a:r>
            <a:r>
              <a:rPr dirty="0" sz="1100" spc="-10">
                <a:latin typeface="Times New Roman"/>
                <a:cs typeface="Times New Roman"/>
              </a:rPr>
              <a:t>Drive </a:t>
            </a:r>
            <a:r>
              <a:rPr dirty="0" sz="1100" spc="-5">
                <a:latin typeface="Times New Roman"/>
                <a:cs typeface="Times New Roman"/>
              </a:rPr>
              <a:t>with the long </a:t>
            </a:r>
            <a:r>
              <a:rPr dirty="0" sz="1100">
                <a:latin typeface="Times New Roman"/>
                <a:cs typeface="Times New Roman"/>
              </a:rPr>
              <a:t>box </a:t>
            </a:r>
            <a:r>
              <a:rPr dirty="0" sz="1100" spc="-5">
                <a:latin typeface="Times New Roman"/>
                <a:cs typeface="Times New Roman"/>
              </a:rPr>
              <a:t>labeled ‘ﬂowers, handle with care’ </a:t>
            </a:r>
            <a:r>
              <a:rPr dirty="0" sz="1100">
                <a:latin typeface="Times New Roman"/>
                <a:cs typeface="Times New Roman"/>
              </a:rPr>
              <a:t> addressed to </a:t>
            </a:r>
            <a:r>
              <a:rPr dirty="0" sz="1100" spc="-5">
                <a:latin typeface="Times New Roman"/>
                <a:cs typeface="Times New Roman"/>
              </a:rPr>
              <a:t>Ms. Ruby). Expressions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tomorrow </a:t>
            </a:r>
            <a:r>
              <a:rPr dirty="0" sz="1100">
                <a:latin typeface="Times New Roman"/>
                <a:cs typeface="Times New Roman"/>
              </a:rPr>
              <a:t>and here are </a:t>
            </a:r>
            <a:r>
              <a:rPr dirty="0" sz="1100" spc="-5">
                <a:latin typeface="Times New Roman"/>
                <a:cs typeface="Times New Roman"/>
              </a:rPr>
              <a:t>obvious examples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bits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terms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858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161: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There are </a:t>
            </a:r>
            <a:r>
              <a:rPr dirty="0" sz="1100" spc="-5">
                <a:latin typeface="Times New Roman"/>
                <a:cs typeface="Times New Roman"/>
              </a:rPr>
              <a:t>different kinds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context. One kind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context, also </a:t>
            </a:r>
            <a:r>
              <a:rPr dirty="0" sz="1100" spc="-5">
                <a:latin typeface="Times New Roman"/>
                <a:cs typeface="Times New Roman"/>
              </a:rPr>
              <a:t>known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co-text.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co-text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other 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in the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or sentence.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surrounding </a:t>
            </a:r>
            <a:r>
              <a:rPr dirty="0" sz="1100">
                <a:latin typeface="Times New Roman"/>
                <a:cs typeface="Times New Roman"/>
              </a:rPr>
              <a:t>co-text has a </a:t>
            </a:r>
            <a:r>
              <a:rPr dirty="0" sz="1100" spc="-5">
                <a:latin typeface="Times New Roman"/>
                <a:cs typeface="Times New Roman"/>
              </a:rPr>
              <a:t>strong </a:t>
            </a:r>
            <a:r>
              <a:rPr dirty="0" sz="1100">
                <a:latin typeface="Times New Roman"/>
                <a:cs typeface="Times New Roman"/>
              </a:rPr>
              <a:t>effect on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probably means. We </a:t>
            </a:r>
            <a:r>
              <a:rPr dirty="0" sz="1100" spc="-5">
                <a:latin typeface="Times New Roman"/>
                <a:cs typeface="Times New Roman"/>
              </a:rPr>
              <a:t>identiﬁed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‘bank’ as a </a:t>
            </a:r>
            <a:r>
              <a:rPr dirty="0" sz="1100" spc="-5">
                <a:latin typeface="Times New Roman"/>
                <a:cs typeface="Times New Roman"/>
              </a:rPr>
              <a:t>homonym,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with more </a:t>
            </a:r>
            <a:r>
              <a:rPr dirty="0" sz="1100">
                <a:latin typeface="Times New Roman"/>
                <a:cs typeface="Times New Roman"/>
              </a:rPr>
              <a:t>than one </a:t>
            </a:r>
            <a:r>
              <a:rPr dirty="0" sz="1100" spc="-5">
                <a:latin typeface="Times New Roman"/>
                <a:cs typeface="Times New Roman"/>
              </a:rPr>
              <a:t>meaning; </a:t>
            </a:r>
            <a:r>
              <a:rPr dirty="0" sz="1100">
                <a:latin typeface="Times New Roman"/>
                <a:cs typeface="Times New Roman"/>
              </a:rPr>
              <a:t>how do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which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intended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normally interpret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basis of </a:t>
            </a:r>
            <a:r>
              <a:rPr dirty="0" sz="1100" spc="-5">
                <a:latin typeface="Times New Roman"/>
                <a:cs typeface="Times New Roman"/>
              </a:rPr>
              <a:t>linguistic context.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bank </a:t>
            </a:r>
            <a:r>
              <a:rPr dirty="0" sz="1100" spc="-5">
                <a:latin typeface="Times New Roman"/>
                <a:cs typeface="Times New Roman"/>
              </a:rPr>
              <a:t>is used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sentence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 with words like </a:t>
            </a:r>
            <a:r>
              <a:rPr dirty="0" sz="1100">
                <a:latin typeface="Times New Roman"/>
                <a:cs typeface="Times New Roman"/>
              </a:rPr>
              <a:t>steep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overgrown, we have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problem deciding which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bank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meant.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Or, if we hear someone say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she has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>
                <a:latin typeface="Times New Roman"/>
                <a:cs typeface="Times New Roman"/>
              </a:rPr>
              <a:t>to the bank to </a:t>
            </a:r>
            <a:r>
              <a:rPr dirty="0" sz="1100" spc="-5">
                <a:latin typeface="Times New Roman"/>
                <a:cs typeface="Times New Roman"/>
              </a:rPr>
              <a:t>withdraw some </a:t>
            </a:r>
            <a:r>
              <a:rPr dirty="0" sz="1100">
                <a:latin typeface="Times New Roman"/>
                <a:cs typeface="Times New Roman"/>
              </a:rPr>
              <a:t>cash, </a:t>
            </a:r>
            <a:r>
              <a:rPr dirty="0" sz="1100" spc="-5">
                <a:latin typeface="Times New Roman"/>
                <a:cs typeface="Times New Roman"/>
              </a:rPr>
              <a:t>we know from 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context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intended.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162: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Physical Context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physical context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location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given word,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situation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it is used, </a:t>
            </a:r>
            <a:r>
              <a:rPr dirty="0" sz="1100" spc="-5">
                <a:latin typeface="Times New Roman"/>
                <a:cs typeface="Times New Roman"/>
              </a:rPr>
              <a:t>as well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timing, </a:t>
            </a:r>
            <a:r>
              <a:rPr dirty="0" sz="1100">
                <a:latin typeface="Times New Roman"/>
                <a:cs typeface="Times New Roman"/>
              </a:rPr>
              <a:t>all of </a:t>
            </a:r>
            <a:r>
              <a:rPr dirty="0" sz="1100" spc="-5">
                <a:latin typeface="Times New Roman"/>
                <a:cs typeface="Times New Roman"/>
              </a:rPr>
              <a:t>which aid </a:t>
            </a:r>
            <a:r>
              <a:rPr dirty="0" sz="1100">
                <a:latin typeface="Times New Roman"/>
                <a:cs typeface="Times New Roman"/>
              </a:rPr>
              <a:t>proper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word. </a:t>
            </a:r>
            <a:r>
              <a:rPr dirty="0" sz="1350" spc="-5">
                <a:latin typeface="Times New Roman"/>
                <a:cs typeface="Times New Roman"/>
              </a:rPr>
              <a:t>(</a:t>
            </a:r>
            <a:r>
              <a:rPr dirty="0" sz="1100" spc="-5">
                <a:latin typeface="Times New Roman"/>
                <a:cs typeface="Times New Roman"/>
              </a:rPr>
              <a:t>E.g., furniture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it is </a:t>
            </a:r>
            <a:r>
              <a:rPr dirty="0" sz="1100" spc="-5">
                <a:latin typeface="Times New Roman"/>
                <a:cs typeface="Times New Roman"/>
              </a:rPr>
              <a:t>arranged, size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room, </a:t>
            </a:r>
            <a:r>
              <a:rPr dirty="0" sz="1100">
                <a:latin typeface="Times New Roman"/>
                <a:cs typeface="Times New Roman"/>
              </a:rPr>
              <a:t>colors, </a:t>
            </a:r>
            <a:r>
              <a:rPr dirty="0" sz="1100" spc="-5">
                <a:latin typeface="Times New Roman"/>
                <a:cs typeface="Times New Roman"/>
              </a:rPr>
              <a:t>temperature,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day, </a:t>
            </a:r>
            <a:r>
              <a:rPr dirty="0" sz="1100">
                <a:latin typeface="Times New Roman"/>
                <a:cs typeface="Times New Roman"/>
              </a:rPr>
              <a:t>etc.)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see the </a:t>
            </a:r>
            <a:r>
              <a:rPr dirty="0" sz="1100" spc="-5">
                <a:latin typeface="Times New Roman"/>
                <a:cs typeface="Times New Roman"/>
              </a:rPr>
              <a:t>word ‘BANK’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wall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building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inﬂuence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‘out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there’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events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mental representation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 aspects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Social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Cultural Context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Socio-cultural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used. This means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learnt, </a:t>
            </a:r>
            <a:r>
              <a:rPr dirty="0" sz="1100">
                <a:latin typeface="Times New Roman"/>
                <a:cs typeface="Times New Roman"/>
              </a:rPr>
              <a:t>the socio-cultural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 needs to be taken </a:t>
            </a:r>
            <a:r>
              <a:rPr dirty="0" sz="1100" spc="-5">
                <a:latin typeface="Times New Roman"/>
                <a:cs typeface="Times New Roman"/>
              </a:rPr>
              <a:t>into consideration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well. Social-Cultural context still includes factors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illiteracy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rate, population geographic distribution, educational level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populations’ ethnic composition. All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factors can influence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organization’s performance, affecting its productivity level and product’s </a:t>
            </a:r>
            <a:r>
              <a:rPr dirty="0" sz="1100">
                <a:latin typeface="Times New Roman"/>
                <a:cs typeface="Times New Roman"/>
              </a:rPr>
              <a:t> quality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Social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Particular 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Social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Cultural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Activities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socio-cultural</a:t>
            </a:r>
            <a:r>
              <a:rPr dirty="0" sz="1100">
                <a:latin typeface="Times New Roman"/>
                <a:cs typeface="Times New Roman"/>
              </a:rPr>
              <a:t> context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headlines,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slang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idiomatic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Lesson-29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0270" cy="7746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PRAGMATICS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Deixis/Deictic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Expressions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deictic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deixis)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(such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this,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then)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points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time, place,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situation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speaking.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bits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we can </a:t>
            </a:r>
            <a:r>
              <a:rPr dirty="0" sz="1100">
                <a:latin typeface="Times New Roman"/>
                <a:cs typeface="Times New Roman"/>
              </a:rPr>
              <a:t> only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speaker’s intended meaning.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technically 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deictic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(/daɪktɪk/)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deixis,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“pointing”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Person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deixis:</a:t>
            </a:r>
            <a:r>
              <a:rPr dirty="0" sz="1100" spc="27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this, 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boxes)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(him,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idiots).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 b="1">
                <a:latin typeface="Times New Roman"/>
                <a:cs typeface="Times New Roman"/>
              </a:rPr>
              <a:t>Spatial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deixis: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 (here,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Temporal </a:t>
            </a:r>
            <a:r>
              <a:rPr dirty="0" sz="1100" spc="-5" b="1">
                <a:latin typeface="Times New Roman"/>
                <a:cs typeface="Times New Roman"/>
              </a:rPr>
              <a:t>deixis: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(now, </a:t>
            </a:r>
            <a:r>
              <a:rPr dirty="0" sz="1100" spc="-5">
                <a:latin typeface="Times New Roman"/>
                <a:cs typeface="Times New Roman"/>
              </a:rPr>
              <a:t>then,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All these deictic expressions have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interpreted in 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person; place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time the </a:t>
            </a:r>
            <a:r>
              <a:rPr dirty="0" sz="1100">
                <a:latin typeface="Times New Roman"/>
                <a:cs typeface="Times New Roman"/>
              </a:rPr>
              <a:t> speaker has in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r>
              <a:rPr dirty="0" sz="1100">
                <a:latin typeface="Times New Roman"/>
                <a:cs typeface="Times New Roman"/>
              </a:rPr>
              <a:t> We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a broad </a:t>
            </a:r>
            <a:r>
              <a:rPr dirty="0" sz="1100" spc="-5">
                <a:latin typeface="Times New Roman"/>
                <a:cs typeface="Times New Roman"/>
              </a:rPr>
              <a:t>distinction between 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marked </a:t>
            </a:r>
            <a:r>
              <a:rPr dirty="0" sz="1100">
                <a:latin typeface="Times New Roman"/>
                <a:cs typeface="Times New Roman"/>
              </a:rPr>
              <a:t>as close 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speaker </a:t>
            </a:r>
            <a:r>
              <a:rPr dirty="0" sz="1100" spc="-5">
                <a:latin typeface="Times New Roman"/>
                <a:cs typeface="Times New Roman"/>
              </a:rPr>
              <a:t>(this, </a:t>
            </a:r>
            <a:r>
              <a:rPr dirty="0" sz="1100">
                <a:latin typeface="Times New Roman"/>
                <a:cs typeface="Times New Roman"/>
              </a:rPr>
              <a:t> here, </a:t>
            </a:r>
            <a:r>
              <a:rPr dirty="0" sz="1100" spc="-5">
                <a:latin typeface="Times New Roman"/>
                <a:cs typeface="Times New Roman"/>
              </a:rPr>
              <a:t>now)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distant (that, there, then). Movement </a:t>
            </a:r>
            <a:r>
              <a:rPr dirty="0" sz="1100">
                <a:latin typeface="Times New Roman"/>
                <a:cs typeface="Times New Roman"/>
              </a:rPr>
              <a:t>is away from the </a:t>
            </a:r>
            <a:r>
              <a:rPr dirty="0" sz="1100" spc="-5">
                <a:latin typeface="Times New Roman"/>
                <a:cs typeface="Times New Roman"/>
              </a:rPr>
              <a:t>speaker’s location (go)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toward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speaker’s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(come).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comes!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goes!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deixis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fun.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165: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Person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Deixis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Deixis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phenomena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requiring contextual 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phrase.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term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‘deixis’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10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Greek word which means ‘to show’ </a:t>
            </a:r>
            <a:r>
              <a:rPr dirty="0" sz="1100">
                <a:latin typeface="Times New Roman"/>
                <a:cs typeface="Times New Roman"/>
              </a:rPr>
              <a:t>or ‘to </a:t>
            </a:r>
            <a:r>
              <a:rPr dirty="0" sz="1100" spc="-5">
                <a:latin typeface="Times New Roman"/>
                <a:cs typeface="Times New Roman"/>
              </a:rPr>
              <a:t>indicate’, used to denote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elements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refer directly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situation.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stipulates what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deictic reference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Speaker: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utterer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Deictic</a:t>
            </a:r>
            <a:r>
              <a:rPr dirty="0" sz="1100" spc="-5">
                <a:latin typeface="Times New Roman"/>
                <a:cs typeface="Times New Roman"/>
              </a:rPr>
              <a:t> center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deictic </a:t>
            </a:r>
            <a:r>
              <a:rPr dirty="0" sz="1100">
                <a:latin typeface="Times New Roman"/>
                <a:cs typeface="Times New Roman"/>
              </a:rPr>
              <a:t>references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Referents: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Neither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directly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deictic center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reference point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relation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deictic expression is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interpreted.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deictic center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also most typically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present time, location, participant role </a:t>
            </a:r>
            <a:r>
              <a:rPr dirty="0" sz="1100">
                <a:latin typeface="Times New Roman"/>
                <a:cs typeface="Times New Roman"/>
              </a:rPr>
              <a:t>and so </a:t>
            </a:r>
            <a:r>
              <a:rPr dirty="0" sz="1100" spc="-5">
                <a:latin typeface="Times New Roman"/>
                <a:cs typeface="Times New Roman"/>
              </a:rPr>
              <a:t>forth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speaker. </a:t>
            </a:r>
            <a:r>
              <a:rPr dirty="0" sz="1100">
                <a:latin typeface="Times New Roman"/>
                <a:cs typeface="Times New Roman"/>
              </a:rPr>
              <a:t> So, </a:t>
            </a:r>
            <a:r>
              <a:rPr dirty="0" sz="1100" spc="-5">
                <a:latin typeface="Times New Roman"/>
                <a:cs typeface="Times New Roman"/>
              </a:rPr>
              <a:t>the speaker,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actual location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actual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utterance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respectively,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deictic center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‘I’,</a:t>
            </a:r>
            <a:r>
              <a:rPr dirty="0" sz="1100">
                <a:latin typeface="Times New Roman"/>
                <a:cs typeface="Times New Roman"/>
              </a:rPr>
              <a:t> ‘here’,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‘now’,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e.g.,‘I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What is a </a:t>
            </a:r>
            <a:r>
              <a:rPr dirty="0" sz="1100" spc="-5">
                <a:latin typeface="Times New Roman"/>
                <a:cs typeface="Times New Roman"/>
              </a:rPr>
              <a:t>participant role? This highlights the relation that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each other with regards 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their involvement</a:t>
            </a:r>
            <a:r>
              <a:rPr dirty="0" sz="1100">
                <a:latin typeface="Times New Roman"/>
                <a:cs typeface="Times New Roman"/>
              </a:rPr>
              <a:t> in a speech event,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e.g.,What</a:t>
            </a:r>
            <a:r>
              <a:rPr dirty="0" sz="1100">
                <a:latin typeface="Times New Roman"/>
                <a:cs typeface="Times New Roman"/>
              </a:rPr>
              <a:t> is an </a:t>
            </a:r>
            <a:r>
              <a:rPr dirty="0" sz="1100" spc="-5">
                <a:latin typeface="Times New Roman"/>
                <a:cs typeface="Times New Roman"/>
              </a:rPr>
              <a:t>addressee? What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audience? What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speaker?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target? </a:t>
            </a:r>
            <a:r>
              <a:rPr dirty="0" sz="1100">
                <a:latin typeface="Times New Roman"/>
                <a:cs typeface="Times New Roman"/>
              </a:rPr>
              <a:t>etc. Person </a:t>
            </a:r>
            <a:r>
              <a:rPr dirty="0" sz="1100" spc="-5">
                <a:latin typeface="Times New Roman"/>
                <a:cs typeface="Times New Roman"/>
              </a:rPr>
              <a:t>Deixis concerns with </a:t>
            </a:r>
            <a:r>
              <a:rPr dirty="0" sz="1100">
                <a:latin typeface="Times New Roman"/>
                <a:cs typeface="Times New Roman"/>
              </a:rPr>
              <a:t>encoding of the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participants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speech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delivered.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1540" cy="822452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three-part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deictic reference indicates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referent not identified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speaker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the addressee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gender that the utterance refers </a:t>
            </a:r>
            <a:r>
              <a:rPr dirty="0" sz="1100">
                <a:latin typeface="Times New Roman"/>
                <a:cs typeface="Times New Roman"/>
              </a:rPr>
              <a:t>to. The </a:t>
            </a:r>
            <a:r>
              <a:rPr dirty="0" sz="1100" spc="-5">
                <a:latin typeface="Times New Roman"/>
                <a:cs typeface="Times New Roman"/>
              </a:rPr>
              <a:t>term </a:t>
            </a:r>
            <a:r>
              <a:rPr dirty="0" sz="1100">
                <a:latin typeface="Times New Roman"/>
                <a:cs typeface="Times New Roman"/>
              </a:rPr>
              <a:t>“deixis” </a:t>
            </a:r>
            <a:r>
              <a:rPr dirty="0" sz="1100" spc="-5">
                <a:latin typeface="Times New Roman"/>
                <a:cs typeface="Times New Roman"/>
              </a:rPr>
              <a:t>becomes more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more metaphoric,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vague </a:t>
            </a:r>
            <a:r>
              <a:rPr dirty="0" sz="1100">
                <a:latin typeface="Times New Roman"/>
                <a:cs typeface="Times New Roman"/>
              </a:rPr>
              <a:t>since it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used for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semantically </a:t>
            </a:r>
            <a:r>
              <a:rPr dirty="0" sz="1100" spc="-5">
                <a:latin typeface="Times New Roman"/>
                <a:cs typeface="Times New Roman"/>
              </a:rPr>
              <a:t>different situations. </a:t>
            </a:r>
            <a:r>
              <a:rPr dirty="0" sz="1100">
                <a:latin typeface="Times New Roman"/>
                <a:cs typeface="Times New Roman"/>
              </a:rPr>
              <a:t>Pragmatic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context;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case deictic reference, the crucial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contextual element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point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origin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exchange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dialogue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like: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A-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back?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B-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buses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like.</a:t>
            </a:r>
            <a:endParaRPr sz="11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pick </a:t>
            </a:r>
            <a:r>
              <a:rPr dirty="0" sz="1100">
                <a:latin typeface="Times New Roman"/>
                <a:cs typeface="Times New Roman"/>
              </a:rPr>
              <a:t>out a </a:t>
            </a:r>
            <a:r>
              <a:rPr dirty="0" sz="1100" spc="-5">
                <a:latin typeface="Times New Roman"/>
                <a:cs typeface="Times New Roman"/>
              </a:rPr>
              <a:t>person,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place and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which can </a:t>
            </a:r>
            <a:r>
              <a:rPr dirty="0" sz="1100">
                <a:latin typeface="Times New Roman"/>
                <a:cs typeface="Times New Roman"/>
              </a:rPr>
              <a:t>only be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the context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166: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Place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Deixis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deixis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deixis,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spatial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utterance. </a:t>
            </a:r>
            <a:r>
              <a:rPr dirty="0" sz="1100" spc="-5">
                <a:latin typeface="Times New Roman"/>
                <a:cs typeface="Times New Roman"/>
              </a:rPr>
              <a:t>Similarly </a:t>
            </a:r>
            <a:r>
              <a:rPr dirty="0" sz="1100">
                <a:latin typeface="Times New Roman"/>
                <a:cs typeface="Times New Roman"/>
              </a:rPr>
              <a:t>to person </a:t>
            </a:r>
            <a:r>
              <a:rPr dirty="0" sz="1100" spc="-5">
                <a:latin typeface="Times New Roman"/>
                <a:cs typeface="Times New Roman"/>
              </a:rPr>
              <a:t>deixis, the locations may </a:t>
            </a:r>
            <a:r>
              <a:rPr dirty="0" sz="1100">
                <a:latin typeface="Times New Roman"/>
                <a:cs typeface="Times New Roman"/>
              </a:rPr>
              <a:t>be either those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speaker and </a:t>
            </a:r>
            <a:r>
              <a:rPr dirty="0" sz="1100" spc="-5">
                <a:latin typeface="Times New Roman"/>
                <a:cs typeface="Times New Roman"/>
              </a:rPr>
              <a:t>addressee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deixis,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speaker and </a:t>
            </a:r>
            <a:r>
              <a:rPr dirty="0" sz="1100" spc="-5">
                <a:latin typeface="Times New Roman"/>
                <a:cs typeface="Times New Roman"/>
              </a:rPr>
              <a:t>addressee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of persons or </a:t>
            </a:r>
            <a:r>
              <a:rPr dirty="0" sz="1100" spc="-5">
                <a:latin typeface="Times New Roman"/>
                <a:cs typeface="Times New Roman"/>
              </a:rPr>
              <a:t>objects being referred </a:t>
            </a:r>
            <a:r>
              <a:rPr dirty="0" sz="1100">
                <a:latin typeface="Times New Roman"/>
                <a:cs typeface="Times New Roman"/>
              </a:rPr>
              <a:t>to.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salient English </a:t>
            </a:r>
            <a:r>
              <a:rPr dirty="0" sz="1100">
                <a:latin typeface="Times New Roman"/>
                <a:cs typeface="Times New Roman"/>
              </a:rPr>
              <a:t> examples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the adverbs </a:t>
            </a:r>
            <a:r>
              <a:rPr dirty="0" sz="1100" spc="-5">
                <a:latin typeface="Times New Roman"/>
                <a:cs typeface="Times New Roman"/>
              </a:rPr>
              <a:t>‘here’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‘there’,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demonstratives ‘this’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‘that’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 </a:t>
            </a:r>
            <a:r>
              <a:rPr dirty="0" sz="1100" spc="-5">
                <a:latin typeface="Times New Roman"/>
                <a:cs typeface="Times New Roman"/>
              </a:rPr>
              <a:t>although those are </a:t>
            </a:r>
            <a:r>
              <a:rPr dirty="0" sz="1100">
                <a:latin typeface="Times New Roman"/>
                <a:cs typeface="Times New Roman"/>
              </a:rPr>
              <a:t> far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deictic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enjoy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sitting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5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deictic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in: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‘The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across the </a:t>
            </a:r>
            <a:r>
              <a:rPr dirty="0" sz="1100">
                <a:latin typeface="Times New Roman"/>
                <a:cs typeface="Times New Roman"/>
              </a:rPr>
              <a:t>street.’ </a:t>
            </a:r>
            <a:r>
              <a:rPr dirty="0" sz="1100" spc="-5">
                <a:latin typeface="Times New Roman"/>
                <a:cs typeface="Times New Roman"/>
              </a:rPr>
              <a:t>Where ‘across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street’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understood to mean </a:t>
            </a:r>
            <a:r>
              <a:rPr dirty="0" sz="1100">
                <a:latin typeface="Times New Roman"/>
                <a:cs typeface="Times New Roman"/>
              </a:rPr>
              <a:t>‘across the </a:t>
            </a:r>
            <a:r>
              <a:rPr dirty="0" sz="1100" spc="-5">
                <a:latin typeface="Times New Roman"/>
                <a:cs typeface="Times New Roman"/>
              </a:rPr>
              <a:t>street </a:t>
            </a:r>
            <a:r>
              <a:rPr dirty="0" sz="1100">
                <a:latin typeface="Times New Roman"/>
                <a:cs typeface="Times New Roman"/>
              </a:rPr>
              <a:t>from where I </a:t>
            </a:r>
            <a:r>
              <a:rPr dirty="0" sz="1100" spc="5">
                <a:latin typeface="Times New Roman"/>
                <a:cs typeface="Times New Roman"/>
              </a:rPr>
              <a:t>am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5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interesting </a:t>
            </a:r>
            <a:r>
              <a:rPr dirty="0" sz="1100">
                <a:latin typeface="Times New Roman"/>
                <a:cs typeface="Times New Roman"/>
              </a:rPr>
              <a:t>to note </a:t>
            </a:r>
            <a:r>
              <a:rPr dirty="0" sz="1100" spc="-5">
                <a:latin typeface="Times New Roman"/>
                <a:cs typeface="Times New Roman"/>
              </a:rPr>
              <a:t>that although ‘here’ and ‘there’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used to </a:t>
            </a:r>
            <a:r>
              <a:rPr dirty="0" sz="1100" spc="-5">
                <a:latin typeface="Times New Roman"/>
                <a:cs typeface="Times New Roman"/>
              </a:rPr>
              <a:t>refer to locations near to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far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speaker, respectively, ‘there’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refer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location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addressee, if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speaker.</a:t>
            </a:r>
            <a:endParaRPr sz="1100">
              <a:latin typeface="Times New Roman"/>
              <a:cs typeface="Times New Roman"/>
            </a:endParaRPr>
          </a:p>
          <a:p>
            <a:pPr algn="just" marL="469265" marR="110553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Here is a </a:t>
            </a:r>
            <a:r>
              <a:rPr dirty="0" sz="1100" spc="-5">
                <a:latin typeface="Times New Roman"/>
                <a:cs typeface="Times New Roman"/>
              </a:rPr>
              <a:t>good spot; it is too </a:t>
            </a:r>
            <a:r>
              <a:rPr dirty="0" sz="1100">
                <a:latin typeface="Times New Roman"/>
                <a:cs typeface="Times New Roman"/>
              </a:rPr>
              <a:t>sunny </a:t>
            </a:r>
            <a:r>
              <a:rPr dirty="0" sz="1100" spc="-5">
                <a:latin typeface="Times New Roman"/>
                <a:cs typeface="Times New Roman"/>
              </a:rPr>
              <a:t>over there.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exemplifies the former usage,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latter.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Deictic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Projection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contexts, </a:t>
            </a:r>
            <a:r>
              <a:rPr dirty="0" sz="1100" spc="-5">
                <a:latin typeface="Times New Roman"/>
                <a:cs typeface="Times New Roman"/>
              </a:rPr>
              <a:t>spatial deixis is used metaphorically </a:t>
            </a:r>
            <a:r>
              <a:rPr dirty="0" sz="1100">
                <a:latin typeface="Times New Roman"/>
                <a:cs typeface="Times New Roman"/>
              </a:rPr>
              <a:t>rather </a:t>
            </a:r>
            <a:r>
              <a:rPr dirty="0" sz="1100" spc="-5">
                <a:latin typeface="Times New Roman"/>
                <a:cs typeface="Times New Roman"/>
              </a:rPr>
              <a:t>than physically, i.e., </a:t>
            </a:r>
            <a:r>
              <a:rPr dirty="0" sz="1100">
                <a:latin typeface="Times New Roman"/>
                <a:cs typeface="Times New Roman"/>
              </a:rPr>
              <a:t>the speaker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centre.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253174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above utterance would generally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considered 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speaker's </a:t>
            </a:r>
            <a:r>
              <a:rPr dirty="0" sz="1100">
                <a:latin typeface="Times New Roman"/>
                <a:cs typeface="Times New Roman"/>
              </a:rPr>
              <a:t>expression of </a:t>
            </a:r>
            <a:r>
              <a:rPr dirty="0" sz="1100" spc="-5">
                <a:latin typeface="Times New Roman"/>
                <a:cs typeface="Times New Roman"/>
              </a:rPr>
              <a:t>his/her going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perfectly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</a:t>
            </a:r>
            <a:r>
              <a:rPr dirty="0" sz="1100">
                <a:latin typeface="Times New Roman"/>
                <a:cs typeface="Times New Roman"/>
              </a:rPr>
              <a:t> his</a:t>
            </a:r>
            <a:r>
              <a:rPr dirty="0" sz="1100" spc="-5">
                <a:latin typeface="Times New Roman"/>
                <a:cs typeface="Times New Roman"/>
              </a:rPr>
              <a:t> physical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presence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235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away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Two-way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referential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deictic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system: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proximal,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i.e.,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i.e.,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and/or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addressee.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deixis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participant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event.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Time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Deixis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temporal, deixis concerns itself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various times involved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and referred </a:t>
            </a:r>
            <a:r>
              <a:rPr dirty="0" sz="1100">
                <a:latin typeface="Times New Roman"/>
                <a:cs typeface="Times New Roman"/>
              </a:rPr>
              <a:t>to in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utterance.   </a:t>
            </a:r>
            <a:r>
              <a:rPr dirty="0" sz="1100" spc="-5">
                <a:latin typeface="Times New Roman"/>
                <a:cs typeface="Times New Roman"/>
              </a:rPr>
              <a:t>This includes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adverbs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‘now’, ‘then’, </a:t>
            </a:r>
            <a:r>
              <a:rPr dirty="0" sz="1100" spc="-5">
                <a:latin typeface="Times New Roman"/>
                <a:cs typeface="Times New Roman"/>
              </a:rPr>
              <a:t>‘soon’,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 forth, and also different tenses.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‘tomorrow’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day </a:t>
            </a:r>
            <a:r>
              <a:rPr dirty="0" sz="1100" spc="-5">
                <a:latin typeface="Times New Roman"/>
                <a:cs typeface="Times New Roman"/>
              </a:rPr>
              <a:t>last year was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different day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‘tomorrow’ </a:t>
            </a:r>
            <a:r>
              <a:rPr dirty="0" sz="1100">
                <a:latin typeface="Times New Roman"/>
                <a:cs typeface="Times New Roman"/>
              </a:rPr>
              <a:t>of a day next </a:t>
            </a:r>
            <a:r>
              <a:rPr dirty="0" sz="1100" spc="-5">
                <a:latin typeface="Times New Roman"/>
                <a:cs typeface="Times New Roman"/>
              </a:rPr>
              <a:t>week.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 adverbs can be </a:t>
            </a:r>
            <a:r>
              <a:rPr dirty="0" sz="1100" spc="-5">
                <a:latin typeface="Times New Roman"/>
                <a:cs typeface="Times New Roman"/>
              </a:rPr>
              <a:t>relative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utterance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‘encoding time’ </a:t>
            </a:r>
            <a:r>
              <a:rPr dirty="0" sz="1100">
                <a:latin typeface="Times New Roman"/>
                <a:cs typeface="Times New Roman"/>
              </a:rPr>
              <a:t>or ET or </a:t>
            </a:r>
            <a:r>
              <a:rPr dirty="0" sz="1100" spc="-5">
                <a:latin typeface="Times New Roman"/>
                <a:cs typeface="Times New Roman"/>
              </a:rPr>
              <a:t>when the </a:t>
            </a:r>
            <a:r>
              <a:rPr dirty="0" sz="1100">
                <a:latin typeface="Times New Roman"/>
                <a:cs typeface="Times New Roman"/>
              </a:rPr>
              <a:t> utterance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heard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‘decoding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time’,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DT.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2700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frequently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prerecorded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write:</a:t>
            </a:r>
            <a:endParaRPr sz="1100">
              <a:latin typeface="Times New Roman"/>
              <a:cs typeface="Times New Roman"/>
            </a:endParaRPr>
          </a:p>
          <a:p>
            <a:pPr marL="12700" marR="1887220" indent="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raining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sunny.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Tenses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 separated</a:t>
            </a:r>
            <a:r>
              <a:rPr dirty="0" sz="1100">
                <a:latin typeface="Times New Roman"/>
                <a:cs typeface="Times New Roman"/>
              </a:rPr>
              <a:t> into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(deictic)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went.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gone.</a:t>
            </a:r>
            <a:endParaRPr sz="1100">
              <a:latin typeface="Times New Roman"/>
              <a:cs typeface="Times New Roman"/>
            </a:endParaRPr>
          </a:p>
          <a:p>
            <a:pPr marL="12700" marR="126682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basic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temporal deixis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choice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 forms,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This/last/next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Monday/week/month/year.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Yesterday,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tomorrow.</a:t>
            </a:r>
            <a:endParaRPr sz="1100">
              <a:latin typeface="Times New Roman"/>
              <a:cs typeface="Times New Roman"/>
            </a:endParaRPr>
          </a:p>
          <a:p>
            <a:pPr marL="12700" marR="11430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deixis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are 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>
                <a:latin typeface="Times New Roman"/>
                <a:cs typeface="Times New Roman"/>
              </a:rPr>
              <a:t>to people, </a:t>
            </a:r>
            <a:r>
              <a:rPr dirty="0" sz="1100" spc="-5">
                <a:latin typeface="Times New Roman"/>
                <a:cs typeface="Times New Roman"/>
              </a:rPr>
              <a:t>places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times. Reference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act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speaker (or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enable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</a:t>
            </a:r>
            <a:r>
              <a:rPr dirty="0" sz="1100">
                <a:latin typeface="Times New Roman"/>
                <a:cs typeface="Times New Roman"/>
              </a:rPr>
              <a:t> (or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reader)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reference,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proper nouns,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nouns in </a:t>
            </a:r>
            <a:r>
              <a:rPr dirty="0" sz="1100" spc="-5">
                <a:latin typeface="Times New Roman"/>
                <a:cs typeface="Times New Roman"/>
              </a:rPr>
              <a:t>phrases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pronouns.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sometimes assume that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uniquely,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phrase,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‘range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reference’.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words Jennifer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friend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she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world. Reference depends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it. We can </a:t>
            </a:r>
            <a:r>
              <a:rPr dirty="0" sz="1100" spc="-5">
                <a:latin typeface="Times New Roman"/>
                <a:cs typeface="Times New Roman"/>
              </a:rPr>
              <a:t>also refer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things when we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sure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call them. </a:t>
            </a:r>
            <a:r>
              <a:rPr dirty="0" sz="1100">
                <a:latin typeface="Times New Roman"/>
                <a:cs typeface="Times New Roman"/>
              </a:rPr>
              <a:t>We can use </a:t>
            </a:r>
            <a:r>
              <a:rPr dirty="0" sz="1100" spc="-5">
                <a:latin typeface="Times New Roman"/>
                <a:cs typeface="Times New Roman"/>
              </a:rPr>
              <a:t>expressions such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-5">
                <a:latin typeface="Times New Roman"/>
                <a:cs typeface="Times New Roman"/>
              </a:rPr>
              <a:t>‘blue thing’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‘that sticky stuff’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invent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brand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motorcycle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>
                <a:latin typeface="Times New Roman"/>
                <a:cs typeface="Times New Roman"/>
              </a:rPr>
              <a:t>to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rides 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169: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Inference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successful act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reference depends more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listener’s 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recognize what we mean 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‘dictionary’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67095" cy="24695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5">
                <a:latin typeface="Times New Roman"/>
                <a:cs typeface="Times New Roman"/>
              </a:rPr>
              <a:t> is the spinach salad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sitting?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sitting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door.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look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Chomsky?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Sure,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shelf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clear </a:t>
            </a:r>
            <a:r>
              <a:rPr dirty="0" sz="1100" spc="-5">
                <a:latin typeface="Times New Roman"/>
                <a:cs typeface="Times New Roman"/>
              </a:rPr>
              <a:t>that names </a:t>
            </a:r>
            <a:r>
              <a:rPr dirty="0" sz="1100">
                <a:latin typeface="Times New Roman"/>
                <a:cs typeface="Times New Roman"/>
              </a:rPr>
              <a:t>associated </a:t>
            </a:r>
            <a:r>
              <a:rPr dirty="0" sz="1100" spc="-5">
                <a:latin typeface="Times New Roman"/>
                <a:cs typeface="Times New Roman"/>
              </a:rPr>
              <a:t>with things (salad) may </a:t>
            </a:r>
            <a:r>
              <a:rPr dirty="0" sz="1100">
                <a:latin typeface="Times New Roman"/>
                <a:cs typeface="Times New Roman"/>
              </a:rPr>
              <a:t>refer to </a:t>
            </a:r>
            <a:r>
              <a:rPr dirty="0" sz="1100" spc="-5">
                <a:latin typeface="Times New Roman"/>
                <a:cs typeface="Times New Roman"/>
              </a:rPr>
              <a:t>people,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names </a:t>
            </a:r>
            <a:r>
              <a:rPr dirty="0" sz="1100">
                <a:latin typeface="Times New Roman"/>
                <a:cs typeface="Times New Roman"/>
              </a:rPr>
              <a:t>of people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(Chomsky)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refer to things.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key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5">
                <a:latin typeface="Times New Roman"/>
                <a:cs typeface="Times New Roman"/>
              </a:rPr>
              <a:t>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inference.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inference is </a:t>
            </a:r>
            <a:r>
              <a:rPr dirty="0" sz="1100" spc="-5">
                <a:latin typeface="Times New Roman"/>
                <a:cs typeface="Times New Roman"/>
              </a:rPr>
              <a:t>additional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used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listener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connection between 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 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meant.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operate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inference:</a:t>
            </a:r>
            <a:endParaRPr sz="1100">
              <a:latin typeface="Times New Roman"/>
              <a:cs typeface="Times New Roman"/>
            </a:endParaRPr>
          </a:p>
          <a:p>
            <a:pPr algn="just" marL="469265" marR="6350">
              <a:lnSpc>
                <a:spcPts val="1460"/>
              </a:lnSpc>
              <a:spcBef>
                <a:spcPts val="65"/>
              </a:spcBef>
            </a:pPr>
            <a:r>
              <a:rPr dirty="0" sz="1100" spc="-10">
                <a:latin typeface="Times New Roman"/>
                <a:cs typeface="Times New Roman"/>
              </a:rPr>
              <a:t>‘If </a:t>
            </a:r>
            <a:r>
              <a:rPr dirty="0" sz="1100">
                <a:latin typeface="Times New Roman"/>
                <a:cs typeface="Times New Roman"/>
              </a:rPr>
              <a:t>X is the </a:t>
            </a:r>
            <a:r>
              <a:rPr dirty="0" sz="1100" spc="-10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writer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book, </a:t>
            </a:r>
            <a:r>
              <a:rPr dirty="0" sz="1100">
                <a:latin typeface="Times New Roman"/>
                <a:cs typeface="Times New Roman"/>
              </a:rPr>
              <a:t>then X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used to </a:t>
            </a:r>
            <a:r>
              <a:rPr dirty="0" sz="1100" spc="-5">
                <a:latin typeface="Times New Roman"/>
                <a:cs typeface="Times New Roman"/>
              </a:rPr>
              <a:t>identify </a:t>
            </a:r>
            <a:r>
              <a:rPr dirty="0" sz="1100">
                <a:latin typeface="Times New Roman"/>
                <a:cs typeface="Times New Roman"/>
              </a:rPr>
              <a:t>a copy of a book by that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writer’.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45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inferences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Picasso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museum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Shakespeare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London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Jennifer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Calvin</a:t>
            </a:r>
            <a:r>
              <a:rPr dirty="0" sz="1100">
                <a:latin typeface="Times New Roman"/>
                <a:cs typeface="Times New Roman"/>
              </a:rPr>
              <a:t> Klein.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39567" y="1122934"/>
            <a:ext cx="1494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PRAGMATICS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III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546606"/>
            <a:ext cx="5969635" cy="693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170: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Anaphora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word referring </a:t>
            </a:r>
            <a:r>
              <a:rPr dirty="0" sz="1100">
                <a:latin typeface="Times New Roman"/>
                <a:cs typeface="Times New Roman"/>
              </a:rPr>
              <a:t>back to 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earlier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text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conversation,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avoid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 he,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the verb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so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they.</a:t>
            </a:r>
            <a:endParaRPr sz="1100">
              <a:latin typeface="Times New Roman"/>
              <a:cs typeface="Times New Roman"/>
            </a:endParaRPr>
          </a:p>
          <a:p>
            <a:pPr algn="just" marL="469265" marR="7620" indent="-228600">
              <a:lnSpc>
                <a:spcPct val="1105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We saw a </a:t>
            </a:r>
            <a:r>
              <a:rPr dirty="0" sz="1100" spc="-5">
                <a:latin typeface="Times New Roman"/>
                <a:cs typeface="Times New Roman"/>
              </a:rPr>
              <a:t>funny home video about </a:t>
            </a:r>
            <a:r>
              <a:rPr dirty="0" sz="1100">
                <a:latin typeface="Times New Roman"/>
                <a:cs typeface="Times New Roman"/>
              </a:rPr>
              <a:t>a boy </a:t>
            </a:r>
            <a:r>
              <a:rPr dirty="0" sz="1100" spc="-5">
                <a:latin typeface="Times New Roman"/>
                <a:cs typeface="Times New Roman"/>
              </a:rPr>
              <a:t>washing </a:t>
            </a:r>
            <a:r>
              <a:rPr dirty="0" sz="1100">
                <a:latin typeface="Times New Roman"/>
                <a:cs typeface="Times New Roman"/>
              </a:rPr>
              <a:t>a puppy in a </a:t>
            </a:r>
            <a:r>
              <a:rPr dirty="0" sz="1100" spc="-5">
                <a:latin typeface="Times New Roman"/>
                <a:cs typeface="Times New Roman"/>
              </a:rPr>
              <a:t>small bath. The </a:t>
            </a:r>
            <a:r>
              <a:rPr dirty="0" sz="1100">
                <a:latin typeface="Times New Roman"/>
                <a:cs typeface="Times New Roman"/>
              </a:rPr>
              <a:t>puppy </a:t>
            </a:r>
            <a:r>
              <a:rPr dirty="0" sz="1100" spc="-5">
                <a:latin typeface="Times New Roman"/>
                <a:cs typeface="Times New Roman"/>
              </a:rPr>
              <a:t>started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struggling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shaking </a:t>
            </a:r>
            <a:r>
              <a:rPr dirty="0" sz="1100">
                <a:latin typeface="Times New Roman"/>
                <a:cs typeface="Times New Roman"/>
              </a:rPr>
              <a:t>and the boy </a:t>
            </a:r>
            <a:r>
              <a:rPr dirty="0" sz="1100" spc="-5">
                <a:latin typeface="Times New Roman"/>
                <a:cs typeface="Times New Roman"/>
              </a:rPr>
              <a:t>got really </a:t>
            </a:r>
            <a:r>
              <a:rPr dirty="0" sz="1100">
                <a:latin typeface="Times New Roman"/>
                <a:cs typeface="Times New Roman"/>
              </a:rPr>
              <a:t>wet.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let go, it </a:t>
            </a:r>
            <a:r>
              <a:rPr dirty="0" sz="1100">
                <a:latin typeface="Times New Roman"/>
                <a:cs typeface="Times New Roman"/>
              </a:rPr>
              <a:t>jumped </a:t>
            </a:r>
            <a:r>
              <a:rPr dirty="0" sz="1100" spc="-5">
                <a:latin typeface="Times New Roman"/>
                <a:cs typeface="Times New Roman"/>
              </a:rPr>
              <a:t>out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bath and </a:t>
            </a:r>
            <a:r>
              <a:rPr dirty="0" sz="1100">
                <a:latin typeface="Times New Roman"/>
                <a:cs typeface="Times New Roman"/>
              </a:rPr>
              <a:t> ran</a:t>
            </a:r>
            <a:r>
              <a:rPr dirty="0" sz="1100" spc="-5">
                <a:latin typeface="Times New Roman"/>
                <a:cs typeface="Times New Roman"/>
              </a:rPr>
              <a:t> away.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Referential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subsequent)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anaphora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(‘referring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back’).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antecedent.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boy,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puppy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antecedents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puppy,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‘anaphoric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Anaphora can </a:t>
            </a:r>
            <a:r>
              <a:rPr dirty="0" sz="1100">
                <a:latin typeface="Times New Roman"/>
                <a:cs typeface="Times New Roman"/>
              </a:rPr>
              <a:t>be deﬁned </a:t>
            </a:r>
            <a:r>
              <a:rPr dirty="0" sz="1100" spc="-5">
                <a:latin typeface="Times New Roman"/>
                <a:cs typeface="Times New Roman"/>
              </a:rPr>
              <a:t>as subsequent reference to an already introduced entity. The connection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antecedent</a:t>
            </a:r>
            <a:r>
              <a:rPr dirty="0" sz="1100">
                <a:latin typeface="Times New Roman"/>
                <a:cs typeface="Times New Roman"/>
              </a:rPr>
              <a:t> and an anaphoric </a:t>
            </a:r>
            <a:r>
              <a:rPr dirty="0" sz="1100" spc="-5">
                <a:latin typeface="Times New Roman"/>
                <a:cs typeface="Times New Roman"/>
              </a:rPr>
              <a:t>expression is</a:t>
            </a:r>
            <a:r>
              <a:rPr dirty="0" sz="1100">
                <a:latin typeface="Times New Roman"/>
                <a:cs typeface="Times New Roman"/>
              </a:rPr>
              <a:t> created by the </a:t>
            </a:r>
            <a:r>
              <a:rPr dirty="0" sz="1100" spc="5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pronoun (it),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phrase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‘the’ plus the antecedent noun (the puppy)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another noun that </a:t>
            </a:r>
            <a:r>
              <a:rPr dirty="0" sz="1100">
                <a:latin typeface="Times New Roman"/>
                <a:cs typeface="Times New Roman"/>
              </a:rPr>
              <a:t>is related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antecedent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room).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antecedents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anaphoric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house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rent,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kitchen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asked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downtown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house,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kitchen.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Presupposition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What a </a:t>
            </a:r>
            <a:r>
              <a:rPr dirty="0" sz="1100" spc="-5">
                <a:latin typeface="Times New Roman"/>
                <a:cs typeface="Times New Roman"/>
              </a:rPr>
              <a:t>speaker (or writer) assumes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true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by a listener (or </a:t>
            </a:r>
            <a:r>
              <a:rPr dirty="0" sz="1100" spc="-5">
                <a:latin typeface="Times New Roman"/>
                <a:cs typeface="Times New Roman"/>
              </a:rPr>
              <a:t>reader)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described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 </a:t>
            </a:r>
            <a:r>
              <a:rPr dirty="0" sz="1100">
                <a:latin typeface="Times New Roman"/>
                <a:cs typeface="Times New Roman"/>
              </a:rPr>
              <a:t>whose</a:t>
            </a:r>
            <a:r>
              <a:rPr dirty="0" sz="1100" spc="-5">
                <a:latin typeface="Times New Roman"/>
                <a:cs typeface="Times New Roman"/>
              </a:rPr>
              <a:t> truth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smoking?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 b="1">
                <a:latin typeface="Times New Roman"/>
                <a:cs typeface="Times New Roman"/>
              </a:rPr>
              <a:t>Presuppositions: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smoke.</a:t>
            </a:r>
            <a:r>
              <a:rPr dirty="0" sz="1100">
                <a:latin typeface="Times New Roman"/>
                <a:cs typeface="Times New Roman"/>
              </a:rPr>
              <a:t> You no longer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so.</a:t>
            </a:r>
            <a:endParaRPr sz="1100">
              <a:latin typeface="Times New Roman"/>
              <a:cs typeface="Times New Roman"/>
            </a:endParaRPr>
          </a:p>
          <a:p>
            <a:pPr marL="12700" marR="142240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Built-in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useful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devices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interrogators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lawyers.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Okay,</a:t>
            </a:r>
            <a:r>
              <a:rPr dirty="0" sz="1100">
                <a:latin typeface="Times New Roman"/>
                <a:cs typeface="Times New Roman"/>
              </a:rPr>
              <a:t> Mr.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Buckingham,</a:t>
            </a:r>
            <a:r>
              <a:rPr dirty="0" sz="1100">
                <a:latin typeface="Times New Roman"/>
                <a:cs typeface="Times New Roman"/>
              </a:rPr>
              <a:t> how </a:t>
            </a:r>
            <a:r>
              <a:rPr dirty="0" sz="1100" spc="-5">
                <a:latin typeface="Times New Roman"/>
                <a:cs typeface="Times New Roman"/>
              </a:rPr>
              <a:t>fast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cheese?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Presupposition: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cheese.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waiting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outside.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Presupposition: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brother.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820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172: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Constancy under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Negation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Test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620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underlying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</a:t>
            </a:r>
            <a:r>
              <a:rPr dirty="0" sz="1100">
                <a:latin typeface="Times New Roman"/>
                <a:cs typeface="Times New Roman"/>
              </a:rPr>
              <a:t> true.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wreck.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wreck.</a:t>
            </a:r>
            <a:endParaRPr sz="1100">
              <a:latin typeface="Times New Roman"/>
              <a:cs typeface="Times New Roman"/>
            </a:endParaRPr>
          </a:p>
          <a:p>
            <a:pPr marL="12700" marR="698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underlying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car.)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true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5">
                <a:latin typeface="Times New Roman"/>
                <a:cs typeface="Times New Roman"/>
              </a:rPr>
              <a:t> ‘constancy 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negation’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lovely.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lovely.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Presupposition: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John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regret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John</a:t>
            </a:r>
            <a:r>
              <a:rPr dirty="0" sz="1100" spc="-5">
                <a:latin typeface="Times New Roman"/>
                <a:cs typeface="Times New Roman"/>
              </a:rPr>
              <a:t> regrets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Presupposition: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John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regret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regret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presupposition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married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her)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constant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regret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afﬁrmative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negative.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173: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Speech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speech </a:t>
            </a:r>
            <a:r>
              <a:rPr dirty="0" sz="1100" spc="-5">
                <a:latin typeface="Times New Roman"/>
                <a:cs typeface="Times New Roman"/>
              </a:rPr>
              <a:t>act is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utterance that has performative </a:t>
            </a:r>
            <a:r>
              <a:rPr dirty="0" sz="1100">
                <a:latin typeface="Times New Roman"/>
                <a:cs typeface="Times New Roman"/>
              </a:rPr>
              <a:t>function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communication.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"Almost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>
                <a:latin typeface="Times New Roman"/>
                <a:cs typeface="Times New Roman"/>
              </a:rPr>
              <a:t>speech act is </a:t>
            </a:r>
            <a:r>
              <a:rPr dirty="0" sz="1100" spc="-5">
                <a:latin typeface="Times New Roman"/>
                <a:cs typeface="Times New Roman"/>
              </a:rPr>
              <a:t>really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performance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acts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once, distinguished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speaker's </a:t>
            </a:r>
            <a:r>
              <a:rPr dirty="0" sz="1100">
                <a:latin typeface="Times New Roman"/>
                <a:cs typeface="Times New Roman"/>
              </a:rPr>
              <a:t>intention. </a:t>
            </a:r>
            <a:r>
              <a:rPr dirty="0" sz="1100" spc="-5">
                <a:latin typeface="Times New Roman"/>
                <a:cs typeface="Times New Roman"/>
              </a:rPr>
              <a:t>This is the </a:t>
            </a:r>
            <a:r>
              <a:rPr dirty="0" sz="1100">
                <a:latin typeface="Times New Roman"/>
                <a:cs typeface="Times New Roman"/>
              </a:rPr>
              <a:t>act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saying something; what </a:t>
            </a:r>
            <a:r>
              <a:rPr dirty="0" sz="1100">
                <a:latin typeface="Times New Roman"/>
                <a:cs typeface="Times New Roman"/>
              </a:rPr>
              <a:t>one is </a:t>
            </a:r>
            <a:r>
              <a:rPr dirty="0" sz="1100" spc="-5">
                <a:latin typeface="Times New Roman"/>
                <a:cs typeface="Times New Roman"/>
              </a:rPr>
              <a:t>saying </a:t>
            </a:r>
            <a:r>
              <a:rPr dirty="0" sz="1100">
                <a:latin typeface="Times New Roman"/>
                <a:cs typeface="Times New Roman"/>
              </a:rPr>
              <a:t>it, </a:t>
            </a:r>
            <a:r>
              <a:rPr dirty="0" sz="1100" spc="-5">
                <a:latin typeface="Times New Roman"/>
                <a:cs typeface="Times New Roman"/>
              </a:rPr>
              <a:t>such as </a:t>
            </a:r>
            <a:r>
              <a:rPr dirty="0" sz="1100">
                <a:latin typeface="Times New Roman"/>
                <a:cs typeface="Times New Roman"/>
              </a:rPr>
              <a:t> requesting or </a:t>
            </a:r>
            <a:r>
              <a:rPr dirty="0" sz="1100" spc="-5">
                <a:latin typeface="Times New Roman"/>
                <a:cs typeface="Times New Roman"/>
              </a:rPr>
              <a:t>promising, and </a:t>
            </a:r>
            <a:r>
              <a:rPr dirty="0" sz="1100">
                <a:latin typeface="Times New Roman"/>
                <a:cs typeface="Times New Roman"/>
              </a:rPr>
              <a:t>how one </a:t>
            </a:r>
            <a:r>
              <a:rPr dirty="0" sz="1100" spc="-5">
                <a:latin typeface="Times New Roman"/>
                <a:cs typeface="Times New Roman"/>
              </a:rPr>
              <a:t>is trying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affect </a:t>
            </a:r>
            <a:r>
              <a:rPr dirty="0" sz="1100" spc="-10">
                <a:latin typeface="Times New Roman"/>
                <a:cs typeface="Times New Roman"/>
              </a:rPr>
              <a:t>one's </a:t>
            </a:r>
            <a:r>
              <a:rPr dirty="0" sz="1100">
                <a:latin typeface="Times New Roman"/>
                <a:cs typeface="Times New Roman"/>
              </a:rPr>
              <a:t>audience".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term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act </a:t>
            </a:r>
            <a:r>
              <a:rPr dirty="0" sz="1100">
                <a:latin typeface="Times New Roman"/>
                <a:cs typeface="Times New Roman"/>
              </a:rPr>
              <a:t>is used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‘requesting’,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‘commanding’,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‘questioning’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‘informing’.</a:t>
            </a:r>
            <a:r>
              <a:rPr dirty="0" sz="1100">
                <a:latin typeface="Times New Roman"/>
                <a:cs typeface="Times New Roman"/>
              </a:rPr>
              <a:t> We can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deﬁne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utterance.</a:t>
            </a:r>
            <a:endParaRPr sz="1100">
              <a:latin typeface="Times New Roman"/>
              <a:cs typeface="Times New Roman"/>
            </a:endParaRPr>
          </a:p>
          <a:p>
            <a:pPr algn="just" marL="247396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I’ll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six.</a:t>
            </a:r>
            <a:endParaRPr sz="11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You are not just speaking; you </a:t>
            </a:r>
            <a:r>
              <a:rPr dirty="0" sz="1100">
                <a:latin typeface="Times New Roman"/>
                <a:cs typeface="Times New Roman"/>
              </a:rPr>
              <a:t>seem to be </a:t>
            </a:r>
            <a:r>
              <a:rPr dirty="0" sz="1100" spc="-5">
                <a:latin typeface="Times New Roman"/>
                <a:cs typeface="Times New Roman"/>
              </a:rPr>
              <a:t>performing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speech act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‘promising’. Speech acts 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analyzed</a:t>
            </a:r>
            <a:r>
              <a:rPr dirty="0" sz="1100">
                <a:latin typeface="Times New Roman"/>
                <a:cs typeface="Times New Roman"/>
              </a:rPr>
              <a:t> on 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levels:</a:t>
            </a:r>
            <a:endParaRPr sz="1100">
              <a:latin typeface="Times New Roman"/>
              <a:cs typeface="Times New Roman"/>
            </a:endParaRPr>
          </a:p>
          <a:p>
            <a:pPr algn="just" marL="12700" marR="10795">
              <a:lnSpc>
                <a:spcPct val="110000"/>
              </a:lnSpc>
              <a:spcBef>
                <a:spcPts val="15"/>
              </a:spcBef>
            </a:pPr>
            <a:r>
              <a:rPr dirty="0" sz="1100" b="1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locutionary act: </a:t>
            </a:r>
            <a:r>
              <a:rPr dirty="0" sz="1100" spc="-5">
                <a:latin typeface="Times New Roman"/>
                <a:cs typeface="Times New Roman"/>
              </a:rPr>
              <a:t>The performance </a:t>
            </a:r>
            <a:r>
              <a:rPr dirty="0" sz="1100">
                <a:latin typeface="Times New Roman"/>
                <a:cs typeface="Times New Roman"/>
              </a:rPr>
              <a:t>of an </a:t>
            </a:r>
            <a:r>
              <a:rPr dirty="0" sz="1100" spc="-5">
                <a:latin typeface="Times New Roman"/>
                <a:cs typeface="Times New Roman"/>
              </a:rPr>
              <a:t>utterance: the actual utterance </a:t>
            </a:r>
            <a:r>
              <a:rPr dirty="0" sz="1100">
                <a:latin typeface="Times New Roman"/>
                <a:cs typeface="Times New Roman"/>
              </a:rPr>
              <a:t>and its </a:t>
            </a:r>
            <a:r>
              <a:rPr dirty="0" sz="1100" spc="-5">
                <a:latin typeface="Times New Roman"/>
                <a:cs typeface="Times New Roman"/>
              </a:rPr>
              <a:t>ostensible meaning, </a:t>
            </a:r>
            <a:r>
              <a:rPr dirty="0" sz="1100">
                <a:latin typeface="Times New Roman"/>
                <a:cs typeface="Times New Roman"/>
              </a:rPr>
              <a:t> comprising phonetic, </a:t>
            </a:r>
            <a:r>
              <a:rPr dirty="0" sz="1100" spc="-5">
                <a:latin typeface="Times New Roman"/>
                <a:cs typeface="Times New Roman"/>
              </a:rPr>
              <a:t>phatic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rhetic acts corresponding </a:t>
            </a:r>
            <a:r>
              <a:rPr dirty="0" sz="1100">
                <a:latin typeface="Times New Roman"/>
                <a:cs typeface="Times New Roman"/>
              </a:rPr>
              <a:t>to the verbal, </a:t>
            </a:r>
            <a:r>
              <a:rPr dirty="0" sz="1100" spc="-5">
                <a:latin typeface="Times New Roman"/>
                <a:cs typeface="Times New Roman"/>
              </a:rPr>
              <a:t>syntactic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semantic 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5">
                <a:latin typeface="Times New Roman"/>
                <a:cs typeface="Times New Roman"/>
              </a:rPr>
              <a:t> meaningful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utterance.</a:t>
            </a:r>
            <a:endParaRPr sz="11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illocutionary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act: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'illocutionary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force'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intended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significance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action.</a:t>
            </a:r>
            <a:endParaRPr sz="1100">
              <a:latin typeface="Times New Roman"/>
              <a:cs typeface="Times New Roman"/>
            </a:endParaRPr>
          </a:p>
          <a:p>
            <a:pPr algn="just" marL="12700" marR="9525">
              <a:lnSpc>
                <a:spcPct val="110200"/>
              </a:lnSpc>
              <a:spcBef>
                <a:spcPts val="10"/>
              </a:spcBef>
            </a:pPr>
            <a:r>
              <a:rPr dirty="0" sz="1100" b="1">
                <a:latin typeface="Times New Roman"/>
                <a:cs typeface="Times New Roman"/>
              </a:rPr>
              <a:t>Perlocutionary </a:t>
            </a:r>
            <a:r>
              <a:rPr dirty="0" sz="1100" spc="-5" b="1">
                <a:latin typeface="Times New Roman"/>
                <a:cs typeface="Times New Roman"/>
              </a:rPr>
              <a:t>act: </a:t>
            </a:r>
            <a:r>
              <a:rPr dirty="0" sz="1100" spc="-1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actual effect,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persuading, convincing, scaring, enlightening, inspiring,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otherwise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Direct Speech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255" indent="456565">
              <a:lnSpc>
                <a:spcPct val="110500"/>
              </a:lnSpc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direct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relationship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between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the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structure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and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the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communicative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function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of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the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utterance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is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called </a:t>
            </a:r>
            <a:r>
              <a:rPr dirty="0" sz="1050" spc="-24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direct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speech </a:t>
            </a:r>
            <a:r>
              <a:rPr dirty="0" sz="1050" spc="-5">
                <a:latin typeface="Times New Roman"/>
                <a:cs typeface="Times New Roman"/>
              </a:rPr>
              <a:t>act.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know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marL="12700" marR="346202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ask someone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information.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>
                <a:latin typeface="Times New Roman"/>
                <a:cs typeface="Times New Roman"/>
              </a:rPr>
              <a:t> ride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bicycle?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270" cy="3332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175: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Indirect Speech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Acts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indirect relationship 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function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utterance. </a:t>
            </a:r>
            <a:r>
              <a:rPr dirty="0" sz="1100">
                <a:latin typeface="Times New Roman"/>
                <a:cs typeface="Times New Roman"/>
              </a:rPr>
              <a:t> ‘Can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pass the </a:t>
            </a:r>
            <a:r>
              <a:rPr dirty="0" sz="1100" spc="-5">
                <a:latin typeface="Times New Roman"/>
                <a:cs typeface="Times New Roman"/>
              </a:rPr>
              <a:t>salt’? This structure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really asking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question about someone’s ability.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used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a request.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indirect </a:t>
            </a:r>
            <a:r>
              <a:rPr dirty="0" sz="1100">
                <a:latin typeface="Times New Roman"/>
                <a:cs typeface="Times New Roman"/>
              </a:rPr>
              <a:t>speech act is a </a:t>
            </a:r>
            <a:r>
              <a:rPr dirty="0" sz="1100" spc="-5">
                <a:latin typeface="Times New Roman"/>
                <a:cs typeface="Times New Roman"/>
              </a:rPr>
              <a:t>syntactic structure associated with the function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question, </a:t>
            </a:r>
            <a:r>
              <a:rPr dirty="0" sz="1100">
                <a:latin typeface="Times New Roman"/>
                <a:cs typeface="Times New Roman"/>
              </a:rPr>
              <a:t> but </a:t>
            </a:r>
            <a:r>
              <a:rPr dirty="0" sz="1100" spc="-5">
                <a:latin typeface="Times New Roman"/>
                <a:cs typeface="Times New Roman"/>
              </a:rPr>
              <a:t>in 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function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request. Whenever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of the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example above is </a:t>
            </a:r>
            <a:r>
              <a:rPr dirty="0" sz="1100">
                <a:latin typeface="Times New Roman"/>
                <a:cs typeface="Times New Roman"/>
              </a:rPr>
              <a:t> used to </a:t>
            </a:r>
            <a:r>
              <a:rPr dirty="0" sz="1100" spc="-5">
                <a:latin typeface="Times New Roman"/>
                <a:cs typeface="Times New Roman"/>
              </a:rPr>
              <a:t>perform </a:t>
            </a:r>
            <a:r>
              <a:rPr dirty="0" sz="1100">
                <a:latin typeface="Times New Roman"/>
                <a:cs typeface="Times New Roman"/>
              </a:rPr>
              <a:t>a function other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one listed beside </a:t>
            </a:r>
            <a:r>
              <a:rPr dirty="0" sz="1100">
                <a:latin typeface="Times New Roman"/>
                <a:cs typeface="Times New Roman"/>
              </a:rPr>
              <a:t>it on </a:t>
            </a:r>
            <a:r>
              <a:rPr dirty="0" sz="1100" spc="-5">
                <a:latin typeface="Times New Roman"/>
                <a:cs typeface="Times New Roman"/>
              </a:rPr>
              <a:t>the same </a:t>
            </a:r>
            <a:r>
              <a:rPr dirty="0" sz="1100">
                <a:latin typeface="Times New Roman"/>
                <a:cs typeface="Times New Roman"/>
              </a:rPr>
              <a:t>line, the </a:t>
            </a:r>
            <a:r>
              <a:rPr dirty="0" sz="1100" spc="-5">
                <a:latin typeface="Times New Roman"/>
                <a:cs typeface="Times New Roman"/>
              </a:rPr>
              <a:t>result is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indirect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act.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sentence ‘You left the door open’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request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closing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door. Failing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recognize </a:t>
            </a:r>
            <a:r>
              <a:rPr dirty="0" sz="1100">
                <a:latin typeface="Times New Roman"/>
                <a:cs typeface="Times New Roman"/>
              </a:rPr>
              <a:t> another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confusion:</a:t>
            </a:r>
            <a:endParaRPr sz="1100">
              <a:latin typeface="Times New Roman"/>
              <a:cs typeface="Times New Roman"/>
            </a:endParaRPr>
          </a:p>
          <a:p>
            <a:pPr algn="just" marL="573405" marR="1733550" indent="-190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Visitor: excuse me.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you know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the ambassador hotel </a:t>
            </a:r>
            <a:r>
              <a:rPr dirty="0" sz="1100">
                <a:latin typeface="Times New Roman"/>
                <a:cs typeface="Times New Roman"/>
              </a:rPr>
              <a:t>is?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Passer-by:</a:t>
            </a:r>
            <a:r>
              <a:rPr dirty="0" sz="1100">
                <a:latin typeface="Times New Roman"/>
                <a:cs typeface="Times New Roman"/>
              </a:rPr>
              <a:t> oh </a:t>
            </a:r>
            <a:r>
              <a:rPr dirty="0" sz="1100" spc="-5">
                <a:latin typeface="Times New Roman"/>
                <a:cs typeface="Times New Roman"/>
              </a:rPr>
              <a:t>sure,</a:t>
            </a:r>
            <a:r>
              <a:rPr dirty="0" sz="1100">
                <a:latin typeface="Times New Roman"/>
                <a:cs typeface="Times New Roman"/>
              </a:rPr>
              <a:t> 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is.</a:t>
            </a:r>
            <a:r>
              <a:rPr dirty="0" sz="1100">
                <a:latin typeface="Times New Roman"/>
                <a:cs typeface="Times New Roman"/>
              </a:rPr>
              <a:t> (and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Indirect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acts are based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some complex social assumptions. </a:t>
            </a:r>
            <a:r>
              <a:rPr dirty="0" sz="1100">
                <a:latin typeface="Times New Roman"/>
                <a:cs typeface="Times New Roman"/>
              </a:rPr>
              <a:t>They were actually used </a:t>
            </a:r>
            <a:r>
              <a:rPr dirty="0" sz="1100" spc="-1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 requests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directions. Indirect speech acts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that actions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requests, presented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gentler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 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0576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open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me!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2810" cy="76746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DISCOURSE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ANALYSIS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176: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favour:</a:t>
            </a:r>
            <a:endParaRPr sz="1100">
              <a:latin typeface="Times New Roman"/>
              <a:cs typeface="Times New Roman"/>
            </a:endParaRPr>
          </a:p>
          <a:p>
            <a:pPr marL="47625" marR="1778635" indent="-35560">
              <a:lnSpc>
                <a:spcPts val="1460"/>
              </a:lnSpc>
              <a:spcBef>
                <a:spcPts val="65"/>
              </a:spcBef>
            </a:pPr>
            <a:r>
              <a:rPr dirty="0" sz="1100" i="1">
                <a:latin typeface="Times New Roman"/>
                <a:cs typeface="Times New Roman"/>
              </a:rPr>
              <a:t>‘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favour’.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small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favour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 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pause.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do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a favour, </a:t>
            </a:r>
            <a:r>
              <a:rPr dirty="0" sz="1100" spc="-5">
                <a:latin typeface="Times New Roman"/>
                <a:cs typeface="Times New Roman"/>
              </a:rPr>
              <a:t>hand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pencil’.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are,</a:t>
            </a:r>
            <a:endParaRPr sz="1100">
              <a:latin typeface="Times New Roman"/>
              <a:cs typeface="Times New Roman"/>
            </a:endParaRPr>
          </a:p>
          <a:p>
            <a:pPr marL="12700" marR="422084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‘Could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10">
                <a:latin typeface="Times New Roman"/>
                <a:cs typeface="Times New Roman"/>
              </a:rPr>
              <a:t>me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favour’ </a:t>
            </a:r>
            <a:r>
              <a:rPr dirty="0" sz="1100">
                <a:latin typeface="Times New Roman"/>
                <a:cs typeface="Times New Roman"/>
              </a:rPr>
              <a:t>…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‘Yeah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?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What?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Well’ </a:t>
            </a:r>
            <a:r>
              <a:rPr dirty="0" sz="110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longer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takes them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it, the bigger </a:t>
            </a:r>
            <a:r>
              <a:rPr dirty="0" sz="1100">
                <a:latin typeface="Times New Roman"/>
                <a:cs typeface="Times New Roman"/>
              </a:rPr>
              <a:t>the pain it is </a:t>
            </a:r>
            <a:r>
              <a:rPr dirty="0" sz="1100" spc="-5">
                <a:latin typeface="Times New Roman"/>
                <a:cs typeface="Times New Roman"/>
              </a:rPr>
              <a:t>going </a:t>
            </a:r>
            <a:r>
              <a:rPr dirty="0" sz="1100">
                <a:latin typeface="Times New Roman"/>
                <a:cs typeface="Times New Roman"/>
              </a:rPr>
              <a:t>to be.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 observations are made, </a:t>
            </a:r>
            <a:r>
              <a:rPr dirty="0" sz="1100">
                <a:latin typeface="Times New Roman"/>
                <a:cs typeface="Times New Roman"/>
              </a:rPr>
              <a:t>not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components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language, but 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used, even how </a:t>
            </a:r>
            <a:r>
              <a:rPr dirty="0" sz="1100">
                <a:latin typeface="Times New Roman"/>
                <a:cs typeface="Times New Roman"/>
              </a:rPr>
              <a:t>pauses </a:t>
            </a:r>
            <a:r>
              <a:rPr dirty="0" sz="1100" spc="-5">
                <a:latin typeface="Times New Roman"/>
                <a:cs typeface="Times New Roman"/>
              </a:rPr>
              <a:t>are used.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were,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effect, asking </a:t>
            </a:r>
            <a:r>
              <a:rPr dirty="0" sz="1100">
                <a:latin typeface="Times New Roman"/>
                <a:cs typeface="Times New Roman"/>
              </a:rPr>
              <a:t>how it 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language-users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successfully interpret what other language-users intend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convey.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</a:t>
            </a:r>
            <a:r>
              <a:rPr dirty="0" sz="1100" spc="-5">
                <a:latin typeface="Times New Roman"/>
                <a:cs typeface="Times New Roman"/>
              </a:rPr>
              <a:t>we carry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investigation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</a:t>
            </a:r>
            <a:r>
              <a:rPr dirty="0" sz="1100" spc="-5">
                <a:latin typeface="Times New Roman"/>
                <a:cs typeface="Times New Roman"/>
              </a:rPr>
              <a:t> of 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well-constructed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jumbled 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incoherent?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 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say?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successfully take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 in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activity</a:t>
            </a:r>
            <a:r>
              <a:rPr dirty="0" sz="1100" spc="-5">
                <a:latin typeface="Times New Roman"/>
                <a:cs typeface="Times New Roman"/>
              </a:rPr>
              <a:t> 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We are </a:t>
            </a:r>
            <a:r>
              <a:rPr dirty="0" sz="1100" spc="-5">
                <a:latin typeface="Times New Roman"/>
                <a:cs typeface="Times New Roman"/>
              </a:rPr>
              <a:t>undertaking 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analysis. Discourse </a:t>
            </a:r>
            <a:r>
              <a:rPr dirty="0" sz="1100">
                <a:latin typeface="Times New Roman"/>
                <a:cs typeface="Times New Roman"/>
              </a:rPr>
              <a:t>analysts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 ‘beyond </a:t>
            </a:r>
            <a:r>
              <a:rPr dirty="0" sz="1100" spc="-5">
                <a:latin typeface="Times New Roman"/>
                <a:cs typeface="Times New Roman"/>
              </a:rPr>
              <a:t>the sentence </a:t>
            </a:r>
            <a:r>
              <a:rPr dirty="0" sz="1100">
                <a:latin typeface="Times New Roman"/>
                <a:cs typeface="Times New Roman"/>
              </a:rPr>
              <a:t>boundary’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prefer to analyze </a:t>
            </a:r>
            <a:r>
              <a:rPr dirty="0" sz="1100">
                <a:latin typeface="Times New Roman"/>
                <a:cs typeface="Times New Roman"/>
              </a:rPr>
              <a:t>naturally </a:t>
            </a:r>
            <a:r>
              <a:rPr dirty="0" sz="1100" spc="-5">
                <a:latin typeface="Times New Roman"/>
                <a:cs typeface="Times New Roman"/>
              </a:rPr>
              <a:t>occurring language </a:t>
            </a:r>
            <a:r>
              <a:rPr dirty="0" sz="1100">
                <a:latin typeface="Times New Roman"/>
                <a:cs typeface="Times New Roman"/>
              </a:rPr>
              <a:t>use,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invented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Origins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Zelling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Harris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connected </a:t>
            </a:r>
            <a:r>
              <a:rPr dirty="0" sz="1100">
                <a:latin typeface="Times New Roman"/>
                <a:cs typeface="Times New Roman"/>
              </a:rPr>
              <a:t>speech or </a:t>
            </a:r>
            <a:r>
              <a:rPr dirty="0" sz="1100" spc="-5">
                <a:latin typeface="Times New Roman"/>
                <a:cs typeface="Times New Roman"/>
              </a:rPr>
              <a:t>writing for continuing descriptive linguistics beyond the limit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 sentence </a:t>
            </a:r>
            <a:r>
              <a:rPr dirty="0" sz="1100">
                <a:latin typeface="Times New Roman"/>
                <a:cs typeface="Times New Roman"/>
              </a:rPr>
              <a:t>at a </a:t>
            </a:r>
            <a:r>
              <a:rPr dirty="0" sz="1100" spc="-5">
                <a:latin typeface="Times New Roman"/>
                <a:cs typeface="Times New Roman"/>
              </a:rPr>
              <a:t>time and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correlating </a:t>
            </a:r>
            <a:r>
              <a:rPr dirty="0" sz="1100">
                <a:latin typeface="Times New Roman"/>
                <a:cs typeface="Times New Roman"/>
              </a:rPr>
              <a:t>culture </a:t>
            </a:r>
            <a:r>
              <a:rPr dirty="0" sz="1100" spc="-5">
                <a:latin typeface="Times New Roman"/>
                <a:cs typeface="Times New Roman"/>
              </a:rPr>
              <a:t>and language’ (Harris, </a:t>
            </a:r>
            <a:r>
              <a:rPr dirty="0" sz="1100">
                <a:latin typeface="Times New Roman"/>
                <a:cs typeface="Times New Roman"/>
              </a:rPr>
              <a:t>1952).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‘discourse’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deﬁned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‘language </a:t>
            </a:r>
            <a:r>
              <a:rPr dirty="0" sz="1100">
                <a:latin typeface="Times New Roman"/>
                <a:cs typeface="Times New Roman"/>
              </a:rPr>
              <a:t>beyond the </a:t>
            </a:r>
            <a:r>
              <a:rPr dirty="0" sz="1100" spc="-5">
                <a:latin typeface="Times New Roman"/>
                <a:cs typeface="Times New Roman"/>
              </a:rPr>
              <a:t>sentence’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typically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language-users,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capable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recognizing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correct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versus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fragments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headlines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collide;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die,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happened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ﬁrst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the cause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happened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143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fragmentary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messages. Discourse analysis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how stretches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communication assume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>
                <a:latin typeface="Times New Roman"/>
                <a:cs typeface="Times New Roman"/>
              </a:rPr>
              <a:t> purpose,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unity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their users.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790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178: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Critical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 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(CDA)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 field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is concerned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studying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 and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texts to reveal the discursive </a:t>
            </a:r>
            <a:r>
              <a:rPr dirty="0" sz="1100">
                <a:latin typeface="Times New Roman"/>
                <a:cs typeface="Times New Roman"/>
              </a:rPr>
              <a:t>sources of </a:t>
            </a:r>
            <a:r>
              <a:rPr dirty="0" sz="1100" spc="-5">
                <a:latin typeface="Times New Roman"/>
                <a:cs typeface="Times New Roman"/>
              </a:rPr>
              <a:t>power, dominance, inequality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bias.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 examines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these discursive </a:t>
            </a:r>
            <a:r>
              <a:rPr dirty="0" sz="1100">
                <a:latin typeface="Times New Roman"/>
                <a:cs typeface="Times New Roman"/>
              </a:rPr>
              <a:t>sources </a:t>
            </a:r>
            <a:r>
              <a:rPr dirty="0" sz="1100" spc="-5">
                <a:latin typeface="Times New Roman"/>
                <a:cs typeface="Times New Roman"/>
              </a:rPr>
              <a:t>are maintained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reproduced within specific social, political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 contexts. Fairclough </a:t>
            </a:r>
            <a:r>
              <a:rPr dirty="0" sz="1100">
                <a:latin typeface="Times New Roman"/>
                <a:cs typeface="Times New Roman"/>
              </a:rPr>
              <a:t>(1993) </a:t>
            </a:r>
            <a:r>
              <a:rPr dirty="0" sz="1100" spc="-5">
                <a:latin typeface="Times New Roman"/>
                <a:cs typeface="Times New Roman"/>
              </a:rPr>
              <a:t>defines CDA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analysis, </a:t>
            </a:r>
            <a:r>
              <a:rPr dirty="0" sz="1100" spc="-1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aims </a:t>
            </a:r>
            <a:r>
              <a:rPr dirty="0" sz="1100">
                <a:latin typeface="Times New Roman"/>
                <a:cs typeface="Times New Roman"/>
              </a:rPr>
              <a:t>to explore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 opaque </a:t>
            </a:r>
            <a:r>
              <a:rPr dirty="0" sz="1100" spc="-5">
                <a:latin typeface="Times New Roman"/>
                <a:cs typeface="Times New Roman"/>
              </a:rPr>
              <a:t>relationships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causality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discursive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algn="just" marL="211454" indent="-199390">
              <a:lnSpc>
                <a:spcPct val="100000"/>
              </a:lnSpc>
              <a:spcBef>
                <a:spcPts val="145"/>
              </a:spcBef>
              <a:buAutoNum type="alphaLcParenBoth" startAt="2"/>
              <a:tabLst>
                <a:tab pos="21209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processes.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lphaLcParenBoth" startAt="2"/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Critical Discourse Analysis aims </a:t>
            </a:r>
            <a:r>
              <a:rPr dirty="0" sz="1100">
                <a:latin typeface="Times New Roman"/>
                <a:cs typeface="Times New Roman"/>
              </a:rPr>
              <a:t>to help reveal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hidden </a:t>
            </a:r>
            <a:r>
              <a:rPr dirty="0" sz="1100">
                <a:latin typeface="Times New Roman"/>
                <a:cs typeface="Times New Roman"/>
              </a:rPr>
              <a:t>and ‘out of </a:t>
            </a:r>
            <a:r>
              <a:rPr dirty="0" sz="1100" spc="-5">
                <a:latin typeface="Times New Roman"/>
                <a:cs typeface="Times New Roman"/>
              </a:rPr>
              <a:t>sight’ values,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positions, and perspectives </a:t>
            </a:r>
            <a:r>
              <a:rPr dirty="0" sz="1100">
                <a:latin typeface="Times New Roman"/>
                <a:cs typeface="Times New Roman"/>
              </a:rPr>
              <a:t>positions, </a:t>
            </a:r>
            <a:r>
              <a:rPr dirty="0" sz="1100" spc="-5">
                <a:latin typeface="Times New Roman"/>
                <a:cs typeface="Times New Roman"/>
              </a:rPr>
              <a:t>and perspectives. CDA </a:t>
            </a:r>
            <a:r>
              <a:rPr dirty="0" sz="1100">
                <a:latin typeface="Times New Roman"/>
                <a:cs typeface="Times New Roman"/>
              </a:rPr>
              <a:t>explores the connection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political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CDA: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145"/>
              </a:spcBef>
              <a:buFont typeface="Times New Roman"/>
              <a:buAutoNum type="alphaL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Social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 issues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constructed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reflected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35"/>
              </a:spcBef>
              <a:buFont typeface="Times New Roman"/>
              <a:buAutoNum type="alphaL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-5">
                <a:latin typeface="Times New Roman"/>
                <a:cs typeface="Times New Roman"/>
              </a:rPr>
              <a:t> negotiated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50"/>
              </a:spcBef>
              <a:buFont typeface="Times New Roman"/>
              <a:buAutoNum type="alphaLcPeriod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reflects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reproduces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relations</a:t>
            </a:r>
            <a:endParaRPr sz="1100">
              <a:latin typeface="Times New Roman"/>
              <a:cs typeface="Times New Roman"/>
            </a:endParaRPr>
          </a:p>
          <a:p>
            <a:pPr lvl="1" marL="469265" indent="-228600">
              <a:lnSpc>
                <a:spcPct val="100000"/>
              </a:lnSpc>
              <a:spcBef>
                <a:spcPts val="50"/>
              </a:spcBef>
              <a:buFont typeface="Times New Roman"/>
              <a:buAutoNum type="alphaL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Ideologies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discourse.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179: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Interpreting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Discourse Analysis—what </a:t>
            </a:r>
            <a:r>
              <a:rPr dirty="0" sz="1100">
                <a:latin typeface="Times New Roman"/>
                <a:cs typeface="Times New Roman"/>
              </a:rPr>
              <a:t>speakers </a:t>
            </a:r>
            <a:r>
              <a:rPr dirty="0" sz="1100" spc="-10">
                <a:latin typeface="Times New Roman"/>
                <a:cs typeface="Times New Roman"/>
              </a:rPr>
              <a:t>do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conversation--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'beyond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sentence'. </a:t>
            </a:r>
            <a:r>
              <a:rPr dirty="0" sz="1100">
                <a:latin typeface="Times New Roman"/>
                <a:cs typeface="Times New Roman"/>
              </a:rPr>
              <a:t>But taking them </a:t>
            </a:r>
            <a:r>
              <a:rPr dirty="0" sz="1100" spc="-5">
                <a:latin typeface="Times New Roman"/>
                <a:cs typeface="Times New Roman"/>
              </a:rPr>
              <a:t>together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discourse makes you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back and revise </a:t>
            </a:r>
            <a:r>
              <a:rPr dirty="0" sz="1100" spc="-5">
                <a:latin typeface="Times New Roman"/>
                <a:cs typeface="Times New Roman"/>
              </a:rPr>
              <a:t>your interpretation 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you've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coping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breaking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English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possible to </a:t>
            </a:r>
            <a:r>
              <a:rPr dirty="0" sz="1100">
                <a:latin typeface="Times New Roman"/>
                <a:cs typeface="Times New Roman"/>
              </a:rPr>
              <a:t>interpret.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simply </a:t>
            </a:r>
            <a:r>
              <a:rPr dirty="0" sz="1100">
                <a:latin typeface="Times New Roman"/>
                <a:cs typeface="Times New Roman"/>
              </a:rPr>
              <a:t>reject </a:t>
            </a:r>
            <a:r>
              <a:rPr dirty="0" sz="1100" spc="-5">
                <a:latin typeface="Times New Roman"/>
                <a:cs typeface="Times New Roman"/>
              </a:rPr>
              <a:t>the text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ungrammatical,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sense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algn="just" marL="12700" indent="4565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‘My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natal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small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town,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Riyadh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Saudi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Arabia.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  <a:p>
            <a:pPr algn="just" marL="12700" marR="10795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between my town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Riyadh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seven miles exactly. </a:t>
            </a:r>
            <a:r>
              <a:rPr dirty="0" sz="1100" spc="-10">
                <a:latin typeface="Times New Roman"/>
                <a:cs typeface="Times New Roman"/>
              </a:rPr>
              <a:t>Its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 masani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means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Factories.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takes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people’s carrier.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childhood I remember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live there </a:t>
            </a:r>
            <a:r>
              <a:rPr dirty="0" sz="1100">
                <a:latin typeface="Times New Roman"/>
                <a:cs typeface="Times New Roman"/>
              </a:rPr>
              <a:t> were 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farmer.’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key </a:t>
            </a:r>
            <a:r>
              <a:rPr dirty="0" sz="1100">
                <a:latin typeface="Times New Roman"/>
                <a:cs typeface="Times New Roman"/>
              </a:rPr>
              <a:t>elements </a:t>
            </a:r>
            <a:r>
              <a:rPr dirty="0" sz="1100" spc="-5">
                <a:latin typeface="Times New Roman"/>
                <a:cs typeface="Times New Roman"/>
              </a:rPr>
              <a:t>investigated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discourse are: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effort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interpret </a:t>
            </a:r>
            <a:r>
              <a:rPr dirty="0" sz="1100">
                <a:latin typeface="Times New Roman"/>
                <a:cs typeface="Times New Roman"/>
              </a:rPr>
              <a:t>(or to 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interpreted)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how we accomplish </a:t>
            </a:r>
            <a:r>
              <a:rPr dirty="0" sz="1100">
                <a:latin typeface="Times New Roman"/>
                <a:cs typeface="Times New Roman"/>
              </a:rPr>
              <a:t>it. We </a:t>
            </a:r>
            <a:r>
              <a:rPr dirty="0" sz="1100" spc="-5">
                <a:latin typeface="Times New Roman"/>
                <a:cs typeface="Times New Roman"/>
              </a:rPr>
              <a:t>certainly </a:t>
            </a:r>
            <a:r>
              <a:rPr dirty="0" sz="1100">
                <a:latin typeface="Times New Roman"/>
                <a:cs typeface="Times New Roman"/>
              </a:rPr>
              <a:t>rely on </a:t>
            </a:r>
            <a:r>
              <a:rPr dirty="0" sz="1100" spc="-5">
                <a:latin typeface="Times New Roman"/>
                <a:cs typeface="Times New Roman"/>
              </a:rPr>
              <a:t>what we know about linguistic form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language-users,</a:t>
            </a:r>
            <a:r>
              <a:rPr dirty="0" sz="1100">
                <a:latin typeface="Times New Roman"/>
                <a:cs typeface="Times New Roman"/>
              </a:rPr>
              <a:t> 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180: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Cohesion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Cohesion </a:t>
            </a:r>
            <a:r>
              <a:rPr dirty="0" sz="1100" spc="-5">
                <a:latin typeface="Times New Roman"/>
                <a:cs typeface="Times New Roman"/>
              </a:rPr>
              <a:t>is the grammatical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lexical linking within </a:t>
            </a:r>
            <a:r>
              <a:rPr dirty="0" sz="1100">
                <a:latin typeface="Times New Roman"/>
                <a:cs typeface="Times New Roman"/>
              </a:rPr>
              <a:t>a text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sentence that holds </a:t>
            </a:r>
            <a:r>
              <a:rPr dirty="0" sz="1100">
                <a:latin typeface="Times New Roman"/>
                <a:cs typeface="Times New Roman"/>
              </a:rPr>
              <a:t>a text </a:t>
            </a:r>
            <a:r>
              <a:rPr dirty="0" sz="1100" spc="-5">
                <a:latin typeface="Times New Roman"/>
                <a:cs typeface="Times New Roman"/>
              </a:rPr>
              <a:t>together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gives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meaning.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related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broader concept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coherence.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structure depends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factors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those required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cohesion,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connections</a:t>
            </a:r>
            <a:r>
              <a:rPr dirty="0" sz="1100">
                <a:latin typeface="Times New Roman"/>
                <a:cs typeface="Times New Roman"/>
              </a:rPr>
              <a:t> 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‘My </a:t>
            </a:r>
            <a:r>
              <a:rPr dirty="0" sz="1100" spc="-5">
                <a:latin typeface="Times New Roman"/>
                <a:cs typeface="Times New Roman"/>
              </a:rPr>
              <a:t>father once bought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Lincoln convertible. He did it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saving </a:t>
            </a:r>
            <a:r>
              <a:rPr dirty="0" sz="1100">
                <a:latin typeface="Times New Roman"/>
                <a:cs typeface="Times New Roman"/>
              </a:rPr>
              <a:t>every penny he </a:t>
            </a:r>
            <a:r>
              <a:rPr dirty="0" sz="1100" spc="5">
                <a:latin typeface="Times New Roman"/>
                <a:cs typeface="Times New Roman"/>
              </a:rPr>
              <a:t>could. </a:t>
            </a:r>
            <a:r>
              <a:rPr dirty="0" sz="1100" spc="-5">
                <a:latin typeface="Times New Roman"/>
                <a:cs typeface="Times New Roman"/>
              </a:rPr>
              <a:t>That car </a:t>
            </a:r>
            <a:r>
              <a:rPr dirty="0" sz="1100">
                <a:latin typeface="Times New Roman"/>
                <a:cs typeface="Times New Roman"/>
              </a:rPr>
              <a:t> would be </a:t>
            </a:r>
            <a:r>
              <a:rPr dirty="0" sz="1100" spc="-5">
                <a:latin typeface="Times New Roman"/>
                <a:cs typeface="Times New Roman"/>
              </a:rPr>
              <a:t>worth </a:t>
            </a:r>
            <a:r>
              <a:rPr dirty="0" sz="1100">
                <a:latin typeface="Times New Roman"/>
                <a:cs typeface="Times New Roman"/>
              </a:rPr>
              <a:t>a fortune </a:t>
            </a:r>
            <a:r>
              <a:rPr dirty="0" sz="1100" spc="-5">
                <a:latin typeface="Times New Roman"/>
                <a:cs typeface="Times New Roman"/>
              </a:rPr>
              <a:t>nowadays. </a:t>
            </a:r>
            <a:r>
              <a:rPr dirty="0" sz="1100">
                <a:latin typeface="Times New Roman"/>
                <a:cs typeface="Times New Roman"/>
              </a:rPr>
              <a:t>However, he </a:t>
            </a:r>
            <a:r>
              <a:rPr dirty="0" sz="1100" spc="-5">
                <a:latin typeface="Times New Roman"/>
                <a:cs typeface="Times New Roman"/>
              </a:rPr>
              <a:t>sold </a:t>
            </a:r>
            <a:r>
              <a:rPr dirty="0" sz="1100">
                <a:latin typeface="Times New Roman"/>
                <a:cs typeface="Times New Roman"/>
              </a:rPr>
              <a:t>it to </a:t>
            </a:r>
            <a:r>
              <a:rPr dirty="0" sz="1100" spc="-5">
                <a:latin typeface="Times New Roman"/>
                <a:cs typeface="Times New Roman"/>
              </a:rPr>
              <a:t>help pay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college </a:t>
            </a:r>
            <a:r>
              <a:rPr dirty="0" sz="1100" spc="-5">
                <a:latin typeface="Times New Roman"/>
                <a:cs typeface="Times New Roman"/>
              </a:rPr>
              <a:t>education. Sometimes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think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 rather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convertible.’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9195"/>
            <a:ext cx="5971540" cy="6534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marR="5080" indent="-228600">
              <a:lnSpc>
                <a:spcPct val="1111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Connections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throughout: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he;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Lincoln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Connections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phrases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Lincoln convertible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convertible.</a:t>
            </a:r>
            <a:endParaRPr sz="1100">
              <a:latin typeface="Times New Roman"/>
              <a:cs typeface="Times New Roman"/>
            </a:endParaRPr>
          </a:p>
          <a:p>
            <a:pPr marL="469265" marR="10795" indent="-228600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meaning,such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‘money’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(bought–saving–penny–worth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fortune–sold–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‘Time’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nowadays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sometimes).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connector</a:t>
            </a:r>
            <a:r>
              <a:rPr dirty="0" sz="1100" spc="-5">
                <a:latin typeface="Times New Roman"/>
                <a:cs typeface="Times New Roman"/>
              </a:rPr>
              <a:t> (However)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 </a:t>
            </a:r>
            <a:r>
              <a:rPr dirty="0" sz="1100">
                <a:latin typeface="Times New Roman"/>
                <a:cs typeface="Times New Roman"/>
              </a:rPr>
              <a:t>before.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verb tenses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ﬁrst </a:t>
            </a: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5">
                <a:latin typeface="Times New Roman"/>
                <a:cs typeface="Times New Roman"/>
              </a:rPr>
              <a:t>sentences are all in the </a:t>
            </a:r>
            <a:r>
              <a:rPr dirty="0" sz="1100">
                <a:latin typeface="Times New Roman"/>
                <a:cs typeface="Times New Roman"/>
              </a:rPr>
              <a:t>past. A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indicated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 </a:t>
            </a:r>
            <a:r>
              <a:rPr dirty="0" sz="1100" spc="-5">
                <a:latin typeface="Times New Roman"/>
                <a:cs typeface="Times New Roman"/>
              </a:rPr>
              <a:t>tense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ﬁnal sentence.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appropriate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cohesive ties may </a:t>
            </a:r>
            <a:r>
              <a:rPr dirty="0" sz="1100">
                <a:latin typeface="Times New Roman"/>
                <a:cs typeface="Times New Roman"/>
              </a:rPr>
              <a:t>be a </a:t>
            </a:r>
            <a:r>
              <a:rPr dirty="0" sz="1100" spc="-5">
                <a:latin typeface="Times New Roman"/>
                <a:cs typeface="Times New Roman"/>
              </a:rPr>
              <a:t>crucial factor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judgments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Cohesive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next.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Cohesion alone 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sufﬁcient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enable </a:t>
            </a:r>
            <a:r>
              <a:rPr dirty="0" sz="1100">
                <a:latin typeface="Times New Roman"/>
                <a:cs typeface="Times New Roman"/>
              </a:rPr>
              <a:t>connectedness. There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other factors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lead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 </a:t>
            </a:r>
            <a:r>
              <a:rPr dirty="0" sz="1100">
                <a:latin typeface="Times New Roman"/>
                <a:cs typeface="Times New Roman"/>
              </a:rPr>
              <a:t>connected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Coherence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Coherence is </a:t>
            </a:r>
            <a:r>
              <a:rPr dirty="0" sz="1100" spc="-5">
                <a:latin typeface="Times New Roman"/>
                <a:cs typeface="Times New Roman"/>
              </a:rPr>
              <a:t>the key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concept ‘everything ﬁtting </a:t>
            </a:r>
            <a:r>
              <a:rPr dirty="0" sz="1100">
                <a:latin typeface="Times New Roman"/>
                <a:cs typeface="Times New Roman"/>
              </a:rPr>
              <a:t>together </a:t>
            </a:r>
            <a:r>
              <a:rPr dirty="0" sz="1100" spc="-5">
                <a:latin typeface="Times New Roman"/>
                <a:cs typeface="Times New Roman"/>
              </a:rPr>
              <a:t>well’.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beyond the text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people, not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structures.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people who ‘make </a:t>
            </a:r>
            <a:r>
              <a:rPr dirty="0" sz="1100">
                <a:latin typeface="Times New Roman"/>
                <a:cs typeface="Times New Roman"/>
              </a:rPr>
              <a:t>sense’ of </a:t>
            </a:r>
            <a:r>
              <a:rPr dirty="0" sz="1100" spc="-5">
                <a:latin typeface="Times New Roman"/>
                <a:cs typeface="Times New Roman"/>
              </a:rPr>
              <a:t>what they read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hear. </a:t>
            </a:r>
            <a:r>
              <a:rPr dirty="0" sz="1100">
                <a:latin typeface="Times New Roman"/>
                <a:cs typeface="Times New Roman"/>
              </a:rPr>
              <a:t> People </a:t>
            </a:r>
            <a:r>
              <a:rPr dirty="0" sz="1100" spc="-5">
                <a:latin typeface="Times New Roman"/>
                <a:cs typeface="Times New Roman"/>
              </a:rPr>
              <a:t>arrive </a:t>
            </a:r>
            <a:r>
              <a:rPr dirty="0" sz="1100">
                <a:latin typeface="Times New Roman"/>
                <a:cs typeface="Times New Roman"/>
              </a:rPr>
              <a:t>at an </a:t>
            </a:r>
            <a:r>
              <a:rPr dirty="0" sz="1100" spc="-5">
                <a:latin typeface="Times New Roman"/>
                <a:cs typeface="Times New Roman"/>
              </a:rPr>
              <a:t>interpretation that is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line with their experiences, the way the world </a:t>
            </a:r>
            <a:r>
              <a:rPr dirty="0" sz="1100">
                <a:latin typeface="Times New Roman"/>
                <a:cs typeface="Times New Roman"/>
              </a:rPr>
              <a:t>is. </a:t>
            </a:r>
            <a:r>
              <a:rPr dirty="0" sz="1100" spc="-5">
                <a:latin typeface="Times New Roman"/>
                <a:cs typeface="Times New Roman"/>
              </a:rPr>
              <a:t>Coherence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own understanding </a:t>
            </a:r>
            <a:r>
              <a:rPr dirty="0" sz="1100">
                <a:latin typeface="Times New Roman"/>
                <a:cs typeface="Times New Roman"/>
              </a:rPr>
              <a:t>of something based on </a:t>
            </a:r>
            <a:r>
              <a:rPr dirty="0" sz="1100" spc="-5">
                <a:latin typeface="Times New Roman"/>
                <a:cs typeface="Times New Roman"/>
              </a:rPr>
              <a:t>personal experiences.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way to incorporate all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disparate </a:t>
            </a:r>
            <a:r>
              <a:rPr dirty="0" sz="1100">
                <a:latin typeface="Times New Roman"/>
                <a:cs typeface="Times New Roman"/>
              </a:rPr>
              <a:t>elements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coherent interpretation,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ﬁlling the gaps that exist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texts. Coherence </a:t>
            </a:r>
            <a:r>
              <a:rPr dirty="0" sz="1100">
                <a:latin typeface="Times New Roman"/>
                <a:cs typeface="Times New Roman"/>
              </a:rPr>
              <a:t>creates </a:t>
            </a:r>
            <a:r>
              <a:rPr dirty="0" sz="1100" spc="-5">
                <a:latin typeface="Times New Roman"/>
                <a:cs typeface="Times New Roman"/>
              </a:rPr>
              <a:t>meaningful connections not actually </a:t>
            </a:r>
            <a:r>
              <a:rPr dirty="0" sz="1100">
                <a:latin typeface="Times New Roman"/>
                <a:cs typeface="Times New Roman"/>
              </a:rPr>
              <a:t>expressed by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words. The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restricted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trying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understand “odd” texts.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 interactions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said.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442150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HER: That’s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telephone.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HIM:</a:t>
            </a:r>
            <a:r>
              <a:rPr dirty="0" sz="1100">
                <a:latin typeface="Times New Roman"/>
                <a:cs typeface="Times New Roman"/>
              </a:rPr>
              <a:t> I’m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bath.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HER: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O.K.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5">
                <a:latin typeface="Times New Roman"/>
                <a:cs typeface="Times New Roman"/>
              </a:rPr>
              <a:t> makes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him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perform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action.</a:t>
            </a:r>
            <a:endParaRPr sz="1100">
              <a:latin typeface="Times New Roman"/>
              <a:cs typeface="Times New Roman"/>
            </a:endParaRPr>
          </a:p>
          <a:p>
            <a:pPr marL="12700" marR="29838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request.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5">
                <a:latin typeface="Times New Roman"/>
                <a:cs typeface="Times New Roman"/>
              </a:rPr>
              <a:t> undertakes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requires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reasonable 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 took </a:t>
            </a:r>
            <a:r>
              <a:rPr dirty="0" sz="1100">
                <a:latin typeface="Times New Roman"/>
                <a:cs typeface="Times New Roman"/>
              </a:rPr>
              <a:t>place in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conversation, then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clear that language-users must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of how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 spc="-10">
                <a:latin typeface="Times New Roman"/>
                <a:cs typeface="Times New Roman"/>
              </a:rPr>
              <a:t>works 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“linguistic”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57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DISCOURSE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ANALYSIS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182: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Typology: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Spoken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Written,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Informal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Spoken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Written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 divided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Speaking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Listening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Reading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Spoken discourse is less planned and orderly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conversation.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open </a:t>
            </a:r>
            <a:r>
              <a:rPr dirty="0" sz="1100" spc="-5">
                <a:latin typeface="Times New Roman"/>
                <a:cs typeface="Times New Roman"/>
              </a:rPr>
              <a:t>to intervention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receivers.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kinds of spoken </a:t>
            </a:r>
            <a:r>
              <a:rPr dirty="0" sz="1100" spc="-5">
                <a:latin typeface="Times New Roman"/>
                <a:cs typeface="Times New Roman"/>
              </a:rPr>
              <a:t>discourses are </a:t>
            </a:r>
            <a:r>
              <a:rPr dirty="0" sz="1100">
                <a:latin typeface="Times New Roman"/>
                <a:cs typeface="Times New Roman"/>
              </a:rPr>
              <a:t>lesson, </a:t>
            </a:r>
            <a:r>
              <a:rPr dirty="0" sz="1100" spc="-5">
                <a:latin typeface="Times New Roman"/>
                <a:cs typeface="Times New Roman"/>
              </a:rPr>
              <a:t>lectures, interviews, court trials etc. These </a:t>
            </a:r>
            <a:r>
              <a:rPr dirty="0" sz="1100">
                <a:latin typeface="Times New Roman"/>
                <a:cs typeface="Times New Roman"/>
              </a:rPr>
              <a:t> spoken </a:t>
            </a:r>
            <a:r>
              <a:rPr dirty="0" sz="1100" spc="-5">
                <a:latin typeface="Times New Roman"/>
                <a:cs typeface="Times New Roman"/>
              </a:rPr>
              <a:t>discourses are planned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extent by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who initiates the conversation,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subordinate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reading novel, </a:t>
            </a:r>
            <a:r>
              <a:rPr dirty="0" sz="1100" spc="-5">
                <a:latin typeface="Times New Roman"/>
                <a:cs typeface="Times New Roman"/>
              </a:rPr>
              <a:t>one cannot influence its development. At times readers may </a:t>
            </a:r>
            <a:r>
              <a:rPr dirty="0" sz="1100">
                <a:latin typeface="Times New Roman"/>
                <a:cs typeface="Times New Roman"/>
              </a:rPr>
              <a:t>affect the </a:t>
            </a:r>
            <a:r>
              <a:rPr dirty="0" sz="1100" spc="-5">
                <a:latin typeface="Times New Roman"/>
                <a:cs typeface="Times New Roman"/>
              </a:rPr>
              <a:t>written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discourse, e.g., </a:t>
            </a:r>
            <a:r>
              <a:rPr dirty="0" sz="1100">
                <a:latin typeface="Times New Roman"/>
                <a:cs typeface="Times New Roman"/>
              </a:rPr>
              <a:t>a person is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something and the </a:t>
            </a:r>
            <a:r>
              <a:rPr dirty="0" sz="1100" spc="-5">
                <a:latin typeface="Times New Roman"/>
                <a:cs typeface="Times New Roman"/>
              </a:rPr>
              <a:t>response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market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influence his writing.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teacher as a </a:t>
            </a:r>
            <a:r>
              <a:rPr dirty="0" sz="1100" spc="-5">
                <a:latin typeface="Times New Roman"/>
                <a:cs typeface="Times New Roman"/>
              </a:rPr>
              <a:t>reader sends the essays back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students </a:t>
            </a:r>
            <a:r>
              <a:rPr dirty="0" sz="1100">
                <a:latin typeface="Times New Roman"/>
                <a:cs typeface="Times New Roman"/>
              </a:rPr>
              <a:t>to be rewritten.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editors ask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written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difference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production.</a:t>
            </a:r>
            <a:r>
              <a:rPr dirty="0" sz="1100">
                <a:latin typeface="Times New Roman"/>
                <a:cs typeface="Times New Roman"/>
              </a:rPr>
              <a:t> Fundamental</a:t>
            </a:r>
            <a:r>
              <a:rPr dirty="0" sz="1100" spc="-5">
                <a:latin typeface="Times New Roman"/>
                <a:cs typeface="Times New Roman"/>
              </a:rPr>
              <a:t> distinction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Less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endParaRPr sz="1100">
              <a:latin typeface="Times New Roman"/>
              <a:cs typeface="Times New Roman"/>
            </a:endParaRPr>
          </a:p>
          <a:p>
            <a:pPr marL="469265" marR="1206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unplanned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learner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informal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unpredictable.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Discourse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Sentence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two different kinds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potential objects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study: One abstracted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literacy </a:t>
            </a:r>
            <a:r>
              <a:rPr dirty="0" sz="1100">
                <a:latin typeface="Times New Roman"/>
                <a:cs typeface="Times New Roman"/>
              </a:rPr>
              <a:t>or to study how </a:t>
            </a:r>
            <a:r>
              <a:rPr dirty="0" sz="1100" spc="-5">
                <a:latin typeface="Times New Roman"/>
                <a:cs typeface="Times New Roman"/>
              </a:rPr>
              <a:t>the rules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work, the other has been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15">
                <a:latin typeface="Times New Roman"/>
                <a:cs typeface="Times New Roman"/>
              </a:rPr>
              <a:t>to 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>
                <a:latin typeface="Times New Roman"/>
                <a:cs typeface="Times New Roman"/>
              </a:rPr>
              <a:t>something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felt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coherent. The later kind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communication is called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 </a:t>
            </a:r>
            <a:r>
              <a:rPr dirty="0" sz="1100">
                <a:latin typeface="Times New Roman"/>
                <a:cs typeface="Times New Roman"/>
              </a:rPr>
              <a:t>The search for </a:t>
            </a:r>
            <a:r>
              <a:rPr dirty="0" sz="1100" spc="-5">
                <a:latin typeface="Times New Roman"/>
                <a:cs typeface="Times New Roman"/>
              </a:rPr>
              <a:t>what gives discourse coherence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discourse analysis. </a:t>
            </a:r>
            <a:r>
              <a:rPr dirty="0" sz="1100">
                <a:latin typeface="Times New Roman"/>
                <a:cs typeface="Times New Roman"/>
              </a:rPr>
              <a:t>Look at the </a:t>
            </a:r>
            <a:r>
              <a:rPr dirty="0" sz="1100" spc="-5">
                <a:latin typeface="Times New Roman"/>
                <a:cs typeface="Times New Roman"/>
              </a:rPr>
              <a:t>following </a:t>
            </a:r>
            <a:r>
              <a:rPr dirty="0" sz="1100">
                <a:latin typeface="Times New Roman"/>
                <a:cs typeface="Times New Roman"/>
              </a:rPr>
              <a:t> stretches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John </a:t>
            </a:r>
            <a:r>
              <a:rPr dirty="0" sz="1100" spc="-5">
                <a:latin typeface="Times New Roman"/>
                <a:cs typeface="Times New Roman"/>
              </a:rPr>
              <a:t>considers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lunatic.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you people is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fish?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Please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throw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floor!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Cross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1846.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98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mutually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well-formed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mistakes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right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Discourse treats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source, conforming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them when it needs </a:t>
            </a:r>
            <a:r>
              <a:rPr dirty="0" sz="1100">
                <a:latin typeface="Times New Roman"/>
                <a:cs typeface="Times New Roman"/>
              </a:rPr>
              <a:t>to,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departing </a:t>
            </a:r>
            <a:r>
              <a:rPr dirty="0" sz="1100">
                <a:latin typeface="Times New Roman"/>
                <a:cs typeface="Times New Roman"/>
              </a:rPr>
              <a:t>from them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>
                <a:latin typeface="Times New Roman"/>
                <a:cs typeface="Times New Roman"/>
              </a:rPr>
              <a:t>not.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 can </a:t>
            </a:r>
            <a:r>
              <a:rPr dirty="0" sz="1100">
                <a:latin typeface="Times New Roman"/>
                <a:cs typeface="Times New Roman"/>
              </a:rPr>
              <a:t>be anything from a </a:t>
            </a:r>
            <a:r>
              <a:rPr dirty="0" sz="1100" spc="-5">
                <a:latin typeface="Times New Roman"/>
                <a:cs typeface="Times New Roman"/>
              </a:rPr>
              <a:t>grunt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single expletive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‘War and Peace’.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conformity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does not matter, but </a:t>
            </a:r>
            <a:r>
              <a:rPr dirty="0" sz="1100" spc="-5">
                <a:latin typeface="Times New Roman"/>
                <a:cs typeface="Times New Roman"/>
              </a:rPr>
              <a:t>the fact that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communicates and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its receivers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coherent text values much. </a:t>
            </a:r>
            <a:r>
              <a:rPr dirty="0" sz="1100">
                <a:latin typeface="Times New Roman"/>
                <a:cs typeface="Times New Roman"/>
              </a:rPr>
              <a:t>There is a degree of </a:t>
            </a:r>
            <a:r>
              <a:rPr dirty="0" sz="1100" spc="-5">
                <a:latin typeface="Times New Roman"/>
                <a:cs typeface="Times New Roman"/>
              </a:rPr>
              <a:t>subjectivity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identifying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stretch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Discourse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12700" marR="2097405">
              <a:lnSpc>
                <a:spcPts val="2900"/>
              </a:lnSpc>
              <a:spcBef>
                <a:spcPts val="355"/>
              </a:spcBef>
            </a:pPr>
            <a:r>
              <a:rPr dirty="0" sz="1100" spc="-5">
                <a:latin typeface="Times New Roman"/>
                <a:cs typeface="Times New Roman"/>
              </a:rPr>
              <a:t>Observe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</a:t>
            </a:r>
            <a:r>
              <a:rPr dirty="0" sz="1100" spc="-1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 (N)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foreigner </a:t>
            </a:r>
            <a:r>
              <a:rPr dirty="0" sz="1100">
                <a:latin typeface="Times New Roman"/>
                <a:cs typeface="Times New Roman"/>
              </a:rPr>
              <a:t>(F).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…* well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anyway…</a:t>
            </a:r>
            <a:r>
              <a:rPr dirty="0" sz="1100">
                <a:latin typeface="Times New Roman"/>
                <a:cs typeface="Times New Roman"/>
              </a:rPr>
              <a:t> *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going*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goodbye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095"/>
              </a:lnSpc>
            </a:pPr>
            <a:r>
              <a:rPr dirty="0" sz="1100">
                <a:latin typeface="Times New Roman"/>
                <a:cs typeface="Times New Roman"/>
              </a:rPr>
              <a:t>F: but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N: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12700" marR="429450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F: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‘anyway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F: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*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Conversation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discourse constructed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negotiated between the participants, following </a:t>
            </a:r>
            <a:r>
              <a:rPr dirty="0" sz="1100" spc="10">
                <a:latin typeface="Times New Roman"/>
                <a:cs typeface="Times New Roman"/>
              </a:rPr>
              <a:t>pre-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ways;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pauses,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laughters,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 words, and established formulae.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conventions enable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participant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orientate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what is </a:t>
            </a:r>
            <a:r>
              <a:rPr dirty="0" sz="1100">
                <a:latin typeface="Times New Roman"/>
                <a:cs typeface="Times New Roman"/>
              </a:rPr>
              <a:t> happening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analyst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accounting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utterance. </a:t>
            </a:r>
            <a:r>
              <a:rPr dirty="0" sz="1100" spc="-5">
                <a:latin typeface="Times New Roman"/>
                <a:cs typeface="Times New Roman"/>
              </a:rPr>
              <a:t>Language teacher considers powerful clues concerning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sensation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floundering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conversation. Culture-specific rules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procedures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turn-taking provide </a:t>
            </a:r>
            <a:r>
              <a:rPr dirty="0" sz="1100">
                <a:latin typeface="Times New Roman"/>
                <a:cs typeface="Times New Roman"/>
              </a:rPr>
              <a:t>ample </a:t>
            </a:r>
            <a:r>
              <a:rPr dirty="0" sz="1100" spc="-5">
                <a:latin typeface="Times New Roman"/>
                <a:cs typeface="Times New Roman"/>
              </a:rPr>
              <a:t>breeding ground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misunderstanding </a:t>
            </a:r>
            <a:r>
              <a:rPr dirty="0" sz="1100">
                <a:latin typeface="Times New Roman"/>
                <a:cs typeface="Times New Roman"/>
              </a:rPr>
              <a:t>just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entering </a:t>
            </a:r>
            <a:r>
              <a:rPr dirty="0" sz="1100" spc="-5">
                <a:latin typeface="Times New Roman"/>
                <a:cs typeface="Times New Roman"/>
              </a:rPr>
              <a:t>and leaving conversation, bidding </a:t>
            </a:r>
            <a:r>
              <a:rPr dirty="0" sz="1100">
                <a:latin typeface="Times New Roman"/>
                <a:cs typeface="Times New Roman"/>
              </a:rPr>
              <a:t>for a </a:t>
            </a:r>
            <a:r>
              <a:rPr dirty="0" sz="1100" spc="-5">
                <a:latin typeface="Times New Roman"/>
                <a:cs typeface="Times New Roman"/>
              </a:rPr>
              <a:t>longer turn, refusing without </a:t>
            </a:r>
            <a:r>
              <a:rPr dirty="0" sz="1100">
                <a:latin typeface="Times New Roman"/>
                <a:cs typeface="Times New Roman"/>
              </a:rPr>
              <a:t> being rude, </a:t>
            </a:r>
            <a:r>
              <a:rPr dirty="0" sz="1100" spc="-5">
                <a:latin typeface="Times New Roman"/>
                <a:cs typeface="Times New Roman"/>
              </a:rPr>
              <a:t>changing </a:t>
            </a:r>
            <a:r>
              <a:rPr dirty="0" sz="1100">
                <a:latin typeface="Times New Roman"/>
                <a:cs typeface="Times New Roman"/>
              </a:rPr>
              <a:t>the topic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are all </a:t>
            </a:r>
            <a:r>
              <a:rPr dirty="0" sz="1100" spc="-5">
                <a:latin typeface="Times New Roman"/>
                <a:cs typeface="Times New Roman"/>
              </a:rPr>
              <a:t>difficult for foreign learners.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class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prepares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185: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Dialogue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Developmentally, dialogue comes </a:t>
            </a:r>
            <a:r>
              <a:rPr dirty="0" sz="1100">
                <a:latin typeface="Times New Roman"/>
                <a:cs typeface="Times New Roman"/>
              </a:rPr>
              <a:t>first, both </a:t>
            </a:r>
            <a:r>
              <a:rPr dirty="0" sz="1100" spc="-5">
                <a:latin typeface="Times New Roman"/>
                <a:cs typeface="Times New Roman"/>
              </a:rPr>
              <a:t>for the human </a:t>
            </a:r>
            <a:r>
              <a:rPr dirty="0" sz="1100">
                <a:latin typeface="Times New Roman"/>
                <a:cs typeface="Times New Roman"/>
              </a:rPr>
              <a:t>species, and for </a:t>
            </a:r>
            <a:r>
              <a:rPr dirty="0" sz="1100" spc="-5">
                <a:latin typeface="Times New Roman"/>
                <a:cs typeface="Times New Roman"/>
              </a:rPr>
              <a:t>the human individual. </a:t>
            </a:r>
            <a:r>
              <a:rPr dirty="0" sz="1100">
                <a:latin typeface="Times New Roman"/>
                <a:cs typeface="Times New Roman"/>
              </a:rPr>
              <a:t> There is no </a:t>
            </a:r>
            <a:r>
              <a:rPr dirty="0" sz="1100" spc="-5">
                <a:latin typeface="Times New Roman"/>
                <a:cs typeface="Times New Roman"/>
              </a:rPr>
              <a:t>hard evidence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origins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prehistoric communities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assume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 preceded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dialogue</a:t>
            </a:r>
            <a:r>
              <a:rPr dirty="0" sz="1100">
                <a:latin typeface="Times New Roman"/>
                <a:cs typeface="Times New Roman"/>
              </a:rPr>
              <a:t> preceded </a:t>
            </a:r>
            <a:r>
              <a:rPr dirty="0" sz="1100" spc="-5">
                <a:latin typeface="Times New Roman"/>
                <a:cs typeface="Times New Roman"/>
              </a:rPr>
              <a:t>monologue.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earliest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Western European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culture, the Socratic </a:t>
            </a:r>
            <a:r>
              <a:rPr dirty="0" sz="1100">
                <a:latin typeface="Times New Roman"/>
                <a:cs typeface="Times New Roman"/>
              </a:rPr>
              <a:t>dialogues, </a:t>
            </a:r>
            <a:r>
              <a:rPr dirty="0" sz="1100" spc="-5">
                <a:latin typeface="Times New Roman"/>
                <a:cs typeface="Times New Roman"/>
              </a:rPr>
              <a:t>present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conversation that modern writers would present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monologue. </a:t>
            </a:r>
            <a:r>
              <a:rPr dirty="0" sz="1100">
                <a:latin typeface="Times New Roman"/>
                <a:cs typeface="Times New Roman"/>
              </a:rPr>
              <a:t> Perhaps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preference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favour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face-to-face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lectures,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job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Turn-taking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among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‘conversations’,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>
                <a:latin typeface="Times New Roman"/>
                <a:cs typeface="Times New Roman"/>
              </a:rPr>
              <a:t> babies,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‘dialogue’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two-month-old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daughter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shows:</a:t>
            </a:r>
            <a:endParaRPr sz="1100">
              <a:latin typeface="Times New Roman"/>
              <a:cs typeface="Times New Roman"/>
            </a:endParaRPr>
          </a:p>
          <a:p>
            <a:pPr marL="469265" marR="394271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Whatcha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gonna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B:(Gurgling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noise)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M:</a:t>
            </a:r>
            <a:r>
              <a:rPr dirty="0" sz="1100" spc="-5">
                <a:latin typeface="Times New Roman"/>
                <a:cs typeface="Times New Roman"/>
              </a:rPr>
              <a:t> Come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whatcha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gonna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tell</a:t>
            </a:r>
            <a:r>
              <a:rPr dirty="0" sz="1100" spc="-5">
                <a:latin typeface="Times New Roman"/>
                <a:cs typeface="Times New Roman"/>
              </a:rPr>
              <a:t> me?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0662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229"/>
              </a:spcBef>
            </a:pPr>
            <a:r>
              <a:rPr dirty="0" sz="1100" spc="-5">
                <a:latin typeface="Times New Roman"/>
                <a:cs typeface="Times New Roman"/>
              </a:rPr>
              <a:t>B: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gurgling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Squeak.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lips)</a:t>
            </a:r>
            <a:endParaRPr sz="1100">
              <a:latin typeface="Times New Roman"/>
              <a:cs typeface="Times New Roman"/>
            </a:endParaRPr>
          </a:p>
          <a:p>
            <a:pPr marL="469265" marR="175069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M: That’s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gonna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(Gurgling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dribbling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noise)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M: Let’s hear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186: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Information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prerequisite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to divide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 into two.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clause </a:t>
            </a:r>
            <a:r>
              <a:rPr dirty="0" sz="1100">
                <a:latin typeface="Times New Roman"/>
                <a:cs typeface="Times New Roman"/>
              </a:rPr>
              <a:t>has a bi-partite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which 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which information </a:t>
            </a:r>
            <a:r>
              <a:rPr dirty="0" sz="1100">
                <a:latin typeface="Times New Roman"/>
                <a:cs typeface="Times New Roman"/>
              </a:rPr>
              <a:t>depends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differing </a:t>
            </a:r>
            <a:r>
              <a:rPr dirty="0" sz="1100">
                <a:latin typeface="Times New Roman"/>
                <a:cs typeface="Times New Roman"/>
              </a:rPr>
              <a:t>degrees of </a:t>
            </a:r>
            <a:r>
              <a:rPr dirty="0" sz="1100" spc="-5">
                <a:latin typeface="Times New Roman"/>
                <a:cs typeface="Times New Roman"/>
              </a:rPr>
              <a:t>prominence.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ordering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determined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sender’s hypotheses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receiver does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Two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Labels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>
                <a:latin typeface="Times New Roman"/>
                <a:cs typeface="Times New Roman"/>
              </a:rPr>
              <a:t>unit of </a:t>
            </a:r>
            <a:r>
              <a:rPr dirty="0" sz="1100" spc="-5">
                <a:latin typeface="Times New Roman"/>
                <a:cs typeface="Times New Roman"/>
              </a:rPr>
              <a:t>information may change its status as the discourse proceeds.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defined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of new </a:t>
            </a:r>
            <a:r>
              <a:rPr dirty="0" sz="1100" spc="-5">
                <a:latin typeface="Times New Roman"/>
                <a:cs typeface="Times New Roman"/>
              </a:rPr>
              <a:t>information into given </a:t>
            </a:r>
            <a:r>
              <a:rPr dirty="0" sz="1100">
                <a:latin typeface="Times New Roman"/>
                <a:cs typeface="Times New Roman"/>
              </a:rPr>
              <a:t>information.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communicator assesses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 interlocutor.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ordering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straightforward.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187: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Knowledge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Schemata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discourse production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comprehension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 been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findings 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field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artificial intelligence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program </a:t>
            </a:r>
            <a:r>
              <a:rPr dirty="0" sz="1100">
                <a:latin typeface="Times New Roman"/>
                <a:cs typeface="Times New Roman"/>
              </a:rPr>
              <a:t>computers </a:t>
            </a:r>
            <a:r>
              <a:rPr dirty="0" sz="1100" spc="-5">
                <a:latin typeface="Times New Roman"/>
                <a:cs typeface="Times New Roman"/>
              </a:rPr>
              <a:t>for producing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programs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more than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being </a:t>
            </a:r>
            <a:r>
              <a:rPr dirty="0" sz="1100">
                <a:latin typeface="Times New Roman"/>
                <a:cs typeface="Times New Roman"/>
              </a:rPr>
              <a:t>used; </a:t>
            </a:r>
            <a:r>
              <a:rPr dirty="0" sz="1100" spc="-5">
                <a:latin typeface="Times New Roman"/>
                <a:cs typeface="Times New Roman"/>
              </a:rPr>
              <a:t>it involves </a:t>
            </a:r>
            <a:r>
              <a:rPr dirty="0" sz="1100">
                <a:latin typeface="Times New Roman"/>
                <a:cs typeface="Times New Roman"/>
              </a:rPr>
              <a:t>pre-existent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world. Artificial Intelligence tries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this knowledge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 interact and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reproduce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computers.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analysis,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important </a:t>
            </a:r>
            <a:r>
              <a:rPr dirty="0" sz="1100">
                <a:latin typeface="Times New Roman"/>
                <a:cs typeface="Times New Roman"/>
              </a:rPr>
              <a:t>idea to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Artificial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(AI)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schemata’.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Mental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predict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describes.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stimulated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context, activates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knowledge schema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uses </a:t>
            </a:r>
            <a:r>
              <a:rPr dirty="0" sz="1100">
                <a:latin typeface="Times New Roman"/>
                <a:cs typeface="Times New Roman"/>
              </a:rPr>
              <a:t>it 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discourse.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computer AI </a:t>
            </a:r>
            <a:r>
              <a:rPr dirty="0" sz="1100">
                <a:latin typeface="Times New Roman"/>
                <a:cs typeface="Times New Roman"/>
              </a:rPr>
              <a:t>needs to </a:t>
            </a:r>
            <a:r>
              <a:rPr dirty="0" sz="1100" spc="-5">
                <a:latin typeface="Times New Roman"/>
                <a:cs typeface="Times New Roman"/>
              </a:rPr>
              <a:t>reproduce the process </a:t>
            </a:r>
            <a:r>
              <a:rPr dirty="0" sz="1100">
                <a:latin typeface="Times New Roman"/>
                <a:cs typeface="Times New Roman"/>
              </a:rPr>
              <a:t>and to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 spc="-5">
                <a:latin typeface="Times New Roman"/>
                <a:cs typeface="Times New Roman"/>
              </a:rPr>
              <a:t>computers both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necessary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necessary </a:t>
            </a:r>
            <a:r>
              <a:rPr dirty="0" sz="1100">
                <a:latin typeface="Times New Roman"/>
                <a:cs typeface="Times New Roman"/>
              </a:rPr>
              <a:t>schemata. </a:t>
            </a:r>
            <a:r>
              <a:rPr dirty="0" sz="1100" spc="-5">
                <a:latin typeface="Times New Roman"/>
                <a:cs typeface="Times New Roman"/>
              </a:rPr>
              <a:t>This is difficult </a:t>
            </a:r>
            <a:r>
              <a:rPr dirty="0" sz="1100">
                <a:latin typeface="Times New Roman"/>
                <a:cs typeface="Times New Roman"/>
              </a:rPr>
              <a:t>for the </a:t>
            </a:r>
            <a:r>
              <a:rPr dirty="0" sz="1100" spc="-5">
                <a:latin typeface="Times New Roman"/>
                <a:cs typeface="Times New Roman"/>
              </a:rPr>
              <a:t>existing computers. How mental schemata </a:t>
            </a:r>
            <a:r>
              <a:rPr dirty="0" sz="1100">
                <a:latin typeface="Times New Roman"/>
                <a:cs typeface="Times New Roman"/>
              </a:rPr>
              <a:t> operate in </a:t>
            </a:r>
            <a:r>
              <a:rPr dirty="0" sz="1100" spc="-5">
                <a:latin typeface="Times New Roman"/>
                <a:cs typeface="Times New Roman"/>
              </a:rPr>
              <a:t>discourse production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comprehension. </a:t>
            </a:r>
            <a:r>
              <a:rPr dirty="0" sz="1100">
                <a:latin typeface="Times New Roman"/>
                <a:cs typeface="Times New Roman"/>
              </a:rPr>
              <a:t>When a </a:t>
            </a:r>
            <a:r>
              <a:rPr dirty="0" sz="1100" spc="-5">
                <a:latin typeface="Times New Roman"/>
                <a:cs typeface="Times New Roman"/>
              </a:rPr>
              <a:t>sender judges </a:t>
            </a:r>
            <a:r>
              <a:rPr dirty="0" sz="1100">
                <a:latin typeface="Times New Roman"/>
                <a:cs typeface="Times New Roman"/>
              </a:rPr>
              <a:t>his </a:t>
            </a:r>
            <a:r>
              <a:rPr dirty="0" sz="1100" spc="-5">
                <a:latin typeface="Times New Roman"/>
                <a:cs typeface="Times New Roman"/>
              </a:rPr>
              <a:t>receiver’s schema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significant </a:t>
            </a:r>
            <a:r>
              <a:rPr dirty="0" sz="1100">
                <a:latin typeface="Times New Roman"/>
                <a:cs typeface="Times New Roman"/>
              </a:rPr>
              <a:t>degree </a:t>
            </a:r>
            <a:r>
              <a:rPr dirty="0" sz="1100" spc="-5">
                <a:latin typeface="Times New Roman"/>
                <a:cs typeface="Times New Roman"/>
              </a:rPr>
              <a:t>with 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own, </a:t>
            </a:r>
            <a:r>
              <a:rPr dirty="0" sz="1100">
                <a:latin typeface="Times New Roman"/>
                <a:cs typeface="Times New Roman"/>
              </a:rPr>
              <a:t>he only needs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contained </a:t>
            </a:r>
            <a:r>
              <a:rPr dirty="0" sz="1100">
                <a:latin typeface="Times New Roman"/>
                <a:cs typeface="Times New Roman"/>
              </a:rPr>
              <a:t>in it.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1540" cy="7450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DISCOURSE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ANALYSIS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III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Conversation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Type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70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conversation?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less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vague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talk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analysts’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conversation.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Talk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conversation </a:t>
            </a:r>
            <a:r>
              <a:rPr dirty="0" sz="1100" spc="-5">
                <a:latin typeface="Times New Roman"/>
                <a:cs typeface="Times New Roman"/>
              </a:rPr>
              <a:t>when: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necessitated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unequal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participants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partially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suspended.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participants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small.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Turns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 short.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4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Talk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participants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outside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>
              <a:lnSpc>
                <a:spcPct val="110200"/>
              </a:lnSpc>
            </a:pPr>
            <a:r>
              <a:rPr dirty="0" sz="1100" spc="-5" b="1">
                <a:latin typeface="Times New Roman"/>
                <a:cs typeface="Times New Roman"/>
              </a:rPr>
              <a:t>Imprecise Definition: </a:t>
            </a:r>
            <a:r>
              <a:rPr dirty="0" sz="1100">
                <a:latin typeface="Times New Roman"/>
                <a:cs typeface="Times New Roman"/>
              </a:rPr>
              <a:t>The boundary </a:t>
            </a:r>
            <a:r>
              <a:rPr dirty="0" sz="1100" spc="-5">
                <a:latin typeface="Times New Roman"/>
                <a:cs typeface="Times New Roman"/>
              </a:rPr>
              <a:t>between conversation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other discourse types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fuzzy </a:t>
            </a:r>
            <a:r>
              <a:rPr dirty="0" sz="1100">
                <a:latin typeface="Times New Roman"/>
                <a:cs typeface="Times New Roman"/>
              </a:rPr>
              <a:t>one. We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 precisely </a:t>
            </a:r>
            <a:r>
              <a:rPr dirty="0" sz="1100">
                <a:latin typeface="Times New Roman"/>
                <a:cs typeface="Times New Roman"/>
              </a:rPr>
              <a:t>draw a </a:t>
            </a:r>
            <a:r>
              <a:rPr dirty="0" sz="1100" spc="-5">
                <a:latin typeface="Times New Roman"/>
                <a:cs typeface="Times New Roman"/>
              </a:rPr>
              <a:t>line between formal and informal talk. There are certain intermediate possibilities 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between formal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 that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‘seminar’.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Talk at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 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cline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mould </a:t>
            </a:r>
            <a:r>
              <a:rPr dirty="0" sz="1100">
                <a:latin typeface="Times New Roman"/>
                <a:cs typeface="Times New Roman"/>
              </a:rPr>
              <a:t>to any </a:t>
            </a:r>
            <a:r>
              <a:rPr dirty="0" sz="1100" spc="-5">
                <a:latin typeface="Times New Roman"/>
                <a:cs typeface="Times New Roman"/>
              </a:rPr>
              <a:t>overall structure.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definition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unpredictability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189: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Conversation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Conversation analysis (CA) </a:t>
            </a:r>
            <a:r>
              <a:rPr dirty="0" sz="1100">
                <a:latin typeface="Times New Roman"/>
                <a:cs typeface="Times New Roman"/>
              </a:rPr>
              <a:t>is a branch of </a:t>
            </a:r>
            <a:r>
              <a:rPr dirty="0" sz="1100" spc="-5">
                <a:latin typeface="Times New Roman"/>
                <a:cs typeface="Times New Roman"/>
              </a:rPr>
              <a:t>study which </a:t>
            </a:r>
            <a:r>
              <a:rPr dirty="0" sz="1100">
                <a:latin typeface="Times New Roman"/>
                <a:cs typeface="Times New Roman"/>
              </a:rPr>
              <a:t>sets </a:t>
            </a:r>
            <a:r>
              <a:rPr dirty="0" sz="1100" spc="-5">
                <a:latin typeface="Times New Roman"/>
                <a:cs typeface="Times New Roman"/>
              </a:rPr>
              <a:t>out to discover what order there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in </a:t>
            </a:r>
            <a:r>
              <a:rPr dirty="0" sz="1100" spc="-5">
                <a:latin typeface="Times New Roman"/>
                <a:cs typeface="Times New Roman"/>
              </a:rPr>
              <a:t>this apparent </a:t>
            </a:r>
            <a:r>
              <a:rPr dirty="0" sz="1100">
                <a:latin typeface="Times New Roman"/>
                <a:cs typeface="Times New Roman"/>
              </a:rPr>
              <a:t>chaos. CA </a:t>
            </a:r>
            <a:r>
              <a:rPr dirty="0" sz="1100" spc="-5">
                <a:latin typeface="Times New Roman"/>
                <a:cs typeface="Times New Roman"/>
              </a:rPr>
              <a:t>associated with ethno-methodologist,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who looks </a:t>
            </a:r>
            <a:r>
              <a:rPr dirty="0" sz="1100">
                <a:latin typeface="Times New Roman"/>
                <a:cs typeface="Times New Roman"/>
              </a:rPr>
              <a:t>for a </a:t>
            </a:r>
            <a:r>
              <a:rPr dirty="0" sz="1100" spc="-5">
                <a:latin typeface="Times New Roman"/>
                <a:cs typeface="Times New Roman"/>
              </a:rPr>
              <a:t>method when </a:t>
            </a:r>
            <a:r>
              <a:rPr dirty="0" sz="1100">
                <a:latin typeface="Times New Roman"/>
                <a:cs typeface="Times New Roman"/>
              </a:rPr>
              <a:t> people </a:t>
            </a:r>
            <a:r>
              <a:rPr dirty="0" sz="1100" spc="-5">
                <a:latin typeface="Times New Roman"/>
                <a:cs typeface="Times New Roman"/>
              </a:rPr>
              <a:t>enter </a:t>
            </a:r>
            <a:r>
              <a:rPr dirty="0" sz="1100">
                <a:latin typeface="Times New Roman"/>
                <a:cs typeface="Times New Roman"/>
              </a:rPr>
              <a:t>to discussion and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5">
                <a:latin typeface="Times New Roman"/>
                <a:cs typeface="Times New Roman"/>
              </a:rPr>
              <a:t>tried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discover what methods people use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sense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(Levinson,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1983, </a:t>
            </a:r>
            <a:r>
              <a:rPr dirty="0" sz="1100" spc="-5">
                <a:latin typeface="Times New Roman"/>
                <a:cs typeface="Times New Roman"/>
              </a:rPr>
              <a:t>p.286).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1176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conversation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 taking.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ethno-methodologist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handle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judge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silent.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further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bottom-up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approach,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i.e.,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 They tried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understand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unfolds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viewed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5">
                <a:latin typeface="Times New Roman"/>
                <a:cs typeface="Times New Roman"/>
              </a:rPr>
              <a:t> rather 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finished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product,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planned </a:t>
            </a:r>
            <a:r>
              <a:rPr dirty="0" sz="1100" spc="-5">
                <a:latin typeface="Times New Roman"/>
                <a:cs typeface="Times New Roman"/>
              </a:rPr>
              <a:t>beginning,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ending.</a:t>
            </a:r>
            <a:endParaRPr sz="1100">
              <a:latin typeface="Times New Roman"/>
              <a:cs typeface="Times New Roman"/>
            </a:endParaRPr>
          </a:p>
          <a:p>
            <a:pPr marL="12700" marR="3844290">
              <a:lnSpc>
                <a:spcPct val="220900"/>
              </a:lnSpc>
              <a:spcBef>
                <a:spcPts val="1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Topic- 190: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Turn-taking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Conversation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Involves </a:t>
            </a:r>
            <a:r>
              <a:rPr dirty="0" sz="1100" b="1">
                <a:latin typeface="Times New Roman"/>
                <a:cs typeface="Times New Roman"/>
              </a:rPr>
              <a:t>Turn-taking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228600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  <a:hlinkClick r:id="rId2"/>
              </a:rPr>
              <a:t>conversation </a:t>
            </a:r>
            <a:r>
              <a:rPr dirty="0" sz="1100" spc="-5">
                <a:latin typeface="Times New Roman"/>
                <a:cs typeface="Times New Roman"/>
                <a:hlinkClick r:id="rId2"/>
              </a:rPr>
              <a:t>analysis, </a:t>
            </a:r>
            <a:r>
              <a:rPr dirty="0" sz="1100" spc="-5">
                <a:latin typeface="Times New Roman"/>
                <a:cs typeface="Times New Roman"/>
              </a:rPr>
              <a:t>turn-taking </a:t>
            </a:r>
            <a:r>
              <a:rPr dirty="0" sz="1100">
                <a:latin typeface="Times New Roman"/>
                <a:cs typeface="Times New Roman"/>
              </a:rPr>
              <a:t>is a term for </a:t>
            </a:r>
            <a:r>
              <a:rPr dirty="0" sz="1100" spc="-5">
                <a:latin typeface="Times New Roman"/>
                <a:cs typeface="Times New Roman"/>
              </a:rPr>
              <a:t>the manner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orderly conversation normally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 place. Once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chosen and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conversation initiated, then matters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conversational </a:t>
            </a:r>
            <a:r>
              <a:rPr dirty="0" sz="1100" spc="-5" b="1">
                <a:latin typeface="Times New Roman"/>
                <a:cs typeface="Times New Roman"/>
              </a:rPr>
              <a:t>‘</a:t>
            </a:r>
            <a:r>
              <a:rPr dirty="0" sz="1100" spc="-5">
                <a:latin typeface="Times New Roman"/>
                <a:cs typeface="Times New Roman"/>
              </a:rPr>
              <a:t>turn-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-5" b="1">
                <a:latin typeface="Times New Roman"/>
                <a:cs typeface="Times New Roman"/>
              </a:rPr>
              <a:t>’ </a:t>
            </a:r>
            <a:r>
              <a:rPr dirty="0" sz="1100" spc="-5">
                <a:latin typeface="Times New Roman"/>
                <a:cs typeface="Times New Roman"/>
              </a:rPr>
              <a:t>arise. </a:t>
            </a:r>
            <a:r>
              <a:rPr dirty="0" sz="1100">
                <a:latin typeface="Times New Roman"/>
                <a:cs typeface="Times New Roman"/>
              </a:rPr>
              <a:t>Knowing </a:t>
            </a:r>
            <a:r>
              <a:rPr dirty="0" sz="1100" spc="-5">
                <a:latin typeface="Times New Roman"/>
                <a:cs typeface="Times New Roman"/>
              </a:rPr>
              <a:t>when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acceptable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obligatory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turn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conversation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essential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cooperative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  <a:hlinkClick r:id="rId3"/>
              </a:rPr>
              <a:t>discourse.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 </a:t>
            </a:r>
            <a:r>
              <a:rPr dirty="0" sz="1100">
                <a:latin typeface="Times New Roman"/>
                <a:cs typeface="Times New Roman"/>
              </a:rPr>
              <a:t>turn-exchange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long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pauses 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turns 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2810" cy="821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Overlap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Turn-taking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Speakers </a:t>
            </a:r>
            <a:r>
              <a:rPr dirty="0" sz="1100" spc="-5">
                <a:latin typeface="Times New Roman"/>
                <a:cs typeface="Times New Roman"/>
              </a:rPr>
              <a:t>somehow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exactly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enter.</a:t>
            </a:r>
            <a:endParaRPr sz="1100">
              <a:latin typeface="Times New Roman"/>
              <a:cs typeface="Times New Roman"/>
            </a:endParaRPr>
          </a:p>
          <a:p>
            <a:pPr marL="697865" indent="-22923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Signal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ending</a:t>
            </a:r>
            <a:endParaRPr sz="1100">
              <a:latin typeface="Times New Roman"/>
              <a:cs typeface="Times New Roman"/>
            </a:endParaRPr>
          </a:p>
          <a:p>
            <a:pPr marL="697865" indent="-22923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Overlaps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significance</a:t>
            </a:r>
            <a:endParaRPr sz="1100">
              <a:latin typeface="Times New Roman"/>
              <a:cs typeface="Times New Roman"/>
            </a:endParaRPr>
          </a:p>
          <a:p>
            <a:pPr marL="12700" marR="1665605" indent="456565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>
                <a:latin typeface="Times New Roman"/>
                <a:cs typeface="Times New Roman"/>
              </a:rPr>
              <a:t>Signaling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annoyance,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urgency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Conversation analysis tries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 </a:t>
            </a:r>
            <a:r>
              <a:rPr dirty="0" sz="1100">
                <a:latin typeface="Times New Roman"/>
                <a:cs typeface="Times New Roman"/>
              </a:rPr>
              <a:t>how people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turns, and </a:t>
            </a:r>
            <a:r>
              <a:rPr dirty="0" sz="1100" spc="-5">
                <a:latin typeface="Times New Roman"/>
                <a:cs typeface="Times New Roman"/>
              </a:rPr>
              <a:t>under what circumstances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turns overlap. Turn-taking mechanisms vary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cultures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between languages. Efficient </a:t>
            </a:r>
            <a:r>
              <a:rPr dirty="0" sz="1100" spc="5">
                <a:latin typeface="Times New Roman"/>
                <a:cs typeface="Times New Roman"/>
              </a:rPr>
              <a:t>turn-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non-linguistic</a:t>
            </a:r>
            <a:r>
              <a:rPr dirty="0" sz="1100">
                <a:latin typeface="Times New Roman"/>
                <a:cs typeface="Times New Roman"/>
              </a:rPr>
              <a:t> factors.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</a:t>
            </a:r>
            <a:r>
              <a:rPr dirty="0" sz="1100">
                <a:latin typeface="Times New Roman"/>
                <a:cs typeface="Times New Roman"/>
              </a:rPr>
              <a:t> contact,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gaze,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 and volume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>
                <a:latin typeface="Times New Roman"/>
                <a:cs typeface="Times New Roman"/>
              </a:rPr>
              <a:t> status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speakers,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 situations, the roles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give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special rights clearly.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conversation, where according to our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unequal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suspended.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silent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seminar.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191: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Conversational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Principles: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Cooperative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8890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Grice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(1975)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obeying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assume</a:t>
            </a:r>
            <a:r>
              <a:rPr dirty="0" sz="1100">
                <a:latin typeface="Times New Roman"/>
                <a:cs typeface="Times New Roman"/>
              </a:rPr>
              <a:t> he 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intending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true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 maxim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quality)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brief (the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quantity)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relevant (the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relevance)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clear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maxim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manner)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Combined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general knowledge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world,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receiver can </a:t>
            </a:r>
            <a:r>
              <a:rPr dirty="0" sz="1100">
                <a:latin typeface="Times New Roman"/>
                <a:cs typeface="Times New Roman"/>
              </a:rPr>
              <a:t>reason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literal,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 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pragmatic </a:t>
            </a:r>
            <a:r>
              <a:rPr dirty="0" sz="1100">
                <a:latin typeface="Times New Roman"/>
                <a:cs typeface="Times New Roman"/>
              </a:rPr>
              <a:t>meaning ,   and induce </a:t>
            </a:r>
            <a:r>
              <a:rPr dirty="0" sz="1100" spc="-5">
                <a:latin typeface="Times New Roman"/>
                <a:cs typeface="Times New Roman"/>
              </a:rPr>
              <a:t>what the </a:t>
            </a:r>
            <a:r>
              <a:rPr dirty="0" sz="1100">
                <a:latin typeface="Times New Roman"/>
                <a:cs typeface="Times New Roman"/>
              </a:rPr>
              <a:t>sender is </a:t>
            </a:r>
            <a:r>
              <a:rPr dirty="0" sz="1100" spc="-5">
                <a:latin typeface="Times New Roman"/>
                <a:cs typeface="Times New Roman"/>
              </a:rPr>
              <a:t>intending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so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neighbour </a:t>
            </a:r>
            <a:r>
              <a:rPr dirty="0" sz="1100" spc="-5">
                <a:latin typeface="Times New Roman"/>
                <a:cs typeface="Times New Roman"/>
              </a:rPr>
              <a:t>saying: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There's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gate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67.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above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truthfulness.</a:t>
            </a:r>
            <a:endParaRPr sz="1100">
              <a:latin typeface="Times New Roman"/>
              <a:cs typeface="Times New Roman"/>
            </a:endParaRPr>
          </a:p>
          <a:p>
            <a:pPr algn="just" marL="12700" marR="698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People do </a:t>
            </a:r>
            <a:r>
              <a:rPr dirty="0" sz="1100" spc="-5">
                <a:latin typeface="Times New Roman"/>
                <a:cs typeface="Times New Roman"/>
              </a:rPr>
              <a:t>not consciously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explicitly formulate </a:t>
            </a:r>
            <a:r>
              <a:rPr dirty="0" sz="1100">
                <a:latin typeface="Times New Roman"/>
                <a:cs typeface="Times New Roman"/>
              </a:rPr>
              <a:t>the co-operative </a:t>
            </a:r>
            <a:r>
              <a:rPr dirty="0" sz="1100" spc="-5">
                <a:latin typeface="Times New Roman"/>
                <a:cs typeface="Times New Roman"/>
              </a:rPr>
              <a:t>principle. Co-operative principle does 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endParaRPr sz="110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Algeria?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relevant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four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maxims.</a:t>
            </a:r>
            <a:endParaRPr sz="1100">
              <a:latin typeface="Times New Roman"/>
              <a:cs typeface="Times New Roman"/>
            </a:endParaRPr>
          </a:p>
          <a:p>
            <a:pPr algn="just" marL="12700" marR="12700">
              <a:lnSpc>
                <a:spcPct val="1102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Legal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scientific discourses often sacrifice the maxim </a:t>
            </a:r>
            <a:r>
              <a:rPr dirty="0" sz="1100">
                <a:latin typeface="Times New Roman"/>
                <a:cs typeface="Times New Roman"/>
              </a:rPr>
              <a:t>of quantity to the </a:t>
            </a:r>
            <a:r>
              <a:rPr dirty="0" sz="1100" spc="-5">
                <a:latin typeface="Times New Roman"/>
                <a:cs typeface="Times New Roman"/>
              </a:rPr>
              <a:t>maxim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quality.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clear 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-5">
                <a:latin typeface="Times New Roman"/>
                <a:cs typeface="Times New Roman"/>
              </a:rPr>
              <a:t> sometimes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long-winded.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192: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Flouting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Cooperative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Principle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46926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college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library.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minutes.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Neither is true.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are perceived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figures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speech, hyperbole,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making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>
                <a:latin typeface="Times New Roman"/>
                <a:cs typeface="Times New Roman"/>
              </a:rPr>
              <a:t>more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lies.</a:t>
            </a:r>
            <a:r>
              <a:rPr dirty="0" sz="1100">
                <a:latin typeface="Times New Roman"/>
                <a:cs typeface="Times New Roman"/>
              </a:rPr>
              <a:t> 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deliberate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violation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floating,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cooperative principle.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Metaphor 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-5">
                <a:latin typeface="Times New Roman"/>
                <a:cs typeface="Times New Roman"/>
              </a:rPr>
              <a:t> irony, sarcasm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71540" cy="675894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‘Queen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Victoria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iron’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key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time’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assumption that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interpreted as deliberate flouting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charge </a:t>
            </a:r>
            <a:r>
              <a:rPr dirty="0" sz="1100">
                <a:latin typeface="Times New Roman"/>
                <a:cs typeface="Times New Roman"/>
              </a:rPr>
              <a:t>to ‘Be </a:t>
            </a:r>
            <a:r>
              <a:rPr dirty="0" sz="1100" spc="-5">
                <a:latin typeface="Times New Roman"/>
                <a:cs typeface="Times New Roman"/>
              </a:rPr>
              <a:t>true’ rather </a:t>
            </a:r>
            <a:r>
              <a:rPr dirty="0" sz="1100">
                <a:latin typeface="Times New Roman"/>
                <a:cs typeface="Times New Roman"/>
              </a:rPr>
              <a:t> than as </a:t>
            </a:r>
            <a:r>
              <a:rPr dirty="0" sz="1100" spc="-5">
                <a:latin typeface="Times New Roman"/>
                <a:cs typeface="Times New Roman"/>
              </a:rPr>
              <a:t>untruths intended to deceive. Children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foreign language learners sometimes take figures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literally.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quality maxim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flouted.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Quantity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prolixity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terseness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Maxim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relevance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 embarrassment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Maxim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case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puns 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193: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Conversational Principles: Politeness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28307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A: Excuse me. Are you busy?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>
                <a:latin typeface="Times New Roman"/>
                <a:cs typeface="Times New Roman"/>
              </a:rPr>
              <a:t> 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>
                <a:latin typeface="Times New Roman"/>
                <a:cs typeface="Times New Roman"/>
              </a:rPr>
              <a:t> 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wondered</a:t>
            </a:r>
            <a:r>
              <a:rPr dirty="0" sz="1100" spc="-5">
                <a:latin typeface="Times New Roman"/>
                <a:cs typeface="Times New Roman"/>
              </a:rPr>
              <a:t> if</a:t>
            </a:r>
            <a:r>
              <a:rPr dirty="0" sz="1100">
                <a:latin typeface="Times New Roman"/>
                <a:cs typeface="Times New Roman"/>
              </a:rPr>
              <a:t> 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-5">
                <a:latin typeface="Times New Roman"/>
                <a:cs typeface="Times New Roman"/>
              </a:rPr>
              <a:t> have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word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Politeness </a:t>
            </a:r>
            <a:r>
              <a:rPr dirty="0" sz="1100" spc="-5">
                <a:latin typeface="Times New Roman"/>
                <a:cs typeface="Times New Roman"/>
              </a:rPr>
              <a:t>principle, like co-operative principle,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formulated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series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maxim,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 people </a:t>
            </a:r>
            <a:r>
              <a:rPr dirty="0" sz="1100" spc="-5">
                <a:latin typeface="Times New Roman"/>
                <a:cs typeface="Times New Roman"/>
              </a:rPr>
              <a:t>assume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being followed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utterances </a:t>
            </a:r>
            <a:r>
              <a:rPr dirty="0" sz="1100">
                <a:latin typeface="Times New Roman"/>
                <a:cs typeface="Times New Roman"/>
              </a:rPr>
              <a:t>of others. </a:t>
            </a:r>
            <a:r>
              <a:rPr dirty="0" sz="1100" spc="-5">
                <a:latin typeface="Times New Roman"/>
                <a:cs typeface="Times New Roman"/>
              </a:rPr>
              <a:t>Any flouting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maxims will take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is.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Lakoff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(1973)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formulated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maxims:</a:t>
            </a:r>
            <a:endParaRPr sz="1100">
              <a:latin typeface="Times New Roman"/>
              <a:cs typeface="Times New Roman"/>
            </a:endParaRPr>
          </a:p>
          <a:p>
            <a:pPr marL="469265" marR="47294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50"/>
              </a:spcBef>
            </a:pPr>
            <a:r>
              <a:rPr dirty="0" sz="1100" spc="-5">
                <a:latin typeface="Times New Roman"/>
                <a:cs typeface="Times New Roman"/>
              </a:rPr>
              <a:t>Make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endParaRPr sz="1100">
              <a:latin typeface="Times New Roman"/>
              <a:cs typeface="Times New Roman"/>
            </a:endParaRPr>
          </a:p>
          <a:p>
            <a:pPr marL="469265" marR="1845310" indent="-4572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maxims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explain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I'm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sorry.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saw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>
                <a:latin typeface="Times New Roman"/>
                <a:cs typeface="Times New Roman"/>
              </a:rPr>
              <a:t> were </a:t>
            </a:r>
            <a:r>
              <a:rPr dirty="0" sz="1100" spc="-5">
                <a:latin typeface="Times New Roman"/>
                <a:cs typeface="Times New Roman"/>
              </a:rPr>
              <a:t>home.</a:t>
            </a:r>
            <a:endParaRPr sz="1100">
              <a:latin typeface="Times New Roman"/>
              <a:cs typeface="Times New Roman"/>
            </a:endParaRPr>
          </a:p>
          <a:p>
            <a:pPr marL="469265" marR="1965325" indent="-457200">
              <a:lnSpc>
                <a:spcPts val="1460"/>
              </a:lnSpc>
              <a:spcBef>
                <a:spcPts val="60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English requests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pleas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elaborate </a:t>
            </a:r>
            <a:r>
              <a:rPr dirty="0" sz="1100" spc="-5">
                <a:latin typeface="Times New Roman"/>
                <a:cs typeface="Times New Roman"/>
              </a:rPr>
              <a:t>question.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‘Could</a:t>
            </a:r>
            <a:r>
              <a:rPr dirty="0" sz="1100" spc="-5">
                <a:latin typeface="Times New Roman"/>
                <a:cs typeface="Times New Roman"/>
              </a:rPr>
              <a:t>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’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‘May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’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‘I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bother</a:t>
            </a:r>
            <a:r>
              <a:rPr dirty="0" sz="1100" spc="-5">
                <a:latin typeface="Times New Roman"/>
                <a:cs typeface="Times New Roman"/>
              </a:rPr>
              <a:t> you’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‘You know much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do’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Clearly,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cooperative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incompatible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‘How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hairstyle’?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6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conflicting demands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 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aware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of,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lie’.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82607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Lesson-34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CRITICAL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DISCOURSE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194: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Critical discourse analysis (CDA)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problem-oriented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trans-disciplinary </a:t>
            </a:r>
            <a:r>
              <a:rPr dirty="0" sz="1100">
                <a:latin typeface="Times New Roman"/>
                <a:cs typeface="Times New Roman"/>
              </a:rPr>
              <a:t>set of </a:t>
            </a:r>
            <a:r>
              <a:rPr dirty="0" sz="1100" spc="-5">
                <a:latin typeface="Times New Roman"/>
                <a:cs typeface="Times New Roman"/>
              </a:rPr>
              <a:t>theories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 widely </a:t>
            </a:r>
            <a:r>
              <a:rPr dirty="0" sz="1100">
                <a:latin typeface="Times New Roman"/>
                <a:cs typeface="Times New Roman"/>
              </a:rPr>
              <a:t>used in </a:t>
            </a:r>
            <a:r>
              <a:rPr dirty="0" sz="1100" spc="-5">
                <a:latin typeface="Times New Roman"/>
                <a:cs typeface="Times New Roman"/>
              </a:rPr>
              <a:t>educational research. </a:t>
            </a:r>
            <a:r>
              <a:rPr dirty="0" sz="1100">
                <a:latin typeface="Times New Roman"/>
                <a:cs typeface="Times New Roman"/>
              </a:rPr>
              <a:t>Many </a:t>
            </a:r>
            <a:r>
              <a:rPr dirty="0" sz="1100" spc="-5">
                <a:latin typeface="Times New Roman"/>
                <a:cs typeface="Times New Roman"/>
              </a:rPr>
              <a:t>areas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commensurability </a:t>
            </a:r>
            <a:r>
              <a:rPr dirty="0" sz="1100">
                <a:latin typeface="Times New Roman"/>
                <a:cs typeface="Times New Roman"/>
              </a:rPr>
              <a:t>exist </a:t>
            </a:r>
            <a:r>
              <a:rPr dirty="0" sz="1100" spc="-5">
                <a:latin typeface="Times New Roman"/>
                <a:cs typeface="Times New Roman"/>
              </a:rPr>
              <a:t>between educational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 and critical discourse analysis. First, educational practices are </a:t>
            </a:r>
            <a:r>
              <a:rPr dirty="0" sz="1100">
                <a:latin typeface="Times New Roman"/>
                <a:cs typeface="Times New Roman"/>
              </a:rPr>
              <a:t>considered </a:t>
            </a:r>
            <a:r>
              <a:rPr dirty="0" sz="1100" spc="-5">
                <a:latin typeface="Times New Roman"/>
                <a:cs typeface="Times New Roman"/>
              </a:rPr>
              <a:t>communicative events;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(DS)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semiotic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Second,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studies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conceptualizing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compatible with sociocultural perspectives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educational research (Gutiérrez, </a:t>
            </a:r>
            <a:r>
              <a:rPr dirty="0" sz="1100">
                <a:latin typeface="Times New Roman"/>
                <a:cs typeface="Times New Roman"/>
              </a:rPr>
              <a:t>2008; </a:t>
            </a:r>
            <a:r>
              <a:rPr dirty="0" sz="1100" spc="-5">
                <a:latin typeface="Times New Roman"/>
                <a:cs typeface="Times New Roman"/>
              </a:rPr>
              <a:t>Lewis, Enciso </a:t>
            </a:r>
            <a:r>
              <a:rPr dirty="0" sz="1100">
                <a:latin typeface="Times New Roman"/>
                <a:cs typeface="Times New Roman"/>
              </a:rPr>
              <a:t>&amp;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Moje, </a:t>
            </a:r>
            <a:r>
              <a:rPr dirty="0" sz="1100" spc="-5">
                <a:latin typeface="Times New Roman"/>
                <a:cs typeface="Times New Roman"/>
              </a:rPr>
              <a:t>2007). </a:t>
            </a:r>
            <a:r>
              <a:rPr dirty="0" sz="1100">
                <a:latin typeface="Times New Roman"/>
                <a:cs typeface="Times New Roman"/>
              </a:rPr>
              <a:t>A shared </a:t>
            </a:r>
            <a:r>
              <a:rPr dirty="0" sz="1100" spc="-5">
                <a:latin typeface="Times New Roman"/>
                <a:cs typeface="Times New Roman"/>
              </a:rPr>
              <a:t>assumption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discourse can </a:t>
            </a:r>
            <a:r>
              <a:rPr dirty="0" sz="1100">
                <a:latin typeface="Times New Roman"/>
                <a:cs typeface="Times New Roman"/>
              </a:rPr>
              <a:t>be understood as a </a:t>
            </a:r>
            <a:r>
              <a:rPr dirty="0" sz="1100" spc="-5">
                <a:latin typeface="Times New Roman"/>
                <a:cs typeface="Times New Roman"/>
              </a:rPr>
              <a:t>multimodal social practice.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constructs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caught </a:t>
            </a:r>
            <a:r>
              <a:rPr dirty="0" sz="1100">
                <a:latin typeface="Times New Roman"/>
                <a:cs typeface="Times New Roman"/>
              </a:rPr>
              <a:t>up in </a:t>
            </a:r>
            <a:r>
              <a:rPr dirty="0" sz="1100" spc="-5">
                <a:latin typeface="Times New Roman"/>
                <a:cs typeface="Times New Roman"/>
              </a:rPr>
              <a:t>political, social, racial, economic, religious,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cultural formations which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practices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privilege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third area of </a:t>
            </a:r>
            <a:r>
              <a:rPr dirty="0" sz="1100" spc="-5">
                <a:latin typeface="Times New Roman"/>
                <a:cs typeface="Times New Roman"/>
              </a:rPr>
              <a:t>commensurability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discourse </a:t>
            </a:r>
            <a:r>
              <a:rPr dirty="0" sz="1100">
                <a:latin typeface="Times New Roman"/>
                <a:cs typeface="Times New Roman"/>
              </a:rPr>
              <a:t>studies </a:t>
            </a:r>
            <a:r>
              <a:rPr dirty="0" sz="1100" spc="-5">
                <a:latin typeface="Times New Roman"/>
                <a:cs typeface="Times New Roman"/>
              </a:rPr>
              <a:t>and educational research are both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socially committed paradigms </a:t>
            </a:r>
            <a:r>
              <a:rPr dirty="0" sz="1100">
                <a:latin typeface="Times New Roman"/>
                <a:cs typeface="Times New Roman"/>
              </a:rPr>
              <a:t>that address </a:t>
            </a:r>
            <a:r>
              <a:rPr dirty="0" sz="1100" spc="-5">
                <a:latin typeface="Times New Roman"/>
                <a:cs typeface="Times New Roman"/>
              </a:rPr>
              <a:t>problems through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range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theoretical </a:t>
            </a:r>
            <a:r>
              <a:rPr dirty="0" sz="1100" spc="-5">
                <a:latin typeface="Times New Roman"/>
                <a:cs typeface="Times New Roman"/>
              </a:rPr>
              <a:t>perspectives. Critical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discourse analysis recognize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inquiry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meaning making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always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exploration into </a:t>
            </a:r>
            <a:r>
              <a:rPr dirty="0" sz="1100">
                <a:latin typeface="Times New Roman"/>
                <a:cs typeface="Times New Roman"/>
              </a:rPr>
              <a:t> power.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addressed,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globalized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power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inequality. CDA provides the tools for addressing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complexity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movement across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 sites, practices,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systems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world where inequalities are global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scope.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reflexive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tendencies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 studies are rooted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constitutive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social world. The </a:t>
            </a:r>
            <a:r>
              <a:rPr dirty="0" sz="1100">
                <a:latin typeface="Times New Roman"/>
                <a:cs typeface="Times New Roman"/>
              </a:rPr>
              <a:t>field </a:t>
            </a:r>
            <a:r>
              <a:rPr dirty="0" sz="1100" spc="-5">
                <a:latin typeface="Times New Roman"/>
                <a:cs typeface="Times New Roman"/>
              </a:rPr>
              <a:t>continues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grow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change, </a:t>
            </a:r>
            <a:r>
              <a:rPr dirty="0" sz="1100">
                <a:latin typeface="Times New Roman"/>
                <a:cs typeface="Times New Roman"/>
              </a:rPr>
              <a:t>responding to </a:t>
            </a:r>
            <a:r>
              <a:rPr dirty="0" sz="1100" spc="-5">
                <a:latin typeface="Times New Roman"/>
                <a:cs typeface="Times New Roman"/>
              </a:rPr>
              <a:t>problems with different ways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looking,</a:t>
            </a:r>
            <a:r>
              <a:rPr dirty="0" sz="1100">
                <a:latin typeface="Times New Roman"/>
                <a:cs typeface="Times New Roman"/>
              </a:rPr>
              <a:t> understanding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and,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practitioners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hope,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195: A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Brief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History 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‘CDA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Group’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CDA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network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scholars emerged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early 1990s, following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 symposium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Amsterdam, </a:t>
            </a:r>
            <a:r>
              <a:rPr dirty="0" sz="1100">
                <a:latin typeface="Times New Roman"/>
                <a:cs typeface="Times New Roman"/>
              </a:rPr>
              <a:t>in January </a:t>
            </a:r>
            <a:r>
              <a:rPr dirty="0" sz="1100" spc="-5">
                <a:latin typeface="Times New Roman"/>
                <a:cs typeface="Times New Roman"/>
              </a:rPr>
              <a:t>1991 </a:t>
            </a:r>
            <a:r>
              <a:rPr dirty="0" sz="1100">
                <a:latin typeface="Times New Roman"/>
                <a:cs typeface="Times New Roman"/>
              </a:rPr>
              <a:t>by scholars such as </a:t>
            </a:r>
            <a:r>
              <a:rPr dirty="0" sz="1100" spc="-5">
                <a:latin typeface="Times New Roman"/>
                <a:cs typeface="Times New Roman"/>
              </a:rPr>
              <a:t>Dijk, Norman Fairclough, Gunther and others.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 made </a:t>
            </a:r>
            <a:r>
              <a:rPr dirty="0" sz="1100">
                <a:latin typeface="Times New Roman"/>
                <a:cs typeface="Times New Roman"/>
              </a:rPr>
              <a:t>it possible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confront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distinct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approaches, </a:t>
            </a:r>
            <a:r>
              <a:rPr dirty="0" sz="1100" spc="-5">
                <a:latin typeface="Times New Roman"/>
                <a:cs typeface="Times New Roman"/>
              </a:rPr>
              <a:t>which have, </a:t>
            </a:r>
            <a:r>
              <a:rPr dirty="0" sz="1100">
                <a:latin typeface="Times New Roman"/>
                <a:cs typeface="Times New Roman"/>
              </a:rPr>
              <a:t>of course,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1991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relevant,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group formation,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differences and sameness </a:t>
            </a:r>
            <a:r>
              <a:rPr dirty="0" sz="1100">
                <a:latin typeface="Times New Roman"/>
                <a:cs typeface="Times New Roman"/>
              </a:rPr>
              <a:t>were laid </a:t>
            </a:r>
            <a:r>
              <a:rPr dirty="0" sz="1100" spc="-5">
                <a:latin typeface="Times New Roman"/>
                <a:cs typeface="Times New Roman"/>
              </a:rPr>
              <a:t>out; differences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 to </a:t>
            </a:r>
            <a:r>
              <a:rPr dirty="0" sz="1100" spc="-5">
                <a:latin typeface="Times New Roman"/>
                <a:cs typeface="Times New Roman"/>
              </a:rPr>
              <a:t>other theories and</a:t>
            </a:r>
            <a:r>
              <a:rPr dirty="0" sz="1100">
                <a:latin typeface="Times New Roman"/>
                <a:cs typeface="Times New Roman"/>
              </a:rPr>
              <a:t> methodologies, and </a:t>
            </a:r>
            <a:r>
              <a:rPr dirty="0" sz="1100" spc="-5">
                <a:latin typeface="Times New Roman"/>
                <a:cs typeface="Times New Roman"/>
              </a:rPr>
              <a:t>sameness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programmatic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 of </a:t>
            </a:r>
            <a:r>
              <a:rPr dirty="0" sz="1100" spc="-5">
                <a:latin typeface="Times New Roman"/>
                <a:cs typeface="Times New Roman"/>
              </a:rPr>
              <a:t>which frame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range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theoretical approaches (Wodak, 2004). Some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scholars </a:t>
            </a:r>
            <a:r>
              <a:rPr dirty="0" sz="1100">
                <a:latin typeface="Times New Roman"/>
                <a:cs typeface="Times New Roman"/>
              </a:rPr>
              <a:t>previously </a:t>
            </a:r>
            <a:r>
              <a:rPr dirty="0" sz="1100" spc="-5">
                <a:latin typeface="Times New Roman"/>
                <a:cs typeface="Times New Roman"/>
              </a:rPr>
              <a:t>aligned with CDA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chosen </a:t>
            </a:r>
            <a:r>
              <a:rPr dirty="0" sz="1100" spc="-5">
                <a:latin typeface="Times New Roman"/>
                <a:cs typeface="Times New Roman"/>
              </a:rPr>
              <a:t>other theoretical frameworks.</a:t>
            </a:r>
            <a:r>
              <a:rPr dirty="0" sz="1100">
                <a:latin typeface="Times New Roman"/>
                <a:cs typeface="Times New Roman"/>
              </a:rPr>
              <a:t> Many </a:t>
            </a:r>
            <a:r>
              <a:rPr dirty="0" sz="1100" spc="-5">
                <a:latin typeface="Times New Roman"/>
                <a:cs typeface="Times New Roman"/>
              </a:rPr>
              <a:t>approaches were created </a:t>
            </a:r>
            <a:r>
              <a:rPr dirty="0" sz="1100">
                <a:latin typeface="Times New Roman"/>
                <a:cs typeface="Times New Roman"/>
              </a:rPr>
              <a:t>and integrated </a:t>
            </a:r>
            <a:r>
              <a:rPr dirty="0" sz="1100" spc="-5">
                <a:latin typeface="Times New Roman"/>
                <a:cs typeface="Times New Roman"/>
              </a:rPr>
              <a:t>with the 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 theories. CDA </a:t>
            </a:r>
            <a:r>
              <a:rPr dirty="0" sz="1100">
                <a:latin typeface="Times New Roman"/>
                <a:cs typeface="Times New Roman"/>
              </a:rPr>
              <a:t>as a school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paradigm </a:t>
            </a:r>
            <a:r>
              <a:rPr dirty="0" sz="1100">
                <a:latin typeface="Times New Roman"/>
                <a:cs typeface="Times New Roman"/>
              </a:rPr>
              <a:t>is characterized by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 spc="5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principles,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 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problem-oriented,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necessarily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eclectic.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CDA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interests in </a:t>
            </a:r>
            <a:r>
              <a:rPr dirty="0" sz="1100" spc="-5">
                <a:latin typeface="Times New Roman"/>
                <a:cs typeface="Times New Roman"/>
              </a:rPr>
              <a:t>de-mystifying </a:t>
            </a:r>
            <a:r>
              <a:rPr dirty="0" sz="1100">
                <a:latin typeface="Times New Roman"/>
                <a:cs typeface="Times New Roman"/>
              </a:rPr>
              <a:t>ideologies and </a:t>
            </a:r>
            <a:r>
              <a:rPr dirty="0" sz="1100" spc="-5">
                <a:latin typeface="Times New Roman"/>
                <a:cs typeface="Times New Roman"/>
              </a:rPr>
              <a:t>power through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systematic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semiotic </a:t>
            </a:r>
            <a:r>
              <a:rPr dirty="0" sz="1100">
                <a:latin typeface="Times New Roman"/>
                <a:cs typeface="Times New Roman"/>
              </a:rPr>
              <a:t>data </a:t>
            </a:r>
            <a:r>
              <a:rPr dirty="0" sz="1100" spc="-5">
                <a:latin typeface="Times New Roman"/>
                <a:cs typeface="Times New Roman"/>
              </a:rPr>
              <a:t>(written, </a:t>
            </a:r>
            <a:r>
              <a:rPr dirty="0" sz="1100">
                <a:latin typeface="Times New Roman"/>
                <a:cs typeface="Times New Roman"/>
              </a:rPr>
              <a:t>spoken or </a:t>
            </a:r>
            <a:r>
              <a:rPr dirty="0" sz="1100" spc="-5">
                <a:latin typeface="Times New Roman"/>
                <a:cs typeface="Times New Roman"/>
              </a:rPr>
              <a:t>visual). New </a:t>
            </a:r>
            <a:r>
              <a:rPr dirty="0" sz="1100">
                <a:latin typeface="Times New Roman"/>
                <a:cs typeface="Times New Roman"/>
              </a:rPr>
              <a:t>journals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been </a:t>
            </a:r>
            <a:r>
              <a:rPr dirty="0" sz="1100" spc="-5">
                <a:latin typeface="Times New Roman"/>
                <a:cs typeface="Times New Roman"/>
              </a:rPr>
              <a:t>created, multiple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overviews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written,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nowadays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CDA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linguistics.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823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196: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Considering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‘Critical’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Critical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Power is a </a:t>
            </a:r>
            <a:r>
              <a:rPr dirty="0" sz="1100" spc="-5">
                <a:latin typeface="Times New Roman"/>
                <a:cs typeface="Times New Roman"/>
              </a:rPr>
              <a:t>central concept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critical discourse studies.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tends to be </a:t>
            </a:r>
            <a:r>
              <a:rPr dirty="0" sz="1100" spc="-5">
                <a:latin typeface="Times New Roman"/>
                <a:cs typeface="Times New Roman"/>
              </a:rPr>
              <a:t>defined in 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negative </a:t>
            </a:r>
            <a:r>
              <a:rPr dirty="0" sz="1100">
                <a:latin typeface="Times New Roman"/>
                <a:cs typeface="Times New Roman"/>
              </a:rPr>
              <a:t> uses of </a:t>
            </a:r>
            <a:r>
              <a:rPr dirty="0" sz="1100" spc="-5">
                <a:latin typeface="Times New Roman"/>
                <a:cs typeface="Times New Roman"/>
              </a:rPr>
              <a:t>power, articulated through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within discourses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resulting </a:t>
            </a:r>
            <a:r>
              <a:rPr dirty="0" sz="1100">
                <a:latin typeface="Times New Roman"/>
                <a:cs typeface="Times New Roman"/>
              </a:rPr>
              <a:t>in domination and </a:t>
            </a:r>
            <a:r>
              <a:rPr dirty="0" sz="1100" spc="-5">
                <a:latin typeface="Times New Roman"/>
                <a:cs typeface="Times New Roman"/>
              </a:rPr>
              <a:t>oppression.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Blommeart </a:t>
            </a:r>
            <a:r>
              <a:rPr dirty="0" sz="1100">
                <a:latin typeface="Times New Roman"/>
                <a:cs typeface="Times New Roman"/>
              </a:rPr>
              <a:t>writes, </a:t>
            </a:r>
            <a:r>
              <a:rPr dirty="0" sz="1100" spc="-5">
                <a:latin typeface="Times New Roman"/>
                <a:cs typeface="Times New Roman"/>
              </a:rPr>
              <a:t>“the deepest impact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power everywhere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inequality,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power differentiates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selects, includes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excludes”. “Power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a bad thing—those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are in </a:t>
            </a:r>
            <a:r>
              <a:rPr dirty="0" sz="1100" spc="-5">
                <a:latin typeface="Times New Roman"/>
                <a:cs typeface="Times New Roman"/>
              </a:rPr>
              <a:t>power will </a:t>
            </a:r>
            <a:r>
              <a:rPr dirty="0" sz="1100">
                <a:latin typeface="Times New Roman"/>
                <a:cs typeface="Times New Roman"/>
              </a:rPr>
              <a:t>confirm it”.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 that critical discourse studies should offer an </a:t>
            </a:r>
            <a:r>
              <a:rPr dirty="0" sz="1100">
                <a:latin typeface="Times New Roman"/>
                <a:cs typeface="Times New Roman"/>
              </a:rPr>
              <a:t>analysis of the </a:t>
            </a:r>
            <a:r>
              <a:rPr dirty="0" sz="1100" spc="-5">
                <a:latin typeface="Times New Roman"/>
                <a:cs typeface="Times New Roman"/>
              </a:rPr>
              <a:t>effects </a:t>
            </a:r>
            <a:r>
              <a:rPr dirty="0" sz="1100">
                <a:latin typeface="Times New Roman"/>
                <a:cs typeface="Times New Roman"/>
              </a:rPr>
              <a:t>of power, </a:t>
            </a:r>
            <a:r>
              <a:rPr dirty="0" sz="1100" spc="-5">
                <a:latin typeface="Times New Roman"/>
                <a:cs typeface="Times New Roman"/>
              </a:rPr>
              <a:t>the outcomes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power,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people/groups/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societies </a:t>
            </a:r>
            <a:r>
              <a:rPr dirty="0" sz="1100">
                <a:latin typeface="Times New Roman"/>
                <a:cs typeface="Times New Roman"/>
              </a:rPr>
              <a:t>and 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(CST)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trans-disciplinary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agendas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critiquing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society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oppression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(Anyon,</a:t>
            </a:r>
            <a:r>
              <a:rPr dirty="0" sz="1100">
                <a:latin typeface="Times New Roman"/>
                <a:cs typeface="Times New Roman"/>
              </a:rPr>
              <a:t> 1997).</a:t>
            </a:r>
            <a:endParaRPr sz="1100">
              <a:latin typeface="Times New Roman"/>
              <a:cs typeface="Times New Roman"/>
            </a:endParaRPr>
          </a:p>
          <a:p>
            <a:pPr marL="469265" marR="10795" indent="-228600">
              <a:lnSpc>
                <a:spcPct val="110000"/>
              </a:lnSpc>
              <a:spcBef>
                <a:spcPts val="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rejection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naturalism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(that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labels,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programs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Rationality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 assumption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Neutrality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>
                <a:latin typeface="Times New Roman"/>
                <a:cs typeface="Times New Roman"/>
              </a:rPr>
              <a:t> particular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interests),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individualism</a:t>
            </a:r>
            <a:endParaRPr sz="1100">
              <a:latin typeface="Times New Roman"/>
              <a:cs typeface="Times New Roman"/>
            </a:endParaRPr>
          </a:p>
          <a:p>
            <a:pPr algn="just" marL="469265" marR="8255" indent="-228600">
              <a:lnSpc>
                <a:spcPct val="110500"/>
              </a:lnSpc>
              <a:spcBef>
                <a:spcPts val="7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CST’s intellectual heritage </a:t>
            </a:r>
            <a:r>
              <a:rPr dirty="0" sz="1100">
                <a:latin typeface="Times New Roman"/>
                <a:cs typeface="Times New Roman"/>
              </a:rPr>
              <a:t>draws on philosophy, </a:t>
            </a:r>
            <a:r>
              <a:rPr dirty="0" sz="1100" spc="-5">
                <a:latin typeface="Times New Roman"/>
                <a:cs typeface="Times New Roman"/>
              </a:rPr>
              <a:t>literature, legal scholarship, cultural studies,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 race scholarship, political economy </a:t>
            </a:r>
            <a:r>
              <a:rPr dirty="0" sz="1100">
                <a:latin typeface="Times New Roman"/>
                <a:cs typeface="Times New Roman"/>
              </a:rPr>
              <a:t>studies, </a:t>
            </a:r>
            <a:r>
              <a:rPr dirty="0" sz="1100" spc="-5">
                <a:latin typeface="Times New Roman"/>
                <a:cs typeface="Times New Roman"/>
              </a:rPr>
              <a:t>ethnic studies, and feminist </a:t>
            </a:r>
            <a:r>
              <a:rPr dirty="0" sz="1100">
                <a:latin typeface="Times New Roman"/>
                <a:cs typeface="Times New Roman"/>
              </a:rPr>
              <a:t>studies, and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 been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Frankfurt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theory </a:t>
            </a:r>
            <a:r>
              <a:rPr dirty="0" sz="1100" spc="-5">
                <a:latin typeface="Times New Roman"/>
                <a:cs typeface="Times New Roman"/>
              </a:rPr>
              <a:t>assumes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oppression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liberation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twin pillars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include </a:t>
            </a:r>
            <a:r>
              <a:rPr dirty="0" sz="1100" spc="-5">
                <a:latin typeface="Times New Roman"/>
                <a:cs typeface="Times New Roman"/>
              </a:rPr>
              <a:t>material, historical,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discursive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dimensions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enacted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time,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people, and </a:t>
            </a:r>
            <a:r>
              <a:rPr dirty="0" sz="1100" spc="-5">
                <a:latin typeface="Times New Roman"/>
                <a:cs typeface="Times New Roman"/>
              </a:rPr>
              <a:t>context.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commitment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197: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Considering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‘Discourse’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Critical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aspect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bodies?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Integrate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artifacts,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gestures,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space.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Adjust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use.</a:t>
            </a:r>
            <a:endParaRPr sz="1100">
              <a:latin typeface="Times New Roman"/>
              <a:cs typeface="Times New Roman"/>
            </a:endParaRPr>
          </a:p>
          <a:p>
            <a:pPr marL="504825" indent="-26416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504825" algn="l"/>
                <a:tab pos="505459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representational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systems—language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create meanings. Meanings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always embedded within social, historical, political,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ideological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discourse has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assigned many meanings located between the linguistic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Meanings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Motivated.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(Halliday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Hasan,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1976;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Halliday,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1978)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representational</a:t>
            </a:r>
            <a:r>
              <a:rPr dirty="0" sz="1100">
                <a:latin typeface="Times New Roman"/>
                <a:cs typeface="Times New Roman"/>
              </a:rPr>
              <a:t> system—the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language—that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perhaps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embedded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oriented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toward choice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privileges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users)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 </a:t>
            </a:r>
            <a:r>
              <a:rPr dirty="0" sz="1100">
                <a:latin typeface="Times New Roman"/>
                <a:cs typeface="Times New Roman"/>
              </a:rPr>
              <a:t>decisions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functions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language </a:t>
            </a:r>
            <a:r>
              <a:rPr dirty="0" sz="1100">
                <a:latin typeface="Times New Roman"/>
                <a:cs typeface="Times New Roman"/>
              </a:rPr>
              <a:t>use. </a:t>
            </a:r>
            <a:r>
              <a:rPr dirty="0" sz="1100" spc="-5">
                <a:latin typeface="Times New Roman"/>
                <a:cs typeface="Times New Roman"/>
              </a:rPr>
              <a:t>Discourses both construct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represent the social world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thus </a:t>
            </a:r>
            <a:r>
              <a:rPr dirty="0" sz="1100">
                <a:latin typeface="Times New Roman"/>
                <a:cs typeface="Times New Roman"/>
              </a:rPr>
              <a:t> can be </a:t>
            </a:r>
            <a:r>
              <a:rPr dirty="0" sz="1100" spc="-5">
                <a:latin typeface="Times New Roman"/>
                <a:cs typeface="Times New Roman"/>
              </a:rPr>
              <a:t>referred </a:t>
            </a:r>
            <a:r>
              <a:rPr dirty="0" sz="1100">
                <a:latin typeface="Times New Roman"/>
                <a:cs typeface="Times New Roman"/>
              </a:rPr>
              <a:t>to as </a:t>
            </a:r>
            <a:r>
              <a:rPr dirty="0" sz="1100" spc="-5">
                <a:latin typeface="Times New Roman"/>
                <a:cs typeface="Times New Roman"/>
              </a:rPr>
              <a:t>constitutive, </a:t>
            </a:r>
            <a:r>
              <a:rPr dirty="0" sz="1100">
                <a:latin typeface="Times New Roman"/>
                <a:cs typeface="Times New Roman"/>
              </a:rPr>
              <a:t>dialectical, </a:t>
            </a:r>
            <a:r>
              <a:rPr dirty="0" sz="1100" spc="-5">
                <a:latin typeface="Times New Roman"/>
                <a:cs typeface="Times New Roman"/>
              </a:rPr>
              <a:t>and dialogic. Discourse is never just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artifact but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consumptive, productive, distributive,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reproductive processes that exist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relation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social world.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Discourses are social practices, processes,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products. Yule (1983) </a:t>
            </a:r>
            <a:r>
              <a:rPr dirty="0" sz="1100">
                <a:latin typeface="Times New Roman"/>
                <a:cs typeface="Times New Roman"/>
              </a:rPr>
              <a:t>wrote, </a:t>
            </a:r>
            <a:r>
              <a:rPr dirty="0" sz="1100" spc="-5">
                <a:latin typeface="Times New Roman"/>
                <a:cs typeface="Times New Roman"/>
              </a:rPr>
              <a:t>‘The analysis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necessarily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use.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cannot be </a:t>
            </a:r>
            <a:r>
              <a:rPr dirty="0" sz="1100" spc="-5">
                <a:latin typeface="Times New Roman"/>
                <a:cs typeface="Times New Roman"/>
              </a:rPr>
              <a:t>restricted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 independent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functions 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affairs.’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Considering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‘Analysis’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Critical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Discourse Analysis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are, as many different approaches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analyse within critical discourse analysis,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problems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studied </a:t>
            </a:r>
            <a:r>
              <a:rPr dirty="0" sz="1100">
                <a:latin typeface="Times New Roman"/>
                <a:cs typeface="Times New Roman"/>
              </a:rPr>
              <a:t>(e.g., </a:t>
            </a:r>
            <a:r>
              <a:rPr dirty="0" sz="1100" spc="-5">
                <a:latin typeface="Times New Roman"/>
                <a:cs typeface="Times New Roman"/>
              </a:rPr>
              <a:t>Titscher, Meyer, Wodak, </a:t>
            </a:r>
            <a:r>
              <a:rPr dirty="0" sz="1100">
                <a:latin typeface="Times New Roman"/>
                <a:cs typeface="Times New Roman"/>
              </a:rPr>
              <a:t>&amp; </a:t>
            </a:r>
            <a:r>
              <a:rPr dirty="0" sz="1100" spc="-5">
                <a:latin typeface="Times New Roman"/>
                <a:cs typeface="Times New Roman"/>
              </a:rPr>
              <a:t>Vetter, 2000; van Dijk, 2001).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analyses, </a:t>
            </a:r>
            <a:r>
              <a:rPr dirty="0" sz="1100">
                <a:latin typeface="Times New Roman"/>
                <a:cs typeface="Times New Roman"/>
              </a:rPr>
              <a:t>connected to a theory of </a:t>
            </a:r>
            <a:r>
              <a:rPr dirty="0" sz="1100" spc="-5">
                <a:latin typeface="Times New Roman"/>
                <a:cs typeface="Times New Roman"/>
              </a:rPr>
              <a:t>the social world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-5">
                <a:latin typeface="Times New Roman"/>
                <a:cs typeface="Times New Roman"/>
              </a:rPr>
              <a:t>theory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procedures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general,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methods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analysis is that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finds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research topic, </a:t>
            </a:r>
            <a:r>
              <a:rPr dirty="0" sz="1100">
                <a:latin typeface="Times New Roman"/>
                <a:cs typeface="Times New Roman"/>
              </a:rPr>
              <a:t>applies 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theoretical frames (or allows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frames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emerge 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data)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that research topic, and then selects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depending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 asked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theories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 </a:t>
            </a:r>
            <a:r>
              <a:rPr dirty="0" sz="1100">
                <a:latin typeface="Times New Roman"/>
                <a:cs typeface="Times New Roman"/>
              </a:rPr>
              <a:t>used.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analysts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 on </a:t>
            </a:r>
            <a:r>
              <a:rPr dirty="0" sz="1100" spc="-5">
                <a:latin typeface="Times New Roman"/>
                <a:cs typeface="Times New Roman"/>
              </a:rPr>
              <a:t>extensive fieldwork; others collect large </a:t>
            </a:r>
            <a:r>
              <a:rPr dirty="0" sz="1100">
                <a:latin typeface="Times New Roman"/>
                <a:cs typeface="Times New Roman"/>
              </a:rPr>
              <a:t>corpuses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archives, websites </a:t>
            </a:r>
            <a:r>
              <a:rPr dirty="0" sz="1100">
                <a:latin typeface="Times New Roman"/>
                <a:cs typeface="Times New Roman"/>
              </a:rPr>
              <a:t>or news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sources. </a:t>
            </a:r>
            <a:r>
              <a:rPr dirty="0" sz="1100" spc="-5">
                <a:latin typeface="Times New Roman"/>
                <a:cs typeface="Times New Roman"/>
              </a:rPr>
              <a:t>Some methods are less linguistically focused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more focused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context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arises.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foreground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micro-level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evolution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narrative.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influential traditions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critical approaches are James Gee (1986; 1991; 1996; </a:t>
            </a:r>
            <a:r>
              <a:rPr dirty="0" sz="1100" spc="5">
                <a:latin typeface="Times New Roman"/>
                <a:cs typeface="Times New Roman"/>
              </a:rPr>
              <a:t>2004),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Fairclough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(1989;</a:t>
            </a:r>
            <a:r>
              <a:rPr dirty="0" sz="1100">
                <a:latin typeface="Times New Roman"/>
                <a:cs typeface="Times New Roman"/>
              </a:rPr>
              <a:t> 1992;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1995;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2003),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Gunther</a:t>
            </a:r>
            <a:r>
              <a:rPr dirty="0" sz="1100">
                <a:latin typeface="Times New Roman"/>
                <a:cs typeface="Times New Roman"/>
              </a:rPr>
              <a:t> Kress (1979;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1993;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1996;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2001;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2003;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2009).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cannot assign each scholar </a:t>
            </a:r>
            <a:r>
              <a:rPr dirty="0" sz="1100">
                <a:latin typeface="Times New Roman"/>
                <a:cs typeface="Times New Roman"/>
              </a:rPr>
              <a:t>only one </a:t>
            </a:r>
            <a:r>
              <a:rPr dirty="0" sz="1100" spc="-5">
                <a:latin typeface="Times New Roman"/>
                <a:cs typeface="Times New Roman"/>
              </a:rPr>
              <a:t>approach to critical discourse analysis because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scholar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developed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drawn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overlapped.</a:t>
            </a:r>
            <a:r>
              <a:rPr dirty="0" sz="1100">
                <a:latin typeface="Times New Roman"/>
                <a:cs typeface="Times New Roman"/>
              </a:rPr>
              <a:t> These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all embrace the </a:t>
            </a:r>
            <a:r>
              <a:rPr dirty="0" sz="1100">
                <a:latin typeface="Times New Roman"/>
                <a:cs typeface="Times New Roman"/>
              </a:rPr>
              <a:t>concept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methodological hybridity; they </a:t>
            </a:r>
            <a:r>
              <a:rPr dirty="0" sz="1100">
                <a:latin typeface="Times New Roman"/>
                <a:cs typeface="Times New Roman"/>
              </a:rPr>
              <a:t>freely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 are</a:t>
            </a:r>
            <a:r>
              <a:rPr dirty="0" sz="1100">
                <a:latin typeface="Times New Roman"/>
                <a:cs typeface="Times New Roman"/>
              </a:rPr>
              <a:t> drawn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scholarship.</a:t>
            </a:r>
            <a:endParaRPr sz="1100">
              <a:latin typeface="Times New Roman"/>
              <a:cs typeface="Times New Roman"/>
            </a:endParaRPr>
          </a:p>
          <a:p>
            <a:pPr algn="just" marL="12700" marR="3455035">
              <a:lnSpc>
                <a:spcPct val="220000"/>
              </a:lnSpc>
              <a:spcBef>
                <a:spcPts val="3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Topic- 199: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Different Approaches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CDA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James</a:t>
            </a:r>
            <a:r>
              <a:rPr dirty="0" sz="1100" spc="-5" b="1">
                <a:latin typeface="Times New Roman"/>
                <a:cs typeface="Times New Roman"/>
              </a:rPr>
              <a:t> Gee’s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integrated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linguistics, James </a:t>
            </a:r>
            <a:r>
              <a:rPr dirty="0" sz="1100">
                <a:latin typeface="Times New Roman"/>
                <a:cs typeface="Times New Roman"/>
              </a:rPr>
              <a:t>Paul </a:t>
            </a:r>
            <a:r>
              <a:rPr dirty="0" sz="1100" spc="-5">
                <a:latin typeface="Times New Roman"/>
                <a:cs typeface="Times New Roman"/>
              </a:rPr>
              <a:t>Gee presents both </a:t>
            </a:r>
            <a:r>
              <a:rPr dirty="0" sz="1100">
                <a:latin typeface="Times New Roman"/>
                <a:cs typeface="Times New Roman"/>
              </a:rPr>
              <a:t>a theory of language-in-use, as well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Norman Fairclough developed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three-dimensional framework </a:t>
            </a:r>
            <a:r>
              <a:rPr dirty="0" sz="1100">
                <a:latin typeface="Times New Roman"/>
                <a:cs typeface="Times New Roman"/>
              </a:rPr>
              <a:t>for studying </a:t>
            </a:r>
            <a:r>
              <a:rPr dirty="0" sz="1100" spc="-5">
                <a:latin typeface="Times New Roman"/>
                <a:cs typeface="Times New Roman"/>
              </a:rPr>
              <a:t>discourse, </a:t>
            </a:r>
            <a:r>
              <a:rPr dirty="0" sz="1100" spc="-1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the aim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 </a:t>
            </a:r>
            <a:r>
              <a:rPr dirty="0" sz="1100">
                <a:latin typeface="Times New Roman"/>
                <a:cs typeface="Times New Roman"/>
              </a:rPr>
              <a:t>three </a:t>
            </a:r>
            <a:r>
              <a:rPr dirty="0" sz="1100" spc="-5">
                <a:latin typeface="Times New Roman"/>
                <a:cs typeface="Times New Roman"/>
              </a:rPr>
              <a:t>separate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analysis onto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another.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analysis </a:t>
            </a:r>
            <a:r>
              <a:rPr dirty="0" sz="1100">
                <a:latin typeface="Times New Roman"/>
                <a:cs typeface="Times New Roman"/>
              </a:rPr>
              <a:t>of (spoken or </a:t>
            </a:r>
            <a:r>
              <a:rPr dirty="0" sz="1100" spc="-5">
                <a:latin typeface="Times New Roman"/>
                <a:cs typeface="Times New Roman"/>
              </a:rPr>
              <a:t>written)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>
                <a:latin typeface="Times New Roman"/>
                <a:cs typeface="Times New Roman"/>
              </a:rPr>
              <a:t> practices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(processes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production,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consumption)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discursive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instances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sociocultural practice.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Gunther </a:t>
            </a:r>
            <a:r>
              <a:rPr dirty="0" sz="1100">
                <a:latin typeface="Times New Roman"/>
                <a:cs typeface="Times New Roman"/>
              </a:rPr>
              <a:t>Kress </a:t>
            </a:r>
            <a:r>
              <a:rPr dirty="0" sz="1100" spc="-5">
                <a:latin typeface="Times New Roman"/>
                <a:cs typeface="Times New Roman"/>
              </a:rPr>
              <a:t>is 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people </a:t>
            </a:r>
            <a:r>
              <a:rPr dirty="0" sz="1100" spc="-5">
                <a:latin typeface="Times New Roman"/>
                <a:cs typeface="Times New Roman"/>
              </a:rPr>
              <a:t>credited with developing the 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scholarship referred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semiotic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approach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1504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525">
              <a:lnSpc>
                <a:spcPct val="1104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semiotics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meaning,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 </a:t>
            </a:r>
            <a:r>
              <a:rPr dirty="0" sz="1100" spc="-5">
                <a:latin typeface="Times New Roman"/>
                <a:cs typeface="Times New Roman"/>
              </a:rPr>
              <a:t>multimodality </a:t>
            </a:r>
            <a:r>
              <a:rPr dirty="0" sz="1100">
                <a:latin typeface="Times New Roman"/>
                <a:cs typeface="Times New Roman"/>
              </a:rPr>
              <a:t>phenomenon.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equates </a:t>
            </a:r>
            <a:r>
              <a:rPr dirty="0" sz="1100" spc="-5">
                <a:latin typeface="Times New Roman"/>
                <a:cs typeface="Times New Roman"/>
              </a:rPr>
              <a:t>with understanding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style or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that communication.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 semiotic approach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concerned with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meanings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made—in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outward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approaches provide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tools and </a:t>
            </a:r>
            <a:r>
              <a:rPr dirty="0" sz="1100">
                <a:latin typeface="Times New Roman"/>
                <a:cs typeface="Times New Roman"/>
              </a:rPr>
              <a:t>resources </a:t>
            </a:r>
            <a:r>
              <a:rPr dirty="0" sz="1100" spc="-5">
                <a:latin typeface="Times New Roman"/>
                <a:cs typeface="Times New Roman"/>
              </a:rPr>
              <a:t>for understanding social </a:t>
            </a:r>
            <a:r>
              <a:rPr dirty="0" sz="1100">
                <a:latin typeface="Times New Roman"/>
                <a:cs typeface="Times New Roman"/>
              </a:rPr>
              <a:t>events </a:t>
            </a:r>
            <a:r>
              <a:rPr dirty="0" sz="1100" spc="10">
                <a:latin typeface="Times New Roman"/>
                <a:cs typeface="Times New Roman"/>
              </a:rPr>
              <a:t>and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practices that are taken </a:t>
            </a:r>
            <a:r>
              <a:rPr dirty="0" sz="1100">
                <a:latin typeface="Times New Roman"/>
                <a:cs typeface="Times New Roman"/>
              </a:rPr>
              <a:t>up depending on the </a:t>
            </a:r>
            <a:r>
              <a:rPr dirty="0" sz="1100" spc="-5">
                <a:latin typeface="Times New Roman"/>
                <a:cs typeface="Times New Roman"/>
              </a:rPr>
              <a:t>question. Our work </a:t>
            </a:r>
            <a:r>
              <a:rPr dirty="0" sz="1100">
                <a:latin typeface="Times New Roman"/>
                <a:cs typeface="Times New Roman"/>
              </a:rPr>
              <a:t>is to apply these </a:t>
            </a:r>
            <a:r>
              <a:rPr dirty="0" sz="1100" spc="5">
                <a:latin typeface="Times New Roman"/>
                <a:cs typeface="Times New Roman"/>
              </a:rPr>
              <a:t>tools—and </a:t>
            </a:r>
            <a:r>
              <a:rPr dirty="0" sz="1100" spc="-5">
                <a:latin typeface="Times New Roman"/>
                <a:cs typeface="Times New Roman"/>
              </a:rPr>
              <a:t>design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ones—in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meaningful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work.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8237"/>
            <a:ext cx="5970270" cy="7757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Lesson-35</a:t>
            </a:r>
            <a:endParaRPr sz="1400">
              <a:latin typeface="Times New Roman"/>
              <a:cs typeface="Times New Roman"/>
            </a:endParaRPr>
          </a:p>
          <a:p>
            <a:pPr marL="2218055">
              <a:lnSpc>
                <a:spcPct val="100000"/>
              </a:lnSpc>
              <a:spcBef>
                <a:spcPts val="1180"/>
              </a:spcBef>
            </a:pPr>
            <a:r>
              <a:rPr dirty="0" sz="1400" spc="-5" b="1">
                <a:latin typeface="Times New Roman"/>
                <a:cs typeface="Times New Roman"/>
              </a:rPr>
              <a:t>APPLIED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200: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interdisciplinary field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which identifies, investigates,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offers solutions </a:t>
            </a:r>
            <a:r>
              <a:rPr dirty="0" sz="1100">
                <a:latin typeface="Times New Roman"/>
                <a:cs typeface="Times New Roman"/>
              </a:rPr>
              <a:t>to language-related </a:t>
            </a:r>
            <a:r>
              <a:rPr dirty="0" sz="1100" spc="-5">
                <a:latin typeface="Times New Roman"/>
                <a:cs typeface="Times New Roman"/>
              </a:rPr>
              <a:t>real-life problems. Language </a:t>
            </a:r>
            <a:r>
              <a:rPr dirty="0" sz="1100">
                <a:latin typeface="Times New Roman"/>
                <a:cs typeface="Times New Roman"/>
              </a:rPr>
              <a:t>is at </a:t>
            </a:r>
            <a:r>
              <a:rPr dirty="0" sz="1100" spc="-5">
                <a:latin typeface="Times New Roman"/>
                <a:cs typeface="Times New Roman"/>
              </a:rPr>
              <a:t>the heart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</a:t>
            </a:r>
            <a:r>
              <a:rPr dirty="0" sz="1100">
                <a:latin typeface="Times New Roman"/>
                <a:cs typeface="Times New Roman"/>
              </a:rPr>
              <a:t>life and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applied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 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beyond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5">
                <a:latin typeface="Times New Roman"/>
                <a:cs typeface="Times New Roman"/>
              </a:rPr>
              <a:t> literacy?</a:t>
            </a:r>
            <a:endParaRPr sz="1100">
              <a:latin typeface="Times New Roman"/>
              <a:cs typeface="Times New Roman"/>
            </a:endParaRPr>
          </a:p>
          <a:p>
            <a:pPr marL="469265" marR="8890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speaking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maintain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>
                <a:latin typeface="Times New Roman"/>
                <a:cs typeface="Times New Roman"/>
              </a:rPr>
              <a:t> learn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 marL="469265" marR="8890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just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Which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documents?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1950s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advent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socially-accountable role, demonstrated </a:t>
            </a:r>
            <a:r>
              <a:rPr dirty="0" sz="1100">
                <a:latin typeface="Times New Roman"/>
                <a:cs typeface="Times New Roman"/>
              </a:rPr>
              <a:t>by its </a:t>
            </a:r>
            <a:r>
              <a:rPr dirty="0" sz="1100" spc="-5">
                <a:latin typeface="Times New Roman"/>
                <a:cs typeface="Times New Roman"/>
              </a:rPr>
              <a:t>central interest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 problems.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1960s,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assessment,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policy,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1970s, it </a:t>
            </a:r>
            <a:r>
              <a:rPr dirty="0" sz="1100" spc="-10">
                <a:latin typeface="Times New Roman"/>
                <a:cs typeface="Times New Roman"/>
              </a:rPr>
              <a:t>became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problem-driven field rather than theoretical linguistics, including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language-related problems</a:t>
            </a:r>
            <a:r>
              <a:rPr dirty="0" sz="1100">
                <a:latin typeface="Times New Roman"/>
                <a:cs typeface="Times New Roman"/>
              </a:rPr>
              <a:t> in the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>
                <a:latin typeface="Times New Roman"/>
                <a:cs typeface="Times New Roman"/>
              </a:rPr>
              <a:t> world.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1990s, it </a:t>
            </a:r>
            <a:r>
              <a:rPr dirty="0" sz="1100" spc="-5">
                <a:latin typeface="Times New Roman"/>
                <a:cs typeface="Times New Roman"/>
              </a:rPr>
              <a:t>broadened </a:t>
            </a:r>
            <a:r>
              <a:rPr dirty="0" sz="1100">
                <a:latin typeface="Times New Roman"/>
                <a:cs typeface="Times New Roman"/>
              </a:rPr>
              <a:t>and included </a:t>
            </a:r>
            <a:r>
              <a:rPr dirty="0" sz="1100" spc="-5">
                <a:latin typeface="Times New Roman"/>
                <a:cs typeface="Times New Roman"/>
              </a:rPr>
              <a:t>critical </a:t>
            </a:r>
            <a:r>
              <a:rPr dirty="0" sz="1100">
                <a:latin typeface="Times New Roman"/>
                <a:cs typeface="Times New Roman"/>
              </a:rPr>
              <a:t> studies and </a:t>
            </a:r>
            <a:r>
              <a:rPr dirty="0" sz="1100" spc="-5">
                <a:latin typeface="Times New Roman"/>
                <a:cs typeface="Times New Roman"/>
              </a:rPr>
              <a:t>multilingualism. </a:t>
            </a:r>
            <a:r>
              <a:rPr dirty="0" sz="1100">
                <a:latin typeface="Times New Roman"/>
                <a:cs typeface="Times New Roman"/>
              </a:rPr>
              <a:t>Research in </a:t>
            </a:r>
            <a:r>
              <a:rPr dirty="0" sz="1100" spc="-5">
                <a:latin typeface="Times New Roman"/>
                <a:cs typeface="Times New Roman"/>
              </a:rPr>
              <a:t>applied linguistics was shifted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"the theoretical and empirical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‘applied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linguistics’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broad range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activities which involve solving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language-related </a:t>
            </a:r>
            <a:r>
              <a:rPr dirty="0" sz="1100" spc="-5">
                <a:latin typeface="Times New Roman"/>
                <a:cs typeface="Times New Roman"/>
              </a:rPr>
              <a:t>problem </a:t>
            </a:r>
            <a:r>
              <a:rPr dirty="0" sz="1100">
                <a:latin typeface="Times New Roman"/>
                <a:cs typeface="Times New Roman"/>
              </a:rPr>
              <a:t>or addressing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language-related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Scope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 marR="762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open-ended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disparate  activities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First-language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Additional-language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education/second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Clinical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work,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law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Workplace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Forensic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2432"/>
            <a:ext cx="5971540" cy="8284209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effect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stylistics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Critical discourse analysis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Translation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Lexicography</a:t>
            </a:r>
            <a:endParaRPr sz="1100">
              <a:latin typeface="Times New Roman"/>
              <a:cs typeface="Times New Roman"/>
            </a:endParaRPr>
          </a:p>
          <a:p>
            <a:pPr marL="12700" marR="12700">
              <a:lnSpc>
                <a:spcPct val="1100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inquiry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discipline.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202: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Major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Branches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600"/>
              </a:lnSpc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interdisciplinary field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investigates,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solutions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real-life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sociology.</a:t>
            </a:r>
            <a:endParaRPr sz="1100">
              <a:latin typeface="Times New Roman"/>
              <a:cs typeface="Times New Roman"/>
            </a:endParaRPr>
          </a:p>
          <a:p>
            <a:pPr algn="just" marL="469265" marR="889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Bilingualism: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or the </a:t>
            </a:r>
            <a:r>
              <a:rPr dirty="0" sz="1100" spc="-5">
                <a:latin typeface="Times New Roman"/>
                <a:cs typeface="Times New Roman"/>
              </a:rPr>
              <a:t>members </a:t>
            </a:r>
            <a:r>
              <a:rPr dirty="0" sz="1100" spc="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two languages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Multilingualism:</a:t>
            </a:r>
            <a:r>
              <a:rPr dirty="0" sz="1100" spc="29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known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multilingualism.</a:t>
            </a:r>
            <a:endParaRPr sz="1100">
              <a:latin typeface="Times New Roman"/>
              <a:cs typeface="Times New Roman"/>
            </a:endParaRPr>
          </a:p>
          <a:p>
            <a:pPr algn="just" marL="469265" marR="5715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Conversation analysis: </a:t>
            </a:r>
            <a:r>
              <a:rPr dirty="0" sz="1100">
                <a:latin typeface="Times New Roman"/>
                <a:cs typeface="Times New Roman"/>
              </a:rPr>
              <a:t>an approach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social interaction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talk-in-interaction </a:t>
            </a:r>
            <a:r>
              <a:rPr dirty="0" sz="1100" spc="-1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exerted</a:t>
            </a:r>
            <a:r>
              <a:rPr dirty="0" sz="1100" spc="-5">
                <a:latin typeface="Times New Roman"/>
                <a:cs typeface="Times New Roman"/>
              </a:rPr>
              <a:t> significant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humanities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 linguistics.</a:t>
            </a:r>
            <a:endParaRPr sz="1100">
              <a:latin typeface="Times New Roman"/>
              <a:cs typeface="Times New Roman"/>
            </a:endParaRPr>
          </a:p>
          <a:p>
            <a:pPr algn="just" marL="469265" marR="889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Contrastive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practice-oriented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pair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algn="just" marL="469265" marR="825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Sign </a:t>
            </a:r>
            <a:r>
              <a:rPr dirty="0" sz="1100" spc="-5" b="1">
                <a:latin typeface="Times New Roman"/>
                <a:cs typeface="Times New Roman"/>
              </a:rPr>
              <a:t>linguistics: </a:t>
            </a:r>
            <a:r>
              <a:rPr dirty="0" sz="1100">
                <a:latin typeface="Times New Roman"/>
                <a:cs typeface="Times New Roman"/>
              </a:rPr>
              <a:t>any unit of </a:t>
            </a:r>
            <a:r>
              <a:rPr dirty="0" sz="1100" spc="-5">
                <a:latin typeface="Times New Roman"/>
                <a:cs typeface="Times New Roman"/>
              </a:rPr>
              <a:t>language (morpheme, </a:t>
            </a:r>
            <a:r>
              <a:rPr dirty="0" sz="1100">
                <a:latin typeface="Times New Roman"/>
                <a:cs typeface="Times New Roman"/>
              </a:rPr>
              <a:t>word, phrase,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sentence) 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designate </a:t>
            </a:r>
            <a:r>
              <a:rPr dirty="0" sz="1100">
                <a:latin typeface="Times New Roman"/>
                <a:cs typeface="Times New Roman"/>
              </a:rPr>
              <a:t> objects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phenomena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reality.</a:t>
            </a:r>
            <a:endParaRPr sz="1100">
              <a:latin typeface="Times New Roman"/>
              <a:cs typeface="Times New Roman"/>
            </a:endParaRPr>
          </a:p>
          <a:p>
            <a:pPr algn="just" marL="469265" marR="6350" indent="-228600">
              <a:lnSpc>
                <a:spcPct val="1105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b="1">
                <a:latin typeface="Times New Roman"/>
                <a:cs typeface="Times New Roman"/>
              </a:rPr>
              <a:t>Language </a:t>
            </a:r>
            <a:r>
              <a:rPr dirty="0" sz="1100" spc="-5" b="1">
                <a:latin typeface="Times New Roman"/>
                <a:cs typeface="Times New Roman"/>
              </a:rPr>
              <a:t>planning </a:t>
            </a:r>
            <a:r>
              <a:rPr dirty="0" sz="1100" b="1">
                <a:latin typeface="Times New Roman"/>
                <a:cs typeface="Times New Roman"/>
              </a:rPr>
              <a:t>and </a:t>
            </a:r>
            <a:r>
              <a:rPr dirty="0" sz="1100" spc="-5" b="1">
                <a:latin typeface="Times New Roman"/>
                <a:cs typeface="Times New Roman"/>
              </a:rPr>
              <a:t>policy: </a:t>
            </a:r>
            <a:r>
              <a:rPr dirty="0" sz="1100" spc="-5">
                <a:latin typeface="Times New Roman"/>
                <a:cs typeface="Times New Roman"/>
              </a:rPr>
              <a:t>Decisions about language </a:t>
            </a:r>
            <a:r>
              <a:rPr dirty="0" sz="1100">
                <a:latin typeface="Times New Roman"/>
                <a:cs typeface="Times New Roman"/>
              </a:rPr>
              <a:t>policies, </a:t>
            </a:r>
            <a:r>
              <a:rPr dirty="0" sz="1100" spc="-5">
                <a:latin typeface="Times New Roman"/>
                <a:cs typeface="Times New Roman"/>
              </a:rPr>
              <a:t>requirements, and practices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important consequences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all social contexts. Language </a:t>
            </a:r>
            <a:r>
              <a:rPr dirty="0" sz="1100">
                <a:latin typeface="Times New Roman"/>
                <a:cs typeface="Times New Roman"/>
              </a:rPr>
              <a:t>planning refers to </a:t>
            </a:r>
            <a:r>
              <a:rPr dirty="0" sz="1100" spc="-5">
                <a:latin typeface="Times New Roman"/>
                <a:cs typeface="Times New Roman"/>
              </a:rPr>
              <a:t>deliberate efforts 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codes.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Pragmatics: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actual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203: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Applied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Guy </a:t>
            </a:r>
            <a:r>
              <a:rPr dirty="0" sz="1100">
                <a:latin typeface="Times New Roman"/>
                <a:cs typeface="Times New Roman"/>
              </a:rPr>
              <a:t>Cook (2005) </a:t>
            </a:r>
            <a:r>
              <a:rPr dirty="0" sz="1100" spc="-5">
                <a:latin typeface="Times New Roman"/>
                <a:cs typeface="Times New Roman"/>
              </a:rPr>
              <a:t>writes, </a:t>
            </a:r>
            <a:r>
              <a:rPr dirty="0" sz="1100" spc="-10">
                <a:latin typeface="Times New Roman"/>
                <a:cs typeface="Times New Roman"/>
              </a:rPr>
              <a:t>‘like </a:t>
            </a:r>
            <a:r>
              <a:rPr dirty="0" sz="1100" spc="-5">
                <a:latin typeface="Times New Roman"/>
                <a:cs typeface="Times New Roman"/>
              </a:rPr>
              <a:t>Odysseus, applied linguistics has steered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>
                <a:latin typeface="Times New Roman"/>
                <a:cs typeface="Times New Roman"/>
              </a:rPr>
              <a:t>course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 a rock and a </a:t>
            </a:r>
            <a:r>
              <a:rPr dirty="0" sz="1100" spc="-5">
                <a:latin typeface="Times New Roman"/>
                <a:cs typeface="Times New Roman"/>
              </a:rPr>
              <a:t>whirlpool </a:t>
            </a:r>
            <a:r>
              <a:rPr dirty="0" sz="1100">
                <a:latin typeface="Times New Roman"/>
                <a:cs typeface="Times New Roman"/>
              </a:rPr>
              <a:t>and has been </a:t>
            </a:r>
            <a:r>
              <a:rPr dirty="0" sz="1100" spc="-5">
                <a:latin typeface="Times New Roman"/>
                <a:cs typeface="Times New Roman"/>
              </a:rPr>
              <a:t>in constant </a:t>
            </a:r>
            <a:r>
              <a:rPr dirty="0" sz="1100">
                <a:latin typeface="Times New Roman"/>
                <a:cs typeface="Times New Roman"/>
              </a:rPr>
              <a:t>danger of </a:t>
            </a:r>
            <a:r>
              <a:rPr dirty="0" sz="1100" spc="-5">
                <a:latin typeface="Times New Roman"/>
                <a:cs typeface="Times New Roman"/>
              </a:rPr>
              <a:t>hitting </a:t>
            </a:r>
            <a:r>
              <a:rPr dirty="0" sz="1100">
                <a:latin typeface="Times New Roman"/>
                <a:cs typeface="Times New Roman"/>
              </a:rPr>
              <a:t>one or </a:t>
            </a:r>
            <a:r>
              <a:rPr dirty="0" sz="1100" spc="-5">
                <a:latin typeface="Times New Roman"/>
                <a:cs typeface="Times New Roman"/>
              </a:rPr>
              <a:t>disappearing down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other’.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Historically, there have been two main views </a:t>
            </a:r>
            <a:r>
              <a:rPr dirty="0" sz="1100">
                <a:latin typeface="Times New Roman"/>
                <a:cs typeface="Times New Roman"/>
              </a:rPr>
              <a:t>on applied </a:t>
            </a:r>
            <a:r>
              <a:rPr dirty="0" sz="1100" spc="-5">
                <a:latin typeface="Times New Roman"/>
                <a:cs typeface="Times New Roman"/>
              </a:rPr>
              <a:t>linguistics and they've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linguistics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Applied was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initial understanding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discipline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1970s and assumed that </a:t>
            </a:r>
            <a:r>
              <a:rPr dirty="0" sz="1100">
                <a:latin typeface="Times New Roman"/>
                <a:cs typeface="Times New Roman"/>
              </a:rPr>
              <a:t> anyone </a:t>
            </a:r>
            <a:r>
              <a:rPr dirty="0" sz="1100" spc="-5">
                <a:latin typeface="Times New Roman"/>
                <a:cs typeface="Times New Roman"/>
              </a:rPr>
              <a:t>working within this field simply </a:t>
            </a:r>
            <a:r>
              <a:rPr dirty="0" sz="1100">
                <a:latin typeface="Times New Roman"/>
                <a:cs typeface="Times New Roman"/>
              </a:rPr>
              <a:t>took </a:t>
            </a:r>
            <a:r>
              <a:rPr dirty="0" sz="1100" spc="-5">
                <a:latin typeface="Times New Roman"/>
                <a:cs typeface="Times New Roman"/>
              </a:rPr>
              <a:t>insights from theoretical linguists. Applied Linguistics,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rethought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1980s, wanted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establish applied linguistics </a:t>
            </a:r>
            <a:r>
              <a:rPr dirty="0" sz="1100">
                <a:latin typeface="Times New Roman"/>
                <a:cs typeface="Times New Roman"/>
              </a:rPr>
              <a:t>as a complete </a:t>
            </a:r>
            <a:r>
              <a:rPr dirty="0" sz="1100" spc="-5">
                <a:latin typeface="Times New Roman"/>
                <a:cs typeface="Times New Roman"/>
              </a:rPr>
              <a:t>discipline </a:t>
            </a:r>
            <a:r>
              <a:rPr dirty="0" sz="1100">
                <a:latin typeface="Times New Roman"/>
                <a:cs typeface="Times New Roman"/>
              </a:rPr>
              <a:t>in its </a:t>
            </a:r>
            <a:r>
              <a:rPr dirty="0" sz="1100" spc="-5">
                <a:latin typeface="Times New Roman"/>
                <a:cs typeface="Times New Roman"/>
              </a:rPr>
              <a:t>own right </a:t>
            </a:r>
            <a:r>
              <a:rPr dirty="0" sz="1100">
                <a:latin typeface="Times New Roman"/>
                <a:cs typeface="Times New Roman"/>
              </a:rPr>
              <a:t>–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complete and </a:t>
            </a:r>
            <a:r>
              <a:rPr dirty="0" sz="1100" spc="-5">
                <a:latin typeface="Times New Roman"/>
                <a:cs typeface="Times New Roman"/>
              </a:rPr>
              <a:t>autonomous self that could also contribute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theory.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theoretical </a:t>
            </a:r>
            <a:r>
              <a:rPr dirty="0" sz="1100">
                <a:latin typeface="Times New Roman"/>
                <a:cs typeface="Times New Roman"/>
              </a:rPr>
              <a:t>and applied </a:t>
            </a:r>
            <a:r>
              <a:rPr dirty="0" sz="1100" spc="-5">
                <a:latin typeface="Times New Roman"/>
                <a:cs typeface="Times New Roman"/>
              </a:rPr>
              <a:t>disciplines </a:t>
            </a:r>
            <a:r>
              <a:rPr dirty="0" sz="1100">
                <a:latin typeface="Times New Roman"/>
                <a:cs typeface="Times New Roman"/>
              </a:rPr>
              <a:t> could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5">
                <a:latin typeface="Times New Roman"/>
                <a:cs typeface="Times New Roman"/>
              </a:rPr>
              <a:t> coexist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proposed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Widdowson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(2000)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Applied" published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Applied Linguistics Journal, OUP. He </a:t>
            </a:r>
            <a:r>
              <a:rPr dirty="0" sz="1100">
                <a:latin typeface="Times New Roman"/>
                <a:cs typeface="Times New Roman"/>
              </a:rPr>
              <a:t>suggests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mediating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which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accommodate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6460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partial perspectives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reformulate real world problems. </a:t>
            </a:r>
            <a:r>
              <a:rPr dirty="0" sz="1100">
                <a:latin typeface="Times New Roman"/>
                <a:cs typeface="Times New Roman"/>
              </a:rPr>
              <a:t>Though </a:t>
            </a:r>
            <a:r>
              <a:rPr dirty="0" sz="1100" spc="-5">
                <a:latin typeface="Times New Roman"/>
                <a:cs typeface="Times New Roman"/>
              </a:rPr>
              <a:t>in Linguistics Applied, as </a:t>
            </a:r>
            <a:r>
              <a:rPr dirty="0" sz="1100">
                <a:latin typeface="Times New Roman"/>
                <a:cs typeface="Times New Roman"/>
              </a:rPr>
              <a:t> Widdowson argues, the </a:t>
            </a:r>
            <a:r>
              <a:rPr dirty="0" sz="1100" spc="-5">
                <a:latin typeface="Times New Roman"/>
                <a:cs typeface="Times New Roman"/>
              </a:rPr>
              <a:t>assumption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problem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reformulated </a:t>
            </a:r>
            <a:r>
              <a:rPr dirty="0" sz="1100" spc="-10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direct </a:t>
            </a:r>
            <a:r>
              <a:rPr dirty="0" sz="1100" spc="-5">
                <a:latin typeface="Times New Roman"/>
                <a:cs typeface="Times New Roman"/>
              </a:rPr>
              <a:t>application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enquiry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905" cy="62274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Lesson-36</a:t>
            </a:r>
            <a:endParaRPr sz="1400">
              <a:latin typeface="Times New Roman"/>
              <a:cs typeface="Times New Roman"/>
            </a:endParaRPr>
          </a:p>
          <a:p>
            <a:pPr marL="2202815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PSYCHOLINGUISTICS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204: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Psycholinguistics reviews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detail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that people </a:t>
            </a:r>
            <a:r>
              <a:rPr dirty="0" sz="1100" spc="-5">
                <a:latin typeface="Times New Roman"/>
                <a:cs typeface="Times New Roman"/>
              </a:rPr>
              <a:t>use to </a:t>
            </a:r>
            <a:r>
              <a:rPr dirty="0" sz="1100">
                <a:latin typeface="Times New Roman"/>
                <a:cs typeface="Times New Roman"/>
              </a:rPr>
              <a:t> produce and </a:t>
            </a:r>
            <a:r>
              <a:rPr dirty="0" sz="1100" spc="-5">
                <a:latin typeface="Times New Roman"/>
                <a:cs typeface="Times New Roman"/>
              </a:rPr>
              <a:t>understand linguistic messages.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psycholinguist questions that </a:t>
            </a:r>
            <a:r>
              <a:rPr dirty="0" sz="1100">
                <a:latin typeface="Times New Roman"/>
                <a:cs typeface="Times New Roman"/>
              </a:rPr>
              <a:t>where is </a:t>
            </a:r>
            <a:r>
              <a:rPr dirty="0" sz="1100" spc="-5">
                <a:latin typeface="Times New Roman"/>
                <a:cs typeface="Times New Roman"/>
              </a:rPr>
              <a:t>this 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located?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obvious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brain.”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anywhere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Psycholinguistics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psychology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psychological and neurobiological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 that </a:t>
            </a:r>
            <a:r>
              <a:rPr dirty="0" sz="1100">
                <a:latin typeface="Times New Roman"/>
                <a:cs typeface="Times New Roman"/>
              </a:rPr>
              <a:t>enable </a:t>
            </a:r>
            <a:r>
              <a:rPr dirty="0" sz="1100" spc="-5">
                <a:latin typeface="Times New Roman"/>
                <a:cs typeface="Times New Roman"/>
              </a:rPr>
              <a:t>humans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acquire, use, comprehend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produce 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discipline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mainly </a:t>
            </a:r>
            <a:r>
              <a:rPr dirty="0" sz="1100">
                <a:latin typeface="Times New Roman"/>
                <a:cs typeface="Times New Roman"/>
              </a:rPr>
              <a:t> concerned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mechanisms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Psycholinguistics has roots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education and philosophy, </a:t>
            </a:r>
            <a:r>
              <a:rPr dirty="0" sz="1100">
                <a:latin typeface="Times New Roman"/>
                <a:cs typeface="Times New Roman"/>
              </a:rPr>
              <a:t>and covers the </a:t>
            </a:r>
            <a:r>
              <a:rPr dirty="0" sz="1100" spc="-5">
                <a:latin typeface="Times New Roman"/>
                <a:cs typeface="Times New Roman"/>
              </a:rPr>
              <a:t>‘cognitive </a:t>
            </a:r>
            <a:r>
              <a:rPr dirty="0" sz="1100">
                <a:latin typeface="Times New Roman"/>
                <a:cs typeface="Times New Roman"/>
              </a:rPr>
              <a:t>processes’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205: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Neurolinguistics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relationship between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brain is called ‘Neurolinguistics’.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ﬁeld </a:t>
            </a:r>
            <a:r>
              <a:rPr dirty="0" sz="1100">
                <a:latin typeface="Times New Roman"/>
                <a:cs typeface="Times New Roman"/>
              </a:rPr>
              <a:t>of study dates </a:t>
            </a:r>
            <a:r>
              <a:rPr dirty="0" sz="1100" spc="-5">
                <a:latin typeface="Times New Roman"/>
                <a:cs typeface="Times New Roman"/>
              </a:rPr>
              <a:t>back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nineteenth century when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location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brain was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early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accident </a:t>
            </a:r>
            <a:r>
              <a:rPr dirty="0" sz="1100">
                <a:latin typeface="Times New Roman"/>
                <a:cs typeface="Times New Roman"/>
              </a:rPr>
              <a:t>of Mr. </a:t>
            </a:r>
            <a:r>
              <a:rPr dirty="0" sz="1100" spc="-5">
                <a:latin typeface="Times New Roman"/>
                <a:cs typeface="Times New Roman"/>
              </a:rPr>
              <a:t>Gage made </a:t>
            </a:r>
            <a:r>
              <a:rPr dirty="0" sz="1100">
                <a:latin typeface="Times New Roman"/>
                <a:cs typeface="Times New Roman"/>
              </a:rPr>
              <a:t>it clear to the </a:t>
            </a:r>
            <a:r>
              <a:rPr dirty="0" sz="1100" spc="-5">
                <a:latin typeface="Times New Roman"/>
                <a:cs typeface="Times New Roman"/>
              </a:rPr>
              <a:t>scientists that </a:t>
            </a:r>
            <a:r>
              <a:rPr dirty="0" sz="1100">
                <a:latin typeface="Times New Roman"/>
                <a:cs typeface="Times New Roman"/>
              </a:rPr>
              <a:t>language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located in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specific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206: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 Areas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Brain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discoveries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made about the speciﬁc parts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brain that are related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areas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ear.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look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closely at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gray </a:t>
            </a:r>
            <a:r>
              <a:rPr dirty="0" sz="1100">
                <a:latin typeface="Times New Roman"/>
                <a:cs typeface="Times New Roman"/>
              </a:rPr>
              <a:t>matter. So, if </a:t>
            </a:r>
            <a:r>
              <a:rPr dirty="0" sz="1100" spc="-5">
                <a:latin typeface="Times New Roman"/>
                <a:cs typeface="Times New Roman"/>
              </a:rPr>
              <a:t>we observe </a:t>
            </a:r>
            <a:r>
              <a:rPr dirty="0" sz="1100">
                <a:latin typeface="Times New Roman"/>
                <a:cs typeface="Times New Roman"/>
              </a:rPr>
              <a:t>a head, </a:t>
            </a:r>
            <a:r>
              <a:rPr dirty="0" sz="1100" spc="-5">
                <a:latin typeface="Times New Roman"/>
                <a:cs typeface="Times New Roman"/>
              </a:rPr>
              <a:t>remove </a:t>
            </a:r>
            <a:r>
              <a:rPr dirty="0" sz="1100">
                <a:latin typeface="Times New Roman"/>
                <a:cs typeface="Times New Roman"/>
              </a:rPr>
              <a:t>hair, </a:t>
            </a:r>
            <a:r>
              <a:rPr dirty="0" sz="1100" spc="-5">
                <a:latin typeface="Times New Roman"/>
                <a:cs typeface="Times New Roman"/>
              </a:rPr>
              <a:t>scalp, skull, then disconnect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stem (connecting the brain to </a:t>
            </a:r>
            <a:r>
              <a:rPr dirty="0" sz="1100" spc="-5">
                <a:latin typeface="Times New Roman"/>
                <a:cs typeface="Times New Roman"/>
              </a:rPr>
              <a:t>the spinal cord) </a:t>
            </a:r>
            <a:r>
              <a:rPr dirty="0" sz="1100">
                <a:latin typeface="Times New Roman"/>
                <a:cs typeface="Times New Roman"/>
              </a:rPr>
              <a:t>and cut the </a:t>
            </a:r>
            <a:r>
              <a:rPr dirty="0" sz="1100" spc="5">
                <a:latin typeface="Times New Roman"/>
                <a:cs typeface="Times New Roman"/>
              </a:rPr>
              <a:t>corpus </a:t>
            </a:r>
            <a:r>
              <a:rPr dirty="0" sz="1100" spc="-5">
                <a:latin typeface="Times New Roman"/>
                <a:cs typeface="Times New Roman"/>
              </a:rPr>
              <a:t>callosum (connecting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hemispheres).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disregard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certain 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material, we will basically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left with two parts,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left hemisphere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right hemisphere.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 spc="5">
                <a:latin typeface="Times New Roman"/>
                <a:cs typeface="Times New Roman"/>
              </a:rPr>
              <a:t>put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right hemisphere aside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now,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we’ll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</a:t>
            </a:r>
            <a:r>
              <a:rPr dirty="0" sz="1100">
                <a:latin typeface="Times New Roman"/>
                <a:cs typeface="Times New Roman"/>
              </a:rPr>
              <a:t>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>
                <a:latin typeface="Times New Roman"/>
                <a:cs typeface="Times New Roman"/>
              </a:rPr>
              <a:t> close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accompanying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5" y="7296911"/>
            <a:ext cx="3152189" cy="153443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2242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shaded areas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illustration indicate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general locations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those language functions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 </a:t>
            </a:r>
            <a:r>
              <a:rPr dirty="0" sz="1100">
                <a:latin typeface="Times New Roman"/>
                <a:cs typeface="Times New Roman"/>
              </a:rPr>
              <a:t>in speaking and </a:t>
            </a:r>
            <a:r>
              <a:rPr dirty="0" sz="1100" spc="-5">
                <a:latin typeface="Times New Roman"/>
                <a:cs typeface="Times New Roman"/>
              </a:rPr>
              <a:t>listening. </a:t>
            </a:r>
            <a:r>
              <a:rPr dirty="0" sz="1100">
                <a:latin typeface="Times New Roman"/>
                <a:cs typeface="Times New Roman"/>
              </a:rPr>
              <a:t>We have </a:t>
            </a:r>
            <a:r>
              <a:rPr dirty="0" sz="1100" spc="-5">
                <a:latin typeface="Times New Roman"/>
                <a:cs typeface="Times New Roman"/>
              </a:rPr>
              <a:t>come </a:t>
            </a:r>
            <a:r>
              <a:rPr dirty="0" sz="1100" spc="5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that these </a:t>
            </a:r>
            <a:r>
              <a:rPr dirty="0" sz="1100" spc="-5">
                <a:latin typeface="Times New Roman"/>
                <a:cs typeface="Times New Roman"/>
              </a:rPr>
              <a:t>areas exist </a:t>
            </a:r>
            <a:r>
              <a:rPr dirty="0" sz="1100">
                <a:latin typeface="Times New Roman"/>
                <a:cs typeface="Times New Roman"/>
              </a:rPr>
              <a:t>largely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examination,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autopsies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brains </a:t>
            </a:r>
            <a:r>
              <a:rPr dirty="0" sz="1100">
                <a:latin typeface="Times New Roman"/>
                <a:cs typeface="Times New Roman"/>
              </a:rPr>
              <a:t>of people </a:t>
            </a:r>
            <a:r>
              <a:rPr dirty="0" sz="1100" spc="-5">
                <a:latin typeface="Times New Roman"/>
                <a:cs typeface="Times New Roman"/>
              </a:rPr>
              <a:t>who,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life, were known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speciﬁc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disabilities. We have </a:t>
            </a:r>
            <a:r>
              <a:rPr dirty="0" sz="1100">
                <a:latin typeface="Times New Roman"/>
                <a:cs typeface="Times New Roman"/>
              </a:rPr>
              <a:t>tried </a:t>
            </a:r>
            <a:r>
              <a:rPr dirty="0" sz="1100" spc="-5">
                <a:latin typeface="Times New Roman"/>
                <a:cs typeface="Times New Roman"/>
              </a:rPr>
              <a:t>to determine where language abilities for normal users must </a:t>
            </a:r>
            <a:r>
              <a:rPr dirty="0" sz="1100">
                <a:latin typeface="Times New Roman"/>
                <a:cs typeface="Times New Roman"/>
              </a:rPr>
              <a:t>be by ﬁnding areas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damage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brains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people</a:t>
            </a:r>
            <a:r>
              <a:rPr dirty="0" sz="1100" spc="-5">
                <a:latin typeface="Times New Roman"/>
                <a:cs typeface="Times New Roman"/>
              </a:rPr>
              <a:t> who</a:t>
            </a:r>
            <a:r>
              <a:rPr dirty="0" sz="1100">
                <a:latin typeface="Times New Roman"/>
                <a:cs typeface="Times New Roman"/>
              </a:rPr>
              <a:t> had</a:t>
            </a:r>
            <a:r>
              <a:rPr dirty="0" sz="1100" spc="-5">
                <a:latin typeface="Times New Roman"/>
                <a:cs typeface="Times New Roman"/>
              </a:rPr>
              <a:t> identiﬁable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disabilities.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Broca’s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Area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Wernicke’s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Broca's </a:t>
            </a:r>
            <a:r>
              <a:rPr dirty="0" sz="1100">
                <a:latin typeface="Times New Roman"/>
                <a:cs typeface="Times New Roman"/>
              </a:rPr>
              <a:t>area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Broca </a:t>
            </a:r>
            <a:r>
              <a:rPr dirty="0" sz="1100">
                <a:latin typeface="Times New Roman"/>
                <a:cs typeface="Times New Roman"/>
              </a:rPr>
              <a:t>area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region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frontal lobe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dominant hemisphere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hominid</a:t>
            </a:r>
            <a:r>
              <a:rPr dirty="0" sz="1100">
                <a:latin typeface="Times New Roman"/>
                <a:cs typeface="Times New Roman"/>
              </a:rPr>
              <a:t> brain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processing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Broca's </a:t>
            </a:r>
            <a:r>
              <a:rPr dirty="0" sz="1100">
                <a:latin typeface="Times New Roman"/>
                <a:cs typeface="Times New Roman"/>
              </a:rPr>
              <a:t>area. </a:t>
            </a:r>
            <a:r>
              <a:rPr dirty="0" sz="1100" spc="-5">
                <a:latin typeface="Times New Roman"/>
                <a:cs typeface="Times New Roman"/>
              </a:rPr>
              <a:t>Since Pierre </a:t>
            </a:r>
            <a:r>
              <a:rPr dirty="0" sz="1100">
                <a:latin typeface="Times New Roman"/>
                <a:cs typeface="Times New Roman"/>
              </a:rPr>
              <a:t>Paul </a:t>
            </a:r>
            <a:r>
              <a:rPr dirty="0" sz="1100" spc="-5">
                <a:latin typeface="Times New Roman"/>
                <a:cs typeface="Times New Roman"/>
              </a:rPr>
              <a:t>Broca reported impairments in two patients. The part </a:t>
            </a:r>
            <a:r>
              <a:rPr dirty="0" sz="1100">
                <a:latin typeface="Times New Roman"/>
                <a:cs typeface="Times New Roman"/>
              </a:rPr>
              <a:t>shown as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technically described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“anterior 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cortex”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Broca’s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540730"/>
            <a:ext cx="5916930" cy="1505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Paul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surgeon,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1860s 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damage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speciﬁc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extreme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difﬁculty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damage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corresponding area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right hemisphere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effect. 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ability</a:t>
            </a:r>
            <a:r>
              <a:rPr dirty="0" sz="1100" spc="-5">
                <a:latin typeface="Times New Roman"/>
                <a:cs typeface="Times New Roman"/>
              </a:rPr>
              <a:t> must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indication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Broca’s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Wernicke’s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Area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6975" y="3316223"/>
            <a:ext cx="3288029" cy="2057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6533" y="7097254"/>
            <a:ext cx="2932275" cy="171232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4459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 region of the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concerned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comprehension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located 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cortex 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 temporal lobe. Damage </a:t>
            </a:r>
            <a:r>
              <a:rPr dirty="0" sz="1100">
                <a:latin typeface="Times New Roman"/>
                <a:cs typeface="Times New Roman"/>
              </a:rPr>
              <a:t>in this </a:t>
            </a:r>
            <a:r>
              <a:rPr dirty="0" sz="1100" spc="-5">
                <a:latin typeface="Times New Roman"/>
                <a:cs typeface="Times New Roman"/>
              </a:rPr>
              <a:t>area causes Wernicke's </a:t>
            </a:r>
            <a:r>
              <a:rPr dirty="0" sz="1100">
                <a:latin typeface="Times New Roman"/>
                <a:cs typeface="Times New Roman"/>
              </a:rPr>
              <a:t>aphasia,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superficially </a:t>
            </a:r>
            <a:r>
              <a:rPr dirty="0" sz="1100">
                <a:latin typeface="Times New Roman"/>
                <a:cs typeface="Times New Roman"/>
              </a:rPr>
              <a:t> fluent,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speech but an </a:t>
            </a:r>
            <a:r>
              <a:rPr dirty="0" sz="1100" spc="-5">
                <a:latin typeface="Times New Roman"/>
                <a:cs typeface="Times New Roman"/>
              </a:rPr>
              <a:t>inability </a:t>
            </a:r>
            <a:r>
              <a:rPr dirty="0" sz="1100">
                <a:latin typeface="Times New Roman"/>
                <a:cs typeface="Times New Roman"/>
              </a:rPr>
              <a:t>to use or understand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the most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basic </a:t>
            </a:r>
            <a:r>
              <a:rPr dirty="0" sz="1100">
                <a:latin typeface="Times New Roman"/>
                <a:cs typeface="Times New Roman"/>
              </a:rPr>
              <a:t>nouns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verbs. This ﬁnding conﬁrmed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left hemisphere location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ability </a:t>
            </a:r>
            <a:r>
              <a:rPr dirty="0" sz="1100">
                <a:latin typeface="Times New Roman"/>
                <a:cs typeface="Times New Roman"/>
              </a:rPr>
              <a:t>and led to </a:t>
            </a:r>
            <a:r>
              <a:rPr dirty="0" sz="1100" spc="-5">
                <a:latin typeface="Times New Roman"/>
                <a:cs typeface="Times New Roman"/>
              </a:rPr>
              <a:t>the view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Wernicke’s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Motor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Cortex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Arcuate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Fasciculus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Motor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Cortex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cerebral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cortex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originates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nerve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impulses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initiate voluntary muscular activity.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part shown </a:t>
            </a:r>
            <a:r>
              <a:rPr dirty="0" sz="1100">
                <a:latin typeface="Times New Roman"/>
                <a:cs typeface="Times New Roman"/>
              </a:rPr>
              <a:t>as in the </a:t>
            </a:r>
            <a:r>
              <a:rPr dirty="0" sz="1100" spc="-5">
                <a:latin typeface="Times New Roman"/>
                <a:cs typeface="Times New Roman"/>
              </a:rPr>
              <a:t>illustration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motor cortex,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area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muscles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feet,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etc.).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Broca’s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 is the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motor </a:t>
            </a:r>
            <a:r>
              <a:rPr dirty="0" sz="1100">
                <a:latin typeface="Times New Roman"/>
                <a:cs typeface="Times New Roman"/>
              </a:rPr>
              <a:t>cortex </a:t>
            </a:r>
            <a:r>
              <a:rPr dirty="0" sz="1100" spc="-5">
                <a:latin typeface="Times New Roman"/>
                <a:cs typeface="Times New Roman"/>
              </a:rPr>
              <a:t>that controls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articulatory muscles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face, </a:t>
            </a:r>
            <a:r>
              <a:rPr dirty="0" sz="1100" spc="5">
                <a:latin typeface="Times New Roman"/>
                <a:cs typeface="Times New Roman"/>
              </a:rPr>
              <a:t>jaw, </a:t>
            </a:r>
            <a:r>
              <a:rPr dirty="0" sz="1100" spc="-5">
                <a:latin typeface="Times New Roman"/>
                <a:cs typeface="Times New Roman"/>
              </a:rPr>
              <a:t>tongue and </a:t>
            </a:r>
            <a:r>
              <a:rPr dirty="0" sz="1100">
                <a:latin typeface="Times New Roman"/>
                <a:cs typeface="Times New Roman"/>
              </a:rPr>
              <a:t> larynx.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arcuate fasciculus (Latin: curved </a:t>
            </a:r>
            <a:r>
              <a:rPr dirty="0" sz="1100">
                <a:latin typeface="Times New Roman"/>
                <a:cs typeface="Times New Roman"/>
              </a:rPr>
              <a:t>bundle) is a </a:t>
            </a:r>
            <a:r>
              <a:rPr dirty="0" sz="1100" spc="-5">
                <a:latin typeface="Times New Roman"/>
                <a:cs typeface="Times New Roman"/>
              </a:rPr>
              <a:t>bundle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axons that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part of the </a:t>
            </a:r>
            <a:r>
              <a:rPr dirty="0" sz="1100" spc="-5">
                <a:latin typeface="Times New Roman"/>
                <a:cs typeface="Times New Roman"/>
              </a:rPr>
              <a:t>superior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longitudinal fasciculus,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association fiber tract. The </a:t>
            </a:r>
            <a:r>
              <a:rPr dirty="0" sz="1100">
                <a:latin typeface="Times New Roman"/>
                <a:cs typeface="Times New Roman"/>
              </a:rPr>
              <a:t>arcuate </a:t>
            </a:r>
            <a:r>
              <a:rPr dirty="0" sz="1100" spc="-5">
                <a:latin typeface="Times New Roman"/>
                <a:cs typeface="Times New Roman"/>
              </a:rPr>
              <a:t>bidirectionally connects caudal temporal </a:t>
            </a:r>
            <a:r>
              <a:rPr dirty="0" sz="1100">
                <a:latin typeface="Times New Roman"/>
                <a:cs typeface="Times New Roman"/>
              </a:rPr>
              <a:t> cortex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inferior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parietal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cortex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lobe.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Broca’s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algn="just" marL="12700" marR="9525">
              <a:lnSpc>
                <a:spcPct val="1100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motor </a:t>
            </a:r>
            <a:r>
              <a:rPr dirty="0" sz="1100">
                <a:latin typeface="Times New Roman"/>
                <a:cs typeface="Times New Roman"/>
              </a:rPr>
              <a:t>cortex </a:t>
            </a:r>
            <a:r>
              <a:rPr dirty="0" sz="1100" spc="-5">
                <a:latin typeface="Times New Roman"/>
                <a:cs typeface="Times New Roman"/>
              </a:rPr>
              <a:t>that controls the articulatory muscles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face, </a:t>
            </a:r>
            <a:r>
              <a:rPr dirty="0" sz="1100">
                <a:latin typeface="Times New Roman"/>
                <a:cs typeface="Times New Roman"/>
              </a:rPr>
              <a:t>jaw, </a:t>
            </a:r>
            <a:r>
              <a:rPr dirty="0" sz="1100" spc="-5">
                <a:latin typeface="Times New Roman"/>
                <a:cs typeface="Times New Roman"/>
              </a:rPr>
              <a:t>tongue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larynx.</a:t>
            </a:r>
            <a:r>
              <a:rPr dirty="0" sz="1100">
                <a:latin typeface="Times New Roman"/>
                <a:cs typeface="Times New Roman"/>
              </a:rPr>
              <a:t> Evidence </a:t>
            </a:r>
            <a:r>
              <a:rPr dirty="0" sz="1100" spc="-5">
                <a:latin typeface="Times New Roman"/>
                <a:cs typeface="Times New Roman"/>
              </a:rPr>
              <a:t>that this </a:t>
            </a:r>
            <a:r>
              <a:rPr dirty="0" sz="1100">
                <a:latin typeface="Times New Roman"/>
                <a:cs typeface="Times New Roman"/>
              </a:rPr>
              <a:t> area is </a:t>
            </a:r>
            <a:r>
              <a:rPr dirty="0" sz="1100" spc="-5">
                <a:latin typeface="Times New Roman"/>
                <a:cs typeface="Times New Roman"/>
              </a:rPr>
              <a:t>involved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physical articulation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 comes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reported in the </a:t>
            </a:r>
            <a:r>
              <a:rPr dirty="0" sz="1100" spc="-5">
                <a:latin typeface="Times New Roman"/>
                <a:cs typeface="Times New Roman"/>
              </a:rPr>
              <a:t>1950s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neurosurgeons,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Penﬁeld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Roberts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(1959).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These researchers found that, </a:t>
            </a:r>
            <a:r>
              <a:rPr dirty="0" sz="1100">
                <a:latin typeface="Times New Roman"/>
                <a:cs typeface="Times New Roman"/>
              </a:rPr>
              <a:t>by applying </a:t>
            </a:r>
            <a:r>
              <a:rPr dirty="0" sz="1100" spc="-5">
                <a:latin typeface="Times New Roman"/>
                <a:cs typeface="Times New Roman"/>
              </a:rPr>
              <a:t>small amounts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electrical current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speciﬁc areas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brain,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could identify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5">
                <a:latin typeface="Times New Roman"/>
                <a:cs typeface="Times New Roman"/>
              </a:rPr>
              <a:t>areas where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electrical stimulation would interfere with normal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production.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illustration </a:t>
            </a:r>
            <a:r>
              <a:rPr dirty="0" sz="1100">
                <a:latin typeface="Times New Roman"/>
                <a:cs typeface="Times New Roman"/>
              </a:rPr>
              <a:t>is a bundle of </a:t>
            </a:r>
            <a:r>
              <a:rPr dirty="0" sz="1100" spc="-5">
                <a:latin typeface="Times New Roman"/>
                <a:cs typeface="Times New Roman"/>
              </a:rPr>
              <a:t>nerve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ﬁbers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arcuate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fasciculus.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7689951"/>
            <a:ext cx="5969635" cy="131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15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Wernicke’s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discoveries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crucial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Wernicke’s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Broca’s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209: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 Localization View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localization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tempts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conclude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aspects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ability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hearing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6975" y="5348223"/>
            <a:ext cx="3288029" cy="217411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298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saying </a:t>
            </a:r>
            <a:r>
              <a:rPr dirty="0" sz="1100">
                <a:latin typeface="Times New Roman"/>
                <a:cs typeface="Times New Roman"/>
              </a:rPr>
              <a:t>it, would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deﬁnite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pattern.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heard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comprehended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Wernicke’s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signal </a:t>
            </a:r>
            <a:r>
              <a:rPr dirty="0" sz="1100">
                <a:latin typeface="Times New Roman"/>
                <a:cs typeface="Times New Roman"/>
              </a:rPr>
              <a:t>is then </a:t>
            </a:r>
            <a:r>
              <a:rPr dirty="0" sz="1100" spc="-5">
                <a:latin typeface="Times New Roman"/>
                <a:cs typeface="Times New Roman"/>
              </a:rPr>
              <a:t>transferred via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arcuate fasciculus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Broca’s area where preparations are made to </a:t>
            </a:r>
            <a:r>
              <a:rPr dirty="0" sz="1100">
                <a:latin typeface="Times New Roman"/>
                <a:cs typeface="Times New Roman"/>
              </a:rPr>
              <a:t> produce </a:t>
            </a:r>
            <a:r>
              <a:rPr dirty="0" sz="1100" spc="-5">
                <a:latin typeface="Times New Roman"/>
                <a:cs typeface="Times New Roman"/>
              </a:rPr>
              <a:t>it,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signal is sent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motor </a:t>
            </a:r>
            <a:r>
              <a:rPr dirty="0" sz="1100">
                <a:latin typeface="Times New Roman"/>
                <a:cs typeface="Times New Roman"/>
              </a:rPr>
              <a:t>cortex to </a:t>
            </a:r>
            <a:r>
              <a:rPr dirty="0" sz="1100" spc="-5">
                <a:latin typeface="Times New Roman"/>
                <a:cs typeface="Times New Roman"/>
              </a:rPr>
              <a:t>physically articulate the </a:t>
            </a:r>
            <a:r>
              <a:rPr dirty="0" sz="1100">
                <a:latin typeface="Times New Roman"/>
                <a:cs typeface="Times New Roman"/>
              </a:rPr>
              <a:t>word. </a:t>
            </a:r>
            <a:r>
              <a:rPr dirty="0" sz="1100" spc="-5">
                <a:latin typeface="Times New Roman"/>
                <a:cs typeface="Times New Roman"/>
              </a:rPr>
              <a:t>Certainly,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oversimpliﬁed</a:t>
            </a:r>
            <a:r>
              <a:rPr dirty="0" sz="1100">
                <a:latin typeface="Times New Roman"/>
                <a:cs typeface="Times New Roman"/>
              </a:rPr>
              <a:t> version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actually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place,</a:t>
            </a:r>
            <a:r>
              <a:rPr dirty="0" sz="1100">
                <a:latin typeface="Times New Roman"/>
                <a:cs typeface="Times New Roman"/>
              </a:rPr>
              <a:t> but it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 understand </a:t>
            </a:r>
            <a:r>
              <a:rPr dirty="0" sz="1100" spc="-5">
                <a:latin typeface="Times New Roman"/>
                <a:cs typeface="Times New Roman"/>
              </a:rPr>
              <a:t>about simple language </a:t>
            </a:r>
            <a:r>
              <a:rPr dirty="0" sz="1100">
                <a:latin typeface="Times New Roman"/>
                <a:cs typeface="Times New Roman"/>
              </a:rPr>
              <a:t>processing in the brain.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probably best to think </a:t>
            </a:r>
            <a:r>
              <a:rPr dirty="0" sz="1100">
                <a:latin typeface="Times New Roman"/>
                <a:cs typeface="Times New Roman"/>
              </a:rPr>
              <a:t>of any </a:t>
            </a:r>
            <a:r>
              <a:rPr dirty="0" sz="1100" spc="-5">
                <a:latin typeface="Times New Roman"/>
                <a:cs typeface="Times New Roman"/>
              </a:rPr>
              <a:t>proposal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concerning</a:t>
            </a:r>
            <a:r>
              <a:rPr dirty="0" sz="1100">
                <a:latin typeface="Times New Roman"/>
                <a:cs typeface="Times New Roman"/>
              </a:rPr>
              <a:t> processing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pathways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brain,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forms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metaphor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turn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inadequate </a:t>
            </a:r>
            <a:r>
              <a:rPr dirty="0" sz="1100">
                <a:latin typeface="Times New Roman"/>
                <a:cs typeface="Times New Roman"/>
              </a:rPr>
              <a:t>once </a:t>
            </a:r>
            <a:r>
              <a:rPr dirty="0" sz="1100" spc="-5">
                <a:latin typeface="Times New Roman"/>
                <a:cs typeface="Times New Roman"/>
              </a:rPr>
              <a:t>we learn more </a:t>
            </a:r>
            <a:r>
              <a:rPr dirty="0" sz="1100">
                <a:latin typeface="Times New Roman"/>
                <a:cs typeface="Times New Roman"/>
              </a:rPr>
              <a:t>about how the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functions. </a:t>
            </a:r>
            <a:r>
              <a:rPr dirty="0" sz="1100" spc="-5">
                <a:latin typeface="Times New Roman"/>
                <a:cs typeface="Times New Roman"/>
              </a:rPr>
              <a:t>The “pathway” </a:t>
            </a:r>
            <a:r>
              <a:rPr dirty="0" sz="1100">
                <a:latin typeface="Times New Roman"/>
                <a:cs typeface="Times New Roman"/>
              </a:rPr>
              <a:t>metaphor </a:t>
            </a:r>
            <a:r>
              <a:rPr dirty="0" sz="1100" spc="-5">
                <a:latin typeface="Times New Roman"/>
                <a:cs typeface="Times New Roman"/>
              </a:rPr>
              <a:t>seems quite </a:t>
            </a:r>
            <a:r>
              <a:rPr dirty="0" sz="1100">
                <a:latin typeface="Times New Roman"/>
                <a:cs typeface="Times New Roman"/>
              </a:rPr>
              <a:t> appealing in an </a:t>
            </a:r>
            <a:r>
              <a:rPr dirty="0" sz="1100" spc="-5">
                <a:latin typeface="Times New Roman"/>
                <a:cs typeface="Times New Roman"/>
              </a:rPr>
              <a:t>electronic age when we’re familiar with the 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sending signals through electrical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circuits.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earlier age, dominated more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mechanical technology, Sigmund </a:t>
            </a:r>
            <a:r>
              <a:rPr dirty="0" sz="1100">
                <a:latin typeface="Times New Roman"/>
                <a:cs typeface="Times New Roman"/>
              </a:rPr>
              <a:t>Freud </a:t>
            </a:r>
            <a:r>
              <a:rPr dirty="0" sz="1100" spc="-5">
                <a:latin typeface="Times New Roman"/>
                <a:cs typeface="Times New Roman"/>
              </a:rPr>
              <a:t>subtly employed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“steam engine” metaphor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account </a:t>
            </a:r>
            <a:r>
              <a:rPr dirty="0" sz="1100" spc="-5">
                <a:latin typeface="Times New Roman"/>
                <a:cs typeface="Times New Roman"/>
              </a:rPr>
              <a:t>for 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brain’s activity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wrote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effects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repression “building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pressure” 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“sudden </a:t>
            </a:r>
            <a:r>
              <a:rPr dirty="0" sz="1100">
                <a:latin typeface="Times New Roman"/>
                <a:cs typeface="Times New Roman"/>
              </a:rPr>
              <a:t>release”.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even earlier age, Aristotle’s </a:t>
            </a:r>
            <a:r>
              <a:rPr dirty="0" sz="1100">
                <a:latin typeface="Times New Roman"/>
                <a:cs typeface="Times New Roman"/>
              </a:rPr>
              <a:t> metaphor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cold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sponge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functioned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blood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cool.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sense,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forced to use </a:t>
            </a:r>
            <a:r>
              <a:rPr dirty="0" sz="1100" spc="-5">
                <a:latin typeface="Times New Roman"/>
                <a:cs typeface="Times New Roman"/>
              </a:rPr>
              <a:t>metaphors mainly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we cannot </a:t>
            </a:r>
            <a:r>
              <a:rPr dirty="0" sz="1100">
                <a:latin typeface="Times New Roman"/>
                <a:cs typeface="Times New Roman"/>
              </a:rPr>
              <a:t>obtain </a:t>
            </a:r>
            <a:r>
              <a:rPr dirty="0" sz="1100" spc="-5">
                <a:latin typeface="Times New Roman"/>
                <a:cs typeface="Times New Roman"/>
              </a:rPr>
              <a:t>direct physical evidence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processes </a:t>
            </a:r>
            <a:r>
              <a:rPr dirty="0" sz="1100">
                <a:latin typeface="Times New Roman"/>
                <a:cs typeface="Times New Roman"/>
              </a:rPr>
              <a:t> in the </a:t>
            </a:r>
            <a:r>
              <a:rPr dirty="0" sz="1100" spc="-5">
                <a:latin typeface="Times New Roman"/>
                <a:cs typeface="Times New Roman"/>
              </a:rPr>
              <a:t>brain. Because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no </a:t>
            </a:r>
            <a:r>
              <a:rPr dirty="0" sz="1100" spc="-5">
                <a:latin typeface="Times New Roman"/>
                <a:cs typeface="Times New Roman"/>
              </a:rPr>
              <a:t>direct access,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generally have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rely on </a:t>
            </a:r>
            <a:r>
              <a:rPr dirty="0" sz="1100" spc="-5">
                <a:latin typeface="Times New Roman"/>
                <a:cs typeface="Times New Roman"/>
              </a:rPr>
              <a:t>what we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indirect methods. 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methods involve </a:t>
            </a:r>
            <a:r>
              <a:rPr dirty="0" sz="1100">
                <a:latin typeface="Times New Roman"/>
                <a:cs typeface="Times New Roman"/>
              </a:rPr>
              <a:t>attempts to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the system is </a:t>
            </a:r>
            <a:r>
              <a:rPr dirty="0" sz="1100" spc="-5">
                <a:latin typeface="Times New Roman"/>
                <a:cs typeface="Times New Roman"/>
              </a:rPr>
              <a:t>working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picked</a:t>
            </a:r>
            <a:r>
              <a:rPr dirty="0" sz="1100">
                <a:latin typeface="Times New Roman"/>
                <a:cs typeface="Times New Roman"/>
              </a:rPr>
              <a:t> up </a:t>
            </a:r>
            <a:r>
              <a:rPr dirty="0" sz="1100" spc="-5">
                <a:latin typeface="Times New Roman"/>
                <a:cs typeface="Times New Roman"/>
              </a:rPr>
              <a:t>clues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malfunctions.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2810" cy="81051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762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Lesson-37</a:t>
            </a:r>
            <a:endParaRPr sz="1400">
              <a:latin typeface="Times New Roman"/>
              <a:cs typeface="Times New Roman"/>
            </a:endParaRPr>
          </a:p>
          <a:p>
            <a:pPr marL="2167890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PSYCHOLINGUISTICS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Tongue Tips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Slips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have all experienced difﬁculty,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occasion(s), in </a:t>
            </a:r>
            <a:r>
              <a:rPr dirty="0" sz="1100" spc="-5">
                <a:latin typeface="Times New Roman"/>
                <a:cs typeface="Times New Roman"/>
              </a:rPr>
              <a:t>getting brain </a:t>
            </a:r>
            <a:r>
              <a:rPr dirty="0" sz="1100">
                <a:latin typeface="Times New Roman"/>
                <a:cs typeface="Times New Roman"/>
              </a:rPr>
              <a:t>and speech </a:t>
            </a:r>
            <a:r>
              <a:rPr dirty="0" sz="1100" spc="-5">
                <a:latin typeface="Times New Roman"/>
                <a:cs typeface="Times New Roman"/>
              </a:rPr>
              <a:t>production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 together smoothly.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possible clues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our </a:t>
            </a:r>
            <a:r>
              <a:rPr dirty="0" sz="1100" spc="-5">
                <a:latin typeface="Times New Roman"/>
                <a:cs typeface="Times New Roman"/>
              </a:rPr>
              <a:t>linguistic knowledge is organized within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tip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phenomenon’.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eluding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accurate phonological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mostly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syllables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word.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>
                <a:latin typeface="Times New Roman"/>
                <a:cs typeface="Times New Roman"/>
              </a:rPr>
              <a:t> occurs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uncommon</a:t>
            </a:r>
            <a:r>
              <a:rPr dirty="0" sz="1100">
                <a:latin typeface="Times New Roman"/>
                <a:cs typeface="Times New Roman"/>
              </a:rPr>
              <a:t> 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‘word-storage’ </a:t>
            </a:r>
            <a:r>
              <a:rPr dirty="0" sz="1100">
                <a:latin typeface="Times New Roman"/>
                <a:cs typeface="Times New Roman"/>
              </a:rPr>
              <a:t> system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partially organized</a:t>
            </a:r>
            <a:r>
              <a:rPr dirty="0" sz="1100">
                <a:latin typeface="Times New Roman"/>
                <a:cs typeface="Times New Roman"/>
              </a:rPr>
              <a:t> on the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phonological </a:t>
            </a:r>
            <a:r>
              <a:rPr dirty="0" sz="1100" spc="-5">
                <a:latin typeface="Times New Roman"/>
                <a:cs typeface="Times New Roman"/>
              </a:rPr>
              <a:t>information. Some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store </a:t>
            </a:r>
            <a:r>
              <a:rPr dirty="0" sz="1100" spc="-5">
                <a:latin typeface="Times New Roman"/>
                <a:cs typeface="Times New Roman"/>
              </a:rPr>
              <a:t>are more easily retrieved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others.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mistakes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retrieval </a:t>
            </a:r>
            <a:r>
              <a:rPr dirty="0" sz="1100" spc="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strong phonological similarities between the target word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what we actually </a:t>
            </a:r>
            <a:r>
              <a:rPr dirty="0" sz="1100">
                <a:latin typeface="Times New Roman"/>
                <a:cs typeface="Times New Roman"/>
              </a:rPr>
              <a:t>produce; </a:t>
            </a:r>
            <a:r>
              <a:rPr dirty="0" sz="1100" spc="-5">
                <a:latin typeface="Times New Roman"/>
                <a:cs typeface="Times New Roman"/>
              </a:rPr>
              <a:t>e.g., fire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(for ‘extinguisher’) transcendental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(instead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‘meditation’).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4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Such 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mistakes are referred to ‘malapropisms’ </a:t>
            </a:r>
            <a:r>
              <a:rPr dirty="0" sz="1100">
                <a:latin typeface="Times New Roman"/>
                <a:cs typeface="Times New Roman"/>
              </a:rPr>
              <a:t>after a </a:t>
            </a:r>
            <a:r>
              <a:rPr dirty="0" sz="1100" spc="-5">
                <a:latin typeface="Times New Roman"/>
                <a:cs typeface="Times New Roman"/>
              </a:rPr>
              <a:t>character, Archie Bunker, who </a:t>
            </a:r>
            <a:r>
              <a:rPr dirty="0" sz="1100">
                <a:latin typeface="Times New Roman"/>
                <a:cs typeface="Times New Roman"/>
              </a:rPr>
              <a:t>once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suggested that; </a:t>
            </a:r>
            <a:r>
              <a:rPr dirty="0" sz="1100" spc="-10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need a </a:t>
            </a:r>
            <a:r>
              <a:rPr dirty="0" sz="1100" spc="-5">
                <a:latin typeface="Times New Roman"/>
                <a:cs typeface="Times New Roman"/>
              </a:rPr>
              <a:t>few </a:t>
            </a:r>
            <a:r>
              <a:rPr dirty="0" sz="1100">
                <a:latin typeface="Times New Roman"/>
                <a:cs typeface="Times New Roman"/>
              </a:rPr>
              <a:t>laughs to </a:t>
            </a:r>
            <a:r>
              <a:rPr dirty="0" sz="1100" spc="-5">
                <a:latin typeface="Times New Roman"/>
                <a:cs typeface="Times New Roman"/>
              </a:rPr>
              <a:t>break </a:t>
            </a:r>
            <a:r>
              <a:rPr dirty="0" sz="1100">
                <a:latin typeface="Times New Roman"/>
                <a:cs typeface="Times New Roman"/>
              </a:rPr>
              <a:t>up the </a:t>
            </a:r>
            <a:r>
              <a:rPr dirty="0" sz="1100" spc="-5">
                <a:latin typeface="Times New Roman"/>
                <a:cs typeface="Times New Roman"/>
              </a:rPr>
              <a:t>monogamy. </a:t>
            </a:r>
            <a:r>
              <a:rPr dirty="0" sz="1100">
                <a:latin typeface="Times New Roman"/>
                <a:cs typeface="Times New Roman"/>
              </a:rPr>
              <a:t>Here </a:t>
            </a:r>
            <a:r>
              <a:rPr dirty="0" sz="1100" spc="-5">
                <a:latin typeface="Times New Roman"/>
                <a:cs typeface="Times New Roman"/>
              </a:rPr>
              <a:t>some examples </a:t>
            </a:r>
            <a:r>
              <a:rPr dirty="0" sz="1100">
                <a:latin typeface="Times New Roman"/>
                <a:cs typeface="Times New Roman"/>
              </a:rPr>
              <a:t>of slip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tongue: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a long </a:t>
            </a:r>
            <a:r>
              <a:rPr dirty="0" sz="1100" spc="-5">
                <a:latin typeface="Times New Roman"/>
                <a:cs typeface="Times New Roman"/>
              </a:rPr>
              <a:t>shory stort (instead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‘make </a:t>
            </a:r>
            <a:r>
              <a:rPr dirty="0" sz="1100">
                <a:latin typeface="Times New Roman"/>
                <a:cs typeface="Times New Roman"/>
              </a:rPr>
              <a:t>a long </a:t>
            </a:r>
            <a:r>
              <a:rPr dirty="0" sz="1100" spc="5">
                <a:latin typeface="Times New Roman"/>
                <a:cs typeface="Times New Roman"/>
              </a:rPr>
              <a:t>story </a:t>
            </a:r>
            <a:r>
              <a:rPr dirty="0" sz="1100" spc="-5">
                <a:latin typeface="Times New Roman"/>
                <a:cs typeface="Times New Roman"/>
              </a:rPr>
              <a:t>short’); Use the </a:t>
            </a:r>
            <a:r>
              <a:rPr dirty="0" sz="1100">
                <a:latin typeface="Times New Roman"/>
                <a:cs typeface="Times New Roman"/>
              </a:rPr>
              <a:t>door to </a:t>
            </a:r>
            <a:r>
              <a:rPr dirty="0" sz="1100" spc="-5">
                <a:latin typeface="Times New Roman"/>
                <a:cs typeface="Times New Roman"/>
              </a:rPr>
              <a:t>open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key, </a:t>
            </a:r>
            <a:r>
              <a:rPr dirty="0" sz="1100">
                <a:latin typeface="Times New Roman"/>
                <a:cs typeface="Times New Roman"/>
              </a:rPr>
              <a:t>and a ﬁfty-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pound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bag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926465" marR="1769110" indent="-914400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‘spoonerisms’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-5">
                <a:latin typeface="Times New Roman"/>
                <a:cs typeface="Times New Roman"/>
              </a:rPr>
              <a:t> William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Spooner,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Anglican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clergyman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bloxes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boxes’)</a:t>
            </a:r>
            <a:endParaRPr sz="1100">
              <a:latin typeface="Times New Roman"/>
              <a:cs typeface="Times New Roman"/>
            </a:endParaRPr>
          </a:p>
          <a:p>
            <a:pPr marL="926465" marR="286575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Noman </a:t>
            </a:r>
            <a:r>
              <a:rPr dirty="0" sz="1100">
                <a:latin typeface="Times New Roman"/>
                <a:cs typeface="Times New Roman"/>
              </a:rPr>
              <a:t>numeral </a:t>
            </a:r>
            <a:r>
              <a:rPr dirty="0" sz="1100" spc="-5">
                <a:latin typeface="Times New Roman"/>
                <a:cs typeface="Times New Roman"/>
              </a:rPr>
              <a:t>(for ‘roman numeral’)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tup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 (‘cup’)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articulation.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suggested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‘slips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211: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Slips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Many </a:t>
            </a:r>
            <a:r>
              <a:rPr dirty="0" sz="1100" spc="-5">
                <a:latin typeface="Times New Roman"/>
                <a:cs typeface="Times New Roman"/>
              </a:rPr>
              <a:t>scientists provide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clues to how the brain </a:t>
            </a:r>
            <a:r>
              <a:rPr dirty="0" sz="1100" spc="-5">
                <a:latin typeface="Times New Roman"/>
                <a:cs typeface="Times New Roman"/>
              </a:rPr>
              <a:t>tries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 spc="-5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auditory signal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receives.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phrase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‘great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‘gray</a:t>
            </a:r>
            <a:r>
              <a:rPr dirty="0" sz="1100">
                <a:latin typeface="Times New Roman"/>
                <a:cs typeface="Times New Roman"/>
              </a:rPr>
              <a:t> tape’.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misunderstanding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behind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Sunday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was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singing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‘Gladly’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cross-eyed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‘Gladly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cross</a:t>
            </a:r>
            <a:r>
              <a:rPr dirty="0" sz="1100" spc="-10">
                <a:latin typeface="Times New Roman"/>
                <a:cs typeface="Times New Roman"/>
              </a:rPr>
              <a:t> I’d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bear’.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case, </a:t>
            </a:r>
            <a:r>
              <a:rPr dirty="0" sz="1100" spc="-5">
                <a:latin typeface="Times New Roman"/>
                <a:cs typeface="Times New Roman"/>
              </a:rPr>
              <a:t>malapropisms (e.g., transcendental medication) originate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slips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ear.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humorous examples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slips may </a:t>
            </a:r>
            <a:r>
              <a:rPr dirty="0" sz="1100" spc="-10">
                <a:latin typeface="Times New Roman"/>
                <a:cs typeface="Times New Roman"/>
              </a:rPr>
              <a:t>give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 a </a:t>
            </a:r>
            <a:r>
              <a:rPr dirty="0" sz="1100" spc="-5">
                <a:latin typeface="Times New Roman"/>
                <a:cs typeface="Times New Roman"/>
              </a:rPr>
              <a:t>clue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normal workings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human brain as it </a:t>
            </a:r>
            <a:r>
              <a:rPr dirty="0" sz="1100">
                <a:latin typeface="Times New Roman"/>
                <a:cs typeface="Times New Roman"/>
              </a:rPr>
              <a:t> copes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disorders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brain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69635" cy="7426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212: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Aphasia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 spc="-10">
                <a:latin typeface="Times New Roman"/>
                <a:cs typeface="Times New Roman"/>
              </a:rPr>
              <a:t>of us </a:t>
            </a:r>
            <a:r>
              <a:rPr dirty="0" sz="1100" spc="-5">
                <a:latin typeface="Times New Roman"/>
                <a:cs typeface="Times New Roman"/>
              </a:rPr>
              <a:t>experience ‘slips’, but there are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who live with it constantly. </a:t>
            </a:r>
            <a:r>
              <a:rPr dirty="0" sz="1100">
                <a:latin typeface="Times New Roman"/>
                <a:cs typeface="Times New Roman"/>
              </a:rPr>
              <a:t>Certain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language disorders are generally described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‘aphasia’.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Aphasia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deﬁned as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impairment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function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localized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damage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and/or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forms. The most common </a:t>
            </a:r>
            <a:r>
              <a:rPr dirty="0" sz="1100">
                <a:latin typeface="Times New Roman"/>
                <a:cs typeface="Times New Roman"/>
              </a:rPr>
              <a:t>cause of aphasia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stroke; traumatic head injuries from violence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accident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reduction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use </a:t>
            </a:r>
            <a:r>
              <a:rPr dirty="0" sz="1100" spc="-5">
                <a:latin typeface="Times New Roman"/>
                <a:cs typeface="Times New Roman"/>
              </a:rPr>
              <a:t>language. Someone who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aphasic often has interrelated language disorders,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difﬁculties in </a:t>
            </a:r>
            <a:r>
              <a:rPr dirty="0" sz="1100">
                <a:latin typeface="Times New Roman"/>
                <a:cs typeface="Times New Roman"/>
              </a:rPr>
              <a:t> understanding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difﬁculties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Different types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-5" b="1">
                <a:latin typeface="Times New Roman"/>
                <a:cs typeface="Times New Roman"/>
              </a:rPr>
              <a:t> aphasia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Broca’s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aphasia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Wernicke’s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aphasia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</a:t>
            </a:r>
            <a:r>
              <a:rPr dirty="0" sz="1100">
                <a:latin typeface="Times New Roman"/>
                <a:cs typeface="Times New Roman"/>
              </a:rPr>
              <a:t>onduc</a:t>
            </a:r>
            <a:r>
              <a:rPr dirty="0" sz="1100" spc="-10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aph</a:t>
            </a: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Types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Aphasia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9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classiﬁcation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aphasia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based on the </a:t>
            </a:r>
            <a:r>
              <a:rPr dirty="0" sz="1100" spc="-5">
                <a:latin typeface="Times New Roman"/>
                <a:cs typeface="Times New Roman"/>
              </a:rPr>
              <a:t>primary symptoms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>
                <a:latin typeface="Times New Roman"/>
                <a:cs typeface="Times New Roman"/>
              </a:rPr>
              <a:t> having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Following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aphasia: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Broca’s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Aphasia</a:t>
            </a:r>
            <a:r>
              <a:rPr dirty="0" sz="1100" b="1">
                <a:latin typeface="Times New Roman"/>
                <a:cs typeface="Times New Roman"/>
              </a:rPr>
              <a:t> 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Motor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Aphasia: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substantially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distorted articulation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effortful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Agrammatic: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type </a:t>
            </a:r>
            <a:r>
              <a:rPr dirty="0" sz="1100">
                <a:latin typeface="Times New Roman"/>
                <a:cs typeface="Times New Roman"/>
              </a:rPr>
              <a:t>the speech consists </a:t>
            </a:r>
            <a:r>
              <a:rPr dirty="0" sz="1100" spc="-5">
                <a:latin typeface="Times New Roman"/>
                <a:cs typeface="Times New Roman"/>
              </a:rPr>
              <a:t>entirely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lexical morphemes (e.g., </a:t>
            </a:r>
            <a:r>
              <a:rPr dirty="0" sz="1100">
                <a:latin typeface="Times New Roman"/>
                <a:cs typeface="Times New Roman"/>
              </a:rPr>
              <a:t>nouns, </a:t>
            </a:r>
            <a:r>
              <a:rPr dirty="0" sz="1100" spc="-5">
                <a:latin typeface="Times New Roman"/>
                <a:cs typeface="Times New Roman"/>
              </a:rPr>
              <a:t>verbs)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 there are frequent omissions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functional morphemes (e.g., articles, prepositions) and inﬂections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(e.g., plural </a:t>
            </a:r>
            <a:r>
              <a:rPr dirty="0" sz="1100" spc="-10">
                <a:latin typeface="Times New Roman"/>
                <a:cs typeface="Times New Roman"/>
              </a:rPr>
              <a:t>-s, </a:t>
            </a:r>
            <a:r>
              <a:rPr dirty="0" sz="1100">
                <a:latin typeface="Times New Roman"/>
                <a:cs typeface="Times New Roman"/>
              </a:rPr>
              <a:t>past </a:t>
            </a:r>
            <a:r>
              <a:rPr dirty="0" sz="1100" spc="-5">
                <a:latin typeface="Times New Roman"/>
                <a:cs typeface="Times New Roman"/>
              </a:rPr>
              <a:t>tense -ed). Here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example.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eggs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eat </a:t>
            </a:r>
            <a:r>
              <a:rPr dirty="0" sz="1100">
                <a:latin typeface="Times New Roman"/>
                <a:cs typeface="Times New Roman"/>
              </a:rPr>
              <a:t>and drink </a:t>
            </a:r>
            <a:r>
              <a:rPr dirty="0" sz="1100" spc="-5">
                <a:latin typeface="Times New Roman"/>
                <a:cs typeface="Times New Roman"/>
              </a:rPr>
              <a:t>coffee breakfast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cheek …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>
                <a:latin typeface="Times New Roman"/>
                <a:cs typeface="Times New Roman"/>
              </a:rPr>
              <a:t> annoyance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-5">
                <a:latin typeface="Times New Roman"/>
                <a:cs typeface="Times New Roman"/>
              </a:rPr>
              <a:t> shoulder</a:t>
            </a:r>
            <a:r>
              <a:rPr dirty="0" sz="1100">
                <a:latin typeface="Times New Roman"/>
                <a:cs typeface="Times New Roman"/>
              </a:rPr>
              <a:t> 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aching’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difﬁculty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typically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 b="1">
                <a:latin typeface="Times New Roman"/>
                <a:cs typeface="Times New Roman"/>
              </a:rPr>
              <a:t>Wernicke’s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Aphasia</a:t>
            </a:r>
            <a:r>
              <a:rPr dirty="0" sz="1100" b="1">
                <a:latin typeface="Times New Roman"/>
                <a:cs typeface="Times New Roman"/>
              </a:rPr>
              <a:t> 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Sensory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Aphasia: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auditory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comprehension. </a:t>
            </a:r>
            <a:r>
              <a:rPr dirty="0" sz="1100" spc="-1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produces very ﬂuent speech but feels difﬁculty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sense. </a:t>
            </a:r>
            <a:r>
              <a:rPr dirty="0" sz="1100" spc="-5">
                <a:latin typeface="Times New Roman"/>
                <a:cs typeface="Times New Roman"/>
              </a:rPr>
              <a:t>He uses very general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terms. </a:t>
            </a:r>
            <a:r>
              <a:rPr dirty="0" sz="1100">
                <a:latin typeface="Times New Roman"/>
                <a:cs typeface="Times New Roman"/>
              </a:rPr>
              <a:t>‘I can’t </a:t>
            </a:r>
            <a:r>
              <a:rPr dirty="0" sz="1100" spc="-5">
                <a:latin typeface="Times New Roman"/>
                <a:cs typeface="Times New Roman"/>
              </a:rPr>
              <a:t>talk </a:t>
            </a:r>
            <a:r>
              <a:rPr dirty="0" sz="1100">
                <a:latin typeface="Times New Roman"/>
                <a:cs typeface="Times New Roman"/>
              </a:rPr>
              <a:t>all of </a:t>
            </a:r>
            <a:r>
              <a:rPr dirty="0" sz="1100" spc="-5">
                <a:latin typeface="Times New Roman"/>
                <a:cs typeface="Times New Roman"/>
              </a:rPr>
              <a:t>the things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 do, and part of the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I can </a:t>
            </a:r>
            <a:r>
              <a:rPr dirty="0" sz="1100" spc="-10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alright,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I cannot </a:t>
            </a:r>
            <a:r>
              <a:rPr dirty="0" sz="1100" spc="-5">
                <a:latin typeface="Times New Roman"/>
                <a:cs typeface="Times New Roman"/>
              </a:rPr>
              <a:t>tell </a:t>
            </a:r>
            <a:r>
              <a:rPr dirty="0" sz="1100" spc="10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people’.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 finds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anomia.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b="1">
                <a:latin typeface="Times New Roman"/>
                <a:cs typeface="Times New Roman"/>
              </a:rPr>
              <a:t>Conduction </a:t>
            </a:r>
            <a:r>
              <a:rPr dirty="0" sz="1100" spc="-5" b="1">
                <a:latin typeface="Times New Roman"/>
                <a:cs typeface="Times New Roman"/>
              </a:rPr>
              <a:t>Aphasia: </a:t>
            </a:r>
            <a:r>
              <a:rPr dirty="0" sz="1100">
                <a:latin typeface="Times New Roman"/>
                <a:cs typeface="Times New Roman"/>
              </a:rPr>
              <a:t>This aphasia is </a:t>
            </a:r>
            <a:r>
              <a:rPr dirty="0" sz="1100" spc="-5">
                <a:latin typeface="Times New Roman"/>
                <a:cs typeface="Times New Roman"/>
              </a:rPr>
              <a:t>less common, </a:t>
            </a:r>
            <a:r>
              <a:rPr dirty="0" sz="1100">
                <a:latin typeface="Times New Roman"/>
                <a:cs typeface="Times New Roman"/>
              </a:rPr>
              <a:t>as it is </a:t>
            </a:r>
            <a:r>
              <a:rPr dirty="0" sz="1100" spc="-5">
                <a:latin typeface="Times New Roman"/>
                <a:cs typeface="Times New Roman"/>
              </a:rPr>
              <a:t>associated with damage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arcuate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fasciculus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conduction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aphasia.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symptoms,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mispronounces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>
                <a:latin typeface="Times New Roman"/>
                <a:cs typeface="Times New Roman"/>
              </a:rPr>
              <a:t> but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articulation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fluent,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disrupted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rhythm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pauses and </a:t>
            </a:r>
            <a:r>
              <a:rPr dirty="0" sz="1100" spc="-5">
                <a:latin typeface="Times New Roman"/>
                <a:cs typeface="Times New Roman"/>
              </a:rPr>
              <a:t>hesitations. His comprehension </a:t>
            </a:r>
            <a:r>
              <a:rPr dirty="0" sz="1100">
                <a:latin typeface="Times New Roman"/>
                <a:cs typeface="Times New Roman"/>
              </a:rPr>
              <a:t>of spoken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normally good. He </a:t>
            </a:r>
            <a:r>
              <a:rPr dirty="0" sz="1100">
                <a:latin typeface="Times New Roman"/>
                <a:cs typeface="Times New Roman"/>
              </a:rPr>
              <a:t>produces words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 vaysse </a:t>
            </a:r>
            <a:r>
              <a:rPr dirty="0" sz="1100">
                <a:latin typeface="Times New Roman"/>
                <a:cs typeface="Times New Roman"/>
              </a:rPr>
              <a:t>and fosh for </a:t>
            </a:r>
            <a:r>
              <a:rPr dirty="0" sz="1100" spc="-5">
                <a:latin typeface="Times New Roman"/>
                <a:cs typeface="Times New Roman"/>
              </a:rPr>
              <a:t>‘base’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‘wash’. Language </a:t>
            </a:r>
            <a:r>
              <a:rPr dirty="0" sz="1100">
                <a:latin typeface="Times New Roman"/>
                <a:cs typeface="Times New Roman"/>
              </a:rPr>
              <a:t>disorders </a:t>
            </a:r>
            <a:r>
              <a:rPr dirty="0" sz="1100" spc="-5">
                <a:latin typeface="Times New Roman"/>
                <a:cs typeface="Times New Roman"/>
              </a:rPr>
              <a:t>described above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almost always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injury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1114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Dichotic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Listening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 b="1">
                <a:latin typeface="Times New Roman"/>
                <a:cs typeface="Times New Roman"/>
              </a:rPr>
              <a:t>An Experimental </a:t>
            </a:r>
            <a:r>
              <a:rPr dirty="0" sz="1100" b="1">
                <a:latin typeface="Times New Roman"/>
                <a:cs typeface="Times New Roman"/>
              </a:rPr>
              <a:t>Technique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Left hemisphere dominance for syllable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processing 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dichotic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listening</a:t>
            </a:r>
            <a:r>
              <a:rPr dirty="0" sz="1100">
                <a:latin typeface="Times New Roman"/>
                <a:cs typeface="Times New Roman"/>
              </a:rPr>
              <a:t> test.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right-hand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processed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hemisphere.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4191736"/>
            <a:ext cx="5971540" cy="4460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105"/>
              </a:spcBef>
            </a:pPr>
            <a:r>
              <a:rPr dirty="0" sz="1100" spc="-5" b="1">
                <a:latin typeface="Times New Roman"/>
                <a:cs typeface="Times New Roman"/>
              </a:rPr>
              <a:t>Right</a:t>
            </a:r>
            <a:r>
              <a:rPr dirty="0" sz="1100" b="1">
                <a:latin typeface="Times New Roman"/>
                <a:cs typeface="Times New Roman"/>
              </a:rPr>
              <a:t> Ear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Advantage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hemisphere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responsibility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 </a:t>
            </a:r>
            <a:r>
              <a:rPr dirty="0" sz="1100">
                <a:latin typeface="Times New Roman"/>
                <a:cs typeface="Times New Roman"/>
              </a:rPr>
              <a:t>a lot of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incoming </a:t>
            </a:r>
            <a:r>
              <a:rPr dirty="0" sz="1100">
                <a:latin typeface="Times New Roman"/>
                <a:cs typeface="Times New Roman"/>
              </a:rPr>
              <a:t>signals.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dichotic </a:t>
            </a:r>
            <a:r>
              <a:rPr dirty="0" sz="1100" spc="-5">
                <a:latin typeface="Times New Roman"/>
                <a:cs typeface="Times New Roman"/>
              </a:rPr>
              <a:t>listening </a:t>
            </a:r>
            <a:r>
              <a:rPr dirty="0" sz="1100">
                <a:latin typeface="Times New Roman"/>
                <a:cs typeface="Times New Roman"/>
              </a:rPr>
              <a:t>test, it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shown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non-verbal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(e.g.,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music,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coughs,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trafﬁc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singing)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left ear, meaning </a:t>
            </a:r>
            <a:r>
              <a:rPr dirty="0" sz="1100">
                <a:latin typeface="Times New Roman"/>
                <a:cs typeface="Times New Roman"/>
              </a:rPr>
              <a:t>they are </a:t>
            </a:r>
            <a:r>
              <a:rPr dirty="0" sz="1100" spc="-5">
                <a:latin typeface="Times New Roman"/>
                <a:cs typeface="Times New Roman"/>
              </a:rPr>
              <a:t>processed faster via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right hemisphere.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right hemisphere is ﬁrst </a:t>
            </a:r>
            <a:r>
              <a:rPr dirty="0" sz="1100">
                <a:latin typeface="Times New Roman"/>
                <a:cs typeface="Times New Roman"/>
              </a:rPr>
              <a:t> choice for </a:t>
            </a:r>
            <a:r>
              <a:rPr dirty="0" sz="1100" spc="-5">
                <a:latin typeface="Times New Roman"/>
                <a:cs typeface="Times New Roman"/>
              </a:rPr>
              <a:t>non-language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5">
                <a:latin typeface="Times New Roman"/>
                <a:cs typeface="Times New Roman"/>
              </a:rPr>
              <a:t>(among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things) 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left hemisphere specializes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sounds </a:t>
            </a:r>
            <a:r>
              <a:rPr dirty="0" sz="1100" spc="-5">
                <a:latin typeface="Times New Roman"/>
                <a:cs typeface="Times New Roman"/>
              </a:rPr>
              <a:t>(among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things too).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specializations may </a:t>
            </a:r>
            <a:r>
              <a:rPr dirty="0" sz="1100">
                <a:latin typeface="Times New Roman"/>
                <a:cs typeface="Times New Roman"/>
              </a:rPr>
              <a:t>actually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more to </a:t>
            </a:r>
            <a:r>
              <a:rPr dirty="0" sz="1100" spc="-1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with the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processing, rather </a:t>
            </a:r>
            <a:r>
              <a:rPr dirty="0" sz="1100">
                <a:latin typeface="Times New Roman"/>
                <a:cs typeface="Times New Roman"/>
              </a:rPr>
              <a:t>than 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material, that </a:t>
            </a:r>
            <a:r>
              <a:rPr dirty="0" sz="1100">
                <a:latin typeface="Times New Roman"/>
                <a:cs typeface="Times New Roman"/>
              </a:rPr>
              <a:t>is handled </a:t>
            </a:r>
            <a:r>
              <a:rPr dirty="0" sz="1100" spc="-5">
                <a:latin typeface="Times New Roman"/>
                <a:cs typeface="Times New Roman"/>
              </a:rPr>
              <a:t>best </a:t>
            </a:r>
            <a:r>
              <a:rPr dirty="0" sz="1100">
                <a:latin typeface="Times New Roman"/>
                <a:cs typeface="Times New Roman"/>
              </a:rPr>
              <a:t>by each of the </a:t>
            </a:r>
            <a:r>
              <a:rPr dirty="0" sz="1100" spc="-5">
                <a:latin typeface="Times New Roman"/>
                <a:cs typeface="Times New Roman"/>
              </a:rPr>
              <a:t>two hemispheres. Analytic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processing,</a:t>
            </a:r>
            <a:r>
              <a:rPr dirty="0" sz="1100">
                <a:latin typeface="Times New Roman"/>
                <a:cs typeface="Times New Roman"/>
              </a:rPr>
              <a:t> 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recognizing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rapid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‘left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brain’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brain’.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Critical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Period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apparent specialization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left </a:t>
            </a:r>
            <a:r>
              <a:rPr dirty="0" sz="1100">
                <a:latin typeface="Times New Roman"/>
                <a:cs typeface="Times New Roman"/>
              </a:rPr>
              <a:t>hemisphere </a:t>
            </a:r>
            <a:r>
              <a:rPr dirty="0" sz="1100" spc="-5">
                <a:latin typeface="Times New Roman"/>
                <a:cs typeface="Times New Roman"/>
              </a:rPr>
              <a:t>for language </a:t>
            </a:r>
            <a:r>
              <a:rPr dirty="0" sz="1100">
                <a:latin typeface="Times New Roman"/>
                <a:cs typeface="Times New Roman"/>
              </a:rPr>
              <a:t>is usually </a:t>
            </a:r>
            <a:r>
              <a:rPr dirty="0" sz="1100" spc="-5">
                <a:latin typeface="Times New Roman"/>
                <a:cs typeface="Times New Roman"/>
              </a:rPr>
              <a:t>described in 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dominance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lateralization </a:t>
            </a:r>
            <a:r>
              <a:rPr dirty="0" sz="1100">
                <a:latin typeface="Times New Roman"/>
                <a:cs typeface="Times New Roman"/>
              </a:rPr>
              <a:t>(one-sidedness). Since the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not </a:t>
            </a:r>
            <a:r>
              <a:rPr dirty="0" sz="1100" spc="-5">
                <a:latin typeface="Times New Roman"/>
                <a:cs typeface="Times New Roman"/>
              </a:rPr>
              <a:t>emerge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womb </a:t>
            </a:r>
            <a:r>
              <a:rPr dirty="0" sz="1100">
                <a:latin typeface="Times New Roman"/>
                <a:cs typeface="Times New Roman"/>
              </a:rPr>
              <a:t>as a fully </a:t>
            </a:r>
            <a:r>
              <a:rPr dirty="0" sz="1100" spc="-5">
                <a:latin typeface="Times New Roman"/>
                <a:cs typeface="Times New Roman"/>
              </a:rPr>
              <a:t>articulate language-user,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lateralization process begins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early </a:t>
            </a:r>
            <a:r>
              <a:rPr dirty="0" sz="1100">
                <a:latin typeface="Times New Roman"/>
                <a:cs typeface="Times New Roman"/>
              </a:rPr>
              <a:t>childhood.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coincides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childhood,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ready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receive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learn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particular language. 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‘sensitive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period’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acquisition,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‘critical period’.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Though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think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start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critical </a:t>
            </a:r>
            <a:r>
              <a:rPr dirty="0" sz="1100">
                <a:latin typeface="Times New Roman"/>
                <a:cs typeface="Times New Roman"/>
              </a:rPr>
              <a:t>period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ﬁrst </a:t>
            </a:r>
            <a:r>
              <a:rPr dirty="0" sz="1100" spc="-5">
                <a:latin typeface="Times New Roman"/>
                <a:cs typeface="Times New Roman"/>
              </a:rPr>
              <a:t> language acquisition lasts from </a:t>
            </a:r>
            <a:r>
              <a:rPr dirty="0" sz="1100">
                <a:latin typeface="Times New Roman"/>
                <a:cs typeface="Times New Roman"/>
              </a:rPr>
              <a:t>birth </a:t>
            </a:r>
            <a:r>
              <a:rPr dirty="0" sz="1100" spc="-5">
                <a:latin typeface="Times New Roman"/>
                <a:cs typeface="Times New Roman"/>
              </a:rPr>
              <a:t>until puberty.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child does not acquire language </a:t>
            </a:r>
            <a:r>
              <a:rPr dirty="0" sz="1100">
                <a:latin typeface="Times New Roman"/>
                <a:cs typeface="Times New Roman"/>
              </a:rPr>
              <a:t>during this period,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any reason, then </a:t>
            </a:r>
            <a:r>
              <a:rPr dirty="0" sz="1100" spc="-5">
                <a:latin typeface="Times New Roman"/>
                <a:cs typeface="Times New Roman"/>
              </a:rPr>
              <a:t>it is almost impossible for him/her </a:t>
            </a:r>
            <a:r>
              <a:rPr dirty="0" sz="1100">
                <a:latin typeface="Times New Roman"/>
                <a:cs typeface="Times New Roman"/>
              </a:rPr>
              <a:t>to learn </a:t>
            </a:r>
            <a:r>
              <a:rPr dirty="0" sz="1100" spc="-5">
                <a:latin typeface="Times New Roman"/>
                <a:cs typeface="Times New Roman"/>
              </a:rPr>
              <a:t>language later </a:t>
            </a:r>
            <a:r>
              <a:rPr dirty="0" sz="1100">
                <a:latin typeface="Times New Roman"/>
                <a:cs typeface="Times New Roman"/>
              </a:rPr>
              <a:t>on. Many </a:t>
            </a:r>
            <a:r>
              <a:rPr dirty="0" sz="1100" spc="-5">
                <a:latin typeface="Times New Roman"/>
                <a:cs typeface="Times New Roman"/>
              </a:rPr>
              <a:t>unfortunate well </a:t>
            </a:r>
            <a:r>
              <a:rPr dirty="0" sz="1100">
                <a:latin typeface="Times New Roman"/>
                <a:cs typeface="Times New Roman"/>
              </a:rPr>
              <a:t> documented </a:t>
            </a:r>
            <a:r>
              <a:rPr dirty="0" sz="1100" spc="-5">
                <a:latin typeface="Times New Roman"/>
                <a:cs typeface="Times New Roman"/>
              </a:rPr>
              <a:t>cases provide </a:t>
            </a:r>
            <a:r>
              <a:rPr dirty="0" sz="1100">
                <a:latin typeface="Times New Roman"/>
                <a:cs typeface="Times New Roman"/>
              </a:rPr>
              <a:t>us </a:t>
            </a:r>
            <a:r>
              <a:rPr dirty="0" sz="1100" spc="-5">
                <a:latin typeface="Times New Roman"/>
                <a:cs typeface="Times New Roman"/>
              </a:rPr>
              <a:t>insight about what happens when the critical </a:t>
            </a:r>
            <a:r>
              <a:rPr dirty="0" sz="1100">
                <a:latin typeface="Times New Roman"/>
                <a:cs typeface="Times New Roman"/>
              </a:rPr>
              <a:t>period passes </a:t>
            </a:r>
            <a:r>
              <a:rPr dirty="0" sz="1100" spc="-5">
                <a:latin typeface="Times New Roman"/>
                <a:cs typeface="Times New Roman"/>
              </a:rPr>
              <a:t>without adequate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input.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950" y="2208276"/>
            <a:ext cx="2425700" cy="181838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32530" y="1122934"/>
            <a:ext cx="176466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SOCIOLINGUISTICS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1546606"/>
            <a:ext cx="5972175" cy="688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216: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way that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talk depends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personal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social backgrounds.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depends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particular speech situation.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variation </a:t>
            </a:r>
            <a:r>
              <a:rPr dirty="0" sz="1100">
                <a:latin typeface="Times New Roman"/>
                <a:cs typeface="Times New Roman"/>
              </a:rPr>
              <a:t>in speech </a:t>
            </a:r>
            <a:r>
              <a:rPr dirty="0" sz="1100" spc="-5">
                <a:latin typeface="Times New Roman"/>
                <a:cs typeface="Times New Roman"/>
              </a:rPr>
              <a:t>depends </a:t>
            </a:r>
            <a:r>
              <a:rPr dirty="0" sz="1100">
                <a:latin typeface="Times New Roman"/>
                <a:cs typeface="Times New Roman"/>
              </a:rPr>
              <a:t>on such </a:t>
            </a:r>
            <a:r>
              <a:rPr dirty="0" sz="1100" spc="-5">
                <a:latin typeface="Times New Roman"/>
                <a:cs typeface="Times New Roman"/>
              </a:rPr>
              <a:t>matters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domain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especially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Sociolinguistics, thus,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defined 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descriptive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the effects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society, including cultural norms, expectations, </a:t>
            </a:r>
            <a:r>
              <a:rPr dirty="0" sz="1100">
                <a:latin typeface="Times New Roman"/>
                <a:cs typeface="Times New Roman"/>
              </a:rPr>
              <a:t>and context, on the </a:t>
            </a:r>
            <a:r>
              <a:rPr dirty="0" sz="1100" spc="-5">
                <a:latin typeface="Times New Roman"/>
                <a:cs typeface="Times New Roman"/>
              </a:rPr>
              <a:t>way language </a:t>
            </a:r>
            <a:r>
              <a:rPr dirty="0" sz="1100">
                <a:latin typeface="Times New Roman"/>
                <a:cs typeface="Times New Roman"/>
              </a:rPr>
              <a:t>is used, </a:t>
            </a:r>
            <a:r>
              <a:rPr dirty="0" sz="1100" spc="-5">
                <a:latin typeface="Times New Roman"/>
                <a:cs typeface="Times New Roman"/>
              </a:rPr>
              <a:t>and society's </a:t>
            </a:r>
            <a:r>
              <a:rPr dirty="0" sz="1100">
                <a:latin typeface="Times New Roman"/>
                <a:cs typeface="Times New Roman"/>
              </a:rPr>
              <a:t> effect on </a:t>
            </a:r>
            <a:r>
              <a:rPr dirty="0" sz="1100" spc="-5">
                <a:latin typeface="Times New Roman"/>
                <a:cs typeface="Times New Roman"/>
              </a:rPr>
              <a:t>language. There are certain social variables that are vital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discipline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as: e.g., ethnicity,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religion, status, gender, level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education, age, etc.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adherence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these rules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categorize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socioeconomic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Sociolinguistics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overlaps</a:t>
            </a:r>
            <a:r>
              <a:rPr dirty="0" sz="1100">
                <a:latin typeface="Times New Roman"/>
                <a:cs typeface="Times New Roman"/>
              </a:rPr>
              <a:t> considerably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historically</a:t>
            </a:r>
            <a:r>
              <a:rPr dirty="0" sz="1100">
                <a:latin typeface="Times New Roman"/>
                <a:cs typeface="Times New Roman"/>
              </a:rPr>
              <a:t> closely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anthropology,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distinction between the two fields has </a:t>
            </a:r>
            <a:r>
              <a:rPr dirty="0" sz="1100">
                <a:latin typeface="Times New Roman"/>
                <a:cs typeface="Times New Roman"/>
              </a:rPr>
              <a:t>been questioned.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5">
                <a:latin typeface="Times New Roman"/>
                <a:cs typeface="Times New Roman"/>
              </a:rPr>
              <a:t>differs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sociology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language, which </a:t>
            </a:r>
            <a:r>
              <a:rPr dirty="0" sz="1100">
                <a:latin typeface="Times New Roman"/>
                <a:cs typeface="Times New Roman"/>
              </a:rPr>
              <a:t>focuses on </a:t>
            </a:r>
            <a:r>
              <a:rPr dirty="0" sz="1100" spc="-5">
                <a:latin typeface="Times New Roman"/>
                <a:cs typeface="Times New Roman"/>
              </a:rPr>
              <a:t>the effect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on society. </a:t>
            </a:r>
            <a:r>
              <a:rPr dirty="0" sz="1100" spc="-5">
                <a:latin typeface="Times New Roman"/>
                <a:cs typeface="Times New Roman"/>
              </a:rPr>
              <a:t>As the usage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place,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sociolects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studied in </a:t>
            </a:r>
            <a:r>
              <a:rPr dirty="0" sz="1100" spc="-5">
                <a:latin typeface="Times New Roman"/>
                <a:cs typeface="Times New Roman"/>
              </a:rPr>
              <a:t>sociolinguistics. </a:t>
            </a:r>
            <a:r>
              <a:rPr dirty="0" sz="1100">
                <a:latin typeface="Times New Roman"/>
                <a:cs typeface="Times New Roman"/>
              </a:rPr>
              <a:t>People are normally aware of the </a:t>
            </a:r>
            <a:r>
              <a:rPr dirty="0" sz="1100" spc="-5">
                <a:latin typeface="Times New Roman"/>
                <a:cs typeface="Times New Roman"/>
              </a:rPr>
              <a:t>social factors that make </a:t>
            </a:r>
            <a:r>
              <a:rPr dirty="0" sz="1100">
                <a:latin typeface="Times New Roman"/>
                <a:cs typeface="Times New Roman"/>
              </a:rPr>
              <a:t>them to choose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 influence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 marL="12700" marR="2181225">
              <a:lnSpc>
                <a:spcPct val="220900"/>
              </a:lnSpc>
              <a:spcBef>
                <a:spcPts val="1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Topic- 217: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Standard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 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Vernacular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Varieties of</a:t>
            </a:r>
            <a:r>
              <a:rPr dirty="0" sz="1100" b="1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89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standard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governments,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media,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 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Standard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idealized variety,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it has </a:t>
            </a:r>
            <a:r>
              <a:rPr dirty="0" sz="1100" spc="-1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speciﬁc region.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associated with administrative,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commercial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printed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newspapers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books,</a:t>
            </a:r>
            <a:r>
              <a:rPr dirty="0" sz="1100">
                <a:latin typeface="Times New Roman"/>
                <a:cs typeface="Times New Roman"/>
              </a:rPr>
              <a:t> and used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 </a:t>
            </a:r>
            <a:r>
              <a:rPr dirty="0" sz="1100">
                <a:latin typeface="Times New Roman"/>
                <a:cs typeface="Times New Roman"/>
              </a:rPr>
              <a:t> regardless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easily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(i.e.,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spelling, grammar)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 language.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0905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Vernacular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vernacular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(usually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colloquial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informal)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>
                <a:latin typeface="Times New Roman"/>
                <a:cs typeface="Times New Roman"/>
              </a:rPr>
              <a:t>population, </a:t>
            </a:r>
            <a:r>
              <a:rPr dirty="0" sz="1100" spc="-5">
                <a:latin typeface="Times New Roman"/>
                <a:cs typeface="Times New Roman"/>
              </a:rPr>
              <a:t>especially.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distinguished 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literary, </a:t>
            </a:r>
            <a:r>
              <a:rPr dirty="0" sz="1100">
                <a:latin typeface="Times New Roman"/>
                <a:cs typeface="Times New Roman"/>
              </a:rPr>
              <a:t>national or standard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lingua franca.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region or state </a:t>
            </a:r>
            <a:r>
              <a:rPr dirty="0" sz="1100" spc="-5">
                <a:latin typeface="Times New Roman"/>
                <a:cs typeface="Times New Roman"/>
              </a:rPr>
              <a:t>inhabited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that population,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is spoken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ordinary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country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218: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Accent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Dialect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(Dialectology)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Whether </a:t>
            </a:r>
            <a:r>
              <a:rPr dirty="0" sz="1100" spc="-5">
                <a:latin typeface="Times New Roman"/>
                <a:cs typeface="Times New Roman"/>
              </a:rPr>
              <a:t>we speak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standard 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not, we all have certain </a:t>
            </a:r>
            <a:r>
              <a:rPr dirty="0" sz="1100">
                <a:latin typeface="Times New Roman"/>
                <a:cs typeface="Times New Roman"/>
              </a:rPr>
              <a:t>accents,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distinct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less </a:t>
            </a:r>
            <a:r>
              <a:rPr dirty="0" sz="1100">
                <a:latin typeface="Times New Roman"/>
                <a:cs typeface="Times New Roman"/>
              </a:rPr>
              <a:t>noticeably </a:t>
            </a:r>
            <a:r>
              <a:rPr dirty="0" sz="1100" spc="-5">
                <a:latin typeface="Times New Roman"/>
                <a:cs typeface="Times New Roman"/>
              </a:rPr>
              <a:t>recognised accents.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10">
                <a:latin typeface="Times New Roman"/>
                <a:cs typeface="Times New Roman"/>
              </a:rPr>
              <a:t>myth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speakers </a:t>
            </a:r>
            <a:r>
              <a:rPr dirty="0" sz="1100" spc="-5">
                <a:latin typeface="Times New Roman"/>
                <a:cs typeface="Times New Roman"/>
              </a:rPr>
              <a:t>have accents while others do </a:t>
            </a:r>
            <a:r>
              <a:rPr dirty="0" sz="1100">
                <a:latin typeface="Times New Roman"/>
                <a:cs typeface="Times New Roman"/>
              </a:rPr>
              <a:t> not </a:t>
            </a:r>
            <a:r>
              <a:rPr dirty="0" sz="1100" spc="-5">
                <a:latin typeface="Times New Roman"/>
                <a:cs typeface="Times New Roman"/>
              </a:rPr>
              <a:t>have.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000"/>
              </a:lnSpc>
            </a:pPr>
            <a:r>
              <a:rPr dirty="0" sz="1100" spc="-5" b="1">
                <a:latin typeface="Times New Roman"/>
                <a:cs typeface="Times New Roman"/>
              </a:rPr>
              <a:t>Accent: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accent is a </a:t>
            </a:r>
            <a:r>
              <a:rPr dirty="0" sz="1100" spc="-5">
                <a:latin typeface="Times New Roman"/>
                <a:cs typeface="Times New Roman"/>
              </a:rPr>
              <a:t>manner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pronunciation peculiar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particular individual, location,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nation. </a:t>
            </a:r>
            <a:r>
              <a:rPr dirty="0" sz="1100" spc="-5">
                <a:latin typeface="Times New Roman"/>
                <a:cs typeface="Times New Roman"/>
              </a:rPr>
              <a:t>Technically, it is the description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aspects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pronunciation that identify </a:t>
            </a:r>
            <a:r>
              <a:rPr dirty="0" sz="1100">
                <a:latin typeface="Times New Roman"/>
                <a:cs typeface="Times New Roman"/>
              </a:rPr>
              <a:t>where an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socially.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Dialect: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grammar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pronunciation. You don’t </a:t>
            </a:r>
            <a:r>
              <a:rPr dirty="0" sz="1100">
                <a:latin typeface="Times New Roman"/>
                <a:cs typeface="Times New Roman"/>
              </a:rPr>
              <a:t>know </a:t>
            </a:r>
            <a:r>
              <a:rPr dirty="0" sz="1100" spc="-5">
                <a:latin typeface="Times New Roman"/>
                <a:cs typeface="Times New Roman"/>
              </a:rPr>
              <a:t>what you’re talking </a:t>
            </a:r>
            <a:r>
              <a:rPr dirty="0" sz="1100">
                <a:latin typeface="Times New Roman"/>
                <a:cs typeface="Times New Roman"/>
              </a:rPr>
              <a:t>about. </a:t>
            </a:r>
            <a:r>
              <a:rPr dirty="0" sz="1100" spc="-5">
                <a:latin typeface="Times New Roman"/>
                <a:cs typeface="Times New Roman"/>
              </a:rPr>
              <a:t>For example, </a:t>
            </a:r>
            <a:r>
              <a:rPr dirty="0" sz="1100" spc="5">
                <a:latin typeface="Times New Roman"/>
                <a:cs typeface="Times New Roman"/>
              </a:rPr>
              <a:t>‘Ye </a:t>
            </a:r>
            <a:r>
              <a:rPr dirty="0" sz="1100" spc="-5">
                <a:latin typeface="Times New Roman"/>
                <a:cs typeface="Times New Roman"/>
              </a:rPr>
              <a:t>dinnae ken whit yer haverin’ </a:t>
            </a:r>
            <a:r>
              <a:rPr dirty="0" sz="1100">
                <a:latin typeface="Times New Roman"/>
                <a:cs typeface="Times New Roman"/>
              </a:rPr>
              <a:t> aboot.’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Scottish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Differences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from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Standard: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Times New Roman"/>
                <a:cs typeface="Times New Roman"/>
              </a:rPr>
              <a:t>Pronunciation: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what</a:t>
            </a:r>
            <a:endParaRPr sz="1100">
              <a:latin typeface="Times New Roman"/>
              <a:cs typeface="Times New Roman"/>
            </a:endParaRPr>
          </a:p>
          <a:p>
            <a:pPr marL="1344295">
              <a:lnSpc>
                <a:spcPct val="1000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</a:rPr>
              <a:t>Aboot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about,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Vocabulary: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Ken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know</a:t>
            </a:r>
            <a:endParaRPr sz="1100">
              <a:latin typeface="Times New Roman"/>
              <a:cs typeface="Times New Roman"/>
            </a:endParaRPr>
          </a:p>
          <a:p>
            <a:pPr marL="1203960">
              <a:lnSpc>
                <a:spcPct val="100000"/>
              </a:lnSpc>
              <a:spcBef>
                <a:spcPts val="160"/>
              </a:spcBef>
            </a:pPr>
            <a:r>
              <a:rPr dirty="0" sz="1100" spc="-5" b="1">
                <a:latin typeface="Times New Roman"/>
                <a:cs typeface="Times New Roman"/>
              </a:rPr>
              <a:t>Havering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talking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dirty="0" sz="1100" spc="-5">
                <a:latin typeface="Times New Roman"/>
                <a:cs typeface="Times New Roman"/>
              </a:rPr>
              <a:t>Grammatical: </a:t>
            </a:r>
            <a:r>
              <a:rPr dirty="0" sz="1100" spc="-5" b="1">
                <a:latin typeface="Times New Roman"/>
                <a:cs typeface="Times New Roman"/>
              </a:rPr>
              <a:t>Dinnae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5" b="1">
                <a:latin typeface="Times New Roman"/>
                <a:cs typeface="Times New Roman"/>
              </a:rPr>
              <a:t> don’t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vocabulary are often easily recognised. However, dialect </a:t>
            </a:r>
            <a:r>
              <a:rPr dirty="0" sz="1100">
                <a:latin typeface="Times New Roman"/>
                <a:cs typeface="Times New Roman"/>
              </a:rPr>
              <a:t>variations in the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 frequently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A: 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youse here?</a:t>
            </a:r>
            <a:endParaRPr sz="1100">
              <a:latin typeface="Times New Roman"/>
              <a:cs typeface="Times New Roman"/>
            </a:endParaRPr>
          </a:p>
          <a:p>
            <a:pPr marL="469265" marR="285940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B: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Easter.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(Speaker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puzzled.)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C:</a:t>
            </a:r>
            <a:r>
              <a:rPr dirty="0" sz="1100">
                <a:latin typeface="Times New Roman"/>
                <a:cs typeface="Times New Roman"/>
              </a:rPr>
              <a:t> 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 </a:t>
            </a:r>
            <a:r>
              <a:rPr dirty="0" sz="1100">
                <a:latin typeface="Times New Roman"/>
                <a:cs typeface="Times New Roman"/>
              </a:rPr>
              <a:t>on Sunday.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Ah.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Youse’re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then. (from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Trudgill,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1983)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criteria used </a:t>
            </a:r>
            <a:r>
              <a:rPr dirty="0" sz="1100">
                <a:latin typeface="Times New Roman"/>
                <a:cs typeface="Times New Roman"/>
              </a:rPr>
              <a:t>in the study of </a:t>
            </a:r>
            <a:r>
              <a:rPr dirty="0" sz="1100" spc="-5">
                <a:latin typeface="Times New Roman"/>
                <a:cs typeface="Times New Roman"/>
              </a:rPr>
              <a:t>dialects,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dialectology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distinguish between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dialects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219: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Pidgin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Creole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simplified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used for communication between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areas, the </a:t>
            </a: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>
                <a:latin typeface="Times New Roman"/>
                <a:cs typeface="Times New Roman"/>
              </a:rPr>
              <a:t>chosen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a variety that </a:t>
            </a:r>
            <a:r>
              <a:rPr dirty="0" sz="1100" spc="-5">
                <a:latin typeface="Times New Roman"/>
                <a:cs typeface="Times New Roman"/>
              </a:rPr>
              <a:t>originally </a:t>
            </a:r>
            <a:r>
              <a:rPr dirty="0" sz="1100">
                <a:latin typeface="Times New Roman"/>
                <a:cs typeface="Times New Roman"/>
              </a:rPr>
              <a:t>had no </a:t>
            </a:r>
            <a:r>
              <a:rPr dirty="0" sz="1100" spc="-5">
                <a:latin typeface="Times New Roman"/>
                <a:cs typeface="Times New Roman"/>
              </a:rPr>
              <a:t>native speakers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country.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Tok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Pisin,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English-based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commercial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52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Papua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Guinea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kind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“contact”.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that </a:t>
            </a:r>
            <a:r>
              <a:rPr dirty="0" sz="1100">
                <a:latin typeface="Times New Roman"/>
                <a:cs typeface="Times New Roman"/>
              </a:rPr>
              <a:t>developed for </a:t>
            </a:r>
            <a:r>
              <a:rPr dirty="0" sz="1100" spc="-5">
                <a:latin typeface="Times New Roman"/>
                <a:cs typeface="Times New Roman"/>
              </a:rPr>
              <a:t>some practical purpose,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trading among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1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 knowing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Chinese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‘business’.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 an </a:t>
            </a:r>
            <a:r>
              <a:rPr dirty="0" sz="1100" spc="-5">
                <a:latin typeface="Times New Roman"/>
                <a:cs typeface="Times New Roman"/>
              </a:rPr>
              <a:t>‘English pidgin’ if English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lexiﬁer language, that is,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main </a:t>
            </a:r>
            <a:r>
              <a:rPr dirty="0" sz="1100">
                <a:latin typeface="Times New Roman"/>
                <a:cs typeface="Times New Roman"/>
              </a:rPr>
              <a:t> source of </a:t>
            </a:r>
            <a:r>
              <a:rPr dirty="0" sz="1100" spc="-5">
                <a:latin typeface="Times New Roman"/>
                <a:cs typeface="Times New Roman"/>
              </a:rPr>
              <a:t>words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pidgin. No same </a:t>
            </a:r>
            <a:r>
              <a:rPr dirty="0" sz="1100">
                <a:latin typeface="Times New Roman"/>
                <a:cs typeface="Times New Roman"/>
              </a:rPr>
              <a:t>pronunciation or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as in the source is used. The </a:t>
            </a:r>
            <a:r>
              <a:rPr dirty="0" sz="1100" spc="-5">
                <a:latin typeface="Times New Roman"/>
                <a:cs typeface="Times New Roman"/>
              </a:rPr>
              <a:t>word gras </a:t>
            </a:r>
            <a:r>
              <a:rPr dirty="0" sz="1100">
                <a:latin typeface="Times New Roman"/>
                <a:cs typeface="Times New Roman"/>
              </a:rPr>
              <a:t> has </a:t>
            </a:r>
            <a:r>
              <a:rPr dirty="0" sz="1100" spc="-5">
                <a:latin typeface="Times New Roman"/>
                <a:cs typeface="Times New Roman"/>
              </a:rPr>
              <a:t>its origins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English word </a:t>
            </a:r>
            <a:r>
              <a:rPr dirty="0" sz="1100">
                <a:latin typeface="Times New Roman"/>
                <a:cs typeface="Times New Roman"/>
              </a:rPr>
              <a:t>‘grass’, in Tok </a:t>
            </a:r>
            <a:r>
              <a:rPr dirty="0" sz="1100" spc="-5">
                <a:latin typeface="Times New Roman"/>
                <a:cs typeface="Times New Roman"/>
              </a:rPr>
              <a:t>Pisin for ‘hair’.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mausgras (‘moustache’)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 </a:t>
            </a:r>
            <a:r>
              <a:rPr dirty="0" sz="1100">
                <a:latin typeface="Times New Roman"/>
                <a:cs typeface="Times New Roman"/>
              </a:rPr>
              <a:t>bilong fes </a:t>
            </a:r>
            <a:r>
              <a:rPr dirty="0" sz="1100" spc="-5">
                <a:latin typeface="Times New Roman"/>
                <a:cs typeface="Times New Roman"/>
              </a:rPr>
              <a:t>(‘beard’).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 English pidgins are still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today.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by 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absence of any </a:t>
            </a:r>
            <a:r>
              <a:rPr dirty="0" sz="1100" spc="-5">
                <a:latin typeface="Times New Roman"/>
                <a:cs typeface="Times New Roman"/>
              </a:rPr>
              <a:t>complex grammatical morphology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somewhat limited </a:t>
            </a:r>
            <a:r>
              <a:rPr dirty="0" sz="1100">
                <a:latin typeface="Times New Roman"/>
                <a:cs typeface="Times New Roman"/>
              </a:rPr>
              <a:t>vocabulary. </a:t>
            </a:r>
            <a:r>
              <a:rPr dirty="0" sz="1100" spc="-5">
                <a:latin typeface="Times New Roman"/>
                <a:cs typeface="Times New Roman"/>
              </a:rPr>
              <a:t>Inﬂectional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sufﬁxes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-’s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pidgins.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Common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Structures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 buk </a:t>
            </a:r>
            <a:r>
              <a:rPr dirty="0" sz="1100" spc="-5">
                <a:latin typeface="Times New Roman"/>
                <a:cs typeface="Times New Roman"/>
              </a:rPr>
              <a:t>(‘two books’), </a:t>
            </a:r>
            <a:r>
              <a:rPr dirty="0" sz="1100" spc="-10">
                <a:latin typeface="Times New Roman"/>
                <a:cs typeface="Times New Roman"/>
              </a:rPr>
              <a:t>di gyal </a:t>
            </a:r>
            <a:r>
              <a:rPr dirty="0" sz="1100">
                <a:latin typeface="Times New Roman"/>
                <a:cs typeface="Times New Roman"/>
              </a:rPr>
              <a:t>place </a:t>
            </a:r>
            <a:r>
              <a:rPr dirty="0" sz="1100" spc="-5">
                <a:latin typeface="Times New Roman"/>
                <a:cs typeface="Times New Roman"/>
              </a:rPr>
              <a:t>(‘the girl’s place’).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 morphemes </a:t>
            </a:r>
            <a:r>
              <a:rPr dirty="0" sz="1100">
                <a:latin typeface="Times New Roman"/>
                <a:cs typeface="Times New Roman"/>
              </a:rPr>
              <a:t>often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place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inﬂectional morphemes found in </a:t>
            </a:r>
            <a:r>
              <a:rPr dirty="0" sz="1100">
                <a:latin typeface="Times New Roman"/>
                <a:cs typeface="Times New Roman"/>
              </a:rPr>
              <a:t>the source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English phrase your book, is like </a:t>
            </a:r>
            <a:r>
              <a:rPr dirty="0" sz="1100">
                <a:latin typeface="Times New Roman"/>
                <a:cs typeface="Times New Roman"/>
              </a:rPr>
              <a:t> buk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yu.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six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twelve million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still use pidgin 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between ten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seventeen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descendants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‘creoles’.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beyond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contact 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ﬁrst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of a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creole.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Tok Pisin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now a creole. Although </a:t>
            </a:r>
            <a:r>
              <a:rPr dirty="0" sz="1100" spc="-5">
                <a:latin typeface="Times New Roman"/>
                <a:cs typeface="Times New Roman"/>
              </a:rPr>
              <a:t>still locally referred </a:t>
            </a:r>
            <a:r>
              <a:rPr dirty="0" sz="1100">
                <a:latin typeface="Times New Roman"/>
                <a:cs typeface="Times New Roman"/>
              </a:rPr>
              <a:t>to as ‘Pidgin’, 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Hawai’i is also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creole, technically known </a:t>
            </a:r>
            <a:r>
              <a:rPr dirty="0" sz="1100">
                <a:latin typeface="Times New Roman"/>
                <a:cs typeface="Times New Roman"/>
              </a:rPr>
              <a:t>as Hawai’i </a:t>
            </a:r>
            <a:r>
              <a:rPr dirty="0" sz="1100" spc="-5">
                <a:latin typeface="Times New Roman"/>
                <a:cs typeface="Times New Roman"/>
              </a:rPr>
              <a:t>Creole English.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creole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initially </a:t>
            </a:r>
            <a:r>
              <a:rPr dirty="0" sz="1100">
                <a:latin typeface="Times New Roman"/>
                <a:cs typeface="Times New Roman"/>
              </a:rPr>
              <a:t>develops as the </a:t>
            </a:r>
            <a:r>
              <a:rPr dirty="0" sz="1100" spc="-5">
                <a:latin typeface="Times New Roman"/>
                <a:cs typeface="Times New Roman"/>
              </a:rPr>
              <a:t>ﬁrst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children growing </a:t>
            </a:r>
            <a:r>
              <a:rPr dirty="0" sz="1100">
                <a:latin typeface="Times New Roman"/>
                <a:cs typeface="Times New Roman"/>
              </a:rPr>
              <a:t>up in a pidgin-using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becomes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complex as </a:t>
            </a:r>
            <a:r>
              <a:rPr dirty="0" sz="1100" spc="-5">
                <a:latin typeface="Times New Roman"/>
                <a:cs typeface="Times New Roman"/>
              </a:rPr>
              <a:t>it serves more communicative </a:t>
            </a:r>
            <a:r>
              <a:rPr dirty="0" sz="1100">
                <a:latin typeface="Times New Roman"/>
                <a:cs typeface="Times New Roman"/>
              </a:rPr>
              <a:t>purposes. There </a:t>
            </a:r>
            <a:r>
              <a:rPr dirty="0" sz="1100" spc="-5">
                <a:latin typeface="Times New Roman"/>
                <a:cs typeface="Times New Roman"/>
              </a:rPr>
              <a:t>are large numbers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native </a:t>
            </a:r>
            <a:r>
              <a:rPr dirty="0" sz="1100">
                <a:latin typeface="Times New Roman"/>
                <a:cs typeface="Times New Roman"/>
              </a:rPr>
              <a:t>speakers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are not </a:t>
            </a:r>
            <a:r>
              <a:rPr dirty="0" sz="1100" spc="-5">
                <a:latin typeface="Times New Roman"/>
                <a:cs typeface="Times New Roman"/>
              </a:rPr>
              <a:t>restricted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their uses. </a:t>
            </a:r>
            <a:r>
              <a:rPr dirty="0" sz="1100">
                <a:latin typeface="Times New Roman"/>
                <a:cs typeface="Times New Roman"/>
              </a:rPr>
              <a:t>A French </a:t>
            </a:r>
            <a:r>
              <a:rPr dirty="0" sz="1100" spc="-5">
                <a:latin typeface="Times New Roman"/>
                <a:cs typeface="Times New Roman"/>
              </a:rPr>
              <a:t>creole </a:t>
            </a:r>
            <a:r>
              <a:rPr dirty="0" sz="1100">
                <a:latin typeface="Times New Roman"/>
                <a:cs typeface="Times New Roman"/>
              </a:rPr>
              <a:t>is used </a:t>
            </a:r>
            <a:r>
              <a:rPr dirty="0" sz="1100" spc="-5">
                <a:latin typeface="Times New Roman"/>
                <a:cs typeface="Times New Roman"/>
              </a:rPr>
              <a:t>in Haiti.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creoles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 Jamaica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5">
                <a:latin typeface="Times New Roman"/>
                <a:cs typeface="Times New Roman"/>
              </a:rPr>
              <a:t> Sierra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Diglossia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Polyglossia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situation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two distinct varieties </a:t>
            </a:r>
            <a:r>
              <a:rPr dirty="0" sz="1100" spc="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spoken within the same speech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‘high’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Arabic-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countries ‘the high variety’ (Classical Arabic) is used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formal lectures, serious political events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especially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religious discussions. The </a:t>
            </a:r>
            <a:r>
              <a:rPr dirty="0" sz="1100">
                <a:latin typeface="Times New Roman"/>
                <a:cs typeface="Times New Roman"/>
              </a:rPr>
              <a:t>low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local version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Egyptian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Lebanese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classic diglossic situation is the </a:t>
            </a:r>
            <a:r>
              <a:rPr dirty="0" sz="1100">
                <a:latin typeface="Times New Roman"/>
                <a:cs typeface="Times New Roman"/>
              </a:rPr>
              <a:t>one in </a:t>
            </a:r>
            <a:r>
              <a:rPr dirty="0" sz="1100" spc="-5">
                <a:latin typeface="Times New Roman"/>
                <a:cs typeface="Times New Roman"/>
              </a:rPr>
              <a:t>which two varieties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>
                <a:latin typeface="Times New Roman"/>
                <a:cs typeface="Times New Roman"/>
              </a:rPr>
              <a:t> French and </a:t>
            </a:r>
            <a:r>
              <a:rPr dirty="0" sz="1100" spc="-5">
                <a:latin typeface="Times New Roman"/>
                <a:cs typeface="Times New Roman"/>
              </a:rPr>
              <a:t>Haitian Creole </a:t>
            </a:r>
            <a:r>
              <a:rPr dirty="0" sz="1100">
                <a:latin typeface="Times New Roman"/>
                <a:cs typeface="Times New Roman"/>
              </a:rPr>
              <a:t>French, </a:t>
            </a:r>
            <a:r>
              <a:rPr dirty="0" sz="1100" spc="-5">
                <a:latin typeface="Times New Roman"/>
                <a:cs typeface="Times New Roman"/>
              </a:rPr>
              <a:t>exist alongside each other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single society. </a:t>
            </a:r>
            <a:r>
              <a:rPr dirty="0" sz="1100">
                <a:latin typeface="Times New Roman"/>
                <a:cs typeface="Times New Roman"/>
              </a:rPr>
              <a:t>Each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its own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fixed functions—one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'high,' prestigious </a:t>
            </a:r>
            <a:r>
              <a:rPr dirty="0" sz="1100">
                <a:latin typeface="Times New Roman"/>
                <a:cs typeface="Times New Roman"/>
              </a:rPr>
              <a:t>variety a </a:t>
            </a:r>
            <a:r>
              <a:rPr dirty="0" sz="1100" spc="-5">
                <a:latin typeface="Times New Roman"/>
                <a:cs typeface="Times New Roman"/>
              </a:rPr>
              <a:t>'low,'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colloquial, </a:t>
            </a:r>
            <a:r>
              <a:rPr dirty="0" sz="1100">
                <a:latin typeface="Times New Roman"/>
                <a:cs typeface="Times New Roman"/>
              </a:rPr>
              <a:t>one. </a:t>
            </a:r>
            <a:r>
              <a:rPr dirty="0" sz="1100" spc="-5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the wrong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wrong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inappropriate.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Polydiglossia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coexistence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 languages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distinct varieties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language, </a:t>
            </a:r>
            <a:r>
              <a:rPr dirty="0" sz="1100">
                <a:latin typeface="Times New Roman"/>
                <a:cs typeface="Times New Roman"/>
              </a:rPr>
              <a:t>within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Polydiglossia. According </a:t>
            </a:r>
            <a:r>
              <a:rPr dirty="0" sz="1100">
                <a:latin typeface="Times New Roman"/>
                <a:cs typeface="Times New Roman"/>
              </a:rPr>
              <a:t>to Lindsay </a:t>
            </a:r>
            <a:r>
              <a:rPr dirty="0" sz="1100" spc="-5">
                <a:latin typeface="Times New Roman"/>
                <a:cs typeface="Times New Roman"/>
              </a:rPr>
              <a:t>(2007), Polydiglossia </a:t>
            </a:r>
            <a:r>
              <a:rPr dirty="0" sz="1100">
                <a:latin typeface="Times New Roman"/>
                <a:cs typeface="Times New Roman"/>
              </a:rPr>
              <a:t>is a term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refers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person's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Polydiglossia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5014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890">
              <a:lnSpc>
                <a:spcPct val="1104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two contrasting varieties (high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low).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concept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polyglossia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explained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Singapore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are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Singaporean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Mandarin, </a:t>
            </a:r>
            <a:r>
              <a:rPr dirty="0" sz="1100">
                <a:latin typeface="Times New Roman"/>
                <a:cs typeface="Times New Roman"/>
              </a:rPr>
              <a:t> Cantonese </a:t>
            </a:r>
            <a:r>
              <a:rPr dirty="0" sz="1100" spc="-5">
                <a:latin typeface="Times New Roman"/>
                <a:cs typeface="Times New Roman"/>
              </a:rPr>
              <a:t>and Hokkien. </a:t>
            </a:r>
            <a:r>
              <a:rPr dirty="0" sz="1100">
                <a:latin typeface="Times New Roman"/>
                <a:cs typeface="Times New Roman"/>
              </a:rPr>
              <a:t>Singaporean </a:t>
            </a:r>
            <a:r>
              <a:rPr dirty="0" sz="1100" spc="-5">
                <a:latin typeface="Times New Roman"/>
                <a:cs typeface="Times New Roman"/>
              </a:rPr>
              <a:t>Chinese people will use Mandarin for their job; </a:t>
            </a:r>
            <a:r>
              <a:rPr dirty="0" sz="1100">
                <a:latin typeface="Times New Roman"/>
                <a:cs typeface="Times New Roman"/>
              </a:rPr>
              <a:t>Cantonese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Hokkien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221: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Culture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originates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anthropologists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have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language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source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general </a:t>
            </a:r>
            <a:r>
              <a:rPr dirty="0" sz="1100">
                <a:latin typeface="Times New Roman"/>
                <a:cs typeface="Times New Roman"/>
              </a:rPr>
              <a:t>study of </a:t>
            </a:r>
            <a:r>
              <a:rPr dirty="0" sz="1100" spc="-5">
                <a:latin typeface="Times New Roman"/>
                <a:cs typeface="Times New Roman"/>
              </a:rPr>
              <a:t>‘culture’.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‘shared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behaviours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group’,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micro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macro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(Byram,</a:t>
            </a:r>
            <a:r>
              <a:rPr dirty="0" sz="1100">
                <a:latin typeface="Times New Roman"/>
                <a:cs typeface="Times New Roman"/>
              </a:rPr>
              <a:t> 2008).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‘socially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acquired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knowledge’.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just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symbolic </a:t>
            </a:r>
            <a:r>
              <a:rPr dirty="0" sz="1100">
                <a:latin typeface="Times New Roman"/>
                <a:cs typeface="Times New Roman"/>
              </a:rPr>
              <a:t>system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power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shape symbolic realities,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values, </a:t>
            </a:r>
            <a:r>
              <a:rPr dirty="0" sz="1100" spc="-5">
                <a:latin typeface="Times New Roman"/>
                <a:cs typeface="Times New Roman"/>
              </a:rPr>
              <a:t>perceptions, identities through discourse’ (Kramsch, </a:t>
            </a:r>
            <a:r>
              <a:rPr dirty="0" sz="1100">
                <a:latin typeface="Times New Roman"/>
                <a:cs typeface="Times New Roman"/>
              </a:rPr>
              <a:t>2002). </a:t>
            </a:r>
            <a:r>
              <a:rPr dirty="0" sz="1100" spc="-5">
                <a:latin typeface="Times New Roman"/>
                <a:cs typeface="Times New Roman"/>
              </a:rPr>
              <a:t>Our ﬁrst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initially acquired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conscious awareness. </a:t>
            </a:r>
            <a:r>
              <a:rPr dirty="0" sz="1100">
                <a:latin typeface="Times New Roman"/>
                <a:cs typeface="Times New Roman"/>
              </a:rPr>
              <a:t>We develop </a:t>
            </a:r>
            <a:r>
              <a:rPr dirty="0" sz="1100" spc="-5">
                <a:latin typeface="Times New Roman"/>
                <a:cs typeface="Times New Roman"/>
              </a:rPr>
              <a:t>awareness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our knowledge,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hence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 culture, only </a:t>
            </a:r>
            <a:r>
              <a:rPr dirty="0" sz="1100">
                <a:latin typeface="Times New Roman"/>
                <a:cs typeface="Times New Roman"/>
              </a:rPr>
              <a:t> 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>
                <a:latin typeface="Times New Roman"/>
                <a:cs typeface="Times New Roman"/>
              </a:rPr>
              <a:t> developed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learn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transmission provides </a:t>
            </a:r>
            <a:r>
              <a:rPr dirty="0" sz="1100">
                <a:latin typeface="Times New Roman"/>
                <a:cs typeface="Times New Roman"/>
              </a:rPr>
              <a:t>us, </a:t>
            </a:r>
            <a:r>
              <a:rPr dirty="0" sz="1100" spc="-5">
                <a:latin typeface="Times New Roman"/>
                <a:cs typeface="Times New Roman"/>
              </a:rPr>
              <a:t>at least initially,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ready-made </a:t>
            </a:r>
            <a:r>
              <a:rPr dirty="0" sz="1100">
                <a:latin typeface="Times New Roman"/>
                <a:cs typeface="Times New Roman"/>
              </a:rPr>
              <a:t>system of </a:t>
            </a:r>
            <a:r>
              <a:rPr dirty="0" sz="1100" spc="-5">
                <a:latin typeface="Times New Roman"/>
                <a:cs typeface="Times New Roman"/>
              </a:rPr>
              <a:t>categorising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>
                <a:latin typeface="Times New Roman"/>
                <a:cs typeface="Times New Roman"/>
              </a:rPr>
              <a:t>around us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recognise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category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distinctions that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relevant in our social world. </a:t>
            </a:r>
            <a:r>
              <a:rPr dirty="0" sz="1100">
                <a:latin typeface="Times New Roman"/>
                <a:cs typeface="Times New Roman"/>
              </a:rPr>
              <a:t>Very </a:t>
            </a:r>
            <a:r>
              <a:rPr dirty="0" sz="1100" spc="-5">
                <a:latin typeface="Times New Roman"/>
                <a:cs typeface="Times New Roman"/>
              </a:rPr>
              <a:t>young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initially think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‘dog’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‘horse’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different.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native cultures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Paciﬁc, there were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horses so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words for </a:t>
            </a:r>
            <a:r>
              <a:rPr dirty="0" sz="1100" spc="-10">
                <a:latin typeface="Times New Roman"/>
                <a:cs typeface="Times New Roman"/>
              </a:rPr>
              <a:t>them.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must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conceptual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identiﬁable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dog or </a:t>
            </a:r>
            <a:r>
              <a:rPr dirty="0" sz="1100" spc="-5">
                <a:latin typeface="Times New Roman"/>
                <a:cs typeface="Times New Roman"/>
              </a:rPr>
              <a:t>horse, </a:t>
            </a:r>
            <a:r>
              <a:rPr dirty="0" sz="1100">
                <a:latin typeface="Times New Roman"/>
                <a:cs typeface="Times New Roman"/>
              </a:rPr>
              <a:t>rain or </a:t>
            </a:r>
            <a:r>
              <a:rPr dirty="0" sz="1100" spc="-5">
                <a:latin typeface="Times New Roman"/>
                <a:cs typeface="Times New Roman"/>
              </a:rPr>
              <a:t>snow, father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uncle, week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weekend, etc.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relation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culture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the way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share human </a:t>
            </a:r>
            <a:r>
              <a:rPr dirty="0" sz="1100">
                <a:latin typeface="Times New Roman"/>
                <a:cs typeface="Times New Roman"/>
              </a:rPr>
              <a:t>values, </a:t>
            </a:r>
            <a:r>
              <a:rPr dirty="0" sz="1100" spc="-5">
                <a:latin typeface="Times New Roman"/>
                <a:cs typeface="Times New Roman"/>
              </a:rPr>
              <a:t>realities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behaviours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group. </a:t>
            </a: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Kramsch,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embodies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symbolizes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25330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Lesson-39</a:t>
            </a:r>
            <a:endParaRPr sz="1400">
              <a:latin typeface="Times New Roman"/>
              <a:cs typeface="Times New Roman"/>
            </a:endParaRPr>
          </a:p>
          <a:p>
            <a:pPr marL="1728470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FIRST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 ACQUISITION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222: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Acquisition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Stages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Acquisition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first language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remarkable 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speed</a:t>
            </a:r>
            <a:r>
              <a:rPr dirty="0" sz="1100">
                <a:latin typeface="Times New Roman"/>
                <a:cs typeface="Times New Roman"/>
              </a:rPr>
              <a:t> with </a:t>
            </a:r>
            <a:r>
              <a:rPr dirty="0" sz="1100" spc="-5">
                <a:latin typeface="Times New Roman"/>
                <a:cs typeface="Times New Roman"/>
              </a:rPr>
              <a:t>which it takes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 long before </a:t>
            </a:r>
            <a:r>
              <a:rPr dirty="0" sz="1100" spc="-5">
                <a:latin typeface="Times New Roman"/>
                <a:cs typeface="Times New Roman"/>
              </a:rPr>
              <a:t>he/she starts </a:t>
            </a:r>
            <a:r>
              <a:rPr dirty="0" sz="1100">
                <a:latin typeface="Times New Roman"/>
                <a:cs typeface="Times New Roman"/>
              </a:rPr>
              <a:t>school, </a:t>
            </a:r>
            <a:r>
              <a:rPr dirty="0" sz="1100" spc="-5">
                <a:latin typeface="Times New Roman"/>
                <a:cs typeface="Times New Roman"/>
              </a:rPr>
              <a:t>becomes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extremely </a:t>
            </a:r>
            <a:r>
              <a:rPr dirty="0" sz="1100">
                <a:latin typeface="Times New Roman"/>
                <a:cs typeface="Times New Roman"/>
              </a:rPr>
              <a:t>sophisticated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user </a:t>
            </a:r>
            <a:r>
              <a:rPr dirty="0" sz="1100" spc="-5">
                <a:latin typeface="Times New Roman"/>
                <a:cs typeface="Times New Roman"/>
              </a:rPr>
              <a:t>operating </a:t>
            </a:r>
            <a:r>
              <a:rPr dirty="0" sz="1100">
                <a:latin typeface="Times New Roman"/>
                <a:cs typeface="Times New Roman"/>
              </a:rPr>
              <a:t>a system 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self-expression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compared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computer. The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generally occurs </a:t>
            </a:r>
            <a:r>
              <a:rPr dirty="0" sz="1100" spc="-5">
                <a:latin typeface="Times New Roman"/>
                <a:cs typeface="Times New Roman"/>
              </a:rPr>
              <a:t>without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overt instruction, regardless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great differences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circumstances. The idea </a:t>
            </a:r>
            <a:r>
              <a:rPr dirty="0" sz="1100">
                <a:latin typeface="Times New Roman"/>
                <a:cs typeface="Times New Roman"/>
              </a:rPr>
              <a:t>behind it is,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is an innate </a:t>
            </a:r>
            <a:r>
              <a:rPr dirty="0" sz="1100" spc="-5">
                <a:latin typeface="Times New Roman"/>
                <a:cs typeface="Times New Roman"/>
              </a:rPr>
              <a:t>predisposition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human </a:t>
            </a:r>
            <a:r>
              <a:rPr dirty="0" sz="1100">
                <a:latin typeface="Times New Roman"/>
                <a:cs typeface="Times New Roman"/>
              </a:rPr>
              <a:t>infant </a:t>
            </a:r>
            <a:r>
              <a:rPr dirty="0" sz="1100" spc="-5">
                <a:latin typeface="Times New Roman"/>
                <a:cs typeface="Times New Roman"/>
              </a:rPr>
              <a:t>to acquire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- special </a:t>
            </a:r>
            <a:r>
              <a:rPr dirty="0" sz="1100" spc="-5">
                <a:latin typeface="Times New Roman"/>
                <a:cs typeface="Times New Roman"/>
              </a:rPr>
              <a:t>capacity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language with which </a:t>
            </a:r>
            <a:r>
              <a:rPr dirty="0" sz="1100">
                <a:latin typeface="Times New Roman"/>
                <a:cs typeface="Times New Roman"/>
              </a:rPr>
              <a:t>each newborn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endowed. </a:t>
            </a:r>
            <a:r>
              <a:rPr dirty="0" sz="1100">
                <a:latin typeface="Times New Roman"/>
                <a:cs typeface="Times New Roman"/>
              </a:rPr>
              <a:t>There are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ways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characterize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developmental sequence. The stages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production by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primarily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unfolding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mentioned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follows: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112230"/>
            <a:ext cx="5970270" cy="2426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 indent="456565">
              <a:lnSpc>
                <a:spcPct val="1100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observed </a:t>
            </a:r>
            <a:r>
              <a:rPr dirty="0" sz="1100" spc="-5">
                <a:latin typeface="Times New Roman"/>
                <a:cs typeface="Times New Roman"/>
              </a:rPr>
              <a:t>in researches that the inborn language </a:t>
            </a:r>
            <a:r>
              <a:rPr dirty="0" sz="1100">
                <a:latin typeface="Times New Roman"/>
                <a:cs typeface="Times New Roman"/>
              </a:rPr>
              <a:t>capacity is not enough. </a:t>
            </a:r>
            <a:r>
              <a:rPr dirty="0" sz="1100" spc="-5">
                <a:latin typeface="Times New Roman"/>
                <a:cs typeface="Times New Roman"/>
              </a:rPr>
              <a:t>The child must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 physically capable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receiving sound </a:t>
            </a:r>
            <a:r>
              <a:rPr dirty="0" sz="1100">
                <a:latin typeface="Times New Roman"/>
                <a:cs typeface="Times New Roman"/>
              </a:rPr>
              <a:t>signals in a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hearing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sounds is </a:t>
            </a:r>
            <a:r>
              <a:rPr dirty="0" sz="1100" spc="-5">
                <a:latin typeface="Times New Roman"/>
                <a:cs typeface="Times New Roman"/>
              </a:rPr>
              <a:t>not enough </a:t>
            </a:r>
            <a:r>
              <a:rPr dirty="0" sz="1100">
                <a:latin typeface="Times New Roman"/>
                <a:cs typeface="Times New Roman"/>
              </a:rPr>
              <a:t>because a </a:t>
            </a:r>
            <a:r>
              <a:rPr dirty="0" sz="1100" spc="-5">
                <a:latin typeface="Times New Roman"/>
                <a:cs typeface="Times New Roman"/>
              </a:rPr>
              <a:t>crucial requirement appears </a:t>
            </a:r>
            <a:r>
              <a:rPr dirty="0" sz="1100">
                <a:latin typeface="Times New Roman"/>
                <a:cs typeface="Times New Roman"/>
              </a:rPr>
              <a:t>as the opportunity </a:t>
            </a:r>
            <a:r>
              <a:rPr dirty="0" sz="1100" spc="-5">
                <a:latin typeface="Times New Roman"/>
                <a:cs typeface="Times New Roman"/>
              </a:rPr>
              <a:t>to interact with others via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223: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Cooing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Babbling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earliest 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speech-like </a:t>
            </a:r>
            <a:r>
              <a:rPr dirty="0" sz="1100">
                <a:latin typeface="Times New Roman"/>
                <a:cs typeface="Times New Roman"/>
              </a:rPr>
              <a:t>sounds has </a:t>
            </a:r>
            <a:r>
              <a:rPr dirty="0" sz="1100" spc="-5">
                <a:latin typeface="Times New Roman"/>
                <a:cs typeface="Times New Roman"/>
              </a:rPr>
              <a:t>been described </a:t>
            </a:r>
            <a:r>
              <a:rPr dirty="0" sz="1100">
                <a:latin typeface="Times New Roman"/>
                <a:cs typeface="Times New Roman"/>
              </a:rPr>
              <a:t>as cooing </a:t>
            </a:r>
            <a:r>
              <a:rPr dirty="0" sz="1100" spc="-5">
                <a:latin typeface="Times New Roman"/>
                <a:cs typeface="Times New Roman"/>
              </a:rPr>
              <a:t>e.g., </a:t>
            </a:r>
            <a:r>
              <a:rPr dirty="0" sz="1100">
                <a:latin typeface="Times New Roman"/>
                <a:cs typeface="Times New Roman"/>
              </a:rPr>
              <a:t>sequences of </a:t>
            </a:r>
            <a:r>
              <a:rPr dirty="0" sz="1100" spc="-5">
                <a:latin typeface="Times New Roman"/>
                <a:cs typeface="Times New Roman"/>
              </a:rPr>
              <a:t>vowel-like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 high</a:t>
            </a:r>
            <a:r>
              <a:rPr dirty="0" sz="1100">
                <a:latin typeface="Times New Roman"/>
                <a:cs typeface="Times New Roman"/>
              </a:rPr>
              <a:t> vowels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[i]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[u].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‘cooing’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‘going’.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5">
                <a:latin typeface="Times New Roman"/>
                <a:cs typeface="Times New Roman"/>
              </a:rPr>
              <a:t>months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regular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palate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velar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endParaRPr sz="1100">
              <a:latin typeface="Times New Roman"/>
              <a:cs typeface="Times New Roman"/>
            </a:endParaRPr>
          </a:p>
          <a:p>
            <a:pPr algn="just" marL="12700" marR="889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[k]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[ɡ]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produce. Speech perception studies have shown that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time they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10">
                <a:latin typeface="Times New Roman"/>
                <a:cs typeface="Times New Roman"/>
              </a:rPr>
              <a:t>ﬁve </a:t>
            </a:r>
            <a:r>
              <a:rPr dirty="0" sz="1100" spc="-5">
                <a:latin typeface="Times New Roman"/>
                <a:cs typeface="Times New Roman"/>
              </a:rPr>
              <a:t>months </a:t>
            </a:r>
            <a:r>
              <a:rPr dirty="0" sz="1100">
                <a:latin typeface="Times New Roman"/>
                <a:cs typeface="Times New Roman"/>
              </a:rPr>
              <a:t>old,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babies </a:t>
            </a:r>
            <a:r>
              <a:rPr dirty="0" sz="1100" spc="-5">
                <a:latin typeface="Times New Roman"/>
                <a:cs typeface="Times New Roman"/>
              </a:rPr>
              <a:t>can already </a:t>
            </a:r>
            <a:r>
              <a:rPr dirty="0" sz="1100">
                <a:latin typeface="Times New Roman"/>
                <a:cs typeface="Times New Roman"/>
              </a:rPr>
              <a:t>hear the </a:t>
            </a:r>
            <a:r>
              <a:rPr dirty="0" sz="1100" spc="-5">
                <a:latin typeface="Times New Roman"/>
                <a:cs typeface="Times New Roman"/>
              </a:rPr>
              <a:t>difference 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vowels [i]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[a]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discriminate between syllables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 [ba]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[ɡa].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8426" y="3601465"/>
            <a:ext cx="3691940" cy="216727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2810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Times New Roman"/>
                <a:cs typeface="Times New Roman"/>
              </a:rPr>
              <a:t>Babbling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Between six and </a:t>
            </a:r>
            <a:r>
              <a:rPr dirty="0" sz="1100" spc="-5">
                <a:latin typeface="Times New Roman"/>
                <a:cs typeface="Times New Roman"/>
              </a:rPr>
              <a:t>eight months,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starts sitting </a:t>
            </a:r>
            <a:r>
              <a:rPr dirty="0" sz="1100">
                <a:latin typeface="Times New Roman"/>
                <a:cs typeface="Times New Roman"/>
              </a:rPr>
              <a:t>up and </a:t>
            </a:r>
            <a:r>
              <a:rPr dirty="0" sz="1100" spc="-5">
                <a:latin typeface="Times New Roman"/>
                <a:cs typeface="Times New Roman"/>
              </a:rPr>
              <a:t>producing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consonants, </a:t>
            </a:r>
            <a:r>
              <a:rPr dirty="0" sz="1100">
                <a:latin typeface="Times New Roman"/>
                <a:cs typeface="Times New Roman"/>
              </a:rPr>
              <a:t>as well as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ba-ba-ba </a:t>
            </a:r>
            <a:r>
              <a:rPr dirty="0" sz="1100">
                <a:latin typeface="Times New Roman"/>
                <a:cs typeface="Times New Roman"/>
              </a:rPr>
              <a:t>and ga-ga-ga.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later babbling </a:t>
            </a:r>
            <a:r>
              <a:rPr dirty="0" sz="1100">
                <a:latin typeface="Times New Roman"/>
                <a:cs typeface="Times New Roman"/>
              </a:rPr>
              <a:t> stage, around </a:t>
            </a:r>
            <a:r>
              <a:rPr dirty="0" sz="1100" spc="-5">
                <a:latin typeface="Times New Roman"/>
                <a:cs typeface="Times New Roman"/>
              </a:rPr>
              <a:t>nine </a:t>
            </a:r>
            <a:r>
              <a:rPr dirty="0" sz="1100">
                <a:latin typeface="Times New Roman"/>
                <a:cs typeface="Times New Roman"/>
              </a:rPr>
              <a:t>to ten </a:t>
            </a:r>
            <a:r>
              <a:rPr dirty="0" sz="1100" spc="-5">
                <a:latin typeface="Times New Roman"/>
                <a:cs typeface="Times New Roman"/>
              </a:rPr>
              <a:t>months, there are recognizable intonation patterns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consonant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vowel </a:t>
            </a:r>
            <a:r>
              <a:rPr dirty="0" sz="1100" spc="-5">
                <a:latin typeface="Times New Roman"/>
                <a:cs typeface="Times New Roman"/>
              </a:rPr>
              <a:t> combinations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ba-ba-da-da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Nasal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certain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sequences</a:t>
            </a:r>
            <a:r>
              <a:rPr dirty="0" sz="1100">
                <a:latin typeface="Times New Roman"/>
                <a:cs typeface="Times New Roman"/>
              </a:rPr>
              <a:t> 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ma-ma-ma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da-da-da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“mama”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“dada”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repeated</a:t>
            </a:r>
            <a:r>
              <a:rPr dirty="0" sz="1100">
                <a:latin typeface="Times New Roman"/>
                <a:cs typeface="Times New Roman"/>
              </a:rPr>
              <a:t> back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“paralanguage”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10">
                <a:latin typeface="Times New Roman"/>
                <a:cs typeface="Times New Roman"/>
              </a:rPr>
              <a:t>sound </a:t>
            </a:r>
            <a:r>
              <a:rPr dirty="0" sz="1100" spc="-5">
                <a:latin typeface="Times New Roman"/>
                <a:cs typeface="Times New Roman"/>
              </a:rPr>
              <a:t>provides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with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experience of the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role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</a:t>
            </a:r>
            <a:r>
              <a:rPr dirty="0" sz="1100">
                <a:latin typeface="Times New Roman"/>
                <a:cs typeface="Times New Roman"/>
              </a:rPr>
              <a:t> to the </a:t>
            </a:r>
            <a:r>
              <a:rPr dirty="0" sz="1100" spc="-5">
                <a:latin typeface="Times New Roman"/>
                <a:cs typeface="Times New Roman"/>
              </a:rPr>
              <a:t>babbling,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</a:t>
            </a:r>
            <a:r>
              <a:rPr dirty="0" sz="1100">
                <a:latin typeface="Times New Roman"/>
                <a:cs typeface="Times New Roman"/>
              </a:rPr>
              <a:t> incoherent, as if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actually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interaction. Development </a:t>
            </a:r>
            <a:r>
              <a:rPr dirty="0" sz="1100">
                <a:latin typeface="Times New Roman"/>
                <a:cs typeface="Times New Roman"/>
              </a:rPr>
              <a:t>stages </a:t>
            </a:r>
            <a:r>
              <a:rPr dirty="0" sz="1100" spc="-5">
                <a:latin typeface="Times New Roman"/>
                <a:cs typeface="Times New Roman"/>
              </a:rPr>
              <a:t>are taken as approximate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are subject to variation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individual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six </a:t>
            </a:r>
            <a:r>
              <a:rPr dirty="0" sz="1100" spc="-5">
                <a:latin typeface="Times New Roman"/>
                <a:cs typeface="Times New Roman"/>
              </a:rPr>
              <a:t>months’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One-Word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twelve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eighteen months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produces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recognizable </a:t>
            </a:r>
            <a:r>
              <a:rPr dirty="0" sz="1100">
                <a:latin typeface="Times New Roman"/>
                <a:cs typeface="Times New Roman"/>
              </a:rPr>
              <a:t>single-unit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utterances.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single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everyday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objects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‘Cookie’,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‘Cat’,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‘Cup’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‘Spoon’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(usually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[pun]).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forms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such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[ʌsæ]:</a:t>
            </a:r>
            <a:r>
              <a:rPr dirty="0" sz="1100" spc="13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‘What’s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that’,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‘one-word’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misleading,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‘single-unit’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Holophrastic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143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 be </a:t>
            </a:r>
            <a:r>
              <a:rPr dirty="0" sz="1100" spc="-5">
                <a:latin typeface="Times New Roman"/>
                <a:cs typeface="Times New Roman"/>
              </a:rPr>
              <a:t>analyzed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word,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phrase,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sentence. Holophrastic utterances seem </a:t>
            </a:r>
            <a:r>
              <a:rPr dirty="0" sz="1100">
                <a:latin typeface="Times New Roman"/>
                <a:cs typeface="Times New Roman"/>
              </a:rPr>
              <a:t>to be used </a:t>
            </a:r>
            <a:r>
              <a:rPr dirty="0" sz="1100" spc="-5">
                <a:latin typeface="Times New Roman"/>
                <a:cs typeface="Times New Roman"/>
              </a:rPr>
              <a:t>to name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circumstances 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>
                <a:latin typeface="Times New Roman"/>
                <a:cs typeface="Times New Roman"/>
              </a:rPr>
              <a:t> extending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use.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An empty </a:t>
            </a:r>
            <a:r>
              <a:rPr dirty="0" sz="1100">
                <a:latin typeface="Times New Roman"/>
                <a:cs typeface="Times New Roman"/>
              </a:rPr>
              <a:t>bed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elicit </a:t>
            </a:r>
            <a:r>
              <a:rPr dirty="0" sz="1100" spc="-5">
                <a:latin typeface="Times New Roman"/>
                <a:cs typeface="Times New Roman"/>
              </a:rPr>
              <a:t>the name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sister </a:t>
            </a:r>
            <a:r>
              <a:rPr dirty="0" sz="1100" spc="-10">
                <a:latin typeface="Times New Roman"/>
                <a:cs typeface="Times New Roman"/>
              </a:rPr>
              <a:t>who </a:t>
            </a:r>
            <a:r>
              <a:rPr dirty="0" sz="1100" spc="-5">
                <a:latin typeface="Times New Roman"/>
                <a:cs typeface="Times New Roman"/>
              </a:rPr>
              <a:t>normally sleeps </a:t>
            </a:r>
            <a:r>
              <a:rPr dirty="0" sz="1100">
                <a:latin typeface="Times New Roman"/>
                <a:cs typeface="Times New Roman"/>
              </a:rPr>
              <a:t>in the bed,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absence </a:t>
            </a:r>
            <a:r>
              <a:rPr dirty="0" sz="1100">
                <a:latin typeface="Times New Roman"/>
                <a:cs typeface="Times New Roman"/>
              </a:rPr>
              <a:t> of the </a:t>
            </a:r>
            <a:r>
              <a:rPr dirty="0" sz="1100" spc="-5">
                <a:latin typeface="Times New Roman"/>
                <a:cs typeface="Times New Roman"/>
              </a:rPr>
              <a:t>person named. During </a:t>
            </a:r>
            <a:r>
              <a:rPr dirty="0" sz="1100">
                <a:latin typeface="Times New Roman"/>
                <a:cs typeface="Times New Roman"/>
              </a:rPr>
              <a:t>this stage </a:t>
            </a:r>
            <a:r>
              <a:rPr dirty="0" sz="1100" spc="-5">
                <a:latin typeface="Times New Roman"/>
                <a:cs typeface="Times New Roman"/>
              </a:rPr>
              <a:t>the child may </a:t>
            </a:r>
            <a:r>
              <a:rPr dirty="0" sz="1100" spc="5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capable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referring to Karen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bed,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ready </a:t>
            </a:r>
            <a:r>
              <a:rPr dirty="0" sz="1100">
                <a:latin typeface="Times New Roman"/>
                <a:cs typeface="Times New Roman"/>
              </a:rPr>
              <a:t>to put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together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more 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over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expectation from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toddler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thing.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>
                <a:latin typeface="Times New Roman"/>
                <a:cs typeface="Times New Roman"/>
              </a:rPr>
              <a:t> walk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stagger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downstairs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backwards.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Two-Word Stage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This stage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dependent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what we count </a:t>
            </a:r>
            <a:r>
              <a:rPr dirty="0" sz="1100">
                <a:latin typeface="Times New Roman"/>
                <a:cs typeface="Times New Roman"/>
              </a:rPr>
              <a:t>as an </a:t>
            </a:r>
            <a:r>
              <a:rPr dirty="0" sz="1100" spc="-5">
                <a:latin typeface="Times New Roman"/>
                <a:cs typeface="Times New Roman"/>
              </a:rPr>
              <a:t>occurrence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two distinct words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together.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begins around </a:t>
            </a:r>
            <a:r>
              <a:rPr dirty="0" sz="1100" spc="-5">
                <a:latin typeface="Times New Roman"/>
                <a:cs typeface="Times New Roman"/>
              </a:rPr>
              <a:t>eighteen </a:t>
            </a:r>
            <a:r>
              <a:rPr dirty="0" sz="1100">
                <a:latin typeface="Times New Roman"/>
                <a:cs typeface="Times New Roman"/>
              </a:rPr>
              <a:t>to twenty </a:t>
            </a:r>
            <a:r>
              <a:rPr dirty="0" sz="1100" spc="-5">
                <a:latin typeface="Times New Roman"/>
                <a:cs typeface="Times New Roman"/>
              </a:rPr>
              <a:t>months.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child’s vocabulary moves </a:t>
            </a:r>
            <a:r>
              <a:rPr dirty="0" sz="1100">
                <a:latin typeface="Times New Roman"/>
                <a:cs typeface="Times New Roman"/>
              </a:rPr>
              <a:t>beyond </a:t>
            </a:r>
            <a:r>
              <a:rPr dirty="0" sz="1100" spc="-5">
                <a:latin typeface="Times New Roman"/>
                <a:cs typeface="Times New Roman"/>
              </a:rPr>
              <a:t>ﬁfty </a:t>
            </a:r>
            <a:r>
              <a:rPr dirty="0" sz="1100">
                <a:latin typeface="Times New Roman"/>
                <a:cs typeface="Times New Roman"/>
              </a:rPr>
              <a:t>words. </a:t>
            </a:r>
            <a:r>
              <a:rPr dirty="0" sz="1100" spc="-5">
                <a:latin typeface="Times New Roman"/>
                <a:cs typeface="Times New Roman"/>
              </a:rPr>
              <a:t>By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 </a:t>
            </a:r>
            <a:r>
              <a:rPr dirty="0" sz="1100">
                <a:latin typeface="Times New Roman"/>
                <a:cs typeface="Times New Roman"/>
              </a:rPr>
              <a:t>old, the </a:t>
            </a:r>
            <a:r>
              <a:rPr dirty="0" sz="1100" spc="-5">
                <a:latin typeface="Times New Roman"/>
                <a:cs typeface="Times New Roman"/>
              </a:rPr>
              <a:t>child starts uttering </a:t>
            </a:r>
            <a:r>
              <a:rPr dirty="0" sz="1100">
                <a:latin typeface="Times New Roman"/>
                <a:cs typeface="Times New Roman"/>
              </a:rPr>
              <a:t>a variety of </a:t>
            </a:r>
            <a:r>
              <a:rPr dirty="0" sz="1100" spc="-5">
                <a:latin typeface="Times New Roman"/>
                <a:cs typeface="Times New Roman"/>
              </a:rPr>
              <a:t>combinations, similar </a:t>
            </a:r>
            <a:r>
              <a:rPr dirty="0" sz="1100">
                <a:latin typeface="Times New Roman"/>
                <a:cs typeface="Times New Roman"/>
              </a:rPr>
              <a:t>to: </a:t>
            </a:r>
            <a:r>
              <a:rPr dirty="0" sz="1100" spc="-5">
                <a:latin typeface="Times New Roman"/>
                <a:cs typeface="Times New Roman"/>
              </a:rPr>
              <a:t>Baby </a:t>
            </a:r>
            <a:r>
              <a:rPr dirty="0" sz="1100">
                <a:latin typeface="Times New Roman"/>
                <a:cs typeface="Times New Roman"/>
              </a:rPr>
              <a:t>chair, </a:t>
            </a:r>
            <a:r>
              <a:rPr dirty="0" sz="1100" spc="-10">
                <a:latin typeface="Times New Roman"/>
                <a:cs typeface="Times New Roman"/>
              </a:rPr>
              <a:t>mommy </a:t>
            </a:r>
            <a:r>
              <a:rPr dirty="0" sz="1100">
                <a:latin typeface="Times New Roman"/>
                <a:cs typeface="Times New Roman"/>
              </a:rPr>
              <a:t>eat, </a:t>
            </a:r>
            <a:r>
              <a:rPr dirty="0" sz="1100" spc="-5">
                <a:latin typeface="Times New Roman"/>
                <a:cs typeface="Times New Roman"/>
              </a:rPr>
              <a:t>cat bad </a:t>
            </a:r>
            <a:r>
              <a:rPr dirty="0" sz="1100">
                <a:latin typeface="Times New Roman"/>
                <a:cs typeface="Times New Roman"/>
              </a:rPr>
              <a:t> etc.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0206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620" indent="45656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adult interpretation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combinations is very much </a:t>
            </a:r>
            <a:r>
              <a:rPr dirty="0" sz="1100">
                <a:latin typeface="Times New Roman"/>
                <a:cs typeface="Times New Roman"/>
              </a:rPr>
              <a:t>tied to the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utterance.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expression depends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different circumstances: </a:t>
            </a:r>
            <a:r>
              <a:rPr dirty="0" sz="1100">
                <a:latin typeface="Times New Roman"/>
                <a:cs typeface="Times New Roman"/>
              </a:rPr>
              <a:t>‘Baby </a:t>
            </a:r>
            <a:r>
              <a:rPr dirty="0" sz="1100" spc="-5">
                <a:latin typeface="Times New Roman"/>
                <a:cs typeface="Times New Roman"/>
              </a:rPr>
              <a:t>chair’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expression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possession, (This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baby’s </a:t>
            </a:r>
            <a:r>
              <a:rPr dirty="0" sz="1100" spc="-5">
                <a:latin typeface="Times New Roman"/>
                <a:cs typeface="Times New Roman"/>
              </a:rPr>
              <a:t>chair),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request,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chair),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(Baby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chair).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Whatever</a:t>
            </a:r>
            <a:r>
              <a:rPr dirty="0" sz="1100">
                <a:latin typeface="Times New Roman"/>
                <a:cs typeface="Times New Roman"/>
              </a:rPr>
              <a:t> it is that </a:t>
            </a:r>
            <a:r>
              <a:rPr dirty="0" sz="1100" spc="-5">
                <a:latin typeface="Times New Roman"/>
                <a:cs typeface="Times New Roman"/>
              </a:rPr>
              <a:t>the child actually </a:t>
            </a:r>
            <a:r>
              <a:rPr dirty="0" sz="1100">
                <a:latin typeface="Times New Roman"/>
                <a:cs typeface="Times New Roman"/>
              </a:rPr>
              <a:t>intends to </a:t>
            </a:r>
            <a:r>
              <a:rPr dirty="0" sz="1100" spc="-5">
                <a:latin typeface="Times New Roman"/>
                <a:cs typeface="Times New Roman"/>
              </a:rPr>
              <a:t>communicate through </a:t>
            </a:r>
            <a:r>
              <a:rPr dirty="0" sz="1100">
                <a:latin typeface="Times New Roman"/>
                <a:cs typeface="Times New Roman"/>
              </a:rPr>
              <a:t>such expressions,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signiﬁcant functional consequences are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adult behaves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if communication </a:t>
            </a:r>
            <a:r>
              <a:rPr dirty="0" sz="1100">
                <a:latin typeface="Times New Roman"/>
                <a:cs typeface="Times New Roman"/>
              </a:rPr>
              <a:t>is taking </a:t>
            </a:r>
            <a:r>
              <a:rPr dirty="0" sz="1100" spc="-5">
                <a:latin typeface="Times New Roman"/>
                <a:cs typeface="Times New Roman"/>
              </a:rPr>
              <a:t>place.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produces </a:t>
            </a:r>
            <a:r>
              <a:rPr dirty="0" sz="1100" spc="-5">
                <a:latin typeface="Times New Roman"/>
                <a:cs typeface="Times New Roman"/>
              </a:rPr>
              <a:t>speech, but also receives </a:t>
            </a:r>
            <a:r>
              <a:rPr dirty="0" sz="1100">
                <a:latin typeface="Times New Roman"/>
                <a:cs typeface="Times New Roman"/>
              </a:rPr>
              <a:t>feedback </a:t>
            </a:r>
            <a:r>
              <a:rPr dirty="0" sz="1100" spc="-5">
                <a:latin typeface="Times New Roman"/>
                <a:cs typeface="Times New Roman"/>
              </a:rPr>
              <a:t>conﬁrming </a:t>
            </a:r>
            <a:r>
              <a:rPr dirty="0" sz="1100">
                <a:latin typeface="Times New Roman"/>
                <a:cs typeface="Times New Roman"/>
              </a:rPr>
              <a:t>that the utterance </a:t>
            </a:r>
            <a:r>
              <a:rPr dirty="0" sz="1100" spc="-5">
                <a:latin typeface="Times New Roman"/>
                <a:cs typeface="Times New Roman"/>
              </a:rPr>
              <a:t>worked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300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‘words’,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capable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many.</a:t>
            </a:r>
            <a:r>
              <a:rPr dirty="0" sz="1100">
                <a:latin typeface="Times New Roman"/>
                <a:cs typeface="Times New Roman"/>
              </a:rPr>
              <a:t> Typically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he/she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treated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entertaining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 partner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226: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Telegraphic Speech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two and two-and-a-half years </a:t>
            </a:r>
            <a:r>
              <a:rPr dirty="0" sz="1100">
                <a:latin typeface="Times New Roman"/>
                <a:cs typeface="Times New Roman"/>
              </a:rPr>
              <a:t>old, </a:t>
            </a:r>
            <a:r>
              <a:rPr dirty="0" sz="1100" spc="-5">
                <a:latin typeface="Times New Roman"/>
                <a:cs typeface="Times New Roman"/>
              </a:rPr>
              <a:t>the child starts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utterances that could 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classiﬁed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“multiple-word” speech.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salient feature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utterances </a:t>
            </a:r>
            <a:r>
              <a:rPr dirty="0" sz="1100">
                <a:latin typeface="Times New Roman"/>
                <a:cs typeface="Times New Roman"/>
              </a:rPr>
              <a:t>ceases to be the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words, </a:t>
            </a:r>
            <a:r>
              <a:rPr dirty="0" sz="1100" spc="-5">
                <a:latin typeface="Times New Roman"/>
                <a:cs typeface="Times New Roman"/>
              </a:rPr>
              <a:t>but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variation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that begins to appear.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stage characterized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strings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(lexical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as: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shoe</a:t>
            </a:r>
            <a:r>
              <a:rPr dirty="0" sz="1100" spc="-10">
                <a:latin typeface="Times New Roman"/>
                <a:cs typeface="Times New Roman"/>
              </a:rPr>
              <a:t> all</a:t>
            </a:r>
            <a:r>
              <a:rPr dirty="0" sz="1100" spc="-5">
                <a:latin typeface="Times New Roman"/>
                <a:cs typeface="Times New Roman"/>
              </a:rPr>
              <a:t> wet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milk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Daddy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bye-bye.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order correct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8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telegram-format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inﬂections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appear,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word</a:t>
            </a:r>
            <a:r>
              <a:rPr dirty="0" sz="1100" spc="-10">
                <a:latin typeface="Times New Roman"/>
                <a:cs typeface="Times New Roman"/>
              </a:rPr>
              <a:t> forms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on).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two-and-a-half,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expanding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rapidly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talk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r>
              <a:rPr dirty="0" sz="1100">
                <a:latin typeface="Times New Roman"/>
                <a:cs typeface="Times New Roman"/>
              </a:rPr>
              <a:t> includes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running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jumping.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grown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hundreds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and pronunciation has become closer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adult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worth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inﬂuence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Summary/Discussion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1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well-known</a:t>
            </a:r>
            <a:r>
              <a:rPr dirty="0" sz="1100">
                <a:latin typeface="Times New Roman"/>
                <a:cs typeface="Times New Roman"/>
              </a:rPr>
              <a:t> studies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suggest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social-class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>
                <a:latin typeface="Times New Roman"/>
                <a:cs typeface="Times New Roman"/>
              </a:rPr>
              <a:t> 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Betty </a:t>
            </a:r>
            <a:r>
              <a:rPr dirty="0" sz="1100">
                <a:latin typeface="Times New Roman"/>
                <a:cs typeface="Times New Roman"/>
              </a:rPr>
              <a:t>Hart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Todd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Risley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remark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meaningful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>
                <a:latin typeface="Times New Roman"/>
                <a:cs typeface="Times New Roman"/>
              </a:rPr>
              <a:t> in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everyday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young American Children. By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3 </a:t>
            </a:r>
            <a:r>
              <a:rPr dirty="0" sz="1100" spc="-5">
                <a:latin typeface="Times New Roman"/>
                <a:cs typeface="Times New Roman"/>
              </a:rPr>
              <a:t>years,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children from privileged families have </a:t>
            </a:r>
            <a:r>
              <a:rPr dirty="0" sz="1100">
                <a:latin typeface="Times New Roman"/>
                <a:cs typeface="Times New Roman"/>
              </a:rPr>
              <a:t> heard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underprivileged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Longitudinal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42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 has been examined that showed enormous differences in the rates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vocabulary growth.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stature,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level,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interaction styles.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researchers think </a:t>
            </a:r>
            <a:r>
              <a:rPr dirty="0" sz="1100">
                <a:latin typeface="Times New Roman"/>
                <a:cs typeface="Times New Roman"/>
              </a:rPr>
              <a:t>that 42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not a </a:t>
            </a:r>
            <a:r>
              <a:rPr dirty="0" sz="1100" spc="-5">
                <a:latin typeface="Times New Roman"/>
                <a:cs typeface="Times New Roman"/>
              </a:rPr>
              <a:t>very large </a:t>
            </a:r>
            <a:r>
              <a:rPr dirty="0" sz="1100">
                <a:latin typeface="Times New Roman"/>
                <a:cs typeface="Times New Roman"/>
              </a:rPr>
              <a:t>sample, and </a:t>
            </a: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635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children's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socio-economic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status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0270" cy="8074659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Lesson-40</a:t>
            </a:r>
            <a:endParaRPr sz="1400">
              <a:latin typeface="Times New Roman"/>
              <a:cs typeface="Times New Roman"/>
            </a:endParaRPr>
          </a:p>
          <a:p>
            <a:pPr marL="1693545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FIRST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LANGUAGE ACQUISITION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II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228: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Acquisition Process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linguistic repertoire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child increases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passage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time.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question arises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 the child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being </a:t>
            </a:r>
            <a:r>
              <a:rPr dirty="0" sz="1100">
                <a:latin typeface="Times New Roman"/>
                <a:cs typeface="Times New Roman"/>
              </a:rPr>
              <a:t>taught or </a:t>
            </a:r>
            <a:r>
              <a:rPr dirty="0" sz="1100" spc="-5">
                <a:latin typeface="Times New Roman"/>
                <a:cs typeface="Times New Roman"/>
              </a:rPr>
              <a:t>not.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idea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child 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really </a:t>
            </a:r>
            <a:r>
              <a:rPr dirty="0" sz="1100">
                <a:latin typeface="Times New Roman"/>
                <a:cs typeface="Times New Roman"/>
              </a:rPr>
              <a:t>supported by </a:t>
            </a:r>
            <a:r>
              <a:rPr dirty="0" sz="1100" spc="-5">
                <a:latin typeface="Times New Roman"/>
                <a:cs typeface="Times New Roman"/>
              </a:rPr>
              <a:t>what the child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 </a:t>
            </a:r>
            <a:r>
              <a:rPr dirty="0" sz="1100">
                <a:latin typeface="Times New Roman"/>
                <a:cs typeface="Times New Roman"/>
              </a:rPr>
              <a:t>does.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vast majority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children;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one provides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instruction about </a:t>
            </a:r>
            <a:r>
              <a:rPr dirty="0" sz="1100">
                <a:latin typeface="Times New Roman"/>
                <a:cs typeface="Times New Roman"/>
              </a:rPr>
              <a:t>how to speak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nor </a:t>
            </a:r>
            <a:r>
              <a:rPr dirty="0" sz="1100" spc="-5">
                <a:latin typeface="Times New Roman"/>
                <a:cs typeface="Times New Roman"/>
              </a:rPr>
              <a:t>should we picture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little empty </a:t>
            </a:r>
            <a:r>
              <a:rPr dirty="0" sz="1100">
                <a:latin typeface="Times New Roman"/>
                <a:cs typeface="Times New Roman"/>
              </a:rPr>
              <a:t>head </a:t>
            </a:r>
            <a:r>
              <a:rPr dirty="0" sz="1100" spc="-5">
                <a:latin typeface="Times New Roman"/>
                <a:cs typeface="Times New Roman"/>
              </a:rPr>
              <a:t>gradually </a:t>
            </a:r>
            <a:r>
              <a:rPr dirty="0" sz="1100">
                <a:latin typeface="Times New Roman"/>
                <a:cs typeface="Times New Roman"/>
              </a:rPr>
              <a:t>being </a:t>
            </a:r>
            <a:r>
              <a:rPr dirty="0" sz="1100" spc="-5">
                <a:latin typeface="Times New Roman"/>
                <a:cs typeface="Times New Roman"/>
              </a:rPr>
              <a:t>ﬁlled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phrases.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 highlighted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actively </a:t>
            </a:r>
            <a:r>
              <a:rPr dirty="0" sz="1100">
                <a:latin typeface="Times New Roman"/>
                <a:cs typeface="Times New Roman"/>
              </a:rPr>
              <a:t>construct </a:t>
            </a:r>
            <a:r>
              <a:rPr dirty="0" sz="1100" spc="-5">
                <a:latin typeface="Times New Roman"/>
                <a:cs typeface="Times New Roman"/>
              </a:rPr>
              <a:t>from what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said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possible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child’s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mostly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work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not. A child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simply imitating adult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 hears and </a:t>
            </a:r>
            <a:r>
              <a:rPr dirty="0" sz="1100">
                <a:latin typeface="Times New Roman"/>
                <a:cs typeface="Times New Roman"/>
              </a:rPr>
              <a:t>repeats </a:t>
            </a:r>
            <a:r>
              <a:rPr dirty="0" sz="1100" spc="-5">
                <a:latin typeface="Times New Roman"/>
                <a:cs typeface="Times New Roman"/>
              </a:rPr>
              <a:t>versions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sayings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different occasions. Adults simply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not produce many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turn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children’s speech.</a:t>
            </a:r>
            <a:r>
              <a:rPr dirty="0" sz="1100">
                <a:latin typeface="Times New Roman"/>
                <a:cs typeface="Times New Roman"/>
              </a:rPr>
              <a:t> 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two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469265" marR="760095">
              <a:lnSpc>
                <a:spcPct val="110900"/>
              </a:lnSpc>
            </a:pPr>
            <a:r>
              <a:rPr dirty="0" sz="1100" spc="-10">
                <a:latin typeface="Times New Roman"/>
                <a:cs typeface="Times New Roman"/>
              </a:rPr>
              <a:t>NOAH: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(picking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Woodstock.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(He </a:t>
            </a:r>
            <a:r>
              <a:rPr dirty="0" sz="1100">
                <a:latin typeface="Times New Roman"/>
                <a:cs typeface="Times New Roman"/>
              </a:rPr>
              <a:t>bobs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Adam’s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ADAM: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Woodstock,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that.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(Noah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persists)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ADAM: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>
                <a:latin typeface="Times New Roman"/>
                <a:cs typeface="Times New Roman"/>
              </a:rPr>
              <a:t> 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won’t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Woodstock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endParaRPr sz="1100">
              <a:latin typeface="Times New Roman"/>
              <a:cs typeface="Times New Roman"/>
            </a:endParaRPr>
          </a:p>
          <a:p>
            <a:pPr marL="469265" marR="185928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teacher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holded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baby rabbits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patted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them.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MOTHER: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say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rabbits?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MOTHER: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 you say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-5">
                <a:latin typeface="Times New Roman"/>
                <a:cs typeface="Times New Roman"/>
              </a:rPr>
              <a:t> did?</a:t>
            </a:r>
            <a:endParaRPr sz="1100">
              <a:latin typeface="Times New Roman"/>
              <a:cs typeface="Times New Roman"/>
            </a:endParaRPr>
          </a:p>
          <a:p>
            <a:pPr marL="469265" marR="2282190">
              <a:lnSpc>
                <a:spcPts val="1450"/>
              </a:lnSpc>
              <a:spcBef>
                <a:spcPts val="70"/>
              </a:spcBef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>
                <a:latin typeface="Times New Roman"/>
                <a:cs typeface="Times New Roman"/>
              </a:rPr>
              <a:t> She holded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rabbits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patted</a:t>
            </a:r>
            <a:r>
              <a:rPr dirty="0" sz="1100" spc="-10">
                <a:latin typeface="Times New Roman"/>
                <a:cs typeface="Times New Roman"/>
              </a:rPr>
              <a:t> them.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MOTHER: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say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tightly?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0"/>
              </a:spcBef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>
                <a:latin typeface="Times New Roman"/>
                <a:cs typeface="Times New Roman"/>
              </a:rPr>
              <a:t> she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holded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loosely.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016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wordplay,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229: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Developing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By two-and-a-half years old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is beyond telegraphic speech </a:t>
            </a:r>
            <a:r>
              <a:rPr dirty="0" sz="1100" spc="-5">
                <a:latin typeface="Times New Roman"/>
                <a:cs typeface="Times New Roman"/>
              </a:rPr>
              <a:t>forms. He/she incorporates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inﬂectional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indicate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 spc="5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 marL="12700" marR="530860">
              <a:lnSpc>
                <a:spcPts val="146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First, the </a:t>
            </a:r>
            <a:r>
              <a:rPr dirty="0" sz="1100" spc="-5">
                <a:latin typeface="Times New Roman"/>
                <a:cs typeface="Times New Roman"/>
              </a:rPr>
              <a:t>child uses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-ing </a:t>
            </a:r>
            <a:r>
              <a:rPr dirty="0" sz="1100">
                <a:latin typeface="Times New Roman"/>
                <a:cs typeface="Times New Roman"/>
              </a:rPr>
              <a:t>form in expressions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as: </a:t>
            </a:r>
            <a:r>
              <a:rPr dirty="0" sz="1100" spc="-5">
                <a:latin typeface="Times New Roman"/>
                <a:cs typeface="Times New Roman"/>
              </a:rPr>
              <a:t>cat sitting, mommy </a:t>
            </a:r>
            <a:r>
              <a:rPr dirty="0" sz="1100">
                <a:latin typeface="Times New Roman"/>
                <a:cs typeface="Times New Roman"/>
              </a:rPr>
              <a:t>reading book etc.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Secondly,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-s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used;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</a:t>
            </a:r>
            <a:r>
              <a:rPr dirty="0" sz="1100">
                <a:latin typeface="Times New Roman"/>
                <a:cs typeface="Times New Roman"/>
              </a:rPr>
              <a:t> and cats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plural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often accompanied </a:t>
            </a:r>
            <a:r>
              <a:rPr dirty="0" sz="1100">
                <a:latin typeface="Times New Roman"/>
                <a:cs typeface="Times New Roman"/>
              </a:rPr>
              <a:t>by a process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overgeneralization. </a:t>
            </a:r>
            <a:r>
              <a:rPr dirty="0" sz="1100">
                <a:latin typeface="Times New Roman"/>
                <a:cs typeface="Times New Roman"/>
              </a:rPr>
              <a:t> S/he </a:t>
            </a:r>
            <a:r>
              <a:rPr dirty="0" sz="1100" spc="-5">
                <a:latin typeface="Times New Roman"/>
                <a:cs typeface="Times New Roman"/>
              </a:rPr>
              <a:t>uses </a:t>
            </a:r>
            <a:r>
              <a:rPr dirty="0" sz="1100" spc="-10">
                <a:latin typeface="Times New Roman"/>
                <a:cs typeface="Times New Roman"/>
              </a:rPr>
              <a:t>-s </a:t>
            </a:r>
            <a:r>
              <a:rPr dirty="0" sz="1100">
                <a:latin typeface="Times New Roman"/>
                <a:cs typeface="Times New Roman"/>
              </a:rPr>
              <a:t>to form </a:t>
            </a:r>
            <a:r>
              <a:rPr dirty="0" sz="1100" spc="-5">
                <a:latin typeface="Times New Roman"/>
                <a:cs typeface="Times New Roman"/>
              </a:rPr>
              <a:t>plurals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talk about foots and mans.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alternative pronunciation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 morpheme </a:t>
            </a:r>
            <a:r>
              <a:rPr dirty="0" sz="1100">
                <a:latin typeface="Times New Roman"/>
                <a:cs typeface="Times New Roman"/>
              </a:rPr>
              <a:t>used in </a:t>
            </a:r>
            <a:r>
              <a:rPr dirty="0" sz="1100" spc="-5">
                <a:latin typeface="Times New Roman"/>
                <a:cs typeface="Times New Roman"/>
              </a:rPr>
              <a:t>houses (i.e., </a:t>
            </a:r>
            <a:r>
              <a:rPr dirty="0" sz="1100">
                <a:latin typeface="Times New Roman"/>
                <a:cs typeface="Times New Roman"/>
              </a:rPr>
              <a:t>ending in </a:t>
            </a:r>
            <a:r>
              <a:rPr dirty="0" sz="1100" spc="-5">
                <a:latin typeface="Times New Roman"/>
                <a:cs typeface="Times New Roman"/>
              </a:rPr>
              <a:t>[-əz])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overgeneralize application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footses. </a:t>
            </a:r>
            <a:r>
              <a:rPr dirty="0" sz="1100">
                <a:latin typeface="Times New Roman"/>
                <a:cs typeface="Times New Roman"/>
              </a:rPr>
              <a:t>Along </a:t>
            </a:r>
            <a:r>
              <a:rPr dirty="0" sz="1100" spc="-5">
                <a:latin typeface="Times New Roman"/>
                <a:cs typeface="Times New Roman"/>
              </a:rPr>
              <a:t>with overgeneralization, </a:t>
            </a:r>
            <a:r>
              <a:rPr dirty="0" sz="1100" spc="-10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irregular plurals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men which are quite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mens </a:t>
            </a:r>
            <a:r>
              <a:rPr dirty="0" sz="1100">
                <a:latin typeface="Times New Roman"/>
                <a:cs typeface="Times New Roman"/>
              </a:rPr>
              <a:t>and two </a:t>
            </a:r>
            <a:r>
              <a:rPr dirty="0" sz="1100" spc="-5">
                <a:latin typeface="Times New Roman"/>
                <a:cs typeface="Times New Roman"/>
              </a:rPr>
              <a:t>feets,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feetses.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0111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985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–s,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possessive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inﬂection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-’s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girl’s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Mummy’s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time, different forms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verb “to be,” such </a:t>
            </a:r>
            <a:r>
              <a:rPr dirty="0" sz="1100">
                <a:latin typeface="Times New Roman"/>
                <a:cs typeface="Times New Roman"/>
              </a:rPr>
              <a:t>as are and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 spc="1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started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used.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appearance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forms such as was </a:t>
            </a:r>
            <a:r>
              <a:rPr dirty="0" sz="1100">
                <a:latin typeface="Times New Roman"/>
                <a:cs typeface="Times New Roman"/>
              </a:rPr>
              <a:t>and, </a:t>
            </a:r>
            <a:r>
              <a:rPr dirty="0" sz="1100" spc="-5">
                <a:latin typeface="Times New Roman"/>
                <a:cs typeface="Times New Roman"/>
              </a:rPr>
              <a:t>at about the same time, went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came </a:t>
            </a:r>
            <a:r>
              <a:rPr dirty="0" sz="1100">
                <a:latin typeface="Times New Roman"/>
                <a:cs typeface="Times New Roman"/>
              </a:rPr>
              <a:t>should be noted.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irregular past-tense forms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expect to hear </a:t>
            </a:r>
            <a:r>
              <a:rPr dirty="0" sz="1100" spc="-5">
                <a:latin typeface="Times New Roman"/>
                <a:cs typeface="Times New Roman"/>
              </a:rPr>
              <a:t>before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regular forms,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appearance </a:t>
            </a:r>
            <a:r>
              <a:rPr dirty="0" sz="1100">
                <a:latin typeface="Times New Roman"/>
                <a:cs typeface="Times New Roman"/>
              </a:rPr>
              <a:t> of the </a:t>
            </a:r>
            <a:r>
              <a:rPr dirty="0" sz="1100" spc="-5">
                <a:latin typeface="Times New Roman"/>
                <a:cs typeface="Times New Roman"/>
              </a:rPr>
              <a:t>-ed inﬂection. Once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regular past-tense forms (walked, played) begin appearing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child’s </a:t>
            </a:r>
            <a:r>
              <a:rPr dirty="0" sz="1100">
                <a:latin typeface="Times New Roman"/>
                <a:cs typeface="Times New Roman"/>
              </a:rPr>
              <a:t> speech, </a:t>
            </a:r>
            <a:r>
              <a:rPr dirty="0" sz="1100" spc="-5">
                <a:latin typeface="Times New Roman"/>
                <a:cs typeface="Times New Roman"/>
              </a:rPr>
              <a:t>the irregular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disappear for a </a:t>
            </a:r>
            <a:r>
              <a:rPr dirty="0" sz="1100" spc="-5">
                <a:latin typeface="Times New Roman"/>
                <a:cs typeface="Times New Roman"/>
              </a:rPr>
              <a:t>while, replaced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overgeneralized versions such as goed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comed.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oddities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walkeded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disappear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till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 start distinguishing which forms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regular </a:t>
            </a:r>
            <a:r>
              <a:rPr dirty="0" sz="1100">
                <a:latin typeface="Times New Roman"/>
                <a:cs typeface="Times New Roman"/>
              </a:rPr>
              <a:t>and which </a:t>
            </a:r>
            <a:r>
              <a:rPr dirty="0" sz="1100" spc="-5">
                <a:latin typeface="Times New Roman"/>
                <a:cs typeface="Times New Roman"/>
              </a:rPr>
              <a:t>are not. </a:t>
            </a:r>
            <a:r>
              <a:rPr dirty="0" sz="1100">
                <a:latin typeface="Times New Roman"/>
                <a:cs typeface="Times New Roman"/>
              </a:rPr>
              <a:t>The regular-s </a:t>
            </a:r>
            <a:r>
              <a:rPr dirty="0" sz="1100" spc="-5">
                <a:latin typeface="Times New Roman"/>
                <a:cs typeface="Times New Roman"/>
              </a:rPr>
              <a:t>marker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third person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 present-tense verbs appears.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occurs </a:t>
            </a:r>
            <a:r>
              <a:rPr dirty="0" sz="1100" spc="-5">
                <a:latin typeface="Times New Roman"/>
                <a:cs typeface="Times New Roman"/>
              </a:rPr>
              <a:t>ﬁrst with full verbs like comes, looks </a:t>
            </a:r>
            <a:r>
              <a:rPr dirty="0" sz="1100">
                <a:latin typeface="Times New Roman"/>
                <a:cs typeface="Times New Roman"/>
              </a:rPr>
              <a:t>etc. and </a:t>
            </a:r>
            <a:r>
              <a:rPr dirty="0" sz="1100" spc="-5">
                <a:latin typeface="Times New Roman"/>
                <a:cs typeface="Times New Roman"/>
              </a:rPr>
              <a:t>then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 </a:t>
            </a:r>
            <a:r>
              <a:rPr dirty="0" sz="1100" spc="-5">
                <a:latin typeface="Times New Roman"/>
                <a:cs typeface="Times New Roman"/>
              </a:rPr>
              <a:t>does,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great deal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variability is observed at this stage. Individual children may </a:t>
            </a:r>
            <a:r>
              <a:rPr dirty="0" sz="1100" spc="5">
                <a:latin typeface="Times New Roman"/>
                <a:cs typeface="Times New Roman"/>
              </a:rPr>
              <a:t>produce </a:t>
            </a:r>
            <a:r>
              <a:rPr dirty="0" sz="1100" spc="-5">
                <a:latin typeface="Times New Roman"/>
                <a:cs typeface="Times New Roman"/>
              </a:rPr>
              <a:t>‘good’ forms 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‘odd’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>
              <a:lnSpc>
                <a:spcPct val="1100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system </a:t>
            </a:r>
            <a:r>
              <a:rPr dirty="0" sz="1100" spc="-5">
                <a:latin typeface="Times New Roman"/>
                <a:cs typeface="Times New Roman"/>
              </a:rPr>
              <a:t>while </a:t>
            </a:r>
            <a:r>
              <a:rPr dirty="0" sz="1100">
                <a:latin typeface="Times New Roman"/>
                <a:cs typeface="Times New Roman"/>
              </a:rPr>
              <a:t>focusing on communication </a:t>
            </a:r>
            <a:r>
              <a:rPr dirty="0" sz="1100" spc="-5">
                <a:latin typeface="Times New Roman"/>
                <a:cs typeface="Times New Roman"/>
              </a:rPr>
              <a:t>and interaction rather than correctness.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parents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insist that the child didn’t hear such things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home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implicitly recognize that ‘imitation’ 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10">
                <a:latin typeface="Times New Roman"/>
                <a:cs typeface="Times New Roman"/>
              </a:rPr>
              <a:t>ﬁrst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230: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Developing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Syntax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‘imitation’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syntactic structures used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young </a:t>
            </a:r>
            <a:r>
              <a:rPr dirty="0" sz="1100">
                <a:latin typeface="Times New Roman"/>
                <a:cs typeface="Times New Roman"/>
              </a:rPr>
              <a:t>children. </a:t>
            </a:r>
            <a:r>
              <a:rPr dirty="0" sz="1100" spc="-5">
                <a:latin typeface="Times New Roman"/>
                <a:cs typeface="Times New Roman"/>
              </a:rPr>
              <a:t>One child, speciﬁcally asked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repeat what </a:t>
            </a:r>
            <a:r>
              <a:rPr dirty="0" sz="1100">
                <a:latin typeface="Times New Roman"/>
                <a:cs typeface="Times New Roman"/>
              </a:rPr>
              <a:t> she heard,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such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runs </a:t>
            </a:r>
            <a:r>
              <a:rPr dirty="0" sz="1100">
                <a:latin typeface="Times New Roman"/>
                <a:cs typeface="Times New Roman"/>
              </a:rPr>
              <a:t>fast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Owl </a:t>
            </a:r>
            <a:r>
              <a:rPr dirty="0" sz="1100">
                <a:latin typeface="Times New Roman"/>
                <a:cs typeface="Times New Roman"/>
              </a:rPr>
              <a:t>eat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candy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5">
                <a:latin typeface="Times New Roman"/>
                <a:cs typeface="Times New Roman"/>
              </a:rPr>
              <a:t> run fast.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just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numerous studies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syntax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children’s speech. </a:t>
            </a:r>
            <a:r>
              <a:rPr dirty="0" sz="1100">
                <a:latin typeface="Times New Roman"/>
                <a:cs typeface="Times New Roman"/>
              </a:rPr>
              <a:t>We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look at </a:t>
            </a:r>
            <a:r>
              <a:rPr dirty="0" sz="1100" spc="-5">
                <a:latin typeface="Times New Roman"/>
                <a:cs typeface="Times New Roman"/>
              </a:rPr>
              <a:t>the development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two structures that seem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acquired 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regular way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most English-speaking children.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formation of </a:t>
            </a:r>
            <a:r>
              <a:rPr dirty="0" sz="1100" spc="-5">
                <a:latin typeface="Times New Roman"/>
                <a:cs typeface="Times New Roman"/>
              </a:rPr>
              <a:t>questions </a:t>
            </a:r>
            <a:r>
              <a:rPr dirty="0" sz="1100">
                <a:latin typeface="Times New Roman"/>
                <a:cs typeface="Times New Roman"/>
              </a:rPr>
              <a:t>and the use of </a:t>
            </a:r>
            <a:r>
              <a:rPr dirty="0" sz="1100" spc="-5">
                <a:latin typeface="Times New Roman"/>
                <a:cs typeface="Times New Roman"/>
              </a:rPr>
              <a:t>negatives, there </a:t>
            </a:r>
            <a:r>
              <a:rPr dirty="0" sz="1100">
                <a:latin typeface="Times New Roman"/>
                <a:cs typeface="Times New Roman"/>
              </a:rPr>
              <a:t>appear to be </a:t>
            </a:r>
            <a:r>
              <a:rPr dirty="0" sz="1100" spc="-5">
                <a:latin typeface="Times New Roman"/>
                <a:cs typeface="Times New Roman"/>
              </a:rPr>
              <a:t>three identiﬁable stages.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ages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vary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bit.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latin typeface="Times New Roman"/>
                <a:cs typeface="Times New Roman"/>
              </a:rPr>
              <a:t>Stage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1: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26 </a:t>
            </a:r>
            <a:r>
              <a:rPr dirty="0" sz="1100" spc="-5">
                <a:latin typeface="Times New Roman"/>
                <a:cs typeface="Times New Roman"/>
              </a:rPr>
              <a:t>months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latin typeface="Times New Roman"/>
                <a:cs typeface="Times New Roman"/>
              </a:rPr>
              <a:t>Stage </a:t>
            </a:r>
            <a:r>
              <a:rPr dirty="0" sz="1100" spc="-10">
                <a:latin typeface="Times New Roman"/>
                <a:cs typeface="Times New Roman"/>
              </a:rPr>
              <a:t>2: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22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30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months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latin typeface="Times New Roman"/>
                <a:cs typeface="Times New Roman"/>
              </a:rPr>
              <a:t>Stage </a:t>
            </a:r>
            <a:r>
              <a:rPr dirty="0" sz="1100" spc="-10">
                <a:latin typeface="Times New Roman"/>
                <a:cs typeface="Times New Roman"/>
              </a:rPr>
              <a:t>3: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24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40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months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overlap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go 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stages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rates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structures.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231: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Forming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9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child’s </a:t>
            </a:r>
            <a:r>
              <a:rPr dirty="0" sz="1100" spc="-10">
                <a:latin typeface="Times New Roman"/>
                <a:cs typeface="Times New Roman"/>
              </a:rPr>
              <a:t>ﬁrst </a:t>
            </a:r>
            <a:r>
              <a:rPr dirty="0" sz="1100" spc="-5">
                <a:latin typeface="Times New Roman"/>
                <a:cs typeface="Times New Roman"/>
              </a:rPr>
              <a:t>stage has two procedures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forming questions. Simply </a:t>
            </a:r>
            <a:r>
              <a:rPr dirty="0" sz="1100">
                <a:latin typeface="Times New Roman"/>
                <a:cs typeface="Times New Roman"/>
              </a:rPr>
              <a:t>add a </a:t>
            </a:r>
            <a:r>
              <a:rPr dirty="0" sz="1100" spc="-5">
                <a:latin typeface="Times New Roman"/>
                <a:cs typeface="Times New Roman"/>
              </a:rPr>
              <a:t>Wh-form (Where, </a:t>
            </a:r>
            <a:r>
              <a:rPr dirty="0" sz="1100">
                <a:latin typeface="Times New Roman"/>
                <a:cs typeface="Times New Roman"/>
              </a:rPr>
              <a:t> Who)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expression,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8528"/>
            <a:ext cx="5971540" cy="817753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kitty?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Doggie?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Sit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chair?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ts val="1460"/>
              </a:lnSpc>
              <a:spcBef>
                <a:spcPts val="6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formed,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Wh-forms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use,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smiling?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doggie?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stage,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1079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expressions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continues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noticeable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Wh-forms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smiling?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doggie?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third stage, the required movement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auxiliary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 questions </a:t>
            </a:r>
            <a:r>
              <a:rPr dirty="0" sz="1100">
                <a:latin typeface="Times New Roman"/>
                <a:cs typeface="Times New Roman"/>
              </a:rPr>
              <a:t>(I can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… </a:t>
            </a:r>
            <a:r>
              <a:rPr dirty="0" sz="1100">
                <a:latin typeface="Cambria Math"/>
                <a:cs typeface="Cambria Math"/>
              </a:rPr>
              <a:t>⇒ 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I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…?) is seen.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does </a:t>
            </a:r>
            <a:r>
              <a:rPr dirty="0" sz="1100" spc="-5">
                <a:latin typeface="Times New Roman"/>
                <a:cs typeface="Times New Roman"/>
              </a:rPr>
              <a:t>not automatically spread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 spc="-5" i="1">
                <a:latin typeface="Times New Roman"/>
                <a:cs typeface="Times New Roman"/>
              </a:rPr>
              <a:t>Wh-question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fact, </a:t>
            </a:r>
            <a:r>
              <a:rPr dirty="0" sz="1100" spc="-5">
                <a:latin typeface="Times New Roman"/>
                <a:cs typeface="Times New Roman"/>
              </a:rPr>
              <a:t>some children </a:t>
            </a:r>
            <a:r>
              <a:rPr dirty="0" sz="1100">
                <a:latin typeface="Times New Roman"/>
                <a:cs typeface="Times New Roman"/>
              </a:rPr>
              <a:t> beginning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their ﬁfth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sixth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>
                <a:latin typeface="Times New Roman"/>
                <a:cs typeface="Times New Roman"/>
              </a:rPr>
              <a:t> to form Wh-questions </a:t>
            </a:r>
            <a:r>
              <a:rPr dirty="0" sz="1100" spc="-5">
                <a:latin typeface="Times New Roman"/>
                <a:cs typeface="Times New Roman"/>
              </a:rPr>
              <a:t>(especially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negatives) without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inversion found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adult speech (e.g., </a:t>
            </a:r>
            <a:r>
              <a:rPr dirty="0" sz="1100">
                <a:latin typeface="Times New Roman"/>
                <a:cs typeface="Times New Roman"/>
              </a:rPr>
              <a:t>Why </a:t>
            </a:r>
            <a:r>
              <a:rPr dirty="0" sz="1100" spc="-5">
                <a:latin typeface="Times New Roman"/>
                <a:cs typeface="Times New Roman"/>
              </a:rPr>
              <a:t>kitty </a:t>
            </a:r>
            <a:r>
              <a:rPr dirty="0" sz="1100">
                <a:latin typeface="Times New Roman"/>
                <a:cs typeface="Times New Roman"/>
              </a:rPr>
              <a:t>can’t …? instead of </a:t>
            </a:r>
            <a:r>
              <a:rPr dirty="0" sz="1100" spc="-5">
                <a:latin typeface="Times New Roman"/>
                <a:cs typeface="Times New Roman"/>
              </a:rPr>
              <a:t>Why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can’t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kitty</a:t>
            </a:r>
            <a:r>
              <a:rPr dirty="0" sz="1100">
                <a:latin typeface="Times New Roman"/>
                <a:cs typeface="Times New Roman"/>
              </a:rPr>
              <a:t> …?).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Apart</a:t>
            </a:r>
            <a:r>
              <a:rPr dirty="0" sz="1100" spc="-5">
                <a:latin typeface="Times New Roman"/>
                <a:cs typeface="Times New Roman"/>
              </a:rPr>
              <a:t> from</a:t>
            </a:r>
            <a:r>
              <a:rPr dirty="0" sz="1100">
                <a:latin typeface="Times New Roman"/>
                <a:cs typeface="Times New Roman"/>
              </a:rPr>
              <a:t> 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Wh-questions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trouble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(e.g.,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caught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…?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catch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?),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piece?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opened?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do?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Why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kitty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can’t</a:t>
            </a:r>
            <a:r>
              <a:rPr dirty="0" sz="1100" spc="-5">
                <a:latin typeface="Times New Roman"/>
                <a:cs typeface="Times New Roman"/>
              </a:rPr>
              <a:t> stand up?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232: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Negatives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270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Stage </a:t>
            </a:r>
            <a:r>
              <a:rPr dirty="0" sz="1100">
                <a:latin typeface="Times New Roman"/>
                <a:cs typeface="Times New Roman"/>
              </a:rPr>
              <a:t>1percieves, 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case of </a:t>
            </a:r>
            <a:r>
              <a:rPr dirty="0" sz="1100" spc="-5">
                <a:latin typeface="Times New Roman"/>
                <a:cs typeface="Times New Roman"/>
              </a:rPr>
              <a:t>negatives,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seems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involve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simple strategy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beginning,</a:t>
            </a:r>
            <a:r>
              <a:rPr dirty="0" sz="1100">
                <a:latin typeface="Times New Roman"/>
                <a:cs typeface="Times New Roman"/>
              </a:rPr>
              <a:t> as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mitten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0051"/>
            <a:ext cx="5970905" cy="81330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teddy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bear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can’t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appear,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increasingly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touch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third stage </a:t>
            </a:r>
            <a:r>
              <a:rPr dirty="0" sz="1100">
                <a:latin typeface="Times New Roman"/>
                <a:cs typeface="Times New Roman"/>
              </a:rPr>
              <a:t>sees the </a:t>
            </a:r>
            <a:r>
              <a:rPr dirty="0" sz="1100" spc="-5">
                <a:latin typeface="Times New Roman"/>
                <a:cs typeface="Times New Roman"/>
              </a:rPr>
              <a:t>incorporation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auxiliary </a:t>
            </a:r>
            <a:r>
              <a:rPr dirty="0" sz="110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didn’t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won’t while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disappear.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>
                <a:latin typeface="Times New Roman"/>
                <a:cs typeface="Times New Roman"/>
              </a:rPr>
              <a:t> 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(with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isn’t)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long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caught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 </a:t>
            </a:r>
            <a:r>
              <a:rPr dirty="0" sz="1100" spc="-10">
                <a:latin typeface="Times New Roman"/>
                <a:cs typeface="Times New Roman"/>
              </a:rPr>
              <a:t>go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1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developing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negative forms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produced some delightful examples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children operating 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negative sentences. One famous example (McNeill, 1966) also </a:t>
            </a:r>
            <a:r>
              <a:rPr dirty="0" sz="1100">
                <a:latin typeface="Times New Roman"/>
                <a:cs typeface="Times New Roman"/>
              </a:rPr>
              <a:t> shows the </a:t>
            </a:r>
            <a:r>
              <a:rPr dirty="0" sz="1100" spc="-5">
                <a:latin typeface="Times New Roman"/>
                <a:cs typeface="Times New Roman"/>
              </a:rPr>
              <a:t>futility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overt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‘correction’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Nobody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-5">
                <a:latin typeface="Times New Roman"/>
                <a:cs typeface="Times New Roman"/>
              </a:rPr>
              <a:t> 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MOTHER: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>
                <a:latin typeface="Times New Roman"/>
                <a:cs typeface="Times New Roman"/>
              </a:rPr>
              <a:t> say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‘nobody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Nobody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r>
              <a:rPr dirty="0" sz="1100">
                <a:latin typeface="Times New Roman"/>
                <a:cs typeface="Times New Roman"/>
              </a:rPr>
              <a:t> (Eight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dialog)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MOTHER: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>
                <a:latin typeface="Times New Roman"/>
                <a:cs typeface="Times New Roman"/>
              </a:rPr>
              <a:t> now </a:t>
            </a:r>
            <a:r>
              <a:rPr dirty="0" sz="1100" spc="-5">
                <a:latin typeface="Times New Roman"/>
                <a:cs typeface="Times New Roman"/>
              </a:rPr>
              <a:t>listen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carefully;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 </a:t>
            </a:r>
            <a:r>
              <a:rPr dirty="0" sz="1100">
                <a:latin typeface="Times New Roman"/>
                <a:cs typeface="Times New Roman"/>
              </a:rPr>
              <a:t>‘nobody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CHILD: Oh!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Nobody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 </a:t>
            </a:r>
            <a:r>
              <a:rPr dirty="0" sz="1100" spc="-5">
                <a:latin typeface="Times New Roman"/>
                <a:cs typeface="Times New Roman"/>
              </a:rPr>
              <a:t>likes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233: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Semantics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anecdotes that parents retell about their child’s early </a:t>
            </a:r>
            <a:r>
              <a:rPr dirty="0" sz="1100">
                <a:latin typeface="Times New Roman"/>
                <a:cs typeface="Times New Roman"/>
              </a:rPr>
              <a:t>speech </a:t>
            </a:r>
            <a:r>
              <a:rPr dirty="0" sz="1100" spc="-5">
                <a:latin typeface="Times New Roman"/>
                <a:cs typeface="Times New Roman"/>
              </a:rPr>
              <a:t>(to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intense </a:t>
            </a:r>
            <a:r>
              <a:rPr dirty="0" sz="1100">
                <a:latin typeface="Times New Roman"/>
                <a:cs typeface="Times New Roman"/>
              </a:rPr>
              <a:t>embarrassment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grown-up child) usually involve examples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strange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words. Having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warned that ﬂies </a:t>
            </a:r>
            <a:r>
              <a:rPr dirty="0" sz="1100">
                <a:latin typeface="Times New Roman"/>
                <a:cs typeface="Times New Roman"/>
              </a:rPr>
              <a:t> bring </a:t>
            </a:r>
            <a:r>
              <a:rPr dirty="0" sz="1100" spc="-5">
                <a:latin typeface="Times New Roman"/>
                <a:cs typeface="Times New Roman"/>
              </a:rPr>
              <a:t>germs </a:t>
            </a:r>
            <a:r>
              <a:rPr dirty="0" sz="1100">
                <a:latin typeface="Times New Roman"/>
                <a:cs typeface="Times New Roman"/>
              </a:rPr>
              <a:t>into the house, one </a:t>
            </a:r>
            <a:r>
              <a:rPr dirty="0" sz="1100" spc="-5">
                <a:latin typeface="Times New Roman"/>
                <a:cs typeface="Times New Roman"/>
              </a:rPr>
              <a:t>child was asked what “germs” </a:t>
            </a:r>
            <a:r>
              <a:rPr dirty="0" sz="1100">
                <a:latin typeface="Times New Roman"/>
                <a:cs typeface="Times New Roman"/>
              </a:rPr>
              <a:t>were and the </a:t>
            </a:r>
            <a:r>
              <a:rPr dirty="0" sz="1100" spc="-5">
                <a:latin typeface="Times New Roman"/>
                <a:cs typeface="Times New Roman"/>
              </a:rPr>
              <a:t>answer was “something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ﬂies </a:t>
            </a:r>
            <a:r>
              <a:rPr dirty="0" sz="1100">
                <a:latin typeface="Times New Roman"/>
                <a:cs typeface="Times New Roman"/>
              </a:rPr>
              <a:t>play with.”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not </a:t>
            </a:r>
            <a:r>
              <a:rPr dirty="0" sz="1100" spc="-5">
                <a:latin typeface="Times New Roman"/>
                <a:cs typeface="Times New Roman"/>
              </a:rPr>
              <a:t>always </a:t>
            </a:r>
            <a:r>
              <a:rPr dirty="0" sz="1100">
                <a:latin typeface="Times New Roman"/>
                <a:cs typeface="Times New Roman"/>
              </a:rPr>
              <a:t>possible to </a:t>
            </a:r>
            <a:r>
              <a:rPr dirty="0" sz="1100" spc="-5">
                <a:latin typeface="Times New Roman"/>
                <a:cs typeface="Times New Roman"/>
              </a:rPr>
              <a:t>determine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precisely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meanings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children attach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they use.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seems that during the holophrastic stage many </a:t>
            </a:r>
            <a:r>
              <a:rPr dirty="0" sz="1100">
                <a:latin typeface="Times New Roman"/>
                <a:cs typeface="Times New Roman"/>
              </a:rPr>
              <a:t>children use </a:t>
            </a:r>
            <a:r>
              <a:rPr dirty="0" sz="1100" spc="-5">
                <a:latin typeface="Times New Roman"/>
                <a:cs typeface="Times New Roman"/>
              </a:rPr>
              <a:t>their limited vocabulary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child </a:t>
            </a:r>
            <a:r>
              <a:rPr dirty="0" sz="1100" spc="-5">
                <a:latin typeface="Times New Roman"/>
                <a:cs typeface="Times New Roman"/>
              </a:rPr>
              <a:t>ﬁrst </a:t>
            </a:r>
            <a:r>
              <a:rPr dirty="0" sz="1100">
                <a:latin typeface="Times New Roman"/>
                <a:cs typeface="Times New Roman"/>
              </a:rPr>
              <a:t>used bow-wow to refer to a dog and then to a fur </a:t>
            </a:r>
            <a:r>
              <a:rPr dirty="0" sz="1100" spc="-5">
                <a:latin typeface="Times New Roman"/>
                <a:cs typeface="Times New Roman"/>
              </a:rPr>
              <a:t>piece with glass eyes, </a:t>
            </a:r>
            <a:r>
              <a:rPr dirty="0" sz="1100">
                <a:latin typeface="Times New Roman"/>
                <a:cs typeface="Times New Roman"/>
              </a:rPr>
              <a:t>a set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cufﬂinks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bath thermometer.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bow-wow seemed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meaning like </a:t>
            </a:r>
            <a:r>
              <a:rPr dirty="0" sz="1100">
                <a:latin typeface="Times New Roman"/>
                <a:cs typeface="Times New Roman"/>
              </a:rPr>
              <a:t>‘object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shiny bits.’ </a:t>
            </a:r>
            <a:r>
              <a:rPr dirty="0" sz="1100" spc="-5">
                <a:latin typeface="Times New Roman"/>
                <a:cs typeface="Times New Roman"/>
              </a:rPr>
              <a:t>Other children often </a:t>
            </a:r>
            <a:r>
              <a:rPr dirty="0" sz="1100">
                <a:latin typeface="Times New Roman"/>
                <a:cs typeface="Times New Roman"/>
              </a:rPr>
              <a:t>extend </a:t>
            </a:r>
            <a:r>
              <a:rPr dirty="0" sz="1100" spc="-5">
                <a:latin typeface="Times New Roman"/>
                <a:cs typeface="Times New Roman"/>
              </a:rPr>
              <a:t>bow-wow </a:t>
            </a:r>
            <a:r>
              <a:rPr dirty="0" sz="1100">
                <a:latin typeface="Times New Roman"/>
                <a:cs typeface="Times New Roman"/>
              </a:rPr>
              <a:t>to refer to </a:t>
            </a:r>
            <a:r>
              <a:rPr dirty="0" sz="1100" spc="-5">
                <a:latin typeface="Times New Roman"/>
                <a:cs typeface="Times New Roman"/>
              </a:rPr>
              <a:t>cats, </a:t>
            </a:r>
            <a:r>
              <a:rPr dirty="0" sz="1100">
                <a:latin typeface="Times New Roman"/>
                <a:cs typeface="Times New Roman"/>
              </a:rPr>
              <a:t>cows </a:t>
            </a:r>
            <a:r>
              <a:rPr dirty="0" sz="1100" spc="-5">
                <a:latin typeface="Times New Roman"/>
                <a:cs typeface="Times New Roman"/>
              </a:rPr>
              <a:t>and horses. </a:t>
            </a:r>
            <a:r>
              <a:rPr dirty="0" sz="1100">
                <a:latin typeface="Times New Roman"/>
                <a:cs typeface="Times New Roman"/>
              </a:rPr>
              <a:t>This process </a:t>
            </a:r>
            <a:r>
              <a:rPr dirty="0" sz="1100" spc="-5">
                <a:latin typeface="Times New Roman"/>
                <a:cs typeface="Times New Roman"/>
              </a:rPr>
              <a:t>is called </a:t>
            </a:r>
            <a:r>
              <a:rPr dirty="0" sz="1100">
                <a:latin typeface="Times New Roman"/>
                <a:cs typeface="Times New Roman"/>
              </a:rPr>
              <a:t> overextension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child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overextend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6122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shape,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>
                <a:latin typeface="Times New Roman"/>
                <a:cs typeface="Times New Roman"/>
              </a:rPr>
              <a:t>and size, </a:t>
            </a:r>
            <a:r>
              <a:rPr dirty="0" sz="1100" spc="-5">
                <a:latin typeface="Times New Roman"/>
                <a:cs typeface="Times New Roman"/>
              </a:rPr>
              <a:t>and,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lesser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extent, movement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texture. Thus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round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lampshade,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doorknob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moon.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tick tock is </a:t>
            </a:r>
            <a:r>
              <a:rPr dirty="0" sz="1100" spc="-5">
                <a:latin typeface="Times New Roman"/>
                <a:cs typeface="Times New Roman"/>
              </a:rPr>
              <a:t>initially </a:t>
            </a:r>
            <a:r>
              <a:rPr dirty="0" sz="1100">
                <a:latin typeface="Times New Roman"/>
                <a:cs typeface="Times New Roman"/>
              </a:rPr>
              <a:t>used for a </a:t>
            </a:r>
            <a:r>
              <a:rPr dirty="0" sz="1100" spc="-5">
                <a:latin typeface="Times New Roman"/>
                <a:cs typeface="Times New Roman"/>
              </a:rPr>
              <a:t>watch, but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 bathroom </a:t>
            </a:r>
            <a:r>
              <a:rPr dirty="0" sz="1100" spc="-5">
                <a:latin typeface="Times New Roman"/>
                <a:cs typeface="Times New Roman"/>
              </a:rPr>
              <a:t>scale with </a:t>
            </a:r>
            <a:r>
              <a:rPr dirty="0" sz="1100">
                <a:latin typeface="Times New Roman"/>
                <a:cs typeface="Times New Roman"/>
              </a:rPr>
              <a:t>around </a:t>
            </a:r>
            <a:r>
              <a:rPr dirty="0" sz="1100" spc="-5">
                <a:latin typeface="Times New Roman"/>
                <a:cs typeface="Times New Roman"/>
              </a:rPr>
              <a:t>dial.On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basis </a:t>
            </a:r>
            <a:r>
              <a:rPr dirty="0" sz="1100">
                <a:latin typeface="Times New Roman"/>
                <a:cs typeface="Times New Roman"/>
              </a:rPr>
              <a:t>of size, </a:t>
            </a:r>
            <a:r>
              <a:rPr dirty="0" sz="1100" spc="-5">
                <a:latin typeface="Times New Roman"/>
                <a:cs typeface="Times New Roman"/>
              </a:rPr>
              <a:t>presumably, the word </a:t>
            </a:r>
            <a:r>
              <a:rPr dirty="0" sz="1100" spc="-10">
                <a:latin typeface="Times New Roman"/>
                <a:cs typeface="Times New Roman"/>
              </a:rPr>
              <a:t>ﬂy </a:t>
            </a:r>
            <a:r>
              <a:rPr dirty="0" sz="1100" spc="-5">
                <a:latin typeface="Times New Roman"/>
                <a:cs typeface="Times New Roman"/>
              </a:rPr>
              <a:t>was ﬁrst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for the insect </a:t>
            </a:r>
            <a:r>
              <a:rPr dirty="0" sz="1100">
                <a:latin typeface="Times New Roman"/>
                <a:cs typeface="Times New Roman"/>
              </a:rPr>
              <a:t>and then </a:t>
            </a:r>
            <a:r>
              <a:rPr dirty="0" sz="1100" spc="-5">
                <a:latin typeface="Times New Roman"/>
                <a:cs typeface="Times New Roman"/>
              </a:rPr>
              <a:t>came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specks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dirt and even crumbs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bread. Apparently due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similarities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texture, the expression </a:t>
            </a:r>
            <a:r>
              <a:rPr dirty="0" sz="1100" spc="-5" i="1">
                <a:latin typeface="Times New Roman"/>
                <a:cs typeface="Times New Roman"/>
              </a:rPr>
              <a:t>sizo </a:t>
            </a:r>
            <a:r>
              <a:rPr dirty="0" sz="1100" spc="-5">
                <a:latin typeface="Times New Roman"/>
                <a:cs typeface="Times New Roman"/>
              </a:rPr>
              <a:t>was ﬁrst used 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scissors,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metal </a:t>
            </a:r>
            <a:r>
              <a:rPr dirty="0" sz="1100">
                <a:latin typeface="Times New Roman"/>
                <a:cs typeface="Times New Roman"/>
              </a:rPr>
              <a:t>objects.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child’s</a:t>
            </a:r>
            <a:r>
              <a:rPr dirty="0" sz="1100">
                <a:latin typeface="Times New Roman"/>
                <a:cs typeface="Times New Roman"/>
              </a:rPr>
              <a:t> 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overextension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initially, followed </a:t>
            </a:r>
            <a:r>
              <a:rPr dirty="0" sz="1100">
                <a:latin typeface="Times New Roman"/>
                <a:cs typeface="Times New Roman"/>
              </a:rPr>
              <a:t>by a gradual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narrowing down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application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term as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words 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overextension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well-documented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necessarily </a:t>
            </a:r>
            <a:r>
              <a:rPr dirty="0" sz="1100">
                <a:latin typeface="Times New Roman"/>
                <a:cs typeface="Times New Roman"/>
              </a:rPr>
              <a:t>used in speech </a:t>
            </a:r>
            <a:r>
              <a:rPr dirty="0" sz="1100" spc="-5">
                <a:latin typeface="Times New Roman"/>
                <a:cs typeface="Times New Roman"/>
              </a:rPr>
              <a:t>comprehension. One two-year-old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apple,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speaking,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refer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round </a:t>
            </a:r>
            <a:r>
              <a:rPr dirty="0" sz="1100" spc="-5">
                <a:latin typeface="Times New Roman"/>
                <a:cs typeface="Times New Roman"/>
              </a:rPr>
              <a:t>objects like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tomato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-5">
                <a:latin typeface="Times New Roman"/>
                <a:cs typeface="Times New Roman"/>
              </a:rPr>
              <a:t>ball,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had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difﬁculty picking out the apple, when asked, 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tomato.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One interesting feature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young child’s semantics is the way certain lexical relations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hyponymy, </a:t>
            </a:r>
            <a:r>
              <a:rPr dirty="0" sz="1100">
                <a:latin typeface="Times New Roman"/>
                <a:cs typeface="Times New Roman"/>
              </a:rPr>
              <a:t>the child </a:t>
            </a:r>
            <a:r>
              <a:rPr dirty="0" sz="1100" spc="-5">
                <a:latin typeface="Times New Roman"/>
                <a:cs typeface="Times New Roman"/>
              </a:rPr>
              <a:t>will almost always </a:t>
            </a:r>
            <a:r>
              <a:rPr dirty="0" sz="1100">
                <a:latin typeface="Times New Roman"/>
                <a:cs typeface="Times New Roman"/>
              </a:rPr>
              <a:t>use the </a:t>
            </a:r>
            <a:r>
              <a:rPr dirty="0" sz="1100" spc="-5">
                <a:latin typeface="Times New Roman"/>
                <a:cs typeface="Times New Roman"/>
              </a:rPr>
              <a:t>‘middle’-level </a:t>
            </a:r>
            <a:r>
              <a:rPr dirty="0" sz="1100">
                <a:latin typeface="Times New Roman"/>
                <a:cs typeface="Times New Roman"/>
              </a:rPr>
              <a:t>term in a </a:t>
            </a:r>
            <a:r>
              <a:rPr dirty="0" sz="1100" spc="-5">
                <a:latin typeface="Times New Roman"/>
                <a:cs typeface="Times New Roman"/>
              </a:rPr>
              <a:t>hyponymous </a:t>
            </a:r>
            <a:r>
              <a:rPr dirty="0" sz="1100">
                <a:latin typeface="Times New Roman"/>
                <a:cs typeface="Times New Roman"/>
              </a:rPr>
              <a:t> set such as </a:t>
            </a:r>
            <a:r>
              <a:rPr dirty="0" sz="1100" spc="-5">
                <a:latin typeface="Times New Roman"/>
                <a:cs typeface="Times New Roman"/>
              </a:rPr>
              <a:t>animal </a:t>
            </a:r>
            <a:r>
              <a:rPr dirty="0" sz="1100">
                <a:latin typeface="Times New Roman"/>
                <a:cs typeface="Times New Roman"/>
              </a:rPr>
              <a:t>– dog – poodle.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seem more logical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learn the most general </a:t>
            </a:r>
            <a:r>
              <a:rPr dirty="0" sz="1100">
                <a:latin typeface="Times New Roman"/>
                <a:cs typeface="Times New Roman"/>
              </a:rPr>
              <a:t>term </a:t>
            </a:r>
            <a:r>
              <a:rPr dirty="0" sz="1100" spc="-5">
                <a:latin typeface="Times New Roman"/>
                <a:cs typeface="Times New Roman"/>
              </a:rPr>
              <a:t>(animal), but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evidence indicates that children ﬁrst use </a:t>
            </a:r>
            <a:r>
              <a:rPr dirty="0" sz="1100">
                <a:latin typeface="Times New Roman"/>
                <a:cs typeface="Times New Roman"/>
              </a:rPr>
              <a:t>dog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overextended meaning </a:t>
            </a:r>
            <a:r>
              <a:rPr dirty="0" sz="1100">
                <a:latin typeface="Times New Roman"/>
                <a:cs typeface="Times New Roman"/>
              </a:rPr>
              <a:t>close to </a:t>
            </a:r>
            <a:r>
              <a:rPr dirty="0" sz="1100" spc="-5">
                <a:latin typeface="Times New Roman"/>
                <a:cs typeface="Times New Roman"/>
              </a:rPr>
              <a:t>the meaning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“animal.”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tendency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children,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ﬂowers</a:t>
            </a:r>
            <a:r>
              <a:rPr dirty="0" sz="1100">
                <a:latin typeface="Times New Roman"/>
                <a:cs typeface="Times New Roman"/>
              </a:rPr>
              <a:t> (not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plants,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tulips).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hyponymous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acquired fairly </a:t>
            </a:r>
            <a:r>
              <a:rPr dirty="0" sz="1100">
                <a:latin typeface="Times New Roman"/>
                <a:cs typeface="Times New Roman"/>
              </a:rPr>
              <a:t>late </a:t>
            </a:r>
            <a:r>
              <a:rPr dirty="0" sz="1100" spc="-5">
                <a:latin typeface="Times New Roman"/>
                <a:cs typeface="Times New Roman"/>
              </a:rPr>
              <a:t>(after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ﬁve).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study,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kindergarten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 pointed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heavily </a:t>
            </a:r>
            <a:r>
              <a:rPr dirty="0" sz="1100">
                <a:latin typeface="Times New Roman"/>
                <a:cs typeface="Times New Roman"/>
              </a:rPr>
              <a:t>laden </a:t>
            </a:r>
            <a:r>
              <a:rPr dirty="0" sz="1100" spc="-5">
                <a:latin typeface="Times New Roman"/>
                <a:cs typeface="Times New Roman"/>
              </a:rPr>
              <a:t>apple tree when asked which tree has more </a:t>
            </a:r>
            <a:r>
              <a:rPr dirty="0" sz="1100">
                <a:latin typeface="Times New Roman"/>
                <a:cs typeface="Times New Roman"/>
              </a:rPr>
              <a:t>apples. </a:t>
            </a:r>
            <a:r>
              <a:rPr dirty="0" sz="1100" spc="-5">
                <a:latin typeface="Times New Roman"/>
                <a:cs typeface="Times New Roman"/>
              </a:rPr>
              <a:t>And 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asked which tree has </a:t>
            </a:r>
            <a:r>
              <a:rPr dirty="0" sz="1100">
                <a:latin typeface="Times New Roman"/>
                <a:cs typeface="Times New Roman"/>
              </a:rPr>
              <a:t>less </a:t>
            </a:r>
            <a:r>
              <a:rPr dirty="0" sz="1100" spc="-5">
                <a:latin typeface="Times New Roman"/>
                <a:cs typeface="Times New Roman"/>
              </a:rPr>
              <a:t>apples. </a:t>
            </a:r>
            <a:r>
              <a:rPr dirty="0" sz="1100">
                <a:latin typeface="Times New Roman"/>
                <a:cs typeface="Times New Roman"/>
              </a:rPr>
              <a:t>They just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>
                <a:latin typeface="Times New Roman"/>
                <a:cs typeface="Times New Roman"/>
              </a:rPr>
              <a:t>to think the </a:t>
            </a:r>
            <a:r>
              <a:rPr dirty="0" sz="1100" spc="-5">
                <a:latin typeface="Times New Roman"/>
                <a:cs typeface="Times New Roman"/>
              </a:rPr>
              <a:t>correct response will </a:t>
            </a:r>
            <a:r>
              <a:rPr dirty="0" sz="1100">
                <a:latin typeface="Times New Roman"/>
                <a:cs typeface="Times New Roman"/>
              </a:rPr>
              <a:t>be the </a:t>
            </a:r>
            <a:r>
              <a:rPr dirty="0" sz="1100" spc="-5">
                <a:latin typeface="Times New Roman"/>
                <a:cs typeface="Times New Roman"/>
              </a:rPr>
              <a:t>larger one,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disregarding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difference between more and less. The distinctions between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pairs such 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before/after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buy/sell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Despite the fact 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is still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acquire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 aspects </a:t>
            </a:r>
            <a:r>
              <a:rPr dirty="0" sz="1100">
                <a:latin typeface="Times New Roman"/>
                <a:cs typeface="Times New Roman"/>
              </a:rPr>
              <a:t>of his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her </a:t>
            </a:r>
            <a:r>
              <a:rPr dirty="0" sz="1100" spc="-10">
                <a:latin typeface="Times New Roman"/>
                <a:cs typeface="Times New Roman"/>
              </a:rPr>
              <a:t>ﬁrst 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through </a:t>
            </a:r>
            <a:r>
              <a:rPr dirty="0" sz="1100" spc="-5">
                <a:latin typeface="Times New Roman"/>
                <a:cs typeface="Times New Roman"/>
              </a:rPr>
              <a:t>the later years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childhood,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normally assumed </a:t>
            </a:r>
            <a:r>
              <a:rPr dirty="0" sz="1100">
                <a:latin typeface="Times New Roman"/>
                <a:cs typeface="Times New Roman"/>
              </a:rPr>
              <a:t>that, by the </a:t>
            </a:r>
            <a:r>
              <a:rPr dirty="0" sz="1100" spc="-5">
                <a:latin typeface="Times New Roman"/>
                <a:cs typeface="Times New Roman"/>
              </a:rPr>
              <a:t>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ﬁve,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child has </a:t>
            </a:r>
            <a:r>
              <a:rPr dirty="0" sz="1100">
                <a:latin typeface="Times New Roman"/>
                <a:cs typeface="Times New Roman"/>
              </a:rPr>
              <a:t> completed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 </a:t>
            </a:r>
            <a:r>
              <a:rPr dirty="0" sz="1100">
                <a:latin typeface="Times New Roman"/>
                <a:cs typeface="Times New Roman"/>
              </a:rPr>
              <a:t>is then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good </a:t>
            </a:r>
            <a:r>
              <a:rPr dirty="0" sz="1100">
                <a:latin typeface="Times New Roman"/>
                <a:cs typeface="Times New Roman"/>
              </a:rPr>
              <a:t>position to </a:t>
            </a:r>
            <a:r>
              <a:rPr dirty="0" sz="1100" spc="-5">
                <a:latin typeface="Times New Roman"/>
                <a:cs typeface="Times New Roman"/>
              </a:rPr>
              <a:t>start learning </a:t>
            </a:r>
            <a:r>
              <a:rPr dirty="0" sz="1100">
                <a:latin typeface="Times New Roman"/>
                <a:cs typeface="Times New Roman"/>
              </a:rPr>
              <a:t>a second (or </a:t>
            </a:r>
            <a:r>
              <a:rPr dirty="0" sz="1100" spc="-5">
                <a:latin typeface="Times New Roman"/>
                <a:cs typeface="Times New Roman"/>
              </a:rPr>
              <a:t>foreign) 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most people </a:t>
            </a:r>
            <a:r>
              <a:rPr dirty="0" sz="1100">
                <a:latin typeface="Times New Roman"/>
                <a:cs typeface="Times New Roman"/>
              </a:rPr>
              <a:t> don’t </a:t>
            </a:r>
            <a:r>
              <a:rPr dirty="0" sz="1100" spc="-5">
                <a:latin typeface="Times New Roman"/>
                <a:cs typeface="Times New Roman"/>
              </a:rPr>
              <a:t>start trying </a:t>
            </a:r>
            <a:r>
              <a:rPr dirty="0" sz="1100">
                <a:latin typeface="Times New Roman"/>
                <a:cs typeface="Times New Roman"/>
              </a:rPr>
              <a:t>to learn another </a:t>
            </a:r>
            <a:r>
              <a:rPr dirty="0" sz="1100" spc="-5">
                <a:latin typeface="Times New Roman"/>
                <a:cs typeface="Times New Roman"/>
              </a:rPr>
              <a:t>language until much later. The question that always </a:t>
            </a:r>
            <a:r>
              <a:rPr dirty="0" sz="1100">
                <a:latin typeface="Times New Roman"/>
                <a:cs typeface="Times New Roman"/>
              </a:rPr>
              <a:t>arises </a:t>
            </a:r>
            <a:r>
              <a:rPr dirty="0" sz="1100" spc="-5">
                <a:latin typeface="Times New Roman"/>
                <a:cs typeface="Times New Roman"/>
              </a:rPr>
              <a:t>is: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ﬁrst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acquisition was so straightforward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largely </a:t>
            </a:r>
            <a:r>
              <a:rPr dirty="0" sz="1100">
                <a:latin typeface="Times New Roman"/>
                <a:cs typeface="Times New Roman"/>
              </a:rPr>
              <a:t>automatic, </a:t>
            </a:r>
            <a:r>
              <a:rPr dirty="0" sz="1100" spc="-5">
                <a:latin typeface="Times New Roman"/>
                <a:cs typeface="Times New Roman"/>
              </a:rPr>
              <a:t>why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a second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so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8237"/>
            <a:ext cx="5973445" cy="813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762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17221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Times New Roman"/>
                <a:cs typeface="Times New Roman"/>
              </a:rPr>
              <a:t>SECOND LANGUAGE</a:t>
            </a:r>
            <a:r>
              <a:rPr dirty="0" sz="140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ACQUISITION/LEARNING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234: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Second Language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Acquisition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Learning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grow </a:t>
            </a:r>
            <a:r>
              <a:rPr dirty="0" sz="1100">
                <a:latin typeface="Times New Roman"/>
                <a:cs typeface="Times New Roman"/>
              </a:rPr>
              <a:t>up in a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 more </a:t>
            </a:r>
            <a:r>
              <a:rPr dirty="0" sz="1100">
                <a:latin typeface="Times New Roman"/>
                <a:cs typeface="Times New Roman"/>
              </a:rPr>
              <a:t>than one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able to </a:t>
            </a:r>
            <a:r>
              <a:rPr dirty="0" sz="1100" spc="-5">
                <a:latin typeface="Times New Roman"/>
                <a:cs typeface="Times New Roman"/>
              </a:rPr>
              <a:t>acquire </a:t>
            </a:r>
            <a:r>
              <a:rPr dirty="0" sz="1100">
                <a:latin typeface="Times New Roman"/>
                <a:cs typeface="Times New Roman"/>
              </a:rPr>
              <a:t>a second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circumstances similar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those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first language acquisition. Those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fortunate individuals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bilingual. 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exposed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5">
                <a:latin typeface="Times New Roman"/>
                <a:cs typeface="Times New Roman"/>
              </a:rPr>
              <a:t>second </a:t>
            </a:r>
            <a:r>
              <a:rPr dirty="0" sz="1100" spc="-5">
                <a:latin typeface="Times New Roman"/>
                <a:cs typeface="Times New Roman"/>
              </a:rPr>
              <a:t>language until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 later.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rarely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an </a:t>
            </a:r>
            <a:r>
              <a:rPr dirty="0" sz="1100" spc="-10">
                <a:latin typeface="Times New Roman"/>
                <a:cs typeface="Times New Roman"/>
              </a:rPr>
              <a:t>enigma </a:t>
            </a:r>
            <a:r>
              <a:rPr dirty="0" sz="1100">
                <a:latin typeface="Times New Roman"/>
                <a:cs typeface="Times New Roman"/>
              </a:rPr>
              <a:t>in this, </a:t>
            </a:r>
            <a:r>
              <a:rPr dirty="0" sz="1100" spc="-5">
                <a:latin typeface="Times New Roman"/>
                <a:cs typeface="Times New Roman"/>
              </a:rPr>
              <a:t>since there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apparently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other 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“knowledge”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learn better 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thirteen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thirty.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this enigma,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different approaches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proposed to help learners become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communicator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Second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“foreign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 </a:t>
            </a:r>
            <a:r>
              <a:rPr dirty="0" sz="1100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‘second language’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(EFL)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second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(ESL)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ts val="1460"/>
              </a:lnSpc>
              <a:spcBef>
                <a:spcPts val="65"/>
              </a:spcBef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generally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Acquisition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-5" b="1">
                <a:latin typeface="Times New Roman"/>
                <a:cs typeface="Times New Roman"/>
              </a:rPr>
              <a:t> Learning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naturally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communicative situations with others who know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whereas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conscious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accumulating knowledge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features,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grammar,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 setting.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(Mathematics,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acquired.)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Those individuals </a:t>
            </a:r>
            <a:r>
              <a:rPr dirty="0" sz="1100">
                <a:latin typeface="Times New Roman"/>
                <a:cs typeface="Times New Roman"/>
              </a:rPr>
              <a:t>whose L2 </a:t>
            </a:r>
            <a:r>
              <a:rPr dirty="0" sz="1100" spc="-5">
                <a:latin typeface="Times New Roman"/>
                <a:cs typeface="Times New Roman"/>
              </a:rPr>
              <a:t>exposure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primarily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learning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experience </a:t>
            </a:r>
            <a:r>
              <a:rPr dirty="0" sz="1100">
                <a:latin typeface="Times New Roman"/>
                <a:cs typeface="Times New Roman"/>
              </a:rPr>
              <a:t>tend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 </a:t>
            </a:r>
            <a:r>
              <a:rPr dirty="0" sz="1100" spc="-5">
                <a:latin typeface="Times New Roman"/>
                <a:cs typeface="Times New Roman"/>
              </a:rPr>
              <a:t>the same kind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general proﬁciency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those who have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of an </a:t>
            </a:r>
            <a:r>
              <a:rPr dirty="0" sz="1100" spc="-5">
                <a:latin typeface="Times New Roman"/>
                <a:cs typeface="Times New Roman"/>
              </a:rPr>
              <a:t>acquisition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experience.</a:t>
            </a:r>
            <a:endParaRPr sz="1100">
              <a:latin typeface="Times New Roman"/>
              <a:cs typeface="Times New Roman"/>
            </a:endParaRPr>
          </a:p>
          <a:p>
            <a:pPr marL="12700" marR="4015104">
              <a:lnSpc>
                <a:spcPct val="220900"/>
              </a:lnSpc>
              <a:spcBef>
                <a:spcPts val="1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Topic- 235: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Acquisition Barriers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Acquisition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Barriers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experience with </a:t>
            </a:r>
            <a:r>
              <a:rPr dirty="0" sz="1100">
                <a:latin typeface="Times New Roman"/>
                <a:cs typeface="Times New Roman"/>
              </a:rPr>
              <a:t>an L2 is </a:t>
            </a:r>
            <a:r>
              <a:rPr dirty="0" sz="1100" spc="-5">
                <a:latin typeface="Times New Roman"/>
                <a:cs typeface="Times New Roman"/>
              </a:rPr>
              <a:t>fundamentally different from </a:t>
            </a:r>
            <a:r>
              <a:rPr dirty="0" sz="1100">
                <a:latin typeface="Times New Roman"/>
                <a:cs typeface="Times New Roman"/>
              </a:rPr>
              <a:t>that of </a:t>
            </a:r>
            <a:r>
              <a:rPr dirty="0" sz="1100" spc="-10">
                <a:latin typeface="Times New Roman"/>
                <a:cs typeface="Times New Roman"/>
              </a:rPr>
              <a:t>L1 </a:t>
            </a:r>
            <a:r>
              <a:rPr dirty="0" sz="1100" spc="-5">
                <a:latin typeface="Times New Roman"/>
                <a:cs typeface="Times New Roman"/>
              </a:rPr>
              <a:t>experience,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hardly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conducive</a:t>
            </a:r>
            <a:r>
              <a:rPr dirty="0" sz="1100">
                <a:latin typeface="Times New Roman"/>
                <a:cs typeface="Times New Roman"/>
              </a:rPr>
              <a:t> to </a:t>
            </a:r>
            <a:r>
              <a:rPr dirty="0" sz="1100" spc="-5">
                <a:latin typeface="Times New Roman"/>
                <a:cs typeface="Times New Roman"/>
              </a:rPr>
              <a:t>acquisition.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usually encounter the</a:t>
            </a:r>
            <a:r>
              <a:rPr dirty="0" sz="1100">
                <a:latin typeface="Times New Roman"/>
                <a:cs typeface="Times New Roman"/>
              </a:rPr>
              <a:t> L2 </a:t>
            </a:r>
            <a:r>
              <a:rPr dirty="0" sz="1100" spc="-5">
                <a:latin typeface="Times New Roman"/>
                <a:cs typeface="Times New Roman"/>
              </a:rPr>
              <a:t>during their teenage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years,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 </a:t>
            </a:r>
            <a:r>
              <a:rPr dirty="0" sz="1100">
                <a:latin typeface="Times New Roman"/>
                <a:cs typeface="Times New Roman"/>
              </a:rPr>
              <a:t> hours </a:t>
            </a:r>
            <a:r>
              <a:rPr dirty="0" sz="1100" spc="-5">
                <a:latin typeface="Times New Roman"/>
                <a:cs typeface="Times New Roman"/>
              </a:rPr>
              <a:t>each week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school </a:t>
            </a:r>
            <a:r>
              <a:rPr dirty="0" sz="1100" spc="-10">
                <a:latin typeface="Times New Roman"/>
                <a:cs typeface="Times New Roman"/>
              </a:rPr>
              <a:t>time </a:t>
            </a:r>
            <a:r>
              <a:rPr dirty="0" sz="1100">
                <a:latin typeface="Times New Roman"/>
                <a:cs typeface="Times New Roman"/>
              </a:rPr>
              <a:t>rather than </a:t>
            </a:r>
            <a:r>
              <a:rPr dirty="0" sz="1100" spc="-5">
                <a:latin typeface="Times New Roman"/>
                <a:cs typeface="Times New Roman"/>
              </a:rPr>
              <a:t>via the constant interaction experienced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child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requirements.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insufﬁcient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incentive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undermine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2810" cy="8174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learning attempts;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individuals who seem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overcome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difﬁculties and develop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use the L2 </a:t>
            </a:r>
            <a:r>
              <a:rPr dirty="0" sz="1100" spc="-5">
                <a:latin typeface="Times New Roman"/>
                <a:cs typeface="Times New Roman"/>
              </a:rPr>
              <a:t>quite effectively </a:t>
            </a:r>
            <a:r>
              <a:rPr dirty="0" sz="1100">
                <a:latin typeface="Times New Roman"/>
                <a:cs typeface="Times New Roman"/>
              </a:rPr>
              <a:t>learn 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fast.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sounding </a:t>
            </a:r>
            <a:r>
              <a:rPr dirty="0" sz="1100" spc="-5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native </a:t>
            </a:r>
            <a:r>
              <a:rPr dirty="0" sz="1100">
                <a:latin typeface="Times New Roman"/>
                <a:cs typeface="Times New Roman"/>
              </a:rPr>
              <a:t>speaker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difficult.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native-like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proﬁciency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 an L2. There are </a:t>
            </a:r>
            <a:r>
              <a:rPr dirty="0" sz="1100" spc="-5">
                <a:latin typeface="Times New Roman"/>
                <a:cs typeface="Times New Roman"/>
              </a:rPr>
              <a:t>individuals who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achieve great expertise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written </a:t>
            </a:r>
            <a:r>
              <a:rPr dirty="0" sz="1100">
                <a:latin typeface="Times New Roman"/>
                <a:cs typeface="Times New Roman"/>
              </a:rPr>
              <a:t>language, but not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 </a:t>
            </a:r>
            <a:r>
              <a:rPr dirty="0" sz="1100" spc="-5">
                <a:latin typeface="Times New Roman"/>
                <a:cs typeface="Times New Roman"/>
              </a:rPr>
              <a:t>language. 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greatest examples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is Joseph </a:t>
            </a:r>
            <a:r>
              <a:rPr dirty="0" sz="1100" spc="-5">
                <a:latin typeface="Times New Roman"/>
                <a:cs typeface="Times New Roman"/>
              </a:rPr>
              <a:t>Conrad. He wrote </a:t>
            </a:r>
            <a:r>
              <a:rPr dirty="0" sz="1100">
                <a:latin typeface="Times New Roman"/>
                <a:cs typeface="Times New Roman"/>
              </a:rPr>
              <a:t>a lot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novels </a:t>
            </a:r>
            <a:r>
              <a:rPr dirty="0" sz="1100">
                <a:latin typeface="Times New Roman"/>
                <a:cs typeface="Times New Roman"/>
              </a:rPr>
              <a:t> 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>
                <a:latin typeface="Times New Roman"/>
                <a:cs typeface="Times New Roman"/>
              </a:rPr>
              <a:t> 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-10">
                <a:latin typeface="Times New Roman"/>
                <a:cs typeface="Times New Roman"/>
              </a:rPr>
              <a:t>might </a:t>
            </a:r>
            <a:r>
              <a:rPr dirty="0" sz="1100" spc="-5">
                <a:latin typeface="Times New Roman"/>
                <a:cs typeface="Times New Roman"/>
              </a:rPr>
              <a:t>suggest that </a:t>
            </a:r>
            <a:r>
              <a:rPr dirty="0" sz="1100" spc="-1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an L2, such as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grammar,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easier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 than others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pronunciation. Without early </a:t>
            </a:r>
            <a:r>
              <a:rPr dirty="0" sz="1100">
                <a:latin typeface="Times New Roman"/>
                <a:cs typeface="Times New Roman"/>
              </a:rPr>
              <a:t>experience </a:t>
            </a:r>
            <a:r>
              <a:rPr dirty="0" sz="1100" spc="-5">
                <a:latin typeface="Times New Roman"/>
                <a:cs typeface="Times New Roman"/>
              </a:rPr>
              <a:t>using </a:t>
            </a:r>
            <a:r>
              <a:rPr dirty="0" sz="1100">
                <a:latin typeface="Times New Roman"/>
                <a:cs typeface="Times New Roman"/>
              </a:rPr>
              <a:t>the sounds and </a:t>
            </a:r>
            <a:r>
              <a:rPr dirty="0" sz="1100" spc="-5">
                <a:latin typeface="Times New Roman"/>
                <a:cs typeface="Times New Roman"/>
              </a:rPr>
              <a:t>intonation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ﬂuent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 learners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“accent”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4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This 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observation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sometimes taken as evidence that, after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critical period for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 has passed, around the time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puberty, it becomes very difﬁcult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acquire another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optimum age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ten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sixteen when </a:t>
            </a:r>
            <a:r>
              <a:rPr dirty="0" sz="1100">
                <a:latin typeface="Times New Roman"/>
                <a:cs typeface="Times New Roman"/>
              </a:rPr>
              <a:t>the ﬂexibility of </a:t>
            </a:r>
            <a:r>
              <a:rPr dirty="0" sz="1100" spc="-5">
                <a:latin typeface="Times New Roman"/>
                <a:cs typeface="Times New Roman"/>
              </a:rPr>
              <a:t>our inherent capacity </a:t>
            </a:r>
            <a:r>
              <a:rPr dirty="0" sz="1100" spc="-1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has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236: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Affective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proposed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optimum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barrier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quite different kind. Teenagers are typically much more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self-conscious than younger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children. </a:t>
            </a: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 is a </a:t>
            </a:r>
            <a:r>
              <a:rPr dirty="0" sz="1100" spc="-5">
                <a:latin typeface="Times New Roman"/>
                <a:cs typeface="Times New Roman"/>
              </a:rPr>
              <a:t>strong element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unwillingness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embarrassment in attempting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produce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sounds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 </a:t>
            </a:r>
            <a:r>
              <a:rPr dirty="0" sz="1100" spc="-5">
                <a:latin typeface="Times New Roman"/>
                <a:cs typeface="Times New Roman"/>
              </a:rPr>
              <a:t>language, </a:t>
            </a:r>
            <a:r>
              <a:rPr dirty="0" sz="1100">
                <a:latin typeface="Times New Roman"/>
                <a:cs typeface="Times New Roman"/>
              </a:rPr>
              <a:t>then </a:t>
            </a:r>
            <a:r>
              <a:rPr dirty="0" sz="1100" spc="-5">
                <a:latin typeface="Times New Roman"/>
                <a:cs typeface="Times New Roman"/>
              </a:rPr>
              <a:t>it may </a:t>
            </a:r>
            <a:r>
              <a:rPr dirty="0" sz="1100">
                <a:latin typeface="Times New Roman"/>
                <a:cs typeface="Times New Roman"/>
              </a:rPr>
              <a:t>override </a:t>
            </a:r>
            <a:r>
              <a:rPr dirty="0" sz="1100" spc="-5">
                <a:latin typeface="Times New Roman"/>
                <a:cs typeface="Times New Roman"/>
              </a:rPr>
              <a:t>whatever physical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cognitive abilities there are. </a:t>
            </a: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5">
                <a:latin typeface="Times New Roman"/>
                <a:cs typeface="Times New Roman"/>
              </a:rPr>
              <a:t>self-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consciousness is accompanied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empathy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culture, then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subtle effects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 wanting </a:t>
            </a:r>
            <a:r>
              <a:rPr dirty="0" sz="1100">
                <a:latin typeface="Times New Roman"/>
                <a:cs typeface="Times New Roman"/>
              </a:rPr>
              <a:t>to sound </a:t>
            </a:r>
            <a:r>
              <a:rPr dirty="0" sz="1100" spc="-10">
                <a:latin typeface="Times New Roman"/>
                <a:cs typeface="Times New Roman"/>
              </a:rPr>
              <a:t>like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Russian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German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an American may strongly </a:t>
            </a:r>
            <a:r>
              <a:rPr dirty="0" sz="1100">
                <a:latin typeface="Times New Roman"/>
                <a:cs typeface="Times New Roman"/>
              </a:rPr>
              <a:t>inhibit the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 process. This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emotional reaction,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‘affect’,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caused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dull textbooks, unpleasant </a:t>
            </a:r>
            <a:r>
              <a:rPr dirty="0" sz="1100">
                <a:latin typeface="Times New Roman"/>
                <a:cs typeface="Times New Roman"/>
              </a:rPr>
              <a:t> classroom </a:t>
            </a:r>
            <a:r>
              <a:rPr dirty="0" sz="1100" spc="-5">
                <a:latin typeface="Times New Roman"/>
                <a:cs typeface="Times New Roman"/>
              </a:rPr>
              <a:t>surroundings </a:t>
            </a:r>
            <a:r>
              <a:rPr dirty="0" sz="1100">
                <a:latin typeface="Times New Roman"/>
                <a:cs typeface="Times New Roman"/>
              </a:rPr>
              <a:t>or an </a:t>
            </a:r>
            <a:r>
              <a:rPr dirty="0" sz="1100" spc="-5">
                <a:latin typeface="Times New Roman"/>
                <a:cs typeface="Times New Roman"/>
              </a:rPr>
              <a:t>exhausting </a:t>
            </a:r>
            <a:r>
              <a:rPr dirty="0" sz="1100">
                <a:latin typeface="Times New Roman"/>
                <a:cs typeface="Times New Roman"/>
              </a:rPr>
              <a:t>schedule of study and/or </a:t>
            </a:r>
            <a:r>
              <a:rPr dirty="0" sz="1100" spc="-5">
                <a:latin typeface="Times New Roman"/>
                <a:cs typeface="Times New Roman"/>
              </a:rPr>
              <a:t>work. All these negative feelings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affective</a:t>
            </a:r>
            <a:r>
              <a:rPr dirty="0" sz="1100">
                <a:latin typeface="Times New Roman"/>
                <a:cs typeface="Times New Roman"/>
              </a:rPr>
              <a:t> factors 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barrier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300"/>
              </a:lnSpc>
            </a:pPr>
            <a:r>
              <a:rPr dirty="0" sz="1100" spc="-10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learner </a:t>
            </a:r>
            <a:r>
              <a:rPr dirty="0" sz="1100">
                <a:latin typeface="Times New Roman"/>
                <a:cs typeface="Times New Roman"/>
              </a:rPr>
              <a:t>is stressed, </a:t>
            </a:r>
            <a:r>
              <a:rPr dirty="0" sz="1100" spc="-5">
                <a:latin typeface="Times New Roman"/>
                <a:cs typeface="Times New Roman"/>
              </a:rPr>
              <a:t>uncomfortable, self-conscious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unmotivated,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are unlikely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learn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 much.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less constrained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affective factors. Descriptions </a:t>
            </a:r>
            <a:r>
              <a:rPr dirty="0" sz="1100">
                <a:latin typeface="Times New Roman"/>
                <a:cs typeface="Times New Roman"/>
              </a:rPr>
              <a:t>of L2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childhood are </a:t>
            </a:r>
            <a:r>
              <a:rPr dirty="0" sz="1100" spc="-5">
                <a:latin typeface="Times New Roman"/>
                <a:cs typeface="Times New Roman"/>
              </a:rPr>
              <a:t>full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instances where young </a:t>
            </a:r>
            <a:r>
              <a:rPr dirty="0" sz="1100">
                <a:latin typeface="Times New Roman"/>
                <a:cs typeface="Times New Roman"/>
              </a:rPr>
              <a:t>children </a:t>
            </a:r>
            <a:r>
              <a:rPr dirty="0" sz="1100" spc="-5">
                <a:latin typeface="Times New Roman"/>
                <a:cs typeface="Times New Roman"/>
              </a:rPr>
              <a:t>quickly overcome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inhibitions as they </a:t>
            </a:r>
            <a:r>
              <a:rPr dirty="0" sz="1100">
                <a:latin typeface="Times New Roman"/>
                <a:cs typeface="Times New Roman"/>
              </a:rPr>
              <a:t>try to use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phrases.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overcome</a:t>
            </a:r>
            <a:r>
              <a:rPr dirty="0" sz="1100">
                <a:latin typeface="Times New Roman"/>
                <a:cs typeface="Times New Roman"/>
              </a:rPr>
              <a:t>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inhibitions </a:t>
            </a:r>
            <a:r>
              <a:rPr dirty="0" sz="1100">
                <a:latin typeface="Times New Roman"/>
                <a:cs typeface="Times New Roman"/>
              </a:rPr>
              <a:t>too.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237: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Focus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206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Despite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barriers, the need for instruction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other languages </a:t>
            </a:r>
            <a:r>
              <a:rPr dirty="0" sz="1100">
                <a:latin typeface="Times New Roman"/>
                <a:cs typeface="Times New Roman"/>
              </a:rPr>
              <a:t>has led to a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aimed</a:t>
            </a:r>
            <a:r>
              <a:rPr dirty="0" sz="1100">
                <a:latin typeface="Times New Roman"/>
                <a:cs typeface="Times New Roman"/>
              </a:rPr>
              <a:t> 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fostering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learning.</a:t>
            </a:r>
            <a:r>
              <a:rPr dirty="0" sz="1100">
                <a:latin typeface="Times New Roman"/>
                <a:cs typeface="Times New Roman"/>
              </a:rPr>
              <a:t> Caxton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(1483)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wrote: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lernyng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lerne</a:t>
            </a:r>
            <a:r>
              <a:rPr dirty="0" sz="1100" spc="-5">
                <a:latin typeface="Times New Roman"/>
                <a:cs typeface="Times New Roman"/>
              </a:rPr>
              <a:t> shortly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frenssh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englyssh.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698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phrase-book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customary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greetings: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kepe.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haue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 you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tyme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8215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525" indent="45656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promote</a:t>
            </a:r>
            <a:r>
              <a:rPr dirty="0" sz="1100">
                <a:latin typeface="Times New Roman"/>
                <a:cs typeface="Times New Roman"/>
              </a:rPr>
              <a:t> L2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tended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reﬂect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how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>
                <a:latin typeface="Times New Roman"/>
                <a:cs typeface="Times New Roman"/>
              </a:rPr>
              <a:t> L2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Grammar–Translation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Method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most traditional approach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treat </a:t>
            </a:r>
            <a:r>
              <a:rPr dirty="0" sz="1100">
                <a:latin typeface="Times New Roman"/>
                <a:cs typeface="Times New Roman"/>
              </a:rPr>
              <a:t>L2 learning in the </a:t>
            </a:r>
            <a:r>
              <a:rPr dirty="0" sz="1100" spc="-10">
                <a:latin typeface="Times New Roman"/>
                <a:cs typeface="Times New Roman"/>
              </a:rPr>
              <a:t>same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as any </a:t>
            </a:r>
            <a:r>
              <a:rPr dirty="0" sz="1100" spc="-5">
                <a:latin typeface="Times New Roman"/>
                <a:cs typeface="Times New Roman"/>
              </a:rPr>
              <a:t>other academic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subject. Vocabulary lists and sets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grammar </a:t>
            </a:r>
            <a:r>
              <a:rPr dirty="0" sz="1100">
                <a:latin typeface="Times New Roman"/>
                <a:cs typeface="Times New Roman"/>
              </a:rPr>
              <a:t>rules </a:t>
            </a:r>
            <a:r>
              <a:rPr dirty="0" sz="1100" spc="-5">
                <a:latin typeface="Times New Roman"/>
                <a:cs typeface="Times New Roman"/>
              </a:rPr>
              <a:t>are used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deﬁne the target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learning.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memorization. Written language </a:t>
            </a:r>
            <a:r>
              <a:rPr dirty="0" sz="1100">
                <a:latin typeface="Times New Roman"/>
                <a:cs typeface="Times New Roman"/>
              </a:rPr>
              <a:t>rather than </a:t>
            </a:r>
            <a:r>
              <a:rPr dirty="0" sz="1100" spc="-5">
                <a:latin typeface="Times New Roman"/>
                <a:cs typeface="Times New Roman"/>
              </a:rPr>
              <a:t>spoken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emphasized.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its roots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grammar–translation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Audio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Method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Emphasize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>
                <a:latin typeface="Times New Roman"/>
                <a:cs typeface="Times New Roman"/>
              </a:rPr>
              <a:t> popular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twentieth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structures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Moving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more complex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Drills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repeat</a:t>
            </a:r>
            <a:endParaRPr sz="1100">
              <a:latin typeface="Times New Roman"/>
              <a:cs typeface="Times New Roman"/>
            </a:endParaRPr>
          </a:p>
          <a:p>
            <a:pPr marL="12700" marR="10160">
              <a:lnSpc>
                <a:spcPct val="110000"/>
              </a:lnSpc>
              <a:spcBef>
                <a:spcPts val="10"/>
              </a:spcBef>
            </a:pP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ﬂuent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essentially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“habits”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Communicative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Approaches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More </a:t>
            </a:r>
            <a:r>
              <a:rPr dirty="0" sz="1100" spc="-5">
                <a:latin typeface="Times New Roman"/>
                <a:cs typeface="Times New Roman"/>
              </a:rPr>
              <a:t>recent revisions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learning experience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best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described as communicative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approaches. </a:t>
            </a:r>
            <a:r>
              <a:rPr dirty="0" sz="1100">
                <a:latin typeface="Times New Roman"/>
                <a:cs typeface="Times New Roman"/>
              </a:rPr>
              <a:t>They were </a:t>
            </a:r>
            <a:r>
              <a:rPr dirty="0" sz="1100" spc="-5">
                <a:latin typeface="Times New Roman"/>
                <a:cs typeface="Times New Roman"/>
              </a:rPr>
              <a:t>partially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reaction against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artiﬁciality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‘pattern practice’.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against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 that </a:t>
            </a:r>
            <a:r>
              <a:rPr dirty="0" sz="1100">
                <a:latin typeface="Times New Roman"/>
                <a:cs typeface="Times New Roman"/>
              </a:rPr>
              <a:t>consciously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rules of a </a:t>
            </a:r>
            <a:r>
              <a:rPr dirty="0" sz="1100" spc="-5">
                <a:latin typeface="Times New Roman"/>
                <a:cs typeface="Times New Roman"/>
              </a:rPr>
              <a:t>language will necessarily result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use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language. However </a:t>
            </a: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different versions </a:t>
            </a:r>
            <a:r>
              <a:rPr dirty="0" sz="1100">
                <a:latin typeface="Times New Roman"/>
                <a:cs typeface="Times New Roman"/>
              </a:rPr>
              <a:t>of how to create </a:t>
            </a:r>
            <a:r>
              <a:rPr dirty="0" sz="1100" spc="-5">
                <a:latin typeface="Times New Roman"/>
                <a:cs typeface="Times New Roman"/>
              </a:rPr>
              <a:t>communicative experiences for </a:t>
            </a:r>
            <a:r>
              <a:rPr dirty="0" sz="1100" spc="-1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 learners.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approach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emphasized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 the </a:t>
            </a:r>
            <a:r>
              <a:rPr dirty="0" sz="1100" spc="-10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language. These changes have coincided with attempts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provide </a:t>
            </a:r>
            <a:r>
              <a:rPr dirty="0" sz="1100" spc="5">
                <a:latin typeface="Times New Roman"/>
                <a:cs typeface="Times New Roman"/>
              </a:rPr>
              <a:t>more </a:t>
            </a:r>
            <a:r>
              <a:rPr dirty="0" sz="1100" spc="-5">
                <a:latin typeface="Times New Roman"/>
                <a:cs typeface="Times New Roman"/>
              </a:rPr>
              <a:t>appropriate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L2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that has a </a:t>
            </a:r>
            <a:r>
              <a:rPr dirty="0" sz="1100" spc="-5">
                <a:latin typeface="Times New Roman"/>
                <a:cs typeface="Times New Roman"/>
              </a:rPr>
              <a:t>speciﬁc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purpose, </a:t>
            </a:r>
            <a:r>
              <a:rPr dirty="0" sz="1100">
                <a:latin typeface="Times New Roman"/>
                <a:cs typeface="Times New Roman"/>
              </a:rPr>
              <a:t>as in </a:t>
            </a:r>
            <a:r>
              <a:rPr dirty="0" sz="1100" spc="-5">
                <a:latin typeface="Times New Roman"/>
                <a:cs typeface="Times New Roman"/>
              </a:rPr>
              <a:t>‘English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medical personnel’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‘Japanese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business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Focus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Learner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Focus on </a:t>
            </a:r>
            <a:r>
              <a:rPr dirty="0" sz="1100" spc="-5">
                <a:latin typeface="Times New Roman"/>
                <a:cs typeface="Times New Roman"/>
              </a:rPr>
              <a:t>learner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most fundamental change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area of L2 </a:t>
            </a:r>
            <a:r>
              <a:rPr dirty="0" sz="1100" spc="-5">
                <a:latin typeface="Times New Roman"/>
                <a:cs typeface="Times New Roman"/>
              </a:rPr>
              <a:t>learning.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shift from </a:t>
            </a:r>
            <a:r>
              <a:rPr dirty="0" sz="1100">
                <a:latin typeface="Times New Roman"/>
                <a:cs typeface="Times New Roman"/>
              </a:rPr>
              <a:t> concern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teacher, the </a:t>
            </a:r>
            <a:r>
              <a:rPr dirty="0" sz="1100">
                <a:latin typeface="Times New Roman"/>
                <a:cs typeface="Times New Roman"/>
              </a:rPr>
              <a:t>textbook and the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to an </a:t>
            </a:r>
            <a:r>
              <a:rPr dirty="0" sz="1100" spc="-5">
                <a:latin typeface="Times New Roman"/>
                <a:cs typeface="Times New Roman"/>
              </a:rPr>
              <a:t>interest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learner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 acquisition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process. For example,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radical feature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most communicative approaches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toleration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“errors” </a:t>
            </a:r>
            <a:r>
              <a:rPr dirty="0" sz="1100">
                <a:latin typeface="Times New Roman"/>
                <a:cs typeface="Times New Roman"/>
              </a:rPr>
              <a:t> produced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Traditionally, “errors” </a:t>
            </a:r>
            <a:r>
              <a:rPr dirty="0" sz="1100" spc="-1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regarded negatively </a:t>
            </a:r>
            <a:r>
              <a:rPr dirty="0" sz="1100">
                <a:latin typeface="Times New Roman"/>
                <a:cs typeface="Times New Roman"/>
              </a:rPr>
              <a:t>and had 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avoided or </a:t>
            </a:r>
            <a:r>
              <a:rPr dirty="0" sz="1100" spc="-5">
                <a:latin typeface="Times New Roman"/>
                <a:cs typeface="Times New Roman"/>
              </a:rPr>
              <a:t>eradicated.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 recent </a:t>
            </a:r>
            <a:r>
              <a:rPr dirty="0" sz="1100" spc="-5">
                <a:latin typeface="Times New Roman"/>
                <a:cs typeface="Times New Roman"/>
              </a:rPr>
              <a:t>acceptance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such errors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learners’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L2 is </a:t>
            </a:r>
            <a:r>
              <a:rPr dirty="0" sz="1100" spc="-5">
                <a:latin typeface="Times New Roman"/>
                <a:cs typeface="Times New Roman"/>
              </a:rPr>
              <a:t>quite normal.</a:t>
            </a:r>
            <a:r>
              <a:rPr dirty="0" sz="1100">
                <a:latin typeface="Times New Roman"/>
                <a:cs typeface="Times New Roman"/>
              </a:rPr>
              <a:t> Rather than </a:t>
            </a:r>
            <a:r>
              <a:rPr dirty="0" sz="1100" spc="-5">
                <a:latin typeface="Times New Roman"/>
                <a:cs typeface="Times New Roman"/>
              </a:rPr>
              <a:t>consider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Spanish </a:t>
            </a:r>
            <a:r>
              <a:rPr dirty="0" sz="1100">
                <a:latin typeface="Times New Roman"/>
                <a:cs typeface="Times New Roman"/>
              </a:rPr>
              <a:t> (L1) </a:t>
            </a:r>
            <a:r>
              <a:rPr dirty="0" sz="1100" spc="-5">
                <a:latin typeface="Times New Roman"/>
                <a:cs typeface="Times New Roman"/>
              </a:rPr>
              <a:t>speaker’s production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 </a:t>
            </a:r>
            <a:r>
              <a:rPr dirty="0" sz="1100">
                <a:latin typeface="Times New Roman"/>
                <a:cs typeface="Times New Roman"/>
              </a:rPr>
              <a:t>the room </a:t>
            </a:r>
            <a:r>
              <a:rPr dirty="0" sz="1100" spc="-5">
                <a:latin typeface="Times New Roman"/>
                <a:cs typeface="Times New Roman"/>
              </a:rPr>
              <a:t>‘there are three womens’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simply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failure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learn correct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utterance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taken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“error,”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then, is </a:t>
            </a:r>
            <a:r>
              <a:rPr dirty="0" sz="1100" spc="-5">
                <a:latin typeface="Times New Roman"/>
                <a:cs typeface="Times New Roman"/>
              </a:rPr>
              <a:t>not something that </a:t>
            </a:r>
            <a:r>
              <a:rPr dirty="0" sz="1100">
                <a:latin typeface="Times New Roman"/>
                <a:cs typeface="Times New Roman"/>
              </a:rPr>
              <a:t>hinders a </a:t>
            </a:r>
            <a:r>
              <a:rPr dirty="0" sz="1100" spc="-5">
                <a:latin typeface="Times New Roman"/>
                <a:cs typeface="Times New Roman"/>
              </a:rPr>
              <a:t>student’s progress but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clue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active </a:t>
            </a:r>
            <a:r>
              <a:rPr dirty="0" sz="1100">
                <a:latin typeface="Times New Roman"/>
                <a:cs typeface="Times New Roman"/>
              </a:rPr>
              <a:t>learning </a:t>
            </a:r>
            <a:r>
              <a:rPr dirty="0" sz="1100" spc="-5">
                <a:latin typeface="Times New Roman"/>
                <a:cs typeface="Times New Roman"/>
              </a:rPr>
              <a:t>progress being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by the student </a:t>
            </a:r>
            <a:r>
              <a:rPr dirty="0" sz="1100" spc="-5">
                <a:latin typeface="Times New Roman"/>
                <a:cs typeface="Times New Roman"/>
              </a:rPr>
              <a:t>just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children acquiring their </a:t>
            </a:r>
            <a:r>
              <a:rPr dirty="0" sz="1100" spc="-10">
                <a:latin typeface="Times New Roman"/>
                <a:cs typeface="Times New Roman"/>
              </a:rPr>
              <a:t>L1 </a:t>
            </a:r>
            <a:r>
              <a:rPr dirty="0" sz="1100" spc="-5">
                <a:latin typeface="Times New Roman"/>
                <a:cs typeface="Times New Roman"/>
              </a:rPr>
              <a:t>produce certain types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ungrammatical forms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stages.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‘womens’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type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overgeneralization.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Transfer </a:t>
            </a:r>
            <a:r>
              <a:rPr dirty="0" sz="1100" spc="-5" b="1">
                <a:latin typeface="Times New Roman"/>
                <a:cs typeface="Times New Roman"/>
              </a:rPr>
              <a:t>‘Cross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Linguistic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Inﬂuence’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Transfer means </a:t>
            </a:r>
            <a:r>
              <a:rPr dirty="0" sz="1100">
                <a:latin typeface="Times New Roman"/>
                <a:cs typeface="Times New Roman"/>
              </a:rPr>
              <a:t>using sounds, </a:t>
            </a:r>
            <a:r>
              <a:rPr dirty="0" sz="1100" spc="-5">
                <a:latin typeface="Times New Roman"/>
                <a:cs typeface="Times New Roman"/>
              </a:rPr>
              <a:t>expressions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structures </a:t>
            </a:r>
            <a:r>
              <a:rPr dirty="0" sz="1100">
                <a:latin typeface="Times New Roman"/>
                <a:cs typeface="Times New Roman"/>
              </a:rPr>
              <a:t>from the L1 </a:t>
            </a:r>
            <a:r>
              <a:rPr dirty="0" sz="1100" spc="-5">
                <a:latin typeface="Times New Roman"/>
                <a:cs typeface="Times New Roman"/>
              </a:rPr>
              <a:t>when performing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L2.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(L1)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‘take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inferior’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Spanish adjective </a:t>
            </a:r>
            <a:r>
              <a:rPr dirty="0" sz="1100">
                <a:latin typeface="Times New Roman"/>
                <a:cs typeface="Times New Roman"/>
              </a:rPr>
              <a:t>inferior </a:t>
            </a:r>
            <a:r>
              <a:rPr dirty="0" sz="1100" spc="-5">
                <a:latin typeface="Times New Roman"/>
                <a:cs typeface="Times New Roman"/>
              </a:rPr>
              <a:t>(=lower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English) and </a:t>
            </a:r>
            <a:r>
              <a:rPr dirty="0" sz="1100">
                <a:latin typeface="Times New Roman"/>
                <a:cs typeface="Times New Roman"/>
              </a:rPr>
              <a:t>placing it </a:t>
            </a:r>
            <a:r>
              <a:rPr dirty="0" sz="1100" spc="-5">
                <a:latin typeface="Times New Roman"/>
                <a:cs typeface="Times New Roman"/>
              </a:rPr>
              <a:t>after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noun, </a:t>
            </a:r>
            <a:r>
              <a:rPr dirty="0" sz="1100">
                <a:latin typeface="Times New Roman"/>
                <a:cs typeface="Times New Roman"/>
              </a:rPr>
              <a:t>as is </a:t>
            </a:r>
            <a:r>
              <a:rPr dirty="0" sz="1100" spc="-5">
                <a:latin typeface="Times New Roman"/>
                <a:cs typeface="Times New Roman"/>
              </a:rPr>
              <a:t>typical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Spanish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Positive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Transfer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160" indent="49212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L1 and L2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 (e.g.,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marking plural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ends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nouns), then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beneﬁt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</a:t>
            </a:r>
            <a:r>
              <a:rPr dirty="0" sz="1100">
                <a:latin typeface="Times New Roman"/>
                <a:cs typeface="Times New Roman"/>
              </a:rPr>
              <a:t> of L1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Negative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Transfer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Transferring </a:t>
            </a:r>
            <a:r>
              <a:rPr dirty="0" sz="1100">
                <a:latin typeface="Times New Roman"/>
                <a:cs typeface="Times New Roman"/>
              </a:rPr>
              <a:t>an L1 </a:t>
            </a:r>
            <a:r>
              <a:rPr dirty="0" sz="1100" spc="-5">
                <a:latin typeface="Times New Roman"/>
                <a:cs typeface="Times New Roman"/>
              </a:rPr>
              <a:t>feature that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really different </a:t>
            </a:r>
            <a:r>
              <a:rPr dirty="0" sz="1100">
                <a:latin typeface="Times New Roman"/>
                <a:cs typeface="Times New Roman"/>
              </a:rPr>
              <a:t>from the L2 </a:t>
            </a:r>
            <a:r>
              <a:rPr dirty="0" sz="1100" spc="-5">
                <a:latin typeface="Times New Roman"/>
                <a:cs typeface="Times New Roman"/>
              </a:rPr>
              <a:t>(e.g., </a:t>
            </a:r>
            <a:r>
              <a:rPr dirty="0" sz="1100">
                <a:latin typeface="Times New Roman"/>
                <a:cs typeface="Times New Roman"/>
              </a:rPr>
              <a:t>putting </a:t>
            </a:r>
            <a:r>
              <a:rPr dirty="0" sz="1100" spc="-5">
                <a:latin typeface="Times New Roman"/>
                <a:cs typeface="Times New Roman"/>
              </a:rPr>
              <a:t>the adjective after the </a:t>
            </a:r>
            <a:r>
              <a:rPr dirty="0" sz="1100">
                <a:latin typeface="Times New Roman"/>
                <a:cs typeface="Times New Roman"/>
              </a:rPr>
              <a:t> noun) </a:t>
            </a:r>
            <a:r>
              <a:rPr dirty="0" sz="1100" spc="-5">
                <a:latin typeface="Times New Roman"/>
                <a:cs typeface="Times New Roman"/>
              </a:rPr>
              <a:t>results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negative transfer and it may make </a:t>
            </a:r>
            <a:r>
              <a:rPr dirty="0" sz="1100">
                <a:latin typeface="Times New Roman"/>
                <a:cs typeface="Times New Roman"/>
              </a:rPr>
              <a:t>the L2 </a:t>
            </a:r>
            <a:r>
              <a:rPr dirty="0" sz="1100" spc="-5">
                <a:latin typeface="Times New Roman"/>
                <a:cs typeface="Times New Roman"/>
              </a:rPr>
              <a:t>expression difﬁcult to understand. </a:t>
            </a:r>
            <a:r>
              <a:rPr dirty="0" sz="1100">
                <a:latin typeface="Times New Roman"/>
                <a:cs typeface="Times New Roman"/>
              </a:rPr>
              <a:t>The negative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 (sometimes called ‘interference’)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more common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early stages </a:t>
            </a:r>
            <a:r>
              <a:rPr dirty="0" sz="1100">
                <a:latin typeface="Times New Roman"/>
                <a:cs typeface="Times New Roman"/>
              </a:rPr>
              <a:t>of L2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decreases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familiarity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produced by L2 learners </a:t>
            </a:r>
            <a:r>
              <a:rPr dirty="0" sz="1100" spc="-5">
                <a:latin typeface="Times New Roman"/>
                <a:cs typeface="Times New Roman"/>
              </a:rPr>
              <a:t>contains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number </a:t>
            </a:r>
            <a:r>
              <a:rPr dirty="0" sz="1100">
                <a:latin typeface="Times New Roman"/>
                <a:cs typeface="Times New Roman"/>
              </a:rPr>
              <a:t>of ‘errors’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seem to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L1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Maria.’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Motivation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There </a:t>
            </a:r>
            <a:r>
              <a:rPr dirty="0" sz="1100" spc="-5">
                <a:latin typeface="Times New Roman"/>
                <a:cs typeface="Times New Roman"/>
              </a:rPr>
              <a:t>are several factors that combine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proﬁle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successful </a:t>
            </a:r>
            <a:r>
              <a:rPr dirty="0" sz="110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learner. Obviously,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learn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important. Many learners have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instrumental motivation. .That is, they want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 the </a:t>
            </a:r>
            <a:r>
              <a:rPr dirty="0" sz="110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in order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achieve some other goal, 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completing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school graduation requirement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read scientiﬁc publications,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not really </a:t>
            </a:r>
            <a:r>
              <a:rPr dirty="0" sz="1100">
                <a:latin typeface="Times New Roman"/>
                <a:cs typeface="Times New Roman"/>
              </a:rPr>
              <a:t>for any </a:t>
            </a:r>
            <a:r>
              <a:rPr dirty="0" sz="1100" spc="-5">
                <a:latin typeface="Times New Roman"/>
                <a:cs typeface="Times New Roman"/>
              </a:rPr>
              <a:t>social purposes.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contrast, those learners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integrative motivation want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learn </a:t>
            </a:r>
            <a:r>
              <a:rPr dirty="0" sz="1100">
                <a:latin typeface="Times New Roman"/>
                <a:cs typeface="Times New Roman"/>
              </a:rPr>
              <a:t>the L2 </a:t>
            </a:r>
            <a:r>
              <a:rPr dirty="0" sz="1100" spc="-1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social purposes,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 to take part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1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accepted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239: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Communicative Competence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Communicative competence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deﬁned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the general 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use language accurately,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appropriately,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ﬂexibly.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ﬁrst component is grammatical competence, which involves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accurate </a:t>
            </a:r>
            <a:r>
              <a:rPr dirty="0" sz="1100">
                <a:latin typeface="Times New Roman"/>
                <a:cs typeface="Times New Roman"/>
              </a:rPr>
              <a:t> use of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Concentration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>
                <a:latin typeface="Times New Roman"/>
                <a:cs typeface="Times New Roman"/>
              </a:rPr>
              <a:t> competence </a:t>
            </a:r>
            <a:r>
              <a:rPr dirty="0" sz="1100" spc="-5">
                <a:latin typeface="Times New Roman"/>
                <a:cs typeface="Times New Roman"/>
              </a:rPr>
              <a:t>only, however, 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appropriately.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2797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52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appropriate language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second component, </a:t>
            </a:r>
            <a:r>
              <a:rPr dirty="0" sz="1100" spc="-5">
                <a:latin typeface="Times New Roman"/>
                <a:cs typeface="Times New Roman"/>
              </a:rPr>
              <a:t>called sociolinguistic competence.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enables the </a:t>
            </a:r>
            <a:r>
              <a:rPr dirty="0" sz="1100" spc="-5">
                <a:latin typeface="Times New Roman"/>
                <a:cs typeface="Times New Roman"/>
              </a:rPr>
              <a:t>learner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 when </a:t>
            </a:r>
            <a:r>
              <a:rPr dirty="0" sz="1100">
                <a:latin typeface="Times New Roman"/>
                <a:cs typeface="Times New Roman"/>
              </a:rPr>
              <a:t>to say </a:t>
            </a:r>
            <a:r>
              <a:rPr dirty="0" sz="1100" spc="-5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social context. For example: </a:t>
            </a:r>
            <a:r>
              <a:rPr dirty="0" sz="1100">
                <a:latin typeface="Times New Roman"/>
                <a:cs typeface="Times New Roman"/>
              </a:rPr>
              <a:t>Can I </a:t>
            </a:r>
            <a:r>
              <a:rPr dirty="0" sz="1100" spc="-5">
                <a:latin typeface="Times New Roman"/>
                <a:cs typeface="Times New Roman"/>
              </a:rPr>
              <a:t>have some water? </a:t>
            </a:r>
            <a:r>
              <a:rPr dirty="0" sz="1100">
                <a:latin typeface="Times New Roman"/>
                <a:cs typeface="Times New Roman"/>
              </a:rPr>
              <a:t>versus </a:t>
            </a:r>
            <a:r>
              <a:rPr dirty="0" sz="1100" spc="-10">
                <a:latin typeface="Times New Roman"/>
                <a:cs typeface="Times New Roman"/>
              </a:rPr>
              <a:t>give me </a:t>
            </a:r>
            <a:r>
              <a:rPr dirty="0" sz="1100" spc="-5">
                <a:latin typeface="Times New Roman"/>
                <a:cs typeface="Times New Roman"/>
              </a:rPr>
              <a:t> some </a:t>
            </a:r>
            <a:r>
              <a:rPr dirty="0" sz="1100">
                <a:latin typeface="Times New Roman"/>
                <a:cs typeface="Times New Roman"/>
              </a:rPr>
              <a:t>water.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Much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what was discussed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pragmatics </a:t>
            </a:r>
            <a:r>
              <a:rPr dirty="0" sz="1100" spc="-10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become familiar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cultural context </a:t>
            </a:r>
            <a:r>
              <a:rPr dirty="0" sz="1100">
                <a:latin typeface="Times New Roman"/>
                <a:cs typeface="Times New Roman"/>
              </a:rPr>
              <a:t> of the L2 if </a:t>
            </a:r>
            <a:r>
              <a:rPr dirty="0" sz="1100" spc="-5">
                <a:latin typeface="Times New Roman"/>
                <a:cs typeface="Times New Roman"/>
              </a:rPr>
              <a:t>the learner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develop </a:t>
            </a:r>
            <a:r>
              <a:rPr dirty="0" sz="1100" spc="-5">
                <a:latin typeface="Times New Roman"/>
                <a:cs typeface="Times New Roman"/>
              </a:rPr>
              <a:t>sociolinguistic competence.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third component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called strategic </a:t>
            </a:r>
            <a:r>
              <a:rPr dirty="0" sz="1100">
                <a:latin typeface="Times New Roman"/>
                <a:cs typeface="Times New Roman"/>
              </a:rPr>
              <a:t> competence.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effectively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compensate,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difﬁculties.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inevitably</a:t>
            </a:r>
            <a:r>
              <a:rPr dirty="0" sz="1100">
                <a:latin typeface="Times New Roman"/>
                <a:cs typeface="Times New Roman"/>
              </a:rPr>
              <a:t> experience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moments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 </a:t>
            </a:r>
            <a:r>
              <a:rPr dirty="0" sz="1100">
                <a:latin typeface="Times New Roman"/>
                <a:cs typeface="Times New Roman"/>
              </a:rPr>
              <a:t>intent and their </a:t>
            </a:r>
            <a:r>
              <a:rPr dirty="0" sz="1100" spc="-5">
                <a:latin typeface="Times New Roman"/>
                <a:cs typeface="Times New Roman"/>
              </a:rPr>
              <a:t>ability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express that intent. Some learners may </a:t>
            </a:r>
            <a:r>
              <a:rPr dirty="0" sz="1100" spc="5">
                <a:latin typeface="Times New Roman"/>
                <a:cs typeface="Times New Roman"/>
              </a:rPr>
              <a:t>just </a:t>
            </a:r>
            <a:r>
              <a:rPr dirty="0" sz="1100">
                <a:latin typeface="Times New Roman"/>
                <a:cs typeface="Times New Roman"/>
              </a:rPr>
              <a:t>stop </a:t>
            </a:r>
            <a:r>
              <a:rPr dirty="0" sz="1100" spc="-5">
                <a:latin typeface="Times New Roman"/>
                <a:cs typeface="Times New Roman"/>
              </a:rPr>
              <a:t>talking, whereas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 will try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express themselves </a:t>
            </a:r>
            <a:r>
              <a:rPr dirty="0" sz="1100">
                <a:latin typeface="Times New Roman"/>
                <a:cs typeface="Times New Roman"/>
              </a:rPr>
              <a:t>using a </a:t>
            </a:r>
            <a:r>
              <a:rPr dirty="0" sz="1100" spc="-5">
                <a:latin typeface="Times New Roman"/>
                <a:cs typeface="Times New Roman"/>
              </a:rPr>
              <a:t>communication strategy.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Dutch </a:t>
            </a:r>
            <a:r>
              <a:rPr dirty="0" sz="1100" spc="-10">
                <a:latin typeface="Times New Roman"/>
                <a:cs typeface="Times New Roman"/>
              </a:rPr>
              <a:t>L1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 wanted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hoeﬁjzer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didn’t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strategy. </a:t>
            </a:r>
            <a:r>
              <a:rPr dirty="0" sz="1100">
                <a:latin typeface="Times New Roman"/>
                <a:cs typeface="Times New Roman"/>
              </a:rPr>
              <a:t>She </a:t>
            </a:r>
            <a:r>
              <a:rPr dirty="0" sz="1100" spc="-5">
                <a:latin typeface="Times New Roman"/>
                <a:cs typeface="Times New Roman"/>
              </a:rPr>
              <a:t>created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referring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object </a:t>
            </a:r>
            <a:r>
              <a:rPr dirty="0" sz="1100">
                <a:latin typeface="Times New Roman"/>
                <a:cs typeface="Times New Roman"/>
              </a:rPr>
              <a:t>by using vocabulary she </a:t>
            </a:r>
            <a:r>
              <a:rPr dirty="0" sz="1100" spc="-5">
                <a:latin typeface="Times New Roman"/>
                <a:cs typeface="Times New Roman"/>
              </a:rPr>
              <a:t>already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knew, saying </a:t>
            </a:r>
            <a:r>
              <a:rPr dirty="0" sz="1100">
                <a:latin typeface="Times New Roman"/>
                <a:cs typeface="Times New Roman"/>
              </a:rPr>
              <a:t>‘the </a:t>
            </a:r>
            <a:r>
              <a:rPr dirty="0" sz="1100" spc="-5">
                <a:latin typeface="Times New Roman"/>
                <a:cs typeface="Times New Roman"/>
              </a:rPr>
              <a:t>things that horses wear under their feet', </a:t>
            </a:r>
            <a:r>
              <a:rPr dirty="0" sz="1100">
                <a:latin typeface="Times New Roman"/>
                <a:cs typeface="Times New Roman"/>
              </a:rPr>
              <a:t>the iron </a:t>
            </a:r>
            <a:r>
              <a:rPr dirty="0" sz="1100" spc="-5">
                <a:latin typeface="Times New Roman"/>
                <a:cs typeface="Times New Roman"/>
              </a:rPr>
              <a:t>things’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listener understood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immediately what she meant.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ﬂexibility </a:t>
            </a:r>
            <a:r>
              <a:rPr dirty="0" sz="1100">
                <a:latin typeface="Times New Roman"/>
                <a:cs typeface="Times New Roman"/>
              </a:rPr>
              <a:t>in L2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key element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communicative success.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 essence,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overcome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8237"/>
            <a:ext cx="5971540" cy="5938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203962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Times New Roman"/>
                <a:cs typeface="Times New Roman"/>
              </a:rPr>
              <a:t>HISTORICAL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240: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marR="3173095" indent="-457200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Consider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text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Fæder </a:t>
            </a:r>
            <a:r>
              <a:rPr dirty="0" sz="1100" spc="-5">
                <a:latin typeface="Times New Roman"/>
                <a:cs typeface="Times New Roman"/>
              </a:rPr>
              <a:t>ure </a:t>
            </a:r>
            <a:r>
              <a:rPr dirty="0" sz="1100">
                <a:latin typeface="Times New Roman"/>
                <a:cs typeface="Times New Roman"/>
              </a:rPr>
              <a:t>þu</a:t>
            </a:r>
            <a:r>
              <a:rPr dirty="0" sz="1100" spc="-5">
                <a:latin typeface="Times New Roman"/>
                <a:cs typeface="Times New Roman"/>
              </a:rPr>
              <a:t> þe eart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-5">
                <a:latin typeface="Times New Roman"/>
                <a:cs typeface="Times New Roman"/>
              </a:rPr>
              <a:t> heofonum,</a:t>
            </a:r>
            <a:endParaRPr sz="1100">
              <a:latin typeface="Times New Roman"/>
              <a:cs typeface="Times New Roman"/>
            </a:endParaRPr>
          </a:p>
          <a:p>
            <a:pPr marL="469265" marR="424434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þin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gehalgod.</a:t>
            </a:r>
            <a:endParaRPr sz="1100">
              <a:latin typeface="Times New Roman"/>
              <a:cs typeface="Times New Roman"/>
            </a:endParaRPr>
          </a:p>
          <a:p>
            <a:pPr marL="469265" marR="424434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becume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þin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rice.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Gewurþe </a:t>
            </a:r>
            <a:r>
              <a:rPr dirty="0" sz="1100" spc="-5">
                <a:latin typeface="Times New Roman"/>
                <a:cs typeface="Times New Roman"/>
              </a:rPr>
              <a:t>þin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eorðan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heofonum.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(Lord’s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Prayer)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921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developed into modern </a:t>
            </a:r>
            <a:r>
              <a:rPr dirty="0" sz="1100">
                <a:latin typeface="Times New Roman"/>
                <a:cs typeface="Times New Roman"/>
              </a:rPr>
              <a:t>languages.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involves using </a:t>
            </a:r>
            <a:r>
              <a:rPr dirty="0" sz="1100">
                <a:latin typeface="Times New Roman"/>
                <a:cs typeface="Times New Roman"/>
              </a:rPr>
              <a:t>the study 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change, 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 </a:t>
            </a:r>
            <a:r>
              <a:rPr dirty="0" sz="1100">
                <a:latin typeface="Times New Roman"/>
                <a:cs typeface="Times New Roman"/>
              </a:rPr>
              <a:t>as philology and also </a:t>
            </a:r>
            <a:r>
              <a:rPr dirty="0" sz="1100" spc="-5">
                <a:latin typeface="Times New Roman"/>
                <a:cs typeface="Times New Roman"/>
              </a:rPr>
              <a:t>called diachronic linguistics.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nineteenth century, </a:t>
            </a:r>
            <a:r>
              <a:rPr dirty="0" sz="1100">
                <a:latin typeface="Times New Roman"/>
                <a:cs typeface="Times New Roman"/>
              </a:rPr>
              <a:t>philology dominated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and one </a:t>
            </a:r>
            <a:r>
              <a:rPr dirty="0" sz="1100" spc="-5">
                <a:latin typeface="Times New Roman"/>
                <a:cs typeface="Times New Roman"/>
              </a:rPr>
              <a:t>result was the creation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“family trees”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show </a:t>
            </a:r>
            <a:r>
              <a:rPr dirty="0" sz="1100">
                <a:latin typeface="Times New Roman"/>
                <a:cs typeface="Times New Roman"/>
              </a:rPr>
              <a:t>how languages </a:t>
            </a:r>
            <a:r>
              <a:rPr dirty="0" sz="1100" spc="-5">
                <a:latin typeface="Times New Roman"/>
                <a:cs typeface="Times New Roman"/>
              </a:rPr>
              <a:t>were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observed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265" marR="8255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pre-history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relatedness,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(comparative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 theories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changes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speech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>
                <a:latin typeface="Times New Roman"/>
                <a:cs typeface="Times New Roman"/>
              </a:rPr>
              <a:t> i.e., </a:t>
            </a:r>
            <a:r>
              <a:rPr dirty="0" sz="1100" spc="-5">
                <a:latin typeface="Times New Roman"/>
                <a:cs typeface="Times New Roman"/>
              </a:rPr>
              <a:t>etymology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241: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Family Tree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Jones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(1786)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law: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from very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geographical areas must have some common </a:t>
            </a:r>
            <a:r>
              <a:rPr dirty="0" sz="1100">
                <a:latin typeface="Times New Roman"/>
                <a:cs typeface="Times New Roman"/>
              </a:rPr>
              <a:t>ancestor.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discovery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brought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forth</a:t>
            </a:r>
            <a:r>
              <a:rPr dirty="0" sz="1100">
                <a:latin typeface="Times New Roman"/>
                <a:cs typeface="Times New Roman"/>
              </a:rPr>
              <a:t> Proto-Indo-European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branches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Indo-European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tree,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tracing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3226" y="6842759"/>
            <a:ext cx="3287174" cy="225535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635" cy="189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6565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Thirty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language families containing more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6,000 different individual languages (actually </a:t>
            </a:r>
            <a:r>
              <a:rPr dirty="0" sz="1100">
                <a:latin typeface="Times New Roman"/>
                <a:cs typeface="Times New Roman"/>
              </a:rPr>
              <a:t> 6,912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established.</a:t>
            </a:r>
            <a:r>
              <a:rPr dirty="0" sz="1100">
                <a:latin typeface="Times New Roman"/>
                <a:cs typeface="Times New Roman"/>
              </a:rPr>
              <a:t> 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danger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extinction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(about </a:t>
            </a: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-5">
                <a:latin typeface="Times New Roman"/>
                <a:cs typeface="Times New Roman"/>
              </a:rPr>
              <a:t> billion)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(about </a:t>
            </a:r>
            <a:r>
              <a:rPr dirty="0" sz="1100">
                <a:latin typeface="Times New Roman"/>
                <a:cs typeface="Times New Roman"/>
              </a:rPr>
              <a:t>350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242: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Grimm’s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Law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Grimm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(1822)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concept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Germanic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Indo-European 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other.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53" y="2737459"/>
            <a:ext cx="1546225" cy="5822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240"/>
              </a:spcBef>
              <a:tabLst>
                <a:tab pos="641985" algn="l"/>
              </a:tabLst>
            </a:pPr>
            <a:r>
              <a:rPr dirty="0" sz="1100">
                <a:latin typeface="Times New Roman"/>
                <a:cs typeface="Times New Roman"/>
              </a:rPr>
              <a:t>p	f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10"/>
              </a:spcBef>
              <a:tabLst>
                <a:tab pos="518159" algn="l"/>
                <a:tab pos="1084580" algn="l"/>
              </a:tabLst>
            </a:pPr>
            <a:r>
              <a:rPr dirty="0" sz="1100">
                <a:latin typeface="Times New Roman"/>
                <a:cs typeface="Times New Roman"/>
              </a:rPr>
              <a:t>Lat</a:t>
            </a:r>
            <a:r>
              <a:rPr dirty="0" sz="1100" spc="-1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5">
                <a:latin typeface="Times New Roman"/>
                <a:cs typeface="Times New Roman"/>
              </a:rPr>
              <a:t>g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1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sh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1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20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an  </a:t>
            </a:r>
            <a:r>
              <a:rPr dirty="0" sz="1100">
                <a:latin typeface="Times New Roman"/>
                <a:cs typeface="Times New Roman"/>
              </a:rPr>
              <a:t>pedem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0998" y="3125850"/>
            <a:ext cx="8216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085" algn="l"/>
              </a:tabLst>
            </a:pPr>
            <a:r>
              <a:rPr dirty="0" sz="1100">
                <a:latin typeface="Times New Roman"/>
                <a:cs typeface="Times New Roman"/>
              </a:rPr>
              <a:t>foot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F</a:t>
            </a:r>
            <a:r>
              <a:rPr dirty="0" sz="1100" spc="-15">
                <a:latin typeface="Times New Roman"/>
                <a:cs typeface="Times New Roman"/>
              </a:rPr>
              <a:t>u</a:t>
            </a:r>
            <a:r>
              <a:rPr dirty="0" sz="1100">
                <a:latin typeface="Times New Roman"/>
                <a:cs typeface="Times New Roman"/>
              </a:rPr>
              <a:t>ss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3478504"/>
            <a:ext cx="5965825" cy="764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Grimm’s Law: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differences were first originally observed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Danish scholar, Rasmus Rask.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Grimm’s work was readily accessible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international scholars. </a:t>
            </a:r>
            <a:r>
              <a:rPr dirty="0" sz="1100" spc="-10">
                <a:latin typeface="Times New Roman"/>
                <a:cs typeface="Times New Roman"/>
              </a:rPr>
              <a:t>Grimm's </a:t>
            </a:r>
            <a:r>
              <a:rPr dirty="0" sz="1100">
                <a:latin typeface="Times New Roman"/>
                <a:cs typeface="Times New Roman"/>
              </a:rPr>
              <a:t>Law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three </a:t>
            </a:r>
            <a:r>
              <a:rPr dirty="0" sz="1100">
                <a:latin typeface="Times New Roman"/>
                <a:cs typeface="Times New Roman"/>
              </a:rPr>
              <a:t> parts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consecutive </a:t>
            </a:r>
            <a:r>
              <a:rPr dirty="0" sz="1100">
                <a:latin typeface="Times New Roman"/>
                <a:cs typeface="Times New Roman"/>
              </a:rPr>
              <a:t>phases in the </a:t>
            </a:r>
            <a:r>
              <a:rPr dirty="0" sz="1100" spc="-5">
                <a:latin typeface="Times New Roman"/>
                <a:cs typeface="Times New Roman"/>
              </a:rPr>
              <a:t>sense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chain </a:t>
            </a:r>
            <a:r>
              <a:rPr dirty="0" sz="1100" spc="-5">
                <a:latin typeface="Times New Roman"/>
                <a:cs typeface="Times New Roman"/>
              </a:rPr>
              <a:t>shift.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phases are </a:t>
            </a:r>
            <a:r>
              <a:rPr dirty="0" sz="1100">
                <a:latin typeface="Times New Roman"/>
                <a:cs typeface="Times New Roman"/>
              </a:rPr>
              <a:t>usually </a:t>
            </a:r>
            <a:r>
              <a:rPr dirty="0" sz="1100" spc="-5">
                <a:latin typeface="Times New Roman"/>
                <a:cs typeface="Times New Roman"/>
              </a:rPr>
              <a:t>constructed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6072606"/>
            <a:ext cx="5971540" cy="242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45656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asterisks indicate </a:t>
            </a:r>
            <a:r>
              <a:rPr dirty="0" sz="1100">
                <a:latin typeface="Times New Roman"/>
                <a:cs typeface="Times New Roman"/>
              </a:rPr>
              <a:t>the sounds </a:t>
            </a:r>
            <a:r>
              <a:rPr dirty="0" sz="1100" spc="-5">
                <a:latin typeface="Times New Roman"/>
                <a:cs typeface="Times New Roman"/>
              </a:rPr>
              <a:t>in question </a:t>
            </a:r>
            <a:r>
              <a:rPr dirty="0" sz="1100" spc="5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reconstructed rather than being directly </a:t>
            </a:r>
            <a:r>
              <a:rPr dirty="0" sz="1100">
                <a:latin typeface="Times New Roman"/>
                <a:cs typeface="Times New Roman"/>
              </a:rPr>
              <a:t>attested.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PIE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PGmc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hypothetical constructs. [p]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in spit, spew </a:t>
            </a:r>
            <a:r>
              <a:rPr dirty="0" sz="1100" spc="-5">
                <a:latin typeface="Times New Roman"/>
                <a:cs typeface="Times New Roman"/>
              </a:rPr>
              <a:t>corresponds </a:t>
            </a:r>
            <a:r>
              <a:rPr dirty="0" sz="1100">
                <a:latin typeface="Times New Roman"/>
                <a:cs typeface="Times New Roman"/>
              </a:rPr>
              <a:t>to a [p] in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 apparent violation </a:t>
            </a:r>
            <a:r>
              <a:rPr dirty="0" sz="1100" spc="-10">
                <a:latin typeface="Times New Roman"/>
                <a:cs typeface="Times New Roman"/>
              </a:rPr>
              <a:t>of Grimm’s </a:t>
            </a:r>
            <a:r>
              <a:rPr dirty="0" sz="1100">
                <a:latin typeface="Times New Roman"/>
                <a:cs typeface="Times New Roman"/>
              </a:rPr>
              <a:t>Law as in </a:t>
            </a:r>
            <a:r>
              <a:rPr dirty="0" sz="1100" spc="-5">
                <a:latin typeface="Times New Roman"/>
                <a:cs typeface="Times New Roman"/>
              </a:rPr>
              <a:t>Latin spuo, etc. Similarly Gmc </a:t>
            </a:r>
            <a:r>
              <a:rPr dirty="0" sz="1100">
                <a:latin typeface="Times New Roman"/>
                <a:cs typeface="Times New Roman"/>
              </a:rPr>
              <a:t>[t] is </a:t>
            </a:r>
            <a:r>
              <a:rPr dirty="0" sz="1100" spc="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Gk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[t].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[t].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two-consonantal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preservation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regular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spew,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243: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 Comparative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demonstrating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1820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-1870.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r>
              <a:rPr dirty="0" sz="1100">
                <a:latin typeface="Times New Roman"/>
                <a:cs typeface="Times New Roman"/>
              </a:rPr>
              <a:t> 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4259707"/>
            <a:ext cx="5238750" cy="164592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3882364"/>
            <a:ext cx="5970905" cy="22923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 related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forms-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Words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meaning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course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469265" marR="10795" indent="-228600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Latin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‘horse’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‘caballus’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peck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horse)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‘nag’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‘equus’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neutral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‘equus’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words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 problem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semantically.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words may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 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disuse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replaced.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Wave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During the </a:t>
            </a:r>
            <a:r>
              <a:rPr dirty="0" sz="1100" spc="-5">
                <a:latin typeface="Times New Roman"/>
                <a:cs typeface="Times New Roman"/>
              </a:rPr>
              <a:t>20th century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wave model </a:t>
            </a:r>
            <a:r>
              <a:rPr dirty="0" sz="1100">
                <a:latin typeface="Times New Roman"/>
                <a:cs typeface="Times New Roman"/>
              </a:rPr>
              <a:t>has had </a:t>
            </a:r>
            <a:r>
              <a:rPr dirty="0" sz="1100" spc="-5">
                <a:latin typeface="Times New Roman"/>
                <a:cs typeface="Times New Roman"/>
              </a:rPr>
              <a:t>little acceptance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model for language change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overall.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has recently </a:t>
            </a:r>
            <a:r>
              <a:rPr dirty="0" sz="1100">
                <a:latin typeface="Times New Roman"/>
                <a:cs typeface="Times New Roman"/>
              </a:rPr>
              <a:t>gained </a:t>
            </a:r>
            <a:r>
              <a:rPr dirty="0" sz="1100" spc="-5">
                <a:latin typeface="Times New Roman"/>
                <a:cs typeface="Times New Roman"/>
              </a:rPr>
              <a:t>more popularity among historical linguists </a:t>
            </a:r>
            <a:r>
              <a:rPr dirty="0" sz="1100">
                <a:latin typeface="Times New Roman"/>
                <a:cs typeface="Times New Roman"/>
              </a:rPr>
              <a:t>due to the </a:t>
            </a:r>
            <a:r>
              <a:rPr dirty="0" sz="1100" spc="-5">
                <a:latin typeface="Times New Roman"/>
                <a:cs typeface="Times New Roman"/>
              </a:rPr>
              <a:t>shortcomings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Tree </a:t>
            </a:r>
            <a:r>
              <a:rPr dirty="0" sz="1100" spc="-5">
                <a:latin typeface="Times New Roman"/>
                <a:cs typeface="Times New Roman"/>
              </a:rPr>
              <a:t>model.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model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Johannes </a:t>
            </a:r>
            <a:r>
              <a:rPr dirty="0" sz="1100" spc="-5">
                <a:latin typeface="Times New Roman"/>
                <a:cs typeface="Times New Roman"/>
              </a:rPr>
              <a:t>Schmidt.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8362035"/>
            <a:ext cx="5969000" cy="766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456565">
              <a:lnSpc>
                <a:spcPct val="110300"/>
              </a:lnSpc>
              <a:spcBef>
                <a:spcPts val="10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diagram,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circles </a:t>
            </a:r>
            <a:r>
              <a:rPr dirty="0" sz="1100">
                <a:latin typeface="Times New Roman"/>
                <a:cs typeface="Times New Roman"/>
              </a:rPr>
              <a:t>are 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regarded as </a:t>
            </a:r>
            <a:r>
              <a:rPr dirty="0" sz="1100" spc="-5">
                <a:latin typeface="Times New Roman"/>
                <a:cs typeface="Times New Roman"/>
              </a:rPr>
              <a:t>diachronic; that is,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increase in diameter over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 like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concentric waves </a:t>
            </a:r>
            <a:r>
              <a:rPr dirty="0" sz="1100">
                <a:latin typeface="Times New Roman"/>
                <a:cs typeface="Times New Roman"/>
              </a:rPr>
              <a:t>on a water </a:t>
            </a:r>
            <a:r>
              <a:rPr dirty="0" sz="1100" spc="-5">
                <a:latin typeface="Times New Roman"/>
                <a:cs typeface="Times New Roman"/>
              </a:rPr>
              <a:t>surface </a:t>
            </a:r>
            <a:r>
              <a:rPr dirty="0" sz="1100">
                <a:latin typeface="Times New Roman"/>
                <a:cs typeface="Times New Roman"/>
              </a:rPr>
              <a:t>struck by a stone. The </a:t>
            </a:r>
            <a:r>
              <a:rPr dirty="0" sz="1100" spc="-5">
                <a:latin typeface="Times New Roman"/>
                <a:cs typeface="Times New Roman"/>
              </a:rPr>
              <a:t>circles are stable dialects;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bundles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characters that have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-5">
                <a:latin typeface="Times New Roman"/>
                <a:cs typeface="Times New Roman"/>
              </a:rPr>
              <a:t>innovated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have become more </a:t>
            </a:r>
            <a:r>
              <a:rPr dirty="0" sz="1100">
                <a:latin typeface="Times New Roman"/>
                <a:cs typeface="Times New Roman"/>
              </a:rPr>
              <a:t>stable </a:t>
            </a:r>
            <a:r>
              <a:rPr dirty="0" sz="1100" spc="-5">
                <a:latin typeface="Times New Roman"/>
                <a:cs typeface="Times New Roman"/>
              </a:rPr>
              <a:t>over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originally small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continuum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socio-political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spread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914400"/>
            <a:ext cx="5248275" cy="27908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5241" y="6239929"/>
            <a:ext cx="4108628" cy="20825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635" cy="187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160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centers of </a:t>
            </a:r>
            <a:r>
              <a:rPr dirty="0" sz="1100" spc="-5">
                <a:latin typeface="Times New Roman"/>
                <a:cs typeface="Times New Roman"/>
              </a:rPr>
              <a:t>maximum effectiveness like waves, becoming </a:t>
            </a:r>
            <a:r>
              <a:rPr dirty="0" sz="1100">
                <a:latin typeface="Times New Roman"/>
                <a:cs typeface="Times New Roman"/>
              </a:rPr>
              <a:t>less </a:t>
            </a:r>
            <a:r>
              <a:rPr dirty="0" sz="1100" spc="-5">
                <a:latin typeface="Times New Roman"/>
                <a:cs typeface="Times New Roman"/>
              </a:rPr>
              <a:t>effective than dissipating </a:t>
            </a:r>
            <a:r>
              <a:rPr dirty="0" sz="110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maximum time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distance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center. Languages</a:t>
            </a:r>
            <a:r>
              <a:rPr dirty="0" sz="1100">
                <a:latin typeface="Times New Roman"/>
                <a:cs typeface="Times New Roman"/>
              </a:rPr>
              <a:t> are to be </a:t>
            </a:r>
            <a:r>
              <a:rPr dirty="0" sz="1100" spc="-5">
                <a:latin typeface="Times New Roman"/>
                <a:cs typeface="Times New Roman"/>
              </a:rPr>
              <a:t>regarded</a:t>
            </a:r>
            <a:r>
              <a:rPr dirty="0" sz="1100">
                <a:latin typeface="Times New Roman"/>
                <a:cs typeface="Times New Roman"/>
              </a:rPr>
              <a:t> as </a:t>
            </a:r>
            <a:r>
              <a:rPr dirty="0" sz="1100" spc="-5">
                <a:latin typeface="Times New Roman"/>
                <a:cs typeface="Times New Roman"/>
              </a:rPr>
              <a:t>impermanent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sets</a:t>
            </a:r>
            <a:r>
              <a:rPr dirty="0" sz="1100">
                <a:latin typeface="Times New Roman"/>
                <a:cs typeface="Times New Roman"/>
              </a:rPr>
              <a:t> of speech </a:t>
            </a:r>
            <a:r>
              <a:rPr dirty="0" sz="1100" spc="-5">
                <a:latin typeface="Times New Roman"/>
                <a:cs typeface="Times New Roman"/>
              </a:rPr>
              <a:t>habits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prevail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intersections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circles.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245: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 Change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Language change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variation over time </a:t>
            </a:r>
            <a:r>
              <a:rPr dirty="0" sz="1100">
                <a:latin typeface="Times New Roman"/>
                <a:cs typeface="Times New Roman"/>
              </a:rPr>
              <a:t>in a </a:t>
            </a:r>
            <a:r>
              <a:rPr dirty="0" sz="1100" spc="-5">
                <a:latin typeface="Times New Roman"/>
                <a:cs typeface="Times New Roman"/>
              </a:rPr>
              <a:t>language's </a:t>
            </a:r>
            <a:r>
              <a:rPr dirty="0" sz="1100">
                <a:latin typeface="Times New Roman"/>
                <a:cs typeface="Times New Roman"/>
              </a:rPr>
              <a:t>phonological, </a:t>
            </a:r>
            <a:r>
              <a:rPr dirty="0" sz="1100" spc="-5">
                <a:latin typeface="Times New Roman"/>
                <a:cs typeface="Times New Roman"/>
              </a:rPr>
              <a:t>morphological, semantic,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syntactic, and other features.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studied by </a:t>
            </a:r>
            <a:r>
              <a:rPr dirty="0" sz="1100" spc="-5">
                <a:latin typeface="Times New Roman"/>
                <a:cs typeface="Times New Roman"/>
              </a:rPr>
              <a:t>historical linguistics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evolutionary linguistics. Inﬂuences </a:t>
            </a:r>
            <a:r>
              <a:rPr dirty="0" sz="1100">
                <a:latin typeface="Times New Roman"/>
                <a:cs typeface="Times New Roman"/>
              </a:rPr>
              <a:t> from the </a:t>
            </a:r>
            <a:r>
              <a:rPr dirty="0" sz="1100" spc="-5">
                <a:latin typeface="Times New Roman"/>
                <a:cs typeface="Times New Roman"/>
              </a:rPr>
              <a:t>outside,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the </a:t>
            </a:r>
            <a:r>
              <a:rPr dirty="0" sz="1100" spc="-5">
                <a:latin typeface="Times New Roman"/>
                <a:cs typeface="Times New Roman"/>
              </a:rPr>
              <a:t>borrowed 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Norman</a:t>
            </a:r>
            <a:r>
              <a:rPr dirty="0" sz="1100">
                <a:latin typeface="Times New Roman"/>
                <a:cs typeface="Times New Roman"/>
              </a:rPr>
              <a:t> French or </a:t>
            </a:r>
            <a:r>
              <a:rPr dirty="0" sz="1100" spc="-5">
                <a:latin typeface="Times New Roman"/>
                <a:cs typeface="Times New Roman"/>
              </a:rPr>
              <a:t>Old </a:t>
            </a:r>
            <a:r>
              <a:rPr dirty="0" sz="1100">
                <a:latin typeface="Times New Roman"/>
                <a:cs typeface="Times New Roman"/>
              </a:rPr>
              <a:t>Norse,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external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</a:t>
            </a:r>
            <a:r>
              <a:rPr dirty="0" sz="1100">
                <a:latin typeface="Times New Roman"/>
                <a:cs typeface="Times New Roman"/>
              </a:rPr>
              <a:t>are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Middle 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0604" y="2717647"/>
            <a:ext cx="701675" cy="4159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[h]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hlud</a:t>
            </a:r>
            <a:endParaRPr sz="11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Hlaford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6101" y="2717647"/>
            <a:ext cx="308610" cy="415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0485" marR="5080" indent="-58419">
              <a:lnSpc>
                <a:spcPct val="116399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loud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15">
                <a:latin typeface="Times New Roman"/>
                <a:cs typeface="Times New Roman"/>
              </a:rPr>
              <a:t>o</a:t>
            </a:r>
            <a:r>
              <a:rPr dirty="0" sz="1100">
                <a:latin typeface="Times New Roman"/>
                <a:cs typeface="Times New Roman"/>
              </a:rPr>
              <a:t>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3109696"/>
            <a:ext cx="5971540" cy="511365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229"/>
              </a:spcBef>
            </a:pPr>
            <a:r>
              <a:rPr dirty="0" sz="1100" spc="-1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kept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spelling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‘silent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[k],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[g].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gnaw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metathesis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reversal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sounds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acsian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frist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brinnan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beornan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(burn)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bridd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bird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hros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horse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wæps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469265" marR="4170679" indent="-4572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 English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Subject-verb-Object</a:t>
            </a:r>
            <a:endParaRPr sz="1100">
              <a:latin typeface="Times New Roman"/>
              <a:cs typeface="Times New Roman"/>
            </a:endParaRPr>
          </a:p>
          <a:p>
            <a:pPr marL="469265" marR="1384300">
              <a:lnSpc>
                <a:spcPts val="146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But,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orders </a:t>
            </a:r>
            <a:r>
              <a:rPr dirty="0" sz="1100">
                <a:latin typeface="Times New Roman"/>
                <a:cs typeface="Times New Roman"/>
              </a:rPr>
              <a:t>too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‘ferde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he’(he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traveled)</a:t>
            </a:r>
            <a:endParaRPr sz="1100">
              <a:latin typeface="Times New Roman"/>
              <a:cs typeface="Times New Roman"/>
            </a:endParaRPr>
          </a:p>
          <a:p>
            <a:pPr marL="504825">
              <a:lnSpc>
                <a:spcPct val="10000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hine geseah’.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889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Modern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borrowed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ceased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thrust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sword’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Were 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werefolf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broadening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effect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religious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5">
                <a:latin typeface="Times New Roman"/>
                <a:cs typeface="Times New Roman"/>
              </a:rPr>
              <a:t> holyday </a:t>
            </a:r>
            <a:r>
              <a:rPr dirty="0" sz="1100">
                <a:latin typeface="Times New Roman"/>
                <a:cs typeface="Times New Roman"/>
              </a:rPr>
              <a:t>for any</a:t>
            </a:r>
            <a:r>
              <a:rPr dirty="0" sz="1100" spc="-5">
                <a:latin typeface="Times New Roman"/>
                <a:cs typeface="Times New Roman"/>
              </a:rPr>
              <a:t> day(s)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Similarly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narrowing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found.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Wife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married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67510"/>
            <a:ext cx="5974080" cy="81756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8890">
              <a:lnSpc>
                <a:spcPct val="100000"/>
              </a:lnSpc>
              <a:spcBef>
                <a:spcPts val="265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Lesson-43</a:t>
            </a:r>
            <a:endParaRPr sz="1400">
              <a:latin typeface="Times New Roman"/>
              <a:cs typeface="Times New Roman"/>
            </a:endParaRPr>
          </a:p>
          <a:p>
            <a:pPr marL="1797050">
              <a:lnSpc>
                <a:spcPct val="100000"/>
              </a:lnSpc>
              <a:spcBef>
                <a:spcPts val="170"/>
              </a:spcBef>
            </a:pPr>
            <a:r>
              <a:rPr dirty="0" sz="1400" spc="-5" b="1">
                <a:latin typeface="Times New Roman"/>
                <a:cs typeface="Times New Roman"/>
              </a:rPr>
              <a:t>COMPUTATIONAL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246: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Computational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dream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fiction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present scientists 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 programs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can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learn </a:t>
            </a:r>
            <a:r>
              <a:rPr dirty="0" sz="1100">
                <a:latin typeface="Times New Roman"/>
                <a:cs typeface="Times New Roman"/>
              </a:rPr>
              <a:t> aspects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human language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written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spoken. Varying </a:t>
            </a:r>
            <a:r>
              <a:rPr dirty="0" sz="1100">
                <a:latin typeface="Times New Roman"/>
                <a:cs typeface="Times New Roman"/>
              </a:rPr>
              <a:t>degrees of </a:t>
            </a:r>
            <a:r>
              <a:rPr dirty="0" sz="1100" spc="-5">
                <a:latin typeface="Times New Roman"/>
                <a:cs typeface="Times New Roman"/>
              </a:rPr>
              <a:t>translating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languages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 Computational linguistics seeks </a:t>
            </a:r>
            <a:r>
              <a:rPr dirty="0" sz="1100">
                <a:latin typeface="Times New Roman"/>
                <a:cs typeface="Times New Roman"/>
              </a:rPr>
              <a:t>to develop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computational </a:t>
            </a:r>
            <a:r>
              <a:rPr dirty="0" sz="1100" spc="-5">
                <a:latin typeface="Times New Roman"/>
                <a:cs typeface="Times New Roman"/>
              </a:rPr>
              <a:t>machinery </a:t>
            </a:r>
            <a:r>
              <a:rPr dirty="0" sz="1100">
                <a:latin typeface="Times New Roman"/>
                <a:cs typeface="Times New Roman"/>
              </a:rPr>
              <a:t>needed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agent to </a:t>
            </a:r>
            <a:r>
              <a:rPr dirty="0" sz="1100">
                <a:latin typeface="Times New Roman"/>
                <a:cs typeface="Times New Roman"/>
              </a:rPr>
              <a:t> exhibit </a:t>
            </a:r>
            <a:r>
              <a:rPr dirty="0" sz="1100" spc="-5">
                <a:latin typeface="Times New Roman"/>
                <a:cs typeface="Times New Roman"/>
              </a:rPr>
              <a:t>various forms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behaviour. Agent means human </a:t>
            </a:r>
            <a:r>
              <a:rPr dirty="0" sz="1100">
                <a:latin typeface="Times New Roman"/>
                <a:cs typeface="Times New Roman"/>
              </a:rPr>
              <a:t>being and </a:t>
            </a:r>
            <a:r>
              <a:rPr dirty="0" sz="1100" spc="-5">
                <a:latin typeface="Times New Roman"/>
                <a:cs typeface="Times New Roman"/>
              </a:rPr>
              <a:t>artificial agents </a:t>
            </a:r>
            <a:r>
              <a:rPr dirty="0" sz="1100">
                <a:latin typeface="Times New Roman"/>
                <a:cs typeface="Times New Roman"/>
              </a:rPr>
              <a:t>such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program.</a:t>
            </a:r>
            <a:r>
              <a:rPr dirty="0" sz="1100">
                <a:latin typeface="Times New Roman"/>
                <a:cs typeface="Times New Roman"/>
              </a:rPr>
              <a:t> Machinery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 contain.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capabilities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programs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them.</a:t>
            </a:r>
            <a:r>
              <a:rPr dirty="0" sz="1100" spc="-5">
                <a:latin typeface="Times New Roman"/>
                <a:cs typeface="Times New Roman"/>
              </a:rPr>
              <a:t> 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thinking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intelligence.</a:t>
            </a:r>
            <a:endParaRPr sz="110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fields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accidental.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computers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mechanical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symbol-processor.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draws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involvement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artificial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intelligence,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mathematicians,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logicians,</a:t>
            </a:r>
            <a:r>
              <a:rPr dirty="0" sz="1100">
                <a:latin typeface="Times New Roman"/>
                <a:cs typeface="Times New Roman"/>
              </a:rPr>
              <a:t> philosophers,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psychologists,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psycholinguists,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anthropologists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neuroscientists, among </a:t>
            </a:r>
            <a:r>
              <a:rPr dirty="0" sz="1100">
                <a:latin typeface="Times New Roman"/>
                <a:cs typeface="Times New Roman"/>
              </a:rPr>
              <a:t>others. </a:t>
            </a:r>
            <a:r>
              <a:rPr dirty="0" sz="1100" spc="-5">
                <a:latin typeface="Times New Roman"/>
                <a:cs typeface="Times New Roman"/>
              </a:rPr>
              <a:t>‘Human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is </a:t>
            </a:r>
            <a:r>
              <a:rPr dirty="0" sz="1100" spc="-5">
                <a:latin typeface="Times New Roman"/>
                <a:cs typeface="Times New Roman"/>
              </a:rPr>
              <a:t>expressed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important.’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(Mark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Steedman)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247: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Processes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drawn upon </a:t>
            </a:r>
            <a:r>
              <a:rPr dirty="0" sz="1100" spc="-5">
                <a:latin typeface="Times New Roman"/>
                <a:cs typeface="Times New Roman"/>
              </a:rPr>
              <a:t>theories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philosophical logic,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of </a:t>
            </a:r>
            <a:r>
              <a:rPr dirty="0" sz="1100" spc="-5">
                <a:latin typeface="Times New Roman"/>
                <a:cs typeface="Times New Roman"/>
              </a:rPr>
              <a:t>course computer science. Early work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mid-1950s </a:t>
            </a:r>
            <a:r>
              <a:rPr dirty="0" sz="1100">
                <a:latin typeface="Times New Roman"/>
                <a:cs typeface="Times New Roman"/>
              </a:rPr>
              <a:t>to around 1970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theory-neutral.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 </a:t>
            </a:r>
            <a:r>
              <a:rPr dirty="0" sz="1100">
                <a:latin typeface="Times New Roman"/>
                <a:cs typeface="Times New Roman"/>
              </a:rPr>
              <a:t>concern has </a:t>
            </a:r>
            <a:r>
              <a:rPr dirty="0" sz="1100" spc="-5">
                <a:latin typeface="Times New Roman"/>
                <a:cs typeface="Times New Roman"/>
              </a:rPr>
              <a:t>been the 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practical techniques for such applications as MT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MT,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 were: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‘sublanguages’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domains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weather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reports),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Transduction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QA,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concern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Characterizing 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encountered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domain,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mid-1960s with </a:t>
            </a:r>
            <a:r>
              <a:rPr dirty="0" sz="1100">
                <a:latin typeface="Times New Roman"/>
                <a:cs typeface="Times New Roman"/>
              </a:rPr>
              <a:t>the increasing </a:t>
            </a:r>
            <a:r>
              <a:rPr dirty="0" sz="1100" spc="-5">
                <a:latin typeface="Times New Roman"/>
                <a:cs typeface="Times New Roman"/>
              </a:rPr>
              <a:t>power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availability </a:t>
            </a:r>
            <a:r>
              <a:rPr dirty="0" sz="1100">
                <a:latin typeface="Times New Roman"/>
                <a:cs typeface="Times New Roman"/>
              </a:rPr>
              <a:t>of general-purpose computers,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dream of </a:t>
            </a:r>
            <a:r>
              <a:rPr dirty="0" sz="1100" spc="-5">
                <a:latin typeface="Times New Roman"/>
                <a:cs typeface="Times New Roman"/>
              </a:rPr>
              <a:t>human-level artificial intelligence began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fulfilled. Since the 1970s,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scientists have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aim </a:t>
            </a:r>
            <a:r>
              <a:rPr dirty="0" sz="1100">
                <a:latin typeface="Times New Roman"/>
                <a:cs typeface="Times New Roman"/>
              </a:rPr>
              <a:t>of encoding the </a:t>
            </a:r>
            <a:r>
              <a:rPr dirty="0" sz="1100" spc="-5">
                <a:latin typeface="Times New Roman"/>
                <a:cs typeface="Times New Roman"/>
              </a:rPr>
              <a:t>bulk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world knowledge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understandable, </a:t>
            </a:r>
            <a:r>
              <a:rPr dirty="0" sz="1100" spc="-5">
                <a:latin typeface="Times New Roman"/>
                <a:cs typeface="Times New Roman"/>
              </a:rPr>
              <a:t>modular, </a:t>
            </a:r>
            <a:r>
              <a:rPr dirty="0" sz="1100" spc="10">
                <a:latin typeface="Times New Roman"/>
                <a:cs typeface="Times New Roman"/>
              </a:rPr>
              <a:t>re- 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usable </a:t>
            </a:r>
            <a:r>
              <a:rPr dirty="0" sz="1100" spc="-5">
                <a:latin typeface="Times New Roman"/>
                <a:cs typeface="Times New Roman"/>
              </a:rPr>
              <a:t>forms,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firmer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foundations.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comprehensive</a:t>
            </a:r>
            <a:r>
              <a:rPr dirty="0" sz="1100">
                <a:latin typeface="Times New Roman"/>
                <a:cs typeface="Times New Roman"/>
              </a:rPr>
              <a:t> syntactico-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frameworks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Generalized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270" cy="8181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52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computational tractability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parsing, </a:t>
            </a:r>
            <a:r>
              <a:rPr dirty="0" sz="1100">
                <a:latin typeface="Times New Roman"/>
                <a:cs typeface="Times New Roman"/>
              </a:rPr>
              <a:t>and the </a:t>
            </a:r>
            <a:r>
              <a:rPr dirty="0" sz="1100" spc="-5">
                <a:latin typeface="Times New Roman"/>
                <a:cs typeface="Times New Roman"/>
              </a:rPr>
              <a:t>mapping </a:t>
            </a:r>
            <a:r>
              <a:rPr dirty="0" sz="1100">
                <a:latin typeface="Times New Roman"/>
                <a:cs typeface="Times New Roman"/>
              </a:rPr>
              <a:t>from syntax to semantics.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mirror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thinking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248: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Morphological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Computational morphology </a:t>
            </a:r>
            <a:r>
              <a:rPr dirty="0" sz="1100">
                <a:latin typeface="Times New Roman"/>
                <a:cs typeface="Times New Roman"/>
              </a:rPr>
              <a:t>deals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processing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word forms, </a:t>
            </a:r>
            <a:r>
              <a:rPr dirty="0" sz="1100">
                <a:latin typeface="Times New Roman"/>
                <a:cs typeface="Times New Roman"/>
              </a:rPr>
              <a:t>in both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graphemic,</a:t>
            </a:r>
            <a:r>
              <a:rPr dirty="0" sz="1100">
                <a:latin typeface="Times New Roman"/>
                <a:cs typeface="Times New Roman"/>
              </a:rPr>
              <a:t> i.e.,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phonemic,</a:t>
            </a:r>
            <a:r>
              <a:rPr dirty="0" sz="1100">
                <a:latin typeface="Times New Roman"/>
                <a:cs typeface="Times New Roman"/>
              </a:rPr>
              <a:t> i.e.,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task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automatic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break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stem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along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affixes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processing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algn="just" marL="1612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Hussain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well,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Hussain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 name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reads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third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 (read+s)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either 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adverb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algn="just" marL="12700" marR="952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morphological analyzer will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able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identify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syntactic roles </a:t>
            </a:r>
            <a:r>
              <a:rPr dirty="0" sz="1100">
                <a:latin typeface="Times New Roman"/>
                <a:cs typeface="Times New Roman"/>
              </a:rPr>
              <a:t>of words. The </a:t>
            </a:r>
            <a:r>
              <a:rPr dirty="0" sz="1100" spc="-5">
                <a:latin typeface="Times New Roman"/>
                <a:cs typeface="Times New Roman"/>
              </a:rPr>
              <a:t>role is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subsequent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Tokenization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Usually,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step in </a:t>
            </a:r>
            <a:r>
              <a:rPr dirty="0" sz="1100" spc="-5">
                <a:latin typeface="Times New Roman"/>
                <a:cs typeface="Times New Roman"/>
              </a:rPr>
              <a:t>morphological analysis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identify separate words. This </a:t>
            </a:r>
            <a:r>
              <a:rPr dirty="0" sz="1100">
                <a:latin typeface="Times New Roman"/>
                <a:cs typeface="Times New Roman"/>
              </a:rPr>
              <a:t>can be </a:t>
            </a:r>
            <a:r>
              <a:rPr dirty="0" sz="1100" spc="-5">
                <a:latin typeface="Times New Roman"/>
                <a:cs typeface="Times New Roman"/>
              </a:rPr>
              <a:t>fairly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languages like English, where words are delimited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space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punctuation characters, and </a:t>
            </a:r>
            <a:r>
              <a:rPr dirty="0" sz="1100">
                <a:latin typeface="Times New Roman"/>
                <a:cs typeface="Times New Roman"/>
              </a:rPr>
              <a:t> where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capital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tokenization problems: periods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abbreviation </a:t>
            </a:r>
            <a:r>
              <a:rPr dirty="0" sz="1100">
                <a:latin typeface="Times New Roman"/>
                <a:cs typeface="Times New Roman"/>
              </a:rPr>
              <a:t>UK. </a:t>
            </a:r>
            <a:r>
              <a:rPr dirty="0" sz="1100" spc="-5">
                <a:latin typeface="Times New Roman"/>
                <a:cs typeface="Times New Roman"/>
              </a:rPr>
              <a:t>However 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very challenging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synthetic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Morphological 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synthesis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incompatibilities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in+con+patible+ity+s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incompatibility+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5" b="1">
                <a:latin typeface="Times New Roman"/>
                <a:cs typeface="Times New Roman"/>
              </a:rPr>
              <a:t> Simple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Stemming Algorithm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6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stemming algorithm </a:t>
            </a:r>
            <a:r>
              <a:rPr dirty="0" sz="1100">
                <a:latin typeface="Times New Roman"/>
                <a:cs typeface="Times New Roman"/>
              </a:rPr>
              <a:t>is used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strips off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arrive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 the </a:t>
            </a:r>
            <a:r>
              <a:rPr dirty="0" sz="1100" spc="-5">
                <a:latin typeface="Times New Roman"/>
                <a:cs typeface="Times New Roman"/>
              </a:rPr>
              <a:t>stem form.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basic </a:t>
            </a:r>
            <a:r>
              <a:rPr dirty="0" sz="1100" spc="-5">
                <a:latin typeface="Times New Roman"/>
                <a:cs typeface="Times New Roman"/>
              </a:rPr>
              <a:t>task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computational morphology </a:t>
            </a:r>
            <a:r>
              <a:rPr dirty="0" sz="1100">
                <a:latin typeface="Times New Roman"/>
                <a:cs typeface="Times New Roman"/>
              </a:rPr>
              <a:t>is to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>
                <a:latin typeface="Times New Roman"/>
                <a:cs typeface="Times New Roman"/>
              </a:rPr>
              <a:t>a string of </a:t>
            </a:r>
            <a:r>
              <a:rPr dirty="0" sz="1100" spc="-5">
                <a:latin typeface="Times New Roman"/>
                <a:cs typeface="Times New Roman"/>
              </a:rPr>
              <a:t>characters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phonemes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input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deliver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output.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249: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Syntactic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can a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sentence?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parser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 analysis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sentence. However, there are ambiguous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than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fish.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4187164"/>
            <a:ext cx="5969000" cy="486473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purpose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‘Toy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grammar’.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toy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VPs: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(Aux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V,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Aux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 kinds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NPs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</a:t>
            </a:r>
            <a:r>
              <a:rPr dirty="0" sz="1100" spc="-5">
                <a:latin typeface="Times New Roman"/>
                <a:cs typeface="Times New Roman"/>
              </a:rPr>
              <a:t> 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N,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Terminals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non-terminals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500"/>
              </a:lnSpc>
            </a:pP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toy grammar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covers only </a:t>
            </a:r>
            <a:r>
              <a:rPr dirty="0" sz="1100" spc="-5">
                <a:latin typeface="Times New Roman"/>
                <a:cs typeface="Times New Roman"/>
              </a:rPr>
              <a:t>three different verbs,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auxiliary verb,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determiner, two </a:t>
            </a:r>
            <a:r>
              <a:rPr dirty="0" sz="1100">
                <a:latin typeface="Times New Roman"/>
                <a:cs typeface="Times New Roman"/>
              </a:rPr>
              <a:t> nouns,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pronoun, </a:t>
            </a:r>
            <a:r>
              <a:rPr dirty="0" sz="1100" spc="-1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so it can </a:t>
            </a:r>
            <a:r>
              <a:rPr dirty="0" sz="1100" spc="-5">
                <a:latin typeface="Times New Roman"/>
                <a:cs typeface="Times New Roman"/>
              </a:rPr>
              <a:t>describe quite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sentences. Grammars written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context-free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Parsing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There is </a:t>
            </a:r>
            <a:r>
              <a:rPr dirty="0" sz="1100" spc="-5">
                <a:latin typeface="Times New Roman"/>
                <a:cs typeface="Times New Roman"/>
              </a:rPr>
              <a:t>another question. How </a:t>
            </a:r>
            <a:r>
              <a:rPr dirty="0" sz="110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we get </a:t>
            </a:r>
            <a:r>
              <a:rPr dirty="0" sz="1100">
                <a:latin typeface="Times New Roman"/>
                <a:cs typeface="Times New Roman"/>
              </a:rPr>
              <a:t>a computer to </a:t>
            </a:r>
            <a:r>
              <a:rPr dirty="0" sz="1100" spc="-5">
                <a:latin typeface="Times New Roman"/>
                <a:cs typeface="Times New Roman"/>
              </a:rPr>
              <a:t>analyze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syntactic structure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following?</a:t>
            </a:r>
            <a:endParaRPr sz="1100">
              <a:latin typeface="Times New Roman"/>
              <a:cs typeface="Times New Roman"/>
            </a:endParaRPr>
          </a:p>
          <a:p>
            <a:pPr algn="just" lvl="1" marL="1383665" indent="-457834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1383665" algn="l"/>
                <a:tab pos="13843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fish.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A parser </a:t>
            </a:r>
            <a:r>
              <a:rPr dirty="0" sz="1100" spc="-5">
                <a:latin typeface="Times New Roman"/>
                <a:cs typeface="Times New Roman"/>
              </a:rPr>
              <a:t>takes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input sentence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produces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syntactic representations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representation if there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syntactic ambiguity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r>
              <a:rPr dirty="0" sz="1100">
                <a:latin typeface="Times New Roman"/>
                <a:cs typeface="Times New Roman"/>
              </a:rPr>
              <a:t> I can </a:t>
            </a:r>
            <a:r>
              <a:rPr dirty="0" sz="1100" spc="-5">
                <a:latin typeface="Times New Roman"/>
                <a:cs typeface="Times New Roman"/>
              </a:rPr>
              <a:t>fish. One way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represent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hierarchical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 structure </a:t>
            </a:r>
            <a:r>
              <a:rPr dirty="0" sz="1100">
                <a:latin typeface="Times New Roman"/>
                <a:cs typeface="Times New Roman"/>
              </a:rPr>
              <a:t>of a sentence is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parse tree. </a:t>
            </a:r>
            <a:r>
              <a:rPr dirty="0" sz="1100">
                <a:latin typeface="Times New Roman"/>
                <a:cs typeface="Times New Roman"/>
              </a:rPr>
              <a:t>There are </a:t>
            </a:r>
            <a:r>
              <a:rPr dirty="0" sz="1100" spc="-5">
                <a:latin typeface="Times New Roman"/>
                <a:cs typeface="Times New Roman"/>
              </a:rPr>
              <a:t>several 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parsers. </a:t>
            </a:r>
            <a:r>
              <a:rPr dirty="0" sz="1100">
                <a:latin typeface="Times New Roman"/>
                <a:cs typeface="Times New Roman"/>
              </a:rPr>
              <a:t>A top-down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parser,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expect, </a:t>
            </a:r>
            <a:r>
              <a:rPr dirty="0" sz="1100" spc="-5">
                <a:latin typeface="Times New Roman"/>
                <a:cs typeface="Times New Roman"/>
              </a:rPr>
              <a:t>builds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parse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down.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250: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Semantic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utterance?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parse </a:t>
            </a:r>
            <a:r>
              <a:rPr dirty="0" sz="1100">
                <a:latin typeface="Times New Roman"/>
                <a:cs typeface="Times New Roman"/>
              </a:rPr>
              <a:t>tree,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part-of-speech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00" b="1">
                <a:latin typeface="Times New Roman"/>
                <a:cs typeface="Times New Roman"/>
              </a:rPr>
              <a:t>Spot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found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nice spot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lunch.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out, damned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188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210054" y="864108"/>
          <a:ext cx="3324860" cy="324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835"/>
                <a:gridCol w="1715135"/>
              </a:tblGrid>
              <a:tr h="190500">
                <a:tc gridSpan="2">
                  <a:txBody>
                    <a:bodyPr/>
                    <a:lstStyle/>
                    <a:p>
                      <a:pPr marL="525780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Context-free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grammars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4062">
                <a:tc>
                  <a:txBody>
                    <a:bodyPr/>
                    <a:lstStyle/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NP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Aux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9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Aux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9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0180" indent="-457834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Symbol"/>
                        <a:buChar char=""/>
                        <a:tabLst>
                          <a:tab pos="1440180" algn="l"/>
                          <a:tab pos="14408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noun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7127"/>
            <a:ext cx="5971540" cy="8018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spot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(British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 b="1">
                <a:latin typeface="Times New Roman"/>
                <a:cs typeface="Times New Roman"/>
              </a:rPr>
              <a:t>Word-sense Disambiguator: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uses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neighboring 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sentence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well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words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document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figure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which meaning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given word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most likely.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uses </a:t>
            </a:r>
            <a:r>
              <a:rPr dirty="0" sz="1100" spc="-5">
                <a:latin typeface="Times New Roman"/>
                <a:cs typeface="Times New Roman"/>
              </a:rPr>
              <a:t>rules that </a:t>
            </a:r>
            <a:r>
              <a:rPr dirty="0" sz="1100">
                <a:latin typeface="Times New Roman"/>
                <a:cs typeface="Times New Roman"/>
              </a:rPr>
              <a:t> depend on </a:t>
            </a:r>
            <a:r>
              <a:rPr dirty="0" sz="1100" spc="-5">
                <a:latin typeface="Times New Roman"/>
                <a:cs typeface="Times New Roman"/>
              </a:rPr>
              <a:t>context,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these rules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derived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human intuition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training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machine learning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program.</a:t>
            </a:r>
            <a:r>
              <a:rPr dirty="0" sz="1100">
                <a:latin typeface="Times New Roman"/>
                <a:cs typeface="Times New Roman"/>
              </a:rPr>
              <a:t> A word’s </a:t>
            </a:r>
            <a:r>
              <a:rPr dirty="0" sz="1100" spc="-5">
                <a:latin typeface="Times New Roman"/>
                <a:cs typeface="Times New Roman"/>
              </a:rPr>
              <a:t>syntactic and semantic properties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represented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computer’s digital lexicon.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represented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digital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Cook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(v)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sub-categorization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“arguments,”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Thematic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arguments).</a:t>
            </a:r>
            <a:endParaRPr sz="11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Husain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cooked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meatloaf</a:t>
            </a:r>
            <a:endParaRPr sz="11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b.</a:t>
            </a:r>
            <a:r>
              <a:rPr dirty="0" sz="1100" spc="-5">
                <a:latin typeface="Times New Roman"/>
                <a:cs typeface="Times New Roman"/>
              </a:rPr>
              <a:t> COOK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(Recipient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NP,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 NP)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Husain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cooked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 dinner</a:t>
            </a:r>
            <a:endParaRPr sz="11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c.</a:t>
            </a:r>
            <a:r>
              <a:rPr dirty="0" sz="1100" spc="-5">
                <a:latin typeface="Times New Roman"/>
                <a:cs typeface="Times New Roman"/>
              </a:rPr>
              <a:t> COOK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(Theme NP, Recipient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for-PP)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Husain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cooked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dinner 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Mary,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1079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largely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functions,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assembling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smaller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251: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Application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9525" indent="456565">
              <a:lnSpc>
                <a:spcPct val="1109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applications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years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using 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applications</a:t>
            </a:r>
            <a:r>
              <a:rPr dirty="0" sz="1100">
                <a:latin typeface="Times New Roman"/>
                <a:cs typeface="Times New Roman"/>
              </a:rPr>
              <a:t> such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 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processing,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spe</a:t>
            </a:r>
            <a:r>
              <a:rPr dirty="0" sz="1100" spc="-10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10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</a:t>
            </a:r>
            <a:r>
              <a:rPr dirty="0" sz="1100" spc="5">
                <a:latin typeface="Times New Roman"/>
                <a:cs typeface="Times New Roman"/>
              </a:rPr>
              <a:t>r</a:t>
            </a:r>
            <a:r>
              <a:rPr dirty="0" sz="1100" spc="-10">
                <a:latin typeface="Times New Roman"/>
                <a:cs typeface="Times New Roman"/>
              </a:rPr>
              <a:t>r</a:t>
            </a:r>
            <a:r>
              <a:rPr dirty="0" sz="1100">
                <a:latin typeface="Times New Roman"/>
                <a:cs typeface="Times New Roman"/>
              </a:rPr>
              <a:t>ec</a:t>
            </a:r>
            <a:r>
              <a:rPr dirty="0" sz="1100" spc="-10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ion,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algn="just" marL="12700" marR="10795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storing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resulted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exponential increase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available to computers,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 being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natural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>
                <a:latin typeface="Times New Roman"/>
                <a:cs typeface="Times New Roman"/>
              </a:rPr>
              <a:t>Since computers can </a:t>
            </a:r>
            <a:r>
              <a:rPr dirty="0" sz="1100" spc="-5">
                <a:latin typeface="Times New Roman"/>
                <a:cs typeface="Times New Roman"/>
              </a:rPr>
              <a:t>search through </a:t>
            </a:r>
            <a:r>
              <a:rPr dirty="0" sz="1100">
                <a:latin typeface="Times New Roman"/>
                <a:cs typeface="Times New Roman"/>
              </a:rPr>
              <a:t>documents in </a:t>
            </a:r>
            <a:r>
              <a:rPr dirty="0" sz="1100" spc="-5">
                <a:latin typeface="Times New Roman"/>
                <a:cs typeface="Times New Roman"/>
              </a:rPr>
              <a:t>different 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find information much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faster than humans </a:t>
            </a:r>
            <a:r>
              <a:rPr dirty="0" sz="1100">
                <a:latin typeface="Times New Roman"/>
                <a:cs typeface="Times New Roman"/>
              </a:rPr>
              <a:t>can, Search </a:t>
            </a:r>
            <a:r>
              <a:rPr dirty="0" sz="1100" spc="-5">
                <a:latin typeface="Times New Roman"/>
                <a:cs typeface="Times New Roman"/>
              </a:rPr>
              <a:t>engines that troll through web </a:t>
            </a:r>
            <a:r>
              <a:rPr dirty="0" sz="1100">
                <a:latin typeface="Times New Roman"/>
                <a:cs typeface="Times New Roman"/>
              </a:rPr>
              <a:t>pages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become extremely useful.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wide 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email and cellular </a:t>
            </a:r>
            <a:r>
              <a:rPr dirty="0" sz="1100">
                <a:latin typeface="Times New Roman"/>
                <a:cs typeface="Times New Roman"/>
              </a:rPr>
              <a:t>phones, speech </a:t>
            </a:r>
            <a:r>
              <a:rPr dirty="0" sz="1100" spc="-5">
                <a:latin typeface="Times New Roman"/>
                <a:cs typeface="Times New Roman"/>
              </a:rPr>
              <a:t>enabled applications have started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presence 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flight 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reservation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extraction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synthesis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Machine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imes New Roman"/>
                <a:cs typeface="Times New Roman"/>
              </a:rPr>
              <a:t>These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opportunities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5">
                <a:latin typeface="Times New Roman"/>
                <a:cs typeface="Times New Roman"/>
              </a:rPr>
              <a:t> embed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apply </a:t>
            </a:r>
            <a:r>
              <a:rPr dirty="0" sz="1100">
                <a:latin typeface="Times New Roman"/>
                <a:cs typeface="Times New Roman"/>
              </a:rPr>
              <a:t>computational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6094" y="888237"/>
            <a:ext cx="786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004" y="1122934"/>
            <a:ext cx="5972810" cy="7519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54659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LEXICOGRAPHY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252: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Dictionary: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many types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up-to-date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included.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Prototypical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5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prototypical dictionary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the form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static (book)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dynamic </a:t>
            </a:r>
            <a:r>
              <a:rPr dirty="0" sz="1100">
                <a:latin typeface="Times New Roman"/>
                <a:cs typeface="Times New Roman"/>
              </a:rPr>
              <a:t>product </a:t>
            </a:r>
            <a:r>
              <a:rPr dirty="0" sz="1100" spc="-5">
                <a:latin typeface="Times New Roman"/>
                <a:cs typeface="Times New Roman"/>
              </a:rPr>
              <a:t>(e-dictionary) with </a:t>
            </a:r>
            <a:r>
              <a:rPr dirty="0" sz="1100">
                <a:latin typeface="Times New Roman"/>
                <a:cs typeface="Times New Roman"/>
              </a:rPr>
              <a:t> an </a:t>
            </a:r>
            <a:r>
              <a:rPr dirty="0" sz="1100" spc="-5">
                <a:latin typeface="Times New Roman"/>
                <a:cs typeface="Times New Roman"/>
              </a:rPr>
              <a:t>inter-structure that establishes links between </a:t>
            </a:r>
            <a:r>
              <a:rPr dirty="0" sz="1100">
                <a:latin typeface="Times New Roman"/>
                <a:cs typeface="Times New Roman"/>
              </a:rPr>
              <a:t>the various components </a:t>
            </a:r>
            <a:r>
              <a:rPr dirty="0" sz="1100" spc="-5">
                <a:latin typeface="Times New Roman"/>
                <a:cs typeface="Times New Roman"/>
              </a:rPr>
              <a:t>(e-dictionary) and is usually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alphabetically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Record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lexicon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Quick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guardian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Spelling,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fixed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 marR="762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dictionaries.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specialist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Who invented </a:t>
            </a:r>
            <a:r>
              <a:rPr dirty="0" sz="1100" spc="-5">
                <a:latin typeface="Times New Roman"/>
                <a:cs typeface="Times New Roman"/>
              </a:rPr>
              <a:t>the dictionary?</a:t>
            </a:r>
            <a:r>
              <a:rPr dirty="0" sz="1100">
                <a:latin typeface="Times New Roman"/>
                <a:cs typeface="Times New Roman"/>
              </a:rPr>
              <a:t> Which </a:t>
            </a:r>
            <a:r>
              <a:rPr dirty="0" sz="1100" spc="-5">
                <a:latin typeface="Times New Roman"/>
                <a:cs typeface="Times New Roman"/>
              </a:rPr>
              <a:t>dictionary came first? </a:t>
            </a:r>
            <a:r>
              <a:rPr dirty="0" sz="1100">
                <a:latin typeface="Times New Roman"/>
                <a:cs typeface="Times New Roman"/>
              </a:rPr>
              <a:t>Was </a:t>
            </a:r>
            <a:r>
              <a:rPr dirty="0" sz="1100" spc="-5">
                <a:latin typeface="Times New Roman"/>
                <a:cs typeface="Times New Roman"/>
              </a:rPr>
              <a:t>the first dictionary bilingual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monolingual?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oldest dictionary </a:t>
            </a:r>
            <a:r>
              <a:rPr dirty="0" sz="1100">
                <a:latin typeface="Times New Roman"/>
                <a:cs typeface="Times New Roman"/>
              </a:rPr>
              <a:t>dates </a:t>
            </a:r>
            <a:r>
              <a:rPr dirty="0" sz="1100" spc="-5">
                <a:latin typeface="Times New Roman"/>
                <a:cs typeface="Times New Roman"/>
              </a:rPr>
              <a:t>back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2600 BC.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Akkadian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Babylonian wrote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clay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1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Sumerian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accessible.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medieval </a:t>
            </a:r>
            <a:r>
              <a:rPr dirty="0" sz="1100">
                <a:latin typeface="Times New Roman"/>
                <a:cs typeface="Times New Roman"/>
              </a:rPr>
              <a:t>Europe, </a:t>
            </a:r>
            <a:r>
              <a:rPr dirty="0" sz="1100" spc="-5">
                <a:latin typeface="Times New Roman"/>
                <a:cs typeface="Times New Roman"/>
              </a:rPr>
              <a:t>glossaries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equivalents </a:t>
            </a:r>
            <a:r>
              <a:rPr dirty="0" sz="1100" spc="-5">
                <a:latin typeface="Times New Roman"/>
                <a:cs typeface="Times New Roman"/>
              </a:rPr>
              <a:t>for Latin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vernacular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simpler Latin were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use (e.g., </a:t>
            </a:r>
            <a:r>
              <a:rPr dirty="0" sz="1100">
                <a:latin typeface="Times New Roman"/>
                <a:cs typeface="Times New Roman"/>
              </a:rPr>
              <a:t>the Leiden </a:t>
            </a:r>
            <a:r>
              <a:rPr dirty="0" sz="1100" spc="-5">
                <a:latin typeface="Times New Roman"/>
                <a:cs typeface="Times New Roman"/>
              </a:rPr>
              <a:t>Glossary).The first </a:t>
            </a:r>
            <a:r>
              <a:rPr dirty="0" sz="1100" spc="5">
                <a:latin typeface="Times New Roman"/>
                <a:cs typeface="Times New Roman"/>
              </a:rPr>
              <a:t>edition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A Greek-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Lexicon </a:t>
            </a:r>
            <a:r>
              <a:rPr dirty="0" sz="1100">
                <a:latin typeface="Times New Roman"/>
                <a:cs typeface="Times New Roman"/>
              </a:rPr>
              <a:t>by Henry </a:t>
            </a:r>
            <a:r>
              <a:rPr dirty="0" sz="1100" spc="-5">
                <a:latin typeface="Times New Roman"/>
                <a:cs typeface="Times New Roman"/>
              </a:rPr>
              <a:t>George </a:t>
            </a:r>
            <a:r>
              <a:rPr dirty="0" sz="1100">
                <a:latin typeface="Times New Roman"/>
                <a:cs typeface="Times New Roman"/>
              </a:rPr>
              <a:t>Liddell and </a:t>
            </a:r>
            <a:r>
              <a:rPr dirty="0" sz="1100" spc="-5">
                <a:latin typeface="Times New Roman"/>
                <a:cs typeface="Times New Roman"/>
              </a:rPr>
              <a:t>Robert </a:t>
            </a:r>
            <a:r>
              <a:rPr dirty="0" sz="1100">
                <a:latin typeface="Times New Roman"/>
                <a:cs typeface="Times New Roman"/>
              </a:rPr>
              <a:t>Scott </a:t>
            </a:r>
            <a:r>
              <a:rPr dirty="0" sz="1100" spc="-5">
                <a:latin typeface="Times New Roman"/>
                <a:cs typeface="Times New Roman"/>
              </a:rPr>
              <a:t>appeared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1843.The earliest dictionaries in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glossaries </a:t>
            </a:r>
            <a:r>
              <a:rPr dirty="0" sz="1100">
                <a:latin typeface="Times New Roman"/>
                <a:cs typeface="Times New Roman"/>
              </a:rPr>
              <a:t>of French, </a:t>
            </a:r>
            <a:r>
              <a:rPr dirty="0" sz="1100" spc="-5">
                <a:latin typeface="Times New Roman"/>
                <a:cs typeface="Times New Roman"/>
              </a:rPr>
              <a:t>Spanish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Latin words along with their </a:t>
            </a:r>
            <a:r>
              <a:rPr dirty="0" sz="1100">
                <a:latin typeface="Times New Roman"/>
                <a:cs typeface="Times New Roman"/>
              </a:rPr>
              <a:t>definitions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word ‘dictionary’ was invented </a:t>
            </a:r>
            <a:r>
              <a:rPr dirty="0" sz="1100">
                <a:latin typeface="Times New Roman"/>
                <a:cs typeface="Times New Roman"/>
              </a:rPr>
              <a:t>by an </a:t>
            </a:r>
            <a:r>
              <a:rPr dirty="0" sz="1100" spc="-5">
                <a:latin typeface="Times New Roman"/>
                <a:cs typeface="Times New Roman"/>
              </a:rPr>
              <a:t>Englishman called </a:t>
            </a:r>
            <a:r>
              <a:rPr dirty="0" sz="1100">
                <a:latin typeface="Times New Roman"/>
                <a:cs typeface="Times New Roman"/>
              </a:rPr>
              <a:t>John of </a:t>
            </a:r>
            <a:r>
              <a:rPr dirty="0" sz="1100" spc="-5">
                <a:latin typeface="Times New Roman"/>
                <a:cs typeface="Times New Roman"/>
              </a:rPr>
              <a:t>Garland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1220.The first </a:t>
            </a:r>
            <a:r>
              <a:rPr dirty="0" sz="1100">
                <a:latin typeface="Times New Roman"/>
                <a:cs typeface="Times New Roman"/>
              </a:rPr>
              <a:t> purely </a:t>
            </a:r>
            <a:r>
              <a:rPr dirty="0" sz="1100" spc="-5">
                <a:latin typeface="Times New Roman"/>
                <a:cs typeface="Times New Roman"/>
              </a:rPr>
              <a:t>English alphabetical dictionary was </a:t>
            </a:r>
            <a:r>
              <a:rPr dirty="0" sz="1100">
                <a:latin typeface="Times New Roman"/>
                <a:cs typeface="Times New Roman"/>
              </a:rPr>
              <a:t>A Table </a:t>
            </a:r>
            <a:r>
              <a:rPr dirty="0" sz="1100" spc="-5">
                <a:latin typeface="Times New Roman"/>
                <a:cs typeface="Times New Roman"/>
              </a:rPr>
              <a:t>Alphabetically, written </a:t>
            </a:r>
            <a:r>
              <a:rPr dirty="0" sz="1100">
                <a:latin typeface="Times New Roman"/>
                <a:cs typeface="Times New Roman"/>
              </a:rPr>
              <a:t>by 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schoolteacher </a:t>
            </a:r>
            <a:r>
              <a:rPr dirty="0" sz="1100">
                <a:latin typeface="Times New Roman"/>
                <a:cs typeface="Times New Roman"/>
              </a:rPr>
              <a:t> Robert </a:t>
            </a:r>
            <a:r>
              <a:rPr dirty="0" sz="1100" spc="-5">
                <a:latin typeface="Times New Roman"/>
                <a:cs typeface="Times New Roman"/>
              </a:rPr>
              <a:t>Cawdrey </a:t>
            </a:r>
            <a:r>
              <a:rPr dirty="0" sz="1100">
                <a:latin typeface="Times New Roman"/>
                <a:cs typeface="Times New Roman"/>
              </a:rPr>
              <a:t>in 1604.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was not until Samuel Johnson's </a:t>
            </a:r>
            <a:r>
              <a:rPr dirty="0" sz="1100">
                <a:latin typeface="Times New Roman"/>
                <a:cs typeface="Times New Roman"/>
              </a:rPr>
              <a:t>A Dictionary of the English </a:t>
            </a:r>
            <a:r>
              <a:rPr dirty="0" sz="1100" spc="-5">
                <a:latin typeface="Times New Roman"/>
                <a:cs typeface="Times New Roman"/>
              </a:rPr>
              <a:t>Language (1755)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produced.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253: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Materials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contains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from more </a:t>
            </a:r>
            <a:r>
              <a:rPr dirty="0" sz="1100">
                <a:latin typeface="Times New Roman"/>
                <a:cs typeface="Times New Roman"/>
              </a:rPr>
              <a:t>sources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any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as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 history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contacts with any other 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substratum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is </a:t>
            </a:r>
            <a:r>
              <a:rPr dirty="0" sz="1100">
                <a:latin typeface="Times New Roman"/>
                <a:cs typeface="Times New Roman"/>
              </a:rPr>
              <a:t>Anglo-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Saxon. </a:t>
            </a:r>
            <a:r>
              <a:rPr dirty="0" sz="1100" spc="-5">
                <a:latin typeface="Times New Roman"/>
                <a:cs typeface="Times New Roman"/>
              </a:rPr>
              <a:t>Overlaid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this stratum </a:t>
            </a:r>
            <a:r>
              <a:rPr dirty="0" sz="1100">
                <a:latin typeface="Times New Roman"/>
                <a:cs typeface="Times New Roman"/>
              </a:rPr>
              <a:t>is a </a:t>
            </a:r>
            <a:r>
              <a:rPr dirty="0" sz="1100" spc="-5">
                <a:latin typeface="Times New Roman"/>
                <a:cs typeface="Times New Roman"/>
              </a:rPr>
              <a:t>Stratum </a:t>
            </a:r>
            <a:r>
              <a:rPr dirty="0" sz="1100">
                <a:latin typeface="Times New Roman"/>
                <a:cs typeface="Times New Roman"/>
              </a:rPr>
              <a:t>of Latinate </a:t>
            </a:r>
            <a:r>
              <a:rPr dirty="0" sz="1100" spc="-5">
                <a:latin typeface="Times New Roman"/>
                <a:cs typeface="Times New Roman"/>
              </a:rPr>
              <a:t>vocabulary.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invading Germanic tribes,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Angles, </a:t>
            </a:r>
            <a:r>
              <a:rPr dirty="0" sz="1100">
                <a:latin typeface="Times New Roman"/>
                <a:cs typeface="Times New Roman"/>
              </a:rPr>
              <a:t>Saxon and Jutes also </a:t>
            </a:r>
            <a:r>
              <a:rPr dirty="0" sz="1100" spc="-5">
                <a:latin typeface="Times New Roman"/>
                <a:cs typeface="Times New Roman"/>
              </a:rPr>
              <a:t>contributed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richness.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imported words from countless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vocabulary: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 available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860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Import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4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words are </a:t>
            </a:r>
            <a:r>
              <a:rPr dirty="0" sz="1100">
                <a:latin typeface="Times New Roman"/>
                <a:cs typeface="Times New Roman"/>
              </a:rPr>
              <a:t>added to the </a:t>
            </a:r>
            <a:r>
              <a:rPr dirty="0" sz="1100" spc="-5">
                <a:latin typeface="Times New Roman"/>
                <a:cs typeface="Times New Roman"/>
              </a:rPr>
              <a:t>word class: nouns, </a:t>
            </a:r>
            <a:r>
              <a:rPr dirty="0" sz="1100">
                <a:latin typeface="Times New Roman"/>
                <a:cs typeface="Times New Roman"/>
              </a:rPr>
              <a:t>verbs, </a:t>
            </a:r>
            <a:r>
              <a:rPr dirty="0" sz="1100" spc="-5">
                <a:latin typeface="Times New Roman"/>
                <a:cs typeface="Times New Roman"/>
              </a:rPr>
              <a:t>adjectives,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majority </a:t>
            </a:r>
            <a:r>
              <a:rPr dirty="0" sz="1100">
                <a:latin typeface="Times New Roman"/>
                <a:cs typeface="Times New Roman"/>
              </a:rPr>
              <a:t>being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nouns.</a:t>
            </a:r>
            <a:r>
              <a:rPr dirty="0" sz="1100" spc="-5">
                <a:latin typeface="Times New Roman"/>
                <a:cs typeface="Times New Roman"/>
              </a:rPr>
              <a:t> 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ways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014470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Compounding: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Seatbelt,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bookshop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Derivatives: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Acronyms: </a:t>
            </a:r>
            <a:r>
              <a:rPr dirty="0" sz="1100">
                <a:latin typeface="Times New Roman"/>
                <a:cs typeface="Times New Roman"/>
              </a:rPr>
              <a:t>ATM,</a:t>
            </a:r>
            <a:r>
              <a:rPr dirty="0" sz="1100" spc="-5">
                <a:latin typeface="Times New Roman"/>
                <a:cs typeface="Times New Roman"/>
              </a:rPr>
              <a:t> UNESCO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Loanwords: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Spaghetti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(Italian),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tycoon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(Japanese)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890" indent="4565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data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which lexicographers draw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information have to </a:t>
            </a:r>
            <a:r>
              <a:rPr dirty="0" sz="1100">
                <a:latin typeface="Times New Roman"/>
                <a:cs typeface="Times New Roman"/>
              </a:rPr>
              <a:t>be chosen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suit the </a:t>
            </a:r>
            <a:r>
              <a:rPr dirty="0" sz="1100" spc="-5">
                <a:latin typeface="Times New Roman"/>
                <a:cs typeface="Times New Roman"/>
              </a:rPr>
              <a:t>type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dictionary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Primary: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archives, corpus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Times New Roman"/>
                <a:cs typeface="Times New Roman"/>
              </a:rPr>
              <a:t>Secondary: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fieldwork,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encyclopedia,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www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254: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Uses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Users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1960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lexicologists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convinced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 have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-5">
                <a:latin typeface="Times New Roman"/>
                <a:cs typeface="Times New Roman"/>
              </a:rPr>
              <a:t>designed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special user groups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response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>
                <a:latin typeface="Times New Roman"/>
                <a:cs typeface="Times New Roman"/>
              </a:rPr>
              <a:t>needs. A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>
                <a:latin typeface="Times New Roman"/>
                <a:cs typeface="Times New Roman"/>
              </a:rPr>
              <a:t>is not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 containing all sort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interesting facts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data </a:t>
            </a:r>
            <a:r>
              <a:rPr dirty="0" sz="1100">
                <a:latin typeface="Times New Roman"/>
                <a:cs typeface="Times New Roman"/>
              </a:rPr>
              <a:t>about a </a:t>
            </a:r>
            <a:r>
              <a:rPr dirty="0" sz="1100" spc="-5">
                <a:latin typeface="Times New Roman"/>
                <a:cs typeface="Times New Roman"/>
              </a:rPr>
              <a:t>language.it should </a:t>
            </a:r>
            <a:r>
              <a:rPr dirty="0" sz="1100">
                <a:latin typeface="Times New Roman"/>
                <a:cs typeface="Times New Roman"/>
              </a:rPr>
              <a:t>be a </a:t>
            </a:r>
            <a:r>
              <a:rPr dirty="0" sz="1100" spc="-5">
                <a:latin typeface="Times New Roman"/>
                <a:cs typeface="Times New Roman"/>
              </a:rPr>
              <a:t>tool for the solution 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problem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people may have when </a:t>
            </a:r>
            <a:r>
              <a:rPr dirty="0" sz="1100">
                <a:latin typeface="Times New Roman"/>
                <a:cs typeface="Times New Roman"/>
              </a:rPr>
              <a:t>using a </a:t>
            </a:r>
            <a:r>
              <a:rPr dirty="0" sz="1100" spc="-5">
                <a:latin typeface="Times New Roman"/>
                <a:cs typeface="Times New Roman"/>
              </a:rPr>
              <a:t>language. Throughout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 was done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user+</a:t>
            </a:r>
            <a:r>
              <a:rPr dirty="0" sz="1100">
                <a:latin typeface="Times New Roman"/>
                <a:cs typeface="Times New Roman"/>
              </a:rPr>
              <a:t> uses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self-evaluation.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questionnaire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they use </a:t>
            </a:r>
            <a:r>
              <a:rPr dirty="0" sz="1100" spc="-5">
                <a:latin typeface="Times New Roman"/>
                <a:cs typeface="Times New Roman"/>
              </a:rPr>
              <a:t>the dictionary, what they </a:t>
            </a:r>
            <a:r>
              <a:rPr dirty="0" sz="1100">
                <a:latin typeface="Times New Roman"/>
                <a:cs typeface="Times New Roman"/>
              </a:rPr>
              <a:t>look up, for </a:t>
            </a:r>
            <a:r>
              <a:rPr dirty="0" sz="1100" spc="-5">
                <a:latin typeface="Times New Roman"/>
                <a:cs typeface="Times New Roman"/>
              </a:rPr>
              <a:t>what purpose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open dictionary </a:t>
            </a:r>
            <a:r>
              <a:rPr dirty="0" sz="1100">
                <a:latin typeface="Times New Roman"/>
                <a:cs typeface="Times New Roman"/>
              </a:rPr>
              <a:t> and how</a:t>
            </a:r>
            <a:r>
              <a:rPr dirty="0" sz="1100" spc="-5">
                <a:latin typeface="Times New Roman"/>
                <a:cs typeface="Times New Roman"/>
              </a:rPr>
              <a:t> satisfied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reading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Mostly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unknown</a:t>
            </a:r>
            <a:r>
              <a:rPr dirty="0" sz="1100">
                <a:latin typeface="Times New Roman"/>
                <a:cs typeface="Times New Roman"/>
              </a:rPr>
              <a:t> words.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Less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tools especially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checking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spellings.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Grammatical,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etymological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is only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rarely</a:t>
            </a:r>
            <a:r>
              <a:rPr dirty="0" sz="1100" spc="-5">
                <a:latin typeface="Times New Roman"/>
                <a:cs typeface="Times New Roman"/>
              </a:rPr>
              <a:t> looked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up.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frequently.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5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Varantola (2002:33) divides dictionary users </a:t>
            </a:r>
            <a:r>
              <a:rPr dirty="0" sz="1100">
                <a:latin typeface="Times New Roman"/>
                <a:cs typeface="Times New Roman"/>
              </a:rPr>
              <a:t>into three </a:t>
            </a:r>
            <a:r>
              <a:rPr dirty="0" sz="1100" spc="-5">
                <a:latin typeface="Times New Roman"/>
                <a:cs typeface="Times New Roman"/>
              </a:rPr>
              <a:t>broad categories: language learners, </a:t>
            </a:r>
            <a:r>
              <a:rPr dirty="0" sz="1100">
                <a:latin typeface="Times New Roman"/>
                <a:cs typeface="Times New Roman"/>
              </a:rPr>
              <a:t>non-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users;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‘normally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task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400"/>
              </a:lnSpc>
            </a:pPr>
            <a:r>
              <a:rPr dirty="0" sz="1100" spc="-5">
                <a:latin typeface="Times New Roman"/>
                <a:cs typeface="Times New Roman"/>
              </a:rPr>
              <a:t>Other user variables that affect behaviour are; age, mother tongue, </a:t>
            </a:r>
            <a:r>
              <a:rPr dirty="0" sz="1100" spc="5">
                <a:latin typeface="Times New Roman"/>
                <a:cs typeface="Times New Roman"/>
              </a:rPr>
              <a:t>second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foreign </a:t>
            </a:r>
            <a:r>
              <a:rPr dirty="0" sz="1100">
                <a:latin typeface="Times New Roman"/>
                <a:cs typeface="Times New Roman"/>
              </a:rPr>
              <a:t>language,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proficiency </a:t>
            </a:r>
            <a:r>
              <a:rPr dirty="0" sz="1100">
                <a:latin typeface="Times New Roman"/>
                <a:cs typeface="Times New Roman"/>
              </a:rPr>
              <a:t>level, </a:t>
            </a:r>
            <a:r>
              <a:rPr dirty="0" sz="1100" spc="-5">
                <a:latin typeface="Times New Roman"/>
                <a:cs typeface="Times New Roman"/>
              </a:rPr>
              <a:t>educational level, skill </a:t>
            </a:r>
            <a:r>
              <a:rPr dirty="0" sz="1100" spc="-10">
                <a:latin typeface="Times New Roman"/>
                <a:cs typeface="Times New Roman"/>
              </a:rPr>
              <a:t>level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>
                <a:latin typeface="Times New Roman"/>
                <a:cs typeface="Times New Roman"/>
              </a:rPr>
              <a:t>use etc.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Much </a:t>
            </a:r>
            <a:r>
              <a:rPr dirty="0" sz="1100" spc="-5">
                <a:latin typeface="Times New Roman"/>
                <a:cs typeface="Times New Roman"/>
              </a:rPr>
              <a:t>research has </a:t>
            </a:r>
            <a:r>
              <a:rPr dirty="0" sz="1100">
                <a:latin typeface="Times New Roman"/>
                <a:cs typeface="Times New Roman"/>
              </a:rPr>
              <a:t>been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 </a:t>
            </a:r>
            <a:r>
              <a:rPr dirty="0" sz="1100" spc="-5">
                <a:latin typeface="Times New Roman"/>
                <a:cs typeface="Times New Roman"/>
              </a:rPr>
              <a:t>over the last twenty years. Nevertheless uses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users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dictionaries remain for the moment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unknown.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255: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Corpora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Lexicography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dictionary describes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coherent subset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subset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>
                <a:latin typeface="Times New Roman"/>
                <a:cs typeface="Times New Roman"/>
              </a:rPr>
              <a:t> 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assembled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made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corpus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7816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350">
              <a:lnSpc>
                <a:spcPct val="110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electronic form nowadays. </a:t>
            </a:r>
            <a:r>
              <a:rPr dirty="0" sz="1100">
                <a:latin typeface="Times New Roman"/>
                <a:cs typeface="Times New Roman"/>
              </a:rPr>
              <a:t>The adequacy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size,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 diversity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those who assemble </a:t>
            </a:r>
            <a:r>
              <a:rPr dirty="0" sz="1100">
                <a:latin typeface="Times New Roman"/>
                <a:cs typeface="Times New Roman"/>
              </a:rPr>
              <a:t>it. A corpus </a:t>
            </a:r>
            <a:r>
              <a:rPr dirty="0" sz="1100" spc="-5">
                <a:latin typeface="Times New Roman"/>
                <a:cs typeface="Times New Roman"/>
              </a:rPr>
              <a:t>is close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centre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 spc="5">
                <a:latin typeface="Times New Roman"/>
                <a:cs typeface="Times New Roman"/>
              </a:rPr>
              <a:t>project.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lexicographer </a:t>
            </a:r>
            <a:r>
              <a:rPr dirty="0" sz="1100">
                <a:latin typeface="Times New Roman"/>
                <a:cs typeface="Times New Roman"/>
              </a:rPr>
              <a:t> should </a:t>
            </a:r>
            <a:r>
              <a:rPr dirty="0" sz="1100" spc="-5">
                <a:latin typeface="Times New Roman"/>
                <a:cs typeface="Times New Roman"/>
              </a:rPr>
              <a:t>formulate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policy</a:t>
            </a:r>
            <a:r>
              <a:rPr dirty="0" sz="1100" spc="-5">
                <a:latin typeface="Times New Roman"/>
                <a:cs typeface="Times New Roman"/>
              </a:rPr>
              <a:t> concerning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256: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Developments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Electronic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Dictionary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700" indent="456565">
              <a:lnSpc>
                <a:spcPct val="110900"/>
              </a:lnSpc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 is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>
                <a:latin typeface="Times New Roman"/>
                <a:cs typeface="Times New Roman"/>
              </a:rPr>
              <a:t>whose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digital</a:t>
            </a:r>
            <a:r>
              <a:rPr dirty="0" sz="1100">
                <a:latin typeface="Times New Roman"/>
                <a:cs typeface="Times New Roman"/>
              </a:rPr>
              <a:t> form and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accessed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several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including: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dedicated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handheld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devices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smartphones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software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 built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E-reader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As CD-ROMs </a:t>
            </a:r>
            <a:r>
              <a:rPr dirty="0" sz="1100">
                <a:latin typeface="Times New Roman"/>
                <a:cs typeface="Times New Roman"/>
              </a:rPr>
              <a:t>and DVD-ROMs, they are </a:t>
            </a:r>
            <a:r>
              <a:rPr dirty="0" sz="1100" spc="-5">
                <a:latin typeface="Times New Roman"/>
                <a:cs typeface="Times New Roman"/>
              </a:rPr>
              <a:t>typically packaged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printed dictionary </a:t>
            </a:r>
            <a:r>
              <a:rPr dirty="0" sz="1100">
                <a:latin typeface="Times New Roman"/>
                <a:cs typeface="Times New Roman"/>
              </a:rPr>
              <a:t>to 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installed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user’s own computer. As free </a:t>
            </a:r>
            <a:r>
              <a:rPr dirty="0" sz="1100">
                <a:latin typeface="Times New Roman"/>
                <a:cs typeface="Times New Roman"/>
              </a:rPr>
              <a:t>or paid-for </a:t>
            </a:r>
            <a:r>
              <a:rPr dirty="0" sz="1100" spc="-5">
                <a:latin typeface="Times New Roman"/>
                <a:cs typeface="Times New Roman"/>
              </a:rPr>
              <a:t>online products most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early electronic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 were print dictionaries made available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digital </a:t>
            </a:r>
            <a:r>
              <a:rPr dirty="0" sz="1100" spc="-10">
                <a:latin typeface="Times New Roman"/>
                <a:cs typeface="Times New Roman"/>
              </a:rPr>
              <a:t>form.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content was </a:t>
            </a:r>
            <a:r>
              <a:rPr dirty="0" sz="1100">
                <a:latin typeface="Times New Roman"/>
                <a:cs typeface="Times New Roman"/>
              </a:rPr>
              <a:t>identical.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>
                <a:latin typeface="Times New Roman"/>
                <a:cs typeface="Times New Roman"/>
              </a:rPr>
              <a:t> 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opportunities </a:t>
            </a:r>
            <a:r>
              <a:rPr dirty="0" sz="1100">
                <a:latin typeface="Times New Roman"/>
                <a:cs typeface="Times New Roman"/>
              </a:rPr>
              <a:t> offered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digital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>
                <a:latin typeface="Times New Roman"/>
                <a:cs typeface="Times New Roman"/>
              </a:rPr>
              <a:t> to be </a:t>
            </a:r>
            <a:r>
              <a:rPr dirty="0" sz="1100" spc="-5">
                <a:latin typeface="Times New Roman"/>
                <a:cs typeface="Times New Roman"/>
              </a:rPr>
              <a:t>exploited.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100"/>
              </a:lnSpc>
            </a:pPr>
            <a:r>
              <a:rPr dirty="0" sz="1100" spc="-5">
                <a:latin typeface="Times New Roman"/>
                <a:cs typeface="Times New Roman"/>
              </a:rPr>
              <a:t>Electronic dictionary databases, especially those included with software dictionaries 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 </a:t>
            </a:r>
            <a:r>
              <a:rPr dirty="0" sz="1100">
                <a:latin typeface="Times New Roman"/>
                <a:cs typeface="Times New Roman"/>
              </a:rPr>
              <a:t> extensive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500,000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headwords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conjugation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tables, </a:t>
            </a:r>
            <a:r>
              <a:rPr dirty="0" sz="1100">
                <a:latin typeface="Times New Roman"/>
                <a:cs typeface="Times New Roman"/>
              </a:rPr>
              <a:t>and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reference </a:t>
            </a:r>
            <a:r>
              <a:rPr dirty="0" sz="1100" spc="-5">
                <a:latin typeface="Times New Roman"/>
                <a:cs typeface="Times New Roman"/>
              </a:rPr>
              <a:t>section. Bilingual electronic dictionaries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monolingual dictionaries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inflected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include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>
                <a:latin typeface="Times New Roman"/>
                <a:cs typeface="Times New Roman"/>
              </a:rPr>
              <a:t> conjugator,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capable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stemming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lemmatization. Electronic dictionaries are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available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logographic </a:t>
            </a:r>
            <a:r>
              <a:rPr dirty="0" sz="1100">
                <a:latin typeface="Times New Roman"/>
                <a:cs typeface="Times New Roman"/>
              </a:rPr>
              <a:t>and right-to-left </a:t>
            </a:r>
            <a:r>
              <a:rPr dirty="0" sz="1100" spc="-5">
                <a:latin typeface="Times New Roman"/>
                <a:cs typeface="Times New Roman"/>
              </a:rPr>
              <a:t>scripts, including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Arabic, Persian, Chinese, Devanagari, Greek, Hebrew, </a:t>
            </a:r>
            <a:r>
              <a:rPr dirty="0" sz="1100">
                <a:latin typeface="Times New Roman"/>
                <a:cs typeface="Times New Roman"/>
              </a:rPr>
              <a:t>Japanese, </a:t>
            </a:r>
            <a:r>
              <a:rPr dirty="0" sz="1100" spc="-5">
                <a:latin typeface="Times New Roman"/>
                <a:cs typeface="Times New Roman"/>
              </a:rPr>
              <a:t>Korean, </a:t>
            </a:r>
            <a:r>
              <a:rPr dirty="0" sz="1100">
                <a:latin typeface="Times New Roman"/>
                <a:cs typeface="Times New Roman"/>
              </a:rPr>
              <a:t>and Thai. </a:t>
            </a:r>
            <a:r>
              <a:rPr dirty="0" sz="1100" spc="-5">
                <a:latin typeface="Times New Roman"/>
                <a:cs typeface="Times New Roman"/>
              </a:rPr>
              <a:t>Several </a:t>
            </a:r>
            <a:r>
              <a:rPr dirty="0" sz="1100">
                <a:latin typeface="Times New Roman"/>
                <a:cs typeface="Times New Roman"/>
              </a:rPr>
              <a:t>developers </a:t>
            </a:r>
            <a:r>
              <a:rPr dirty="0" sz="1100" spc="20">
                <a:latin typeface="Times New Roman"/>
                <a:cs typeface="Times New Roman"/>
              </a:rPr>
              <a:t>of 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 </a:t>
            </a:r>
            <a:r>
              <a:rPr dirty="0" sz="1100">
                <a:latin typeface="Times New Roman"/>
                <a:cs typeface="Times New Roman"/>
              </a:rPr>
              <a:t>software </a:t>
            </a: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API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SDK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Software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tools </a:t>
            </a:r>
            <a:r>
              <a:rPr dirty="0" sz="1100">
                <a:latin typeface="Times New Roman"/>
                <a:cs typeface="Times New Roman"/>
              </a:rPr>
              <a:t>for adding various </a:t>
            </a:r>
            <a:r>
              <a:rPr dirty="0" sz="1100" spc="-5">
                <a:latin typeface="Times New Roman"/>
                <a:cs typeface="Times New Roman"/>
              </a:rPr>
              <a:t>language-based </a:t>
            </a:r>
            <a:r>
              <a:rPr dirty="0" sz="1100">
                <a:latin typeface="Times New Roman"/>
                <a:cs typeface="Times New Roman"/>
              </a:rPr>
              <a:t>functions to </a:t>
            </a:r>
            <a:r>
              <a:rPr dirty="0" sz="1100" spc="-5">
                <a:latin typeface="Times New Roman"/>
                <a:cs typeface="Times New Roman"/>
              </a:rPr>
              <a:t>programs,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web services </a:t>
            </a:r>
            <a:r>
              <a:rPr dirty="0" sz="1100">
                <a:latin typeface="Times New Roman"/>
                <a:cs typeface="Times New Roman"/>
              </a:rPr>
              <a:t>such as </a:t>
            </a:r>
            <a:r>
              <a:rPr dirty="0" sz="1100" spc="-5">
                <a:latin typeface="Times New Roman"/>
                <a:cs typeface="Times New Roman"/>
              </a:rPr>
              <a:t>the AJAX API </a:t>
            </a:r>
            <a:r>
              <a:rPr dirty="0" sz="1100">
                <a:latin typeface="Times New Roman"/>
                <a:cs typeface="Times New Roman"/>
              </a:rPr>
              <a:t> 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Google.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257: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Corpora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Compilation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drastic improvement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computer technology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lasting </a:t>
            </a:r>
            <a:r>
              <a:rPr dirty="0" sz="1100">
                <a:latin typeface="Times New Roman"/>
                <a:cs typeface="Times New Roman"/>
              </a:rPr>
              <a:t>impact 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diversified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indispensable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 technology.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computer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provided </a:t>
            </a:r>
            <a:r>
              <a:rPr dirty="0" sz="1100">
                <a:latin typeface="Times New Roman"/>
                <a:cs typeface="Times New Roman"/>
              </a:rPr>
              <a:t>corpus </a:t>
            </a:r>
            <a:r>
              <a:rPr dirty="0" sz="1100" spc="-5">
                <a:latin typeface="Times New Roman"/>
                <a:cs typeface="Times New Roman"/>
              </a:rPr>
              <a:t>designers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massive storage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facility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impressive test processing power, which </a:t>
            </a:r>
            <a:r>
              <a:rPr dirty="0" sz="1100">
                <a:latin typeface="Times New Roman"/>
                <a:cs typeface="Times New Roman"/>
              </a:rPr>
              <a:t>they can </a:t>
            </a:r>
            <a:r>
              <a:rPr dirty="0" sz="1100" spc="-5">
                <a:latin typeface="Times New Roman"/>
                <a:cs typeface="Times New Roman"/>
              </a:rPr>
              <a:t>access quite easily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10">
                <a:latin typeface="Times New Roman"/>
                <a:cs typeface="Times New Roman"/>
              </a:rPr>
              <a:t>work.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major </a:t>
            </a:r>
            <a:r>
              <a:rPr dirty="0" sz="1100" spc="-5">
                <a:latin typeface="Times New Roman"/>
                <a:cs typeface="Times New Roman"/>
              </a:rPr>
              <a:t>English dictionaries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compiled from </a:t>
            </a:r>
            <a:r>
              <a:rPr dirty="0" sz="1100">
                <a:latin typeface="Times New Roman"/>
                <a:cs typeface="Times New Roman"/>
              </a:rPr>
              <a:t>corpora </a:t>
            </a:r>
            <a:r>
              <a:rPr dirty="0" sz="1100" spc="-5">
                <a:latin typeface="Times New Roman"/>
                <a:cs typeface="Times New Roman"/>
              </a:rPr>
              <a:t>in electronic </a:t>
            </a:r>
            <a:r>
              <a:rPr dirty="0" sz="1100" spc="-10">
                <a:latin typeface="Times New Roman"/>
                <a:cs typeface="Times New Roman"/>
              </a:rPr>
              <a:t>form.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realized </a:t>
            </a:r>
            <a:r>
              <a:rPr dirty="0" sz="1100" spc="1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corpus </a:t>
            </a:r>
            <a:r>
              <a:rPr dirty="0" sz="1100">
                <a:latin typeface="Times New Roman"/>
                <a:cs typeface="Times New Roman"/>
              </a:rPr>
              <a:t> based </a:t>
            </a:r>
            <a:r>
              <a:rPr dirty="0" sz="1100" spc="-5">
                <a:latin typeface="Times New Roman"/>
                <a:cs typeface="Times New Roman"/>
              </a:rPr>
              <a:t>electronic dictionaries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far more exhaustive, </a:t>
            </a:r>
            <a:r>
              <a:rPr dirty="0" sz="1100">
                <a:latin typeface="Times New Roman"/>
                <a:cs typeface="Times New Roman"/>
              </a:rPr>
              <a:t>authentic </a:t>
            </a:r>
            <a:r>
              <a:rPr dirty="0" sz="1100" spc="-5">
                <a:latin typeface="Times New Roman"/>
                <a:cs typeface="Times New Roman"/>
              </a:rPr>
              <a:t>and reliable.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printed dictionaries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databases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obtained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sources.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>
                <a:latin typeface="Times New Roman"/>
                <a:cs typeface="Times New Roman"/>
              </a:rPr>
              <a:t> contained </a:t>
            </a:r>
            <a:r>
              <a:rPr dirty="0" sz="1100" spc="-5">
                <a:latin typeface="Times New Roman"/>
                <a:cs typeface="Times New Roman"/>
              </a:rPr>
              <a:t>information 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meaning,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polysemous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connotations directly obtained from </a:t>
            </a:r>
            <a:r>
              <a:rPr dirty="0" sz="1100">
                <a:latin typeface="Times New Roman"/>
                <a:cs typeface="Times New Roman"/>
              </a:rPr>
              <a:t>corpora.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Besides,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contained etymological, phonological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69635" cy="1689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 indent="456565">
              <a:lnSpc>
                <a:spcPct val="1104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corpora </a:t>
            </a:r>
            <a:r>
              <a:rPr dirty="0" sz="1100" spc="-5">
                <a:latin typeface="Times New Roman"/>
                <a:cs typeface="Times New Roman"/>
              </a:rPr>
              <a:t>are utilized </a:t>
            </a:r>
            <a:r>
              <a:rPr dirty="0" sz="1100">
                <a:latin typeface="Times New Roman"/>
                <a:cs typeface="Times New Roman"/>
              </a:rPr>
              <a:t>to develop </a:t>
            </a:r>
            <a:r>
              <a:rPr dirty="0" sz="1100" spc="-5">
                <a:latin typeface="Times New Roman"/>
                <a:cs typeface="Times New Roman"/>
              </a:rPr>
              <a:t>multilingual monological, bilingual dictionaries (in both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electronic versions) machine readable dictionaries and multilingual lexical resource.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introspective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people</a:t>
            </a:r>
            <a:r>
              <a:rPr dirty="0" sz="1100" spc="-5">
                <a:latin typeface="Times New Roman"/>
                <a:cs typeface="Times New Roman"/>
              </a:rPr>
              <a:t> although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occupy</a:t>
            </a:r>
            <a:r>
              <a:rPr dirty="0" sz="1100" spc="-5">
                <a:latin typeface="Times New Roman"/>
                <a:cs typeface="Times New Roman"/>
              </a:rPr>
              <a:t> 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led </a:t>
            </a:r>
            <a:r>
              <a:rPr dirty="0" sz="1100" spc="-5">
                <a:latin typeface="Times New Roman"/>
                <a:cs typeface="Times New Roman"/>
              </a:rPr>
              <a:t>scholars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argue for their removal because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never used </a:t>
            </a:r>
            <a:r>
              <a:rPr dirty="0" sz="1100">
                <a:latin typeface="Times New Roman"/>
                <a:cs typeface="Times New Roman"/>
              </a:rPr>
              <a:t>them in </a:t>
            </a:r>
            <a:r>
              <a:rPr dirty="0" sz="1100" spc="-5">
                <a:latin typeface="Times New Roman"/>
                <a:cs typeface="Times New Roman"/>
              </a:rPr>
              <a:t>normal linguistic </a:t>
            </a:r>
            <a:r>
              <a:rPr dirty="0" sz="1100">
                <a:latin typeface="Times New Roman"/>
                <a:cs typeface="Times New Roman"/>
              </a:rPr>
              <a:t> expression and </a:t>
            </a:r>
            <a:r>
              <a:rPr dirty="0" sz="1100" spc="-5">
                <a:latin typeface="Times New Roman"/>
                <a:cs typeface="Times New Roman"/>
              </a:rPr>
              <a:t>interaction. </a:t>
            </a:r>
            <a:r>
              <a:rPr dirty="0" sz="1100">
                <a:latin typeface="Times New Roman"/>
                <a:cs typeface="Times New Roman"/>
              </a:rPr>
              <a:t>Reference to </a:t>
            </a:r>
            <a:r>
              <a:rPr dirty="0" sz="1100" spc="-5">
                <a:latin typeface="Times New Roman"/>
                <a:cs typeface="Times New Roman"/>
              </a:rPr>
              <a:t>the history </a:t>
            </a:r>
            <a:r>
              <a:rPr dirty="0" sz="1100">
                <a:latin typeface="Times New Roman"/>
                <a:cs typeface="Times New Roman"/>
              </a:rPr>
              <a:t>of corpus-based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lexicology </a:t>
            </a:r>
            <a:r>
              <a:rPr dirty="0" sz="1100">
                <a:latin typeface="Times New Roman"/>
                <a:cs typeface="Times New Roman"/>
              </a:rPr>
              <a:t>has an </a:t>
            </a:r>
            <a:r>
              <a:rPr dirty="0" sz="1100" spc="-5">
                <a:latin typeface="Times New Roman"/>
                <a:cs typeface="Times New Roman"/>
              </a:rPr>
              <a:t>explicit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significance.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implies that both historical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diachronic corpora are available for excessive use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lexicology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lexicology.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88237"/>
            <a:ext cx="5970905" cy="815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Lesson-45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09156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LATEST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TRENDS</a:t>
            </a:r>
            <a:r>
              <a:rPr dirty="0" sz="1400" b="1">
                <a:latin typeface="Times New Roman"/>
                <a:cs typeface="Times New Roman"/>
              </a:rPr>
              <a:t> 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RESEARCH</a:t>
            </a:r>
            <a:r>
              <a:rPr dirty="0" sz="1400" b="1">
                <a:latin typeface="Times New Roman"/>
                <a:cs typeface="Times New Roman"/>
              </a:rPr>
              <a:t> IN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LINGUISTICS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258: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>
                <a:latin typeface="Times New Roman"/>
                <a:cs typeface="Times New Roman"/>
              </a:rPr>
              <a:t>field of </a:t>
            </a:r>
            <a:r>
              <a:rPr dirty="0" sz="1100" spc="-5">
                <a:latin typeface="Times New Roman"/>
                <a:cs typeface="Times New Roman"/>
              </a:rPr>
              <a:t>study which was introduced </a:t>
            </a:r>
            <a:r>
              <a:rPr dirty="0" sz="1100">
                <a:latin typeface="Times New Roman"/>
                <a:cs typeface="Times New Roman"/>
              </a:rPr>
              <a:t>as a regular </a:t>
            </a:r>
            <a:r>
              <a:rPr dirty="0" sz="1100" spc="-5">
                <a:latin typeface="Times New Roman"/>
                <a:cs typeface="Times New Roman"/>
              </a:rPr>
              <a:t>discipline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Europe as </a:t>
            </a:r>
            <a:r>
              <a:rPr dirty="0" sz="1100" spc="-5">
                <a:latin typeface="Times New Roman"/>
                <a:cs typeface="Times New Roman"/>
              </a:rPr>
              <a:t>later as </a:t>
            </a:r>
            <a:r>
              <a:rPr dirty="0" sz="1100">
                <a:latin typeface="Times New Roman"/>
                <a:cs typeface="Times New Roman"/>
              </a:rPr>
              <a:t>1960s </a:t>
            </a:r>
            <a:r>
              <a:rPr dirty="0" sz="1100" spc="-5">
                <a:latin typeface="Times New Roman"/>
                <a:cs typeface="Times New Roman"/>
              </a:rPr>
              <a:t>(Crystal, 1985).With the turn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present century, this </a:t>
            </a:r>
            <a:r>
              <a:rPr dirty="0" sz="1100">
                <a:latin typeface="Times New Roman"/>
                <a:cs typeface="Times New Roman"/>
              </a:rPr>
              <a:t>branch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knowledge further developed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many specializations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offered </a:t>
            </a:r>
            <a:r>
              <a:rPr dirty="0" sz="1100">
                <a:latin typeface="Times New Roman"/>
                <a:cs typeface="Times New Roman"/>
              </a:rPr>
              <a:t>in various </a:t>
            </a:r>
            <a:r>
              <a:rPr dirty="0" sz="1100" spc="-5">
                <a:latin typeface="Times New Roman"/>
                <a:cs typeface="Times New Roman"/>
              </a:rPr>
              <a:t>branches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in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well-known universities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world (ibid). Research is 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most important </a:t>
            </a:r>
            <a:r>
              <a:rPr dirty="0" sz="1100">
                <a:latin typeface="Times New Roman"/>
                <a:cs typeface="Times New Roman"/>
              </a:rPr>
              <a:t>jobs of </a:t>
            </a:r>
            <a:r>
              <a:rPr dirty="0" sz="1100" spc="-5">
                <a:latin typeface="Times New Roman"/>
                <a:cs typeface="Times New Roman"/>
              </a:rPr>
              <a:t>universities 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 modern world. Universities keep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encouraging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students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conduct research studies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neglected</a:t>
            </a:r>
            <a:r>
              <a:rPr dirty="0" sz="1100">
                <a:latin typeface="Times New Roman"/>
                <a:cs typeface="Times New Roman"/>
              </a:rPr>
              <a:t> areas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various disciplines.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 need of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to study the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universities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performance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trends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various disciplines.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300"/>
              </a:lnSpc>
            </a:pPr>
            <a:r>
              <a:rPr dirty="0" sz="1100">
                <a:latin typeface="Times New Roman"/>
                <a:cs typeface="Times New Roman"/>
              </a:rPr>
              <a:t>There is no </a:t>
            </a:r>
            <a:r>
              <a:rPr dirty="0" sz="1100" spc="-5">
                <a:latin typeface="Times New Roman"/>
                <a:cs typeface="Times New Roman"/>
              </a:rPr>
              <a:t>solid research to determine research trends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Pakistan.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be a </a:t>
            </a:r>
            <a:r>
              <a:rPr dirty="0" sz="1100" spc="-5">
                <a:latin typeface="Times New Roman"/>
                <a:cs typeface="Times New Roman"/>
              </a:rPr>
              <a:t>very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>
                <a:latin typeface="Times New Roman"/>
                <a:cs typeface="Times New Roman"/>
              </a:rPr>
              <a:t>study to </a:t>
            </a:r>
            <a:r>
              <a:rPr dirty="0" sz="1100" spc="-5">
                <a:latin typeface="Times New Roman"/>
                <a:cs typeface="Times New Roman"/>
              </a:rPr>
              <a:t>find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trends in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Pakistan.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key </a:t>
            </a:r>
            <a:r>
              <a:rPr dirty="0" sz="1100">
                <a:latin typeface="Times New Roman"/>
                <a:cs typeface="Times New Roman"/>
              </a:rPr>
              <a:t>strand of </a:t>
            </a:r>
            <a:r>
              <a:rPr dirty="0" sz="1100" spc="-5">
                <a:latin typeface="Times New Roman"/>
                <a:cs typeface="Times New Roman"/>
              </a:rPr>
              <a:t>linguistic research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evolved </a:t>
            </a:r>
            <a:r>
              <a:rPr dirty="0" sz="1100">
                <a:latin typeface="Times New Roman"/>
                <a:cs typeface="Times New Roman"/>
              </a:rPr>
              <a:t>from the </a:t>
            </a:r>
            <a:r>
              <a:rPr dirty="0" sz="1100" spc="-5">
                <a:latin typeface="Times New Roman"/>
                <a:cs typeface="Times New Roman"/>
              </a:rPr>
              <a:t>writings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Noam Chomsky </a:t>
            </a:r>
            <a:r>
              <a:rPr dirty="0" sz="1100">
                <a:latin typeface="Times New Roman"/>
                <a:cs typeface="Times New Roman"/>
              </a:rPr>
              <a:t>(1965),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argued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goal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should be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-5">
                <a:latin typeface="Times New Roman"/>
                <a:cs typeface="Times New Roman"/>
              </a:rPr>
              <a:t> underlying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competence‘: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Chomsky,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focus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5">
                <a:latin typeface="Times New Roman"/>
                <a:cs typeface="Times New Roman"/>
              </a:rPr>
              <a:t>was the abstract system: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underlying structure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 utterances </a:t>
            </a:r>
            <a:r>
              <a:rPr dirty="0" sz="1100">
                <a:latin typeface="Times New Roman"/>
                <a:cs typeface="Times New Roman"/>
              </a:rPr>
              <a:t>were regarded </a:t>
            </a:r>
            <a:r>
              <a:rPr dirty="0" sz="1100" spc="-5">
                <a:latin typeface="Times New Roman"/>
                <a:cs typeface="Times New Roman"/>
              </a:rPr>
              <a:t>as disorderly, chaotic </a:t>
            </a:r>
            <a:r>
              <a:rPr dirty="0" sz="1100">
                <a:latin typeface="Times New Roman"/>
                <a:cs typeface="Times New Roman"/>
              </a:rPr>
              <a:t>and of no </a:t>
            </a:r>
            <a:r>
              <a:rPr dirty="0" sz="1100" spc="-5">
                <a:latin typeface="Times New Roman"/>
                <a:cs typeface="Times New Roman"/>
              </a:rPr>
              <a:t>value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offering </a:t>
            </a:r>
            <a:r>
              <a:rPr dirty="0" sz="1100">
                <a:latin typeface="Times New Roman"/>
                <a:cs typeface="Times New Roman"/>
              </a:rPr>
              <a:t>an understanding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system.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significant challenge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Chomsky‘s theories was made </a:t>
            </a:r>
            <a:r>
              <a:rPr dirty="0" sz="1100">
                <a:latin typeface="Times New Roman"/>
                <a:cs typeface="Times New Roman"/>
              </a:rPr>
              <a:t>by the </a:t>
            </a:r>
            <a:r>
              <a:rPr dirty="0" sz="1100" spc="-5">
                <a:latin typeface="Times New Roman"/>
                <a:cs typeface="Times New Roman"/>
              </a:rPr>
              <a:t>applied linguist,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Hymes(1972)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offered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>
                <a:latin typeface="Times New Roman"/>
                <a:cs typeface="Times New Roman"/>
              </a:rPr>
              <a:t> competence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deliberate</a:t>
            </a:r>
            <a:r>
              <a:rPr dirty="0" sz="1100">
                <a:latin typeface="Times New Roman"/>
                <a:cs typeface="Times New Roman"/>
              </a:rPr>
              <a:t> contrast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competence’. </a:t>
            </a:r>
            <a:r>
              <a:rPr dirty="0" sz="1100" spc="-5">
                <a:latin typeface="Times New Roman"/>
                <a:cs typeface="Times New Roman"/>
              </a:rPr>
              <a:t>As Hymes </a:t>
            </a:r>
            <a:r>
              <a:rPr dirty="0" sz="1100">
                <a:latin typeface="Times New Roman"/>
                <a:cs typeface="Times New Roman"/>
              </a:rPr>
              <a:t>observes, a person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only linguistic competence </a:t>
            </a:r>
            <a:r>
              <a:rPr dirty="0" sz="1100">
                <a:latin typeface="Times New Roman"/>
                <a:cs typeface="Times New Roman"/>
              </a:rPr>
              <a:t>would be </a:t>
            </a:r>
            <a:r>
              <a:rPr dirty="0" sz="1100" spc="-5">
                <a:latin typeface="Times New Roman"/>
                <a:cs typeface="Times New Roman"/>
              </a:rPr>
              <a:t>quite </a:t>
            </a:r>
            <a:r>
              <a:rPr dirty="0" sz="1100">
                <a:latin typeface="Times New Roman"/>
                <a:cs typeface="Times New Roman"/>
              </a:rPr>
              <a:t>unable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 </a:t>
            </a:r>
            <a:r>
              <a:rPr dirty="0" sz="1100">
                <a:latin typeface="Times New Roman"/>
                <a:cs typeface="Times New Roman"/>
              </a:rPr>
              <a:t>– a </a:t>
            </a:r>
            <a:r>
              <a:rPr dirty="0" sz="1100" spc="-5">
                <a:latin typeface="Times New Roman"/>
                <a:cs typeface="Times New Roman"/>
              </a:rPr>
              <a:t>social monster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‘producing grammatical sentences disconnected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occurred. Later </a:t>
            </a:r>
            <a:r>
              <a:rPr dirty="0" sz="1100">
                <a:latin typeface="Times New Roman"/>
                <a:cs typeface="Times New Roman"/>
              </a:rPr>
              <a:t>on,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compromising attitude emerged in the world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and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latest research </a:t>
            </a:r>
            <a:r>
              <a:rPr dirty="0" sz="1100">
                <a:latin typeface="Times New Roman"/>
                <a:cs typeface="Times New Roman"/>
              </a:rPr>
              <a:t>trends </a:t>
            </a:r>
            <a:r>
              <a:rPr dirty="0" sz="1100" spc="-5">
                <a:latin typeface="Times New Roman"/>
                <a:cs typeface="Times New Roman"/>
              </a:rPr>
              <a:t>show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interdisciplinary </a:t>
            </a:r>
            <a:r>
              <a:rPr dirty="0" sz="1100">
                <a:latin typeface="Times New Roman"/>
                <a:cs typeface="Times New Roman"/>
              </a:rPr>
              <a:t>approach </a:t>
            </a:r>
            <a:r>
              <a:rPr dirty="0" sz="1100" spc="-5">
                <a:latin typeface="Times New Roman"/>
                <a:cs typeface="Times New Roman"/>
              </a:rPr>
              <a:t>towards </a:t>
            </a:r>
            <a:r>
              <a:rPr dirty="0" sz="1100" spc="5">
                <a:latin typeface="Times New Roman"/>
                <a:cs typeface="Times New Roman"/>
              </a:rPr>
              <a:t>socio-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psycholinguistics. The </a:t>
            </a:r>
            <a:r>
              <a:rPr dirty="0" sz="1100">
                <a:latin typeface="Times New Roman"/>
                <a:cs typeface="Times New Roman"/>
              </a:rPr>
              <a:t> 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emerging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areas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259: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Applied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past </a:t>
            </a:r>
            <a:r>
              <a:rPr dirty="0" sz="1100" spc="-5">
                <a:latin typeface="Times New Roman"/>
                <a:cs typeface="Times New Roman"/>
              </a:rPr>
              <a:t>quarter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century, </a:t>
            </a:r>
            <a:r>
              <a:rPr dirty="0" sz="1100">
                <a:latin typeface="Times New Roman"/>
                <a:cs typeface="Times New Roman"/>
              </a:rPr>
              <a:t>research in </a:t>
            </a:r>
            <a:r>
              <a:rPr dirty="0" sz="1100" spc="-5">
                <a:latin typeface="Times New Roman"/>
                <a:cs typeface="Times New Roman"/>
              </a:rPr>
              <a:t>the field </a:t>
            </a:r>
            <a:r>
              <a:rPr dirty="0" sz="1100">
                <a:latin typeface="Times New Roman"/>
                <a:cs typeface="Times New Roman"/>
              </a:rPr>
              <a:t>of SLA has </a:t>
            </a:r>
            <a:r>
              <a:rPr dirty="0" sz="1100" spc="-5">
                <a:latin typeface="Times New Roman"/>
                <a:cs typeface="Times New Roman"/>
              </a:rPr>
              <a:t>grown enormously with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quantity of </a:t>
            </a:r>
            <a:r>
              <a:rPr dirty="0" sz="1100" spc="-5">
                <a:latin typeface="Times New Roman"/>
                <a:cs typeface="Times New Roman"/>
              </a:rPr>
              <a:t>published research increasing annually.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striking, however,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the main thrust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 has been </a:t>
            </a:r>
            <a:r>
              <a:rPr dirty="0" sz="1100" spc="-5">
                <a:latin typeface="Times New Roman"/>
                <a:cs typeface="Times New Roman"/>
              </a:rPr>
              <a:t>towards establishing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learners </a:t>
            </a:r>
            <a:r>
              <a:rPr dirty="0" sz="1100" spc="-5">
                <a:latin typeface="Times New Roman"/>
                <a:cs typeface="Times New Roman"/>
              </a:rPr>
              <a:t>are similar </a:t>
            </a:r>
            <a:r>
              <a:rPr dirty="0" sz="1100">
                <a:latin typeface="Times New Roman"/>
                <a:cs typeface="Times New Roman"/>
              </a:rPr>
              <a:t>and how </a:t>
            </a:r>
            <a:r>
              <a:rPr dirty="0" sz="1100" spc="-5">
                <a:latin typeface="Times New Roman"/>
                <a:cs typeface="Times New Roman"/>
              </a:rPr>
              <a:t>processes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learning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universal. </a:t>
            </a:r>
            <a:r>
              <a:rPr dirty="0" sz="1100">
                <a:latin typeface="Times New Roman"/>
                <a:cs typeface="Times New Roman"/>
              </a:rPr>
              <a:t>That is, </a:t>
            </a:r>
            <a:r>
              <a:rPr dirty="0" sz="1100" spc="-5">
                <a:latin typeface="Times New Roman"/>
                <a:cs typeface="Times New Roman"/>
              </a:rPr>
              <a:t>traditionally, the majority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in SLA and </a:t>
            </a:r>
            <a:r>
              <a:rPr dirty="0" sz="1100" spc="-5">
                <a:latin typeface="Times New Roman"/>
                <a:cs typeface="Times New Roman"/>
              </a:rPr>
              <a:t>applied linguistics looked </a:t>
            </a:r>
            <a:r>
              <a:rPr dirty="0" sz="1100" spc="-1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would </a:t>
            </a:r>
            <a:r>
              <a:rPr dirty="0" sz="1100" spc="-5">
                <a:latin typeface="Times New Roman"/>
                <a:cs typeface="Times New Roman"/>
              </a:rPr>
              <a:t>presumably </a:t>
            </a:r>
            <a:r>
              <a:rPr dirty="0" sz="1100">
                <a:latin typeface="Times New Roman"/>
                <a:cs typeface="Times New Roman"/>
              </a:rPr>
              <a:t>affect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individual language </a:t>
            </a:r>
            <a:r>
              <a:rPr dirty="0" sz="1100">
                <a:latin typeface="Times New Roman"/>
                <a:cs typeface="Times New Roman"/>
              </a:rPr>
              <a:t>learners. </a:t>
            </a:r>
            <a:r>
              <a:rPr dirty="0" sz="1100" spc="-5">
                <a:latin typeface="Times New Roman"/>
                <a:cs typeface="Times New Roman"/>
              </a:rPr>
              <a:t>In studies concerned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 SLA, </a:t>
            </a:r>
            <a:r>
              <a:rPr dirty="0" sz="1100">
                <a:latin typeface="Times New Roman"/>
                <a:cs typeface="Times New Roman"/>
              </a:rPr>
              <a:t>researchers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tried to </a:t>
            </a:r>
            <a:r>
              <a:rPr dirty="0" sz="1100" spc="-5">
                <a:latin typeface="Times New Roman"/>
                <a:cs typeface="Times New Roman"/>
              </a:rPr>
              <a:t>identify universal sequences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processes,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cross-linguistic </a:t>
            </a:r>
            <a:r>
              <a:rPr dirty="0" sz="1100">
                <a:latin typeface="Times New Roman"/>
                <a:cs typeface="Times New Roman"/>
              </a:rPr>
              <a:t>interference,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 everyone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field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psychology two contrasting approaches </a:t>
            </a:r>
            <a:r>
              <a:rPr dirty="0" sz="1100">
                <a:latin typeface="Times New Roman"/>
                <a:cs typeface="Times New Roman"/>
              </a:rPr>
              <a:t>to the study of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functioning have </a:t>
            </a:r>
            <a:r>
              <a:rPr dirty="0" sz="1100">
                <a:latin typeface="Times New Roman"/>
                <a:cs typeface="Times New Roman"/>
              </a:rPr>
              <a:t> 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recognized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approaches.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former</a:t>
            </a:r>
            <a:r>
              <a:rPr dirty="0" sz="1100">
                <a:latin typeface="Times New Roman"/>
                <a:cs typeface="Times New Roman"/>
              </a:rPr>
              <a:t> focuses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 identifying </a:t>
            </a:r>
            <a:r>
              <a:rPr dirty="0" sz="1100">
                <a:latin typeface="Times New Roman"/>
                <a:cs typeface="Times New Roman"/>
              </a:rPr>
              <a:t>structures and </a:t>
            </a:r>
            <a:r>
              <a:rPr dirty="0" sz="1100" spc="-5">
                <a:latin typeface="Times New Roman"/>
                <a:cs typeface="Times New Roman"/>
              </a:rPr>
              <a:t>processes common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everyone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similarities between individuals.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contrast,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latter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emphasizes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ways </a:t>
            </a:r>
            <a:r>
              <a:rPr dirty="0" sz="1100">
                <a:latin typeface="Times New Roman"/>
                <a:cs typeface="Times New Roman"/>
              </a:rPr>
              <a:t>that people </a:t>
            </a:r>
            <a:r>
              <a:rPr dirty="0" sz="1100" spc="-5">
                <a:latin typeface="Times New Roman"/>
                <a:cs typeface="Times New Roman"/>
              </a:rPr>
              <a:t>vary.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applied linguistics, with the researcher’s awareness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potential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learners’ differences </a:t>
            </a:r>
            <a:r>
              <a:rPr dirty="0" sz="1100">
                <a:latin typeface="Times New Roman"/>
                <a:cs typeface="Times New Roman"/>
              </a:rPr>
              <a:t>on L2 </a:t>
            </a:r>
            <a:r>
              <a:rPr dirty="0" sz="1100" spc="-5">
                <a:latin typeface="Times New Roman"/>
                <a:cs typeface="Times New Roman"/>
              </a:rPr>
              <a:t>learning, </a:t>
            </a:r>
            <a:r>
              <a:rPr dirty="0" sz="1100">
                <a:latin typeface="Times New Roman"/>
                <a:cs typeface="Times New Roman"/>
              </a:rPr>
              <a:t>an era of </a:t>
            </a:r>
            <a:r>
              <a:rPr dirty="0" sz="1100" spc="-5">
                <a:latin typeface="Times New Roman"/>
                <a:cs typeface="Times New Roman"/>
              </a:rPr>
              <a:t>research with focus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learners’ variables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marked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1970s. </a:t>
            </a:r>
            <a:r>
              <a:rPr dirty="0" sz="1100">
                <a:latin typeface="Times New Roman"/>
                <a:cs typeface="Times New Roman"/>
              </a:rPr>
              <a:t>Concern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learner variables resulted </a:t>
            </a:r>
            <a:r>
              <a:rPr dirty="0" sz="1100">
                <a:latin typeface="Times New Roman"/>
                <a:cs typeface="Times New Roman"/>
              </a:rPr>
              <a:t>in an </a:t>
            </a:r>
            <a:r>
              <a:rPr dirty="0" sz="1100" spc="-5">
                <a:latin typeface="Times New Roman"/>
                <a:cs typeface="Times New Roman"/>
              </a:rPr>
              <a:t>increasing 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accounted </a:t>
            </a:r>
            <a:r>
              <a:rPr dirty="0" sz="1100">
                <a:latin typeface="Times New Roman"/>
                <a:cs typeface="Times New Roman"/>
              </a:rPr>
              <a:t>for the </a:t>
            </a:r>
            <a:r>
              <a:rPr dirty="0" sz="1100" spc="-5">
                <a:latin typeface="Times New Roman"/>
                <a:cs typeface="Times New Roman"/>
              </a:rPr>
              <a:t>learner’s differences from different perspectives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ESL/EFL contexts. Learners’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 can generally </a:t>
            </a:r>
            <a:r>
              <a:rPr dirty="0" sz="1100" spc="-1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divided into three categories: personality, cognitive,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affective.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basic </a:t>
            </a:r>
            <a:r>
              <a:rPr dirty="0" sz="1100">
                <a:latin typeface="Times New Roman"/>
                <a:cs typeface="Times New Roman"/>
              </a:rPr>
              <a:t> question </a:t>
            </a:r>
            <a:r>
              <a:rPr dirty="0" sz="1100" spc="-5">
                <a:latin typeface="Times New Roman"/>
                <a:cs typeface="Times New Roman"/>
              </a:rPr>
              <a:t>concerned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been why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individuals </a:t>
            </a:r>
            <a:r>
              <a:rPr dirty="0" sz="1100" spc="-1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normal faculties successfully </a:t>
            </a:r>
            <a:r>
              <a:rPr dirty="0" sz="1100">
                <a:latin typeface="Times New Roman"/>
                <a:cs typeface="Times New Roman"/>
              </a:rPr>
              <a:t>acquire </a:t>
            </a:r>
            <a:r>
              <a:rPr dirty="0" sz="1100" spc="-5">
                <a:latin typeface="Times New Roman"/>
                <a:cs typeface="Times New Roman"/>
              </a:rPr>
              <a:t>their first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meet with different degrees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success when </a:t>
            </a:r>
            <a:r>
              <a:rPr dirty="0" sz="1100">
                <a:latin typeface="Times New Roman"/>
                <a:cs typeface="Times New Roman"/>
              </a:rPr>
              <a:t>they </a:t>
            </a:r>
            <a:r>
              <a:rPr dirty="0" sz="1100" spc="-5">
                <a:latin typeface="Times New Roman"/>
                <a:cs typeface="Times New Roman"/>
              </a:rPr>
              <a:t>attempt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master </a:t>
            </a:r>
            <a:r>
              <a:rPr dirty="0" sz="1100">
                <a:latin typeface="Times New Roman"/>
                <a:cs typeface="Times New Roman"/>
              </a:rPr>
              <a:t>a second </a:t>
            </a:r>
            <a:r>
              <a:rPr dirty="0" sz="1100" spc="-5">
                <a:latin typeface="Times New Roman"/>
                <a:cs typeface="Times New Roman"/>
              </a:rPr>
              <a:t>language. The </a:t>
            </a:r>
            <a:r>
              <a:rPr dirty="0" sz="1100">
                <a:latin typeface="Times New Roman"/>
                <a:cs typeface="Times New Roman"/>
              </a:rPr>
              <a:t> answer </a:t>
            </a:r>
            <a:r>
              <a:rPr dirty="0" sz="1100" spc="-5">
                <a:latin typeface="Times New Roman"/>
                <a:cs typeface="Times New Roman"/>
              </a:rPr>
              <a:t>to this fundamental </a:t>
            </a:r>
            <a:r>
              <a:rPr dirty="0" sz="1100">
                <a:latin typeface="Times New Roman"/>
                <a:cs typeface="Times New Roman"/>
              </a:rPr>
              <a:t>question, as </a:t>
            </a:r>
            <a:r>
              <a:rPr dirty="0" sz="1100" spc="-5">
                <a:latin typeface="Times New Roman"/>
                <a:cs typeface="Times New Roman"/>
              </a:rPr>
              <a:t>the literature shows, concerns the individual </a:t>
            </a:r>
            <a:r>
              <a:rPr dirty="0" sz="1100" spc="-10">
                <a:latin typeface="Times New Roman"/>
                <a:cs typeface="Times New Roman"/>
              </a:rPr>
              <a:t>L2 </a:t>
            </a:r>
            <a:r>
              <a:rPr dirty="0" sz="1100" spc="-5">
                <a:latin typeface="Times New Roman"/>
                <a:cs typeface="Times New Roman"/>
              </a:rPr>
              <a:t>learner and lies in </a:t>
            </a:r>
            <a:r>
              <a:rPr dirty="0" sz="1100">
                <a:latin typeface="Times New Roman"/>
                <a:cs typeface="Times New Roman"/>
              </a:rPr>
              <a:t> his/her</a:t>
            </a:r>
            <a:r>
              <a:rPr dirty="0" sz="1100" spc="-5">
                <a:latin typeface="Times New Roman"/>
                <a:cs typeface="Times New Roman"/>
              </a:rPr>
              <a:t> personality,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affective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400"/>
              </a:lnSpc>
            </a:pPr>
            <a:r>
              <a:rPr dirty="0" sz="1100" spc="-5" b="1">
                <a:latin typeface="Times New Roman"/>
                <a:cs typeface="Times New Roman"/>
              </a:rPr>
              <a:t>Neurolinguistics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of the neural </a:t>
            </a:r>
            <a:r>
              <a:rPr dirty="0" sz="1100" spc="-5">
                <a:latin typeface="Times New Roman"/>
                <a:cs typeface="Times New Roman"/>
              </a:rPr>
              <a:t>mechanisms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human brain that control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comprehension, production,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interdisciplinary </a:t>
            </a:r>
            <a:r>
              <a:rPr dirty="0" sz="1100">
                <a:latin typeface="Times New Roman"/>
                <a:cs typeface="Times New Roman"/>
              </a:rPr>
              <a:t>field, </a:t>
            </a:r>
            <a:r>
              <a:rPr dirty="0" sz="1100" spc="-5">
                <a:latin typeface="Times New Roman"/>
                <a:cs typeface="Times New Roman"/>
              </a:rPr>
              <a:t>neurolinguistics </a:t>
            </a:r>
            <a:r>
              <a:rPr dirty="0" sz="1100">
                <a:latin typeface="Times New Roman"/>
                <a:cs typeface="Times New Roman"/>
              </a:rPr>
              <a:t> draws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fields</a:t>
            </a:r>
            <a:r>
              <a:rPr dirty="0" sz="1100">
                <a:latin typeface="Times New Roman"/>
                <a:cs typeface="Times New Roman"/>
              </a:rPr>
              <a:t> such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neuroscience,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cognitive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neurobiology,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disorders, neuropsychology,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 science.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Forensic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linguistics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application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forensic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trial,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judicial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procedure.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Rastegar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(2006),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>
                <a:latin typeface="Times New Roman"/>
                <a:cs typeface="Times New Roman"/>
              </a:rPr>
              <a:t> 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correlation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quantity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casual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modelling,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quantity,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promising and of </a:t>
            </a:r>
            <a:r>
              <a:rPr dirty="0" sz="1100" spc="-5">
                <a:latin typeface="Times New Roman"/>
                <a:cs typeface="Times New Roman"/>
              </a:rPr>
              <a:t>qualitatively high calibre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importance. The researcher </a:t>
            </a:r>
            <a:r>
              <a:rPr dirty="0" sz="1100">
                <a:latin typeface="Times New Roman"/>
                <a:cs typeface="Times New Roman"/>
              </a:rPr>
              <a:t>concludes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casual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modelling-pathway 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data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applied 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260: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9525" indent="456565">
              <a:lnSpc>
                <a:spcPct val="110500"/>
              </a:lnSpc>
            </a:pPr>
            <a:r>
              <a:rPr dirty="0" sz="1100">
                <a:latin typeface="Times New Roman"/>
                <a:cs typeface="Times New Roman"/>
              </a:rPr>
              <a:t>Lazarton </a:t>
            </a:r>
            <a:r>
              <a:rPr dirty="0" sz="1100" spc="-5">
                <a:latin typeface="Times New Roman"/>
                <a:cs typeface="Times New Roman"/>
              </a:rPr>
              <a:t>(2000) studied trends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research methodology </a:t>
            </a:r>
            <a:r>
              <a:rPr dirty="0" sz="1100">
                <a:latin typeface="Times New Roman"/>
                <a:cs typeface="Times New Roman"/>
              </a:rPr>
              <a:t>and use of </a:t>
            </a:r>
            <a:r>
              <a:rPr dirty="0" sz="1100" spc="-5">
                <a:latin typeface="Times New Roman"/>
                <a:cs typeface="Times New Roman"/>
              </a:rPr>
              <a:t>statistics for </a:t>
            </a:r>
            <a:r>
              <a:rPr dirty="0" sz="1100">
                <a:latin typeface="Times New Roman"/>
                <a:cs typeface="Times New Roman"/>
              </a:rPr>
              <a:t>data </a:t>
            </a:r>
            <a:r>
              <a:rPr dirty="0" sz="1100" spc="-5">
                <a:latin typeface="Times New Roman"/>
                <a:cs typeface="Times New Roman"/>
              </a:rPr>
              <a:t>analysis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 Linguistics. She attempted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find out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 current research trends in empirical studies published 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journals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research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recently </a:t>
            </a:r>
            <a:r>
              <a:rPr dirty="0" sz="1100">
                <a:latin typeface="Times New Roman"/>
                <a:cs typeface="Times New Roman"/>
              </a:rPr>
              <a:t>discussed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</a:pPr>
            <a:r>
              <a:rPr dirty="0" sz="1100" spc="-5">
                <a:latin typeface="Times New Roman"/>
                <a:cs typeface="Times New Roman"/>
              </a:rPr>
              <a:t>Thus, the </a:t>
            </a:r>
            <a:r>
              <a:rPr dirty="0" sz="1100">
                <a:latin typeface="Times New Roman"/>
                <a:cs typeface="Times New Roman"/>
              </a:rPr>
              <a:t>aim of </a:t>
            </a:r>
            <a:r>
              <a:rPr dirty="0" sz="1100" spc="-5">
                <a:latin typeface="Times New Roman"/>
                <a:cs typeface="Times New Roman"/>
              </a:rPr>
              <a:t>this research was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know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latest models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data analysis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adopted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field of </a:t>
            </a:r>
            <a:r>
              <a:rPr dirty="0" sz="1100" spc="-5">
                <a:latin typeface="Times New Roman"/>
                <a:cs typeface="Times New Roman"/>
              </a:rPr>
              <a:t>Applied Linguistics.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purpose, the </a:t>
            </a:r>
            <a:r>
              <a:rPr dirty="0" sz="1100" spc="-5">
                <a:latin typeface="Times New Roman"/>
                <a:cs typeface="Times New Roman"/>
              </a:rPr>
              <a:t>researcher analyzed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classified </a:t>
            </a:r>
            <a:r>
              <a:rPr dirty="0" sz="1100">
                <a:latin typeface="Times New Roman"/>
                <a:cs typeface="Times New Roman"/>
              </a:rPr>
              <a:t>332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 published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well-known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journals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1991-1997.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articles were classified into qualitative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quantitative etc. categories, </a:t>
            </a:r>
            <a:r>
              <a:rPr dirty="0" sz="1100">
                <a:latin typeface="Times New Roman"/>
                <a:cs typeface="Times New Roman"/>
              </a:rPr>
              <a:t>sub-classified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>
                <a:latin typeface="Times New Roman"/>
                <a:cs typeface="Times New Roman"/>
              </a:rPr>
              <a:t> various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>
                <a:latin typeface="Times New Roman"/>
                <a:cs typeface="Times New Roman"/>
              </a:rPr>
              <a:t> on the </a:t>
            </a:r>
            <a:r>
              <a:rPr dirty="0" sz="1100" spc="-5">
                <a:latin typeface="Times New Roman"/>
                <a:cs typeface="Times New Roman"/>
              </a:rPr>
              <a:t>basis</a:t>
            </a:r>
            <a:r>
              <a:rPr dirty="0" sz="1100">
                <a:latin typeface="Times New Roman"/>
                <a:cs typeface="Times New Roman"/>
              </a:rPr>
              <a:t> of research </a:t>
            </a:r>
            <a:r>
              <a:rPr dirty="0" sz="1100" spc="-5">
                <a:latin typeface="Times New Roman"/>
                <a:cs typeface="Times New Roman"/>
              </a:rPr>
              <a:t>methodology,</a:t>
            </a:r>
            <a:r>
              <a:rPr dirty="0" sz="1100">
                <a:latin typeface="Times New Roman"/>
                <a:cs typeface="Times New Roman"/>
              </a:rPr>
              <a:t> data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claim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evaluation.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researcher claimed that s/he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used regressive analysis method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study, the article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included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subclass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regressive analysis without </a:t>
            </a:r>
            <a:r>
              <a:rPr dirty="0" sz="1100">
                <a:latin typeface="Times New Roman"/>
                <a:cs typeface="Times New Roman"/>
              </a:rPr>
              <a:t>evaluating </a:t>
            </a:r>
            <a:r>
              <a:rPr dirty="0" sz="1100" spc="-5">
                <a:latin typeface="Times New Roman"/>
                <a:cs typeface="Times New Roman"/>
              </a:rPr>
              <a:t>whether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regressive </a:t>
            </a:r>
            <a:r>
              <a:rPr dirty="0" sz="1100">
                <a:latin typeface="Times New Roman"/>
                <a:cs typeface="Times New Roman"/>
              </a:rPr>
              <a:t>analysis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88%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quantitative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were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quantitative</a:t>
            </a:r>
            <a:r>
              <a:rPr dirty="0" sz="1100">
                <a:latin typeface="Times New Roman"/>
                <a:cs typeface="Times New Roman"/>
              </a:rPr>
              <a:t> research.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hand, a </a:t>
            </a:r>
            <a:r>
              <a:rPr dirty="0" sz="1100" spc="-5">
                <a:latin typeface="Times New Roman"/>
                <a:cs typeface="Times New Roman"/>
              </a:rPr>
              <a:t>limited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qualitative </a:t>
            </a:r>
            <a:r>
              <a:rPr dirty="0" sz="1100">
                <a:latin typeface="Times New Roman"/>
                <a:cs typeface="Times New Roman"/>
              </a:rPr>
              <a:t>studies </a:t>
            </a:r>
            <a:r>
              <a:rPr dirty="0" sz="1100" spc="-5">
                <a:latin typeface="Times New Roman"/>
                <a:cs typeface="Times New Roman"/>
              </a:rPr>
              <a:t>published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5">
                <a:latin typeface="Times New Roman"/>
                <a:cs typeface="Times New Roman"/>
              </a:rPr>
              <a:t>research journals </a:t>
            </a:r>
            <a:r>
              <a:rPr dirty="0" sz="1100">
                <a:latin typeface="Times New Roman"/>
                <a:cs typeface="Times New Roman"/>
              </a:rPr>
              <a:t> understudy had </a:t>
            </a:r>
            <a:r>
              <a:rPr dirty="0" sz="1100" spc="-5">
                <a:latin typeface="Times New Roman"/>
                <a:cs typeface="Times New Roman"/>
              </a:rPr>
              <a:t>followed ethnography </a:t>
            </a:r>
            <a:r>
              <a:rPr dirty="0" sz="1100" spc="5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oral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written analysis models.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quantitative research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published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journals.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author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(Lazarton,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2000),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50%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14921" y="9255326"/>
            <a:ext cx="259079" cy="1898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mbria"/>
                <a:cs typeface="Cambria"/>
              </a:rPr>
              <a:t>195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1540" cy="815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3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ANOVA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data analysis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research studies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quantitative </a:t>
            </a:r>
            <a:r>
              <a:rPr dirty="0" sz="1100">
                <a:latin typeface="Times New Roman"/>
                <a:cs typeface="Times New Roman"/>
              </a:rPr>
              <a:t>nature. The </a:t>
            </a:r>
            <a:r>
              <a:rPr dirty="0" sz="1100" spc="-5">
                <a:latin typeface="Times New Roman"/>
                <a:cs typeface="Times New Roman"/>
              </a:rPr>
              <a:t>remaining </a:t>
            </a:r>
            <a:r>
              <a:rPr dirty="0" sz="1100">
                <a:latin typeface="Times New Roman"/>
                <a:cs typeface="Times New Roman"/>
              </a:rPr>
              <a:t>half </a:t>
            </a:r>
            <a:r>
              <a:rPr dirty="0" sz="1100" spc="-5">
                <a:latin typeface="Times New Roman"/>
                <a:cs typeface="Times New Roman"/>
              </a:rPr>
              <a:t>used 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statistical methods like </a:t>
            </a:r>
            <a:r>
              <a:rPr dirty="0" sz="1100">
                <a:latin typeface="Times New Roman"/>
                <a:cs typeface="Times New Roman"/>
              </a:rPr>
              <a:t>Pearson </a:t>
            </a:r>
            <a:r>
              <a:rPr dirty="0" sz="1100" spc="-5">
                <a:latin typeface="Times New Roman"/>
                <a:cs typeface="Times New Roman"/>
              </a:rPr>
              <a:t>Correlation, </a:t>
            </a:r>
            <a:r>
              <a:rPr dirty="0" sz="1100">
                <a:latin typeface="Times New Roman"/>
                <a:cs typeface="Times New Roman"/>
              </a:rPr>
              <a:t>t-test, </a:t>
            </a:r>
            <a:r>
              <a:rPr dirty="0" sz="1100" spc="-5">
                <a:latin typeface="Times New Roman"/>
                <a:cs typeface="Times New Roman"/>
              </a:rPr>
              <a:t>regressive analysis, </a:t>
            </a:r>
            <a:r>
              <a:rPr dirty="0" sz="1100">
                <a:latin typeface="Times New Roman"/>
                <a:cs typeface="Times New Roman"/>
              </a:rPr>
              <a:t>chi-square </a:t>
            </a:r>
            <a:r>
              <a:rPr dirty="0" sz="1100" spc="-5">
                <a:latin typeface="Times New Roman"/>
                <a:cs typeface="Times New Roman"/>
              </a:rPr>
              <a:t>test, </a:t>
            </a:r>
            <a:r>
              <a:rPr dirty="0" sz="1100">
                <a:latin typeface="Times New Roman"/>
                <a:cs typeface="Times New Roman"/>
              </a:rPr>
              <a:t>MANOVA etc. 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research </a:t>
            </a:r>
            <a:r>
              <a:rPr dirty="0" sz="1100">
                <a:latin typeface="Times New Roman"/>
                <a:cs typeface="Times New Roman"/>
              </a:rPr>
              <a:t>papers. </a:t>
            </a:r>
            <a:r>
              <a:rPr dirty="0" sz="1100" spc="5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researcher thinks it ‘troubling’ that 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ANOVA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10">
                <a:latin typeface="Times New Roman"/>
                <a:cs typeface="Times New Roman"/>
              </a:rPr>
              <a:t>so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empirical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because, </a:t>
            </a:r>
            <a:r>
              <a:rPr dirty="0" sz="1100" spc="-5">
                <a:latin typeface="Times New Roman"/>
                <a:cs typeface="Times New Roman"/>
              </a:rPr>
              <a:t>according to </a:t>
            </a:r>
            <a:r>
              <a:rPr dirty="0" sz="1100">
                <a:latin typeface="Times New Roman"/>
                <a:cs typeface="Times New Roman"/>
              </a:rPr>
              <a:t>the author,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not an </a:t>
            </a:r>
            <a:r>
              <a:rPr dirty="0" sz="1100" spc="-5">
                <a:latin typeface="Times New Roman"/>
                <a:cs typeface="Times New Roman"/>
              </a:rPr>
              <a:t>easier test (ibid). Finally, she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recommends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261: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Young, </a:t>
            </a:r>
            <a:r>
              <a:rPr dirty="0" sz="1100">
                <a:latin typeface="Times New Roman"/>
                <a:cs typeface="Times New Roman"/>
              </a:rPr>
              <a:t>Lichun and Jun </a:t>
            </a:r>
            <a:r>
              <a:rPr dirty="0" sz="1100" spc="-5">
                <a:latin typeface="Times New Roman"/>
                <a:cs typeface="Times New Roman"/>
              </a:rPr>
              <a:t>(2001) analyzed contents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four Chinese journals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equal number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journals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West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comparative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 trends </a:t>
            </a:r>
            <a:r>
              <a:rPr dirty="0" sz="1100">
                <a:latin typeface="Times New Roman"/>
                <a:cs typeface="Times New Roman"/>
              </a:rPr>
              <a:t>in Applied </a:t>
            </a:r>
            <a:r>
              <a:rPr dirty="0" sz="1100" spc="-5">
                <a:latin typeface="Times New Roman"/>
                <a:cs typeface="Times New Roman"/>
              </a:rPr>
              <a:t>Linguistics. </a:t>
            </a:r>
            <a:r>
              <a:rPr dirty="0" sz="1100">
                <a:latin typeface="Times New Roman"/>
                <a:cs typeface="Times New Roman"/>
              </a:rPr>
              <a:t> The aim of the study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compare research </a:t>
            </a:r>
            <a:r>
              <a:rPr dirty="0" sz="1100">
                <a:latin typeface="Times New Roman"/>
                <a:cs typeface="Times New Roman"/>
              </a:rPr>
              <a:t>trends in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China with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West. The </a:t>
            </a:r>
            <a:r>
              <a:rPr dirty="0" sz="1100">
                <a:latin typeface="Times New Roman"/>
                <a:cs typeface="Times New Roman"/>
              </a:rPr>
              <a:t> focus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published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journals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groups. </a:t>
            </a:r>
            <a:r>
              <a:rPr dirty="0" sz="1100">
                <a:latin typeface="Times New Roman"/>
                <a:cs typeface="Times New Roman"/>
              </a:rPr>
              <a:t>The top </a:t>
            </a:r>
            <a:r>
              <a:rPr dirty="0" sz="1100" spc="-5">
                <a:latin typeface="Times New Roman"/>
                <a:cs typeface="Times New Roman"/>
              </a:rPr>
              <a:t>research journals </a:t>
            </a:r>
            <a:r>
              <a:rPr dirty="0" sz="1100">
                <a:latin typeface="Times New Roman"/>
                <a:cs typeface="Times New Roman"/>
              </a:rPr>
              <a:t>from both </a:t>
            </a:r>
            <a:r>
              <a:rPr dirty="0" sz="1100" spc="-5">
                <a:latin typeface="Times New Roman"/>
                <a:cs typeface="Times New Roman"/>
              </a:rPr>
              <a:t>groups were selected.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 published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selected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analyzed with </a:t>
            </a:r>
            <a:r>
              <a:rPr dirty="0" sz="1100">
                <a:latin typeface="Times New Roman"/>
                <a:cs typeface="Times New Roman"/>
              </a:rPr>
              <a:t>focus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research </a:t>
            </a:r>
            <a:r>
              <a:rPr dirty="0" sz="1100" spc="-5">
                <a:latin typeface="Times New Roman"/>
                <a:cs typeface="Times New Roman"/>
              </a:rPr>
              <a:t>methodology </a:t>
            </a:r>
            <a:r>
              <a:rPr dirty="0" sz="1100">
                <a:latin typeface="Times New Roman"/>
                <a:cs typeface="Times New Roman"/>
              </a:rPr>
              <a:t>used in the </a:t>
            </a:r>
            <a:r>
              <a:rPr dirty="0" sz="1100" spc="-5">
                <a:latin typeface="Times New Roman"/>
                <a:cs typeface="Times New Roman"/>
              </a:rPr>
              <a:t>studies published during </a:t>
            </a:r>
            <a:r>
              <a:rPr dirty="0" sz="1100">
                <a:latin typeface="Times New Roman"/>
                <a:cs typeface="Times New Roman"/>
              </a:rPr>
              <a:t>last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 decades.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like</a:t>
            </a:r>
            <a:r>
              <a:rPr dirty="0" sz="1100" spc="-5">
                <a:latin typeface="Times New Roman"/>
                <a:cs typeface="Times New Roman"/>
              </a:rPr>
              <a:t> qualitative,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quantitative,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classroom </a:t>
            </a:r>
            <a:r>
              <a:rPr dirty="0" sz="1100" spc="-5">
                <a:latin typeface="Times New Roman"/>
                <a:cs typeface="Times New Roman"/>
              </a:rPr>
              <a:t>interaction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non-empirical </a:t>
            </a:r>
            <a:r>
              <a:rPr dirty="0" sz="1100">
                <a:latin typeface="Times New Roman"/>
                <a:cs typeface="Times New Roman"/>
              </a:rPr>
              <a:t>studies,</a:t>
            </a:r>
            <a:r>
              <a:rPr dirty="0" sz="1100" spc="-5">
                <a:latin typeface="Times New Roman"/>
                <a:cs typeface="Times New Roman"/>
              </a:rPr>
              <a:t> etc.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findings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(decade-wise)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715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decrease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non-empirical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trends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Besides,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quantitative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adopted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than </a:t>
            </a:r>
            <a:r>
              <a:rPr dirty="0" sz="1100" spc="-5">
                <a:latin typeface="Times New Roman"/>
                <a:cs typeface="Times New Roman"/>
              </a:rPr>
              <a:t>qualitative research methods. 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other hand,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West, </a:t>
            </a:r>
            <a:r>
              <a:rPr dirty="0" sz="1100" spc="-5">
                <a:latin typeface="Times New Roman"/>
                <a:cs typeface="Times New Roman"/>
              </a:rPr>
              <a:t>qualitative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empirical research was more liked than </a:t>
            </a:r>
            <a:r>
              <a:rPr dirty="0" sz="1100">
                <a:latin typeface="Times New Roman"/>
                <a:cs typeface="Times New Roman"/>
              </a:rPr>
              <a:t>non-empirical </a:t>
            </a:r>
            <a:r>
              <a:rPr dirty="0" sz="1100" spc="-5">
                <a:latin typeface="Times New Roman"/>
                <a:cs typeface="Times New Roman"/>
              </a:rPr>
              <a:t>quantitative research, while ‘personal experiences 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reviews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virtually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absent’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(Young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2001,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p.7).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Argument-based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opinions,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the West, </a:t>
            </a:r>
            <a:r>
              <a:rPr dirty="0" sz="1100" spc="-5">
                <a:latin typeface="Times New Roman"/>
                <a:cs typeface="Times New Roman"/>
              </a:rPr>
              <a:t>were not </a:t>
            </a:r>
            <a:r>
              <a:rPr dirty="0" sz="1100">
                <a:latin typeface="Times New Roman"/>
                <a:cs typeface="Times New Roman"/>
              </a:rPr>
              <a:t>confused </a:t>
            </a:r>
            <a:r>
              <a:rPr dirty="0" sz="1100" spc="-5">
                <a:latin typeface="Times New Roman"/>
                <a:cs typeface="Times New Roman"/>
              </a:rPr>
              <a:t>with research articles.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wider gap between qualitative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quantitative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 which existed </a:t>
            </a:r>
            <a:r>
              <a:rPr dirty="0" sz="1100">
                <a:latin typeface="Times New Roman"/>
                <a:cs typeface="Times New Roman"/>
              </a:rPr>
              <a:t>in China had </a:t>
            </a:r>
            <a:r>
              <a:rPr dirty="0" sz="1100" spc="-5">
                <a:latin typeface="Times New Roman"/>
                <a:cs typeface="Times New Roman"/>
              </a:rPr>
              <a:t>been bridged </a:t>
            </a:r>
            <a:r>
              <a:rPr dirty="0" sz="1100">
                <a:latin typeface="Times New Roman"/>
                <a:cs typeface="Times New Roman"/>
              </a:rPr>
              <a:t>up by the West. </a:t>
            </a:r>
            <a:r>
              <a:rPr dirty="0" sz="1100" spc="-5">
                <a:latin typeface="Times New Roman"/>
                <a:cs typeface="Times New Roman"/>
              </a:rPr>
              <a:t>Ethnography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5">
                <a:latin typeface="Times New Roman"/>
                <a:cs typeface="Times New Roman"/>
              </a:rPr>
              <a:t>method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latest phenomenon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80s </a:t>
            </a:r>
            <a:r>
              <a:rPr dirty="0" sz="1100">
                <a:latin typeface="Times New Roman"/>
                <a:cs typeface="Times New Roman"/>
              </a:rPr>
              <a:t>decade. The analysis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data was always statistical and scientific.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Nature and relation between research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language, SLA, (in) dependence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practice </a:t>
            </a:r>
            <a:r>
              <a:rPr dirty="0" sz="1100">
                <a:latin typeface="Times New Roman"/>
                <a:cs typeface="Times New Roman"/>
              </a:rPr>
              <a:t>on theory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Chomskyan </a:t>
            </a:r>
            <a:r>
              <a:rPr dirty="0" sz="1100">
                <a:latin typeface="Times New Roman"/>
                <a:cs typeface="Times New Roman"/>
              </a:rPr>
              <a:t>influence on </a:t>
            </a:r>
            <a:r>
              <a:rPr dirty="0" sz="1100" spc="-5">
                <a:latin typeface="Times New Roman"/>
                <a:cs typeface="Times New Roman"/>
              </a:rPr>
              <a:t>linguistic theories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topics which emerged </a:t>
            </a:r>
            <a:r>
              <a:rPr dirty="0" sz="1100">
                <a:latin typeface="Times New Roman"/>
                <a:cs typeface="Times New Roman"/>
              </a:rPr>
              <a:t>as </a:t>
            </a:r>
            <a:r>
              <a:rPr dirty="0" sz="1100" spc="-5">
                <a:latin typeface="Times New Roman"/>
                <a:cs typeface="Times New Roman"/>
              </a:rPr>
              <a:t>prominent theoretical issues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 scenario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West </a:t>
            </a:r>
            <a:r>
              <a:rPr dirty="0" sz="1100" spc="-5">
                <a:latin typeface="Times New Roman"/>
                <a:cs typeface="Times New Roman"/>
              </a:rPr>
              <a:t>during </a:t>
            </a:r>
            <a:r>
              <a:rPr dirty="0" sz="1100">
                <a:latin typeface="Times New Roman"/>
                <a:cs typeface="Times New Roman"/>
              </a:rPr>
              <a:t>the period </a:t>
            </a:r>
            <a:r>
              <a:rPr dirty="0" sz="1100" spc="-5">
                <a:latin typeface="Times New Roman"/>
                <a:cs typeface="Times New Roman"/>
              </a:rPr>
              <a:t>under study.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favourite topics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study for </a:t>
            </a:r>
            <a:r>
              <a:rPr dirty="0" sz="1100" spc="-5">
                <a:latin typeface="Times New Roman"/>
                <a:cs typeface="Times New Roman"/>
              </a:rPr>
              <a:t>Chinese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policy,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national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ideology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teaching, translation studies, significance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 in China and theories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language. One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significant findings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research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that there was an utter difference between research trends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 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inferential statistics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applied linguistic 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found to be a </a:t>
            </a:r>
            <a:r>
              <a:rPr dirty="0" sz="1100" spc="-5">
                <a:latin typeface="Times New Roman"/>
                <a:cs typeface="Times New Roman"/>
              </a:rPr>
              <a:t>vital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deficiency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period. But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 </a:t>
            </a:r>
            <a:r>
              <a:rPr dirty="0" sz="1100" spc="-5">
                <a:latin typeface="Times New Roman"/>
                <a:cs typeface="Times New Roman"/>
              </a:rPr>
              <a:t>saw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 </a:t>
            </a:r>
            <a:r>
              <a:rPr dirty="0" sz="1100">
                <a:latin typeface="Times New Roman"/>
                <a:cs typeface="Times New Roman"/>
              </a:rPr>
              <a:t>of Chinese </a:t>
            </a:r>
            <a:r>
              <a:rPr dirty="0" sz="1100" spc="-5">
                <a:latin typeface="Times New Roman"/>
                <a:cs typeface="Times New Roman"/>
              </a:rPr>
              <a:t>researchers towards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areas which were neglected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previous </a:t>
            </a:r>
            <a:r>
              <a:rPr dirty="0" sz="1100">
                <a:latin typeface="Times New Roman"/>
                <a:cs typeface="Times New Roman"/>
              </a:rPr>
              <a:t>decade </a:t>
            </a:r>
            <a:r>
              <a:rPr dirty="0" sz="1100" spc="-5">
                <a:latin typeface="Times New Roman"/>
                <a:cs typeface="Times New Roman"/>
              </a:rPr>
              <a:t>became </a:t>
            </a:r>
            <a:r>
              <a:rPr dirty="0" sz="1100">
                <a:latin typeface="Times New Roman"/>
                <a:cs typeface="Times New Roman"/>
              </a:rPr>
              <a:t>foci of </a:t>
            </a:r>
            <a:r>
              <a:rPr dirty="0" sz="1100" spc="-5">
                <a:latin typeface="Times New Roman"/>
                <a:cs typeface="Times New Roman"/>
              </a:rPr>
              <a:t>attention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next </a:t>
            </a:r>
            <a:r>
              <a:rPr dirty="0" sz="1100">
                <a:latin typeface="Times New Roman"/>
                <a:cs typeface="Times New Roman"/>
              </a:rPr>
              <a:t>decade.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neglected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major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lacunae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study period.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result,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utter change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attitude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researchers was noted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next </a:t>
            </a:r>
            <a:r>
              <a:rPr dirty="0" sz="1100">
                <a:latin typeface="Times New Roman"/>
                <a:cs typeface="Times New Roman"/>
              </a:rPr>
              <a:t> decade regarding </a:t>
            </a:r>
            <a:r>
              <a:rPr dirty="0" sz="1100" spc="-5">
                <a:latin typeface="Times New Roman"/>
                <a:cs typeface="Times New Roman"/>
              </a:rPr>
              <a:t>the use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 methods. The study </a:t>
            </a:r>
            <a:r>
              <a:rPr dirty="0" sz="1100">
                <a:latin typeface="Times New Roman"/>
                <a:cs typeface="Times New Roman"/>
              </a:rPr>
              <a:t>shows </a:t>
            </a:r>
            <a:r>
              <a:rPr dirty="0" sz="1100" spc="-5">
                <a:latin typeface="Times New Roman"/>
                <a:cs typeface="Times New Roman"/>
              </a:rPr>
              <a:t>vigilant nature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Chinese towards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research. Constant improvement </a:t>
            </a:r>
            <a:r>
              <a:rPr dirty="0" sz="1100">
                <a:latin typeface="Times New Roman"/>
                <a:cs typeface="Times New Roman"/>
              </a:rPr>
              <a:t>in the field of research </a:t>
            </a:r>
            <a:r>
              <a:rPr dirty="0" sz="1100" spc="-5">
                <a:latin typeface="Times New Roman"/>
                <a:cs typeface="Times New Roman"/>
              </a:rPr>
              <a:t>speaks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dynamic </a:t>
            </a:r>
            <a:r>
              <a:rPr dirty="0" sz="1100">
                <a:latin typeface="Times New Roman"/>
                <a:cs typeface="Times New Roman"/>
              </a:rPr>
              <a:t>process of </a:t>
            </a:r>
            <a:r>
              <a:rPr dirty="0" sz="1100" spc="-5">
                <a:latin typeface="Times New Roman"/>
                <a:cs typeface="Times New Roman"/>
              </a:rPr>
              <a:t>evolution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China.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noted</a:t>
            </a:r>
            <a:r>
              <a:rPr dirty="0" sz="1100">
                <a:latin typeface="Times New Roman"/>
                <a:cs typeface="Times New Roman"/>
              </a:rPr>
              <a:t> by the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‘personal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decreased.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Memory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replaced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-5">
                <a:latin typeface="Times New Roman"/>
                <a:cs typeface="Times New Roman"/>
              </a:rPr>
              <a:t> empirical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91032"/>
            <a:ext cx="5971540" cy="79508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262: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Japan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160" indent="456565">
              <a:lnSpc>
                <a:spcPct val="110300"/>
              </a:lnSpc>
            </a:pPr>
            <a:r>
              <a:rPr dirty="0" sz="1100" spc="-5">
                <a:latin typeface="Times New Roman"/>
                <a:cs typeface="Times New Roman"/>
              </a:rPr>
              <a:t>Izui </a:t>
            </a:r>
            <a:r>
              <a:rPr dirty="0" sz="1100">
                <a:latin typeface="Times New Roman"/>
                <a:cs typeface="Times New Roman"/>
              </a:rPr>
              <a:t>(1962) </a:t>
            </a:r>
            <a:r>
              <a:rPr dirty="0" sz="1100" spc="-5">
                <a:latin typeface="Times New Roman"/>
                <a:cs typeface="Times New Roman"/>
              </a:rPr>
              <a:t>studied research </a:t>
            </a:r>
            <a:r>
              <a:rPr dirty="0" sz="1100">
                <a:latin typeface="Times New Roman"/>
                <a:cs typeface="Times New Roman"/>
              </a:rPr>
              <a:t>trends in Japanese </a:t>
            </a:r>
            <a:r>
              <a:rPr dirty="0" sz="1100" spc="-5">
                <a:latin typeface="Times New Roman"/>
                <a:cs typeface="Times New Roman"/>
              </a:rPr>
              <a:t>linguistics. The article is divided into four parts. 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first part is about vowels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Japanese, </a:t>
            </a:r>
            <a:r>
              <a:rPr dirty="0" sz="1100" spc="-5">
                <a:latin typeface="Times New Roman"/>
                <a:cs typeface="Times New Roman"/>
              </a:rPr>
              <a:t>the second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research studies </a:t>
            </a:r>
            <a:r>
              <a:rPr dirty="0" sz="1100" spc="-10">
                <a:latin typeface="Times New Roman"/>
                <a:cs typeface="Times New Roman"/>
              </a:rPr>
              <a:t>on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origin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Japanese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Japanese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985" indent="456565">
              <a:lnSpc>
                <a:spcPct val="110000"/>
              </a:lnSpc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first </a:t>
            </a:r>
            <a:r>
              <a:rPr dirty="0" sz="1100" spc="-5">
                <a:latin typeface="Times New Roman"/>
                <a:cs typeface="Times New Roman"/>
              </a:rPr>
              <a:t>part,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researcher gives history, origin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vocalic </a:t>
            </a:r>
            <a:r>
              <a:rPr dirty="0" sz="1100">
                <a:latin typeface="Times New Roman"/>
                <a:cs typeface="Times New Roman"/>
              </a:rPr>
              <a:t>system 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Japanese.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enumerates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past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 </a:t>
            </a:r>
            <a:r>
              <a:rPr dirty="0" sz="1100">
                <a:latin typeface="Times New Roman"/>
                <a:cs typeface="Times New Roman"/>
              </a:rPr>
              <a:t>nature of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Japanese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pointed out </a:t>
            </a:r>
            <a:r>
              <a:rPr dirty="0" sz="1100" spc="5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efforts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researches to </a:t>
            </a:r>
            <a:r>
              <a:rPr dirty="0" sz="1100">
                <a:latin typeface="Times New Roman"/>
                <a:cs typeface="Times New Roman"/>
              </a:rPr>
              <a:t> understand the </a:t>
            </a:r>
            <a:r>
              <a:rPr dirty="0" sz="1100" spc="-5">
                <a:latin typeface="Times New Roman"/>
                <a:cs typeface="Times New Roman"/>
              </a:rPr>
              <a:t>nature </a:t>
            </a:r>
            <a:r>
              <a:rPr dirty="0" sz="1100">
                <a:latin typeface="Times New Roman"/>
                <a:cs typeface="Times New Roman"/>
              </a:rPr>
              <a:t>of Japanese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>
                <a:latin typeface="Times New Roman"/>
                <a:cs typeface="Times New Roman"/>
              </a:rPr>
              <a:t>were focused on </a:t>
            </a:r>
            <a:r>
              <a:rPr dirty="0" sz="1100" spc="-5">
                <a:latin typeface="Times New Roman"/>
                <a:cs typeface="Times New Roman"/>
              </a:rPr>
              <a:t>ancient </a:t>
            </a:r>
            <a:r>
              <a:rPr dirty="0" sz="1100">
                <a:latin typeface="Times New Roman"/>
                <a:cs typeface="Times New Roman"/>
              </a:rPr>
              <a:t>Japanese </a:t>
            </a:r>
            <a:r>
              <a:rPr dirty="0" sz="1100" spc="-5">
                <a:latin typeface="Times New Roman"/>
                <a:cs typeface="Times New Roman"/>
              </a:rPr>
              <a:t>and Chinese scripts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occurrence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phonemes.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 indent="456565">
              <a:lnSpc>
                <a:spcPct val="110000"/>
              </a:lnSpc>
              <a:spcBef>
                <a:spcPts val="15"/>
              </a:spcBef>
            </a:pP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the second </a:t>
            </a:r>
            <a:r>
              <a:rPr dirty="0" sz="1100" spc="-5">
                <a:latin typeface="Times New Roman"/>
                <a:cs typeface="Times New Roman"/>
              </a:rPr>
              <a:t>part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article, the researcher describes </a:t>
            </a:r>
            <a:r>
              <a:rPr dirty="0" sz="1100">
                <a:latin typeface="Times New Roman"/>
                <a:cs typeface="Times New Roman"/>
              </a:rPr>
              <a:t>efforts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Japanese </a:t>
            </a:r>
            <a:r>
              <a:rPr dirty="0" sz="1100" spc="-5">
                <a:latin typeface="Times New Roman"/>
                <a:cs typeface="Times New Roman"/>
              </a:rPr>
              <a:t>researchers and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 faced </a:t>
            </a:r>
            <a:r>
              <a:rPr dirty="0" sz="1100">
                <a:latin typeface="Times New Roman"/>
                <a:cs typeface="Times New Roman"/>
              </a:rPr>
              <a:t>by them </a:t>
            </a:r>
            <a:r>
              <a:rPr dirty="0" sz="1100" spc="-5">
                <a:latin typeface="Times New Roman"/>
                <a:cs typeface="Times New Roman"/>
              </a:rPr>
              <a:t>in the way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determine origin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language.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this section, the </a:t>
            </a:r>
            <a:r>
              <a:rPr dirty="0" sz="1100" spc="-10">
                <a:latin typeface="Times New Roman"/>
                <a:cs typeface="Times New Roman"/>
              </a:rPr>
              <a:t>writer </a:t>
            </a:r>
            <a:r>
              <a:rPr dirty="0" sz="1100" spc="-5">
                <a:latin typeface="Times New Roman"/>
                <a:cs typeface="Times New Roman"/>
              </a:rPr>
              <a:t> summarizes </a:t>
            </a:r>
            <a:r>
              <a:rPr dirty="0" sz="1100">
                <a:latin typeface="Times New Roman"/>
                <a:cs typeface="Times New Roman"/>
              </a:rPr>
              <a:t>efforts </a:t>
            </a:r>
            <a:r>
              <a:rPr dirty="0" sz="1100" spc="-5">
                <a:latin typeface="Times New Roman"/>
                <a:cs typeface="Times New Roman"/>
              </a:rPr>
              <a:t>of various researchers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find </a:t>
            </a:r>
            <a:r>
              <a:rPr dirty="0" sz="1100">
                <a:latin typeface="Times New Roman"/>
                <a:cs typeface="Times New Roman"/>
              </a:rPr>
              <a:t>out </a:t>
            </a:r>
            <a:r>
              <a:rPr dirty="0" sz="1100" spc="-1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origin </a:t>
            </a:r>
            <a:r>
              <a:rPr dirty="0" sz="1100">
                <a:latin typeface="Times New Roman"/>
                <a:cs typeface="Times New Roman"/>
              </a:rPr>
              <a:t>of Japanese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different (families </a:t>
            </a:r>
            <a:r>
              <a:rPr dirty="0" sz="1100">
                <a:latin typeface="Times New Roman"/>
                <a:cs typeface="Times New Roman"/>
              </a:rPr>
              <a:t> of)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Altaic, </a:t>
            </a:r>
            <a:r>
              <a:rPr dirty="0" sz="1100" spc="-5">
                <a:latin typeface="Times New Roman"/>
                <a:cs typeface="Times New Roman"/>
              </a:rPr>
              <a:t>Ural,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Austronesian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-5">
                <a:latin typeface="Times New Roman"/>
                <a:cs typeface="Times New Roman"/>
              </a:rPr>
              <a:t> Korean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third part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article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East </a:t>
            </a:r>
            <a:r>
              <a:rPr dirty="0" sz="1100">
                <a:latin typeface="Times New Roman"/>
                <a:cs typeface="Times New Roman"/>
              </a:rPr>
              <a:t>and West.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section,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 summarizes very </a:t>
            </a:r>
            <a:r>
              <a:rPr dirty="0" sz="1100">
                <a:latin typeface="Times New Roman"/>
                <a:cs typeface="Times New Roman"/>
              </a:rPr>
              <a:t>briefly </a:t>
            </a:r>
            <a:r>
              <a:rPr dirty="0" sz="1100" spc="-5">
                <a:latin typeface="Times New Roman"/>
                <a:cs typeface="Times New Roman"/>
              </a:rPr>
              <a:t>efforts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Japanese linguists and researchers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decipherment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ancient </a:t>
            </a:r>
            <a:r>
              <a:rPr dirty="0" sz="1100" spc="-5">
                <a:latin typeface="Times New Roman"/>
                <a:cs typeface="Times New Roman"/>
              </a:rPr>
              <a:t>script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its comparison with the existing scripts.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writer particularly describes efforts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explain the script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Sihia. Among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important works published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Japan 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5">
                <a:latin typeface="Times New Roman"/>
                <a:cs typeface="Times New Roman"/>
              </a:rPr>
              <a:t>those about various languages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dialects </a:t>
            </a:r>
            <a:r>
              <a:rPr dirty="0" sz="1100">
                <a:latin typeface="Times New Roman"/>
                <a:cs typeface="Times New Roman"/>
              </a:rPr>
              <a:t>of the world. </a:t>
            </a:r>
            <a:r>
              <a:rPr dirty="0" sz="1100" spc="-5">
                <a:latin typeface="Times New Roman"/>
                <a:cs typeface="Times New Roman"/>
              </a:rPr>
              <a:t>Of special importance,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opinion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writer,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studies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origin and grammar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which may </a:t>
            </a:r>
            <a:r>
              <a:rPr dirty="0" sz="1100">
                <a:latin typeface="Times New Roman"/>
                <a:cs typeface="Times New Roman"/>
              </a:rPr>
              <a:t>help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understand </a:t>
            </a:r>
            <a:r>
              <a:rPr dirty="0" sz="1100" spc="-5">
                <a:latin typeface="Times New Roman"/>
                <a:cs typeface="Times New Roman"/>
              </a:rPr>
              <a:t>the origin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Japanese </a:t>
            </a:r>
            <a:r>
              <a:rPr dirty="0" sz="1100" spc="-5">
                <a:latin typeface="Times New Roman"/>
                <a:cs typeface="Times New Roman"/>
              </a:rPr>
              <a:t>language.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 points </a:t>
            </a:r>
            <a:r>
              <a:rPr dirty="0" sz="1100">
                <a:latin typeface="Times New Roman"/>
                <a:cs typeface="Times New Roman"/>
              </a:rPr>
              <a:t>out the </a:t>
            </a:r>
            <a:r>
              <a:rPr dirty="0" sz="1100" spc="-5">
                <a:latin typeface="Times New Roman"/>
                <a:cs typeface="Times New Roman"/>
              </a:rPr>
              <a:t>rarity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Australian,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African languages and strongly recommends the </a:t>
            </a:r>
            <a:r>
              <a:rPr dirty="0" sz="1100">
                <a:latin typeface="Times New Roman"/>
                <a:cs typeface="Times New Roman"/>
              </a:rPr>
              <a:t>Japanese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pay </a:t>
            </a:r>
            <a:r>
              <a:rPr dirty="0" sz="1100">
                <a:latin typeface="Times New Roman"/>
                <a:cs typeface="Times New Roman"/>
              </a:rPr>
              <a:t>special </a:t>
            </a:r>
            <a:r>
              <a:rPr dirty="0" sz="1100" spc="-5">
                <a:latin typeface="Times New Roman"/>
                <a:cs typeface="Times New Roman"/>
              </a:rPr>
              <a:t>attention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base’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(Izui,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1962,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54).The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survey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methodologies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linguistics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Japan.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35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writer finds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significant difference in linguistic theories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research methods prevalent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Japan and the </a:t>
            </a:r>
            <a:r>
              <a:rPr dirty="0" sz="1100" spc="-5">
                <a:latin typeface="Times New Roman"/>
                <a:cs typeface="Times New Roman"/>
              </a:rPr>
              <a:t>world. 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research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Japan is, </a:t>
            </a:r>
            <a:r>
              <a:rPr dirty="0" sz="1100">
                <a:latin typeface="Times New Roman"/>
                <a:cs typeface="Times New Roman"/>
              </a:rPr>
              <a:t>in the </a:t>
            </a:r>
            <a:r>
              <a:rPr dirty="0" sz="1100" spc="-5">
                <a:latin typeface="Times New Roman"/>
                <a:cs typeface="Times New Roman"/>
              </a:rPr>
              <a:t>opinion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 writer, </a:t>
            </a:r>
            <a:r>
              <a:rPr dirty="0" sz="1100" spc="-5">
                <a:latin typeface="Times New Roman"/>
                <a:cs typeface="Times New Roman"/>
              </a:rPr>
              <a:t>under influence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Saussure’s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achievement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the </a:t>
            </a:r>
            <a:r>
              <a:rPr dirty="0" sz="1100" spc="-5">
                <a:latin typeface="Times New Roman"/>
                <a:cs typeface="Times New Roman"/>
              </a:rPr>
              <a:t>activities </a:t>
            </a:r>
            <a:r>
              <a:rPr dirty="0" sz="1100">
                <a:latin typeface="Times New Roman"/>
                <a:cs typeface="Times New Roman"/>
              </a:rPr>
              <a:t>of the </a:t>
            </a:r>
            <a:r>
              <a:rPr dirty="0" sz="1100" spc="-5">
                <a:latin typeface="Times New Roman"/>
                <a:cs typeface="Times New Roman"/>
              </a:rPr>
              <a:t>Mathematical Society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in Japan </a:t>
            </a:r>
            <a:r>
              <a:rPr dirty="0" sz="1100" spc="-5">
                <a:latin typeface="Times New Roman"/>
                <a:cs typeface="Times New Roman"/>
              </a:rPr>
              <a:t>which works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‘mathematical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facts’ (ibid, p.54). Another </a:t>
            </a:r>
            <a:r>
              <a:rPr dirty="0" sz="1100">
                <a:latin typeface="Times New Roman"/>
                <a:cs typeface="Times New Roman"/>
              </a:rPr>
              <a:t>prevalent theory in </a:t>
            </a:r>
            <a:r>
              <a:rPr dirty="0" sz="1100" spc="-5">
                <a:latin typeface="Times New Roman"/>
                <a:cs typeface="Times New Roman"/>
              </a:rPr>
              <a:t>Japanese linguistics is modern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stylistics.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263: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heavy" sz="110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Jha </a:t>
            </a:r>
            <a:r>
              <a:rPr dirty="0" sz="1100" spc="-5">
                <a:latin typeface="Times New Roman"/>
                <a:cs typeface="Times New Roman"/>
              </a:rPr>
              <a:t>(2003) studied current </a:t>
            </a:r>
            <a:r>
              <a:rPr dirty="0" sz="1100">
                <a:latin typeface="Times New Roman"/>
                <a:cs typeface="Times New Roman"/>
              </a:rPr>
              <a:t>trends in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India. </a:t>
            </a:r>
            <a:r>
              <a:rPr dirty="0" sz="1100">
                <a:latin typeface="Times New Roman"/>
                <a:cs typeface="Times New Roman"/>
              </a:rPr>
              <a:t>The study </a:t>
            </a:r>
            <a:r>
              <a:rPr dirty="0" sz="1100" spc="-5">
                <a:latin typeface="Times New Roman"/>
                <a:cs typeface="Times New Roman"/>
              </a:rPr>
              <a:t>surveys progress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field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information technology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for linguistic </a:t>
            </a:r>
            <a:r>
              <a:rPr dirty="0" sz="1100">
                <a:latin typeface="Times New Roman"/>
                <a:cs typeface="Times New Roman"/>
              </a:rPr>
              <a:t>purposes.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gives passing remarks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5">
                <a:latin typeface="Times New Roman"/>
                <a:cs typeface="Times New Roman"/>
              </a:rPr>
              <a:t>current </a:t>
            </a:r>
            <a:r>
              <a:rPr dirty="0" sz="1100">
                <a:latin typeface="Times New Roman"/>
                <a:cs typeface="Times New Roman"/>
              </a:rPr>
              <a:t> status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Depicting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scenario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India,</a:t>
            </a:r>
            <a:r>
              <a:rPr dirty="0" sz="1100">
                <a:latin typeface="Times New Roman"/>
                <a:cs typeface="Times New Roman"/>
              </a:rPr>
              <a:t> Jha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(2003)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thousand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well-defined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grammars,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five language families namely, Indo-Aryan, Dravidian, Austro-Asiatic, Tibeto-Burman,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Andamanese.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6023"/>
            <a:ext cx="21412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(ENG502)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79869" y="43383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46175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18288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9144"/>
                </a:lnTo>
                <a:lnTo>
                  <a:pt x="5981065" y="9144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193986"/>
            <a:ext cx="5981065" cy="56515"/>
          </a:xfrm>
          <a:custGeom>
            <a:avLst/>
            <a:gdLst/>
            <a:ahLst/>
            <a:cxnLst/>
            <a:rect l="l" t="t" r="r" b="b"/>
            <a:pathLst>
              <a:path w="5981065" h="56515">
                <a:moveTo>
                  <a:pt x="5981065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981065" y="56388"/>
                </a:lnTo>
                <a:lnTo>
                  <a:pt x="5981065" y="47256"/>
                </a:lnTo>
                <a:close/>
              </a:path>
              <a:path w="5981065" h="56515">
                <a:moveTo>
                  <a:pt x="5981065" y="0"/>
                </a:moveTo>
                <a:lnTo>
                  <a:pt x="0" y="0"/>
                </a:lnTo>
                <a:lnTo>
                  <a:pt x="0" y="38112"/>
                </a:lnTo>
                <a:lnTo>
                  <a:pt x="5981065" y="38112"/>
                </a:lnTo>
                <a:lnTo>
                  <a:pt x="598106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71576"/>
            <a:ext cx="5970905" cy="5383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 indent="456565">
              <a:lnSpc>
                <a:spcPct val="1102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claim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 </a:t>
            </a:r>
            <a:r>
              <a:rPr dirty="0" sz="1100">
                <a:latin typeface="Times New Roman"/>
                <a:cs typeface="Times New Roman"/>
              </a:rPr>
              <a:t>enabled </a:t>
            </a:r>
            <a:r>
              <a:rPr dirty="0" sz="1100" spc="-5">
                <a:latin typeface="Times New Roman"/>
                <a:cs typeface="Times New Roman"/>
              </a:rPr>
              <a:t>India </a:t>
            </a:r>
            <a:r>
              <a:rPr dirty="0" sz="1100">
                <a:latin typeface="Times New Roman"/>
                <a:cs typeface="Times New Roman"/>
              </a:rPr>
              <a:t>to use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linguistic purposes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‘preserving </a:t>
            </a:r>
            <a:r>
              <a:rPr dirty="0" sz="1100">
                <a:latin typeface="Times New Roman"/>
                <a:cs typeface="Times New Roman"/>
              </a:rPr>
              <a:t>data of the </a:t>
            </a:r>
            <a:r>
              <a:rPr dirty="0" sz="1100" spc="-5">
                <a:latin typeface="Times New Roman"/>
                <a:cs typeface="Times New Roman"/>
              </a:rPr>
              <a:t>dying languages.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Universities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institutes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constantly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 ways </a:t>
            </a:r>
            <a:r>
              <a:rPr dirty="0" sz="1100">
                <a:latin typeface="Times New Roman"/>
                <a:cs typeface="Times New Roman"/>
              </a:rPr>
              <a:t>to use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linguistics. According </a:t>
            </a:r>
            <a:r>
              <a:rPr dirty="0" sz="1100">
                <a:latin typeface="Times New Roman"/>
                <a:cs typeface="Times New Roman"/>
              </a:rPr>
              <a:t>to the </a:t>
            </a:r>
            <a:r>
              <a:rPr dirty="0" sz="1100" spc="-5">
                <a:latin typeface="Times New Roman"/>
                <a:cs typeface="Times New Roman"/>
              </a:rPr>
              <a:t>researcher </a:t>
            </a:r>
            <a:r>
              <a:rPr dirty="0" sz="1100">
                <a:latin typeface="Times New Roman"/>
                <a:cs typeface="Times New Roman"/>
              </a:rPr>
              <a:t>(ibid), </a:t>
            </a:r>
            <a:r>
              <a:rPr dirty="0" sz="1100" spc="-5">
                <a:latin typeface="Times New Roman"/>
                <a:cs typeface="Times New Roman"/>
              </a:rPr>
              <a:t>Indian organizations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working 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creation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analysis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corpora, integration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technology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curricula, development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databases,</a:t>
            </a:r>
            <a:r>
              <a:rPr dirty="0" sz="1100">
                <a:latin typeface="Times New Roman"/>
                <a:cs typeface="Times New Roman"/>
              </a:rPr>
              <a:t> speech engines, </a:t>
            </a:r>
            <a:r>
              <a:rPr dirty="0" sz="1100" spc="-5">
                <a:latin typeface="Times New Roman"/>
                <a:cs typeface="Times New Roman"/>
              </a:rPr>
              <a:t>machine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translation,</a:t>
            </a:r>
            <a:r>
              <a:rPr dirty="0" sz="1100">
                <a:latin typeface="Times New Roman"/>
                <a:cs typeface="Times New Roman"/>
              </a:rPr>
              <a:t> speech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translation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programmes.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comment</a:t>
            </a:r>
            <a:r>
              <a:rPr dirty="0" sz="1100">
                <a:latin typeface="Times New Roman"/>
                <a:cs typeface="Times New Roman"/>
              </a:rPr>
              <a:t>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researcher</a:t>
            </a:r>
            <a:r>
              <a:rPr dirty="0" sz="1100">
                <a:latin typeface="Times New Roman"/>
                <a:cs typeface="Times New Roman"/>
              </a:rPr>
              <a:t> claim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funding provided</a:t>
            </a:r>
            <a:r>
              <a:rPr dirty="0" sz="1100">
                <a:latin typeface="Times New Roman"/>
                <a:cs typeface="Times New Roman"/>
              </a:rPr>
              <a:t> by the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India</a:t>
            </a:r>
            <a:r>
              <a:rPr dirty="0" sz="1100">
                <a:latin typeface="Times New Roman"/>
                <a:cs typeface="Times New Roman"/>
              </a:rPr>
              <a:t> is enough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various </a:t>
            </a:r>
            <a:r>
              <a:rPr dirty="0" sz="1100" spc="-5">
                <a:latin typeface="Times New Roman"/>
                <a:cs typeface="Times New Roman"/>
              </a:rPr>
              <a:t>research projects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integration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linguistics;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writer feels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funding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264: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Recent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Progress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Applied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is an </a:t>
            </a:r>
            <a:r>
              <a:rPr dirty="0" sz="1100" spc="-5">
                <a:latin typeface="Times New Roman"/>
                <a:cs typeface="Times New Roman"/>
              </a:rPr>
              <a:t>interdisciplinary </a:t>
            </a:r>
            <a:r>
              <a:rPr dirty="0" sz="1100">
                <a:latin typeface="Times New Roman"/>
                <a:cs typeface="Times New Roman"/>
              </a:rPr>
              <a:t>subject and </a:t>
            </a:r>
            <a:r>
              <a:rPr dirty="0" sz="1100" spc="-5">
                <a:latin typeface="Times New Roman"/>
                <a:cs typeface="Times New Roman"/>
              </a:rPr>
              <a:t>has wide development </a:t>
            </a:r>
            <a:r>
              <a:rPr dirty="0" sz="1100">
                <a:latin typeface="Times New Roman"/>
                <a:cs typeface="Times New Roman"/>
              </a:rPr>
              <a:t>prospect.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occupies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irreplaceable important position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contemporary linguistic researches </a:t>
            </a:r>
            <a:r>
              <a:rPr dirty="0" sz="1100">
                <a:latin typeface="Times New Roman"/>
                <a:cs typeface="Times New Roman"/>
              </a:rPr>
              <a:t>to a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extent and </a:t>
            </a:r>
            <a:r>
              <a:rPr dirty="0" sz="1100" spc="-5">
                <a:latin typeface="Times New Roman"/>
                <a:cs typeface="Times New Roman"/>
              </a:rPr>
              <a:t>owns great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practicability value. </a:t>
            </a:r>
            <a:r>
              <a:rPr dirty="0" sz="1100">
                <a:latin typeface="Times New Roman"/>
                <a:cs typeface="Times New Roman"/>
              </a:rPr>
              <a:t>So, </a:t>
            </a: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study has </a:t>
            </a:r>
            <a:r>
              <a:rPr dirty="0" sz="1100" spc="-5">
                <a:latin typeface="Times New Roman"/>
                <a:cs typeface="Times New Roman"/>
              </a:rPr>
              <a:t>developed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the stage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cognitive </a:t>
            </a:r>
            <a:r>
              <a:rPr dirty="0" sz="1100">
                <a:latin typeface="Times New Roman"/>
                <a:cs typeface="Times New Roman"/>
              </a:rPr>
              <a:t>theory and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constructivist theory. Cognitive </a:t>
            </a:r>
            <a:r>
              <a:rPr dirty="0" sz="1100">
                <a:latin typeface="Times New Roman"/>
                <a:cs typeface="Times New Roman"/>
              </a:rPr>
              <a:t>theory school </a:t>
            </a:r>
            <a:r>
              <a:rPr dirty="0" sz="1100" spc="-5">
                <a:latin typeface="Times New Roman"/>
                <a:cs typeface="Times New Roman"/>
              </a:rPr>
              <a:t>plays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important promotion role for development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 </a:t>
            </a:r>
            <a:r>
              <a:rPr dirty="0" sz="1100" spc="-5">
                <a:latin typeface="Times New Roman"/>
                <a:cs typeface="Times New Roman"/>
              </a:rPr>
              <a:t>linguistics.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advocates </a:t>
            </a:r>
            <a:r>
              <a:rPr dirty="0" sz="1100" spc="-5">
                <a:latin typeface="Times New Roman"/>
                <a:cs typeface="Times New Roman"/>
              </a:rPr>
              <a:t>learners’ learning subjectivity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creativity </a:t>
            </a:r>
            <a:r>
              <a:rPr dirty="0" sz="1100">
                <a:latin typeface="Times New Roman"/>
                <a:cs typeface="Times New Roman"/>
              </a:rPr>
              <a:t>and considers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study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an active activity process. </a:t>
            </a:r>
            <a:r>
              <a:rPr dirty="0" sz="1100">
                <a:latin typeface="Times New Roman"/>
                <a:cs typeface="Times New Roman"/>
              </a:rPr>
              <a:t>But, </a:t>
            </a:r>
            <a:r>
              <a:rPr dirty="0" sz="1100" spc="-5">
                <a:latin typeface="Times New Roman"/>
                <a:cs typeface="Times New Roman"/>
              </a:rPr>
              <a:t>cognitive </a:t>
            </a:r>
            <a:r>
              <a:rPr dirty="0" sz="1100">
                <a:latin typeface="Times New Roman"/>
                <a:cs typeface="Times New Roman"/>
              </a:rPr>
              <a:t>theory </a:t>
            </a:r>
            <a:r>
              <a:rPr dirty="0" sz="1100" spc="-5">
                <a:latin typeface="Times New Roman"/>
                <a:cs typeface="Times New Roman"/>
              </a:rPr>
              <a:t>neglects </a:t>
            </a:r>
            <a:r>
              <a:rPr dirty="0" sz="1100">
                <a:latin typeface="Times New Roman"/>
                <a:cs typeface="Times New Roman"/>
              </a:rPr>
              <a:t>researched on </a:t>
            </a:r>
            <a:r>
              <a:rPr dirty="0" sz="1100" spc="-5">
                <a:latin typeface="Times New Roman"/>
                <a:cs typeface="Times New Roman"/>
              </a:rPr>
              <a:t>nonintellectual factors. 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constructivist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theory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shortcoming.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stresses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cultural knowledge </a:t>
            </a:r>
            <a:r>
              <a:rPr dirty="0" sz="1100">
                <a:latin typeface="Times New Roman"/>
                <a:cs typeface="Times New Roman"/>
              </a:rPr>
              <a:t>and holds </a:t>
            </a:r>
            <a:r>
              <a:rPr dirty="0" sz="1100" spc="-5">
                <a:latin typeface="Times New Roman"/>
                <a:cs typeface="Times New Roman"/>
              </a:rPr>
              <a:t>knowledge acquisition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the result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learners’ </a:t>
            </a:r>
            <a:r>
              <a:rPr dirty="0" sz="1100">
                <a:latin typeface="Times New Roman"/>
                <a:cs typeface="Times New Roman"/>
              </a:rPr>
              <a:t>contact and </a:t>
            </a:r>
            <a:r>
              <a:rPr dirty="0" sz="1100" spc="-5">
                <a:latin typeface="Times New Roman"/>
                <a:cs typeface="Times New Roman"/>
              </a:rPr>
              <a:t>interactions 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specific social environment. </a:t>
            </a:r>
            <a:r>
              <a:rPr dirty="0" sz="1100" spc="-10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great enlightenment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linguistics </a:t>
            </a:r>
            <a:r>
              <a:rPr dirty="0" sz="1100">
                <a:latin typeface="Times New Roman"/>
                <a:cs typeface="Times New Roman"/>
              </a:rPr>
              <a:t>teaching </a:t>
            </a:r>
            <a:r>
              <a:rPr dirty="0" sz="1100" spc="-5">
                <a:latin typeface="Times New Roman"/>
                <a:cs typeface="Times New Roman"/>
              </a:rPr>
              <a:t>practice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theoretical </a:t>
            </a:r>
            <a:r>
              <a:rPr dirty="0" sz="1100">
                <a:latin typeface="Times New Roman"/>
                <a:cs typeface="Times New Roman"/>
              </a:rPr>
              <a:t> 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opportunity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development 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applied linguistics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human socialization </a:t>
            </a:r>
            <a:r>
              <a:rPr dirty="0" sz="1100">
                <a:latin typeface="Times New Roman"/>
                <a:cs typeface="Times New Roman"/>
              </a:rPr>
              <a:t>process. </a:t>
            </a:r>
            <a:r>
              <a:rPr dirty="0" sz="1100" spc="-5">
                <a:latin typeface="Times New Roman"/>
                <a:cs typeface="Times New Roman"/>
              </a:rPr>
              <a:t>Because 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constructivist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>
                <a:latin typeface="Times New Roman"/>
                <a:cs typeface="Times New Roman"/>
              </a:rPr>
              <a:t> regards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learners are important members in whole social group. Besides,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will make research fields </a:t>
            </a:r>
            <a:r>
              <a:rPr dirty="0" sz="1100" spc="-1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 </a:t>
            </a:r>
            <a:r>
              <a:rPr dirty="0" sz="1100" spc="-5">
                <a:latin typeface="Times New Roman"/>
                <a:cs typeface="Times New Roman"/>
              </a:rPr>
              <a:t>linguistics become wide, </a:t>
            </a:r>
            <a:r>
              <a:rPr dirty="0" sz="1100">
                <a:latin typeface="Times New Roman"/>
                <a:cs typeface="Times New Roman"/>
              </a:rPr>
              <a:t>continuously </a:t>
            </a:r>
            <a:r>
              <a:rPr dirty="0" sz="1100" spc="-5">
                <a:latin typeface="Times New Roman"/>
                <a:cs typeface="Times New Roman"/>
              </a:rPr>
              <a:t>update foreign language </a:t>
            </a:r>
            <a:r>
              <a:rPr dirty="0" sz="1100">
                <a:latin typeface="Times New Roman"/>
                <a:cs typeface="Times New Roman"/>
              </a:rPr>
              <a:t>teaching </a:t>
            </a:r>
            <a:r>
              <a:rPr dirty="0" sz="1100" spc="-5">
                <a:latin typeface="Times New Roman"/>
                <a:cs typeface="Times New Roman"/>
              </a:rPr>
              <a:t>idea and </a:t>
            </a:r>
            <a:r>
              <a:rPr dirty="0" sz="1100">
                <a:latin typeface="Times New Roman"/>
                <a:cs typeface="Times New Roman"/>
              </a:rPr>
              <a:t>teaching </a:t>
            </a:r>
            <a:r>
              <a:rPr dirty="0" sz="1100" spc="-5">
                <a:latin typeface="Times New Roman"/>
                <a:cs typeface="Times New Roman"/>
              </a:rPr>
              <a:t>mode 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10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foreign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teacher</a:t>
            </a:r>
            <a:r>
              <a:rPr dirty="0" sz="1100" spc="-5">
                <a:latin typeface="Times New Roman"/>
                <a:cs typeface="Times New Roman"/>
              </a:rPr>
              <a:t> 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pc="-5"/>
              <a:t>©Copyright Virtual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Shafqet Yasmin</dc:creator>
  <dc:subject>VIRTUAL UNIVERSITY OF PAKISTAN</dc:subject>
  <dc:title>Introduction to Linguistics (ENG502)</dc:title>
  <dcterms:created xsi:type="dcterms:W3CDTF">2021-04-21T09:43:52Z</dcterms:created>
  <dcterms:modified xsi:type="dcterms:W3CDTF">2021-04-21T09:43:52Z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2018-07-02T00:00:00Z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2021-04-21T00:00:00Z</vt:filetime>
  </property>
</Properties>
</file>