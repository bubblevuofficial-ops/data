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package/2006/relationships/metadata/core-properties" Target="docProps/core.xml" TargetMode="Internal"></Relationship><Relationship Id="rId2" Type="http://schemas.openxmlformats.org/officeDocument/2006/relationships/extended-properties" Target="docProps/app.xml" TargetMode="Internal"></Relationship><Relationship Id="rId3" Type="http://schemas.openxmlformats.org/officeDocument/2006/relationships/officeDocument" Target="ppt/presentation.xml" TargetMode="Interna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</p:sldIdLst>
  <p:sldSz cx="7772400" cy="10058400" type="custom"/>
  <p:notesSz cx="6858000" cy="9144000"/>
  <p:defaultTextStyle>
    <a:defPPr>
      <a:defRPr lang="ko-KR"/>
    </a:defPPr>
    <a:lvl1pPr algn="l" marL="0" indent="0" defTabSz="914400">
      <a:buNone/>
      <a:defRPr lang="ko-KR" smtClean="0" sz="1800" baseline="0">
        <a:solidFill>
          <a:srgbClr val="000000"/>
        </a:solidFill>
        <a:latin typeface="SimSun"/>
        <a:ea typeface="SimSun"/>
      </a:defRPr>
    </a:lvl1pPr>
    <a:lvl2pPr lvl="1" marL="457200" indent="0" defTabSz="914400">
      <a:defRPr lang="ko-KR" smtClean="0"/>
    </a:lvl2pPr>
    <a:lvl3pPr lvl="2" marL="914400" indent="0" defTabSz="914400">
      <a:defRPr lang="ko-KR" smtClean="0"/>
    </a:lvl3pPr>
    <a:lvl4pPr lvl="3" marL="1371600" indent="0" defTabSz="914400">
      <a:defRPr lang="ko-KR" smtClean="0"/>
    </a:lvl4pPr>
    <a:lvl5pPr lvl="4" marL="1828800" indent="0" defTabSz="914400">
      <a:defRPr lang="ko-KR" smtClean="0"/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6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slideMaster" Target="slideMasters/slideMaster1.xml" TargetMode="Internal"></Relationship><Relationship Id="rId2" Type="http://schemas.openxmlformats.org/officeDocument/2006/relationships/slide" Target="slides/slide1.xml" TargetMode="Internal"></Relationship><Relationship Id="rId3" Type="http://schemas.openxmlformats.org/officeDocument/2006/relationships/slide" Target="slides/slide2.xml" TargetMode="Internal"></Relationship><Relationship Id="rId4" Type="http://schemas.openxmlformats.org/officeDocument/2006/relationships/slide" Target="slides/slide3.xml" TargetMode="Internal"></Relationship><Relationship Id="rId5" Type="http://schemas.openxmlformats.org/officeDocument/2006/relationships/slide" Target="slides/slide4.xml" TargetMode="Internal"></Relationship><Relationship Id="rId6" Type="http://schemas.openxmlformats.org/officeDocument/2006/relationships/slide" Target="slides/slide5.xml" TargetMode="Internal"></Relationship><Relationship Id="rId7" Type="http://schemas.openxmlformats.org/officeDocument/2006/relationships/slide" Target="slides/slide6.xml" TargetMode="Internal"></Relationship><Relationship Id="rId8" Type="http://schemas.openxmlformats.org/officeDocument/2006/relationships/slide" Target="slides/slide7.xml" TargetMode="Internal"></Relationship><Relationship Id="rId9" Type="http://schemas.openxmlformats.org/officeDocument/2006/relationships/slide" Target="slides/slide8.xml" TargetMode="Internal"></Relationship><Relationship Id="rId10" Type="http://schemas.openxmlformats.org/officeDocument/2006/relationships/slide" Target="slides/slide9.xml" TargetMode="Internal"></Relationship><Relationship Id="rId11" Type="http://schemas.openxmlformats.org/officeDocument/2006/relationships/slide" Target="slides/slide10.xml" TargetMode="Internal"></Relationship><Relationship Id="rId12" Type="http://schemas.openxmlformats.org/officeDocument/2006/relationships/slide" Target="slides/slide11.xml" TargetMode="Internal"></Relationship><Relationship Id="rId13" Type="http://schemas.openxmlformats.org/officeDocument/2006/relationships/slide" Target="slides/slide12.xml" TargetMode="Internal"></Relationship><Relationship Id="rId14" Type="http://schemas.openxmlformats.org/officeDocument/2006/relationships/slide" Target="slides/slide13.xml" TargetMode="Internal"></Relationship><Relationship Id="rId15" Type="http://schemas.openxmlformats.org/officeDocument/2006/relationships/slide" Target="slides/slide14.xml" TargetMode="Internal"></Relationship><Relationship Id="rId16" Type="http://schemas.openxmlformats.org/officeDocument/2006/relationships/slide" Target="slides/slide15.xml" TargetMode="Internal"></Relationship><Relationship Id="rId17" Type="http://schemas.openxmlformats.org/officeDocument/2006/relationships/slide" Target="slides/slide16.xml" TargetMode="Internal"></Relationship><Relationship Id="rId18" Type="http://schemas.openxmlformats.org/officeDocument/2006/relationships/slide" Target="slides/slide17.xml" TargetMode="Internal"></Relationship><Relationship Id="rId19" Type="http://schemas.openxmlformats.org/officeDocument/2006/relationships/slide" Target="slides/slide18.xml" TargetMode="Internal"></Relationship><Relationship Id="rId20" Type="http://schemas.openxmlformats.org/officeDocument/2006/relationships/slide" Target="slides/slide19.xml" TargetMode="Internal"></Relationship><Relationship Id="rId21" Type="http://schemas.openxmlformats.org/officeDocument/2006/relationships/slide" Target="slides/slide20.xml" TargetMode="Internal"></Relationship><Relationship Id="rId22" Type="http://schemas.openxmlformats.org/officeDocument/2006/relationships/slide" Target="slides/slide21.xml" TargetMode="Internal"></Relationship><Relationship Id="rId23" Type="http://schemas.openxmlformats.org/officeDocument/2006/relationships/slide" Target="slides/slide22.xml" TargetMode="Internal"></Relationship><Relationship Id="rId24" Type="http://schemas.openxmlformats.org/officeDocument/2006/relationships/slide" Target="slides/slide23.xml" TargetMode="Internal"></Relationship><Relationship Id="rId25" Type="http://schemas.openxmlformats.org/officeDocument/2006/relationships/slide" Target="slides/slide24.xml" TargetMode="Internal"></Relationship><Relationship Id="rId26" Type="http://schemas.openxmlformats.org/officeDocument/2006/relationships/slide" Target="slides/slide25.xml" TargetMode="Internal"></Relationship><Relationship Id="rId27" Type="http://schemas.openxmlformats.org/officeDocument/2006/relationships/slide" Target="slides/slide26.xml" TargetMode="Internal"></Relationship><Relationship Id="rId28" Type="http://schemas.openxmlformats.org/officeDocument/2006/relationships/slide" Target="slides/slide27.xml" TargetMode="Internal"></Relationship><Relationship Id="rId29" Type="http://schemas.openxmlformats.org/officeDocument/2006/relationships/slide" Target="slides/slide28.xml" TargetMode="Internal"></Relationship><Relationship Id="rId30" Type="http://schemas.openxmlformats.org/officeDocument/2006/relationships/slide" Target="slides/slide29.xml" TargetMode="Internal"></Relationship><Relationship Id="rId31" Type="http://schemas.openxmlformats.org/officeDocument/2006/relationships/slide" Target="slides/slide30.xml" TargetMode="Internal"></Relationship><Relationship Id="rId32" Type="http://schemas.openxmlformats.org/officeDocument/2006/relationships/slide" Target="slides/slide31.xml" TargetMode="Internal"></Relationship><Relationship Id="rId33" Type="http://schemas.openxmlformats.org/officeDocument/2006/relationships/slide" Target="slides/slide32.xml" TargetMode="Internal"></Relationship><Relationship Id="rId34" Type="http://schemas.openxmlformats.org/officeDocument/2006/relationships/slide" Target="slides/slide33.xml" TargetMode="Internal"></Relationship><Relationship Id="rId35" Type="http://schemas.openxmlformats.org/officeDocument/2006/relationships/slide" Target="slides/slide34.xml" TargetMode="Internal"></Relationship><Relationship Id="rId36" Type="http://schemas.openxmlformats.org/officeDocument/2006/relationships/slide" Target="slides/slide35.xml" TargetMode="Internal"></Relationship><Relationship Id="rId37" Type="http://schemas.openxmlformats.org/officeDocument/2006/relationships/slide" Target="slides/slide36.xml" TargetMode="Internal"></Relationship><Relationship Id="rId38" Type="http://schemas.openxmlformats.org/officeDocument/2006/relationships/slide" Target="slides/slide37.xml" TargetMode="Internal"></Relationship><Relationship Id="rId39" Type="http://schemas.openxmlformats.org/officeDocument/2006/relationships/slide" Target="slides/slide38.xml" TargetMode="Internal"></Relationship><Relationship Id="rId40" Type="http://schemas.openxmlformats.org/officeDocument/2006/relationships/slide" Target="slides/slide39.xml" TargetMode="Internal"></Relationship><Relationship Id="rId41" Type="http://schemas.openxmlformats.org/officeDocument/2006/relationships/slide" Target="slides/slide40.xml" TargetMode="Internal"></Relationship><Relationship Id="rId42" Type="http://schemas.openxmlformats.org/officeDocument/2006/relationships/slide" Target="slides/slide41.xml" TargetMode="Internal"></Relationship><Relationship Id="rId43" Type="http://schemas.openxmlformats.org/officeDocument/2006/relationships/slide" Target="slides/slide42.xml" TargetMode="Internal"></Relationship><Relationship Id="rId44" Type="http://schemas.openxmlformats.org/officeDocument/2006/relationships/slide" Target="slides/slide43.xml" TargetMode="Internal"></Relationship><Relationship Id="rId45" Type="http://schemas.openxmlformats.org/officeDocument/2006/relationships/slide" Target="slides/slide44.xml" TargetMode="Internal"></Relationship><Relationship Id="rId46" Type="http://schemas.openxmlformats.org/officeDocument/2006/relationships/slide" Target="slides/slide45.xml" TargetMode="Internal"></Relationship><Relationship Id="rId47" Type="http://schemas.openxmlformats.org/officeDocument/2006/relationships/slide" Target="slides/slide46.xml" TargetMode="Internal"></Relationship><Relationship Id="rId48" Type="http://schemas.openxmlformats.org/officeDocument/2006/relationships/slide" Target="slides/slide47.xml" TargetMode="Internal"></Relationship><Relationship Id="rId49" Type="http://schemas.openxmlformats.org/officeDocument/2006/relationships/slide" Target="slides/slide48.xml" TargetMode="Internal"></Relationship><Relationship Id="rId50" Type="http://schemas.openxmlformats.org/officeDocument/2006/relationships/slide" Target="slides/slide49.xml" TargetMode="Internal"></Relationship><Relationship Id="rId51" Type="http://schemas.openxmlformats.org/officeDocument/2006/relationships/slide" Target="slides/slide50.xml" TargetMode="Internal"></Relationship><Relationship Id="rId52" Type="http://schemas.openxmlformats.org/officeDocument/2006/relationships/slide" Target="slides/slide51.xml" TargetMode="Internal"></Relationship><Relationship Id="rId53" Type="http://schemas.openxmlformats.org/officeDocument/2006/relationships/slide" Target="slides/slide52.xml" TargetMode="Internal"></Relationship><Relationship Id="rId54" Type="http://schemas.openxmlformats.org/officeDocument/2006/relationships/slide" Target="slides/slide53.xml" TargetMode="Internal"></Relationship><Relationship Id="rId55" Type="http://schemas.openxmlformats.org/officeDocument/2006/relationships/slide" Target="slides/slide54.xml" TargetMode="Internal"></Relationship><Relationship Id="rId56" Type="http://schemas.openxmlformats.org/officeDocument/2006/relationships/slide" Target="slides/slide55.xml" TargetMode="Internal"></Relationship><Relationship Id="rId57" Type="http://schemas.openxmlformats.org/officeDocument/2006/relationships/slide" Target="slides/slide56.xml" TargetMode="Internal"></Relationship><Relationship Id="rId58" Type="http://schemas.openxmlformats.org/officeDocument/2006/relationships/slide" Target="slides/slide57.xml" TargetMode="Internal"></Relationship><Relationship Id="rId59" Type="http://schemas.openxmlformats.org/officeDocument/2006/relationships/slide" Target="slides/slide58.xml" TargetMode="Internal"></Relationship><Relationship Id="rId60" Type="http://schemas.openxmlformats.org/officeDocument/2006/relationships/slide" Target="slides/slide59.xml" TargetMode="Internal"></Relationship><Relationship Id="rId61" Type="http://schemas.openxmlformats.org/officeDocument/2006/relationships/slide" Target="slides/slide60.xml" TargetMode="Internal"></Relationship><Relationship Id="rId62" Type="http://schemas.openxmlformats.org/officeDocument/2006/relationships/slide" Target="slides/slide61.xml" TargetMode="Internal"></Relationship><Relationship Id="rId63" Type="http://schemas.openxmlformats.org/officeDocument/2006/relationships/slide" Target="slides/slide62.xml" TargetMode="Internal"></Relationship><Relationship Id="rId64" Type="http://schemas.openxmlformats.org/officeDocument/2006/relationships/slide" Target="slides/slide63.xml" TargetMode="Internal"></Relationship><Relationship Id="rId65" Type="http://schemas.openxmlformats.org/officeDocument/2006/relationships/slide" Target="slides/slide64.xml" TargetMode="Internal"></Relationship><Relationship Id="rId66" Type="http://schemas.openxmlformats.org/officeDocument/2006/relationships/slide" Target="slides/slide65.xml" TargetMode="Internal"></Relationship><Relationship Id="rId67" Type="http://schemas.openxmlformats.org/officeDocument/2006/relationships/slide" Target="slides/slide66.xml" TargetMode="Internal"></Relationship><Relationship Id="rId68" Type="http://schemas.openxmlformats.org/officeDocument/2006/relationships/slide" Target="slides/slide67.xml" TargetMode="Internal"></Relationship><Relationship Id="rId69" Type="http://schemas.openxmlformats.org/officeDocument/2006/relationships/slide" Target="slides/slide68.xml" TargetMode="Internal"></Relationship><Relationship Id="rId70" Type="http://schemas.openxmlformats.org/officeDocument/2006/relationships/slide" Target="slides/slide69.xml" TargetMode="Internal"></Relationship><Relationship Id="rId71" Type="http://schemas.openxmlformats.org/officeDocument/2006/relationships/slide" Target="slides/slide70.xml" TargetMode="Internal"></Relationship><Relationship Id="rId72" Type="http://schemas.openxmlformats.org/officeDocument/2006/relationships/slide" Target="slides/slide71.xml" TargetMode="Internal"></Relationship><Relationship Id="rId73" Type="http://schemas.openxmlformats.org/officeDocument/2006/relationships/slide" Target="slides/slide72.xml" TargetMode="Internal"></Relationship><Relationship Id="rId74" Type="http://schemas.openxmlformats.org/officeDocument/2006/relationships/slide" Target="slides/slide73.xml" TargetMode="Internal"></Relationship><Relationship Id="rId75" Type="http://schemas.openxmlformats.org/officeDocument/2006/relationships/slide" Target="slides/slide74.xml" TargetMode="Internal"></Relationship><Relationship Id="rId76" Type="http://schemas.openxmlformats.org/officeDocument/2006/relationships/slide" Target="slides/slide75.xml" TargetMode="Internal"></Relationship><Relationship Id="rId77" Type="http://schemas.openxmlformats.org/officeDocument/2006/relationships/slide" Target="slides/slide76.xml" TargetMode="Internal"></Relationship><Relationship Id="rId78" Type="http://schemas.openxmlformats.org/officeDocument/2006/relationships/slide" Target="slides/slide77.xml" TargetMode="Internal"></Relationship><Relationship Id="rId79" Type="http://schemas.openxmlformats.org/officeDocument/2006/relationships/slide" Target="slides/slide78.xml" TargetMode="Internal"></Relationship><Relationship Id="rId80" Type="http://schemas.openxmlformats.org/officeDocument/2006/relationships/slide" Target="slides/slide79.xml" TargetMode="Internal"></Relationship><Relationship Id="rId81" Type="http://schemas.openxmlformats.org/officeDocument/2006/relationships/slide" Target="slides/slide80.xml" TargetMode="Internal"></Relationship><Relationship Id="rId82" Type="http://schemas.openxmlformats.org/officeDocument/2006/relationships/slide" Target="slides/slide81.xml" TargetMode="Internal"></Relationship><Relationship Id="rId83" Type="http://schemas.openxmlformats.org/officeDocument/2006/relationships/slide" Target="slides/slide82.xml" TargetMode="Internal"></Relationship><Relationship Id="rId84" Type="http://schemas.openxmlformats.org/officeDocument/2006/relationships/slide" Target="slides/slide83.xml" TargetMode="Internal"></Relationship><Relationship Id="rId85" Type="http://schemas.openxmlformats.org/officeDocument/2006/relationships/slide" Target="slides/slide84.xml" TargetMode="Internal"></Relationship><Relationship Id="rId86" Type="http://schemas.openxmlformats.org/officeDocument/2006/relationships/slide" Target="slides/slide85.xml" TargetMode="Internal"></Relationship><Relationship Id="rId87" Type="http://schemas.openxmlformats.org/officeDocument/2006/relationships/slide" Target="slides/slide86.xml" TargetMode="Internal"></Relationship><Relationship Id="rId88" Type="http://schemas.openxmlformats.org/officeDocument/2006/relationships/slide" Target="slides/slide87.xml" TargetMode="Internal"></Relationship><Relationship Id="rId89" Type="http://schemas.openxmlformats.org/officeDocument/2006/relationships/slide" Target="slides/slide88.xml" TargetMode="Internal"></Relationship><Relationship Id="rId90" Type="http://schemas.openxmlformats.org/officeDocument/2006/relationships/slide" Target="slides/slide89.xml" TargetMode="Internal"></Relationship><Relationship Id="rId91" Type="http://schemas.openxmlformats.org/officeDocument/2006/relationships/slide" Target="slides/slide90.xml" TargetMode="Internal"></Relationship><Relationship Id="rId92" Type="http://schemas.openxmlformats.org/officeDocument/2006/relationships/slide" Target="slides/slide91.xml" TargetMode="Internal"></Relationship><Relationship Id="rId93" Type="http://schemas.openxmlformats.org/officeDocument/2006/relationships/slide" Target="slides/slide92.xml" TargetMode="Internal"></Relationship><Relationship Id="rId94" Type="http://schemas.openxmlformats.org/officeDocument/2006/relationships/slide" Target="slides/slide93.xml" TargetMode="Internal"></Relationship><Relationship Id="rId95" Type="http://schemas.openxmlformats.org/officeDocument/2006/relationships/slide" Target="slides/slide94.xml" TargetMode="Internal"></Relationship><Relationship Id="rId96" Type="http://schemas.openxmlformats.org/officeDocument/2006/relationships/slide" Target="slides/slide95.xml" TargetMode="Internal"></Relationship><Relationship Id="rId97" Type="http://schemas.openxmlformats.org/officeDocument/2006/relationships/slide" Target="slides/slide96.xml" TargetMode="Internal"></Relationship><Relationship Id="rId98" Type="http://schemas.openxmlformats.org/officeDocument/2006/relationships/slide" Target="slides/slide97.xml" TargetMode="Internal"></Relationship><Relationship Id="rId99" Type="http://schemas.openxmlformats.org/officeDocument/2006/relationships/slide" Target="slides/slide98.xml" TargetMode="Internal"></Relationship><Relationship Id="rId100" Type="http://schemas.openxmlformats.org/officeDocument/2006/relationships/slide" Target="slides/slide99.xml" TargetMode="Internal"></Relationship><Relationship Id="rId101" Type="http://schemas.openxmlformats.org/officeDocument/2006/relationships/slide" Target="slides/slide100.xml" TargetMode="Internal"></Relationship><Relationship Id="rId102" Type="http://schemas.openxmlformats.org/officeDocument/2006/relationships/slide" Target="slides/slide101.xml" TargetMode="Internal"></Relationship><Relationship Id="rId103" Type="http://schemas.openxmlformats.org/officeDocument/2006/relationships/slide" Target="slides/slide102.xml" TargetMode="Internal"></Relationship><Relationship Id="rId104" Type="http://schemas.openxmlformats.org/officeDocument/2006/relationships/slide" Target="slides/slide103.xml" TargetMode="Internal"></Relationship><Relationship Id="rId105" Type="http://schemas.openxmlformats.org/officeDocument/2006/relationships/slide" Target="slides/slide104.xml" TargetMode="Internal"></Relationship><Relationship Id="rId106" Type="http://schemas.openxmlformats.org/officeDocument/2006/relationships/slide" Target="slides/slide105.xml" TargetMode="Internal"></Relationship><Relationship Id="rId107" Type="http://schemas.openxmlformats.org/officeDocument/2006/relationships/slide" Target="slides/slide106.xml" TargetMode="Internal"></Relationship><Relationship Id="rId108" Type="http://schemas.openxmlformats.org/officeDocument/2006/relationships/slide" Target="slides/slide107.xml" TargetMode="Internal"></Relationship><Relationship Id="rId109" Type="http://schemas.openxmlformats.org/officeDocument/2006/relationships/slide" Target="slides/slide108.xml" TargetMode="Internal"></Relationship><Relationship Id="rId110" Type="http://schemas.openxmlformats.org/officeDocument/2006/relationships/slide" Target="slides/slide109.xml" TargetMode="Internal"></Relationship><Relationship Id="rId111" Type="http://schemas.openxmlformats.org/officeDocument/2006/relationships/slide" Target="slides/slide110.xml" TargetMode="Internal"></Relationship><Relationship Id="rId112" Type="http://schemas.openxmlformats.org/officeDocument/2006/relationships/slide" Target="slides/slide111.xml" TargetMode="Internal"></Relationship><Relationship Id="rId113" Type="http://schemas.openxmlformats.org/officeDocument/2006/relationships/slide" Target="slides/slide112.xml" TargetMode="Internal"></Relationship><Relationship Id="rId114" Type="http://schemas.openxmlformats.org/officeDocument/2006/relationships/slide" Target="slides/slide113.xml" TargetMode="Internal"></Relationship><Relationship Id="rId115" Type="http://schemas.openxmlformats.org/officeDocument/2006/relationships/slide" Target="slides/slide114.xml" TargetMode="Internal"></Relationship><Relationship Id="rId116" Type="http://schemas.openxmlformats.org/officeDocument/2006/relationships/slide" Target="slides/slide115.xml" TargetMode="Internal"></Relationship><Relationship Id="rId117" Type="http://schemas.openxmlformats.org/officeDocument/2006/relationships/slide" Target="slides/slide116.xml" TargetMode="Internal"></Relationship><Relationship Id="rId118" Type="http://schemas.openxmlformats.org/officeDocument/2006/relationships/slide" Target="slides/slide117.xml" TargetMode="Internal"></Relationship><Relationship Id="rId119" Type="http://schemas.openxmlformats.org/officeDocument/2006/relationships/slide" Target="slides/slide118.xml" TargetMode="Internal"></Relationship><Relationship Id="rId120" Type="http://schemas.openxmlformats.org/officeDocument/2006/relationships/slide" Target="slides/slide119.xml" TargetMode="Internal"></Relationship><Relationship Id="rId121" Type="http://schemas.openxmlformats.org/officeDocument/2006/relationships/slide" Target="slides/slide120.xml" TargetMode="Internal"></Relationship><Relationship Id="rId122" Type="http://schemas.openxmlformats.org/officeDocument/2006/relationships/slide" Target="slides/slide121.xml" TargetMode="Internal"></Relationship><Relationship Id="rId123" Type="http://schemas.openxmlformats.org/officeDocument/2006/relationships/slide" Target="slides/slide122.xml" TargetMode="Internal"></Relationship><Relationship Id="rId124" Type="http://schemas.openxmlformats.org/officeDocument/2006/relationships/slide" Target="slides/slide123.xml" TargetMode="Internal"></Relationship><Relationship Id="rId125" Type="http://schemas.openxmlformats.org/officeDocument/2006/relationships/slide" Target="slides/slide124.xml" TargetMode="Internal"></Relationship><Relationship Id="rId126" Type="http://schemas.openxmlformats.org/officeDocument/2006/relationships/slide" Target="slides/slide125.xml" TargetMode="Internal"></Relationship><Relationship Id="rId127" Type="http://schemas.openxmlformats.org/officeDocument/2006/relationships/slide" Target="slides/slide126.xml" TargetMode="Internal"></Relationship><Relationship Id="rId128" Type="http://schemas.openxmlformats.org/officeDocument/2006/relationships/slide" Target="slides/slide127.xml" TargetMode="Internal"></Relationship><Relationship Id="rId129" Type="http://schemas.openxmlformats.org/officeDocument/2006/relationships/slide" Target="slides/slide128.xml" TargetMode="Internal"></Relationship><Relationship Id="rId130" Type="http://schemas.openxmlformats.org/officeDocument/2006/relationships/slide" Target="slides/slide129.xml" TargetMode="Internal"></Relationship><Relationship Id="rId131" Type="http://schemas.openxmlformats.org/officeDocument/2006/relationships/slide" Target="slides/slide130.xml" TargetMode="Internal"></Relationship><Relationship Id="rId132" Type="http://schemas.openxmlformats.org/officeDocument/2006/relationships/slide" Target="slides/slide131.xml" TargetMode="Internal"></Relationship><Relationship Id="rId133" Type="http://schemas.openxmlformats.org/officeDocument/2006/relationships/slide" Target="slides/slide132.xml" TargetMode="Internal"></Relationship><Relationship Id="rId134" Type="http://schemas.openxmlformats.org/officeDocument/2006/relationships/slide" Target="slides/slide133.xml" TargetMode="Internal"></Relationship><Relationship Id="rId135" Type="http://schemas.openxmlformats.org/officeDocument/2006/relationships/slide" Target="slides/slide134.xml" TargetMode="Internal"></Relationship><Relationship Id="rId136" Type="http://schemas.openxmlformats.org/officeDocument/2006/relationships/slide" Target="slides/slide135.xml" TargetMode="Internal"></Relationship><Relationship Id="rId137" Type="http://schemas.openxmlformats.org/officeDocument/2006/relationships/slide" Target="slides/slide136.xml" TargetMode="Internal"></Relationship><Relationship Id="rId138" Type="http://schemas.openxmlformats.org/officeDocument/2006/relationships/slide" Target="slides/slide137.xml" TargetMode="Internal"></Relationship><Relationship Id="rId139" Type="http://schemas.openxmlformats.org/officeDocument/2006/relationships/slide" Target="slides/slide138.xml" TargetMode="Internal"></Relationship><Relationship Id="rId140" Type="http://schemas.openxmlformats.org/officeDocument/2006/relationships/slide" Target="slides/slide139.xml" TargetMode="Internal"></Relationship><Relationship Id="rId141" Type="http://schemas.openxmlformats.org/officeDocument/2006/relationships/slide" Target="slides/slide140.xml" TargetMode="Internal"></Relationship><Relationship Id="rId142" Type="http://schemas.openxmlformats.org/officeDocument/2006/relationships/slide" Target="slides/slide141.xml" TargetMode="Internal"></Relationship><Relationship Id="rId143" Type="http://schemas.openxmlformats.org/officeDocument/2006/relationships/slide" Target="slides/slide142.xml" TargetMode="Internal"></Relationship><Relationship Id="rId144" Type="http://schemas.openxmlformats.org/officeDocument/2006/relationships/slide" Target="slides/slide143.xml" TargetMode="Internal"></Relationship><Relationship Id="rId145" Type="http://schemas.openxmlformats.org/officeDocument/2006/relationships/slide" Target="slides/slide144.xml" TargetMode="Internal"></Relationship><Relationship Id="rId146" Type="http://schemas.openxmlformats.org/officeDocument/2006/relationships/slide" Target="slides/slide145.xml" TargetMode="Internal"></Relationship><Relationship Id="rId147" Type="http://schemas.openxmlformats.org/officeDocument/2006/relationships/slide" Target="slides/slide146.xml" TargetMode="Internal"></Relationship><Relationship Id="rId148" Type="http://schemas.openxmlformats.org/officeDocument/2006/relationships/slide" Target="slides/slide147.xml" TargetMode="Internal"></Relationship><Relationship Id="rId149" Type="http://schemas.openxmlformats.org/officeDocument/2006/relationships/slide" Target="slides/slide148.xml" TargetMode="Internal"></Relationship><Relationship Id="rId150" Type="http://schemas.openxmlformats.org/officeDocument/2006/relationships/slide" Target="slides/slide149.xml" TargetMode="Internal"></Relationship><Relationship Id="rId151" Type="http://schemas.openxmlformats.org/officeDocument/2006/relationships/slide" Target="slides/slide150.xml" TargetMode="Internal"></Relationship><Relationship Id="rId152" Type="http://schemas.openxmlformats.org/officeDocument/2006/relationships/slide" Target="slides/slide151.xml" TargetMode="Internal"></Relationship><Relationship Id="rId153" Type="http://schemas.openxmlformats.org/officeDocument/2006/relationships/slide" Target="slides/slide152.xml" TargetMode="Internal"></Relationship><Relationship Id="rId154" Type="http://schemas.openxmlformats.org/officeDocument/2006/relationships/slide" Target="slides/slide153.xml" TargetMode="Internal"></Relationship><Relationship Id="rId155" Type="http://schemas.openxmlformats.org/officeDocument/2006/relationships/slide" Target="slides/slide154.xml" TargetMode="Internal"></Relationship><Relationship Id="rId156" Type="http://schemas.openxmlformats.org/officeDocument/2006/relationships/slide" Target="slides/slide155.xml" TargetMode="Internal"></Relationship><Relationship Id="rId157" Type="http://schemas.openxmlformats.org/officeDocument/2006/relationships/slide" Target="slides/slide156.xml" TargetMode="Internal"></Relationship><Relationship Id="rId158" Type="http://schemas.openxmlformats.org/officeDocument/2006/relationships/slide" Target="slides/slide157.xml" TargetMode="Internal"></Relationship><Relationship Id="rId159" Type="http://schemas.openxmlformats.org/officeDocument/2006/relationships/slide" Target="slides/slide158.xml" TargetMode="Internal"></Relationship><Relationship Id="rId160" Type="http://schemas.openxmlformats.org/officeDocument/2006/relationships/slide" Target="slides/slide159.xml" TargetMode="Internal"></Relationship><Relationship Id="rId161" Type="http://schemas.openxmlformats.org/officeDocument/2006/relationships/slide" Target="slides/slide160.xml" TargetMode="Internal"></Relationship><Relationship Id="rId162" Type="http://schemas.openxmlformats.org/officeDocument/2006/relationships/slide" Target="slides/slide161.xml" TargetMode="Internal"></Relationship><Relationship Id="rId163" Type="http://schemas.openxmlformats.org/officeDocument/2006/relationships/slide" Target="slides/slide162.xml" TargetMode="Internal"></Relationship><Relationship Id="rId164" Type="http://schemas.openxmlformats.org/officeDocument/2006/relationships/slide" Target="slides/slide163.xml" TargetMode="Internal"></Relationship><Relationship Id="rId165" Type="http://schemas.openxmlformats.org/officeDocument/2006/relationships/slide" Target="slides/slide164.xml" TargetMode="Internal"></Relationship><Relationship Id="rId166" Type="http://schemas.openxmlformats.org/officeDocument/2006/relationships/slide" Target="slides/slide165.xml" TargetMode="Internal"></Relationship><Relationship Id="rId167" Type="http://schemas.openxmlformats.org/officeDocument/2006/relationships/slide" Target="slides/slide166.xml" TargetMode="Internal"></Relationship><Relationship Id="rId168" Type="http://schemas.openxmlformats.org/officeDocument/2006/relationships/slide" Target="slides/slide167.xml" TargetMode="Internal"></Relationship><Relationship Id="rId169" Type="http://schemas.openxmlformats.org/officeDocument/2006/relationships/slide" Target="slides/slide168.xml" TargetMode="Internal"></Relationship><Relationship Id="rId170" Type="http://schemas.openxmlformats.org/officeDocument/2006/relationships/slide" Target="slides/slide169.xml" TargetMode="Internal"></Relationship><Relationship Id="rId171" Type="http://schemas.openxmlformats.org/officeDocument/2006/relationships/slide" Target="slides/slide170.xml" TargetMode="Internal"></Relationship><Relationship Id="rId172" Type="http://schemas.openxmlformats.org/officeDocument/2006/relationships/slide" Target="slides/slide171.xml" TargetMode="Internal"></Relationship><Relationship Id="rId173" Type="http://schemas.openxmlformats.org/officeDocument/2006/relationships/slide" Target="slides/slide172.xml" TargetMode="Internal"></Relationship><Relationship Id="rId174" Type="http://schemas.openxmlformats.org/officeDocument/2006/relationships/slide" Target="slides/slide173.xml" TargetMode="Internal"></Relationship><Relationship Id="rId175" Type="http://schemas.openxmlformats.org/officeDocument/2006/relationships/slide" Target="slides/slide174.xml" TargetMode="Internal"></Relationship><Relationship Id="rId176" Type="http://schemas.openxmlformats.org/officeDocument/2006/relationships/slide" Target="slides/slide175.xml" TargetMode="Internal"></Relationship><Relationship Id="rId177" Type="http://schemas.openxmlformats.org/officeDocument/2006/relationships/slide" Target="slides/slide176.xml" TargetMode="Internal"></Relationship><Relationship Id="rId178" Type="http://schemas.openxmlformats.org/officeDocument/2006/relationships/slide" Target="slides/slide177.xml" TargetMode="Internal"></Relationship><Relationship Id="rId179" Type="http://schemas.openxmlformats.org/officeDocument/2006/relationships/slide" Target="slides/slide178.xml" TargetMode="Internal"></Relationship><Relationship Id="rId180" Type="http://schemas.openxmlformats.org/officeDocument/2006/relationships/slide" Target="slides/slide179.xml" TargetMode="Internal"></Relationship><Relationship Id="rId181" Type="http://schemas.openxmlformats.org/officeDocument/2006/relationships/slide" Target="slides/slide180.xml" TargetMode="Internal"></Relationship><Relationship Id="rId182" Type="http://schemas.openxmlformats.org/officeDocument/2006/relationships/slide" Target="slides/slide181.xml" TargetMode="Internal"></Relationship><Relationship Id="rId183" Type="http://schemas.openxmlformats.org/officeDocument/2006/relationships/slide" Target="slides/slide182.xml" TargetMode="Internal"></Relationship><Relationship Id="rId184" Type="http://schemas.openxmlformats.org/officeDocument/2006/relationships/slide" Target="slides/slide183.xml" TargetMode="Internal"></Relationship><Relationship Id="rId185" Type="http://schemas.openxmlformats.org/officeDocument/2006/relationships/slide" Target="slides/slide184.xml" TargetMode="Internal"></Relationship><Relationship Id="rId186" Type="http://schemas.openxmlformats.org/officeDocument/2006/relationships/slide" Target="slides/slide185.xml" TargetMode="Internal"></Relationship><Relationship Id="rId187" Type="http://schemas.openxmlformats.org/officeDocument/2006/relationships/slide" Target="slides/slide186.xml" TargetMode="Internal"></Relationship><Relationship Id="rId188" Type="http://schemas.openxmlformats.org/officeDocument/2006/relationships/slide" Target="slides/slide187.xml" TargetMode="Internal"></Relationship><Relationship Id="rId189" Type="http://schemas.openxmlformats.org/officeDocument/2006/relationships/slide" Target="slides/slide188.xml" TargetMode="Internal"></Relationship><Relationship Id="rId190" Type="http://schemas.openxmlformats.org/officeDocument/2006/relationships/slide" Target="slides/slide189.xml" TargetMode="Internal"></Relationship><Relationship Id="rId191" Type="http://schemas.openxmlformats.org/officeDocument/2006/relationships/slide" Target="slides/slide190.xml" TargetMode="Internal"></Relationship><Relationship Id="rId192" Type="http://schemas.openxmlformats.org/officeDocument/2006/relationships/slide" Target="slides/slide191.xml" TargetMode="Internal"></Relationship><Relationship Id="rId193" Type="http://schemas.openxmlformats.org/officeDocument/2006/relationships/slide" Target="slides/slide192.xml" TargetMode="Internal"></Relationship><Relationship Id="rId194" Type="http://schemas.openxmlformats.org/officeDocument/2006/relationships/slide" Target="slides/slide193.xml" TargetMode="Internal"></Relationship><Relationship Id="rId195" Type="http://schemas.openxmlformats.org/officeDocument/2006/relationships/slide" Target="slides/slide194.xml" TargetMode="Internal"></Relationship><Relationship Id="rId196" Type="http://schemas.openxmlformats.org/officeDocument/2006/relationships/slide" Target="slides/slide195.xml" TargetMode="Internal"></Relationship><Relationship Id="rId197" Type="http://schemas.openxmlformats.org/officeDocument/2006/relationships/slide" Target="slides/slide196.xml" TargetMode="Internal"></Relationship><Relationship Id="rId198" Type="http://schemas.openxmlformats.org/officeDocument/2006/relationships/slide" Target="slides/slide197.xml" TargetMode="Internal"></Relationship><Relationship Id="rId199" Type="http://schemas.openxmlformats.org/officeDocument/2006/relationships/slide" Target="slides/slide198.xml" TargetMode="Internal"></Relationship><Relationship Id="rId200" Type="http://schemas.openxmlformats.org/officeDocument/2006/relationships/slide" Target="slides/slide199.xml" TargetMode="Internal"></Relationship><Relationship Id="rId201" Type="http://schemas.openxmlformats.org/officeDocument/2006/relationships/slide" Target="slides/slide200.xml" TargetMode="Internal"></Relationship><Relationship Id="rId202" Type="http://schemas.openxmlformats.org/officeDocument/2006/relationships/slide" Target="slides/slide201.xml" TargetMode="Internal"></Relationship><Relationship Id="rId203" Type="http://schemas.openxmlformats.org/officeDocument/2006/relationships/slide" Target="slides/slide202.xml" TargetMode="Internal"></Relationship><Relationship Id="rId204" Type="http://schemas.openxmlformats.org/officeDocument/2006/relationships/slide" Target="slides/slide203.xml" TargetMode="Internal"></Relationship><Relationship Id="rId205" Type="http://schemas.openxmlformats.org/officeDocument/2006/relationships/slide" Target="slides/slide204.xml" TargetMode="Internal"></Relationship><Relationship Id="rId206" Type="http://schemas.openxmlformats.org/officeDocument/2006/relationships/slide" Target="slides/slide205.xml" TargetMode="Internal"></Relationship><Relationship Id="rId207" Type="http://schemas.openxmlformats.org/officeDocument/2006/relationships/slide" Target="slides/slide206.xml" TargetMode="Internal"></Relationship><Relationship Id="rId208" Type="http://schemas.openxmlformats.org/officeDocument/2006/relationships/slide" Target="slides/slide207.xml" TargetMode="Internal"></Relationship><Relationship Id="rId209" Type="http://schemas.openxmlformats.org/officeDocument/2006/relationships/slide" Target="slides/slide208.xml" TargetMode="Internal"></Relationship><Relationship Id="rId210" Type="http://schemas.openxmlformats.org/officeDocument/2006/relationships/slide" Target="slides/slide209.xml" TargetMode="Internal"></Relationship><Relationship Id="rId211" Type="http://schemas.openxmlformats.org/officeDocument/2006/relationships/slide" Target="slides/slide210.xml" TargetMode="Internal"></Relationship><Relationship Id="rId212" Type="http://schemas.openxmlformats.org/officeDocument/2006/relationships/slide" Target="slides/slide211.xml" TargetMode="Internal"></Relationship><Relationship Id="rId213" Type="http://schemas.openxmlformats.org/officeDocument/2006/relationships/slide" Target="slides/slide212.xml" TargetMode="Internal"></Relationship><Relationship Id="rId214" Type="http://schemas.openxmlformats.org/officeDocument/2006/relationships/slide" Target="slides/slide213.xml" TargetMode="Internal"></Relationship><Relationship Id="rId215" Type="http://schemas.openxmlformats.org/officeDocument/2006/relationships/slide" Target="slides/slide214.xml" TargetMode="Internal"></Relationship><Relationship Id="rId216" Type="http://schemas.openxmlformats.org/officeDocument/2006/relationships/slide" Target="slides/slide215.xml" TargetMode="Internal"></Relationship><Relationship Id="rId217" Type="http://schemas.openxmlformats.org/officeDocument/2006/relationships/slide" Target="slides/slide216.xml" TargetMode="Internal"></Relationship><Relationship Id="rId218" Type="http://schemas.openxmlformats.org/officeDocument/2006/relationships/slide" Target="slides/slide217.xml" TargetMode="Internal"></Relationship><Relationship Id="rId219" Type="http://schemas.openxmlformats.org/officeDocument/2006/relationships/slide" Target="slides/slide218.xml" TargetMode="Internal"></Relationship><Relationship Id="rId220" Type="http://schemas.openxmlformats.org/officeDocument/2006/relationships/slide" Target="slides/slide219.xml" TargetMode="Internal"></Relationship><Relationship Id="rId221" Type="http://schemas.openxmlformats.org/officeDocument/2006/relationships/slide" Target="slides/slide220.xml" TargetMode="Internal"></Relationship><Relationship Id="rId222" Type="http://schemas.openxmlformats.org/officeDocument/2006/relationships/slide" Target="slides/slide221.xml" TargetMode="Internal"></Relationship><Relationship Id="rId223" Type="http://schemas.openxmlformats.org/officeDocument/2006/relationships/slide" Target="slides/slide222.xml" TargetMode="Internal"></Relationship><Relationship Id="rId224" Type="http://schemas.openxmlformats.org/officeDocument/2006/relationships/slide" Target="slides/slide223.xml" TargetMode="Internal"></Relationship><Relationship Id="rId225" Type="http://schemas.openxmlformats.org/officeDocument/2006/relationships/slide" Target="slides/slide224.xml" TargetMode="Internal"></Relationship><Relationship Id="rId226" Type="http://schemas.openxmlformats.org/officeDocument/2006/relationships/slide" Target="slides/slide225.xml" TargetMode="Internal"></Relationship><Relationship Id="rId227" Type="http://schemas.openxmlformats.org/officeDocument/2006/relationships/slide" Target="slides/slide226.xml" TargetMode="Internal"></Relationship><Relationship Id="rId228" Type="http://schemas.openxmlformats.org/officeDocument/2006/relationships/slide" Target="slides/slide227.xml" TargetMode="Internal"></Relationship><Relationship Id="rId229" Type="http://schemas.openxmlformats.org/officeDocument/2006/relationships/slide" Target="slides/slide228.xml" TargetMode="Internal"></Relationship><Relationship Id="rId230" Type="http://schemas.openxmlformats.org/officeDocument/2006/relationships/slide" Target="slides/slide229.xml" TargetMode="Internal"></Relationship><Relationship Id="rId231" Type="http://schemas.openxmlformats.org/officeDocument/2006/relationships/slide" Target="slides/slide230.xml" TargetMode="Internal"></Relationship><Relationship Id="rId232" Type="http://schemas.openxmlformats.org/officeDocument/2006/relationships/slide" Target="slides/slide231.xml" TargetMode="Internal"></Relationship><Relationship Id="rId233" Type="http://schemas.openxmlformats.org/officeDocument/2006/relationships/slide" Target="slides/slide232.xml" TargetMode="Internal"></Relationship><Relationship Id="rId234" Type="http://schemas.openxmlformats.org/officeDocument/2006/relationships/slide" Target="slides/slide233.xml" TargetMode="Internal"></Relationship><Relationship Id="rId235" Type="http://schemas.openxmlformats.org/officeDocument/2006/relationships/slide" Target="slides/slide234.xml" TargetMode="Internal"></Relationship><Relationship Id="rId236" Type="http://schemas.openxmlformats.org/officeDocument/2006/relationships/slide" Target="slides/slide235.xml" TargetMode="Internal"></Relationship><Relationship Id="rId237" Type="http://schemas.openxmlformats.org/officeDocument/2006/relationships/slide" Target="slides/slide236.xml" TargetMode="Internal"></Relationship><Relationship Id="rId238" Type="http://schemas.openxmlformats.org/officeDocument/2006/relationships/slide" Target="slides/slide237.xml" TargetMode="Internal"></Relationship><Relationship Id="rId239" Type="http://schemas.openxmlformats.org/officeDocument/2006/relationships/slide" Target="slides/slide238.xml" TargetMode="Internal"></Relationship><Relationship Id="rId240" Type="http://schemas.openxmlformats.org/officeDocument/2006/relationships/slide" Target="slides/slide239.xml" TargetMode="Internal"></Relationship><Relationship Id="rId241" Type="http://schemas.openxmlformats.org/officeDocument/2006/relationships/slide" Target="slides/slide240.xml" TargetMode="Internal"></Relationship><Relationship Id="rId242" Type="http://schemas.openxmlformats.org/officeDocument/2006/relationships/slide" Target="slides/slide241.xml" TargetMode="Internal"></Relationship><Relationship Id="rId243" Type="http://schemas.openxmlformats.org/officeDocument/2006/relationships/slide" Target="slides/slide242.xml" TargetMode="Internal"></Relationship><Relationship Id="rId244" Type="http://schemas.openxmlformats.org/officeDocument/2006/relationships/slide" Target="slides/slide243.xml" TargetMode="Internal"></Relationship><Relationship Id="rId245" Type="http://schemas.openxmlformats.org/officeDocument/2006/relationships/theme" Target="theme/theme1.xml" TargetMode="Internal"></Relationship><Relationship Id="rId246" Type="http://schemas.openxmlformats.org/officeDocument/2006/relationships/presProps" Target="presProps.xml" TargetMode="Internal"></Relationship><Relationship Id="rId247" Type="http://schemas.openxmlformats.org/officeDocument/2006/relationships/viewProps" Target="viewProps.xml" TargetMode="Internal"></Relationship><Relationship Id="rId248" Type="http://schemas.openxmlformats.org/officeDocument/2006/relationships/tableStyles" Target="tableStyles.xml" TargetMode="Internal"></Relationship></Relationship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marL="0" indent="0">
              <a:buNone/>
              <a:defRPr>
                <a:solidFill>
                  <a:srgbClr val="000000"/>
                </a:solidFill>
              </a:defRPr>
            </a:lvl1pPr>
            <a:lvl2pPr algn="ctr" marL="457200" indent="0">
              <a:buNone/>
              <a:defRPr>
                <a:solidFill>
                  <a:srgbClr val="000000"/>
                </a:solidFill>
              </a:defRPr>
            </a:lvl2pPr>
            <a:lvl3pPr algn="ctr" marL="914400" indent="0">
              <a:buNone/>
              <a:defRPr>
                <a:solidFill>
                  <a:srgbClr val="000000"/>
                </a:solidFill>
              </a:defRPr>
            </a:lvl3pPr>
            <a:lvl4pPr algn="ctr" marL="1371600" indent="0">
              <a:buNone/>
              <a:defRPr>
                <a:solidFill>
                  <a:srgbClr val="000000"/>
                </a:solidFill>
              </a:defRPr>
            </a:lvl4pPr>
            <a:lvl5pPr algn="ctr" marL="1828800" indent="0">
              <a:buNone/>
              <a:defRPr>
                <a:solidFill>
                  <a:srgbClr val="000000"/>
                </a:solidFill>
              </a:defRPr>
            </a:lvl5pPr>
            <a:lvl6pPr algn="ctr" marL="2286000" indent="0">
              <a:buNone/>
              <a:defRPr>
                <a:solidFill>
                  <a:srgbClr val="000000"/>
                </a:solidFill>
              </a:defRPr>
            </a:lvl6pPr>
            <a:lvl7pPr algn="ctr" marL="2743200" indent="0">
              <a:buNone/>
              <a:defRPr>
                <a:solidFill>
                  <a:srgbClr val="000000"/>
                </a:solidFill>
              </a:defRPr>
            </a:lvl7pPr>
            <a:lvl8pPr algn="ctr" marL="3200400" indent="0">
              <a:buNone/>
              <a:defRPr>
                <a:solidFill>
                  <a:srgbClr val="000000"/>
                </a:solidFill>
              </a:defRPr>
            </a:lvl8pPr>
            <a:lvl9pPr algn="ctr" marL="3657600" indent="0">
              <a:buNone/>
              <a:defRPr>
                <a:solidFill>
                  <a:srgbClr val="000000"/>
                </a:solidFill>
              </a:defRPr>
            </a:lvl9pPr>
          </a:lstStyle>
          <a:p>
            <a:r>
              <a:rPr lang="ko-KR" altLang="en-US" dirty="0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  <a:lvl2pPr marL="457200" indent="0">
              <a:buNone/>
              <a:defRPr sz="1800">
                <a:solidFill>
                  <a:srgbClr val="000000"/>
                </a:solidFill>
              </a:defRPr>
            </a:lvl2pPr>
            <a:lvl3pPr marL="914400" indent="0">
              <a:buNone/>
              <a:defRPr sz="1600">
                <a:solidFill>
                  <a:srgbClr val="000000"/>
                </a:solidFill>
              </a:defRPr>
            </a:lvl3pPr>
            <a:lvl4pPr marL="1371600" indent="0">
              <a:buNone/>
              <a:defRPr sz="1400">
                <a:solidFill>
                  <a:srgbClr val="000000"/>
                </a:solidFill>
              </a:defRPr>
            </a:lvl4pPr>
            <a:lvl5pPr marL="1828800" indent="0">
              <a:buNone/>
              <a:defRPr sz="1400">
                <a:solidFill>
                  <a:srgbClr val="000000"/>
                </a:solidFill>
              </a:defRPr>
            </a:lvl5pPr>
            <a:lvl6pPr marL="2286000" indent="0">
              <a:buNone/>
              <a:defRPr sz="1400">
                <a:solidFill>
                  <a:srgbClr val="000000"/>
                </a:solidFill>
              </a:defRPr>
            </a:lvl6pPr>
            <a:lvl7pPr marL="2743200" indent="0">
              <a:buNone/>
              <a:defRPr sz="1400">
                <a:solidFill>
                  <a:srgbClr val="000000"/>
                </a:solidFill>
              </a:defRPr>
            </a:lvl7pPr>
            <a:lvl8pPr marL="3200400" indent="0">
              <a:buNone/>
              <a:defRPr sz="1400">
                <a:solidFill>
                  <a:srgbClr val="000000"/>
                </a:solidFill>
              </a:defRPr>
            </a:lvl8pPr>
            <a:lvl9pPr marL="3657600" indent="0">
              <a:buNone/>
              <a:defRPr sz="1400">
                <a:solidFill>
                  <a:srgbClr val="000000"/>
                </a:solidFill>
              </a:defRPr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 marL="0" defTabSz="0">
              <a:defRPr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type="pic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0" defTabSz="0">
              <a:defRPr sz="3200"/>
            </a:lvl1pPr>
            <a:lvl2pPr marL="0" defTabSz="0">
              <a:defRPr sz="2800"/>
            </a:lvl2pPr>
            <a:lvl3pPr marL="0" defTabSz="0">
              <a:defRPr sz="2400"/>
            </a:lvl3pPr>
            <a:lvl4pPr marL="0" defTabSz="0">
              <a:defRPr sz="2000"/>
            </a:lvl4pPr>
            <a:lvl5pPr marL="0" defTabSz="0">
              <a:defRPr sz="2000"/>
            </a:lvl5pPr>
            <a:lvl6pPr marL="0" defTabSz="0">
              <a:defRPr sz="2000"/>
            </a:lvl6pPr>
            <a:lvl7pPr marL="0" defTabSz="0">
              <a:defRPr sz="2000"/>
            </a:lvl7pPr>
            <a:lvl8pPr marL="0" defTabSz="0">
              <a:defRPr sz="2000"/>
            </a:lvl8pPr>
            <a:lvl9pPr marL="0" defTabSz="0">
              <a:defRPr sz="20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1"/>
          <p:cNvSpPr>
            <a:spLocks noGrp="1"/>
          </p:cNvSpPr>
          <p:nvPr>
            <p:ph type="title" orient="vert" idx="0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 TargetMode="Internal"></Relationship><Relationship Id="rId2" Type="http://schemas.openxmlformats.org/officeDocument/2006/relationships/slideLayout" Target="../slideLayouts/slideLayout2.xml" TargetMode="Internal"></Relationship><Relationship Id="rId3" Type="http://schemas.openxmlformats.org/officeDocument/2006/relationships/slideLayout" Target="../slideLayouts/slideLayout3.xml" TargetMode="Internal"></Relationship><Relationship Id="rId4" Type="http://schemas.openxmlformats.org/officeDocument/2006/relationships/slideLayout" Target="../slideLayouts/slideLayout4.xml" TargetMode="Internal"></Relationship><Relationship Id="rId5" Type="http://schemas.openxmlformats.org/officeDocument/2006/relationships/slideLayout" Target="../slideLayouts/slideLayout5.xml" TargetMode="Internal"></Relationship><Relationship Id="rId6" Type="http://schemas.openxmlformats.org/officeDocument/2006/relationships/slideLayout" Target="../slideLayouts/slideLayout6.xml" TargetMode="Internal"></Relationship><Relationship Id="rId7" Type="http://schemas.openxmlformats.org/officeDocument/2006/relationships/slideLayout" Target="../slideLayouts/slideLayout7.xml" TargetMode="Internal"></Relationship><Relationship Id="rId8" Type="http://schemas.openxmlformats.org/officeDocument/2006/relationships/slideLayout" Target="../slideLayouts/slideLayout8.xml" TargetMode="Internal"></Relationship><Relationship Id="rId9" Type="http://schemas.openxmlformats.org/officeDocument/2006/relationships/slideLayout" Target="../slideLayouts/slideLayout9.xml" TargetMode="Internal"></Relationship><Relationship Id="rId10" Type="http://schemas.openxmlformats.org/officeDocument/2006/relationships/slideLayout" Target="../slideLayouts/slideLayout10.xml" TargetMode="Internal"></Relationship><Relationship Id="rId11" Type="http://schemas.openxmlformats.org/officeDocument/2006/relationships/slideLayout" Target="../slideLayouts/slideLayout11.xml" TargetMode="Internal"></Relationship><Relationship Id="rId12" Type="http://schemas.openxmlformats.org/officeDocument/2006/relationships/theme" Target="../theme/theme1.xml" TargetMode="Interna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fld id="{5C1A2B81-1DA3-497E-83CD-70D401AD2C06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0000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9CD56DC7-0AF8-4C3E-9120-C82FF52A6C0B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marL="0" indent="0" defTabSz="914400">
        <a:buNone/>
        <a:defRPr lang="ko-KR" smtClean="0" sz="4400" baseline="0">
          <a:solidFill>
            <a:srgbClr val="000000"/>
          </a:solidFill>
          <a:latin typeface="SimSun"/>
          <a:ea typeface="SimSun"/>
        </a:defRPr>
      </a:lvl1pPr>
    </p:titleStyle>
    <p:bodyStyle>
      <a:lvl1pPr algn="l" marL="342900" indent="-342900" defTabSz="914400">
        <a:spcBef>
          <a:spcPct val="20000"/>
        </a:spcBef>
        <a:buFont typeface="SimSun"/>
        <a:buChar char="●"/>
        <a:defRPr lang="ko-KR" smtClean="0" sz="3200" baseline="0">
          <a:solidFill>
            <a:srgbClr val="000000"/>
          </a:solidFill>
          <a:latin typeface="SimSun"/>
          <a:ea typeface="SimSun"/>
        </a:defRPr>
      </a:lvl1pPr>
      <a:lvl2pPr lvl="1" marL="742950" indent="-285750" defTabSz="914400">
        <a:buChar char="-"/>
        <a:defRPr lang="ko-KR" smtClean="0" sz="2800"/>
      </a:lvl2pPr>
      <a:lvl3pPr lvl="2" marL="1143000" indent="-228600" defTabSz="914400">
        <a:buChar char="●"/>
        <a:defRPr lang="ko-KR" smtClean="0" sz="2400"/>
      </a:lvl3pPr>
      <a:lvl4pPr lvl="3" marL="1600200" indent="-228600" defTabSz="914400">
        <a:buChar char="-"/>
        <a:defRPr lang="ko-KR" smtClean="0" sz="2000"/>
      </a:lvl4pPr>
      <a:lvl5pPr lvl="4" marL="2057400" indent="-228600" defTabSz="914400">
        <a:buChar char="»"/>
        <a:defRPr lang="ko-KR" smtClean="0"/>
      </a:lvl5pPr>
    </p:bodyStyle>
    <p:otherStyle>
      <a:lvl1pPr algn="l" marL="0" indent="0" defTabSz="914400">
        <a:buNone/>
        <a:defRPr lang="ko-KR" smtClean="0" sz="1800" baseline="0">
          <a:solidFill>
            <a:srgbClr val="000000"/>
          </a:solidFill>
          <a:latin typeface="SimSun"/>
          <a:ea typeface="SimSun"/>
        </a:defRPr>
      </a:lvl1pPr>
      <a:lvl2pPr lvl="1" marL="457200" indent="0" defTabSz="914400">
        <a:defRPr lang="ko-KR" smtClean="0"/>
      </a:lvl2pPr>
      <a:lvl3pPr lvl="2" marL="914400" indent="0" defTabSz="914400">
        <a:defRPr lang="ko-KR" smtClean="0"/>
      </a:lvl3pPr>
      <a:lvl4pPr lvl="3" marL="1371600" indent="0" defTabSz="914400">
        <a:defRPr lang="ko-KR" smtClean="0"/>
      </a:lvl4pPr>
      <a:lvl5pPr lvl="4" marL="1828800" indent="0" defTabSz="914400">
        <a:defRPr lang="ko-KR" smtClean="0"/>
      </a:lvl5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.jpeg" TargetMode="Interna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.jpeg" TargetMode="Interna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.jpeg" TargetMode="Interna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.jpeg" TargetMode="Interna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.jpeg" TargetMode="Interna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.jpeg" TargetMode="Interna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.jpeg" TargetMode="Interna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.jpeg" TargetMode="Interna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.jpeg" TargetMode="Interna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.jpeg" TargetMode="Interna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.jpeg" TargetMode="Interna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.jpeg" TargetMode="Interna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.jpeg" TargetMode="Interna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.jpeg" TargetMode="Interna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.jpeg" TargetMode="Interna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.jpeg" TargetMode="Internal"></Relationship><Relationship Id="rId3" Type="http://schemas.openxmlformats.org/officeDocument/2006/relationships/image" Target="../media/fImage17.jpeg" TargetMode="Interna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.jpeg" TargetMode="Internal"></Relationship><Relationship Id="rId3" Type="http://schemas.openxmlformats.org/officeDocument/2006/relationships/image" Target="../media/fImage19.jpeg" TargetMode="Internal"></Relationship><Relationship Id="rId4" Type="http://schemas.openxmlformats.org/officeDocument/2006/relationships/image" Target="../media/fImage20.jpeg" TargetMode="Internal"></Relationship><Relationship Id="rId5" Type="http://schemas.openxmlformats.org/officeDocument/2006/relationships/image" Target="../media/fImage21.jpeg" TargetMode="Internal"></Relationship><Relationship Id="rId6" Type="http://schemas.openxmlformats.org/officeDocument/2006/relationships/image" Target="../media/fImage22.jpeg" TargetMode="Internal"></Relationship><Relationship Id="rId7" Type="http://schemas.openxmlformats.org/officeDocument/2006/relationships/image" Target="../media/fImage23.jpeg" TargetMode="Internal"></Relationship><Relationship Id="rId8" Type="http://schemas.openxmlformats.org/officeDocument/2006/relationships/image" Target="../media/fImage24.jpeg" TargetMode="Internal"></Relationship><Relationship Id="rId9" Type="http://schemas.openxmlformats.org/officeDocument/2006/relationships/image" Target="../media/fImage25.jpeg" TargetMode="Internal"></Relationship><Relationship Id="rId10" Type="http://schemas.openxmlformats.org/officeDocument/2006/relationships/image" Target="../media/fImage26.jpeg" TargetMode="Internal"></Relationship><Relationship Id="rId11" Type="http://schemas.openxmlformats.org/officeDocument/2006/relationships/image" Target="../media/fImage27.jpeg" TargetMode="Internal"></Relationship><Relationship Id="rId12" Type="http://schemas.openxmlformats.org/officeDocument/2006/relationships/image" Target="../media/fImage28.jpeg" TargetMode="Internal"></Relationship><Relationship Id="rId13" Type="http://schemas.openxmlformats.org/officeDocument/2006/relationships/image" Target="../media/fImage29.jpeg" TargetMode="Internal"></Relationship><Relationship Id="rId14" Type="http://schemas.openxmlformats.org/officeDocument/2006/relationships/image" Target="../media/fImage30.jpeg" TargetMode="Internal"></Relationship><Relationship Id="rId15" Type="http://schemas.openxmlformats.org/officeDocument/2006/relationships/image" Target="../media/fImage31.jpeg" TargetMode="Internal"></Relationship><Relationship Id="rId16" Type="http://schemas.openxmlformats.org/officeDocument/2006/relationships/image" Target="../media/fImage32.jpeg" TargetMode="Internal"></Relationship><Relationship Id="rId17" Type="http://schemas.openxmlformats.org/officeDocument/2006/relationships/image" Target="../media/fImage33.jpeg" TargetMode="Interna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.jpeg" TargetMode="Internal"></Relationship><Relationship Id="rId3" Type="http://schemas.openxmlformats.org/officeDocument/2006/relationships/image" Target="../media/fImage35.jpeg" TargetMode="Interna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.jpeg" TargetMode="Internal"></Relationship><Relationship Id="rId3" Type="http://schemas.openxmlformats.org/officeDocument/2006/relationships/image" Target="../media/fImage37.jpeg" TargetMode="Internal"></Relationship><Relationship Id="rId4" Type="http://schemas.openxmlformats.org/officeDocument/2006/relationships/image" Target="../media/fImage38.jpeg" TargetMode="Internal"></Relationship><Relationship Id="rId5" Type="http://schemas.openxmlformats.org/officeDocument/2006/relationships/image" Target="../media/fImage39.jpeg" TargetMode="Internal"></Relationship><Relationship Id="rId6" Type="http://schemas.openxmlformats.org/officeDocument/2006/relationships/image" Target="../media/fImage40.jpeg" TargetMode="Internal"></Relationship><Relationship Id="rId7" Type="http://schemas.openxmlformats.org/officeDocument/2006/relationships/image" Target="../media/fImage41.jpeg" TargetMode="Internal"></Relationship><Relationship Id="rId8" Type="http://schemas.openxmlformats.org/officeDocument/2006/relationships/image" Target="../media/fImage42.jpeg" TargetMode="Internal"></Relationship><Relationship Id="rId9" Type="http://schemas.openxmlformats.org/officeDocument/2006/relationships/image" Target="../media/fImage43.jpeg" TargetMode="Internal"></Relationship><Relationship Id="rId10" Type="http://schemas.openxmlformats.org/officeDocument/2006/relationships/image" Target="../media/fImage44.jpeg" TargetMode="Internal"></Relationship><Relationship Id="rId11" Type="http://schemas.openxmlformats.org/officeDocument/2006/relationships/image" Target="../media/fImage45.jpeg" TargetMode="Internal"></Relationship><Relationship Id="rId12" Type="http://schemas.openxmlformats.org/officeDocument/2006/relationships/image" Target="../media/fImage46.jpeg" TargetMode="Internal"></Relationship><Relationship Id="rId13" Type="http://schemas.openxmlformats.org/officeDocument/2006/relationships/image" Target="../media/fImage47.jpeg" TargetMode="Internal"></Relationship><Relationship Id="rId14" Type="http://schemas.openxmlformats.org/officeDocument/2006/relationships/image" Target="../media/fImage48.jpeg" TargetMode="Internal"></Relationship><Relationship Id="rId15" Type="http://schemas.openxmlformats.org/officeDocument/2006/relationships/image" Target="../media/fImage49.jpeg" TargetMode="Internal"></Relationship><Relationship Id="rId16" Type="http://schemas.openxmlformats.org/officeDocument/2006/relationships/image" Target="../media/fImage50.jpeg" TargetMode="Internal"></Relationship><Relationship Id="rId17" Type="http://schemas.openxmlformats.org/officeDocument/2006/relationships/image" Target="../media/fImage51.jpeg" TargetMode="Internal"></Relationship><Relationship Id="rId18" Type="http://schemas.openxmlformats.org/officeDocument/2006/relationships/image" Target="../media/fImage52.jpeg" TargetMode="Internal"></Relationship><Relationship Id="rId19" Type="http://schemas.openxmlformats.org/officeDocument/2006/relationships/image" Target="../media/fImage53.jpeg" TargetMode="Internal"></Relationship><Relationship Id="rId20" Type="http://schemas.openxmlformats.org/officeDocument/2006/relationships/image" Target="../media/fImage54.jpeg" TargetMode="Internal"></Relationship><Relationship Id="rId21" Type="http://schemas.openxmlformats.org/officeDocument/2006/relationships/image" Target="../media/fImage55.jpeg" TargetMode="Internal"></Relationship><Relationship Id="rId22" Type="http://schemas.openxmlformats.org/officeDocument/2006/relationships/image" Target="../media/fImage56.jpeg" TargetMode="Internal"></Relationship><Relationship Id="rId23" Type="http://schemas.openxmlformats.org/officeDocument/2006/relationships/image" Target="../media/fImage57.jpeg" TargetMode="Internal"></Relationship><Relationship Id="rId24" Type="http://schemas.openxmlformats.org/officeDocument/2006/relationships/image" Target="../media/fImage58.jpeg" TargetMode="Internal"></Relationship><Relationship Id="rId25" Type="http://schemas.openxmlformats.org/officeDocument/2006/relationships/image" Target="../media/fImage59.jpeg" TargetMode="Interna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0.jpeg" TargetMode="Internal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1.jpeg" TargetMode="Interna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2.jpeg" TargetMode="Interna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3.jpeg" TargetMode="Internal"></Relationship><Relationship Id="rId3" Type="http://schemas.openxmlformats.org/officeDocument/2006/relationships/image" Target="../media/fImage64.jpeg" TargetMode="Internal"></Relationship><Relationship Id="rId4" Type="http://schemas.openxmlformats.org/officeDocument/2006/relationships/image" Target="../media/fImage65.jpeg" TargetMode="Interna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6.jpeg" TargetMode="Internal"></Relationship><Relationship Id="rId3" Type="http://schemas.openxmlformats.org/officeDocument/2006/relationships/image" Target="../media/fImage67.jpeg" TargetMode="Internal"></Relationship><Relationship Id="rId4" Type="http://schemas.openxmlformats.org/officeDocument/2006/relationships/image" Target="../media/fImage68.jpeg" TargetMode="Interna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9.jpeg" TargetMode="Interna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0.jpeg" TargetMode="Internal"></Relationship><Relationship Id="rId3" Type="http://schemas.openxmlformats.org/officeDocument/2006/relationships/image" Target="../media/fImage71.jpeg" TargetMode="Interna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2.jpeg" TargetMode="Interna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3.jpeg" TargetMode="Internal"></Relationship><Relationship Id="rId3" Type="http://schemas.openxmlformats.org/officeDocument/2006/relationships/image" Target="../media/fImage74.jpeg" TargetMode="Interna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5.jpeg" TargetMode="Interna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6.jpeg" TargetMode="Interna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7.jpeg" TargetMode="Internal"></Relationship><Relationship Id="rId3" Type="http://schemas.openxmlformats.org/officeDocument/2006/relationships/image" Target="../media/fImage78.jpeg" TargetMode="Internal"></Relationship><Relationship Id="rId4" Type="http://schemas.openxmlformats.org/officeDocument/2006/relationships/image" Target="../media/fImage79.jpeg" TargetMode="Internal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0.jpeg" TargetMode="Internal"></Relationship><Relationship Id="rId3" Type="http://schemas.openxmlformats.org/officeDocument/2006/relationships/image" Target="../media/fImage81.jpeg" TargetMode="Internal"></Relationship><Relationship Id="rId4" Type="http://schemas.openxmlformats.org/officeDocument/2006/relationships/image" Target="../media/fImage82.jpeg" TargetMode="Interna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3.jpeg" TargetMode="Internal"></Relationship><Relationship Id="rId3" Type="http://schemas.openxmlformats.org/officeDocument/2006/relationships/image" Target="../media/fImage84.jpeg" TargetMode="Interna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5.jpeg" TargetMode="Internal"></Relationship><Relationship Id="rId3" Type="http://schemas.openxmlformats.org/officeDocument/2006/relationships/image" Target="../media/fImage86.jpeg" TargetMode="Internal"></Relationship><Relationship Id="rId4" Type="http://schemas.openxmlformats.org/officeDocument/2006/relationships/image" Target="../media/fImage87.jpeg" TargetMode="Internal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8.jpeg" TargetMode="Internal"></Relationship><Relationship Id="rId3" Type="http://schemas.openxmlformats.org/officeDocument/2006/relationships/image" Target="../media/fImage89.jpeg" TargetMode="Internal"></Relationship></Relationships>
</file>

<file path=ppt/slides/_rels/slide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0.jpeg" TargetMode="Internal"></Relationship><Relationship Id="rId3" Type="http://schemas.openxmlformats.org/officeDocument/2006/relationships/image" Target="../media/fImage91.jpeg" TargetMode="Internal"></Relationship><Relationship Id="rId4" Type="http://schemas.openxmlformats.org/officeDocument/2006/relationships/image" Target="../media/fImage92.jpeg" TargetMode="Internal"></Relationship><Relationship Id="rId5" Type="http://schemas.openxmlformats.org/officeDocument/2006/relationships/image" Target="../media/fImage93.jpeg" TargetMode="Internal"></Relationship><Relationship Id="rId6" Type="http://schemas.openxmlformats.org/officeDocument/2006/relationships/image" Target="../media/fImage94.jpeg" TargetMode="Internal"></Relationship></Relationships>
</file>

<file path=ppt/slides/_rels/slide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5.jpeg" TargetMode="Internal"></Relationship><Relationship Id="rId3" Type="http://schemas.openxmlformats.org/officeDocument/2006/relationships/image" Target="../media/fImage96.jpeg" TargetMode="Internal"></Relationship></Relationships>
</file>

<file path=ppt/slides/_rels/slide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7.jpeg" TargetMode="Internal"></Relationship><Relationship Id="rId3" Type="http://schemas.openxmlformats.org/officeDocument/2006/relationships/image" Target="../media/fImage98.jpeg" TargetMode="Internal"></Relationship><Relationship Id="rId4" Type="http://schemas.openxmlformats.org/officeDocument/2006/relationships/image" Target="../media/fImage99.jpeg" TargetMode="Internal"></Relationship><Relationship Id="rId5" Type="http://schemas.openxmlformats.org/officeDocument/2006/relationships/image" Target="../media/fImage100.jpeg" TargetMode="Internal"></Relationship></Relationships>
</file>

<file path=ppt/slides/_rels/slide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1.jpeg" TargetMode="Internal"></Relationship></Relationships>
</file>

<file path=ppt/slides/_rels/slide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2.jpeg" TargetMode="Internal"></Relationship></Relationships>
</file>

<file path=ppt/slides/_rels/slide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3.jpeg" TargetMode="Internal"></Relationship><Relationship Id="rId3" Type="http://schemas.openxmlformats.org/officeDocument/2006/relationships/image" Target="../media/fImage104.jpeg" TargetMode="Internal"></Relationship></Relationships>
</file>

<file path=ppt/slides/_rels/slide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5.jpeg" TargetMode="Internal"></Relationship></Relationships>
</file>

<file path=ppt/slides/_rels/slide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6.jpeg" TargetMode="Internal"></Relationship><Relationship Id="rId3" Type="http://schemas.openxmlformats.org/officeDocument/2006/relationships/image" Target="../media/fImage107.jpeg" TargetMode="Internal"></Relationship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8.jpeg" TargetMode="Internal"></Relationship><Relationship Id="rId3" Type="http://schemas.openxmlformats.org/officeDocument/2006/relationships/image" Target="../media/fImage109.jpeg" TargetMode="Internal"></Relationship></Relationships>
</file>

<file path=ppt/slides/_rels/slide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0.jpeg" TargetMode="Internal"></Relationship><Relationship Id="rId3" Type="http://schemas.openxmlformats.org/officeDocument/2006/relationships/image" Target="../media/fImage111.jpeg" TargetMode="Internal"></Relationship></Relationships>
</file>

<file path=ppt/slides/_rels/slide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2.jpeg" TargetMode="Internal"></Relationship><Relationship Id="rId3" Type="http://schemas.openxmlformats.org/officeDocument/2006/relationships/image" Target="../media/fImage113.jpeg" TargetMode="Internal"></Relationship><Relationship Id="rId4" Type="http://schemas.openxmlformats.org/officeDocument/2006/relationships/image" Target="../media/fImage114.jpeg" TargetMode="Internal"></Relationship></Relationships>
</file>

<file path=ppt/slides/_rels/slide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5.jpeg" TargetMode="Internal"></Relationship></Relationships>
</file>

<file path=ppt/slides/_rels/slide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6.jpeg" TargetMode="Internal"></Relationship><Relationship Id="rId3" Type="http://schemas.openxmlformats.org/officeDocument/2006/relationships/image" Target="../media/fImage117.jpeg" TargetMode="Internal"></Relationship></Relationships>
</file>

<file path=ppt/slides/_rels/slide4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8.jpeg" TargetMode="Internal"></Relationship><Relationship Id="rId3" Type="http://schemas.openxmlformats.org/officeDocument/2006/relationships/image" Target="../media/fImage119.jpeg" TargetMode="Internal"></Relationship></Relationships>
</file>

<file path=ppt/slides/_rels/slide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0.jpeg" TargetMode="Internal"></Relationship><Relationship Id="rId3" Type="http://schemas.openxmlformats.org/officeDocument/2006/relationships/image" Target="../media/fImage121.jpeg" TargetMode="Internal"></Relationship></Relationships>
</file>

<file path=ppt/slides/_rels/slide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2.jpeg" TargetMode="Internal"></Relationship><Relationship Id="rId3" Type="http://schemas.openxmlformats.org/officeDocument/2006/relationships/image" Target="../media/fImage123.jpeg" TargetMode="Internal"></Relationship></Relationships>
</file>

<file path=ppt/slides/_rels/slide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4.jpeg" TargetMode="Internal"></Relationship></Relationships>
</file>

<file path=ppt/slides/_rels/slide5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5.jpeg" TargetMode="Internal"></Relationship><Relationship Id="rId3" Type="http://schemas.openxmlformats.org/officeDocument/2006/relationships/image" Target="../media/fImage126.jpeg" TargetMode="Internal"></Relationship></Relationships>
</file>

<file path=ppt/slides/_rels/slide5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7.jpeg" TargetMode="Internal"></Relationship><Relationship Id="rId3" Type="http://schemas.openxmlformats.org/officeDocument/2006/relationships/image" Target="../media/fImage128.jpeg" TargetMode="Internal"></Relationship></Relationships>
</file>

<file path=ppt/slides/_rels/slide5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9.jpeg" TargetMode="Internal"></Relationship><Relationship Id="rId3" Type="http://schemas.openxmlformats.org/officeDocument/2006/relationships/image" Target="../media/fImage130.jpeg" TargetMode="Internal"></Relationship><Relationship Id="rId4" Type="http://schemas.openxmlformats.org/officeDocument/2006/relationships/image" Target="../media/fImage131.jpeg" TargetMode="Internal"></Relationship></Relationships>
</file>

<file path=ppt/slides/_rels/slide5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2.jpeg" TargetMode="Internal"></Relationship><Relationship Id="rId3" Type="http://schemas.openxmlformats.org/officeDocument/2006/relationships/image" Target="../media/fImage133.jpeg" TargetMode="Internal"></Relationship></Relationships>
</file>

<file path=ppt/slides/_rels/slide5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4.jpeg" TargetMode="Internal"></Relationship><Relationship Id="rId3" Type="http://schemas.openxmlformats.org/officeDocument/2006/relationships/image" Target="../media/fImage135.jpeg" TargetMode="Internal"></Relationship></Relationships>
</file>

<file path=ppt/slides/_rels/slide5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6.jpeg" TargetMode="Internal"></Relationship><Relationship Id="rId3" Type="http://schemas.openxmlformats.org/officeDocument/2006/relationships/image" Target="../media/fImage137.jpeg" TargetMode="Internal"></Relationship></Relationships>
</file>

<file path=ppt/slides/_rels/slide5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8.jpeg" TargetMode="Internal"></Relationship></Relationships>
</file>

<file path=ppt/slides/_rels/slide6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9.jpeg" TargetMode="Internal"></Relationship></Relationships>
</file>

<file path=ppt/slides/_rels/slide6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0.jpeg" TargetMode="Internal"></Relationship></Relationships>
</file>

<file path=ppt/slides/_rels/slide6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1.jpeg" TargetMode="Internal"></Relationship><Relationship Id="rId3" Type="http://schemas.openxmlformats.org/officeDocument/2006/relationships/image" Target="../media/fImage142.jpeg" TargetMode="Internal"></Relationship></Relationships>
</file>

<file path=ppt/slides/_rels/slide6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3.jpeg" TargetMode="Internal"></Relationship></Relationships>
</file>

<file path=ppt/slides/_rels/slide6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4.jpeg" TargetMode="Internal"></Relationship><Relationship Id="rId3" Type="http://schemas.openxmlformats.org/officeDocument/2006/relationships/image" Target="../media/fImage145.jpeg" TargetMode="Internal"></Relationship></Relationships>
</file>

<file path=ppt/slides/_rels/slide6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6.jpeg" TargetMode="Internal"></Relationship></Relationships>
</file>

<file path=ppt/slides/_rels/slide6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7.jpeg" TargetMode="Internal"></Relationship><Relationship Id="rId3" Type="http://schemas.openxmlformats.org/officeDocument/2006/relationships/image" Target="../media/fImage148.jpeg" TargetMode="Internal"></Relationship></Relationships>
</file>

<file path=ppt/slides/_rels/slide6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9.jpeg" TargetMode="Internal"></Relationship><Relationship Id="rId3" Type="http://schemas.openxmlformats.org/officeDocument/2006/relationships/image" Target="../media/fImage150.jpeg" TargetMode="Internal"></Relationship><Relationship Id="rId4" Type="http://schemas.openxmlformats.org/officeDocument/2006/relationships/image" Target="../media/fImage151.jpeg" TargetMode="Internal"></Relationship></Relationships>
</file>

<file path=ppt/slides/_rels/slide6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2.jpeg" TargetMode="Internal"></Relationship></Relationships>
</file>

<file path=ppt/slides/_rels/slide6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3.jpeg" TargetMode="Internal"></Relationship><Relationship Id="rId3" Type="http://schemas.openxmlformats.org/officeDocument/2006/relationships/image" Target="../media/fImage154.jpeg" TargetMode="Internal"></Relationship></Relationships>
</file>

<file path=ppt/slides/_rels/slide7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5.jpeg" TargetMode="Internal"></Relationship></Relationships>
</file>

<file path=ppt/slides/_rels/slide7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6.jpeg" TargetMode="Internal"></Relationship><Relationship Id="rId3" Type="http://schemas.openxmlformats.org/officeDocument/2006/relationships/image" Target="../media/fImage157.jpeg" TargetMode="Internal"></Relationship></Relationships>
</file>

<file path=ppt/slides/_rels/slide7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8.jpeg" TargetMode="Internal"></Relationship></Relationships>
</file>

<file path=ppt/slides/_rels/slide7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9.jpeg" TargetMode="Internal"></Relationship><Relationship Id="rId3" Type="http://schemas.openxmlformats.org/officeDocument/2006/relationships/image" Target="../media/fImage160.jpeg" TargetMode="Internal"></Relationship></Relationships>
</file>

<file path=ppt/slides/_rels/slide7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1.jpeg" TargetMode="Internal"></Relationship></Relationships>
</file>

<file path=ppt/slides/_rels/slide7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2.jpeg" TargetMode="Internal"></Relationship><Relationship Id="rId3" Type="http://schemas.openxmlformats.org/officeDocument/2006/relationships/image" Target="../media/fImage163.jpeg" TargetMode="Internal"></Relationship><Relationship Id="rId4" Type="http://schemas.openxmlformats.org/officeDocument/2006/relationships/image" Target="../media/fImage164.jpeg" TargetMode="Internal"></Relationship></Relationships>
</file>

<file path=ppt/slides/_rels/slide7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5.jpeg" TargetMode="Internal"></Relationship><Relationship Id="rId3" Type="http://schemas.openxmlformats.org/officeDocument/2006/relationships/image" Target="../media/fImage166.jpeg" TargetMode="Internal"></Relationship><Relationship Id="rId4" Type="http://schemas.openxmlformats.org/officeDocument/2006/relationships/image" Target="../media/fImage167.jpeg" TargetMode="Internal"></Relationship></Relationships>
</file>

<file path=ppt/slides/_rels/slide7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8.jpeg" TargetMode="Internal"></Relationship><Relationship Id="rId3" Type="http://schemas.openxmlformats.org/officeDocument/2006/relationships/image" Target="../media/fImage169.jpeg" TargetMode="Internal"></Relationship><Relationship Id="rId4" Type="http://schemas.openxmlformats.org/officeDocument/2006/relationships/image" Target="../media/fImage170.jpeg" TargetMode="Internal"></Relationship></Relationships>
</file>

<file path=ppt/slides/_rels/slide7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1.jpeg" TargetMode="Internal"></Relationship><Relationship Id="rId3" Type="http://schemas.openxmlformats.org/officeDocument/2006/relationships/image" Target="../media/fImage172.jpeg" TargetMode="Internal"></Relationship><Relationship Id="rId4" Type="http://schemas.openxmlformats.org/officeDocument/2006/relationships/image" Target="../media/fImage173.jpeg" TargetMode="Internal"></Relationship></Relationships>
</file>

<file path=ppt/slides/_rels/slide7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4.jpeg" TargetMode="Internal"></Relationship><Relationship Id="rId3" Type="http://schemas.openxmlformats.org/officeDocument/2006/relationships/image" Target="../media/fImage175.jpeg" TargetMode="Internal"></Relationship><Relationship Id="rId4" Type="http://schemas.openxmlformats.org/officeDocument/2006/relationships/image" Target="../media/fImage176.jpeg" TargetMode="Internal"></Relationship></Relationships>
</file>

<file path=ppt/slides/_rels/slide8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7.jpeg" TargetMode="Internal"></Relationship><Relationship Id="rId3" Type="http://schemas.openxmlformats.org/officeDocument/2006/relationships/image" Target="../media/fImage178.jpeg" TargetMode="Internal"></Relationship><Relationship Id="rId4" Type="http://schemas.openxmlformats.org/officeDocument/2006/relationships/image" Target="../media/fImage179.jpeg" TargetMode="Internal"></Relationship></Relationships>
</file>

<file path=ppt/slides/_rels/slide8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0.jpeg" TargetMode="Internal"></Relationship><Relationship Id="rId3" Type="http://schemas.openxmlformats.org/officeDocument/2006/relationships/image" Target="../media/fImage181.jpeg" TargetMode="Internal"></Relationship><Relationship Id="rId4" Type="http://schemas.openxmlformats.org/officeDocument/2006/relationships/image" Target="../media/fImage182.jpeg" TargetMode="Internal"></Relationship><Relationship Id="rId5" Type="http://schemas.openxmlformats.org/officeDocument/2006/relationships/image" Target="../media/fImage183.jpeg" TargetMode="Internal"></Relationship></Relationships>
</file>

<file path=ppt/slides/_rels/slide8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4.jpeg" TargetMode="Internal"></Relationship><Relationship Id="rId3" Type="http://schemas.openxmlformats.org/officeDocument/2006/relationships/image" Target="../media/fImage185.jpeg" TargetMode="Internal"></Relationship></Relationships>
</file>

<file path=ppt/slides/_rels/slide8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6.jpeg" TargetMode="Internal"></Relationship><Relationship Id="rId3" Type="http://schemas.openxmlformats.org/officeDocument/2006/relationships/image" Target="../media/fImage187.jpeg" TargetMode="Internal"></Relationship><Relationship Id="rId4" Type="http://schemas.openxmlformats.org/officeDocument/2006/relationships/image" Target="../media/fImage188.jpeg" TargetMode="Internal"></Relationship></Relationships>
</file>

<file path=ppt/slides/_rels/slide8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9.jpeg" TargetMode="Internal"></Relationship><Relationship Id="rId3" Type="http://schemas.openxmlformats.org/officeDocument/2006/relationships/image" Target="../media/fImage190.jpeg" TargetMode="Internal"></Relationship></Relationships>
</file>

<file path=ppt/slides/_rels/slide8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1.jpeg" TargetMode="Internal"></Relationship></Relationships>
</file>

<file path=ppt/slides/_rels/slide8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2.jpeg" TargetMode="Internal"></Relationship><Relationship Id="rId3" Type="http://schemas.openxmlformats.org/officeDocument/2006/relationships/image" Target="../media/fImage193.jpeg" TargetMode="Internal"></Relationship><Relationship Id="rId4" Type="http://schemas.openxmlformats.org/officeDocument/2006/relationships/image" Target="../media/fImage194.jpeg" TargetMode="Internal"></Relationship><Relationship Id="rId5" Type="http://schemas.openxmlformats.org/officeDocument/2006/relationships/image" Target="../media/fImage195.jpeg" TargetMode="Internal"></Relationship></Relationships>
</file>

<file path=ppt/slides/_rels/slide8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6.jpeg" TargetMode="Internal"></Relationship><Relationship Id="rId3" Type="http://schemas.openxmlformats.org/officeDocument/2006/relationships/image" Target="../media/fImage197.jpeg" TargetMode="Internal"></Relationship></Relationships>
</file>

<file path=ppt/slides/_rels/slide8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8.jpeg" TargetMode="Internal"></Relationship><Relationship Id="rId3" Type="http://schemas.openxmlformats.org/officeDocument/2006/relationships/image" Target="../media/fImage199.jpeg" TargetMode="Internal"></Relationship><Relationship Id="rId4" Type="http://schemas.openxmlformats.org/officeDocument/2006/relationships/image" Target="../media/fImage200.jpeg" TargetMode="Internal"></Relationship></Relationships>
</file>

<file path=ppt/slides/_rels/slide8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1.jpeg" TargetMode="Internal"></Relationship><Relationship Id="rId3" Type="http://schemas.openxmlformats.org/officeDocument/2006/relationships/image" Target="../media/fImage202.jpeg" TargetMode="Internal"></Relationship></Relationships>
</file>

<file path=ppt/slides/_rels/slide9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3.jpeg" TargetMode="Internal"></Relationship></Relationships>
</file>

<file path=ppt/slides/_rels/slide9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4.jpeg" TargetMode="Internal"></Relationship><Relationship Id="rId3" Type="http://schemas.openxmlformats.org/officeDocument/2006/relationships/image" Target="../media/fImage205.jpeg" TargetMode="Internal"></Relationship></Relationships>
</file>

<file path=ppt/slides/_rels/slide9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6.jpeg" TargetMode="Internal"></Relationship></Relationships>
</file>

<file path=ppt/slides/_rels/slide9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7.jpeg" TargetMode="Internal"></Relationship><Relationship Id="rId3" Type="http://schemas.openxmlformats.org/officeDocument/2006/relationships/image" Target="../media/fImage208.jpeg" TargetMode="Internal"></Relationship></Relationships>
</file>

<file path=ppt/slides/_rels/slide9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9.jpeg" TargetMode="Internal"></Relationship><Relationship Id="rId3" Type="http://schemas.openxmlformats.org/officeDocument/2006/relationships/image" Target="../media/fImage210.jpeg" TargetMode="Internal"></Relationship></Relationships>
</file>

<file path=ppt/slides/_rels/slide9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1.jpeg" TargetMode="Internal"></Relationship><Relationship Id="rId3" Type="http://schemas.openxmlformats.org/officeDocument/2006/relationships/image" Target="../media/fImage212.jpeg" TargetMode="Internal"></Relationship><Relationship Id="rId4" Type="http://schemas.openxmlformats.org/officeDocument/2006/relationships/image" Target="../media/fImage213.jpeg" TargetMode="Internal"></Relationship></Relationships>
</file>

<file path=ppt/slides/_rels/slide9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4.jpeg" TargetMode="Internal"></Relationship><Relationship Id="rId3" Type="http://schemas.openxmlformats.org/officeDocument/2006/relationships/image" Target="../media/fImage215.jpeg" TargetMode="Internal"></Relationship></Relationships>
</file>

<file path=ppt/slides/_rels/slide9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6.jpeg" TargetMode="Internal"></Relationship><Relationship Id="rId3" Type="http://schemas.openxmlformats.org/officeDocument/2006/relationships/image" Target="../media/fImage217.jpeg" TargetMode="Internal"></Relationship><Relationship Id="rId4" Type="http://schemas.openxmlformats.org/officeDocument/2006/relationships/image" Target="../media/fImage218.jpeg" TargetMode="Internal"></Relationship><Relationship Id="rId5" Type="http://schemas.openxmlformats.org/officeDocument/2006/relationships/image" Target="../media/fImage219.jpeg" TargetMode="Internal"></Relationship><Relationship Id="rId6" Type="http://schemas.openxmlformats.org/officeDocument/2006/relationships/image" Target="../media/fImage220.jpeg" TargetMode="Internal"></Relationship></Relationships>
</file>

<file path=ppt/slides/_rels/slide9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1.jpeg" TargetMode="Internal"></Relationship><Relationship Id="rId3" Type="http://schemas.openxmlformats.org/officeDocument/2006/relationships/image" Target="../media/fImage222.jpeg" TargetMode="Internal"></Relationship><Relationship Id="rId4" Type="http://schemas.openxmlformats.org/officeDocument/2006/relationships/image" Target="../media/fImage223.jpeg" TargetMode="Internal"></Relationship></Relationships>
</file>

<file path=ppt/slides/_rels/slide9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4.jpeg" TargetMode="Internal"></Relationship><Relationship Id="rId3" Type="http://schemas.openxmlformats.org/officeDocument/2006/relationships/image" Target="../media/fImage225.jpeg" TargetMode="Internal"></Relationship><Relationship Id="rId4" Type="http://schemas.openxmlformats.org/officeDocument/2006/relationships/image" Target="../media/fImage226.jpeg" TargetMode="Internal"></Relationship></Relationships>
</file>

<file path=ppt/slides/_rels/slide10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7.jpeg" TargetMode="Internal"></Relationship><Relationship Id="rId3" Type="http://schemas.openxmlformats.org/officeDocument/2006/relationships/image" Target="../media/fImage228.jpeg" TargetMode="Internal"></Relationship><Relationship Id="rId4" Type="http://schemas.openxmlformats.org/officeDocument/2006/relationships/image" Target="../media/fImage229.jpeg" TargetMode="Internal"></Relationship><Relationship Id="rId5" Type="http://schemas.openxmlformats.org/officeDocument/2006/relationships/image" Target="../media/fImage230.jpeg" TargetMode="Internal"></Relationship><Relationship Id="rId6" Type="http://schemas.openxmlformats.org/officeDocument/2006/relationships/image" Target="../media/fImage231.jpeg" TargetMode="Internal"></Relationship></Relationships>
</file>

<file path=ppt/slides/_rels/slide10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2.jpeg" TargetMode="Internal"></Relationship><Relationship Id="rId3" Type="http://schemas.openxmlformats.org/officeDocument/2006/relationships/image" Target="../media/fImage233.jpeg" TargetMode="Internal"></Relationship></Relationships>
</file>

<file path=ppt/slides/_rels/slide10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4.jpeg" TargetMode="Internal"></Relationship></Relationships>
</file>

<file path=ppt/slides/_rels/slide10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5.jpeg" TargetMode="Internal"></Relationship><Relationship Id="rId3" Type="http://schemas.openxmlformats.org/officeDocument/2006/relationships/image" Target="../media/fImage236.jpeg" TargetMode="Internal"></Relationship><Relationship Id="rId4" Type="http://schemas.openxmlformats.org/officeDocument/2006/relationships/image" Target="../media/fImage237.jpeg" TargetMode="Internal"></Relationship><Relationship Id="rId5" Type="http://schemas.openxmlformats.org/officeDocument/2006/relationships/image" Target="../media/fImage238.jpeg" TargetMode="Internal"></Relationship><Relationship Id="rId6" Type="http://schemas.openxmlformats.org/officeDocument/2006/relationships/image" Target="../media/fImage239.jpeg" TargetMode="Internal"></Relationship></Relationships>
</file>

<file path=ppt/slides/_rels/slide10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0.jpeg" TargetMode="Internal"></Relationship></Relationships>
</file>

<file path=ppt/slides/_rels/slide10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1.jpeg" TargetMode="Internal"></Relationship></Relationships>
</file>

<file path=ppt/slides/_rels/slide10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2.jpeg" TargetMode="Internal"></Relationship><Relationship Id="rId3" Type="http://schemas.openxmlformats.org/officeDocument/2006/relationships/image" Target="../media/fImage243.jpeg" TargetMode="Internal"></Relationship></Relationships>
</file>

<file path=ppt/slides/_rels/slide10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4.jpeg" TargetMode="Internal"></Relationship><Relationship Id="rId3" Type="http://schemas.openxmlformats.org/officeDocument/2006/relationships/image" Target="../media/fImage245.jpeg" TargetMode="Internal"></Relationship><Relationship Id="rId4" Type="http://schemas.openxmlformats.org/officeDocument/2006/relationships/image" Target="../media/fImage246.jpeg" TargetMode="Internal"></Relationship></Relationships>
</file>

<file path=ppt/slides/_rels/slide10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7.jpeg" TargetMode="Internal"></Relationship></Relationships>
</file>

<file path=ppt/slides/_rels/slide10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8.jpeg" TargetMode="Internal"></Relationship></Relationships>
</file>

<file path=ppt/slides/_rels/slide1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9.jpeg" TargetMode="Internal"></Relationship><Relationship Id="rId3" Type="http://schemas.openxmlformats.org/officeDocument/2006/relationships/image" Target="../media/fImage250.jpeg" TargetMode="Internal"></Relationship><Relationship Id="rId4" Type="http://schemas.openxmlformats.org/officeDocument/2006/relationships/image" Target="../media/fImage251.jpeg" TargetMode="Internal"></Relationship><Relationship Id="rId5" Type="http://schemas.openxmlformats.org/officeDocument/2006/relationships/image" Target="../media/fImage252.jpeg" TargetMode="Internal"></Relationship></Relationships>
</file>

<file path=ppt/slides/_rels/slide1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53.jpeg" TargetMode="Internal"></Relationship><Relationship Id="rId3" Type="http://schemas.openxmlformats.org/officeDocument/2006/relationships/image" Target="../media/fImage254.jpeg" TargetMode="Internal"></Relationship></Relationships>
</file>

<file path=ppt/slides/_rels/slide1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55.jpeg" TargetMode="Internal"></Relationship><Relationship Id="rId3" Type="http://schemas.openxmlformats.org/officeDocument/2006/relationships/image" Target="../media/fImage256.jpeg" TargetMode="Internal"></Relationship><Relationship Id="rId4" Type="http://schemas.openxmlformats.org/officeDocument/2006/relationships/image" Target="../media/fImage257.jpeg" TargetMode="Internal"></Relationship><Relationship Id="rId5" Type="http://schemas.openxmlformats.org/officeDocument/2006/relationships/image" Target="../media/fImage258.jpeg" TargetMode="Internal"></Relationship></Relationships>
</file>

<file path=ppt/slides/_rels/slide1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59.jpeg" TargetMode="Internal"></Relationship><Relationship Id="rId3" Type="http://schemas.openxmlformats.org/officeDocument/2006/relationships/image" Target="../media/fImage260.jpeg" TargetMode="Internal"></Relationship><Relationship Id="rId4" Type="http://schemas.openxmlformats.org/officeDocument/2006/relationships/image" Target="../media/fImage261.jpeg" TargetMode="Internal"></Relationship><Relationship Id="rId5" Type="http://schemas.openxmlformats.org/officeDocument/2006/relationships/image" Target="../media/fImage262.jpeg" TargetMode="Internal"></Relationship></Relationships>
</file>

<file path=ppt/slides/_rels/slide1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63.jpeg" TargetMode="Internal"></Relationship><Relationship Id="rId3" Type="http://schemas.openxmlformats.org/officeDocument/2006/relationships/image" Target="../media/fImage264.jpeg" TargetMode="Internal"></Relationship><Relationship Id="rId4" Type="http://schemas.openxmlformats.org/officeDocument/2006/relationships/image" Target="../media/fImage265.jpeg" TargetMode="Internal"></Relationship></Relationships>
</file>

<file path=ppt/slides/_rels/slide1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66.jpeg" TargetMode="Internal"></Relationship><Relationship Id="rId3" Type="http://schemas.openxmlformats.org/officeDocument/2006/relationships/image" Target="../media/fImage267.jpeg" TargetMode="Internal"></Relationship></Relationships>
</file>

<file path=ppt/slides/_rels/slide1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68.jpeg" TargetMode="Internal"></Relationship><Relationship Id="rId3" Type="http://schemas.openxmlformats.org/officeDocument/2006/relationships/image" Target="../media/fImage269.jpeg" TargetMode="Internal"></Relationship></Relationships>
</file>

<file path=ppt/slides/_rels/slide1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0.jpeg" TargetMode="Internal"></Relationship><Relationship Id="rId3" Type="http://schemas.openxmlformats.org/officeDocument/2006/relationships/image" Target="../media/fImage271.jpeg" TargetMode="Internal"></Relationship></Relationships>
</file>

<file path=ppt/slides/_rels/slide1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2.jpeg" TargetMode="Internal"></Relationship><Relationship Id="rId3" Type="http://schemas.openxmlformats.org/officeDocument/2006/relationships/image" Target="../media/fImage273.jpeg" TargetMode="Internal"></Relationship></Relationships>
</file>

<file path=ppt/slides/_rels/slide1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4.jpeg" TargetMode="Internal"></Relationship><Relationship Id="rId3" Type="http://schemas.openxmlformats.org/officeDocument/2006/relationships/image" Target="../media/fImage275.jpeg" TargetMode="Internal"></Relationship></Relationships>
</file>

<file path=ppt/slides/_rels/slide1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6.jpeg" TargetMode="Internal"></Relationship></Relationships>
</file>

<file path=ppt/slides/_rels/slide1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7.jpeg" TargetMode="Internal"></Relationship><Relationship Id="rId3" Type="http://schemas.openxmlformats.org/officeDocument/2006/relationships/image" Target="../media/fImage278.jpeg" TargetMode="Internal"></Relationship></Relationships>
</file>

<file path=ppt/slides/_rels/slide1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9.jpeg" TargetMode="Internal"></Relationship></Relationships>
</file>

<file path=ppt/slides/_rels/slide1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80.jpeg" TargetMode="Internal"></Relationship><Relationship Id="rId3" Type="http://schemas.openxmlformats.org/officeDocument/2006/relationships/image" Target="../media/fImage281.jpeg" TargetMode="Internal"></Relationship></Relationships>
</file>

<file path=ppt/slides/_rels/slide1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82.jpeg" TargetMode="Internal"></Relationship></Relationships>
</file>

<file path=ppt/slides/_rels/slide1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83.jpeg" TargetMode="Internal"></Relationship><Relationship Id="rId3" Type="http://schemas.openxmlformats.org/officeDocument/2006/relationships/image" Target="../media/fImage284.jpeg" TargetMode="Internal"></Relationship></Relationships>
</file>

<file path=ppt/slides/_rels/slide1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85.jpeg" TargetMode="Internal"></Relationship><Relationship Id="rId3" Type="http://schemas.openxmlformats.org/officeDocument/2006/relationships/image" Target="../media/fImage286.jpeg" TargetMode="Internal"></Relationship></Relationships>
</file>

<file path=ppt/slides/_rels/slide1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87.jpeg" TargetMode="Internal"></Relationship><Relationship Id="rId3" Type="http://schemas.openxmlformats.org/officeDocument/2006/relationships/image" Target="../media/fImage288.jpeg" TargetMode="Internal"></Relationship><Relationship Id="rId4" Type="http://schemas.openxmlformats.org/officeDocument/2006/relationships/image" Target="../media/fImage289.jpeg" TargetMode="Internal"></Relationship></Relationships>
</file>

<file path=ppt/slides/_rels/slide1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0.jpeg" TargetMode="Internal"></Relationship></Relationships>
</file>

<file path=ppt/slides/_rels/slide1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1.jpeg" TargetMode="Internal"></Relationship></Relationships>
</file>

<file path=ppt/slides/_rels/slide1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2.jpeg" TargetMode="Internal"></Relationship></Relationships>
</file>

<file path=ppt/slides/_rels/slide1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3.jpeg" TargetMode="Internal"></Relationship></Relationships>
</file>

<file path=ppt/slides/_rels/slide1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4.jpeg" TargetMode="Internal"></Relationship></Relationships>
</file>

<file path=ppt/slides/_rels/slide1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5.jpeg" TargetMode="Internal"></Relationship><Relationship Id="rId3" Type="http://schemas.openxmlformats.org/officeDocument/2006/relationships/image" Target="../media/fImage296.jpeg" TargetMode="Internal"></Relationship><Relationship Id="rId4" Type="http://schemas.openxmlformats.org/officeDocument/2006/relationships/image" Target="../media/fImage297.jpeg" TargetMode="Internal"></Relationship></Relationships>
</file>

<file path=ppt/slides/_rels/slide1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8.jpeg" TargetMode="Internal"></Relationship></Relationships>
</file>

<file path=ppt/slides/_rels/slide1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9.jpeg" TargetMode="Internal"></Relationship></Relationships>
</file>

<file path=ppt/slides/_rels/slide1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0.jpeg" TargetMode="Internal"></Relationship></Relationships>
</file>

<file path=ppt/slides/_rels/slide1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1.jpeg" TargetMode="Internal"></Relationship><Relationship Id="rId3" Type="http://schemas.openxmlformats.org/officeDocument/2006/relationships/image" Target="../media/fImage302.jpeg" TargetMode="Internal"></Relationship></Relationships>
</file>

<file path=ppt/slides/_rels/slide1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3.jpeg" TargetMode="Internal"></Relationship></Relationships>
</file>

<file path=ppt/slides/_rels/slide1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4.jpeg" TargetMode="Internal"></Relationship><Relationship Id="rId3" Type="http://schemas.openxmlformats.org/officeDocument/2006/relationships/image" Target="../media/fImage305.jpeg" TargetMode="Internal"></Relationship></Relationships>
</file>

<file path=ppt/slides/_rels/slide1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6.jpeg" TargetMode="Internal"></Relationship></Relationships>
</file>

<file path=ppt/slides/_rels/slide1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7.jpeg" TargetMode="Internal"></Relationship><Relationship Id="rId3" Type="http://schemas.openxmlformats.org/officeDocument/2006/relationships/image" Target="../media/fImage308.jpeg" TargetMode="Internal"></Relationship></Relationships>
</file>

<file path=ppt/slides/_rels/slide1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9.jpeg" TargetMode="Internal"></Relationship></Relationships>
</file>

<file path=ppt/slides/_rels/slide1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0.jpeg" TargetMode="Internal"></Relationship><Relationship Id="rId3" Type="http://schemas.openxmlformats.org/officeDocument/2006/relationships/image" Target="../media/fImage311.jpeg" TargetMode="Internal"></Relationship><Relationship Id="rId4" Type="http://schemas.openxmlformats.org/officeDocument/2006/relationships/image" Target="../media/fImage312.jpeg" TargetMode="Internal"></Relationship></Relationships>
</file>

<file path=ppt/slides/_rels/slide1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3.jpeg" TargetMode="Internal"></Relationship></Relationships>
</file>

<file path=ppt/slides/_rels/slide1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4.jpeg" TargetMode="Internal"></Relationship></Relationships>
</file>

<file path=ppt/slides/_rels/slide1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5.jpeg" TargetMode="Internal"></Relationship></Relationships>
</file>

<file path=ppt/slides/_rels/slide1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6.jpeg" TargetMode="Internal"></Relationship></Relationships>
</file>

<file path=ppt/slides/_rels/slide1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7.jpeg" TargetMode="Internal"></Relationship></Relationships>
</file>

<file path=ppt/slides/_rels/slide14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8.jpeg" TargetMode="Internal"></Relationship><Relationship Id="rId3" Type="http://schemas.openxmlformats.org/officeDocument/2006/relationships/image" Target="../media/fImage319.jpeg" TargetMode="Internal"></Relationship></Relationships>
</file>

<file path=ppt/slides/_rels/slide1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0.jpeg" TargetMode="Internal"></Relationship><Relationship Id="rId3" Type="http://schemas.openxmlformats.org/officeDocument/2006/relationships/image" Target="../media/fImage321.jpeg" TargetMode="Internal"></Relationship><Relationship Id="rId4" Type="http://schemas.openxmlformats.org/officeDocument/2006/relationships/image" Target="../media/fImage322.jpeg" TargetMode="Internal"></Relationship></Relationships>
</file>

<file path=ppt/slides/_rels/slide1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3.jpeg" TargetMode="Internal"></Relationship><Relationship Id="rId3" Type="http://schemas.openxmlformats.org/officeDocument/2006/relationships/image" Target="../media/fImage324.jpeg" TargetMode="Internal"></Relationship><Relationship Id="rId4" Type="http://schemas.openxmlformats.org/officeDocument/2006/relationships/image" Target="../media/fImage325.jpeg" TargetMode="Internal"></Relationship></Relationships>
</file>

<file path=ppt/slides/_rels/slide1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6.jpeg" TargetMode="Internal"></Relationship></Relationships>
</file>

<file path=ppt/slides/_rels/slide15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7.jpeg" TargetMode="Internal"></Relationship></Relationships>
</file>

<file path=ppt/slides/_rels/slide15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8.jpeg" TargetMode="Internal"></Relationship></Relationships>
</file>

<file path=ppt/slides/_rels/slide15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9.jpeg" TargetMode="Internal"></Relationship><Relationship Id="rId3" Type="http://schemas.openxmlformats.org/officeDocument/2006/relationships/image" Target="../media/fImage330.jpeg" TargetMode="Internal"></Relationship></Relationships>
</file>

<file path=ppt/slides/_rels/slide15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1.jpeg" TargetMode="Internal"></Relationship></Relationships>
</file>

<file path=ppt/slides/_rels/slide15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2.jpeg" TargetMode="Internal"></Relationship><Relationship Id="rId3" Type="http://schemas.openxmlformats.org/officeDocument/2006/relationships/image" Target="../media/fImage333.jpeg" TargetMode="Internal"></Relationship></Relationships>
</file>

<file path=ppt/slides/_rels/slide15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4.jpeg" TargetMode="Internal"></Relationship><Relationship Id="rId3" Type="http://schemas.openxmlformats.org/officeDocument/2006/relationships/image" Target="../media/fImage335.jpeg" TargetMode="Internal"></Relationship><Relationship Id="rId4" Type="http://schemas.openxmlformats.org/officeDocument/2006/relationships/image" Target="../media/fImage336.jpeg" TargetMode="Internal"></Relationship></Relationships>
</file>

<file path=ppt/slides/_rels/slide15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7.jpeg" TargetMode="Internal"></Relationship></Relationships>
</file>

<file path=ppt/slides/_rels/slide16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8.jpeg" TargetMode="Internal"></Relationship></Relationships>
</file>

<file path=ppt/slides/_rels/slide16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9.jpeg" TargetMode="Internal"></Relationship></Relationships>
</file>

<file path=ppt/slides/_rels/slide16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0.jpeg" TargetMode="Internal"></Relationship><Relationship Id="rId3" Type="http://schemas.openxmlformats.org/officeDocument/2006/relationships/image" Target="../media/fImage341.jpeg" TargetMode="Internal"></Relationship></Relationships>
</file>

<file path=ppt/slides/_rels/slide16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2.jpeg" TargetMode="Internal"></Relationship></Relationships>
</file>

<file path=ppt/slides/_rels/slide16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3.jpeg" TargetMode="Internal"></Relationship></Relationships>
</file>

<file path=ppt/slides/_rels/slide16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4.jpeg" TargetMode="Internal"></Relationship><Relationship Id="rId3" Type="http://schemas.openxmlformats.org/officeDocument/2006/relationships/image" Target="../media/fImage345.jpeg" TargetMode="Internal"></Relationship></Relationships>
</file>

<file path=ppt/slides/_rels/slide16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6.jpeg" TargetMode="Internal"></Relationship></Relationships>
</file>

<file path=ppt/slides/_rels/slide16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7.jpeg" TargetMode="Internal"></Relationship><Relationship Id="rId3" Type="http://schemas.openxmlformats.org/officeDocument/2006/relationships/image" Target="../media/fImage348.jpeg" TargetMode="Internal"></Relationship></Relationships>
</file>

<file path=ppt/slides/_rels/slide16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9.jpeg" TargetMode="Internal"></Relationship><Relationship Id="rId3" Type="http://schemas.openxmlformats.org/officeDocument/2006/relationships/image" Target="../media/fImage350.jpeg" TargetMode="Internal"></Relationship><Relationship Id="rId4" Type="http://schemas.openxmlformats.org/officeDocument/2006/relationships/image" Target="../media/fImage351.jpeg" TargetMode="Internal"></Relationship><Relationship Id="rId5" Type="http://schemas.openxmlformats.org/officeDocument/2006/relationships/image" Target="../media/fImage352.jpeg" TargetMode="Internal"></Relationship></Relationships>
</file>

<file path=ppt/slides/_rels/slide16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3.jpeg" TargetMode="Internal"></Relationship><Relationship Id="rId3" Type="http://schemas.openxmlformats.org/officeDocument/2006/relationships/image" Target="../media/fImage354.jpeg" TargetMode="Internal"></Relationship></Relationships>
</file>

<file path=ppt/slides/_rels/slide17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5.jpeg" TargetMode="Internal"></Relationship><Relationship Id="rId3" Type="http://schemas.openxmlformats.org/officeDocument/2006/relationships/image" Target="../media/fImage356.jpeg" TargetMode="Internal"></Relationship><Relationship Id="rId4" Type="http://schemas.openxmlformats.org/officeDocument/2006/relationships/image" Target="../media/fImage357.jpeg" TargetMode="Internal"></Relationship></Relationships>
</file>

<file path=ppt/slides/_rels/slide17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8.jpeg" TargetMode="Internal"></Relationship></Relationships>
</file>

<file path=ppt/slides/_rels/slide17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9.jpeg" TargetMode="Internal"></Relationship><Relationship Id="rId3" Type="http://schemas.openxmlformats.org/officeDocument/2006/relationships/image" Target="../media/fImage360.jpeg" TargetMode="Internal"></Relationship><Relationship Id="rId4" Type="http://schemas.openxmlformats.org/officeDocument/2006/relationships/image" Target="../media/fImage361.jpeg" TargetMode="Internal"></Relationship></Relationships>
</file>

<file path=ppt/slides/_rels/slide17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2.jpeg" TargetMode="Internal"></Relationship><Relationship Id="rId3" Type="http://schemas.openxmlformats.org/officeDocument/2006/relationships/image" Target="../media/fImage363.jpeg" TargetMode="Internal"></Relationship></Relationships>
</file>

<file path=ppt/slides/_rels/slide17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4.jpeg" TargetMode="Internal"></Relationship><Relationship Id="rId3" Type="http://schemas.openxmlformats.org/officeDocument/2006/relationships/image" Target="../media/fImage365.jpeg" TargetMode="Internal"></Relationship><Relationship Id="rId4" Type="http://schemas.openxmlformats.org/officeDocument/2006/relationships/image" Target="../media/fImage366.jpeg" TargetMode="Internal"></Relationship></Relationships>
</file>

<file path=ppt/slides/_rels/slide17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7.jpeg" TargetMode="Internal"></Relationship></Relationships>
</file>

<file path=ppt/slides/_rels/slide17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8.jpeg" TargetMode="Internal"></Relationship><Relationship Id="rId3" Type="http://schemas.openxmlformats.org/officeDocument/2006/relationships/image" Target="../media/fImage369.jpeg" TargetMode="Internal"></Relationship></Relationships>
</file>

<file path=ppt/slides/_rels/slide17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0.jpeg" TargetMode="Internal"></Relationship><Relationship Id="rId3" Type="http://schemas.openxmlformats.org/officeDocument/2006/relationships/image" Target="../media/fImage371.jpeg" TargetMode="Internal"></Relationship></Relationships>
</file>

<file path=ppt/slides/_rels/slide17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2.jpeg" TargetMode="Internal"></Relationship></Relationships>
</file>

<file path=ppt/slides/_rels/slide17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3.jpeg" TargetMode="Internal"></Relationship><Relationship Id="rId3" Type="http://schemas.openxmlformats.org/officeDocument/2006/relationships/image" Target="../media/fImage374.jpeg" TargetMode="Internal"></Relationship></Relationships>
</file>

<file path=ppt/slides/_rels/slide18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5.jpeg" TargetMode="Internal"></Relationship><Relationship Id="rId3" Type="http://schemas.openxmlformats.org/officeDocument/2006/relationships/image" Target="../media/fImage376.jpeg" TargetMode="Internal"></Relationship><Relationship Id="rId4" Type="http://schemas.openxmlformats.org/officeDocument/2006/relationships/image" Target="../media/fImage377.jpeg" TargetMode="Internal"></Relationship></Relationships>
</file>

<file path=ppt/slides/_rels/slide18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8.jpeg" TargetMode="Internal"></Relationship><Relationship Id="rId3" Type="http://schemas.openxmlformats.org/officeDocument/2006/relationships/image" Target="../media/fImage379.jpeg" TargetMode="Internal"></Relationship><Relationship Id="rId4" Type="http://schemas.openxmlformats.org/officeDocument/2006/relationships/image" Target="../media/fImage380.jpeg" TargetMode="Internal"></Relationship></Relationships>
</file>

<file path=ppt/slides/_rels/slide18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1.jpeg" TargetMode="Internal"></Relationship></Relationships>
</file>

<file path=ppt/slides/_rels/slide18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2.jpeg" TargetMode="Internal"></Relationship><Relationship Id="rId3" Type="http://schemas.openxmlformats.org/officeDocument/2006/relationships/image" Target="../media/fImage383.jpeg" TargetMode="Internal"></Relationship></Relationships>
</file>

<file path=ppt/slides/_rels/slide18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4.jpeg" TargetMode="Internal"></Relationship><Relationship Id="rId3" Type="http://schemas.openxmlformats.org/officeDocument/2006/relationships/image" Target="../media/fImage385.jpeg" TargetMode="Internal"></Relationship><Relationship Id="rId4" Type="http://schemas.openxmlformats.org/officeDocument/2006/relationships/image" Target="../media/fImage386.jpeg" TargetMode="Internal"></Relationship></Relationships>
</file>

<file path=ppt/slides/_rels/slide18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7.jpeg" TargetMode="Internal"></Relationship><Relationship Id="rId3" Type="http://schemas.openxmlformats.org/officeDocument/2006/relationships/image" Target="../media/fImage388.jpeg" TargetMode="Internal"></Relationship><Relationship Id="rId4" Type="http://schemas.openxmlformats.org/officeDocument/2006/relationships/image" Target="../media/fImage389.jpeg" TargetMode="Internal"></Relationship></Relationships>
</file>

<file path=ppt/slides/_rels/slide18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0.jpeg" TargetMode="Internal"></Relationship><Relationship Id="rId3" Type="http://schemas.openxmlformats.org/officeDocument/2006/relationships/image" Target="../media/fImage391.jpeg" TargetMode="Internal"></Relationship></Relationships>
</file>

<file path=ppt/slides/_rels/slide18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2.jpeg" TargetMode="Internal"></Relationship><Relationship Id="rId3" Type="http://schemas.openxmlformats.org/officeDocument/2006/relationships/image" Target="../media/fImage393.jpeg" TargetMode="Internal"></Relationship></Relationships>
</file>

<file path=ppt/slides/_rels/slide18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4.jpeg" TargetMode="Internal"></Relationship><Relationship Id="rId3" Type="http://schemas.openxmlformats.org/officeDocument/2006/relationships/image" Target="../media/fImage395.jpeg" TargetMode="Internal"></Relationship></Relationships>
</file>

<file path=ppt/slides/_rels/slide18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6.jpeg" TargetMode="Internal"></Relationship></Relationships>
</file>

<file path=ppt/slides/_rels/slide19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7.jpeg" TargetMode="Internal"></Relationship></Relationships>
</file>

<file path=ppt/slides/_rels/slide19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8.jpeg" TargetMode="Internal"></Relationship></Relationships>
</file>

<file path=ppt/slides/_rels/slide19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9.jpeg" TargetMode="Internal"></Relationship><Relationship Id="rId3" Type="http://schemas.openxmlformats.org/officeDocument/2006/relationships/image" Target="../media/fImage400.jpeg" TargetMode="Internal"></Relationship></Relationships>
</file>

<file path=ppt/slides/_rels/slide19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1.jpeg" TargetMode="Internal"></Relationship></Relationships>
</file>

<file path=ppt/slides/_rels/slide19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2.jpeg" TargetMode="Internal"></Relationship><Relationship Id="rId3" Type="http://schemas.openxmlformats.org/officeDocument/2006/relationships/image" Target="../media/fImage403.jpeg" TargetMode="Internal"></Relationship></Relationships>
</file>

<file path=ppt/slides/_rels/slide19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4.jpeg" TargetMode="Internal"></Relationship><Relationship Id="rId3" Type="http://schemas.openxmlformats.org/officeDocument/2006/relationships/image" Target="../media/fImage405.jpeg" TargetMode="Internal"></Relationship></Relationships>
</file>

<file path=ppt/slides/_rels/slide19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6.jpeg" TargetMode="Internal"></Relationship></Relationships>
</file>

<file path=ppt/slides/_rels/slide19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7.jpeg" TargetMode="Internal"></Relationship></Relationships>
</file>

<file path=ppt/slides/_rels/slide19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8.jpeg" TargetMode="Internal"></Relationship></Relationships>
</file>

<file path=ppt/slides/_rels/slide19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9.jpeg" TargetMode="Internal"></Relationship></Relationships>
</file>

<file path=ppt/slides/_rels/slide20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0.jpeg" TargetMode="Internal"></Relationship></Relationships>
</file>

<file path=ppt/slides/_rels/slide20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1.jpeg" TargetMode="Internal"></Relationship><Relationship Id="rId3" Type="http://schemas.openxmlformats.org/officeDocument/2006/relationships/image" Target="../media/fImage412.jpeg" TargetMode="Internal"></Relationship></Relationships>
</file>

<file path=ppt/slides/_rels/slide20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3.jpeg" TargetMode="Internal"></Relationship><Relationship Id="rId3" Type="http://schemas.openxmlformats.org/officeDocument/2006/relationships/image" Target="../media/fImage414.jpeg" TargetMode="Internal"></Relationship></Relationships>
</file>

<file path=ppt/slides/_rels/slide20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5.jpeg" TargetMode="Internal"></Relationship></Relationships>
</file>

<file path=ppt/slides/_rels/slide20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6.jpeg" TargetMode="Internal"></Relationship><Relationship Id="rId3" Type="http://schemas.openxmlformats.org/officeDocument/2006/relationships/image" Target="../media/fImage417.jpeg" TargetMode="Internal"></Relationship></Relationships>
</file>

<file path=ppt/slides/_rels/slide20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8.jpeg" TargetMode="Internal"></Relationship></Relationships>
</file>

<file path=ppt/slides/_rels/slide20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9.jpeg" TargetMode="Internal"></Relationship></Relationships>
</file>

<file path=ppt/slides/_rels/slide20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0.jpeg" TargetMode="Internal"></Relationship></Relationships>
</file>

<file path=ppt/slides/_rels/slide20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1.jpeg" TargetMode="Internal"></Relationship></Relationships>
</file>

<file path=ppt/slides/_rels/slide20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2.jpeg" TargetMode="Internal"></Relationship></Relationships>
</file>

<file path=ppt/slides/_rels/slide2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3.jpeg" TargetMode="Internal"></Relationship></Relationships>
</file>

<file path=ppt/slides/_rels/slide2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4.jpeg" TargetMode="Internal"></Relationship></Relationships>
</file>

<file path=ppt/slides/_rels/slide2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5.jpeg" TargetMode="Internal"></Relationship><Relationship Id="rId3" Type="http://schemas.openxmlformats.org/officeDocument/2006/relationships/image" Target="../media/fImage426.jpeg" TargetMode="Internal"></Relationship><Relationship Id="rId4" Type="http://schemas.openxmlformats.org/officeDocument/2006/relationships/image" Target="../media/fImage427.jpeg" TargetMode="Internal"></Relationship></Relationships>
</file>

<file path=ppt/slides/_rels/slide2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8.jpeg" TargetMode="Internal"></Relationship></Relationships>
</file>

<file path=ppt/slides/_rels/slide2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9.jpeg" TargetMode="Internal"></Relationship></Relationships>
</file>

<file path=ppt/slides/_rels/slide2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0.jpeg" TargetMode="Internal"></Relationship></Relationships>
</file>

<file path=ppt/slides/_rels/slide2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1.jpeg" TargetMode="Internal"></Relationship></Relationships>
</file>

<file path=ppt/slides/_rels/slide2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2.jpeg" TargetMode="Internal"></Relationship><Relationship Id="rId3" Type="http://schemas.openxmlformats.org/officeDocument/2006/relationships/image" Target="../media/fImage433.jpeg" TargetMode="Internal"></Relationship><Relationship Id="rId4" Type="http://schemas.openxmlformats.org/officeDocument/2006/relationships/image" Target="../media/fImage434.jpeg" TargetMode="Internal"></Relationship><Relationship Id="rId5" Type="http://schemas.openxmlformats.org/officeDocument/2006/relationships/image" Target="../media/fImage435.jpeg" TargetMode="Internal"></Relationship></Relationships>
</file>

<file path=ppt/slides/_rels/slide2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6.jpeg" TargetMode="Internal"></Relationship><Relationship Id="rId3" Type="http://schemas.openxmlformats.org/officeDocument/2006/relationships/image" Target="../media/fImage437.jpeg" TargetMode="Internal"></Relationship><Relationship Id="rId4" Type="http://schemas.openxmlformats.org/officeDocument/2006/relationships/image" Target="../media/fImage438.jpeg" TargetMode="Internal"></Relationship></Relationships>
</file>

<file path=ppt/slides/_rels/slide2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9.jpeg" TargetMode="Internal"></Relationship><Relationship Id="rId3" Type="http://schemas.openxmlformats.org/officeDocument/2006/relationships/image" Target="../media/fImage440.jpeg" TargetMode="Internal"></Relationship></Relationships>
</file>

<file path=ppt/slides/_rels/slide2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1.jpeg" TargetMode="Internal"></Relationship></Relationships>
</file>

<file path=ppt/slides/_rels/slide2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2.jpeg" TargetMode="Internal"></Relationship></Relationships>
</file>

<file path=ppt/slides/_rels/slide2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3.jpeg" TargetMode="Internal"></Relationship></Relationships>
</file>

<file path=ppt/slides/_rels/slide2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4.jpeg" TargetMode="Internal"></Relationship></Relationships>
</file>

<file path=ppt/slides/_rels/slide2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5.jpeg" TargetMode="Internal"></Relationship></Relationships>
</file>

<file path=ppt/slides/_rels/slide2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6.jpeg" TargetMode="Internal"></Relationship></Relationships>
</file>

<file path=ppt/slides/_rels/slide2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7.jpeg" TargetMode="Internal"></Relationship><Relationship Id="rId3" Type="http://schemas.openxmlformats.org/officeDocument/2006/relationships/image" Target="../media/fImage448.jpeg" TargetMode="Internal"></Relationship></Relationships>
</file>

<file path=ppt/slides/_rels/slide2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9.jpeg" TargetMode="Internal"></Relationship><Relationship Id="rId3" Type="http://schemas.openxmlformats.org/officeDocument/2006/relationships/image" Target="../media/fImage450.jpeg" TargetMode="Internal"></Relationship></Relationships>
</file>

<file path=ppt/slides/_rels/slide2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1.jpeg" TargetMode="Internal"></Relationship></Relationships>
</file>

<file path=ppt/slides/_rels/slide2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2.jpeg" TargetMode="Internal"></Relationship></Relationships>
</file>

<file path=ppt/slides/_rels/slide2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3.jpeg" TargetMode="Internal"></Relationship></Relationships>
</file>

<file path=ppt/slides/_rels/slide2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4.jpeg" TargetMode="Internal"></Relationship><Relationship Id="rId3" Type="http://schemas.openxmlformats.org/officeDocument/2006/relationships/image" Target="../media/fImage455.jpeg" TargetMode="Internal"></Relationship></Relationships>
</file>

<file path=ppt/slides/_rels/slide2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6.jpeg" TargetMode="Internal"></Relationship><Relationship Id="rId3" Type="http://schemas.openxmlformats.org/officeDocument/2006/relationships/image" Target="../media/fImage457.jpeg" TargetMode="Internal"></Relationship></Relationships>
</file>

<file path=ppt/slides/_rels/slide2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8.jpeg" TargetMode="Internal"></Relationship><Relationship Id="rId3" Type="http://schemas.openxmlformats.org/officeDocument/2006/relationships/image" Target="../media/fImage459.jpeg" TargetMode="Internal"></Relationship><Relationship Id="rId4" Type="http://schemas.openxmlformats.org/officeDocument/2006/relationships/image" Target="../media/fImage460.jpeg" TargetMode="Internal"></Relationship></Relationships>
</file>

<file path=ppt/slides/_rels/slide2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1.jpeg" TargetMode="Internal"></Relationship></Relationships>
</file>

<file path=ppt/slides/_rels/slide2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2.jpeg" TargetMode="Internal"></Relationship><Relationship Id="rId3" Type="http://schemas.openxmlformats.org/officeDocument/2006/relationships/image" Target="../media/fImage463.jpeg" TargetMode="Internal"></Relationship></Relationships>
</file>

<file path=ppt/slides/_rels/slide2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4.jpeg" TargetMode="Internal"></Relationship><Relationship Id="rId3" Type="http://schemas.openxmlformats.org/officeDocument/2006/relationships/image" Target="../media/fImage465.jpeg" TargetMode="Internal"></Relationship></Relationships>
</file>

<file path=ppt/slides/_rels/slide2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6.jpeg" TargetMode="Internal"></Relationship><Relationship Id="rId3" Type="http://schemas.openxmlformats.org/officeDocument/2006/relationships/image" Target="../media/fImage467.jpeg" TargetMode="Internal"></Relationship><Relationship Id="rId4" Type="http://schemas.openxmlformats.org/officeDocument/2006/relationships/image" Target="../media/fImage468.jpeg" TargetMode="Internal"></Relationship></Relationships>
</file>

<file path=ppt/slides/_rels/slide2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9.jpeg" TargetMode="Internal"></Relationship></Relationships>
</file>

<file path=ppt/slides/_rels/slide2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0.jpeg" TargetMode="Internal"></Relationship></Relationships>
</file>

<file path=ppt/slides/_rels/slide2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1.jpeg" TargetMode="Internal"></Relationship><Relationship Id="rId3" Type="http://schemas.openxmlformats.org/officeDocument/2006/relationships/image" Target="../media/fImage472.jpeg" TargetMode="Internal"></Relationship><Relationship Id="rId4" Type="http://schemas.openxmlformats.org/officeDocument/2006/relationships/image" Target="../media/fImage473.jpeg" TargetMode="Internal"></Relationship></Relationships>
</file>

<file path=ppt/slides/_rels/slide2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4.jpeg" TargetMode="Internal"></Relationship></Relationships>
</file>

<file path=ppt/slides/_rels/slide2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5.jpeg" TargetMode="Internal"></Relationship><Relationship Id="rId3" Type="http://schemas.openxmlformats.org/officeDocument/2006/relationships/image" Target="../media/fImage476.jpeg" TargetMode="Internal"></Relationship></Relationships>
</file>

<file path=ppt/slides/_rels/slide2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7.jpeg" TargetMode="Interna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Table of Contents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Java Fratures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Designing Goals of Java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Right Language, Right Time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 Buzzwords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 Language + Libraries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Simple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Object Oriented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Distributed/Network Oriented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Robust/Secure/Safe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Portable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Support for Web &amp; Enterprise Web Applications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High Performance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Multi Threaded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Dynamic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Java Compiler Structure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Java Programmer Efficiency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OOP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Libraries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1.18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Microsoft vs. Java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Java Virtual Machine &amp; Runtime Enviornment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16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Basic Concepts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Byte Code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 Virtual Machine (JVM)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 Runtime Environment (JRE)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18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Java Program Development and Execution Steps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2.5.1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Edit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2.5.2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2.5.3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Loading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2.5.4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Verify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2.2.5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Execute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Installation &amp; Environment Setting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2.6.1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Installation 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2.6.2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Environment Setting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First Program in Java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HelloWorldApp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HelloWorldApp Description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Compiling &amp; Running HelloWorldApp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Points to Remember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2.12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An Idiom Explained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Learning Basics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30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Strings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3.1.1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String Concatenation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3.1.2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Comparing Strings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Command Line Arguments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Primitives vs. Objects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Stack vs. Heap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34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" name="Rect 3"/>
          <p:cNvSpPr>
            <a:spLocks noGrp="1" noChangeArrowheads="1"/>
          </p:cNvSpPr>
          <p:nvPr/>
        </p:nvSpPr>
        <p:spPr>
          <a:xfrm rot="0">
            <a:off x="6632575" y="6300470"/>
            <a:ext cx="430530" cy="2874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22</a:t>
            </a:r>
            <a:endParaRPr lang="ko-KR" altLang="en-US" dirty="0" smtClean="0" sz="1103" b="1"/>
          </a:p>
          <a:p>
            <a:pPr marL="0" indent="0" defTabSz="15240" algn="l">
              <a:lnSpc>
                <a:spcPts val="20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Wrapper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Wrapper Use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Converting String to Numeric Primitive Data Types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Input/Output Example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Selection &amp; Control Structure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Object Oriented Programming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40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OOP Vocabulary Review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4.1.1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4.1.2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Object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4.1.3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Constructor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4.1.4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Attributes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4.1.5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Defining a Class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Comparison with C++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Defining a Student Class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Getters/Setters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Using a Class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Static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Garbage Collection &amp; Finalize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Inheritance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52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Comparison with C++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52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Object (Root Class)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56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Polymorphism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57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Type Casting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59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5.4.1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Up-Casting 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5.4.2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Down-Casting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59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Collections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60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Collection Design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60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Collection Messages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60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ArrayList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61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6.3.1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61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HashMap 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6.4.1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Useful 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62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Address Book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65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6.5.1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Problem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65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6.5.2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Approach for Solving Problem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65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Intro to Exceptions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70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Types of Errors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7.1.1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Syntax Errors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7.1.2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Logical Errors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7.3.1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Runtime Errors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What is an Exception?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Why Handle Exceptions?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Exceptions in Java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Exceptions Hierarchy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Types of Exceptions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72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" name="Rect 3"/>
          <p:cNvSpPr>
            <a:spLocks noGrp="1" noChangeArrowheads="1"/>
          </p:cNvSpPr>
          <p:nvPr/>
        </p:nvSpPr>
        <p:spPr>
          <a:xfrm rot="0">
            <a:off x="6632575" y="6333490"/>
            <a:ext cx="156210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62</a:t>
            </a:r>
            <a:endParaRPr lang="ko-KR" altLang="en-US" dirty="0" smtClean="0" sz="1103" b="1"/>
          </a:p>
        </p:txBody>
      </p:sp>
      <p:sp>
        <p:nvSpPr>
          <p:cNvPr id="7" name="Rect 3"/>
          <p:cNvSpPr>
            <a:spLocks noGrp="1" noChangeArrowheads="1"/>
          </p:cNvSpPr>
          <p:nvPr/>
        </p:nvSpPr>
        <p:spPr>
          <a:xfrm rot="0">
            <a:off x="2514600" y="5041265"/>
            <a:ext cx="4548505" cy="41332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59</a:t>
            </a:r>
            <a:endParaRPr lang="ko-KR" altLang="en-US" dirty="0" smtClean="0" sz="1103" b="1"/>
          </a:p>
          <a:p>
            <a:pPr marL="0" indent="0" defTabSz="1524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Useful Methods </a:t>
            </a:r>
            <a:endParaRPr lang="ko-KR" altLang="en-US" dirty="0" smtClean="0" sz="1103" b="1"/>
          </a:p>
          <a:p>
            <a:pPr marL="0" indent="0" defTabSz="15240" algn="l">
              <a:lnSpc>
                <a:spcPts val="2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7.5.1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Unchecked Exceptions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7.5.2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Checked Exceptions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How Java Handles exceptions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7.6.1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try Block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7.6.2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catch block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72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7.6.3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finally block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72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7.6.4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throw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74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7.6.5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throws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74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Examples of Unchecked Exceptions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75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Examples of Checked Exceptions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The finally Block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79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Multiple catch blocks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80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The throws clause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82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7.12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printStackTrace Method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83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Streams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85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8.1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The Concept of Streams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85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8.2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Types of Systems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86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8.3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Stream Classification Based on Functionality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86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8.4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Example of Reading from File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88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8.5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Example of Writing to File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89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Modification of Address Book Code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90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Adding Persistence Functionality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90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9.1.2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Scenario 2- End/Finish up 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Abstract Classes &amp; Interfaces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96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Problems &amp; Requirements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Abstract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Interfaces 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9.5.1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Defining an Interface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9.5.2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Implementing Interface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9.5.3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Example of Interface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9.5.4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Interface Characteristics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9.5.5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Example: Interface Based Polymorphism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Graphical User Interfaces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102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Support for GUI in Java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GUI Classes vs. Non GUI Support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java.awt package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102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javax.swing package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 Part of the framework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GUI Creation Steps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104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10.6.1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import required package 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10.6.2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Setup the Top Level Containers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104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10.6.3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 the Component Area of Top Level Container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10.6.4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Apply Layout to Component Area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10.6.5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Create &amp; Add Components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10.6.6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Set Size of Frame &amp; Make it Visible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106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0" name="Rect 3"/>
          <p:cNvSpPr>
            <a:spLocks noGrp="1" noChangeArrowheads="1"/>
          </p:cNvSpPr>
          <p:nvPr/>
        </p:nvSpPr>
        <p:spPr>
          <a:xfrm rot="0">
            <a:off x="6632575" y="4892040"/>
            <a:ext cx="156210" cy="9385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93</a:t>
            </a:r>
            <a:endParaRPr lang="ko-KR" altLang="en-US" dirty="0" smtClean="0" sz="1103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98</a:t>
            </a:r>
            <a:endParaRPr lang="ko-KR" altLang="en-US" dirty="0" smtClean="0" sz="1103" b="1"/>
          </a:p>
        </p:txBody>
      </p:sp>
      <p:sp>
        <p:nvSpPr>
          <p:cNvPr id="11" name="Rect 3"/>
          <p:cNvSpPr>
            <a:spLocks noGrp="1" noChangeArrowheads="1"/>
          </p:cNvSpPr>
          <p:nvPr/>
        </p:nvSpPr>
        <p:spPr>
          <a:xfrm rot="0">
            <a:off x="2203450" y="1368425"/>
            <a:ext cx="4859655" cy="78060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72</a:t>
            </a:r>
            <a:endParaRPr lang="ko-KR" altLang="en-US" dirty="0" smtClean="0" sz="1074" b="1"/>
          </a:p>
          <a:p>
            <a:pPr marL="0" indent="0" defTabSz="15240" algn="l">
              <a:lnSpc>
                <a:spcPts val="2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9.1.1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Scenario 1- Startup </a:t>
            </a:r>
            <a:endParaRPr lang="ko-KR" altLang="en-US" dirty="0" smtClean="0" sz="1103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9.4.1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Example of Abstract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97</a:t>
            </a:r>
            <a:endParaRPr lang="ko-KR" altLang="en-US" dirty="0" smtClean="0" sz="1103" b="1"/>
          </a:p>
          <a:p>
            <a:pPr marL="0" indent="0" defTabSz="15240" algn="l">
              <a:lnSpc>
                <a:spcPts val="1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104</a:t>
            </a:r>
            <a:endParaRPr lang="ko-KR" altLang="en-US" dirty="0" smtClean="0" sz="1103" b="1"/>
          </a:p>
          <a:p>
            <a:pPr marL="0" indent="0" defTabSz="1524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Making a Simple GUI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Important Points to Consider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Layout Managers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10.9.1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Flow Layout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109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10.9.2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Grid Layout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111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10.9.3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Border Layout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113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Making Complex GUIs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115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JPanel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115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10.12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Calculator GUI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116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Event Handling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119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Event Handling Model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Event Handling Steps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Event Handling Process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11.3.1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Event Generators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11.3.2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Event Handlers/Listeners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11.3.3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Registering Handler with Generator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123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How Event Handling Participants Interact Behind the Scene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11.4.1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Event Generator/Source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11.4.2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Event Object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11.4.3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Event Listener/Handler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125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11.4.4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JVM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11.5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Making a Small Calculator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More Examples of Handling Events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130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12.1  Handling Mouse Events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12.1.1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MouseMotionListener Interface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130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12.3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MouseListener Interface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12.4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Example: Handling Mouse Events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12.5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Handling Window Events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136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Solution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Adapter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Available Adapter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How to Use Adapter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137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Example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Problem in Example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Inner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Handling Window Events with Inner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140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Handling Window &amp; Mouse Events with Inner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Small Calculator Making Inner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13.12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Anonymous Inner Classes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13.13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Named vs. Anonymous Objects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146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13.14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Handling Window Events with Anonymous Inner Class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13.15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Summary of Approaches for Handling Events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Java Data Base Connectivity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149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Introduction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149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4" name="Rect 3"/>
          <p:cNvSpPr>
            <a:spLocks noGrp="1" noChangeArrowheads="1"/>
          </p:cNvSpPr>
          <p:nvPr/>
        </p:nvSpPr>
        <p:spPr>
          <a:xfrm rot="0">
            <a:off x="2514600" y="5843270"/>
            <a:ext cx="2079625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Garamond"/>
              </a:rPr>
              <a:t>Problem in Last Code Example </a:t>
            </a:r>
            <a:endParaRPr lang="ko-KR" altLang="en-US" dirty="0" smtClean="0" sz="1200" b="1"/>
          </a:p>
        </p:txBody>
      </p:sp>
      <p:sp>
        <p:nvSpPr>
          <p:cNvPr id="15" name="Rect 3"/>
          <p:cNvSpPr>
            <a:spLocks noGrp="1" noChangeArrowheads="1"/>
          </p:cNvSpPr>
          <p:nvPr/>
        </p:nvSpPr>
        <p:spPr>
          <a:xfrm rot="0">
            <a:off x="1600200" y="6013450"/>
            <a:ext cx="5462905" cy="3161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13.1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Problem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136</a:t>
            </a:r>
            <a:endParaRPr lang="ko-KR" altLang="en-US" dirty="0" smtClean="0" sz="1103" b="1"/>
          </a:p>
          <a:p>
            <a:pPr marL="0" indent="0" defTabSz="15240" algn="l">
              <a:lnSpc>
                <a:spcPts val="2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The java.sql package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Connecting with Microsoft Access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14.3.1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Create Database 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14.3.2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Setup System DSN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Basic Steps in Using JDBC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14.4.1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Import Required Package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14.4.2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Load Driver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152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14.4.3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Define Connection URL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14.4.4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Establish Connection with Database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14.4.5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Create Statement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14.4.6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Execute Query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152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14.4.7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DELETE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14.4.8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Close the Connection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Retrieving Data from Resultset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More on JDBC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156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15.1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Useful Statement 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156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15.1.1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executeUpdate( 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15.1.2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getMaxRows( )/setMaxRows(int)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15.1.3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getQueryTimeOut( )/setQueryTimeOut(int)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15.2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Different Type of Statements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158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15.2.1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Statement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15.2.2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PreparedStatement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15.2.3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CallableStatement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15.3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PreparedStatement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159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162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Default ResultSet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Useful ResultSet‟s 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16.3.1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next( ) 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16.3.2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getters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16.3.3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close( 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Updatable &amp;/or Scrollable ResultSet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Getting Updatable &amp; Scrollable ResultSet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16.5.1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previous( 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164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16.5.2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absolute(int)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165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16.5.3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updaters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166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16.5.4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updateRow( 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166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16.5.5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moveToInsertRow(int)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168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16.5.6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insertRow( 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168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16.5.7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last( ) &amp; first( 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171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16.5.8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getRow( 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171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16.5.9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deleteRow( 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171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Meta Data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174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17.1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ResultSet Meta data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174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17.2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Getting ResultSet Meta Data Object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174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17.3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Useful ResultSetMetaData 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175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17.4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DataBaseMetaData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177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8" name="Rect 3"/>
          <p:cNvSpPr>
            <a:spLocks noGrp="1" noChangeArrowheads="1"/>
          </p:cNvSpPr>
          <p:nvPr/>
        </p:nvSpPr>
        <p:spPr>
          <a:xfrm rot="0">
            <a:off x="6632575" y="5200015"/>
            <a:ext cx="211455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162</a:t>
            </a:r>
            <a:endParaRPr lang="ko-KR" altLang="en-US" dirty="0" smtClean="0" sz="1103" b="1"/>
          </a:p>
        </p:txBody>
      </p:sp>
      <p:sp>
        <p:nvSpPr>
          <p:cNvPr id="19" name="Rect 3"/>
          <p:cNvSpPr>
            <a:spLocks noGrp="1" noChangeArrowheads="1"/>
          </p:cNvSpPr>
          <p:nvPr/>
        </p:nvSpPr>
        <p:spPr>
          <a:xfrm rot="0">
            <a:off x="2514600" y="5029200"/>
            <a:ext cx="7112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Garamond"/>
              </a:rPr>
              <a:t>Result Set </a:t>
            </a:r>
            <a:endParaRPr lang="ko-KR" altLang="en-US" dirty="0" smtClean="0" sz="1200" b="1"/>
          </a:p>
        </p:txBody>
      </p:sp>
      <p:sp>
        <p:nvSpPr>
          <p:cNvPr id="20" name="Rect 3"/>
          <p:cNvSpPr>
            <a:spLocks noGrp="1" noChangeArrowheads="1"/>
          </p:cNvSpPr>
          <p:nvPr/>
        </p:nvSpPr>
        <p:spPr>
          <a:xfrm rot="0">
            <a:off x="1600200" y="1212850"/>
            <a:ext cx="5462905" cy="79616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149</a:t>
            </a:r>
            <a:endParaRPr lang="ko-KR" altLang="en-US" dirty="0" smtClean="0" sz="1103" b="1"/>
          </a:p>
          <a:p>
            <a:pPr marL="0" indent="0" defTabSz="15240" algn="l">
              <a:lnSpc>
                <a:spcPts val="3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16.1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ResultSet </a:t>
            </a:r>
            <a:endParaRPr lang="ko-KR" altLang="en-US" dirty="0" smtClean="0" sz="1103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163</a:t>
            </a:r>
            <a:endParaRPr lang="ko-KR" altLang="en-US" dirty="0" smtClean="0" sz="1103" b="1"/>
          </a:p>
          <a:p>
            <a:pPr marL="0" indent="0" defTabSz="15240" algn="l">
              <a:lnSpc>
                <a:spcPts val="2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17.4.1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Creating DataBaseMetaData Object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177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17.5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JDBC Driver Types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179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Java Graphics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183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18.1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Painting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183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18.2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How Painting Works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183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18.3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Painting a Swing Component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186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18.4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Your Painting Strategy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187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No.19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How to Animate?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191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19.1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Problem &amp; Solution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191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19.2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Coding Example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191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19.3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Ball Animation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195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Applets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199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20.1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Applets Support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199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20.2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What an Applet is?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199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20.3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The Genealogy of Applet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201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20.4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Applet Life Cycle 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202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20.5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Design Process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204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20.6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Generating Random Numbers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204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20.7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Program‟s Modules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205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20.8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Merging Pieces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208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211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21.2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Socket Dynamics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21.3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What is Port?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21.4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How Client Server Communicate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21.5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Steps to make a Simple Client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21.6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Steps to make a Simple Server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219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Motivation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Revisiting AddressBook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Serialization in Java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Serializable Interface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Automatic Writing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Automatic Reading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Serialization- How it Works?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Object Serialization &amp; Network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Reading Objects over Network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Preventing Serialization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Multithreading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226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23.1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Introduction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23.2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Sequential Execution vs. Multithreading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23.3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Creating Threads in Java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23.4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Thread Creating Steps using Inheritance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228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3" name="Rect 3"/>
          <p:cNvSpPr>
            <a:spLocks noGrp="1" noChangeArrowheads="1"/>
          </p:cNvSpPr>
          <p:nvPr/>
        </p:nvSpPr>
        <p:spPr>
          <a:xfrm rot="0">
            <a:off x="2514600" y="4770120"/>
            <a:ext cx="1421130" cy="14598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Garamond"/>
              </a:rPr>
              <a:t>Socket Programming </a:t>
            </a:r>
            <a:endParaRPr lang="ko-KR" altLang="en-US" dirty="0" smtClean="0" sz="1200" b="1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Garamond"/>
              </a:rPr>
              <a:t>Serialization </a:t>
            </a:r>
            <a:endParaRPr lang="ko-KR" altLang="en-US" dirty="0" smtClean="0" sz="1200" b="1"/>
          </a:p>
        </p:txBody>
      </p:sp>
      <p:sp>
        <p:nvSpPr>
          <p:cNvPr id="24" name="Rect 3"/>
          <p:cNvSpPr>
            <a:spLocks noGrp="1" noChangeArrowheads="1"/>
          </p:cNvSpPr>
          <p:nvPr/>
        </p:nvSpPr>
        <p:spPr>
          <a:xfrm rot="0">
            <a:off x="1600200" y="4940935"/>
            <a:ext cx="5462905" cy="42335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21.1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Socket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211</a:t>
            </a:r>
            <a:endParaRPr lang="ko-KR" altLang="en-US" dirty="0" smtClean="0" sz="1103" b="1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22.1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What?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219</a:t>
            </a:r>
            <a:endParaRPr lang="ko-KR" altLang="en-US" dirty="0" smtClean="0" sz="1103" b="1"/>
          </a:p>
          <a:p>
            <a:pPr marL="0" indent="0" defTabSz="15240" algn="l">
              <a:lnSpc>
                <a:spcPts val="2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23.5 Thread priority Scheduling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230</a:t>
            </a:r>
            <a:endParaRPr lang="ko-KR" altLang="en-US" dirty="0" smtClean="0" sz="12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23.6  Problems with Thread Priorities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232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More on Multithreading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233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24.1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Reading Two Files Simultaneously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233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24.2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Threads‟ Joining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Web Application Development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242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Introduction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Web Applications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242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HTTP Basics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25.3.1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Parts of HTTP Request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25.3.2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Parts of HTTP Response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HTTP Response Codes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244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Server Side Programming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Why Build Pages Dynamically?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Dynamic Web Content Technologies Evolution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Layers &amp; Web Applications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249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Java Servlets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250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26.1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What Servlets can do?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250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26.2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Servlets vs. other SSP Technologies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250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26.3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Software Requirements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251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26.4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Jakarta Servlet Engine (Tomcat)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251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26.5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Environment Setup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251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26.6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Environment Setup using .zip File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251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26.7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Environment Setup using .exe File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252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Creating a Simple Web Application in Tomcat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260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27.1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Slandered Directory Structure of a J2EE Web Application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27.2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Writing Servlets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27.3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Servlet Types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27.4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Servlet Class Hierarchy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27.5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Types of HTTP Requests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27.6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GET &amp; POST HTTP Request Types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264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27.7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Steps for Making Hello World Servlet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27.8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Compiling &amp; Invoking Servlets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Servlets Lifecycle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267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28.1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Stages of Servlet Lifecycle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267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28.2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Reading HTML Form Data Using Servlets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269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28.3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HTML &amp; Servlets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28.4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Types of Data Send to Web Server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28.5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Reading HTML Form Data from Servlets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No.29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More on Servlets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275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29.1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Initialization Parameters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29.2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ServletConfig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275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29.3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Reading Initialization Parameters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29.4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Response Redirection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278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7" name="Rect 3"/>
          <p:cNvSpPr>
            <a:spLocks noGrp="1" noChangeArrowheads="1"/>
          </p:cNvSpPr>
          <p:nvPr/>
        </p:nvSpPr>
        <p:spPr>
          <a:xfrm rot="0">
            <a:off x="6937375" y="9034145"/>
            <a:ext cx="12573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29.5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Sending a Standered Redirect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29.6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Sending a Redirect to an Error Page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278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29.7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ServletContext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281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29.8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Request Dispatcher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281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Dispatching Requests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284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30.1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Recap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284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30.2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Code- Request Dispatching- Include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284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30.3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Code- Request Dispatcher- Forward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289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30.4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HttpServletRequest 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30.5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HttpServletResponse 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294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30.6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Session Tracking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Session Tracking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297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31.1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Store State Somewhere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297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31.2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Post Notes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31.3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Three Typical Solutions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31.4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Cookies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31.4.2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Cookie‟s Voyage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31.4.3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Potential Uses of Cookies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31.4.4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Sending Cookies to Browser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31.4.5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Reading cookies from Client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Session Tracking 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308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URL Rewriting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308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Disadvantages of URL Rewriting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308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How to Make a QueryString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308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Hidden Form Fields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312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Solution for Session Tracking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312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Working with HttpSession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313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HttpSession- Behind the Scenes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316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Encoding URLs sent to Client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317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Difference between encodURL( ) &amp; encodeRedirectURL( 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317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Some Methods of HttpSession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317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Case Study Using Servlets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321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Design Process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321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Layers and Web Application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321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Package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328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What is a Package?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328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How to Create a Package?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328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How to use Package?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329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JavaServer Pages (JSP)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The Need for JSP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Framework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Advantages of JSP over Competing Technologies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Setting Up Your Environment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Java Server Pages 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332</a:t>
            </a:r>
            <a:endParaRPr lang="ko-KR" altLang="en-US" dirty="0" smtClean="0" sz="1200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0" name="Rect 3"/>
          <p:cNvSpPr>
            <a:spLocks noGrp="1" noChangeArrowheads="1"/>
          </p:cNvSpPr>
          <p:nvPr/>
        </p:nvSpPr>
        <p:spPr>
          <a:xfrm rot="0">
            <a:off x="2057400" y="3785870"/>
            <a:ext cx="5005705" cy="538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31.4.1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What a Cookie is?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298</a:t>
            </a:r>
            <a:endParaRPr lang="ko-KR" altLang="en-US" dirty="0" smtClean="0" sz="1103" b="1"/>
          </a:p>
          <a:p>
            <a:pPr marL="0" indent="0" defTabSz="15240" algn="l">
              <a:lnSpc>
                <a:spcPts val="4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First run of a JSP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Benifits of JSP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vs. Servlet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Scripting Elements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Comments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Expressions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Scriplets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335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Declarations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Writing JSP Scripting Elements in XML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Java Server Pages 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339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35.1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Implicit Objects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339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35.2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Directives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344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35.3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Page Directive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344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35.4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Include Directive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345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35.5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LifeCycle 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348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Java Server Pages 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349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36.1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Displaying Course Outline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349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36.2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 Beans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356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36.3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 Beans Design Conventions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356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36.4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 Sample Java Bean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356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JSP Action Elements &amp; Scope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367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Action Elements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367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Working with JavaBeans using JSP Action Elements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368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useBean Action Element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368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setProperty Action Element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368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getProperty Action Element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369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Sharing Beans &amp; Object Scopes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Summary of Object‟s Scopes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More JSP Action Elements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include action Element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JSP forward action Element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JSP Custom Tags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378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38.1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Motivation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38.2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What is a Custom Tag?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38.3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Why Build Custom Tag?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379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38.4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Advantages of Using Custom Tags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38.5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Types of Tags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379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38.6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Building Custom Tags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381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38.7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Building Tags with Attributes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384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No.39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MVC + Case Study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393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Error Page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393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Defining &amp; Using Error Pages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393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Case Study- Address Book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394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Ingredients of Address Book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394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Program Flow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395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3" name="Rect 3"/>
          <p:cNvSpPr>
            <a:spLocks noGrp="1" noChangeArrowheads="1"/>
          </p:cNvSpPr>
          <p:nvPr/>
        </p:nvSpPr>
        <p:spPr>
          <a:xfrm rot="0">
            <a:off x="6937375" y="9034145"/>
            <a:ext cx="12573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Model View Controller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Participants &amp; Responsibilities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Evolution of MVC Architecture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MVC Model 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409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MVC Model 2 Architecture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410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Page-Centric Approach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410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Page-with-Bean Approach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410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MVC Model 2 Architecture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410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Case Study: Address Book Using MVC Model2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412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Introducing a JSP as Controller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413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How Controller Differentiate between Requests?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413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JSP is the Right Choice as a Controller?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428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Introducing a Servlet as Controller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428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No.41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Layers &amp; Tiers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435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Layers vs. Tiers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435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Layers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Presentation Layer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436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Business Layer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Data Layer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Tiers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Layers Support in Java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J2EE Multi-Tiered Applications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439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Case Study: Matrix Multiplication Using Layers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440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Layer by Layer View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440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ControllerServlet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443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41.12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Matrix Multiplier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445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41.13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Matrix DAO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447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No.42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451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JSP before &amp; after EL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Expression Language Nuggets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452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EL Syntax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EL Literals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EL Operators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453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EL Identifiers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454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EL Implicit Objects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454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Storing Scoped Variables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Retrieving Scoped Variables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457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EL Accessors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42.12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EL – Robust Features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42.13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Using Expression Language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No.43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JSTL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468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Introduction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468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JSTL and EL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468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Functional Overview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468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Twin Tag Libraries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469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6" name="Rect 3"/>
          <p:cNvSpPr>
            <a:spLocks noGrp="1" noChangeArrowheads="1"/>
          </p:cNvSpPr>
          <p:nvPr/>
        </p:nvSpPr>
        <p:spPr>
          <a:xfrm rot="0">
            <a:off x="2514600" y="5684520"/>
            <a:ext cx="146685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Garamond"/>
              </a:rPr>
              <a:t>Expression Language </a:t>
            </a:r>
            <a:endParaRPr lang="ko-KR" altLang="en-US" dirty="0" smtClean="0" sz="1200" b="1"/>
          </a:p>
        </p:txBody>
      </p:sp>
      <p:sp>
        <p:nvSpPr>
          <p:cNvPr id="37" name="Rect 3"/>
          <p:cNvSpPr>
            <a:spLocks noGrp="1" noChangeArrowheads="1"/>
          </p:cNvSpPr>
          <p:nvPr/>
        </p:nvSpPr>
        <p:spPr>
          <a:xfrm rot="0">
            <a:off x="1600200" y="5855335"/>
            <a:ext cx="5462905" cy="33191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42.1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Overview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451</a:t>
            </a:r>
            <a:endParaRPr lang="ko-KR" altLang="en-US" dirty="0" smtClean="0" sz="1103" b="1"/>
          </a:p>
          <a:p>
            <a:pPr marL="0" indent="0" defTabSz="15240" algn="l">
              <a:lnSpc>
                <a:spcPts val="2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Using JSTL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469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Working with Core Actions (Tags)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c:set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Using with JavaBeans &amp; Map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c:out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471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c:remove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472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c:forEach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472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43.12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Iteration over an Integer range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43.13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Iteration over a Collection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43.14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c:if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475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43.15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c:choose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475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43.16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netBeans 4.1 &amp; JSTL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476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No.44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Client Side Validation &amp; JSF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Client side Validation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480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Why is client side Validation Good?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480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Form Validation using JavaScript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480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JavaServer Faces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Different Existing Frameworks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javaServer Faces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483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JSF UI Components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483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JSF - Managed Bean-Intro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JSF – Value Binding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487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44.10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JSF – Method Binding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44.11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JSF Navigation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Chapter No.45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JavaServer Faces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Garamond"/>
                <a:ea typeface="Garamond"/>
              </a:rPr>
              <a:t>488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45.1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Example Code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488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45.2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Web Services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45.3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Introduction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45.4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Web Services, Definition by W3C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488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45.5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Distributed Computing Evolution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488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45.6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Characteristics of Web Services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489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45.7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Types of Web Service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489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45.8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Comparison between Web Page &amp; Web Service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490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45.9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Web Service Architectural Components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490</a:t>
            </a:r>
            <a:endParaRPr lang="ko-KR" altLang="en-US" dirty="0" smtClean="0" sz="1103" b="1"/>
          </a:p>
          <a:p>
            <a:pPr marL="0" indent="0" defTabSz="15240" algn="l">
              <a:lnSpc>
                <a:spcPts val="1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0" name="Rect 3"/>
          <p:cNvSpPr>
            <a:spLocks noGrp="1" noChangeArrowheads="1"/>
          </p:cNvSpPr>
          <p:nvPr/>
        </p:nvSpPr>
        <p:spPr>
          <a:xfrm rot="0">
            <a:off x="686689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Lesson 1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FEATURES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handout is a traditional introduction to any language features. You might not be able to comprehend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some of the features fully at this stage but don‘t worry, you‘ll get to know about these as we move on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with the course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Design Goals of 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massive growth of the Internet and the World-Wide Web leads us to a completely new way of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looking at development of software that can run on different platforms like Windows, Linux and Solaris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etc.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Right Language, Right Time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came on the scene in 1995 to immediate popularity.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Before that, C and C++ dominated the software development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compiled, no robust memory model, no garbage collector causes memory leakages, not great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support of built in libraries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brings together a great set of "programmer efficient" features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Putting more work on the CPU to make things easier for the programmer.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– Buzzwords (Vocabulary)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From the original Sun Java whitepaper: "Java is a  simple,  object-oriented, distributed,  interpreted,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robust, secure, architecture-neutral, portable, high- performance,  multi-threaded,  and  dynamic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language."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Here are some original java buzzwords...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-- Language + Libraries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has two parts...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The core language -- variables, arrays,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84">
                <a:solidFill>
                  <a:srgbClr val="000000"/>
                </a:solidFill>
                <a:latin typeface="Courier"/>
                <a:ea typeface="Courier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The Java Virtual Machine (JVM) runs the core language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84">
                <a:solidFill>
                  <a:srgbClr val="000000"/>
                </a:solidFill>
                <a:latin typeface="Courier"/>
                <a:ea typeface="Courier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The core language is simple enough to run on small devices -- phones, smart cards,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PDAs.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The libraries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84">
                <a:solidFill>
                  <a:srgbClr val="000000"/>
                </a:solidFill>
                <a:latin typeface="Courier"/>
                <a:ea typeface="Courier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Java includes a large collection of standard library classes to provide "off the shelf" code.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(Useful built-in classes that comes with the language to perform basic tasks)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84">
                <a:solidFill>
                  <a:srgbClr val="000000"/>
                </a:solidFill>
                <a:latin typeface="Courier"/>
                <a:ea typeface="Courier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Example  of  these  classes  is  String,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ArrayList,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HashMap, StringTokenizer (to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break string into substrings), Date ...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84">
                <a:solidFill>
                  <a:srgbClr val="000000"/>
                </a:solidFill>
                <a:latin typeface="Courier"/>
                <a:ea typeface="Courier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Java programmers are more productive in part because they have access to a large set of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standard, well documented library classes.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Simple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Very similar C/C++ syntax, operators, etc.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core language is simpler than C++ -- no operator overloading, no pointers, and no multiple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inheritance </a:t>
            </a:r>
            <a:endParaRPr lang="ko-KR" altLang="en-US" dirty="0" smtClean="0" sz="1103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3" name="Rect 3"/>
          <p:cNvSpPr>
            <a:spLocks noGrp="1" noChangeArrowheads="1"/>
          </p:cNvSpPr>
          <p:nvPr/>
        </p:nvSpPr>
        <p:spPr>
          <a:xfrm rot="0">
            <a:off x="686689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way a java program deals with memory is much simpler than C or C++.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Object-Oriented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is fundamentally based on the OOP notions of classes and objects.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uses a formal OOP type system that must be obeyed at compile-time and run-time.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is helpful for larger projects, where the structure helps keep the various parts consistent. Contrast to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Perl, which has a more anything-goes feel.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Distributed / Network Oriented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is network friendly -- both in its portable, threaded nature, and because common networking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operations are built-in to the Java libraries.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Robust / Secure / Safe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 is very robust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84">
                <a:solidFill>
                  <a:srgbClr val="000000"/>
                </a:solidFill>
                <a:latin typeface="Courier"/>
                <a:ea typeface="Courier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Both, vs. unintentional errors and vs. malicious code such as viruses.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084">
                <a:solidFill>
                  <a:srgbClr val="000000"/>
                </a:solidFill>
                <a:latin typeface="Courier"/>
                <a:ea typeface="Courier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Java has slightly worse performance since it does all this checking. (Or put the other way, C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can be faster since it doesn't check anything.)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JVM "verifier" checks the code when it is loaded to verify that it has the correct structure --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that it does not use an uninitialized pointer, or mix int and pointer types. This is one-time "static"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analysis -- checking that the code has the correct structure without running it.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JVM also does "dynamic" checking at runtime for certain operations, such as pointer and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array access, to make sure they are touching only the memory they should. You will write code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that runs into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As a result, many common bugs and security problems (e.g. "buffer overflow") are not possible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java. The checks also make it easier to find many common bugs easy, since they are caught by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runtime checker.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You will generally never write code that fails the verifier, since your compiler is smart enough to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only generate correct code. You will write code that runs into the runtime checks all the time as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debug -- array out of bounds, null pointer.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 also has a runtime Security Manager can check which operations a particular piece of code is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allowed to do. As a result, java can run un-trusted code in a "sandbox" where, for example, it can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draw to the screen but cannot access the local file system. </a:t>
            </a:r>
            <a:endParaRPr lang="ko-KR" altLang="en-US" dirty="0" smtClean="0" sz="1103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6" name="Rect 3"/>
          <p:cNvSpPr>
            <a:spLocks noGrp="1" noChangeArrowheads="1"/>
          </p:cNvSpPr>
          <p:nvPr/>
        </p:nvSpPr>
        <p:spPr>
          <a:xfrm rot="0">
            <a:off x="686689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Portable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"Write Once Run Anywhere", and for the most part this works.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 even a recompile is required -- a Java executable can work, without change, on any Java enabled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platform.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Support for Web and Enterprise Web Applications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provides an extensive support for the development of web and enterprise applications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Servlets, JSP, Applets, JDBC, RMI, EJBs and JSF etc.  are some  of  the  Java technologies that can be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used for the above mentioned purposes.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High-performance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first versions of java were pretty slow.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performance has gotten a lot better with aggressive just-in-time-compiler (JIT) techniques.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performance is now similar to C -- a little slower in some cases, faster in a few cases. However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memory use and startup time are both worse than C.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 performance  gets  better  each  year  as  the  JVM  gets  smarter.  This  works, because making the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JVM smarter does not require any great change to the java language, source code, etc.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Multi-Threaded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has a notion of concurrency wired right in to the language itself.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works out more cleanly than languages where concurrency is bolted on after the fact.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Dynamic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 and  type  information  is  kept  around  at  runtime.  This  enables  runtime  loading  and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inspection of code in a very flexible way.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Compiler Structure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source code for each class is in a .java file. Compile each class to produce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―.class‖ file.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Sometimes, multiple .class files are packaged together into a .zip or .jar "archive"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unix or windows, the java compiler is called "javac". To compile all the .java files in a directory use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"javac *.java". </a:t>
            </a:r>
            <a:endParaRPr lang="ko-KR" altLang="en-US" dirty="0" smtClean="0" sz="1103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9" name="Rect 3"/>
          <p:cNvSpPr>
            <a:spLocks noGrp="1" noChangeArrowheads="1"/>
          </p:cNvSpPr>
          <p:nvPr/>
        </p:nvSpPr>
        <p:spPr>
          <a:xfrm rot="0">
            <a:off x="686689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Java: Programmer Efficiency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Faster Development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Building an application in Java takes about 50% less time than in C or C++. So, faster time to market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is said to be ―Programmer		Efficient‖.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OOP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is thoroughly OOP language with robust memory system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Memory errors largely disappear because of the safe pointers and garbage collector. The lack of memory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errors accounts for much of the increased programmer productivity.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Libraries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Code re-use at last -- String, ArrayList, Date, ... available and documented in a standard way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Microsoft vs. 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Microsoft hates Java, since a Java program (portable) is not tied to any particular operating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 If Java is popular, then programs written in Java might promote non-Microsoft operating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systems. For basically the same reason, all the non- Microsoft vendors think Java is a great idea.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Microsoft's C# is very similar to Java, but with some improvements, and some questionable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features added in, and it is not portable in the way Java is. Generally it is considered that C# will be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successful in the way that Visual Basic is: a nice tool to build Microsoft only software.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Microsoft has used its power to try to derail Java somewhat, but Java remains very popular on its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merits.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Is For Real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has a lot of hype, but much of it is deserved. Java is very well matched for many modern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problems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Using more memory and CPU time but less programmer time is an increasingly appealing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tradeoff.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Robustness and portability can be very useful features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general belief is that Java is going to stay here for the next 10-20 years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Majority of the material in this handout is taken from the first handout of course cs193j at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Stanford.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		Java™ Language Environment, White Paper, by James Gosling &amp; Henry McGilton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Java‘s Sun site: 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</a:rPr>
              <a:t>http://java.sun.com</a:t>
            </a:r>
            <a:endParaRPr lang="ko-KR" altLang="en-US" dirty="0" smtClean="0" sz="1103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World: 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</a:rPr>
              <a:t>www.javaworld.com</a:t>
            </a:r>
            <a:endParaRPr lang="ko-KR" altLang="en-US" dirty="0" smtClean="0" sz="1103" u="sng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2" name="Rect 3"/>
          <p:cNvSpPr>
            <a:spLocks noGrp="1" noChangeArrowheads="1"/>
          </p:cNvSpPr>
          <p:nvPr/>
        </p:nvSpPr>
        <p:spPr>
          <a:xfrm rot="0">
            <a:off x="686689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4350" y="4209415"/>
            <a:ext cx="2081530" cy="38068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Lesson 2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Virtual Machine &amp; Runtime Environment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Basic Concept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you write a program in C++ it is known as source code. The C++ compiler converts this source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code into the machine code of underlying system (e.g. Windows) If you want to run that code on Linux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need to recompile it with a Linux based compiler. Due to the difference in compilers, sometimes you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need to modify your code.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has introduced the concept of WORA (write once run anywhere). When you write a java program it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is known as the source code of java. The java compiler does not compile this source code for any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underlying hardware system; rather it compiles it for a software system known as JVM (This compiled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code is known as byte code). We have different JVMs for different systems (such as JVM for Windows,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JVM for Linux etc). When we run our program the JVM interprets (translates) the compiled program into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language understood by the underlying system. So we write our code once and the JVM runs it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everywhere according to the underlying system.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concept is discussed in detail below </a:t>
            </a:r>
            <a:endParaRPr lang="ko-KR" altLang="en-US" dirty="0" smtClean="0" sz="1103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Source </a:t>
            </a:r>
            <a:endParaRPr lang="ko-KR" altLang="en-US" dirty="0" smtClean="0" sz="107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Code </a:t>
            </a:r>
            <a:endParaRPr lang="ko-KR" altLang="en-US" dirty="0" smtClean="0" sz="1103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Compiler javac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Byte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Code </a:t>
            </a:r>
            <a:endParaRPr lang="ko-KR" altLang="en-US" dirty="0" smtClean="0" sz="1103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Interpreter </a:t>
            </a:r>
            <a:endParaRPr lang="ko-KR" altLang="en-US" dirty="0" smtClean="0" sz="1103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Machine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Code </a:t>
            </a:r>
            <a:endParaRPr lang="ko-KR" altLang="en-US" dirty="0" smtClean="0" sz="1103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5" name="Rect 3"/>
          <p:cNvSpPr>
            <a:spLocks noGrp="1" noChangeArrowheads="1"/>
          </p:cNvSpPr>
          <p:nvPr/>
        </p:nvSpPr>
        <p:spPr>
          <a:xfrm rot="0">
            <a:off x="686689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42415" y="5251450"/>
            <a:ext cx="719455" cy="5245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02865" y="5251450"/>
            <a:ext cx="722630" cy="5245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47745" y="5251450"/>
            <a:ext cx="719455" cy="5245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492625" y="5251450"/>
            <a:ext cx="719455" cy="5245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492750" y="5251450"/>
            <a:ext cx="721995" cy="5245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703830" y="5919470"/>
            <a:ext cx="1981200" cy="44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27760" y="6525895"/>
            <a:ext cx="1027430" cy="4629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191385" y="6525895"/>
            <a:ext cx="728345" cy="4629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310255" y="6525895"/>
            <a:ext cx="731520" cy="4629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550410" y="6525895"/>
            <a:ext cx="850900" cy="4629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672455" y="6525895"/>
            <a:ext cx="731520" cy="4629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423670" y="6995160"/>
            <a:ext cx="642620" cy="4813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136265" y="6995160"/>
            <a:ext cx="1054735" cy="4813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904105" y="6995160"/>
            <a:ext cx="917575" cy="4813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8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212975" y="2225040"/>
            <a:ext cx="3495675" cy="7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Bytecode</a:t>
            </a:r>
            <a:endParaRPr lang="ko-KR" altLang="en-US" dirty="0" smtClean="0" sz="1103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programs (Source code) are compiled into a form called Java bytecodes.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Java compiler reads Java language source (.java) files, translates the source into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bytecodes, and places the bytecodes into class (.class) files.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compiler generates one class file for each class contained in java source file. </a:t>
            </a:r>
            <a:endParaRPr lang="ko-KR" altLang="en-US" dirty="0" smtClean="0" sz="1103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Virtual Machine (JVM)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central part of java platform is java virtual machine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bytecode executes by special software known as a "virtual machine".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Most programming languages compile source code directly into machine code, suitable for execution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difference with Java is that it uses bytecode - a special type of machine code.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 JVM executes  Java  bytecodes,  so  Java  bytecodes  can  be  thought  of  as  the machine language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the JVM. </a:t>
            </a:r>
            <a:endParaRPr lang="ko-KR" altLang="en-US" dirty="0" smtClean="0" sz="1103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App1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App5 </a:t>
            </a:r>
            <a:endParaRPr lang="ko-KR" altLang="en-US" dirty="0" smtClean="0" sz="1103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FFFFFF"/>
                </a:solidFill>
                <a:latin typeface="Garamond"/>
                <a:ea typeface="Garamond"/>
              </a:rPr>
              <a:t>Java Virtual Machine</a:t>
            </a:r>
            <a:endParaRPr lang="ko-KR" altLang="en-US" dirty="0" smtClean="0" sz="1103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Windows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Linux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OS X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Solaris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Linux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PowerPC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SPARC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JVM are available for almost all operating systems.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 bytecode is executed by using any operating system‘s JVM. Thus achieve portability. </a:t>
            </a:r>
            <a:endParaRPr lang="ko-KR" altLang="en-US" dirty="0" smtClean="0" sz="1103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8" name="Rect 3"/>
          <p:cNvSpPr>
            <a:spLocks noGrp="1" noChangeArrowheads="1"/>
          </p:cNvSpPr>
          <p:nvPr/>
        </p:nvSpPr>
        <p:spPr>
          <a:xfrm rot="0">
            <a:off x="686689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40990" y="2944495"/>
            <a:ext cx="2227580" cy="20910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Runtime Environment (JRE)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Java Virtual Machine is a part of a large system i.e. Java Runtime Environment (JRE).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Each operating system and CPU architecture requires different JRE.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JRE consists of set of built-in classes, as well as a JVM.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Without an available JRE for a given environment, it is impossible to run Java software. </a:t>
            </a:r>
            <a:endParaRPr lang="ko-KR" altLang="en-US" dirty="0" smtClean="0" sz="1103"/>
          </a:p>
          <a:p>
            <a:pPr marL="0" indent="0" defTabSz="15240" algn="l">
              <a:lnSpc>
                <a:spcPts val="2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World: </a:t>
            </a:r>
            <a:r>
              <a:rPr lang="en-US" altLang="ko-KR" dirty="0" smtClean="0" sz="1103">
                <a:solidFill>
                  <a:srgbClr val="0000FF"/>
                </a:solidFill>
                <a:latin typeface="Garamond"/>
              </a:rPr>
              <a:t>http://www.javaworld.com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Inside Java: </a:t>
            </a:r>
            <a:r>
              <a:rPr lang="en-US" altLang="ko-KR" dirty="0" smtClean="0" sz="1103">
                <a:solidFill>
                  <a:srgbClr val="0000FF"/>
                </a:solidFill>
                <a:latin typeface="Garamond"/>
              </a:rPr>
              <a:t>http://www.javacoffeebreak.com/articles/inside_java</a:t>
            </a:r>
            <a:endParaRPr lang="ko-KR" altLang="en-US" dirty="0" smtClean="0" sz="1103"/>
          </a:p>
          <a:p>
            <a:pPr marL="0" indent="0" defTabSz="15240" algn="l">
              <a:lnSpc>
                <a:spcPts val="2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1" name="Rect 3"/>
          <p:cNvSpPr>
            <a:spLocks noGrp="1" noChangeArrowheads="1"/>
          </p:cNvSpPr>
          <p:nvPr/>
        </p:nvSpPr>
        <p:spPr>
          <a:xfrm rot="0">
            <a:off x="686689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86785" y="3611880"/>
            <a:ext cx="530225" cy="1282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94560" y="3498850"/>
            <a:ext cx="1289050" cy="3384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86785" y="3999230"/>
            <a:ext cx="530225" cy="1308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194560" y="3879850"/>
            <a:ext cx="1289050" cy="3416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483610" y="4458970"/>
            <a:ext cx="533400" cy="1314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194560" y="4316095"/>
            <a:ext cx="1289050" cy="5086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416810" y="4831080"/>
            <a:ext cx="847725" cy="2044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486785" y="6656705"/>
            <a:ext cx="530225" cy="1282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194560" y="6519545"/>
            <a:ext cx="1289050" cy="3416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898390" y="3526790"/>
            <a:ext cx="185420" cy="2952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041775" y="3566160"/>
            <a:ext cx="847090" cy="2012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898390" y="4300855"/>
            <a:ext cx="185420" cy="9658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041775" y="3962400"/>
            <a:ext cx="847090" cy="2044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898390" y="3910330"/>
            <a:ext cx="185420" cy="2959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486785" y="5763895"/>
            <a:ext cx="530225" cy="1276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167255" y="5632450"/>
            <a:ext cx="1316355" cy="3416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4898390" y="6910070"/>
            <a:ext cx="185420" cy="9690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4898390" y="5342890"/>
            <a:ext cx="185420" cy="9664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4044950" y="4410710"/>
            <a:ext cx="792480" cy="8407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4044950" y="5727065"/>
            <a:ext cx="770890" cy="2381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4044950" y="5962015"/>
            <a:ext cx="770890" cy="9232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4044950" y="6882130"/>
            <a:ext cx="770890" cy="3232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8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4044950" y="7202170"/>
            <a:ext cx="770890" cy="32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Program Development and Execution Steps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program normally go through five phases. These are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Edit,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Compile,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Load,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Verify and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Execute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look over all the above mentioned phases in a bit detail. First consider the following figure that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summarizes the all phases of a java program. </a:t>
            </a:r>
            <a:endParaRPr lang="ko-KR" altLang="en-US" dirty="0" smtClean="0" sz="1103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092" b="1">
                <a:solidFill>
                  <a:srgbClr val="000000"/>
                </a:solidFill>
                <a:latin typeface="Garamond"/>
                <a:ea typeface="Garamond"/>
              </a:rPr>
              <a:t>Phase 1</a:t>
            </a:r>
            <a:endParaRPr lang="ko-KR" altLang="en-US" dirty="0" smtClean="0" sz="1092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Compiler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Disk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bytecodes and stores 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Primar</a:t>
            </a:r>
            <a:endParaRPr lang="ko-KR" altLang="en-US" dirty="0" smtClean="0" sz="1074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092" b="1">
                <a:solidFill>
                  <a:srgbClr val="000000"/>
                </a:solidFill>
                <a:latin typeface="Garamond"/>
                <a:ea typeface="Garamond"/>
              </a:rPr>
              <a:t>Phase 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Class Loader</a:t>
            </a:r>
            <a:endParaRPr lang="ko-KR" altLang="en-US" dirty="0" smtClean="0" sz="1074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Class loader puts 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Disk</a:t>
            </a:r>
            <a:endParaRPr lang="ko-KR" altLang="en-US" dirty="0" smtClean="0" sz="1074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092" b="1">
                <a:solidFill>
                  <a:srgbClr val="000000"/>
                </a:solidFill>
                <a:latin typeface="Garamond"/>
                <a:ea typeface="Garamond"/>
              </a:rPr>
              <a:t>Phase 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Bytecode verifier </a:t>
            </a:r>
            <a:endParaRPr lang="ko-KR" altLang="en-US" dirty="0" smtClean="0" sz="1074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Memor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security restrictions.</a:t>
            </a:r>
            <a:endParaRPr lang="ko-KR" altLang="en-US" dirty="0" smtClean="0" sz="1074" b="1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092" b="1">
                <a:solidFill>
                  <a:srgbClr val="000000"/>
                </a:solidFill>
                <a:latin typeface="Garamond"/>
                <a:ea typeface="Garamond"/>
              </a:rPr>
              <a:t>Phase 5</a:t>
            </a:r>
            <a:endParaRPr lang="ko-KR" altLang="en-US" dirty="0" smtClean="0" sz="1092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Memor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understand, possibly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y</a:t>
            </a:r>
            <a:endParaRPr lang="ko-KR" altLang="en-US" dirty="0" smtClean="0" sz="1074" b="1"/>
          </a:p>
          <a:p>
            <a:pPr marL="0" indent="0" defTabSz="15240" algn="l">
              <a:lnSpc>
                <a:spcPts val="1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4" name="Rect 3"/>
          <p:cNvSpPr>
            <a:spLocks noGrp="1" noChangeArrowheads="1"/>
          </p:cNvSpPr>
          <p:nvPr/>
        </p:nvSpPr>
        <p:spPr>
          <a:xfrm rot="0">
            <a:off x="5172710" y="5611495"/>
            <a:ext cx="960755" cy="9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confirms that all </a:t>
            </a:r>
            <a:endParaRPr lang="ko-KR" altLang="en-US" dirty="0" smtClean="0" sz="1074" b="1"/>
          </a:p>
        </p:txBody>
      </p:sp>
      <p:sp>
        <p:nvSpPr>
          <p:cNvPr id="65" name="Rect 3"/>
          <p:cNvSpPr>
            <a:spLocks noGrp="1" noChangeArrowheads="1"/>
          </p:cNvSpPr>
          <p:nvPr/>
        </p:nvSpPr>
        <p:spPr>
          <a:xfrm rot="0">
            <a:off x="4306570" y="3709670"/>
            <a:ext cx="2314575" cy="3136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editor and stored on disk.</a:t>
            </a:r>
            <a:endParaRPr lang="ko-KR" altLang="en-US" dirty="0" smtClean="0" sz="1074" b="1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Memor</a:t>
            </a:r>
            <a:endParaRPr lang="ko-KR" altLang="en-US" dirty="0" smtClean="0" sz="1074" b="1"/>
          </a:p>
          <a:p>
            <a:pPr marL="0" indent="0" defTabSz="15240" algn="l">
              <a:lnSpc>
                <a:spcPts val="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Primar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y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do not violate Java‟s</a:t>
            </a:r>
            <a:endParaRPr lang="ko-KR" altLang="en-US" dirty="0" smtClean="0" sz="1074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bytecodes and translates </a:t>
            </a:r>
            <a:endParaRPr lang="ko-KR" altLang="en-US" dirty="0" smtClean="0" sz="1074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Primary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the computer can </a:t>
            </a:r>
            <a:endParaRPr lang="ko-KR" altLang="en-US" dirty="0" smtClean="0" sz="1074" b="1"/>
          </a:p>
        </p:txBody>
      </p:sp>
      <p:sp>
        <p:nvSpPr>
          <p:cNvPr id="66" name="Rect 3"/>
          <p:cNvSpPr>
            <a:spLocks noGrp="1" noChangeArrowheads="1"/>
          </p:cNvSpPr>
          <p:nvPr/>
        </p:nvSpPr>
        <p:spPr>
          <a:xfrm rot="0">
            <a:off x="2304415" y="3590290"/>
            <a:ext cx="4758690" cy="5584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Editor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Program is created in the 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Compiler creates </a:t>
            </a:r>
            <a:endParaRPr lang="ko-KR" altLang="en-US" dirty="0" smtClean="0" sz="1074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them on disk.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y</a:t>
            </a:r>
            <a:endParaRPr lang="ko-KR" altLang="en-US" dirty="0" smtClean="0" sz="1074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y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bytecodes in memory.</a:t>
            </a:r>
            <a:endParaRPr lang="ko-KR" altLang="en-US" dirty="0" smtClean="0" sz="1074" b="1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Bytecode Verifier</a:t>
            </a:r>
            <a:endParaRPr lang="ko-KR" altLang="en-US" dirty="0" smtClean="0" sz="1074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bytecodes are valid and </a:t>
            </a:r>
            <a:endParaRPr lang="ko-KR" altLang="en-US" dirty="0" smtClean="0" sz="1074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Interpreter reads 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Interpreter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them into a language that </a:t>
            </a:r>
            <a:endParaRPr lang="ko-KR" altLang="en-US" dirty="0" smtClean="0" sz="1074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storing data values as the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program executes.</a:t>
            </a:r>
            <a:endParaRPr lang="ko-KR" altLang="en-US" dirty="0" smtClean="0" sz="1074" b="1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Phase 1: Edit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Phase 1 consists of editing  a  file. This  is accomplished  with  an  editor  program.  The programmer types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program using the editor like notepad, and make corrections if necessary.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the programmer specifies that the file in the editor should be saved, the program is stored on a secondary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storage device such as a disk. Java program file name ends with a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.java extension.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Windows platform, notepad is a simple and commonly used editor for the beginners. However  java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integrated development environments (IDEs) such as NetBeans, Borland JBuilder, JCreator  and  IBM‘s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Ecllipse have built-in editors that are smoothly integrated into the programming environment.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Phase 2: Compile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Phase 2, the programmer gives the command javac to compile the program. The java compiler translates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program into bytecodes, which is the language understood by the java interpreter.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compile a program called Welcome.java, type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javac Welcome.java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at the command window of your system. If the program compiles correctly, a file called Welcome.class is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produced.  This  is  the  file  containing  the  bytecodes  that  will  be interpreted during the execution phase.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Phase 3: Loading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phase 3, the program must first be placed in memory before it can be executed. This is done by the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class</a:t>
            </a:r>
            <a:endParaRPr lang="ko-KR" altLang="en-US" dirty="0" smtClean="0" sz="1103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  <a:ea typeface="Garamond"/>
              </a:rPr>
              <a:t>loader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 which takes the .class file (or files) containing the bytecodes and transfers it to memory. The .class file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can be loaded from a disk on your system or over a network (such as your local university or company network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or even the internet).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Applications (Programs) are loaded into memory and executed using the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java interpreter</a:t>
            </a:r>
            <a:endParaRPr lang="ko-KR" altLang="en-US" dirty="0" smtClean="0" sz="1103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via the command java. When executing a Java application called Welcome, the command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Welcome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Invokes the interpreter for the Welcome application and causes the class loader to load information used in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Welcome program. </a:t>
            </a:r>
            <a:endParaRPr lang="ko-KR" altLang="en-US" dirty="0" smtClean="0" sz="1103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9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Phase 4: Verify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Before the bytecodes in an application are executed by the java interpreter, they are verified by the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bytecode verifier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Phase 4. This ensures that the bytecodes for class that are loaded form the internet (referred to as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downloaded classes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)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are valid and that they do not violate Java‘s security restrictions.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enforces strong security because java programs arriving over the network should not be able to cause damage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your files and your system (as computer viruses might).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Phase 5: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Finally in phase 5, the computer, under the control of its CPU, interprets the program one bytecode at a time.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Thus performing the actions specified by the program. </a:t>
            </a:r>
            <a:endParaRPr lang="ko-KR" altLang="en-US" dirty="0" smtClean="0" sz="1103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Programs may not work on the first try. Each of the preceding phases can fail because of various errors. This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would cause the java program to print  an  error  message. The programmer would return to the edit phase,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make the necessary corrections and proceed through the remaining phases again to determine id the corrections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 properly. </a:t>
            </a:r>
            <a:endParaRPr lang="ko-KR" altLang="en-US" dirty="0" smtClean="0" sz="1103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-----------------------------------------------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Java™ How to Program 5th edition by Deitel &amp; Deitel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Sun Java online tutorial: 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</a:rPr>
              <a:t>	http://java.sun.com/docs/books/tutorial/java/index.html</a:t>
            </a:r>
            <a:endParaRPr lang="ko-KR" altLang="en-US" dirty="0" smtClean="0" sz="1103" u="sng"/>
          </a:p>
          <a:p>
            <a:pPr marL="0" indent="0" defTabSz="15240" algn="l">
              <a:lnSpc>
                <a:spcPts val="2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2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Installation and Environment Setting</a:t>
            </a:r>
            <a:endParaRPr lang="ko-KR" altLang="en-US" dirty="0" smtClean="0" sz="1103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Installation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Download the latest version j2se5.0 (java 2 standard edition) from 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</a:rPr>
              <a:t>http://java.sun.com</a:t>
            </a:r>
            <a:endParaRPr lang="ko-KR" altLang="en-US" dirty="0" smtClean="0" sz="1103" u="sng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or get it from any other source like CD.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j2se also called jdk (java development kit). You can also use the previous versions like jdk 1.4 or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1.3 etc. but it is recommended that you use either jdk1.4 or jdk5.0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Install j2se5.0 on your system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For the rest of this handout, assume that j2se is installed in  C:\Program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 u="sng">
                <a:solidFill>
                  <a:srgbClr val="000000"/>
                </a:solidFill>
                <a:latin typeface="Garamond"/>
                <a:ea typeface="Garamond"/>
              </a:rPr>
              <a:t>Files\Java\jdk1.5.0 </a:t>
            </a:r>
            <a:endParaRPr lang="ko-KR" altLang="en-US" dirty="0" smtClean="0" sz="1103" u="sng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u="sng" b="1">
                <a:solidFill>
                  <a:srgbClr val="000000"/>
                </a:solidFill>
                <a:latin typeface="Garamond"/>
                <a:ea typeface="Garamond"/>
              </a:rPr>
              <a:t>Environment  Setting</a:t>
            </a:r>
            <a:endParaRPr lang="ko-KR" altLang="en-US" dirty="0" smtClean="0" sz="1074" u="sng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Once you successfully installed the j2se, the next step is environment or path setting. You can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accomplish this in either of two ways.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Temporary Path Setting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Open  the  command  prompt  from  Start  Æ  Programs  Æ  Accessories  Æ Comman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Prompt. The command prompt screen would be opened in front of you.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Write the command on the command prompt according to the following format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path = &lt; java installation directory\bin &gt;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So, according to handout, the command will look like this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path = C:\Program Files\Java\jdk1.5.0\bin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Test whether path has been set or not, write javac and press ENTER. If the list ofn b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options displayed as shown in the below figure means that you have successfully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completed the steps of path setting.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above procedure is illustrates in the given below picture. </a:t>
            </a:r>
            <a:endParaRPr lang="ko-KR" altLang="en-US" dirty="0" smtClean="0" sz="1103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5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5655" y="981710"/>
            <a:ext cx="5489575" cy="26149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31390" y="6059170"/>
            <a:ext cx="2623820" cy="26092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The issue with the temporary path setting is you have to repeat the above explained procedure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again and again each time you open a new command prompt window. To avoid this overhead, it is better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set your path permanently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Permanent Path Setting</a:t>
            </a:r>
            <a:endParaRPr lang="ko-KR" altLang="en-US" dirty="0" smtClean="0" sz="1103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Windows NT (XP, 2000), you can set the permanent environment variable.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Right click on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my computer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icon click on properties as shown below </a:t>
            </a:r>
            <a:endParaRPr lang="ko-KR" altLang="en-US" dirty="0" smtClean="0" sz="1103"/>
          </a:p>
          <a:p>
            <a:pPr marL="0" indent="0" defTabSz="15240" algn="l">
              <a:lnSpc>
                <a:spcPts val="2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8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88135" y="1240790"/>
            <a:ext cx="3907155" cy="35382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89760" y="6163310"/>
            <a:ext cx="3298190" cy="13925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System Properties frame would appeared as shown in the picture </a:t>
            </a:r>
            <a:endParaRPr lang="ko-KR" altLang="en-US" dirty="0" smtClean="0" sz="1103"/>
          </a:p>
          <a:p>
            <a:pPr marL="0" indent="0" defTabSz="15240" algn="l">
              <a:lnSpc>
                <a:spcPts val="3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Select  the  advanced  tab  followed  by  clicking  the  Environment  Variable button.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Environment variables frame would be displayed in front of you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Locate the Path variable in the System or user variables, if it is present there, select it by single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click. Press Edit button. The following dialog box would be appeared. </a:t>
            </a:r>
            <a:endParaRPr lang="ko-KR" altLang="en-US" dirty="0" smtClean="0" sz="1103"/>
          </a:p>
          <a:p>
            <a:pPr marL="0" indent="0" defTabSz="15240" algn="l">
              <a:lnSpc>
                <a:spcPts val="1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Write; C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:\Program  Files\Java\jdk1.5.0\bin 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at  the  end  of  the  value  field. Press OK button.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Remember to write semicolon (;) before writing the path for java installation directory as illustrate in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above figure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If Path variable does not exist, click the New button.  Write variable name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―PATH‖, variable value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C:\Program Files\Java\jdk1.5.0\bin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and press OK button.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81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Now open the command prompt and write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javac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 press enter button. You see the list of options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would be displayed.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After setting the path permanently, you have no need to set the path for each new opened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command prompt.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Entire material for this handout is taken from the book JAVA A Lab Course by Umair Javed. This material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available just for the use of VU students of the course Web Design and Development and not for any other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commercial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4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84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9200" y="3166745"/>
            <a:ext cx="5334000" cy="22498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First Program in 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Like any other programming language, the java programming language is used to create applications. So, we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start from building a classical 	―Hello World‖ application, which is generally used as the first program for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learning any new language.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u="sng" b="1">
                <a:solidFill>
                  <a:srgbClr val="000000"/>
                </a:solidFill>
                <a:latin typeface="Garamond"/>
                <a:ea typeface="Garamond"/>
              </a:rPr>
              <a:t>HelloWorldApp</a:t>
            </a:r>
            <a:endParaRPr lang="ko-KR" altLang="en-US" dirty="0" smtClean="0" sz="1074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Open notepad editor from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Start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Æ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ProgarmFiles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Æ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Accessories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Æ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Notepad.</a:t>
            </a:r>
            <a:endParaRPr lang="ko-KR" altLang="en-US" dirty="0" smtClean="0" sz="1103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Write the following code into it.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Don‘t copy paste the given below code. Probably it gives errors and you can‘t able to remove them at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beginning stage.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The HelloWorldApp class implements an application that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simply displays "Hello World!" to the standard output.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HelloWorldApp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main(String[] args) {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//Display the string. No global main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endParaRPr lang="ko-KR" altLang="en-US" dirty="0" smtClean="0" sz="107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To save your program, move to File menu and choose save as option.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Save your program as 	―HelloWorldApp.java‖ in some directory. Make sure to add double quotes around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name while saving your program.  For this example create a folder known as ―examples‖ in D: drive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Name of file must match the name of the public class in the file (at line 4). Moreover, it is case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sensitive. For example, if your class name is MyClass, than file name must be MyClass. Otherwise 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compiler will refuse to compile the program.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the rest of this handout, we assume that program is saved in D:\examples directory. </a:t>
            </a:r>
            <a:endParaRPr lang="ko-KR" altLang="en-US" dirty="0" smtClean="0" sz="1103"/>
          </a:p>
          <a:p>
            <a:pPr marL="0" indent="0" defTabSz="15240" algn="l">
              <a:lnSpc>
                <a:spcPts val="1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87" name="Rect 3"/>
          <p:cNvSpPr>
            <a:spLocks noGrp="1" noChangeArrowheads="1"/>
          </p:cNvSpPr>
          <p:nvPr/>
        </p:nvSpPr>
        <p:spPr>
          <a:xfrm rot="0">
            <a:off x="1871345" y="4669790"/>
            <a:ext cx="1894205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System.out.println(―Hello World‖); </a:t>
            </a:r>
            <a:endParaRPr lang="ko-KR" altLang="en-US" dirty="0" smtClean="0" sz="1103"/>
          </a:p>
        </p:txBody>
      </p:sp>
      <p:sp>
        <p:nvSpPr>
          <p:cNvPr id="88" name="Rect 3"/>
          <p:cNvSpPr>
            <a:spLocks noGrp="1" noChangeArrowheads="1"/>
          </p:cNvSpPr>
          <p:nvPr/>
        </p:nvSpPr>
        <p:spPr>
          <a:xfrm rot="0">
            <a:off x="1136650" y="4819015"/>
            <a:ext cx="5514975" cy="4355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26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4" u="sng" b="1">
                <a:solidFill>
                  <a:srgbClr val="000000"/>
                </a:solidFill>
                <a:latin typeface="Garamond"/>
                <a:ea typeface="Garamond"/>
              </a:rPr>
              <a:t>HelloWorldApp  Described</a:t>
            </a:r>
            <a:endParaRPr lang="ko-KR" altLang="en-US" dirty="0" smtClean="0" sz="1074" u="sng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Lines 1-3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Like in C++, You can add multiple line comments that are ignored by the compiler.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Lines 4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4 declares the class name as HelloWorldApp. In java, every line of code must reside inside class. This 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also the name of our program (HelloWorldApp.java). The compiler creates the HelloWorldApp.class if this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program successfully gets compiled.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Lines 5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5 is where the program execution  starts.  The  java  interpreter  must  find  this defined  exactly  as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given or it will refuse to run the program.  (However  you  can change the name of parameter that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passed to main. i.e. you can write String[] argv or String[] some Param instead of String[] args)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Other programming languages, notably C++ also use the main( ) declaration as the starting point for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execution. However the main function in C++ is global and reside outside of all classes where as in Java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main function must reside inside a class. In java there are no global variables or functions. The various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parts of this main function declaration will be covered at the end of this handout.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Lines 6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Again like C++, you can also add single line comment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Lines 7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7  illustrates  the  method  call.  The println(  )  method  is  used  to  print something on the console.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this example println( ) method takes a string argument and writes it to the standard output i.e. console.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Lines 8-9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8-9 of the program, the two braces, close the method main( ) and the class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HelloWorldApp respectively. </a:t>
            </a:r>
            <a:endParaRPr lang="ko-KR" altLang="en-US" dirty="0" smtClean="0" sz="1103"/>
          </a:p>
          <a:p>
            <a:pPr marL="0" indent="0" defTabSz="15240" algn="l">
              <a:lnSpc>
                <a:spcPts val="1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91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5655" y="4343400"/>
            <a:ext cx="5050155" cy="26485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  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Compiling and Running HelloWorldApp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Open  the  command  prompt  from 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Start 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Æ 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Program  Files 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Æ 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Accessories. 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alternatively you can write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cmd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 the run command window.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Write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cd..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to came out from any folder, and cd [folder name] to move inside the specified directory. To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move from one drive to another, use [Drive Letter]: See figure given below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After reaching to the folder or directory that contains your source code, in our case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HelloWorldApp.java.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Use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“javac”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on the command line to compile the source file (―.java‖ file).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D:\examples&gt; javac HelloWorld.java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If program gets successfully compiled, it will create a new file in the same directory named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HelloWorldApp.class that contains the byte-code.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Use ―java‖ on the command line to run the compiled .class file. Note ―.class‖ would be added with the file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D:\examples&gt; java HelloWorld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You can see the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Hello World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would be printed on the console. Hurrah! You are successful in writing,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compiling and executing your first program in java ☺</a:t>
            </a:r>
            <a:endParaRPr lang="ko-KR" altLang="en-US" dirty="0" smtClean="0" sz="1103"/>
          </a:p>
          <a:p>
            <a:pPr marL="0" indent="0" defTabSz="15240" algn="l">
              <a:lnSpc>
                <a:spcPts val="2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Points to Remember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Recompile the class after making any changes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Save your program before compilation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Only run that class using java command that contains the main method, because program executions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always starts form main </a:t>
            </a:r>
            <a:endParaRPr lang="ko-KR" altLang="en-US" dirty="0" smtClean="0" sz="1103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94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An Idiom Explained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will see the following line of code often: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– public static void main(String args[]) { …}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About main()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―main‖ is the function from which your program starts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Why public?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Since main method is  called by the JVM  that is why it is kept public so that it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accessible from outside. Remember private methods are only accessible from within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Why static?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Every Java program starts when the JRE  (Java  Run  Time Environment) calls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main method of that program. If main is not static then the JRE have to create 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of the class in which main method is present and call the main method on that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(In OOP based languages method are called using the name of object if they are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 static). It is made static so that the JRE can call it without creating an object.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Also to ensure that there is only one copy of the main method per class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Why void?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Indicates that main ( ) does not return anything.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What is String args[] ?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Way of specifying input (often called command-line arguments) at startup of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application. More on it latter </a:t>
            </a:r>
            <a:endParaRPr lang="ko-KR" altLang="en-US" dirty="0" smtClean="0" sz="1103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Entire material for this handout is taken from the book JAVA A Lab Course by Umair Javed. This material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available just for the use of VU students of the course Web Design and Development and not for any other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commercial purpose with 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97" name="Rect 3"/>
          <p:cNvSpPr>
            <a:spLocks noGrp="1" noChangeArrowheads="1"/>
          </p:cNvSpPr>
          <p:nvPr/>
        </p:nvSpPr>
        <p:spPr>
          <a:xfrm rot="0">
            <a:off x="6455410" y="9018905"/>
            <a:ext cx="12636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3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Learning Basics</a:t>
            </a:r>
            <a:endParaRPr lang="ko-KR" altLang="en-US" dirty="0" smtClean="0" sz="1103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Strings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string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is commonly considered to be a sequence of characters stored in memory and accessible as a unit.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Strings in java are represented as objects.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String Concatenation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―+‖ operator is used to concatenate strings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System.out.pritln(―Hello‖ + ―World‖) will print Hello World on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 concatenated  with  any  other  data  type  such  as  int  will  also  convert  that datatype to String and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result will be a concatenated String displayed on console. For example,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int i = 4;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int j = 5;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 (―Hello‖ + i)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will print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Hello 4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on screen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However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System,.out..println( i+j) 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will print 9 on the console because both i and j are of type int. </a:t>
            </a:r>
            <a:endParaRPr lang="ko-KR" altLang="en-US" dirty="0" smtClean="0" sz="1103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Comparing Strings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comparing Strings never use == operator, use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equals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of String class.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– == operator compares addresses (shallow comparison) while equals compares values (deep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comparison)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E.g string1.equals(string2) </a:t>
            </a:r>
            <a:endParaRPr lang="ko-KR" altLang="en-US" dirty="0" smtClean="0" sz="1103"/>
          </a:p>
          <a:p>
            <a:pPr marL="0" indent="0" defTabSz="15240" algn="l">
              <a:lnSpc>
                <a:spcPts val="1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00" name="Rect 3"/>
          <p:cNvSpPr>
            <a:spLocks noGrp="1" noChangeArrowheads="1"/>
          </p:cNvSpPr>
          <p:nvPr/>
        </p:nvSpPr>
        <p:spPr>
          <a:xfrm rot="0">
            <a:off x="6455410" y="9018905"/>
            <a:ext cx="12636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19530" y="6958330"/>
            <a:ext cx="100965" cy="946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76655" y="5093335"/>
            <a:ext cx="4727575" cy="16516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String concatenation and comparison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StringTest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main(String[] args)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i = 4;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j = 5;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System.out.println("Hello" + i); // will print Hello4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System.out.println(i + j); // will print 9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s1 = new String (―pakistan‖);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s2 = ―pakistan‖;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(s1 == s2)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System.out.println(―comparing string using == operator‖);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(s1.equals( s2) 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System.out.println(―comparing string using equal method‖);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execution of the above program, following output will produce </a:t>
            </a:r>
            <a:endParaRPr lang="ko-KR" altLang="en-US" dirty="0" smtClean="0" sz="1103"/>
          </a:p>
          <a:p>
            <a:pPr marL="0" indent="0" defTabSz="15240" algn="l">
              <a:lnSpc>
                <a:spcPts val="3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03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31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81785" y="1688465"/>
            <a:ext cx="4605655" cy="20300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81785" y="4121150"/>
            <a:ext cx="4605655" cy="5911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Taking in Command Line Arguments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Java, the program can be written to accept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command-line-arguments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command-line arguments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This Java application illustrates the use of Java command-line arguments. */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CmdLineArgsApp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main(String[]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args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){ //main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System.out.println(‖First argument ‖ + args[0]);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System.out.println(‖Second argument ‖ + args[1]);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class.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execute this program, we pass two arguments as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someMethod( ) {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x; //local variable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System.out.println(x); // compile time error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These parameters should be separated by space. 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parameters that we pass from the command line are stored as Strings inside the ―args‖ array. You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can see that the type of ―args‖ array is String.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Passing any number of arguments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java, array knows their size by using the length property.  By using, length property we can determine how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many arguments were passed. The following code example can accept any number of arguments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This Java application illustrates the use of Java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command-line arguments. 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AnyArgsApp {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main(String[]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args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){ //main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for(int i=0; i &lt;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args.length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; i++)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System.out.println(―Argument:‖ + i + ―value‖ +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args[i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]);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class. </a:t>
            </a:r>
            <a:endParaRPr lang="ko-KR" altLang="en-US" dirty="0" smtClean="0" sz="1103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06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32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54480" y="1731010"/>
            <a:ext cx="8826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C:\java AnyArgsApp i can pass any number of arguments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Argument:0 value i Argument:1 value can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Argument:2 value pass Argument:3 value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any Argument:4 value number Argument:5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value of Argument:6 value arguments</a:t>
            </a:r>
            <a:endParaRPr lang="ko-KR" altLang="en-US" dirty="0" smtClean="0" sz="1074" b="1"/>
          </a:p>
          <a:p>
            <a:pPr marL="0" indent="0" defTabSz="15240" algn="l">
              <a:lnSpc>
                <a:spcPts val="48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09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33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800" y="5855335"/>
            <a:ext cx="1868170" cy="24415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50210" y="6087110"/>
            <a:ext cx="3889375" cy="22885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Primitives vs Objects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Everything in Java is an ―Object‖, as every class by default inherits from class 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―Object‖ ,  except a few primitive data types, which are there for efficiency reasons.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Primitive Data Types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Primitive Data types of java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boolean, byte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1 byte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char, short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2 bytes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int, float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4 bytes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long, double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8 bytes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Primitive data types are generally used for local variables, parameters and instance variables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(properties of an object)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Primitive datatypes are located on the stack and we can only access their value, while objects are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located on heap and we have a reference to these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Also primitive data types are always passed by value while objects are always passed by reference in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java. There is no C++ like methods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– void someMethod(int &amp;a, int &amp; b ) // not available in java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Stack vs. Heap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Stack and heap are two important memory areas. Primitives are  created  on  the  stack while  objects  are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created on heap. This  will  be  further  clarified  by  looking  at  the following diagram that is taken from Java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Lab Course.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int num = 5;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Student s = new Student();</a:t>
            </a:r>
            <a:endParaRPr lang="ko-KR" altLang="en-US" dirty="0" smtClean="0" sz="1072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5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0F59</a:t>
            </a:r>
            <a:endParaRPr lang="ko-KR" altLang="en-US" dirty="0" smtClean="0" sz="107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0F59 </a:t>
            </a:r>
            <a:endParaRPr lang="ko-KR" altLang="en-US" dirty="0" smtClean="0" sz="1103"/>
          </a:p>
          <a:p>
            <a:pPr marL="0" indent="0" defTabSz="1524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12" name="Rect 3"/>
          <p:cNvSpPr>
            <a:spLocks noGrp="1" noChangeArrowheads="1"/>
          </p:cNvSpPr>
          <p:nvPr/>
        </p:nvSpPr>
        <p:spPr>
          <a:xfrm rot="0">
            <a:off x="3721735" y="5906770"/>
            <a:ext cx="2929890" cy="3252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Stack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Heap</a:t>
            </a:r>
            <a:endParaRPr lang="ko-KR" altLang="en-US" dirty="0" smtClean="0" sz="1103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num </a:t>
            </a:r>
            <a:endParaRPr lang="ko-KR" altLang="en-US" dirty="0" smtClean="0" sz="1103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ali</a:t>
            </a:r>
            <a:endParaRPr lang="ko-KR" altLang="en-US" dirty="0" smtClean="0" sz="1072"/>
          </a:p>
          <a:p>
            <a:pPr marL="0" indent="0" defTabSz="15240" algn="l">
              <a:lnSpc>
                <a:spcPts val="1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34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10130" y="1801495"/>
            <a:ext cx="2548255" cy="19234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Wrapper Classes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Each  primitive  data  type  has  a  corresponding  object  (wrapper  class).  These  wrapper classes  provides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additional functionality (conversion, size checking etc.), which a primitive data type cannot provide. </a:t>
            </a:r>
            <a:endParaRPr lang="ko-KR" altLang="en-US" dirty="0" smtClean="0" sz="1103"/>
          </a:p>
          <a:p>
            <a:pPr marL="0" indent="0" defTabSz="15240" algn="l">
              <a:lnSpc>
                <a:spcPts val="20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Wrapper Use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can create an object of Wrapper class using a String or a primitive data type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Integer num = new Integer(4);  or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Integer num = new Integer(―4‖);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num is an object over here not a primitive data type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can get a primitive data type from a Wrapper using the corresponding value function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primNum = num.intValue();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Converting Strings to Numeric Primitive Data Types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convert a string containing digits to a primitive data type, wrapper classes can help.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parseXxx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method can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 used to convert a String to the corresponding primitive data type.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value = ―532‖;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d = Integer.parseInt(value);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value = ―3.14e6‖;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double d = Double.parseDouble(value); </a:t>
            </a:r>
            <a:endParaRPr lang="ko-KR" altLang="en-US" dirty="0" smtClean="0" sz="1103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15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35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2160" y="1444625"/>
            <a:ext cx="3688080" cy="5607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42160" y="2002790"/>
            <a:ext cx="3688080" cy="7131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42160" y="2712720"/>
            <a:ext cx="3688080" cy="7073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42160" y="3425825"/>
            <a:ext cx="3688080" cy="3721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table summarizes the parser methods available to a java programmer. </a:t>
            </a:r>
            <a:endParaRPr lang="ko-KR" altLang="en-US" dirty="0" smtClean="0" sz="1103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956" b="1">
                <a:solidFill>
                  <a:srgbClr val="000000"/>
                </a:solidFill>
                <a:latin typeface="Arial"/>
              </a:rPr>
              <a:t>Data Type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956" b="1">
                <a:solidFill>
                  <a:srgbClr val="000000"/>
                </a:solidFill>
                <a:latin typeface="Arial"/>
              </a:rPr>
              <a:t>Convert String using either </a:t>
            </a:r>
            <a:r>
              <a:rPr lang="en-US" altLang="ko-KR" dirty="0" smtClean="0" sz="956" b="1">
                <a:solidFill>
                  <a:srgbClr val="000000"/>
                </a:solidFill>
                <a:latin typeface="Helvetica"/>
                <a:ea typeface="Helvetica"/>
              </a:rPr>
              <a:t>…</a:t>
            </a:r>
            <a:endParaRPr lang="ko-KR" altLang="en-US" dirty="0" smtClean="0" sz="956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byte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Byte.parseByte(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95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new Byte(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).byteValue()</a:t>
            </a:r>
            <a:endParaRPr lang="ko-KR" altLang="en-US" dirty="0" smtClean="0" sz="95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short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Short.parseShort(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95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new Short(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).shortValue()</a:t>
            </a:r>
            <a:endParaRPr lang="ko-KR" altLang="en-US" dirty="0" smtClean="0" sz="95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int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Integer.parseInteger(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	) </a:t>
            </a:r>
            <a:endParaRPr lang="ko-KR" altLang="en-US" dirty="0" smtClean="0" sz="95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new Integer(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).intValue()</a:t>
            </a:r>
            <a:endParaRPr lang="ko-KR" altLang="en-US" dirty="0" smtClean="0" sz="95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long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Long.parseLong(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95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new Long(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).longValue()</a:t>
            </a:r>
            <a:endParaRPr lang="ko-KR" altLang="en-US" dirty="0" smtClean="0" sz="95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float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Float.parseFloat(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95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new Float(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).floatValue()</a:t>
            </a:r>
            <a:endParaRPr lang="ko-KR" altLang="en-US" dirty="0" smtClean="0" sz="95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double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Double.parseDouble(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95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new Double(</a:t>
            </a:r>
            <a:r>
              <a:rPr lang="en-US" altLang="ko-KR" dirty="0" smtClean="0" sz="953" i="1">
                <a:solidFill>
                  <a:srgbClr val="000000"/>
                </a:solidFill>
                <a:latin typeface="Arial"/>
              </a:rPr>
              <a:t>string </a:t>
            </a:r>
            <a:r>
              <a:rPr lang="en-US" altLang="ko-KR" dirty="0" smtClean="0" sz="953">
                <a:solidFill>
                  <a:srgbClr val="000000"/>
                </a:solidFill>
                <a:latin typeface="Arial"/>
              </a:rPr>
              <a:t>).doubleValue()</a:t>
            </a:r>
            <a:endParaRPr lang="ko-KR" altLang="en-US" dirty="0" smtClean="0" sz="953"/>
          </a:p>
          <a:p>
            <a:pPr marL="0" indent="0" defTabSz="15240" algn="l">
              <a:lnSpc>
                <a:spcPts val="4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18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36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6510" y="2200910"/>
            <a:ext cx="91440" cy="78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Taking Input / 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 far, we learned how to print something on console. Now the time has come to learn how to print on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GUI. Taking input from console is not as straightforward as in C++. Initially 	we‘ll study how to take input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through GUI (by using JOPtionPane class).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program will take input (a number) through GUI and prints its square on the console as well on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GUI.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public class InputOutputTest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public static void main(String[] args)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//takes input through GUI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String nput = JOptionPane.showInputDialog("Enter number");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int number = Integer.parseInt(input);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int square = number * number;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//Display square on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System.out.println("square:" + square);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//Display square on GUI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JOptionPane.showMessageDialog(null, "square:"+ square);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System.exit(0);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}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line 1, swing package was imported because it contains the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JOptionPane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class that will be used for taking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input from GUI and displaying output to GUI. It is similar to header classes of C++.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line 5, showInputDialog method is called of JOptionPane class by passing string argument that will be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displayed on GUI (dialog box). This method always returns back a String regardless of whatever you entered (int,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float, double, char) in the input filed.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Our task is to print square of a number on console, so we first convert a string into a number by calling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parseInt method of Integer wrapper class. This is what we done on line number 6.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11 will display square on GUI (dialog box) by using showMessageDialog method of JOptionPane class.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 argument passed to this method is null and the second argument must be a String. Here we use string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concatenation.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12 is needed to return the control back to command prompt whenever we use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JoptionPane class.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21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37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4520" y="1103630"/>
            <a:ext cx="4001770" cy="18345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58950" y="3389630"/>
            <a:ext cx="4132580" cy="19532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46250" y="5751830"/>
            <a:ext cx="4112260" cy="20935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6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24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38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Selection &amp; Control Structure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if-else and switch selection structures are exactly similar to we have in C++. All relational operators that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use in C++ to perform comparisons are also available in java with same behavior. Likewise for, while and do-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 control structures are alike to C++.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Reference:</a:t>
            </a:r>
            <a:endParaRPr lang="ko-KR" altLang="en-US" dirty="0" smtClean="0" sz="1074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Java tutorial: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 u="sng" b="1">
                <a:solidFill>
                  <a:srgbClr val="0000FF"/>
                </a:solidFill>
                <a:latin typeface="Garamond"/>
                <a:ea typeface="Garamond"/>
              </a:rPr>
              <a:t>http://www.dickbaldwin.com/java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Example code, their explanations and corresponding figures for this handout are taken from the book JAVA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Lab Course by Umair Javed. This material is available just for the use of VU students of the course Web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Design and Development and not for any other commercial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40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27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39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4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Object Oriented Programming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is fundamentally object oriented. Every line of code you write in java must be inside a class (not counting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directives). OOP fundamental stones Encapsulation, Inheritance and Polymorphism etc. are all fully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supported by java.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OOP Vocabulary Review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Classes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Definition or a blueprint of a user-defined datatype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Prototypes for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Think of it as a map of the building on a paper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Objects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Nouns, things in the world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Anything we can put a thumb 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Objects are instantiated or created from class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Constructor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– A special method that is implicitly invoked. Used to create an Object (that is, an Instance of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Class) and to initialize it.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Attributes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– Properties an object has.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Methods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– Actions that an object can do </a:t>
            </a:r>
            <a:endParaRPr lang="ko-KR" altLang="en-US" dirty="0" smtClean="0" sz="1103"/>
          </a:p>
          <a:p>
            <a:pPr marL="0" indent="0" defTabSz="15240" algn="l">
              <a:lnSpc>
                <a:spcPts val="2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30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40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2815" y="1005840"/>
            <a:ext cx="5934075" cy="26606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Defining a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22" b="1">
                <a:solidFill>
                  <a:srgbClr val="000000"/>
                </a:solidFill>
                <a:latin typeface="Garamond"/>
                <a:ea typeface="Garamond"/>
              </a:rPr>
              <a:t>Point 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{</a:t>
            </a:r>
            <a:endParaRPr lang="ko-KR" altLang="en-US" dirty="0" smtClean="0" sz="1074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private int xCord;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inastance variables and symbolic constants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private int yCord;</a:t>
            </a:r>
            <a:endParaRPr lang="ko-KR" altLang="en-US" dirty="0" smtClean="0" sz="1074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Point (……) {……}</a:t>
            </a:r>
            <a:endParaRPr lang="ko-KR" altLang="en-US" dirty="0" smtClean="0" sz="1074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display (……)</a:t>
            </a:r>
            <a:endParaRPr lang="ko-KR" altLang="en-US" dirty="0" smtClean="0" sz="1074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{</a:t>
            </a:r>
            <a:endParaRPr lang="ko-KR" altLang="en-US" dirty="0" smtClean="0" sz="1074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……….</a:t>
            </a:r>
            <a:endParaRPr lang="ko-KR" altLang="en-US" dirty="0" smtClean="0" sz="1074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 //end of class</a:t>
            </a:r>
            <a:endParaRPr lang="ko-KR" altLang="en-US" dirty="0" smtClean="0" sz="1074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Comparison with C++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Some important points to consider when defining a class in java as you probably noticed from the above given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skeleton are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There are no global variables or functions. Everything resides inside a class. Remember we wrote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our  main method inside a class.  (For example, in HelloWorldApp program)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Specify access modifiers (public, private or protected) for each member method or data members at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every line.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								public: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accessible anywhere by anyone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								private: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Only accessible within this class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								protect: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accessible only to the class itself and to 	it‘s subclasses or other classes in the same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package.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								default: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default access if no access modifier is provided. Accessible to all classes in the same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package.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There is no semicolon (;) at the end of class.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All methods (functions) are written inline. There are no separate header and implementation files.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Automatic initialization of class level data members if you do not initialize them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Primitives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Numeric (int, float etc) with zero </a:t>
            </a:r>
            <a:endParaRPr lang="ko-KR" altLang="en-US" dirty="0" smtClean="0" sz="1103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33" name="Rect 3"/>
          <p:cNvSpPr>
            <a:spLocks noGrp="1" noChangeArrowheads="1"/>
          </p:cNvSpPr>
          <p:nvPr/>
        </p:nvSpPr>
        <p:spPr>
          <a:xfrm rot="0">
            <a:off x="4486910" y="2099945"/>
            <a:ext cx="2335530" cy="70592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constructor – how to create and initialize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objects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methods – how to manipulate those objects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(may or may not include its own ―driver‖,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i.e., main( )) </a:t>
            </a:r>
            <a:endParaRPr lang="ko-KR" altLang="en-US" dirty="0" smtClean="0" sz="1103"/>
          </a:p>
          <a:p>
            <a:pPr marL="0" indent="0" defTabSz="15240" algn="l">
              <a:lnSpc>
                <a:spcPts val="4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41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Char with null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Boolean with false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References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With null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Remember, the same rule is not applied to local variables (defined inside method body). Using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local variable without initialization is a compile time error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someMethod( ) {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x; //local variable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System.out.println(x); // compile time error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Same name as class name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Does not have a return type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No initialization list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JVM provides a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zero argument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(default) constructor only if a class doesn‘t define it‘s own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Destructors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Are  not  required  in  java  class  because  memory  management  is  the responsibility of JVM. </a:t>
            </a:r>
            <a:endParaRPr lang="ko-KR" altLang="en-US" dirty="0" smtClean="0" sz="1103"/>
          </a:p>
          <a:p>
            <a:pPr marL="0" indent="0" defTabSz="15240" algn="l">
              <a:lnSpc>
                <a:spcPts val="3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36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42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5264150"/>
            <a:ext cx="88265" cy="819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Task – Defining a Student class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example will illustrate how to write a class. We want to write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―Student‖ class that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should be able to store the following characteristics of student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Roll No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Name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Provide default, parameterized and copy constructors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Provide standard getters/setters (discuss shortly) for instance variables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Make sure, roll no has never assigned a negative value i.e. ensuring the correct state of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Provide print method capable of printing student object on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Getters / Setters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attributes of a class are generally taken as private or protected. So to access them outside of a class,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convention is followed knows  as  getters  &amp;  setters.  These  are generally  public  methods.  The  words 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set</a:t>
            </a:r>
            <a:endParaRPr lang="ko-KR" altLang="en-US" dirty="0" smtClean="0" sz="1103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get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are used prior to the  name  of  an attribute.  Another  important  purpose  for  writing  getter  &amp;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setters to control the values assigned to an attribute.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Student Class Code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 File Student.java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Student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String name;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int rollNo;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Standard Setters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setName (String name)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Note the masking of class level variable rollNo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setRollNo (int rollNo)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(rollNo &gt; 0)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this.rollNo = rollNo;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}else {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Standard Getters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String getName ( 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39" name="Rect 3"/>
          <p:cNvSpPr>
            <a:spLocks noGrp="1" noChangeArrowheads="1"/>
          </p:cNvSpPr>
          <p:nvPr/>
        </p:nvSpPr>
        <p:spPr>
          <a:xfrm rot="0">
            <a:off x="1722120" y="6958330"/>
            <a:ext cx="997585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this.rollNo = 100; </a:t>
            </a:r>
            <a:endParaRPr lang="ko-KR" altLang="en-US" dirty="0" smtClean="0" sz="1103"/>
          </a:p>
        </p:txBody>
      </p:sp>
      <p:sp>
        <p:nvSpPr>
          <p:cNvPr id="140" name="Rect 3"/>
          <p:cNvSpPr>
            <a:spLocks noGrp="1" noChangeArrowheads="1"/>
          </p:cNvSpPr>
          <p:nvPr/>
        </p:nvSpPr>
        <p:spPr>
          <a:xfrm rot="0">
            <a:off x="1554480" y="5806440"/>
            <a:ext cx="5097145" cy="335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this.name = name; </a:t>
            </a:r>
            <a:endParaRPr lang="ko-KR" altLang="en-US" dirty="0" smtClean="0" sz="1103"/>
          </a:p>
          <a:p>
            <a:pPr marL="0" indent="0" defTabSz="1524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return name; </a:t>
            </a:r>
            <a:endParaRPr lang="ko-KR" altLang="en-US" dirty="0" smtClean="0" sz="1103"/>
          </a:p>
          <a:p>
            <a:pPr marL="0" indent="0" defTabSz="15240" algn="l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43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890270"/>
            <a:ext cx="88265" cy="78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 getRollNo ( 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Default Constructor public Student()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―not set‖;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parameterized Constructor for a new student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Student(String name, int rollNo)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setName(name);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//call to setter of name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Copy Constructor for a new student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Student(Student s)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s.name;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method used to display method on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print () {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System.out.print("Student name: " +name);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3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43" name="Rect 3"/>
          <p:cNvSpPr>
            <a:spLocks noGrp="1" noChangeArrowheads="1"/>
          </p:cNvSpPr>
          <p:nvPr/>
        </p:nvSpPr>
        <p:spPr>
          <a:xfrm rot="0">
            <a:off x="1471930" y="902335"/>
            <a:ext cx="5179695" cy="82569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rollNo; </a:t>
            </a:r>
            <a:endParaRPr lang="ko-KR" altLang="en-US" dirty="0" smtClean="0" sz="1103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rollNo = 100; </a:t>
            </a:r>
            <a:endParaRPr lang="ko-KR" altLang="en-US" dirty="0" smtClean="0" sz="1103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setRollNo(rollNo); //call to setter of rollNo </a:t>
            </a:r>
            <a:endParaRPr lang="ko-KR" altLang="en-US" dirty="0" smtClean="0" sz="1103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rollNo = s.rollNo; </a:t>
            </a:r>
            <a:endParaRPr lang="ko-KR" altLang="en-US" dirty="0" smtClean="0" sz="1103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System.out.println(", roll no: " +rollNo); </a:t>
            </a:r>
            <a:endParaRPr lang="ko-KR" altLang="en-US" dirty="0" smtClean="0" sz="1103"/>
          </a:p>
          <a:p>
            <a:pPr marL="0" indent="0" defTabSz="15240" algn="l">
              <a:lnSpc>
                <a:spcPts val="3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44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0970" y="6727190"/>
            <a:ext cx="91440" cy="819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Using a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Objects of a class are always created on heap using the 	―new‖ operator followed by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 = new Student ( ); // no pointer operator ―*‖ between Student and s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Only String constant is an exception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greet = ―Hello‖ ;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No new operator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However you can also use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greet2 = new String(―Hello‖);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Members  of  a  class  (  member  variables  and  methods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also known as instance variables/methods ) are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accessed using ―.‖ operator. There is no ―Æ‖ operator in java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s.setName(―Ali‖);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sÆsetName(―Ali‖) is incorrect and will not compile in java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Objects are always passed by reference and primitives are always passed by value in java.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Task - Using Student Class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Create objects of student class by calling default, parameterize and copy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Call student class various methods on these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Student client code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 File Test.java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This class create Student class objects and demonstrates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how to call various methods on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Test{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args[]){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Make two student obejcts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s1 = new Student("ali", 15);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s2 = new Student(); //call to default costructor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s1.print(); // display ali and 15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s2.print(); // display not set and 100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s2.setName("usman"); 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s2.setRollNo(20);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System.out.print("Student name:" + s2.getName());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 rollNo:" + s2.getRollNo());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46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45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890270"/>
            <a:ext cx="88265" cy="787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9575" y="5022850"/>
            <a:ext cx="4431665" cy="220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System.out.println("calling copy constructor");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s3 = new Student(s2); //call to copy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s2.print();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s3.print();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s3.setRollNo(-10); //Roll No of s3 would be set to 100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s3.print();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/*NOTE: public vs. private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statement like "b.rollNo = 10;" will not compile in a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client of the Student class when rollNo is declared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protected or private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of main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Compile both classes using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javac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commad. Run Test class using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java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command. </a:t>
            </a:r>
            <a:endParaRPr lang="ko-KR" altLang="en-US" dirty="0" smtClean="0" sz="1103"/>
          </a:p>
          <a:p>
            <a:pPr marL="0" indent="0" defTabSz="15240" algn="l">
              <a:lnSpc>
                <a:spcPts val="3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49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46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More on Classes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Static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class can have static variables  and  methods.  Static  variables  and  methods  are associated with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itself and are not tied to any particular object. Therefore statics can be accessed without instantiating 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object.  Static  methods  and  variables  are generally accessed by class name.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most important aspect of statics is that they occur as  a  single  copy  in  the  class regardless of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number of objects. Statics are shared by all objects of a class. Non static methods and instance variables are not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accessible inside a static method because no this reference is available inside a static method.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have already used some static variables and methods. Examples are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out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.println(―some text‖); -- out is a static variable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JOptionPane.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showMessageDialog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(null, ―some text‖); -- showMessageDialog is a static method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Garbage Collection &amp; Finalize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performs garbage collection and eliminates the need to free objects explicitly. When an object has no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references  to  it  anywhere  except  in  other  objects  that  are  also unreferenced, its space can be reclaimed.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Before an object is destroyed, it might be necessary for the object to perform some action. For example: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close an opened file. In such a case, define a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finalize()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method with the actions to be performed before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is destroyed.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finalize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a finalize method is defined in a class, Java run time calls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finalize()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whenever it is about to recycle 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of that class. It is noteworthy that a garbage collector reclaims objects in any order or never reclaims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them. We cannot predict and assure when garbage collector will get back the memory of unreferenced objects.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garbage collector can be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requested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to run by calling System.gc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method. It is not necessary that it accepts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request and run. </a:t>
            </a:r>
            <a:endParaRPr lang="ko-KR" altLang="en-US" dirty="0" smtClean="0" sz="1103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52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47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4611370"/>
            <a:ext cx="8572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using static &amp; finalize ()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want to count exact number of objects in memory of a Student class the one defined earlier. For this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purpose, we‘ll modify Student class.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a static variable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countStudents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that helps in maintaining the count of student objects.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Write a getter for this static variable. (Remember, the getter also must be static one. Hoping so, you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know the grounds).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all constructors, write a code that will increment the countStudents by one.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Override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finalize()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and decrement the countStudents variable by one.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Override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toString()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Object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is a superclass (base or parent) class of all the classes in java by default. This class has already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  <a:ea typeface="Garamond"/>
              </a:rPr>
              <a:t>finalize()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and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toString()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method (used to convert an object state into string). Therefore  we  are  actually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overriding these methods over here. (We‘ll talk more about these in the handout on inheritance).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By making all above modifications, student class will look like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 File Student.java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Student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String name;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int rollNo;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private static int countStudents = 0;</a:t>
            </a:r>
            <a:endParaRPr lang="ko-KR" altLang="en-US" dirty="0" smtClean="0" sz="1074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Standard Setters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setName (String name)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Note the masking of class level variable rollNo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setRollNo (int rollNo)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(rollNo &gt; 0)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this.rollNo = rollNo;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}else {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Standard Getters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String getName ( 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 getRollNo ( 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55" name="Rect 3"/>
          <p:cNvSpPr>
            <a:spLocks noGrp="1" noChangeArrowheads="1"/>
          </p:cNvSpPr>
          <p:nvPr/>
        </p:nvSpPr>
        <p:spPr>
          <a:xfrm rot="0">
            <a:off x="1722120" y="6739255"/>
            <a:ext cx="997585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this.rollNo = 100; </a:t>
            </a:r>
            <a:endParaRPr lang="ko-KR" altLang="en-US" dirty="0" smtClean="0" sz="1103"/>
          </a:p>
        </p:txBody>
      </p:sp>
      <p:sp>
        <p:nvSpPr>
          <p:cNvPr id="156" name="Rect 3"/>
          <p:cNvSpPr>
            <a:spLocks noGrp="1" noChangeArrowheads="1"/>
          </p:cNvSpPr>
          <p:nvPr/>
        </p:nvSpPr>
        <p:spPr>
          <a:xfrm rot="0">
            <a:off x="1554480" y="5586730"/>
            <a:ext cx="5097145" cy="3572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this.name = name; </a:t>
            </a:r>
            <a:endParaRPr lang="ko-KR" altLang="en-US" dirty="0" smtClean="0" sz="1103"/>
          </a:p>
          <a:p>
            <a:pPr marL="0" indent="0" defTabSz="1524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/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name;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return rollNo; </a:t>
            </a:r>
            <a:endParaRPr lang="ko-KR" altLang="en-US" dirty="0" smtClean="0" sz="1103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48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890270"/>
            <a:ext cx="88265" cy="78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gettter of static countStudents variable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static int getCountStudents(){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Default Constructor public Student()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―not set‖;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rollNo = 100;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countStudents += 1;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parameterized Constructor for a new student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Student(String name, int rollNo)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setName(name);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//call to setter of name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setRollNo(rollNo); //call to setter of rollNo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countStudents += 1;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Copy Constructor for a new student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Student(Student s)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s.name;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rollNo = s.rollNo;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countStudents += 1;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method used to display method on console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print ()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System.out.print("Student name: " +name);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toString method of java.lang.Object class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String toString(){</a:t>
            </a:r>
            <a:endParaRPr lang="ko-KR" altLang="en-US" dirty="0" smtClean="0" sz="1074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finalize method of Object class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finalize(){</a:t>
            </a:r>
            <a:endParaRPr lang="ko-KR" altLang="en-US" dirty="0" smtClean="0" sz="1074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Next, we‘ll write driver class. After creating two objects of student class, we deliberately loose object‘s reference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requests the JVM to run garbage collector to reclaim the memory. By printing countStudents value, we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can confirm that. Coming up code is of the Test class. </a:t>
            </a:r>
            <a:endParaRPr lang="ko-KR" altLang="en-US" dirty="0" smtClean="0" sz="1103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59" name="Rect 3"/>
          <p:cNvSpPr>
            <a:spLocks noGrp="1" noChangeArrowheads="1"/>
          </p:cNvSpPr>
          <p:nvPr/>
        </p:nvSpPr>
        <p:spPr>
          <a:xfrm rot="0">
            <a:off x="1471930" y="1304290"/>
            <a:ext cx="5179695" cy="7854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return countStudents;</a:t>
            </a:r>
            <a:endParaRPr lang="ko-KR" altLang="en-US" dirty="0" smtClean="0" sz="1074" b="1"/>
          </a:p>
          <a:p>
            <a:pPr marL="0" indent="0" defTabSz="15240" algn="l">
              <a:lnSpc>
                <a:spcPts val="2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System.out.println(", roll no: " +rollNo); </a:t>
            </a:r>
            <a:endParaRPr lang="ko-KR" altLang="en-US" dirty="0" smtClean="0" sz="1103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return “name: ” + name + “ RollNo: ” + rollNo;</a:t>
            </a:r>
            <a:endParaRPr lang="ko-KR" altLang="en-US" dirty="0" smtClean="0" sz="1074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countStudents -= 1;</a:t>
            </a:r>
            <a:endParaRPr lang="ko-KR" altLang="en-US" dirty="0" smtClean="0" sz="1074" b="1"/>
          </a:p>
          <a:p>
            <a:pPr marL="0" indent="0" defTabSz="15240" algn="l">
              <a:lnSpc>
                <a:spcPts val="1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49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1298575"/>
            <a:ext cx="8572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 File Test.java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Test{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args[]){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numObjects;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current number of objects i.e 0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numObjs = Student.getCountStudents();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System.out.println(―Students Objects‖ + numObjects);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first student object &amp; printing its values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s1 = new Student("ali", 15);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System.out.println(―Student: ‖ + s1.toString());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current number of objects i.e. 1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numObjs = Student.getCountStudents();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System.out.println(―Students Objects‖ + numObjects);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second student object &amp; printing its values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s2 = new Student("usman", 49);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implicit call to toString()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System.out.println(―Student: ‖ + s2);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current number of objects i.e. 2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numObjs = Student.getCountStudents();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System.out.println(―Students Objects‖ + numObjects);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loosing object reference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s1 = null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requesting JVM to run Garbage collector but there is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no guarantee that it will run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System.gc();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current number of objects i.e. unpredictable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numObjs = Student.getCountStudents();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System.out.println(―Students Objects‖ + numObjects);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of main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1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62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50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93190" y="1667510"/>
            <a:ext cx="4272915" cy="21240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compilation and execution of the above program is given below. Note that output may be different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one given here because it  all  depends  whether  garbage  collector reclaims the memory or not. Luckily, in my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it does. </a:t>
            </a:r>
            <a:endParaRPr lang="ko-KR" altLang="en-US" dirty="0" smtClean="0" sz="1103"/>
          </a:p>
          <a:p>
            <a:pPr marL="0" indent="0" defTabSz="15240" algn="l">
              <a:lnSpc>
                <a:spcPts val="2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Reference: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Sun java tutorial: 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</a:rPr>
              <a:t>http://java.sun.com/docs/books/tutorial/java</a:t>
            </a:r>
            <a:endParaRPr lang="ko-KR" altLang="en-US" dirty="0" smtClean="0" sz="1103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Thinking in java by Bruce Eckle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Beginning Java2 by Ivor Hortan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  code,  their  explanations  and corresponding  execution  figures  for  this handout  are  taken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from the book JAVA A Lab Course by Umair Javed. This material is available just for the use of VU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students of the course Web Design and Development and not for any other commercial purpose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2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65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51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5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Inheritance</a:t>
            </a:r>
            <a:endParaRPr lang="ko-KR" altLang="en-US" dirty="0" smtClean="0" sz="1074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general, inheritance is used to implement a ―is-a‖ relationship. Inheritance saves code rewriting for a client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thus promotes reusability.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java parent or base class is referred as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super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 while child or derived class is known as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sub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class. </a:t>
            </a:r>
            <a:endParaRPr lang="ko-KR" altLang="en-US" dirty="0" smtClean="0" sz="1103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Comparison with C++</a:t>
            </a:r>
            <a:endParaRPr lang="ko-KR" altLang="en-US" dirty="0" smtClean="0" sz="1103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only supports single inheritance. As a result a class can only inherit from one class at one time.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Keyword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extends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is used instead of ―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: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‖ for inheritance.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131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All functions are virtual by default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All java classes inherit from Object class (more on it later).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explicitly call the super class constructor, use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super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keyword. It‘s important to remember that call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super class constructor must be first line.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Keyword super is also used to call overridden methods. </a:t>
            </a:r>
            <a:endParaRPr lang="ko-KR" altLang="en-US" dirty="0" smtClean="0" sz="1103"/>
          </a:p>
          <a:p>
            <a:pPr marL="0" indent="0" defTabSz="15240" algn="l">
              <a:lnSpc>
                <a:spcPts val="3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68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52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1880870"/>
            <a:ext cx="88265" cy="819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using inheritance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We‘ll use three classes to get familiar you with inheritance. First one is Employee class. This will act as super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class. Teacher class will inherit from Employee class and Test class is driver class that contains main method. Let‘s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look at them one by one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Employee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protected int id;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protected String name;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//parameterized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Employee(int id, String name){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this.id = id;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this.name = name;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//default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Employee(){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calling parameterized constructor of same (Employee)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class by using keyword this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//setters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setId (int id)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this.id = id;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setName (String name)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this.name = name;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//getters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 getId ()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id;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String getName () {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name;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displaying employee object on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display(){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System.out.println(―in employee display method‖);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System.out.println("Employee id:" + id + " name:" + name);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//overriding object‘s class toString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String toString()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System.out.println(―in employee toString method‖);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71" name="Rect 3"/>
          <p:cNvSpPr>
            <a:spLocks noGrp="1" noChangeArrowheads="1"/>
          </p:cNvSpPr>
          <p:nvPr/>
        </p:nvSpPr>
        <p:spPr>
          <a:xfrm rot="0">
            <a:off x="1225550" y="3877310"/>
            <a:ext cx="5426075" cy="52819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(10, ―not set‖);</a:t>
            </a:r>
            <a:endParaRPr lang="ko-KR" altLang="en-US" dirty="0" smtClean="0" sz="1103"/>
          </a:p>
          <a:p>
            <a:pPr marL="0" indent="0" defTabSz="15240" algn="l">
              <a:lnSpc>
                <a:spcPts val="2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return "id:" + id + "name:" + name; </a:t>
            </a:r>
            <a:endParaRPr lang="ko-KR" altLang="en-US" dirty="0" smtClean="0" sz="1103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53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1606550"/>
            <a:ext cx="88265" cy="819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Teacher class extends from Employee class. Therefore Teacher class is a subclass of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Employee. The teacher class has an additional attribute i.e. qualification.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Teacher extends Employee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String qual;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//default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Teacher ()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//implicit call to superclass default construct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qual = "";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//parameterized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Teacher(int i, String n, String q){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//call to superclass param const must be first line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super(i,n);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qual = q;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//setter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setQual (String qual){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this.qual = qual;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//getter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String getQual(){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qual;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//overriding display method of Employee class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display(){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System.out.println("in teacher's display method");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super.display();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//call to superclass display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System.out.println("Teacher qualification:" + qual);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//overriding toString method of Employee class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String toString()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System.out.println("in teacher's toString method");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emp =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super.toString();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emp +" qualification:" + qual;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74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54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1600200"/>
            <a:ext cx="88265" cy="79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0600" y="5523230"/>
            <a:ext cx="5083810" cy="30657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Objects of Employee &amp; Teacher class are created inside main method in Test class. Later calls are made to display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toString method using these objects.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Test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args[]){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System.out.println("making object of employee");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Employee e = new Employee(89, "khurram ahmad");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System.out.println("making object of teacher");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Teacher t = new Teacher (91, "ali raza", "phd");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e.display(); //call to Employee class display method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t.display(); //call to Teacher class display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calling employee class toString method explicitly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System.out.println("Employee: " +e.toString());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calling teacher class toString implicitly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System.out.println("Teacher: " + t);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of main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2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77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55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04415" y="3295015"/>
            <a:ext cx="3084195" cy="25876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Object – The Root Class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Od Java classes. For  user  defined  classes,  its  not necessary to mention the Object class as a super class,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doesbject class in Java is a superclass for all other classes  defined in Java's  class libraries,  as  well  as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user-define it automatically for you.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class Hierarchy of Employee class is shown below. Object is  the  super  class  of Employee class and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Teacher is a subclass of Employee class. We can make another class Manager that can also extends from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Employee class. </a:t>
            </a:r>
            <a:endParaRPr lang="ko-KR" altLang="en-US" dirty="0" smtClean="0" sz="1103"/>
          </a:p>
          <a:p>
            <a:pPr marL="0" indent="0" defTabSz="15240" algn="l">
              <a:lnSpc>
                <a:spcPts val="10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Object</a:t>
            </a:r>
            <a:endParaRPr lang="ko-KR" altLang="en-US" dirty="0" smtClean="0" sz="1103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Employe</a:t>
            </a:r>
            <a:endParaRPr lang="ko-KR" altLang="en-US" dirty="0" smtClean="0" sz="1103" b="1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Teacher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Manager</a:t>
            </a:r>
            <a:endParaRPr lang="ko-KR" altLang="en-US" dirty="0" smtClean="0" sz="1103" b="1"/>
          </a:p>
          <a:p>
            <a:pPr marL="0" indent="0" defTabSz="15240" algn="l">
              <a:lnSpc>
                <a:spcPts val="2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80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56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5236210"/>
            <a:ext cx="88265" cy="825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Polymorphism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―Polymorphic‖ literally means 		―of multiple shapes‖ and in the context of OOP, polymorphic means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―having multiple behavior‖.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parent class reference can point to the subclass objects because of is-a relationship. For example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Employee reference can point to: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Employee Object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  Teacher Object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Manager Object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polymorphic method results in different actions depending on the object being referenced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  Also known as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late binding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or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run-time binding</a:t>
            </a:r>
            <a:endParaRPr lang="ko-KR" altLang="en-US" dirty="0" smtClean="0" sz="1103" i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using polymorphism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Test class is the modification of last example code.  Same  Employee  &amp;  Teacher classes are used.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Objects of Employee &amp; Teacher class are created inside  main methods and calls are made to display and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toString method using these objects.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Test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args[]){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Make employee references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Employee ref1, ref2;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assign employee object to first employee reference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ref1 = new Employee(89, "khurram ahmad");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is-a relationship, polymorphism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ref2 = new Teacher (91, "ali raza", "phd");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//call to Employee class display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ref1.display();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//call to Teacher class display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ref2.display();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 to Employee class toString method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System.out.println("Employee: " +ref1.toString());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 to Teacher class toString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System.out.println("Teacher: " + ref2.toString());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of main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83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57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5655" y="1240790"/>
            <a:ext cx="5507355" cy="26117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6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86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58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Type Casting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computer science,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type conversion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or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typecasting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refers to changing an entity of one datatype into another.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Type casting can be categorized into two types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Up-casting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Converting a smaller data type into bigger one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Implicit – we don‘t have to do something special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 loss of information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Examples of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		Primitives</a:t>
            </a:r>
            <a:endParaRPr lang="ko-KR" altLang="en-US" dirty="0" smtClean="0" sz="1074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a = 10;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double b = a;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		Classes</a:t>
            </a:r>
            <a:endParaRPr lang="ko-KR" altLang="en-US" dirty="0" smtClean="0" sz="1074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Employee e = new Teacher( );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Down-casting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Converting a bigger data type into smaller one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Explicit – need to mention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Possible loss of information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Examples of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		Primitives</a:t>
            </a:r>
            <a:endParaRPr lang="ko-KR" altLang="en-US" dirty="0" smtClean="0" sz="1074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double a = 7.65;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b =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(int)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a;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		Classes</a:t>
            </a:r>
            <a:endParaRPr lang="ko-KR" altLang="en-US" dirty="0" smtClean="0" sz="1074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Employee e = new Teacher( ); // up-casting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Teacher t =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(Teacher)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e; // down-casting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tutorial: http://java.sun.com/docs/books/tutorial/java/javaOO/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Stanford University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 code, their explanations and corresponding figures for handout 5-1,5-2 are taken from the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book JAVA A Lab Course by Umair Javed. This material is available just for the use of  VU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students of the course Web Design and Development and not for any other commercial purpose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89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59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Lesson 6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Collections</a:t>
            </a:r>
            <a:endParaRPr lang="ko-KR" altLang="en-US" dirty="0" smtClean="0" sz="1074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collection represents group of objects know as its elements. Java has  a built-in support for collections.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Collection classes are similar to STL in C++. An advantage of a collection over an array is that you don‘t need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know the eventual size of the collection in order to add objects to it. The java.util package provides a set of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collection classes that helps a programmer in number of ways. </a:t>
            </a:r>
            <a:endParaRPr lang="ko-KR" altLang="en-US" dirty="0" smtClean="0" sz="1103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Collections Design</a:t>
            </a:r>
            <a:endParaRPr lang="ko-KR" altLang="en-US" dirty="0" smtClean="0" sz="1103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All classes almost provides same methods like get(), size(), isEmpty() etc. These methods will return the object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stored in it, number of objects stored and whether collection contains an object or not respectively.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collections are capable of storing any kind of objects. Collections store references to objects. This is similar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using a void* in C. therefore down casting is required to get the actual type. For example, if string in stored in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collection then to get it back, we write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element = (String)arraylist.get(i);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Collection messages</a:t>
            </a:r>
            <a:endParaRPr lang="ko-KR" altLang="en-US" dirty="0" smtClean="0" sz="1103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Some basic messages (methods) are: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creates a collection with no elements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size()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returns the number of elements in a collection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boolean add(Object)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adds a new element in the collection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returns true if the element is added successfully false otherwise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boolean isEmpty()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returns true if this collection contains no element false otherwise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boolean contains(Object)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returns true if this collection contains the specified element by using iterative search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boolean remove(Object)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removes a single instance of the specified element from this collection, if it is present </a:t>
            </a:r>
            <a:endParaRPr lang="ko-KR" altLang="en-US" dirty="0" smtClean="0" sz="1103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92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60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ArrayList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It‘s like a resizable array. ArrayList actually comes as a replacement the old 	―Vector‖ collection. As we add or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remove elements into or from it, it grows or shrinks over time.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Useful Methods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(Object)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With the help of this method, any object can be added into ArrayList because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is the super class of all classes.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Objects going to add will implicitly up-cast.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get(int index)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Returns the element at the specified position in the list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index ranges from 0 to size()-1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must cast to appropriate type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remove (int index)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Removes the element at the specified position in this list.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Shifts any subsequent elements to the left (subtracts one from their indices).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size( )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Using ArrayList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We‘ll store Student objects in the ArrayList. We are using the same student class which we built in previous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lectures/handouts.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We‘ll add three student objects and later prints all the student objects after retrieving them from ArrayList.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Let‘s look at the code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iport java.util.*;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ArrayListTest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main(String[] args)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arrayList object by calling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ArrayList al= new ArrayList();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three Student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s1 = new Student (―ali‖ , 1);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s2 = new Student (―saad‖ , 2);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s3 = new Student (―raza‖ , 3);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adding elements (Student objects) into arralylist al.add(s1);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al.add(s2);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al.add(s3);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95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61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9640" y="5038090"/>
            <a:ext cx="5208905" cy="18046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checking whether arraylist is empty or not boolean b = al.isEmpty 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(b = = true)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System.out.println(―arraylist is empty‖);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else {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size = al.size();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using loop to iterate. Loops starts from 0 to one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less than size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for (int i=0; i&lt;al.size(); i++ ){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retrieving object from arraylist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s = (Student) al.get(i);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calling student class print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s.print();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// end for loop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1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HashMap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Store elements in the form of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key- value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pair form. A key is associated with each object that is stored. This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allows fast retrieval of that object. Keys are unique.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Useful Methods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put(Object key, Object Value)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						Keys					&amp;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 Values  are  stored  in  the  form  of  objects  (implicit  upcasting  is performed).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Associates the specified value with the specified key in this map.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198" name="Rect 3"/>
          <p:cNvSpPr>
            <a:spLocks noGrp="1" noChangeArrowheads="1"/>
          </p:cNvSpPr>
          <p:nvPr/>
        </p:nvSpPr>
        <p:spPr>
          <a:xfrm rot="0">
            <a:off x="1536065" y="1996440"/>
            <a:ext cx="5115560" cy="7178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System.out.println(―arraylist size: ‖ + size); </a:t>
            </a:r>
            <a:endParaRPr lang="ko-KR" altLang="en-US" dirty="0" smtClean="0" sz="1103"/>
          </a:p>
          <a:p>
            <a:pPr marL="0" indent="0" defTabSz="15240" algn="l">
              <a:lnSpc>
                <a:spcPts val="5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62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If the map previously contained a mapping for this key, the old value is replaced.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get(Object key)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Returns the value to which the specified key is mapped in this identity hash map, or null if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map contains no mapping for this key.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Must downcast to appropriate type when used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size( ) </a:t>
            </a:r>
            <a:endParaRPr lang="ko-KR" altLang="en-US" dirty="0" smtClean="0" sz="1103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using HashMap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this example code, we‘ll store Student objects as values and their rollnos in the form of strings as keys. Same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Student class is used. The code is;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iport java.util.*;</a:t>
            </a:r>
            <a:endParaRPr lang="ko-KR" altLang="en-US" dirty="0" smtClean="0" sz="107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public class HashMapTest {</a:t>
            </a:r>
            <a:endParaRPr lang="ko-KR" altLang="en-US" dirty="0" smtClean="0" sz="107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public static void main(String[] args) {</a:t>
            </a:r>
            <a:endParaRPr lang="ko-KR" altLang="en-US" dirty="0" smtClean="0" sz="1072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 creating HashMap object 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HashMap h= new HashMap();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 creating Student objects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Student s1 = new Student (―ali‖ , 1); Student s2 = new Student (―saad‖ ,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2); Student s3 = new Student (―raza‖ , 6);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 adding elements (Student objects) where roll nos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 are stored as keys and student objects as values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h.put(“one” , s1);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h.put(“two” , s2);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h.put(“six”, s3);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 checking whether hashmap is empty or not boolean  b = h.isEmpty ();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if (b == true) {</a:t>
            </a:r>
            <a:endParaRPr lang="ko-KR" altLang="en-US" dirty="0" smtClean="0" sz="107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System.out.println(―hashmap is empty‖);</a:t>
            </a:r>
            <a:endParaRPr lang="ko-KR" altLang="en-US" dirty="0" smtClean="0" sz="107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} else {</a:t>
            </a:r>
            <a:endParaRPr lang="ko-KR" altLang="en-US" dirty="0" smtClean="0" sz="107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int size = h.size(); 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System.out.println(―hashmap size: ‖ + size);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2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 retrieving student object against rollno two and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 performing downcasting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Student s = (Student)h.get(“two”);</a:t>
            </a:r>
            <a:endParaRPr lang="ko-KR" altLang="en-US" dirty="0" smtClean="0" sz="1074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 calling student‘s class print method s.print();</a:t>
            </a:r>
            <a:endParaRPr lang="ko-KR" altLang="en-US" dirty="0" smtClean="0" sz="1072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01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63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5510" y="2078990"/>
            <a:ext cx="5156835" cy="18954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} // end main</a:t>
            </a:r>
            <a:endParaRPr lang="ko-KR" altLang="en-US" dirty="0" smtClean="0" sz="107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2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J2SE 5.0 new features: http://java.sun.com/j2se/1.5.0/docs/relnotes/features.html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Technical Article: http://java.sun.com/developer/technicalArticles/releases/j2se15/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Beginning Java2 by Ivor Horton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 code, their explanations and corresponding figures for this handout are taken from the book JAVA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Lab Course by Umair Javed. This material is available just for the use of VU students of the course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Web Design and Development and not for any other commercial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2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04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64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Address Book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Warning: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It is strongly advised that you type the code given in this example yourself. Do not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copy/paste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it;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most probably you will get unexpected errors that you have never seen. Some bugs are deliberately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introduced as well to avoid copy- pasting. TAs will not cooperate with you in debugging such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errors☺.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Problem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want to build an address book that is capable of storing name, address &amp; phone number of a person.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Address book provides functionality in the form of a JOptionPane based menu. The feature list includes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Add – to add a new person record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Delete – to delete an existing person record by name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Search – to search a person record by name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Exit – to exit from application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Address book should also support persistence for person records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Approach for Solving Problem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Building a small address book generally involves 3 steps. Let us briefly discuss each step and write a solution code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each step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Step1 – Make PersonInfo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 of all you need to store your desired information for each person. For this you can create a user-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defined data type (i.e. a class). Make a class PersonInfo with name, address and phone number as its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attributes.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Write a parameterized constructor for this class.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Write print method in Person class that displays one person record on a message dialog box. </a:t>
            </a:r>
            <a:endParaRPr lang="ko-KR" altLang="en-US" dirty="0" smtClean="0" sz="1103"/>
          </a:p>
          <a:p>
            <a:pPr marL="0" indent="0" defTabSz="15240" algn="l">
              <a:lnSpc>
                <a:spcPts val="1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07" name="Rect 3"/>
          <p:cNvSpPr>
            <a:spLocks noGrp="1" noChangeArrowheads="1"/>
          </p:cNvSpPr>
          <p:nvPr/>
        </p:nvSpPr>
        <p:spPr>
          <a:xfrm rot="0">
            <a:off x="6455410" y="903414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65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1426210"/>
            <a:ext cx="8826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code for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PersonInfo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 is given below.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PersonInfo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name;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address;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phoneNum;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//parameterized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PersonInfo(String n, String a, String p) {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n;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address = a;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phoneNum = p;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//method for displaying person record on GUI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print( ) {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JOptionPane.showMessageDialog(null, ―name: ‖ + name +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―address:‖ +address + ―phone no:‖ + phoneNum);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 N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ot declaring attributes as private is a bad approach but we have done it to keep things simple here.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Step2 – Make AddressBook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Take the example of daily life; generally address book is used to store more than one person records and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	don‘t know in advance how many records are going to be added into it.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So,  we  need  some  data  structure  that  can  help  us  in  storing  more  than  one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objects without concerning about its size.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ArrayList can be used to achieve the above functionality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Create a class Address Book with an ArrayList as its attribute. This arraylist will be used to store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information of different persons in the form of PersonInfo  Objects. This  class  will  also  provide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  <a:ea typeface="Garamond"/>
              </a:rPr>
              <a:t>addPerson, deletePerson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&amp;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searchPerson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methods. These methods are used for adding new person records,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deleting an existing person record by name and searching among existing person records by name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respectively.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Input/Output will be performed through JOptionPane. </a:t>
            </a:r>
            <a:endParaRPr lang="ko-KR" altLang="en-US" dirty="0" smtClean="0" sz="1103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10" name="Rect 3"/>
          <p:cNvSpPr>
            <a:spLocks noGrp="1" noChangeArrowheads="1"/>
          </p:cNvSpPr>
          <p:nvPr/>
        </p:nvSpPr>
        <p:spPr>
          <a:xfrm rot="0">
            <a:off x="1237615" y="4535170"/>
            <a:ext cx="5414010" cy="4639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66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1252855"/>
            <a:ext cx="88265" cy="79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98575" y="890270"/>
            <a:ext cx="88265" cy="78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code for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AddressBook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 is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java.util.*;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AddressBook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ArrayList persons;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AddressBook ( ) {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persons = new ArrayList();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//add new person record to arraylist after taking input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addPerson( ) {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name =JOptionPane.showInputDialog(―Enter name‖);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add = JOptionPane.showInputDialog(―Enter address‖);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pNum = JOptionPane.showInputDialog(―Enter phone no‖);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//construt new person object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p = new PersonInfo(name, add, pNum);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//add the above PersonInfo object to arraylist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persons.add(p);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//search person record by name by iterating over arraylist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searchPerson (String n)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(int i=0; i&lt; persons.size(); i++) 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p = (PersonInfo)persons.get(i);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( n.equals(p.name) ) {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for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searchPerson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//delete person record by name by iterating over arraylist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deletePerson (String n)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(int i=0; i&lt; persons.size(); i++) 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p = (PersonInfo)persons.get(i);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( n.equals(p.name) ) {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13" name="Rect 3"/>
          <p:cNvSpPr>
            <a:spLocks noGrp="1" noChangeArrowheads="1"/>
          </p:cNvSpPr>
          <p:nvPr/>
        </p:nvSpPr>
        <p:spPr>
          <a:xfrm rot="0">
            <a:off x="1429385" y="6638290"/>
            <a:ext cx="5222240" cy="2847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p.print(); </a:t>
            </a:r>
            <a:endParaRPr lang="ko-KR" altLang="en-US" dirty="0" smtClean="0" sz="1103"/>
          </a:p>
          <a:p>
            <a:pPr marL="0" indent="0" defTabSz="15240" algn="l">
              <a:lnSpc>
                <a:spcPts val="1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persons.remove(i);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67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addperson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method first takes input for name, address and phone number and than construct a PersonInfo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by using the recently taken input values. Then the newly constructed object is added to the arraylist 	–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  <a:ea typeface="Garamond"/>
              </a:rPr>
              <a:t>persons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searchPerson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&amp;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deletePerson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methods are using the same methodology i.e. first they search the required record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by name and than prints his/her detail or delete the record permanently from the ArrayList.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Both the methods are taking string argument, by using this they can perform their search or delete operation.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used for loop for iterating the whole ArrayList. By using the size method of ArrayList, we can control our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loop as ArrayList indexes range starts from 0 to one less than size.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Notice that, inside loop we retrieve each PersonInfo object by using down casting operation. After that we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compare each PersonInfo object‘s name by the one passed to these methods using equal method since Strings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are always being compared using equal method.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Inside if block of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searchPerson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print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is called using PersonInfo object that will display person information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GUI. On the other hand, inside if block of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deletePerson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method, remove method of ArrayList  class  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called that is used to delete record from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persons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i.e. ArrayList. </a:t>
            </a:r>
            <a:endParaRPr lang="ko-KR" altLang="en-US" dirty="0" smtClean="0" sz="1103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Step3 – Make Test class (driver program)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class will contain a main method and an object of AddressBook class.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Build GUI based menu by using switch selection structure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Call appropriate methods of AddressBook class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code for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Test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 is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Test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args[]) 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AddressBook ab = new AddressBook();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input, s;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ch;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 (true)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input = JOptionPane.showInputDialog(―Enter 1 to add ‖ +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―\n Enter 2 to Search \n Enter 3 to Delete― +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―\n Enter 4 to Exit‖);</a:t>
            </a:r>
            <a:endParaRPr lang="ko-KR" altLang="en-US" dirty="0" smtClean="0" sz="1103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16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68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2496185"/>
            <a:ext cx="88265" cy="825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ch = Integer.parseInt(input);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switch (ch) 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1: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ab.addPerson();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break;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2: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 = JOptionPane.showInputDialog(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ab.searchPerson(s);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break;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3: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 = JOptionPane.showInputDialog(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―Enter name to delete ‖);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ab.deletePerson(s);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break;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4: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while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Note that we use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infinite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while loop that would never end or stop given that our program should only exit when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user enters 4 i.e. exit option.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Compile all three classes and run Test class. Bravo, you successfully completed the all basic three steps. Enjoy!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07">
                <a:solidFill>
                  <a:srgbClr val="000000"/>
                </a:solidFill>
                <a:latin typeface="Garamond"/>
                <a:ea typeface="Garamond"/>
              </a:rPr>
              <a:t>☺</a:t>
            </a:r>
            <a:r>
              <a:rPr lang="en-US" altLang="ko-KR" dirty="0" smtClean="0" sz="1013" b="1">
                <a:solidFill>
                  <a:srgbClr val="000000"/>
                </a:solidFill>
                <a:latin typeface="Garamond"/>
              </a:rPr>
              <a:t>.</a:t>
            </a:r>
            <a:endParaRPr lang="ko-KR" altLang="en-US" dirty="0" smtClean="0" sz="1013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Entire content for this handout are taken from the book JAVA A Lab Course by Umair Javed. This material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available just for the use of VU students of the course Web Design and Development and not for any other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commercial purpose. </a:t>
            </a:r>
            <a:endParaRPr lang="ko-KR" altLang="en-US" dirty="0" smtClean="0" sz="1103"/>
          </a:p>
          <a:p>
            <a:pPr marL="0" indent="0" defTabSz="15240" algn="l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19" name="Rect 3"/>
          <p:cNvSpPr>
            <a:spLocks noGrp="1" noChangeArrowheads="1"/>
          </p:cNvSpPr>
          <p:nvPr/>
        </p:nvSpPr>
        <p:spPr>
          <a:xfrm rot="0">
            <a:off x="1694815" y="2350135"/>
            <a:ext cx="4956810" cy="71354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―Enter name to search ‖);</a:t>
            </a:r>
            <a:endParaRPr lang="ko-KR" altLang="en-US" dirty="0" smtClean="0" sz="1103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System.exit(0); </a:t>
            </a:r>
            <a:endParaRPr lang="ko-KR" altLang="en-US" dirty="0" smtClean="0" sz="1103"/>
          </a:p>
          <a:p>
            <a:pPr marL="0" indent="0" defTabSz="15240" algn="l">
              <a:lnSpc>
                <a:spcPts val="4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69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7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Intro to Exceptions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Types of Errors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Generally, you can come across three types of errors while developing software. These are Syntax, Logic &amp;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Runtime errors.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Syntax Errors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Arise because the rules of the language are not followed.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Logic Errors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Indicates that logic used for coding doesn‘t produce expected output.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Runtime Errors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Occur because the program tries to perform an operation that is impossible to complete.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Cause exceptions and may be handled at runtime (while you are running the program)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example divide by zero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What is an Exception?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 exception is an event that usually signals an erroneous situation at run time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Exceptions are wrapped up as objects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program can deal with an exception in one of three ways: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 ignore it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handle it where it occurs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handle it an another place in the program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Why handle Exceptions?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Helps to separate error handling code from main logic (the normal code you write) of the program.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different sort/type of exceptions can  arise,  by  handling  exceptions  we  can distinguish  between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them and  write appropriate  handling code  for  each type  for example we can differently handle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exceptions that occur due to division by Zero and exceptions that occur due to non-availability of a file.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not handled properly, program might terminate. </a:t>
            </a:r>
            <a:endParaRPr lang="ko-KR" altLang="en-US" dirty="0" smtClean="0" sz="1103"/>
          </a:p>
          <a:p>
            <a:pPr marL="0" indent="0" defTabSz="15240" algn="l">
              <a:lnSpc>
                <a:spcPts val="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22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8720" y="3846830"/>
            <a:ext cx="5187950" cy="41967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Exceptions in Java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 exception in java is represented as an object that‘s created when an abnormal situation arises in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program. Note that an error is also represented as an object in Java, but usually represents 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unrecoverable situation and should not be caught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 exception  object  stores  information  about  the  nature  of  the  problem.  For example, due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network problem or class not found etc.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All exceptions in java are inherited from a class know as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Throwable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103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u="sng" b="1">
                <a:solidFill>
                  <a:srgbClr val="000000"/>
                </a:solidFill>
                <a:latin typeface="Garamond"/>
                <a:ea typeface="Garamond"/>
              </a:rPr>
              <a:t>Exception  Hierarchy</a:t>
            </a:r>
            <a:endParaRPr lang="ko-KR" altLang="en-US" dirty="0" smtClean="0" sz="1074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diagram is an abridged version of Exception class hierarchy </a:t>
            </a:r>
            <a:endParaRPr lang="ko-KR" altLang="en-US" dirty="0" smtClean="0" sz="1103"/>
          </a:p>
          <a:p>
            <a:pPr marL="0" indent="0" defTabSz="15240" algn="l">
              <a:lnSpc>
                <a:spcPts val="4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25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Types of Exceptions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Exceptions can be broadly categorized into two types, Unc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hecked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&amp;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Checked Exceptions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Unchecked Exceptions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Subclasses of RuntimeException and Error.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Does not require explicit handling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Run-time errors are internal to your program, so you can get rid of them by debugging your code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example, null pointer exception; index out of bounds exception; division by zero exception; ...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Checked Exceptions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Must be caught or declared in a throws clause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Compile will issue an error if not handled appropriately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Subclasses of Exception other than subclasses of RuntimeException.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Other arrive from external factors, and cannot be solved by debugging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Communication from an external resource – e.g. a file server or database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How Java handles Exceptions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handles exceptions via 5 keywords.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try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catch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finally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throw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&amp;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throws.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try block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Write code inside this block which could generate errors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catch block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Code inside this block is used for exception handling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When the exception is raised from try block, only than catch block would execute.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finally block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This block always executes whether exception occurs or not.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Write clean up code here, like resources (connection with file or database) that are opened may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need to be closed. </a:t>
            </a:r>
            <a:endParaRPr lang="ko-KR" altLang="en-US" dirty="0" smtClean="0" sz="1103"/>
          </a:p>
          <a:p>
            <a:pPr marL="0" indent="0" defTabSz="15240" algn="l">
              <a:lnSpc>
                <a:spcPts val="1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28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6470" y="1057910"/>
            <a:ext cx="5031740" cy="30873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basic structure of using try – catch – finally block is shown in the picture below: </a:t>
            </a:r>
            <a:endParaRPr lang="ko-KR" altLang="en-US" dirty="0" smtClean="0" sz="1103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try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//try block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{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 write code that could generate exceptions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catch 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(&lt;exception to be caught&gt;)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//catch block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{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//write code for exception handling</a:t>
            </a:r>
            <a:endParaRPr lang="ko-KR" altLang="en-US" dirty="0" smtClean="0" sz="107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……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.......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catch 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(&lt;exception to be caught&gt;)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//catch block</a:t>
            </a:r>
            <a:endParaRPr lang="ko-KR" altLang="en-US" dirty="0" smtClean="0" sz="1074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{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//code for exception handling</a:t>
            </a:r>
            <a:endParaRPr lang="ko-KR" altLang="en-US" dirty="0" smtClean="0" sz="107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finally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//finally block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{</a:t>
            </a:r>
            <a:endParaRPr lang="ko-KR" altLang="en-US" dirty="0" smtClean="0" sz="107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//any clean-up code, release the acquired resources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2"/>
          </a:p>
          <a:p>
            <a:pPr marL="0" indent="0" defTabSz="15240" algn="l">
              <a:lnSpc>
                <a:spcPts val="4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31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throw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To manually throw an exception, keyword throw is used.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we are not covering throw clause in this handout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throws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If method is not interested in handling the exception than it can throw back the exception to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caller method using throws keyword.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Any exception that is thrown out of a method must be specified as such by a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throws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clause. </a:t>
            </a:r>
            <a:endParaRPr lang="ko-KR" altLang="en-US" dirty="0" smtClean="0" sz="1103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 tutorial by Sun: http://java.sun.com/docs/books/turorial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Beginning Java2 by Ivor Hortan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Thinking in Java by Bruce Eckle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CS193j Stanford University </a:t>
            </a:r>
            <a:endParaRPr lang="ko-KR" altLang="en-US" dirty="0" smtClean="0" sz="1103"/>
          </a:p>
          <a:p>
            <a:pPr marL="0" indent="0" defTabSz="15240" algn="l">
              <a:lnSpc>
                <a:spcPts val="3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34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2270760"/>
            <a:ext cx="85725" cy="79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6950" y="4776470"/>
            <a:ext cx="5099050" cy="12369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Code Examples of Exception Handling</a:t>
            </a:r>
            <a:endParaRPr lang="ko-KR" altLang="en-US" dirty="0" smtClean="0" sz="1103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u="sng" b="1">
                <a:solidFill>
                  <a:srgbClr val="000000"/>
                </a:solidFill>
                <a:latin typeface="Garamond"/>
                <a:ea typeface="Garamond"/>
              </a:rPr>
              <a:t>Unchecked  Exceptions</a:t>
            </a:r>
            <a:endParaRPr lang="ko-KR" altLang="en-US" dirty="0" smtClean="0" sz="1074" u="sng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UcException.java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program takes one command line argument and prints it on the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UcException.java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UcException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System.out.println(args[0]);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  we   compile   &amp;   execute   the   above   program   without   passing   any   command   line argument,   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ArrayIndexOutOfBoundsException  would  be  thrown.  This  is shown in the following picture </a:t>
            </a:r>
            <a:endParaRPr lang="ko-KR" altLang="en-US" dirty="0" smtClean="0" sz="1103"/>
          </a:p>
          <a:p>
            <a:pPr marL="0" indent="0" defTabSz="15240" algn="l">
              <a:lnSpc>
                <a:spcPts val="1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Why?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Since we have passed no argument, therefore the size of String args[ ] is zero, and we have tried to access the first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element (first element has index zero) of this array.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From the output window, you can find out, which code line causes the exception to be raised. In the above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example, it is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System.out.println(args[0]);</a:t>
            </a:r>
            <a:endParaRPr lang="ko-KR" altLang="en-US" dirty="0" smtClean="0" sz="1072"/>
          </a:p>
          <a:p>
            <a:pPr marL="0" indent="0" defTabSz="15240" algn="l">
              <a:lnSpc>
                <a:spcPts val="1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37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56030" y="1606550"/>
            <a:ext cx="88265" cy="787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64920" y="6434455"/>
            <a:ext cx="4504690" cy="13011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Modify UcException.java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Though  it  is  not  mandatory  to  handle  unchecked  exceptions  we  can  still  handle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Unchecked Exceptions if we want to. These modifications are shown in bold.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UcException.java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UcException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try {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System.out.println(args[0]);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catch (IndexOutOfBoundsExceptoin ex) {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System.out.println(“You forget to pass command line argument”);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possible exception that can be thrown is IndexOutOfBoundsException, so we handle it in the catch block.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an exception occurs, such as IndexOutOfBoundsException in this case, then an object of type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IndexOutOfBoundesException  is   created  and  it  is  passed  to   the corresponding  catch  block  (i.e. 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catch block which is capable of handling  this exception). The catch block receives the exception object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inside a variable which is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ex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 this case. It can be any name; it is similar to the parameter declared in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 signature. It receives the object of exception type (IndexOutOfBoundsExceptoin) it is declared.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we execute the modified program by passing command line  argument,  the  program would display on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console the provided argument. After that if we execute this program again without passing command line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argument, this time information message would be displayed which is written inside catch block. </a:t>
            </a:r>
            <a:endParaRPr lang="ko-KR" altLang="en-US" dirty="0" smtClean="0" sz="1103"/>
          </a:p>
          <a:p>
            <a:pPr marL="0" indent="0" defTabSz="15240" algn="l">
              <a:lnSpc>
                <a:spcPts val="2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40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2322830"/>
            <a:ext cx="85725" cy="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7720" y="6583680"/>
            <a:ext cx="5525770" cy="18376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u="sng" b="1">
                <a:solidFill>
                  <a:srgbClr val="000000"/>
                </a:solidFill>
                <a:latin typeface="Garamond"/>
                <a:ea typeface="Garamond"/>
              </a:rPr>
              <a:t>Checked  Exceptions</a:t>
            </a:r>
            <a:endParaRPr lang="ko-KR" altLang="en-US" dirty="0" smtClean="0" sz="1074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CException.java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program reads a line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(hello world)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from a file and prints it on the console. The File reading code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probably new for you. We‘ll explain it in the coming handouts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(Streams). For now, assumed that the code written inside the main read one line from a file and prints that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console.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CException.java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 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CException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 (―input.txt‖);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br = new BufferedReader (fr);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//read the line form file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line = br.readLine();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System.out.println(line);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you  try  to  compile  this  program,  the  program  will  not  compile  successfully  and displays the message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unreported exception. This happens when there is code that can generate a checked exception but you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have not handled that exception. Remember checked exceptions are detected by compiler. As we early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discussed, without handling Checked exception, out program won‘t compile. </a:t>
            </a:r>
            <a:endParaRPr lang="ko-KR" altLang="en-US" dirty="0" smtClean="0" sz="1103"/>
          </a:p>
          <a:p>
            <a:pPr marL="0" indent="0" defTabSz="15240" algn="l">
              <a:lnSpc>
                <a:spcPts val="2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43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1771015"/>
            <a:ext cx="88265" cy="819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81710" y="7214870"/>
            <a:ext cx="5090160" cy="128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Modify CException.java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we have discussed earlier, it is mandatory to handle checked exceptions. In order to compile the code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above, we modify the above program so that file reading code is placed inside a try block. The expected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exception (IOException) that can be raised is caught in catch block.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CException.java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 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CException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try{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 (―input.txt‖);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br = new BufferedReader (fr);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//read the line form file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line = br.readLine();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System.out.println(line);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catch( IOExceptoin ex) {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System.out.println(ex);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code line written inside the catch block will print the exception name on the console if exception occurs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making changes to your program, it would compile successfully. On executing this program,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hello world</a:t>
            </a:r>
            <a:endParaRPr lang="ko-KR" altLang="en-US" dirty="0" smtClean="0" sz="1103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would be displayed on the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Before executing, make sure that a text file named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input.txt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must be placed in the same directory where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program is saved. Also write 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hello world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 that file before saving it. </a:t>
            </a:r>
            <a:endParaRPr lang="ko-KR" altLang="en-US" dirty="0" smtClean="0" sz="1103"/>
          </a:p>
          <a:p>
            <a:pPr marL="0" indent="0" defTabSz="15240" algn="l">
              <a:lnSpc>
                <a:spcPts val="1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46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2142490"/>
            <a:ext cx="88265" cy="825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88390" y="6952615"/>
            <a:ext cx="4885690" cy="13195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The finally block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finally block always executes regardless of exception is raised or not while as you remembered the catch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block only executes when an exception is raised.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Exampel Code : FBlockDemo.java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FBlockDemo.java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 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FBlockDemo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 (―strings.txt‖);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br = new BufferedReader (fr);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//read the line form file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line = br.readLine();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System.out.println(line);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catch( IOExceptoin ex) {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System.out.println(ex);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finally {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System.out.println(“finally block always execute”);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program above, will read one line from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string.txt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file. If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string.tx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is not present in the same directory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FileNotFoundException would be raised and catch block would execute as well as the finally block. </a:t>
            </a:r>
            <a:endParaRPr lang="ko-KR" altLang="en-US" dirty="0" smtClean="0" sz="1103"/>
          </a:p>
          <a:p>
            <a:pPr marL="0" indent="0" defTabSz="15240" algn="l">
              <a:lnSpc>
                <a:spcPts val="1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string.txt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is present there, no such exception would be raised but still finally block executes. This is shown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the following output diagram </a:t>
            </a:r>
            <a:endParaRPr lang="ko-KR" altLang="en-US" dirty="0" smtClean="0" sz="1103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49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79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4172585"/>
            <a:ext cx="85725" cy="79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66470" y="777240"/>
            <a:ext cx="5123180" cy="12407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Multiple catch blocks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Possible to have multiple catch clauses for a single try statement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– Essentially checking for different types of exceptions that may happen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Evaluated in the order of the code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								Bear in mind the Exception hierarchy when writing multiple catch clauses!</a:t>
            </a:r>
            <a:endParaRPr lang="ko-KR" altLang="en-US" dirty="0" smtClean="0" sz="1103" i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If you catch Exception first and then IOException, the IOException will never be caught!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MCatchDemo.java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program would read a number form a file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numbers.txt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and than prints its square on the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MCatchDemo.java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 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MCatchDemo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try{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can throw FileNotFound or IOException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 (―numbers.txt‖);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br = new BufferedReader (fr);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//read the number form file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//may throws NumberFormatException, if s is not a no.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 number = Integer.parseInt(s);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System.out.println(number * number);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catch( NumberFormatExceptoin nfEx) {</a:t>
            </a:r>
            <a:endParaRPr lang="ko-KR" altLang="en-US" dirty="0" smtClean="0" sz="1074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catch( FileNotFoundExceptoin fnfEx) {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52" name="Rect 3"/>
          <p:cNvSpPr>
            <a:spLocks noGrp="1" noChangeArrowheads="1"/>
          </p:cNvSpPr>
          <p:nvPr/>
        </p:nvSpPr>
        <p:spPr>
          <a:xfrm rot="0">
            <a:off x="1380490" y="8470265"/>
            <a:ext cx="5271135" cy="1015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System.out.println(nfEx);</a:t>
            </a:r>
            <a:endParaRPr lang="ko-KR" altLang="en-US" dirty="0" smtClean="0" sz="1074" b="1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80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1258570"/>
            <a:ext cx="88265" cy="825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90930" y="4389120"/>
            <a:ext cx="4950460" cy="13347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57910" y="6416040"/>
            <a:ext cx="4922520" cy="11366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System.out.println(fnfEx);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catch( IOExceptoin ioEx) { 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System.out.println(ioEx);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read everything from a file (numbers, floating values or text) as a String. That‘s why we first convert it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number and than print its square on console.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file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numbers.txt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is not present in the same directory, the FileNotFoundException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would be thrown during execution. </a:t>
            </a:r>
            <a:endParaRPr lang="ko-KR" altLang="en-US" dirty="0" smtClean="0" sz="1103"/>
          </a:p>
          <a:p>
            <a:pPr marL="0" indent="0" defTabSz="15240" algn="l">
              <a:lnSpc>
                <a:spcPts val="1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numbers.txt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present in the same directory and contains a number, than hopefully no exception would be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thrown. </a:t>
            </a:r>
            <a:endParaRPr lang="ko-KR" altLang="en-US" dirty="0" smtClean="0" sz="1103"/>
          </a:p>
          <a:p>
            <a:pPr marL="0" indent="0" defTabSz="15240" algn="l">
              <a:lnSpc>
                <a:spcPts val="2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Copyright Virtual University of Pakistan </a:t>
            </a:r>
            <a:endParaRPr lang="ko-KR" altLang="en-US" dirty="0" smtClean="0" sz="1103"/>
          </a:p>
        </p:txBody>
      </p:sp>
      <p:sp>
        <p:nvSpPr>
          <p:cNvPr id="255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81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3029585"/>
            <a:ext cx="8826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The throws clause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code examples will introduce you with writing &amp; using throws clause.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ThrowsDemo.java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ThrowsDemo.java contains two methods namely method1 &amp; method2 and one main method. The main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 will make call to method1 and than method1 will call method2. The method2 contains the file reading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code. The program looks like one given below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ThrowsDemo.java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 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ThrowsDemo {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contains file reading code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static void method2( ) {</a:t>
            </a:r>
            <a:endParaRPr lang="ko-KR" altLang="en-US" dirty="0" smtClean="0" sz="1103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 (―strings.txt‖);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br = new BufferedReader (fr);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//read the line form file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catch( IOExceptoin ioEx) {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ioEx.printStackTrace();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 end method 2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//only calling method2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static void method1( ) {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method2();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ThrowsDemo.method1();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58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82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78280" y="4184650"/>
            <a:ext cx="91440" cy="825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81455" y="7723505"/>
            <a:ext cx="8826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printStackTrace 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Defined in the Throwable class – superclass of Exception &amp; Error classes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Shows you the full method calling history with line numbers.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Extremely useful in debugging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Modify: ThrowsDemo.java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 method2 doesn‘t want to handle exception by itself, so it throws the exception to the caller of method2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i.e. method1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 method1 either have to handle the incoming exception or it can re-throw it to its caller i.e. main.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  method1  is  handling  the  exception,  so  method1&amp;  method2  would  be modified as: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ThrowsDemo.java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 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ThrowsDemo {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contains file reading code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method2( )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throws IOEception{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 (―strings.txt‖);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br = new BufferedReader (fr);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//read the line form file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 end method 2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calling method2 &amp; handling incoming exception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method1( 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try {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method2();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catch (IOException ioEx) { 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ioEx.printStackTrace();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ThrowsDemo.method1();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61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83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2520" y="2014855"/>
            <a:ext cx="4883150" cy="19869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file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strings.txt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is not present in the same directory, method2 will throw an exception that would be caught by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method1 and the printStackTrace method will print the full calling history on console. The above scenario 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shown in the output below: </a:t>
            </a:r>
            <a:endParaRPr lang="ko-KR" altLang="en-US" dirty="0" smtClean="0" sz="1103"/>
          </a:p>
          <a:p>
            <a:pPr marL="0" indent="0" defTabSz="15240" algn="l">
              <a:lnSpc>
                <a:spcPts val="2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file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strings.txt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exist there, than hopefully line would be displayed on the console. </a:t>
            </a:r>
            <a:endParaRPr lang="ko-KR" altLang="en-US" dirty="0" smtClean="0" sz="1103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 code, their explanations and corresponding figures for this handout are taken from the book JAVA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Lab Course by Umair Javed. This material is available just for the use of VU students of the course Web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Design and Development and not for any other commercial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2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64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84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8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Streams</a:t>
            </a:r>
            <a:endParaRPr lang="ko-KR" altLang="en-US" dirty="0" smtClean="0" sz="1074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I/O libraries often use the abstraction of a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stream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 which represents any data source or sink as an object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capable of producing or receiving pieces of data.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Java library classes for I/O are divided by input and output. You need to import java.io package to use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streams. There is no need to learn all the streams just do it on the need basis.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The concept of "streams"</a:t>
            </a:r>
            <a:endParaRPr lang="ko-KR" altLang="en-US" dirty="0" smtClean="0" sz="1103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It is an abstraction of a data source/sink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We need abstraction because there are lots of different devices (files, consoles, network,  memory,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etc.). We need to talk to the devices in different ways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(sequential, random access, by lines, etc.) Streams make the task easy by acting in the same way for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every device. Though inside handling of devices may be quite different, yet on the surface everything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similar. You might read from a file, the keyboard,  memory  or  network  connection,   different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devices may require specialization of the basic stream, but you can treat them all as just "streams".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you read from a network, you do nothing different than when you read from a local file or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from user's typing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//Reading from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stdin = new BufferedReader(new InputStreamReader(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-------- ( your console)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Reading from file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br=new BufferedReader(new FileReader(―input.txt‖));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//Reading from network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br = new BufferedReader(new InputStreamReader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(s.getInputStream()));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---- ―s‖ is the socket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So you can consider stream as a data path. Data can flow through this path in one direction  between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specified  terminal  points  (your  program and  file,  console, socket etc.) </a:t>
            </a:r>
            <a:endParaRPr lang="ko-KR" altLang="en-US" dirty="0" smtClean="0" sz="1103"/>
          </a:p>
          <a:p>
            <a:pPr marL="0" indent="0" defTabSz="15240" algn="l">
              <a:lnSpc>
                <a:spcPts val="1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67" name="Rect 3"/>
          <p:cNvSpPr>
            <a:spLocks noGrp="1" noChangeArrowheads="1"/>
          </p:cNvSpPr>
          <p:nvPr/>
        </p:nvSpPr>
        <p:spPr>
          <a:xfrm rot="0">
            <a:off x="5050790" y="5355590"/>
            <a:ext cx="1600835" cy="3803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System.in )); </a:t>
            </a:r>
            <a:endParaRPr lang="ko-KR" altLang="en-US" dirty="0" smtClean="0" sz="1103"/>
          </a:p>
          <a:p>
            <a:pPr marL="0" indent="0" defTabSz="15240" algn="l">
              <a:lnSpc>
                <a:spcPts val="2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85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34770" y="792480"/>
            <a:ext cx="5227320" cy="9817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58950" y="5830570"/>
            <a:ext cx="3773170" cy="217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56030" y="1847215"/>
            <a:ext cx="843915" cy="819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Stream classification based on Functionality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Based on functionality  streams  can  be  categorized  as  Node  Stream and  Filter  Stream. Node  Streams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are those which connect directly with the data source/sick and provide basic functionality to read/write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data from that source/sink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FileReader(―input.txt‖);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can see that FileReader is taking a data/source ―input.txt‖ as its argument and hence it is a node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stream.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FilterStreams sit on top of a node stream or chain with other filter stream and provide some additional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functionality e.g. compression, security etc. FilterStreams take other stream as their input.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bt = new BufferedReader(fr);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makes the IO efficient (enhances the functionality) by buffering the input before delivering.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as you can see that BufferedReader is sitting on top of a node stream which is FileReader. </a:t>
            </a:r>
            <a:endParaRPr lang="ko-KR" altLang="en-US" dirty="0" smtClean="0" sz="1103"/>
          </a:p>
          <a:p>
            <a:pPr marL="0" indent="0" defTabSz="15240" algn="l">
              <a:lnSpc>
                <a:spcPts val="1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Stream classification based on data </a:t>
            </a:r>
            <a:endParaRPr lang="ko-KR" altLang="en-US" dirty="0" smtClean="0" sz="1103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70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86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30350" y="2279650"/>
            <a:ext cx="3733800" cy="21520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Two type of classes exists.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Classes which contain the word stream in their name are byte oriented and are here since JDK1.0. These streams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can be used to read/write data in the form of bytes. Hence classes with the word stream in their name are byte-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oriented in nature. Examples of byte oriented streams are FileInputStream, ObjectOutputStream etc.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Classes which contain the word Reader/Writer are character oriented and read and write data in the form of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characters. Readers and Writers came with JDK1.1. Examples of Reader/Writers are FileReader, PrintWriter etc </a:t>
            </a:r>
            <a:endParaRPr lang="ko-KR" altLang="en-US" dirty="0" smtClean="0" sz="1103"/>
          </a:p>
          <a:p>
            <a:pPr marL="0" indent="0" defTabSz="15240" algn="l">
              <a:lnSpc>
                <a:spcPts val="56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73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87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52930" y="1984375"/>
            <a:ext cx="3718560" cy="7708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13815" y="3608705"/>
            <a:ext cx="88265" cy="825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8.1: Reading from File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ReadFileEx.java reads text file line by line and prints them on console. Before we  move  on  to  the  code,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 create a text file (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input.txt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) using notepad and write following text lines inside it.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Text File: input.txt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Hello World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Pakistan is our homeland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Web Design and Development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ReadFileEx.java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ReadFileEx 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FileReader fr = null;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BufferedReader br = null;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attaching node stream with data source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fr = new FileReader(“input.txt”);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attatching filter stream over node stream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br = new BufferedReader(fr);</a:t>
            </a:r>
            <a:endParaRPr lang="ko-KR" altLang="en-US" dirty="0" smtClean="0" sz="1074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reading first line from file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line =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br.readLine();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and reading remaining lines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 (line != null){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System.out.println(line); </a:t>
            </a:r>
            <a:endParaRPr lang="ko-KR" altLang="en-US" dirty="0" smtClean="0" sz="1072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=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br.readLine();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closing streams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br.close();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}catch(IOException ioex){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System.out.println(ioex);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76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88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13815" y="1850390"/>
            <a:ext cx="88265" cy="819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8.2: Writing to File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WriteFileEx.java writes the strings into the text file named 	―output.txt‖. If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―output.txt‖ file does not exist, the java will create it for you.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WriteFileEx.java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WriteFileEx 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FileWriter fw  = null;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PrintWriter pw = null;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attaching node stream with data source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if file does not exist, it automatically creates it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fw = new FileWriter (“output.txt”);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attatching filter stream over node stream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pw = new PrintWriter(fw);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s1 = ―Hello World‖;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s2 = ―Web Design and Development‖;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writing first string to file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pw.println(s1);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writing second string to file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pw.println(s2);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flushing stream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pw.flush();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closing streams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fw.close();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}catch(IOException ioex){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System.out.println(ioex);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executing the program, check the output.txt file. Two lines will be written there.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 code, their explanations and corresponding figures for this handout are taken from the book JAVA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Lab Course by Umair Javed. This material is available just for the use of VU students of the course Web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Design and Development and not for any other commercial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79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89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Lesson 9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Modification of Address Book Code</a:t>
            </a:r>
            <a:endParaRPr lang="ko-KR" altLang="en-US" dirty="0" smtClean="0" sz="1103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Adding Persistence Functionality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Hopefully, your address book you built previously is giving you the required results except one i.e.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persistence. You might have noticed that after adding some person records in the address book; if you exit form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program next time on re-executing address book all the previous records are no more available.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overcome the above problem, we will modify our program so that on exiting/starting of address book, all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previously added records are available each time. To achieve this, we have to provide the persistence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functionality. Currently, we will accomplish this task by saving person records in some text file.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Supporting simple persistence by any application requires handling of two scenarios. These are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start up of application – data (person records ) must be read from file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end/finish up of application – data (person records) must be saved in file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support persistence, we have to handle the above mentioned scenarios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Scenario 1 – Start Up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Establish a data channel with a file by using streams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Start reading data (person records) from file line by line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Construct PersonInfo objects from each line you have read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those PersonInfo objects in arraylist persons.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Close the stream with the file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Perform these steps while application is loading up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will read records from a text file named persons.txt. The person records will be present in the file in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format.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Ali,defence,9201211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Usman,gulberg,5173940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Salman,LUMS,5272670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persons.txt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you have seen, each person record is on a separate line. Person‘s name, address &amp;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phone number is separated using comma (,).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 will  modify  our  AddressBook.java  by  adding  a  new  method  loadPersons into  it.  This  method  will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provide the implementation of all the steps. The method is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82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90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2331720"/>
            <a:ext cx="8826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loadPersons ( ){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tokens[] = null;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name, add, ph;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FileReader("persons.txt");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br = new BufferedReader(fr);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line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 ( line != null ) 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tokens = line.split(",");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tokens[0];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= tokens[1];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ph  = tokens[2];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p = new PersonInfo(name, add, ph);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persons.add(p);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br.close();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}catch(IOException ioEx){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System.out.println(ioEx);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First, we have to connect with the text file in order to read line by line person records from it. This task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accomplished with the following lines of code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FileReader(―persons.txt‖); BufferedReader br = new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BufferedReader(fr);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is a character based (node) stream that helps us in reading data in the form of characters. As we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are using streams, so we have to import the java.io package in the AddressBook class.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passed the file name persons.txt to the constructor of the FileReader.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Next we add  BufferedReader  (filter  stream)  on  top  of  the  FileReader because BufferedReader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facilitates reading data line by line. (As you can recall from the lecture that filter streams are attached on top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node streams). 		That‘s why the constructor of BufferedReader is receiving the fr 		–  the  FileReader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next line of code will read line from file by using readLine( ) method of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BufferedReader and save it in a string variable called line.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line = br.readLine( );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85" name="Rect 3"/>
          <p:cNvSpPr>
            <a:spLocks noGrp="1" noChangeArrowheads="1"/>
          </p:cNvSpPr>
          <p:nvPr/>
        </p:nvSpPr>
        <p:spPr>
          <a:xfrm rot="0">
            <a:off x="1191895" y="4062730"/>
            <a:ext cx="5459730" cy="5096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91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that while loop starts. The condition of while loop is used to check whether the file is reached to end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(returns null) or not. This loop is used to read whole file till the end. When end comes (null), this loop will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finish.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 (line != null)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Inside loop, the first step we performed is tokenizing the string. For this purpose, we have used split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 of String class. This method returns substrings (tokens) according to the regular expression or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delimiter passed to it.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tokens = line.split(―,‖);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return type of this method is array of strings that‘s why we have declared tokens as a String array in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beginning of this method as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tokens[];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example, the line contains the following string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Ali,defence,9201211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 by calling split(―,‖) method on this string, this method will return back three substrings 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ali  defence</a:t>
            </a:r>
            <a:endParaRPr lang="ko-KR" altLang="en-US" dirty="0" smtClean="0" sz="1103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9201211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because the delimiter we have passed to it is comma. The delimiter itself is not included in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substrings or tokens.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next three lines of code are simple assignments statements. The tokens[0] contains the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name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of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 because the name is always in the beginning of the line, tokens[1] contains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address 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of  the  person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tokens[2] contains the phone number of the person.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tokens[0];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= tokens[1];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ph  = tokens[2];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name, add and ph are of type String and are declared in the beginning of this method.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that we have constructed the object of PersonInfo class by using parameterized constructor and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passed all these strings to it.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p = new PersonInfo(name, add, ph);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Afterward the PersonInfo object‘s p is added to the arraylist i.e. persons. persons.add(p);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last step we have done inside loop is that we have again read a line form the file by using the readLine()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method. </a:t>
            </a:r>
            <a:endParaRPr lang="ko-KR" altLang="en-US" dirty="0" smtClean="0" sz="1103"/>
          </a:p>
          <a:p>
            <a:pPr marL="0" indent="0" defTabSz="15240" algn="l">
              <a:lnSpc>
                <a:spcPts val="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88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92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9175" y="3142615"/>
            <a:ext cx="91440" cy="819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By summarizing the task of while loop we can conclude that it reads the line from a file,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Tokenize that   line   into   three   substrings   followed   by   constructing   the PersonInfo object by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using these tokens. And adding these objects to the arraylist. This process continues till the file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reaches its end.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last step for reading information from the file is ordinary one 		– closing the streams,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because files are external resources, so it‘s better to close them as soon as possible.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Also observe that we used try/catch block because using streams can result in raising exceptions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that falls under the checked exceptions category – that needs mandatory handling.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last important step you have to perform is to call this method while loading up. The most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appropriate place to call this method is from inside the constructor of AddressBook.java. So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constructor will now look like similar to the one 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………………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AddressBook () {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Persons = new ArrayList();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………………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AddressBook.java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Scenario 2 – End/Finish Up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Establish a datachanel(stream) with a file by using streams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Take out PersonInfo objects from ArrayList (persons)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Build a string for each PersonInfo object by inserting commas (,) between name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&amp; address and address &amp; phone number.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Write the constructed string to the file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Close the connection with file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Perform these steps while exiting from address book.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another method savePersons into AddressBook.java. This method will provide the implementation of all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above mentioned steps. The method is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91" name="Rect 3"/>
          <p:cNvSpPr>
            <a:spLocks noGrp="1" noChangeArrowheads="1"/>
          </p:cNvSpPr>
          <p:nvPr/>
        </p:nvSpPr>
        <p:spPr>
          <a:xfrm rot="0">
            <a:off x="2264410" y="3709670"/>
            <a:ext cx="4387215" cy="5449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FF"/>
                </a:solidFill>
                <a:latin typeface="Garamond"/>
              </a:rPr>
              <a:t>loadPersons();</a:t>
            </a:r>
            <a:endParaRPr lang="ko-KR" altLang="en-US" dirty="0" smtClean="0" sz="1103"/>
          </a:p>
          <a:p>
            <a:pPr marL="0" indent="0" defTabSz="15240" algn="l">
              <a:lnSpc>
                <a:spcPts val="4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93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701040"/>
            <a:ext cx="8826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savePersons ( ){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p;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line;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FileWriter fw = new FileWriter("persons.txt");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PrintWriter pw = new PrintWriter(fw);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for(int i=0; i&lt;persons.size(); i++)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 = (PersonInfo)persons.get(i);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= p.name +","+ p.address +","+ p.phoneNum;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writes line to file (persons.txt)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pw.println(line);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pw.flush();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fw.close();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}catch(IOException ioEx){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System.out.println(ioEx);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you can see, that we have opened the same file (persons.txt) again by using a set of streams.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 that  we  have  started  for  loop  to  iterate  over  arraylist  as  we  did  in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searchPerson and deletePerson methods.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Inside for loop body, we have taken out PersonInfo object and after type casting it we have assigned its reference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a PersonInfo type local variable p. This is achieved by the help of following line of code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 = (PersonInfo)persons.get(i);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Next we build a string and insert commas between the PersonInfo attributes and assign the newly constructed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to string‘s local variable line as shown in the following line of code.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= p.name +","+ p.address +","+ p.phoneNum;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Since, we haven‘t declare PersonInfo attributes private, therefore we are able to directly access them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inside AddressBook.java.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next step is to write the line representing one PersonInfo object‘s information, to the file. This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is done by using println method of PrintWriter as shown below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pw.println(line); </a:t>
            </a:r>
            <a:endParaRPr lang="ko-KR" altLang="en-US" dirty="0" smtClean="0" sz="1103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94" name="Rect 3"/>
          <p:cNvSpPr>
            <a:spLocks noGrp="1" noChangeArrowheads="1"/>
          </p:cNvSpPr>
          <p:nvPr/>
        </p:nvSpPr>
        <p:spPr>
          <a:xfrm rot="0">
            <a:off x="1158240" y="4685030"/>
            <a:ext cx="5493385" cy="44742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94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9175" y="3508375"/>
            <a:ext cx="88265" cy="79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84375" y="3700145"/>
            <a:ext cx="3127375" cy="7283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writing line to the file, the println method will move the cursor/control to the next line. 		That‘s why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each line is going to be written on separate line.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last step for saving information to the file is ordinary one 	– closing the streams but before that notice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code line that you have not seen/performed while loading persons records from file. That is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pw.flush( 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above line immediately flushes data by writing any buffered output/data to file. This step is necessary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perform or otherwise you will most probably lose some data for the reason that PrintWriter is a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 Stream and they have their own internal memory/storage capacity for efficiency reasons.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Buffered Streams do not send the data until their memory is full.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Also we have written this code inside try-catch block.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last important step you have to perform is to call this method before exiting from the address book.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most appropriate place to call this method is under case 4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(exit scenario) in Test.java. So the case 4 will now look like similar to the one 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4: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FF"/>
                </a:solidFill>
                <a:latin typeface="Garamond"/>
                <a:ea typeface="Garamond"/>
              </a:rPr>
              <a:t>ab.savePersons();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System.exit(0);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Test.java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 again after compiling all the classes, run the Test class. Initially we are assuming that out persons.txt file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empty, so our arraylist persons will be empty on the first start up of address book. Now add some records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into it, perform search or delete operations.  Exit  from  the  address  book  by  choosing   option   4.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Check out the persons.txt file. Don‘t get surprised by seeing that it contains all the person records in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format exactly we have seen above.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Next time you will run the address book; all the records will be available to you. Perform the search or delete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operation to verify that.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Finally You have done it !!! </a:t>
            </a:r>
            <a:endParaRPr lang="ko-KR" altLang="en-US" dirty="0" smtClean="0" sz="1103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References</a:t>
            </a:r>
            <a:endParaRPr lang="ko-KR" altLang="en-US" dirty="0" smtClean="0" sz="1074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 code, their explanations and corresponding figures for this handout are taken from the book JAVA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Lab Course by Umair Javed. This material is available just for the use of VU students of the course Web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Design and Development and not for any other commercial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297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95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0800" y="1880870"/>
            <a:ext cx="2590800" cy="19627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Abstract Classes and Interfaces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Problem and Requirements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Before moving on to abstract classes, first examine the following class hierarchy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1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Circle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Square </a:t>
            </a:r>
            <a:endParaRPr lang="ko-KR" altLang="en-US" dirty="0" smtClean="0" sz="1103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Suppose that in order to exploit polymorphism, we specify that 2-D objects must be able to compute their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area.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– All 2-D classes must respond to area() message.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How do we ensure that?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Define area method in class Shape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Force the subclasses of Shape to respond area() message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Java‘s provides us two solutions to handle such problem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Abstract Classes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Interfaces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Abstract Classes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Abstract classes are used to define only part of an implementation. Because, information is not complete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therefore an abstract class cannot be instantiate. However, like regular classes, they can also contain instance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variables and methods that are full implemented. The class that inherits from abstract class is responsible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provide details.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Any class with an abstract method (a  method  has  no  implementation  similar  to  pure virtual function in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C++) must be declared abstract, yet you can declare a class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abstract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that has no abstract method.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subclass overrides all abstract methods of the super class, than it becomes a concrete (a class whose object can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 instantiate) class otherwise we have to declare it as abstract or we can not compile it. </a:t>
            </a:r>
            <a:endParaRPr lang="ko-KR" altLang="en-US" dirty="0" smtClean="0" sz="1103"/>
          </a:p>
          <a:p>
            <a:pPr marL="0" indent="0" defTabSz="15240" algn="l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00" name="Rect 3"/>
          <p:cNvSpPr>
            <a:spLocks noGrp="1" noChangeArrowheads="1"/>
          </p:cNvSpPr>
          <p:nvPr/>
        </p:nvSpPr>
        <p:spPr>
          <a:xfrm rot="0">
            <a:off x="6455410" y="901890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96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32560" y="1819910"/>
            <a:ext cx="103505" cy="9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32560" y="2932430"/>
            <a:ext cx="103505" cy="9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32560" y="6346190"/>
            <a:ext cx="103505" cy="9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32560" y="8013065"/>
            <a:ext cx="103505" cy="946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most important aspect of abstract class is that reference of an abstract class can point to the object of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concrete classes.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Code Example of Abstract Classes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Shape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 contains an abstract method calculateArea() with no definition.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abstract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 Shape{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abstract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void calculateArea();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Circle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extends from abstract Shape class, therefore to become concrete class it must provides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definition of calculateArea() method.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Circle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extends Shape {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int x, y;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int radius;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Circle()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x = 5;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 = 5;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providing definition of abstract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calculateArea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()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double area = 3.14 * (radius * radius);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System.out.println(―Area: ‖ + area);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Test class contains main method. Inside main, a reference s of abstract Shape class is created. This reference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can point to Circle (subclass of abstract class Shape) class object as it is a concrete class. With the help of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reference, method calculateArea() can be invoked of Circle class. This is all shown in the form of code below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Test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args[]){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//can only create references of A.C.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Shape s = null;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//Shape s1 = new Shape(); //cannot instantiate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//abstractclass reference can point to concrete subclass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 = new Circle();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s.calculateArea();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compilation and execution of the above program is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03" name="Rect 3"/>
          <p:cNvSpPr>
            <a:spLocks noGrp="1" noChangeArrowheads="1"/>
          </p:cNvSpPr>
          <p:nvPr/>
        </p:nvSpPr>
        <p:spPr>
          <a:xfrm rot="0">
            <a:off x="1524000" y="4057015"/>
            <a:ext cx="5127625" cy="5428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radius = 10; </a:t>
            </a:r>
            <a:endParaRPr lang="ko-KR" altLang="en-US" dirty="0" smtClean="0" sz="1103"/>
          </a:p>
          <a:p>
            <a:pPr marL="0" indent="0" defTabSz="15240" algn="l">
              <a:lnSpc>
                <a:spcPts val="4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97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32560" y="5836920"/>
            <a:ext cx="103505" cy="946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5655" y="953770"/>
            <a:ext cx="4809490" cy="214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Interfaces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we seen one possible java‘s solution to problem discussed in start of the tutorial. The second possible java‘s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solution is Interfaces.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Interfaces are special java type which contains only a set of method prototypes, but doest not provide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implementation for these prototypes. All the methods inside an interface are abstract by  default  thus  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interface is tantamount to a pure abstract class 	– a class with zero implementation. Interface can also contains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static final constants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Defining an Interface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Keyword interface is used instead of class as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interface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Speaker{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speak();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Implementing (using) Interface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Classes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implement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interfaces. Implementing an interface is like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		signing a contract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A class that implements 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interface will have to provide the definition of all the methods that are present inside an interface. If 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does not provide definitions of all methods, the class would not compile. We have to declare it as 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abstract class in order to get it compiled.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Relationship between a class and interface is equivalent to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“responds 	to”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while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“is 	a”</a:t>
            </a:r>
            <a:endParaRPr lang="ko-KR" altLang="en-US" dirty="0" smtClean="0" sz="1103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relationship exists in inheritance.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Code Example of Defining &amp; Implementing an Interface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interface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Printable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contains print() method.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06" name="Rect 3"/>
          <p:cNvSpPr>
            <a:spLocks noGrp="1" noChangeArrowheads="1"/>
          </p:cNvSpPr>
          <p:nvPr/>
        </p:nvSpPr>
        <p:spPr>
          <a:xfrm rot="0">
            <a:off x="6455410" y="9345295"/>
            <a:ext cx="196215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98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32560" y="648970"/>
            <a:ext cx="103505" cy="946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32560" y="1060450"/>
            <a:ext cx="103505" cy="946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interface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Printable{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print();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Student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is implementing the interface Printable.   Note the use of keyword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implements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after  the  class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name. Student class has to provide the definition of print method or we are unable to compile.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code snippet of student class is 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Student implements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Printable {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String name;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String address;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String toString ()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"name:"+name +" address:"+address;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//providing definition of interface‘s print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print() {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Interface Characteristics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Similar to abstract class, interfaces imposes a design structure on any class that uses the interface. Contrary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inheritance, a class can implement more than one interfaces. To do this separate the interface names with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comma. This is java‘s way of multiple inheritance.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Circle implements Drawable , Printable { ………. }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Objects of interfaces also cannot be instantiated.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Speaker s = new Speaker(); // not compile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However, a reference of interface can be created to point any of its implementation class. This is interface based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polymorphism. </a:t>
            </a:r>
            <a:endParaRPr lang="ko-KR" altLang="en-US" dirty="0" smtClean="0" sz="1103"/>
          </a:p>
          <a:p>
            <a:pPr marL="0" indent="0" defTabSz="15240" algn="l">
              <a:lnSpc>
                <a:spcPts val="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09" name="Rect 3"/>
          <p:cNvSpPr>
            <a:spLocks noGrp="1" noChangeArrowheads="1"/>
          </p:cNvSpPr>
          <p:nvPr/>
        </p:nvSpPr>
        <p:spPr>
          <a:xfrm rot="0">
            <a:off x="1789430" y="4191000"/>
            <a:ext cx="4862195" cy="52946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System.out.println("Name:" +name+" address"+address);</a:t>
            </a:r>
            <a:endParaRPr lang="ko-KR" altLang="en-US" dirty="0" smtClean="0" sz="1074" b="1"/>
          </a:p>
          <a:p>
            <a:pPr marL="0" indent="0" defTabSz="15240" algn="l">
              <a:lnSpc>
                <a:spcPts val="3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99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32560" y="1527175"/>
            <a:ext cx="103505" cy="946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32560" y="2609215"/>
            <a:ext cx="103505" cy="971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32560" y="3654425"/>
            <a:ext cx="103505" cy="946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32560" y="5635625"/>
            <a:ext cx="103505" cy="946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Code Example: Interface based polymorphism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Interface Speaker is implemented by three classes Politician, Coach and Lecturer. Code snippets of all these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three classes are show below: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Politician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implements Speaker{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speak(){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System.out.println(―Politics Talks‖);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Coach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implements Speaker{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speak(){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System.out.println(―Sports Talks‖);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Lecturer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implements Speaker{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speak(){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System.out.println(―Web Design and Development Talks‖);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usual, Test class contains  main method. Inside  main, a reference sp is created of Speaker class. Later,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reference is used to point to the objects of Politician, Coach and Lecturer class. On calling speak method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with the help of sp, will invoke the method of a class to which sp is pointing.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Test{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Speaker sp = null;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System.out.println("sp pointing to Politician");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 = new Politician();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sp.speak();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System.out.println("sp pointing to Coach");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 = new Coach();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sp.speak();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System.out.println("sp pointing to Lecturer");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 = new Lecturer();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12" name="Rect 3"/>
          <p:cNvSpPr>
            <a:spLocks noGrp="1" noChangeArrowheads="1"/>
          </p:cNvSpPr>
          <p:nvPr/>
        </p:nvSpPr>
        <p:spPr>
          <a:xfrm rot="0">
            <a:off x="1524000" y="7927975"/>
            <a:ext cx="610870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sp.speak(); </a:t>
            </a:r>
            <a:endParaRPr lang="ko-KR" altLang="en-US" dirty="0" smtClean="0" sz="1103"/>
          </a:p>
        </p:txBody>
      </p:sp>
      <p:sp>
        <p:nvSpPr>
          <p:cNvPr id="313" name="Rect 3"/>
          <p:cNvSpPr>
            <a:spLocks noGrp="1" noChangeArrowheads="1"/>
          </p:cNvSpPr>
          <p:nvPr/>
        </p:nvSpPr>
        <p:spPr>
          <a:xfrm rot="0">
            <a:off x="1390015" y="8074025"/>
            <a:ext cx="5264785" cy="14116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100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95070" y="1179830"/>
            <a:ext cx="4709160" cy="246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compilation and execution of the above program is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26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 code, their explanations and corresponding figures for this handout are taken from the book JAVA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Lab Course by Umair Javed. This material is available just for the use of VU students of the course Web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Design and Development and not for any other commercial         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3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16" name="Rect 3"/>
          <p:cNvSpPr>
            <a:spLocks noGrp="1" noChangeArrowheads="1"/>
          </p:cNvSpPr>
          <p:nvPr/>
        </p:nvSpPr>
        <p:spPr>
          <a:xfrm rot="0">
            <a:off x="6385560" y="934529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101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Lesson 10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Graphical User Interfaces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graphical user interface is a visual interface to a program. GUIs are built from GUI components (buttons,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menus, labels etc). A GUI component is an object with which the user interacts via the mouse or keyboard.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Together, the appearance and how user interacts with the program are known as the program look and feel.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Support for GUI in Java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 classes  that  are  used  to  create  GUI  components  are  part  of  the  ―java.awt‖  or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―javax.swing‖ package.  Both  these  packages  provide  rich  set  of  user  interface components.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GUI classes vs. Non-GUI Support Classes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classes present in the awt and swing packages can be classified into two broad categories. GUI classes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&amp; Non-GUI Support classes.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GUI classes as the name indicates are visible and user can interact with them. Examples of these are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JButton, JFrame &amp; JRadioButton etc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Non-GUI support classes provide services and perform necessary functions for GUI classes. They do not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produce any visual output. Examples of these classes are Layout managers (discussed latter) &amp; Event handling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(see handout on it) classes etc.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java.awt package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AWT stands for 		―Abstract Windowing Toolkit 	―contains original GUI components that came with the first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release of JDK. These components are tied directly to the local platform‘s (Windows, Linux, MAC etc)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graphical user interface capabilities. Thus results in a java program executing on different java platforms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(windows, Linux, Solaris etc) has a different appearance and sometimes even different user interaction on each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platform.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AWT components are often called Heavy Weight Components (HWC) as they rely on the local platform‘s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windowing system to determine their functionality and their look  and feel. Every time you create an AWT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component it creates a corresponding process on the operating system. As compared to this SWING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components are managed through threads and are known as Light Weight Components.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package also provides the classes for robust event handling (see handout on it) and layout managers.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javax.swing package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These are the newest GUI components. Swing components are written, manipulated and displayed  completely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java, therefore also called  pure  java  components.  The  swing components  allow  the  programmer 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specify  a  uniform  look  and  feel  across  all platforms.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19" name="Rect 3"/>
          <p:cNvSpPr>
            <a:spLocks noGrp="1" noChangeArrowheads="1"/>
          </p:cNvSpPr>
          <p:nvPr/>
        </p:nvSpPr>
        <p:spPr>
          <a:xfrm rot="0">
            <a:off x="6385560" y="934529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102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29255" y="2575560"/>
            <a:ext cx="2995930" cy="170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61305" y="4279265"/>
            <a:ext cx="1124585" cy="16948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49350" y="4279265"/>
            <a:ext cx="3413760" cy="11036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39825" y="5386070"/>
            <a:ext cx="1688465" cy="6642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Swing  components  are  often  referred  to  as  Light  Weight  Components  as  they  are completely written in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java. Several swing components are still HWC. e.g. JFrame etc. </a:t>
            </a:r>
            <a:endParaRPr lang="ko-KR" altLang="en-US" dirty="0" smtClean="0" sz="1103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A part of the FrameWork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Object</a:t>
            </a:r>
            <a:endParaRPr lang="ko-KR" altLang="en-US" dirty="0" smtClean="0" sz="1074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Component</a:t>
            </a:r>
            <a:endParaRPr lang="ko-KR" altLang="en-US" dirty="0" smtClean="0" sz="1074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Container</a:t>
            </a:r>
            <a:endParaRPr lang="ko-KR" altLang="en-US" dirty="0" smtClean="0" sz="1074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JComponent</a:t>
            </a:r>
            <a:endParaRPr lang="ko-KR" altLang="en-US" dirty="0" smtClean="0" sz="1074" b="1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AbstractButton</a:t>
            </a:r>
            <a:endParaRPr lang="ko-KR" altLang="en-US" dirty="0" smtClean="0" sz="1074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JButton </a:t>
            </a:r>
            <a:endParaRPr lang="ko-KR" altLang="en-US" dirty="0" smtClean="0" sz="1074" b="1"/>
          </a:p>
          <a:p>
            <a:pPr marL="0" indent="0" defTabSz="15240" algn="l">
              <a:lnSpc>
                <a:spcPts val="2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22" name="Rect 3"/>
          <p:cNvSpPr>
            <a:spLocks noGrp="1" noChangeArrowheads="1"/>
          </p:cNvSpPr>
          <p:nvPr/>
        </p:nvSpPr>
        <p:spPr>
          <a:xfrm rot="0">
            <a:off x="5681345" y="5071745"/>
            <a:ext cx="382270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Frame</a:t>
            </a:r>
            <a:endParaRPr lang="ko-KR" altLang="en-US" dirty="0" smtClean="0" sz="1074" b="1"/>
          </a:p>
        </p:txBody>
      </p:sp>
      <p:sp>
        <p:nvSpPr>
          <p:cNvPr id="323" name="Rect 3"/>
          <p:cNvSpPr>
            <a:spLocks noGrp="1" noChangeArrowheads="1"/>
          </p:cNvSpPr>
          <p:nvPr/>
        </p:nvSpPr>
        <p:spPr>
          <a:xfrm rot="0">
            <a:off x="3706495" y="4486910"/>
            <a:ext cx="2948305" cy="499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Window</a:t>
            </a:r>
            <a:endParaRPr lang="ko-KR" altLang="en-US" dirty="0" smtClean="0" sz="1074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JPanel</a:t>
            </a:r>
            <a:endParaRPr lang="ko-KR" altLang="en-US" dirty="0" smtClean="0" sz="1074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JFrame</a:t>
            </a:r>
            <a:endParaRPr lang="ko-KR" altLang="en-US" dirty="0" smtClean="0" sz="1074" b="1"/>
          </a:p>
          <a:p>
            <a:pPr marL="0" indent="0" defTabSz="15240" algn="l">
              <a:lnSpc>
                <a:spcPts val="2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103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GUI Creation Steps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1. import required packages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 and/or javax.swing.* package.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22" b="1">
                <a:solidFill>
                  <a:srgbClr val="000000"/>
                </a:solidFill>
                <a:latin typeface="Garamond"/>
                <a:ea typeface="Garamond"/>
              </a:rPr>
              <a:t>2.  </a:t>
            </a:r>
            <a:r>
              <a:rPr lang="en-US" altLang="ko-KR" dirty="0" smtClean="0" sz="1074" u="sng" b="1">
                <a:solidFill>
                  <a:srgbClr val="000000"/>
                </a:solidFill>
                <a:latin typeface="Garamond"/>
              </a:rPr>
              <a:t>	Setup the top level container</a:t>
            </a:r>
            <a:r>
              <a:rPr lang="en-US" altLang="ko-KR" dirty="0" smtClean="0" sz="1122" u="sng" b="1">
                <a:solidFill>
                  <a:srgbClr val="000000"/>
                </a:solidFill>
                <a:latin typeface="Garamond"/>
              </a:rPr>
              <a:t>s</a:t>
            </a:r>
            <a:endParaRPr lang="ko-KR" altLang="en-US" dirty="0" smtClean="0" sz="1122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container is a collection of related components, which  allows  other components  to  be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nested inside it. In application with JFrame, we attatch components to the content pane 		–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Two important methods the container class has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add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and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setLayout.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add method is used for adding components to the content pane while setLayout method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used to specify the layout manager.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 are  classified  into  two  broad  categories  that  are  Top  Level containers and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General Purpose Containers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Top  level  containers  can  contain  (add)  other  containers  as  well  as  basic components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(buttons, labels etc) while general purpose containers are typically used to collect  basic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components  and  are  added  to  top  level containers.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General purpose containers cannot exist alone they must be added to top level containers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Examples of top level container are JFrame, Dialog and Applet etc. Our application uses one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these.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Examples of general purpose container are JPanel, Toolbar and ScrollPane etc.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So, take a top level container and create its instance. Consider the following code of line if JFrame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is selected as a top level container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frame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26" name="Rect 3"/>
          <p:cNvSpPr>
            <a:spLocks noGrp="1" noChangeArrowheads="1"/>
          </p:cNvSpPr>
          <p:nvPr/>
        </p:nvSpPr>
        <p:spPr>
          <a:xfrm rot="0">
            <a:off x="6385560" y="934529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104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</a:rPr>
              <a:t>					Get the component area of the top level container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Review the hierarchy given above, and observe that JFrame </a:t>
            </a:r>
            <a:r>
              <a:rPr lang="en-US" altLang="ko-KR" dirty="0" smtClean="0" sz="1103" u="sng" i="1">
                <a:solidFill>
                  <a:srgbClr val="000000"/>
                </a:solidFill>
                <a:latin typeface="Garamond"/>
              </a:rPr>
              <a:t>	is a </a:t>
            </a:r>
            <a:r>
              <a:rPr lang="en-US" altLang="ko-KR" dirty="0" smtClean="0" sz="1103" u="sng">
                <a:solidFill>
                  <a:srgbClr val="000000"/>
                </a:solidFill>
                <a:latin typeface="Garamond"/>
              </a:rPr>
              <a:t>	frame </a:t>
            </a:r>
            <a:r>
              <a:rPr lang="en-US" altLang="ko-KR" dirty="0" smtClean="0" sz="1103" u="sng" i="1">
                <a:solidFill>
                  <a:srgbClr val="000000"/>
                </a:solidFill>
                <a:latin typeface="Garamond"/>
              </a:rPr>
              <a:t>is a</a:t>
            </a:r>
            <a:endParaRPr lang="ko-KR" altLang="en-US" dirty="0" smtClean="0" sz="1103" u="sng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window. So, it can be interpreted as JFrame </a:t>
            </a:r>
            <a:r>
              <a:rPr lang="en-US" altLang="ko-KR" dirty="0" smtClean="0" sz="1103" u="sng" i="1">
                <a:solidFill>
                  <a:srgbClr val="000000"/>
                </a:solidFill>
                <a:latin typeface="Garamond"/>
              </a:rPr>
              <a:t>is a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window.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Every window has two areas. System Area &amp; Component Area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programmer cannot add/remove components to the System Area.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Component Area often known as Client area is a workable place for the programmer.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Components can be added/removed in this area.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So, to add components, as you guessed right component area of the JFrame is required. It can be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accomplished by the following code of line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Conntainer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con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=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frame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  <a:ea typeface="Garamond"/>
              </a:rPr>
              <a:t>frame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is an instance of JFrame and by calling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getContentPane()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on it, it returns the component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area. This component area is of type container and that is why it is stored in a variable of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class. As already discussed, container allows other components to be added / removed.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</a:rPr>
              <a:t>					Apply layout to component area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 layout  (size  &amp;  position  etc.  How  they  appear)  of  components  in  a container is usually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governed by Layout Managers.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layout manager is responsible for deciding the layout policy and size of its components added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the container.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Layout managers are represented in java as classes. (Layout Managers are going to be discussed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detail later in this handout)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set the layout, as already discussed use setLayout method and pass object of layout manager as 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argument.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con.setLayout( new FlowLayout( ) 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passed an object of FlowLayout to the setLayout method here.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can also use the following lines of code instead of above. FlowLayout layout = new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FlowLayout(); con.setLayout(layout); </a:t>
            </a:r>
            <a:endParaRPr lang="ko-KR" altLang="en-US" dirty="0" smtClean="0" sz="1103"/>
          </a:p>
          <a:p>
            <a:pPr marL="0" indent="0" defTabSz="15240"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29" name="Rect 3"/>
          <p:cNvSpPr>
            <a:spLocks noGrp="1" noChangeArrowheads="1"/>
          </p:cNvSpPr>
          <p:nvPr/>
        </p:nvSpPr>
        <p:spPr>
          <a:xfrm rot="0">
            <a:off x="6385560" y="934529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105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4830" y="6165850"/>
            <a:ext cx="1593850" cy="11461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</a:rPr>
              <a:t>								Create and Add components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Create required components by calling their constructor.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button = new JButton ( 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creating all components your are interested in, the next task is to add these components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into the component area of your JFrame (i.e ContentPane, the reference to which is in variable con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type Container)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add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of the Container to accomplish this and pass it the component to be added.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con.add(button);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</a:rPr>
              <a:t>					Set size of frame and make it visible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frame must be made visible via a call to setVisible(true) and its size defined via a call setSize(rows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pixel, columns in pixel) to be displayed on the screen.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frame.setSize(200, 300) 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frame.setVisible(true) 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By default, all JFrame‘s are invisible. To make visible frame visible we have passed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true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to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setVisible method.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frame.setVisible(false) ;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Making a Simple GUI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above figured GUI contains one text field and a button. Let‘s code it by following the six GUI creation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steps we discussed. </a:t>
            </a:r>
            <a:endParaRPr lang="ko-KR" altLang="en-US" dirty="0" smtClean="0" sz="1103"/>
          </a:p>
          <a:p>
            <a:pPr marL="0" indent="0" defTabSz="15240" algn="l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32" name="Rect 3"/>
          <p:cNvSpPr>
            <a:spLocks noGrp="1" noChangeArrowheads="1"/>
          </p:cNvSpPr>
          <p:nvPr/>
        </p:nvSpPr>
        <p:spPr>
          <a:xfrm rot="0">
            <a:off x="6385560" y="934529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106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4270375"/>
            <a:ext cx="88265" cy="79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4065" y="890270"/>
            <a:ext cx="1274445" cy="78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Code for Simple GUI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GUITest.java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1: import packages import java.awt.*;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GUITest 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myFrame 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JTextField tf;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b;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//method used for setting layout of GUI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setup the top level container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Get the component area of top-level container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 = myFrame.getContentPane();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Apply layouts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c.setLayout( new FlowLayout( ) 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5: create &amp; add components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JTextField tf = new JTextField(10);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b1 = new JButton("My Button");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c.add(tf);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c.add(b1);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6: set size of frame and make it visible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myFrame.setDefaultCloseOperation(JFrame.EXIT_ON_CLOSE);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myFrame.setSize(200,150);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initGUI method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GUITest () { // default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35" name="Rect 3"/>
          <p:cNvSpPr>
            <a:spLocks noGrp="1" noChangeArrowheads="1"/>
          </p:cNvSpPr>
          <p:nvPr/>
        </p:nvSpPr>
        <p:spPr>
          <a:xfrm rot="0">
            <a:off x="1386840" y="7729855"/>
            <a:ext cx="5267960" cy="175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GUITest gui = new GUITest(); </a:t>
            </a:r>
            <a:endParaRPr lang="ko-KR" altLang="en-US" dirty="0" smtClean="0" sz="1103"/>
          </a:p>
          <a:p>
            <a:pPr marL="0" indent="0" defTabSz="15240" algn="l">
              <a:lnSpc>
                <a:spcPts val="1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107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Important Points to Consider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  <a:ea typeface="Garamond"/>
              </a:rPr>
              <a:t>main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(from where program execution starts) is written in the same class. The main method can be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a separate class instead of writing in the same class its your choice.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Inside main, an object of GUI test class is created that results in calling of constructor of the class and from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constructor,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initGUI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is called that is responsible for setting up the GUI.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line of code is used to exit the program when you close the window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myFrame.setDefaultCloseOperation(JFrame.EXIT_ON_CLOSE);</a:t>
            </a:r>
            <a:endParaRPr lang="ko-KR" altLang="en-US" dirty="0" smtClean="0" sz="1074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you delete this line and run  your  program,  the  desired  GUI  would  be  displayed. However  if  you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close the window by using (X) button on top left corner of your window, you‘ll notice that the control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doesn‘t return back to command prompt. The reason for this is that the java process is still running. How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ever if you put this line in your code, when you exit your prompt will return. </a:t>
            </a:r>
            <a:endParaRPr lang="ko-KR" altLang="en-US" dirty="0" smtClean="0" sz="1103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Sun java tutorial: 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</a:rPr>
              <a:t>http://java.sun.com/docs/books/tutorial/java</a:t>
            </a:r>
            <a:endParaRPr lang="ko-KR" altLang="en-US" dirty="0" smtClean="0" sz="1103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Thinking in java by Bruce Eckle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Beginning Java2 by Ivor Hortan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GUI creation steps are taken from the book Java A Lab Course by Umair Javed </a:t>
            </a:r>
            <a:endParaRPr lang="ko-KR" altLang="en-US" dirty="0" smtClean="0" sz="1103"/>
          </a:p>
          <a:p>
            <a:pPr marL="0" indent="0" defTabSz="15240" algn="l">
              <a:lnSpc>
                <a:spcPts val="3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38" name="Rect 3"/>
          <p:cNvSpPr>
            <a:spLocks noGrp="1" noChangeArrowheads="1"/>
          </p:cNvSpPr>
          <p:nvPr/>
        </p:nvSpPr>
        <p:spPr>
          <a:xfrm rot="0">
            <a:off x="6385560" y="934529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108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Graphical User Interfaces - 2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Layout Managers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Layout Managers are used to form the appearance of your GUI. They are concerned with the arrangement of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components of GUI. A general question is 	―why we can not place components at our desired location (may be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using the x,y coordinate position?‖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answer is that you can create your GUI without using Layout Managers and you can also do VB style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positioning of components at some x,y co-ordinate in Java, but that is generally not advisable if you desire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run the same program on different platforms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appearance of the GUI also depends on the underlying platform and to keep that same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responsibility of arranging layout is given to the LayoutManagers so they can provide the same look and feel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across different platforms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Commonly used layout managers are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Flow Layout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Grid Layout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Border Layout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Box Layout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Card Layout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GridBag Layout and so on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 us discuss the top three in detail one by one with code examples. These top three will meet most of your basic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needs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Flow 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Layout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Position components on line by line basis. Each time a line is filled, a new line is started.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size of the line depends upon the size of your frame. If you stretch your frame while your program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running, your GUI will be disturbed.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FlowLayoutTest.java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FlowLayoutTest 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myFrame 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b1, b2, b3, b4, b5;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//method used for setting layout of GUI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41" name="Rect 3"/>
          <p:cNvSpPr>
            <a:spLocks noGrp="1" noChangeArrowheads="1"/>
          </p:cNvSpPr>
          <p:nvPr/>
        </p:nvSpPr>
        <p:spPr>
          <a:xfrm rot="0">
            <a:off x="6385560" y="934529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109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2853055"/>
            <a:ext cx="88265" cy="79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14145" y="4666615"/>
            <a:ext cx="88265" cy="79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423160" y="6370320"/>
            <a:ext cx="2191385" cy="18103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 = new JFrame(―Flow Layout‖);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 = myFrame.getContentPane();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c.setLayout( new FlowLayout( ) );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b1 = new JButton(―Next Slide‖);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b2 = new JButton(―Previous Slide‖);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b3 = new JButton(―Back to Start‖);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b4 = new JButton(―Last Slide‖);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b5 = new JButton(―Exit‖);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c.add(b1);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c.add(b2);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c.add(b3);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c.add(b4);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c.add(b5);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myFrame.setDefaultCloseOperation(JFrame.EXIT_ON_CLOSE); 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myFrame.setSize(300,150);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initGUI method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FlowLayoutTest () { // default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44" name="Rect 3"/>
          <p:cNvSpPr>
            <a:spLocks noGrp="1" noChangeArrowheads="1"/>
          </p:cNvSpPr>
          <p:nvPr/>
        </p:nvSpPr>
        <p:spPr>
          <a:xfrm rot="0">
            <a:off x="1374775" y="5160010"/>
            <a:ext cx="5280025" cy="4325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FlowLayoutTest flTest = new FlowLayoutTest(); </a:t>
            </a:r>
            <a:endParaRPr lang="ko-KR" altLang="en-US" dirty="0" smtClean="0" sz="1103"/>
          </a:p>
          <a:p>
            <a:pPr marL="0" indent="0" defTabSz="15240" algn="l">
              <a:lnSpc>
                <a:spcPts val="3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110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3727450"/>
            <a:ext cx="8826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</a:rPr>
              <a:t>Grid Layout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Splits  the  panel/window  into  a  grid  (cells)  with  given  number  of  rows  and columns.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Forces  the  size  of  each  component  to  occupy  the  whole  cell.  Size of each component is same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Components are added row wise. When all the columns of the first row are get filled the components are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then added to the next row.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Only one component can be added into each cell.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GridLayoutTest.java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GridLayoutTest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myFrame 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b1, b2, b3, b4, b5;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//method used for setting layout of GUI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 = new JFrame(―Grid Layout‖);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 = myFrame.getContentPane();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rows , cols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c.setLayout( new GridLayout( 3  , 2  ) 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b1 = new JButton(―Next Slide‖);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b2 = new JButton(―Previous Slide‖);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b3 = new JButton(―Back to Start‖);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b4 = new JButton(―Last Slide‖);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b5 = new JButton(―Exit‖);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c.add(b1);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c.add(b2);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c.add(b3);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c.add(b4);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c.add(b5);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myFrame.setDefaultCloseOperation(JFrame.EXIT_ON_CLOSE); 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myFrame.setSize(300,150);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initGUI method </a:t>
            </a:r>
            <a:endParaRPr lang="ko-KR" altLang="en-US" dirty="0" smtClean="0" sz="1103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47" name="Rect 3"/>
          <p:cNvSpPr>
            <a:spLocks noGrp="1" noChangeArrowheads="1"/>
          </p:cNvSpPr>
          <p:nvPr/>
        </p:nvSpPr>
        <p:spPr>
          <a:xfrm rot="0">
            <a:off x="6385560" y="934529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111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890270"/>
            <a:ext cx="88265" cy="787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06370" y="2743200"/>
            <a:ext cx="1691640" cy="14414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06370" y="6781800"/>
            <a:ext cx="1667510" cy="16579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GridLayoutTest () { // default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Modification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grid layout also allows the spacing between cells. To achieve spacing between cells, modify the above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program.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Pass additional parameters to the constructor of GridLayout, spaces between rows &amp;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spaces between columns as shown below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c.setLayout( new GridLayout( 3 , 2   ,  10 ,  20)  );</a:t>
            </a:r>
            <a:endParaRPr lang="ko-KR" altLang="en-US" dirty="0" smtClean="0" sz="1074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The output is look similar to one given below.</a:t>
            </a:r>
            <a:endParaRPr lang="ko-KR" altLang="en-US" dirty="0" smtClean="0" sz="1072"/>
          </a:p>
          <a:p>
            <a:pPr marL="0" indent="0" defTabSz="15240" algn="l">
              <a:lnSpc>
                <a:spcPts val="2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50" name="Rect 3"/>
          <p:cNvSpPr>
            <a:spLocks noGrp="1" noChangeArrowheads="1"/>
          </p:cNvSpPr>
          <p:nvPr/>
        </p:nvSpPr>
        <p:spPr>
          <a:xfrm rot="0">
            <a:off x="1386840" y="1624330"/>
            <a:ext cx="5267960" cy="7861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GridLayoutTest glTest = new GridLayoutTest(); </a:t>
            </a:r>
            <a:endParaRPr lang="ko-KR" altLang="en-US" dirty="0" smtClean="0" sz="1103"/>
          </a:p>
          <a:p>
            <a:pPr marL="0" indent="0" defTabSz="15240" algn="l">
              <a:lnSpc>
                <a:spcPts val="5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112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4916170"/>
            <a:ext cx="85725" cy="7937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69465" y="2782570"/>
            <a:ext cx="3298190" cy="4298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69465" y="3209290"/>
            <a:ext cx="3298190" cy="9328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Border Layout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Divides the area into five regions. North, South, East, West and Center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Components are added to the specified region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any region not filled, the filled regions will occupy the space but the center region will still appear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background if it contains no component.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Only one component can be added into each region.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NORTH</a:t>
            </a:r>
            <a:endParaRPr lang="ko-KR" altLang="en-US" dirty="0" smtClean="0" sz="1103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WEST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CENTER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EAST</a:t>
            </a:r>
            <a:endParaRPr lang="ko-KR" altLang="en-US" dirty="0" smtClean="0" sz="1103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SOUTH</a:t>
            </a:r>
            <a:endParaRPr lang="ko-KR" altLang="en-US" dirty="0" smtClean="0" sz="1103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BorderLayoutTest.java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BorderLayoutTest 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myFrame 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b1, b2, b3, b4, b5;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//method used for setting layout of GUI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 = new JFrame(―Border Layout‖);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 = myFrame.getContentPane();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c.setLayout( new BorderLayout( );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b1 = new JButton(―Next Slide‖);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b2 = new JButton(―Previous Slide‖);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b3 = new JButton(―Back to Start‖);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b4 = new JButton(―Last Slide‖);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b5 = new JButton(―Exit‖);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c.add( b1 , BorderLayout.NORTH );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c.add( b2 , BorderLayout.SOUTH );</a:t>
            </a:r>
            <a:endParaRPr lang="ko-KR" altLang="en-US" dirty="0" smtClean="0" sz="1074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53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113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4145" y="890270"/>
            <a:ext cx="88265" cy="787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4120" y="6522720"/>
            <a:ext cx="2115185" cy="17037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c.add( b3 , BorderLayout.EAST );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c.add( b4 , BorderLayout.WEST 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c.add( b5 , BorderLayout.CENTER);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myFrame.setDefaultCloseOperation(JFrame.EXIT_ON_CLOSE); 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myFrame.setSize(300,150);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initGUI method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BorderLayoutTest () { // default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Points to Remember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Revisit the code of adding components, we specify the region in which we want to add component or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otherwise they will not be visible.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Consider the following segment of code:  BorderLayout.NORTH,  as  you  guessed   correctly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NORTH is a constant (final) defined in  BorderLayout  class public access modifier. Similarly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other ones are defined. Now you understand,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why so much emphasis has been made on following the naming conventions.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56" name="Rect 3"/>
          <p:cNvSpPr>
            <a:spLocks noGrp="1" noChangeArrowheads="1"/>
          </p:cNvSpPr>
          <p:nvPr/>
        </p:nvSpPr>
        <p:spPr>
          <a:xfrm rot="0">
            <a:off x="1386840" y="3352800"/>
            <a:ext cx="5267960" cy="5806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BorderLayoutTest glTest = new BorderLayoutTest(); </a:t>
            </a:r>
            <a:endParaRPr lang="ko-KR" altLang="en-US" dirty="0" smtClean="0" sz="1103"/>
          </a:p>
          <a:p>
            <a:pPr marL="0" indent="0" defTabSz="15240" algn="l">
              <a:lnSpc>
                <a:spcPts val="4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114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75560" y="2078990"/>
            <a:ext cx="1965960" cy="1983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Making Complex GUIs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From the discussion above it seems that the basic Layout Managers may not help us in constructing complex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GUIs, but generally a combination of these basic layouts can do the job. So lets try to create the calculator GUI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given below </a:t>
            </a:r>
            <a:endParaRPr lang="ko-KR" altLang="en-US" dirty="0" smtClean="0" sz="1103"/>
          </a:p>
          <a:p>
            <a:pPr marL="0" indent="0" defTabSz="15240" algn="l">
              <a:lnSpc>
                <a:spcPts val="1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GUI has 16 different buttons each of same size and text field on the top and a label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‗my calculator‘ on the bottom.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So, how we can make this GUI? If Border Layout is selected, it has five regions (each region can have at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most one component) but here we have more than five components to add. Lets try Grid Layout, but all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components in a Grid have same size and the text field at the top and label at the bottom has different size.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Flow Layout cannot be selected because if we stretch our GUI it will destroy its shape.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Can we make this GUI? Yes, we can. Making of such GUI is a bit tricky business but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General Purpose Containers are there to provide the solution.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u="sng" b="1">
                <a:solidFill>
                  <a:srgbClr val="000000"/>
                </a:solidFill>
                <a:latin typeface="Garamond"/>
                <a:ea typeface="Garamond"/>
              </a:rPr>
              <a:t>JPanel</a:t>
            </a:r>
            <a:endParaRPr lang="ko-KR" altLang="en-US" dirty="0" smtClean="0" sz="1074" u="sng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It is general purpose container (can‘t exist alone, it has to be in some toplevel container) in which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can put in different components (JButton , JTextField etc even other JPanels)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JPanel has its own layout that can be set while creating JPanel instance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JPanel myPanel = new JPanel ( new FlowLayout( ) 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components by using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add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like shown below.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myPanel.add (button 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Must be added to a top level container (like JFrame etc) in order to be visible as they (general purpose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containers) can‘t exist alone.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59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115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225" y="4453255"/>
            <a:ext cx="88265" cy="79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Solution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make the calculator GUI shown above, take JFrame (top level container) and set its layout to border. Than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take JPanel (general purpose container) and set its layout to Grid with 4 rows and 4 columns.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buttons to JPanel as they all have equal size and JPanel layout has been set to GridLayout. Afterthat,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text field to the north region, label to the south region and panel to the center region of the JFrame‘s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container. The east and west regions are left blank and the center region will be stretched to cover up these.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So, that‘s how we can build our calculator GUI.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Code for Calculator GUI</a:t>
            </a:r>
            <a:endParaRPr lang="ko-KR" altLang="en-US" dirty="0" smtClean="0" sz="1103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CalculatorGUI.java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CalculatorGUI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fCalc;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b1, b2, b3, b4, b5, b6, b7, b8, b9, b0;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bPlus, bMinus, bMul, bPoint, bEqual, bClear;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JPanel pButtons;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JTextField tfAnswer;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JLabel lMyCalc;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//method used for setting layout of GUI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fCalc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b0 = new JButton("0");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b1 = new JButton("1");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b2 = new JButton("2");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b3 = new JButton("3");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b4 = new JButton("4");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b5 = new JButton("5");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b6 = new JButton("6");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b7 = new JButton("7");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b8 = new JButton("8");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b9 = new JButton("9"); </a:t>
            </a:r>
            <a:endParaRPr lang="ko-KR" altLang="en-US" dirty="0" smtClean="0" sz="1103"/>
          </a:p>
          <a:p>
            <a:pPr marL="0" indent="0" defTabSz="15240"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62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116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225" y="890270"/>
            <a:ext cx="88265" cy="78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bPlus  = new JButton("+");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bMinus = new JButton("-");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bMul = new JButton("*");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bPoint = new JButton(".");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bEqual = new JButton("=");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bClear = new JButton("C");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tfAnswer = new JTextField();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lMyCalc = new JLabel("My Clacualator");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//creating panel object and setting its layout pButtons = new JPanel (new 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GridLayout(4,4));</a:t>
            </a:r>
            <a:endParaRPr lang="ko-KR" altLang="en-US" dirty="0" smtClean="0" sz="1074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//adding components (buttons) to panel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pButtons.add(b1);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pButtons.add(b2);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pButtons.add(b3);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pButtons.add(bClear);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pButtons.add(b4);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pButtons.add(b5);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pButtons.add(b6);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pButtons.add(bMul);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pButtons.add(b7);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pButtons.add(b8);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pButtons.add(b9);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pButtons.add(bMinus);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pButtons.add(b0);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pButtons.add(bPoint);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pButtons.add(bPlus);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pButtons.add(bEqual);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getting componenet area of JFrame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 = fCalc.getContentPane();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con.setLayout(new BorderLayout());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//adding components to container </a:t>
            </a:r>
            <a:endParaRPr lang="ko-KR" altLang="en-US" dirty="0" smtClean="0" sz="107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con.add(tfAnswer, BorderLayout.NORTH); 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con.add(lMyCalc, BorderLayout.SOUTH);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con.add(pButtons, BorderLayout.CENTER);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fcalc.setDefaultCloseOperation(JFrame.EXIT_ON_CLOSE); 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fCalc.setSize(300, 300);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fCalc.setVisible(true);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initGUI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CalculatorGUI () { // default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 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65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117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225" y="890270"/>
            <a:ext cx="88265" cy="78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CalculatorGUI calGUI = new CalculatorGUI 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of class </a:t>
            </a:r>
            <a:endParaRPr lang="ko-KR" altLang="en-US" dirty="0" smtClean="0" sz="1103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Reference: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Sun java tutorial: 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</a:rPr>
              <a:t>http://java.sun.com/docs/books/tutorial/java</a:t>
            </a:r>
            <a:endParaRPr lang="ko-KR" altLang="en-US" dirty="0" smtClean="0" sz="1103" u="sng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Thinking in java by Bruce Eckle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Beginning Java2 by Ivor Hortan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A Lab Course by Umair Javed </a:t>
            </a:r>
            <a:endParaRPr lang="ko-KR" altLang="en-US" dirty="0" smtClean="0" sz="1103"/>
          </a:p>
          <a:p>
            <a:pPr marL="0" indent="0" defTabSz="15240" algn="l">
              <a:lnSpc>
                <a:spcPts val="4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68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118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4550" y="5306695"/>
            <a:ext cx="5443220" cy="28403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Lesson 11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Event Handling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One of the most important aspects of most non-trivial applications (especially UI type- apps) is the ability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respond to events that are generated by the various components of the application, both in response to user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interactions and other system components such as client-server processing. In this handout we will look at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how Java supports event generation and handling and how to create (and process) custom events.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GUIs generate events when the user interacts with GUI. For example,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Clicking a button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Moving the mouse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Closing Window etc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Both AWT and swing components (not all) generate events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javax.swing.event.*;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java, events are represented by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These objects tells us about event and its source. Examples are: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ActionEvent (Clicking a button)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WindowEvent (Doing something with window e.g. closing , minimizing)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Some event classes of java.awt.event are shown in diagram below </a:t>
            </a:r>
            <a:endParaRPr lang="ko-KR" altLang="en-US" dirty="0" smtClean="0" sz="1103"/>
          </a:p>
          <a:p>
            <a:pPr marL="0" indent="0" defTabSz="15240" algn="l">
              <a:lnSpc>
                <a:spcPts val="30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71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119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Event Handling Model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Java both AWT and Swing components use Event Delegation Model.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In this model processing of an event is delegated to a particular object (handlers 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the program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It‘s a Publish-Subscribe model. That is, event generating component publish an event and  event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handling components subscribe for that event. The publisher sends these  events  to  subscribers.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Similar to the way that you subscribe for newspaper and you get the newspaper at your home from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publisher.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This model separates UI code from program logic, it means that we can create separate    classes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   UI  components  and  event  handlers  and  hence business/program logic is separated from GUI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components.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Event Handling Steps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a programmer the event Handling is a three step process in terms of code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Step 1: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Create components which can generate events (Event Generators)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Step 2: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Build component (objects) that can handle events (Event Handlers)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	Step 3: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Register handlers with generators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Event Handling Process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1: Event Generators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first step is that you create an event generator. You have already seen a lot of event generators like: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Buttons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Mouse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Key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Window etc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Most of GUI components can be created by calling their constructors. For example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b1 = new JButton(―Hello‖);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 b1 can generate events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We do not create Mouse/Keys etc as they are system components </a:t>
            </a:r>
            <a:endParaRPr lang="ko-KR" altLang="en-US" dirty="0" smtClean="0" sz="1103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74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120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1825" y="4093210"/>
            <a:ext cx="4187825" cy="364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2: Event Handlers/ Event Listener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second step is that you build components that can handle events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 Technique -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By Implementing Listener Interfaces</a:t>
            </a:r>
            <a:endParaRPr lang="ko-KR" altLang="en-US" dirty="0" smtClean="0" sz="1103" i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Java defines interfaces for every event type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If a class needs to handle an event. It needs to implement the corresponding listener interface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To handle ―ActionEvent‖ a class needs to implement ―ActionListener‖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To handle ―KeyEvent‖ a class needs to implement ―KeyListener‖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To handle ―MouseEvent‖ a class needs to implement ―MouseListener‖ and so on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Package java.awt.event contains different event Listener Interfaces which are shown in the following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figure </a:t>
            </a:r>
            <a:endParaRPr lang="ko-KR" altLang="en-US" dirty="0" smtClean="0" sz="1103"/>
          </a:p>
          <a:p>
            <a:pPr marL="0" indent="0" defTabSz="15240" algn="l">
              <a:lnSpc>
                <a:spcPts val="4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77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121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Some Example Listeners, the way they are defined in JDK by Sun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interface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ActionListener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actionPerformed(ActionEvent e);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interface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ItemListener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itemStateChanged(ItemEvent e);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interface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ComponentListener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componentHidden(ComponentEvent e);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componentMoved(ComponentEvent e);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componentResized(ComponentEvent e);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componentShown(ComponentEvent e);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By implementing an interface the class agrees to implement all the methods that are present in that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interface. Implementing an interface is like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signing a contract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Inside the method the class can do what ever it wants to do with that event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Event Generator and Event Handler can be the same or different classes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To   handle   events   generated   by   Button.    A    class    needs    to    implement ActionListener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interface and  thus  needs  to  provide  the  definition  of actionPerformed() method which is present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this interface. </a:t>
            </a:r>
            <a:endParaRPr lang="ko-KR" altLang="en-US" dirty="0" smtClean="0" sz="1103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Test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implements ActionListener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actionPerformed(ActionEvent ae)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do something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80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122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4550" y="3315970"/>
            <a:ext cx="4724400" cy="149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3: Registering Handler with Generator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event generator is told about the object which can handle its events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Event Generators have a method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addXXXListener(_reference to the object of Handler class_)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example, if b1 is JButton then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b1.addActionListener(this); // if listener and generator are same class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Event Handling Example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Clicking the ―Hello‖ button will open up a message dialog shown below. </a:t>
            </a:r>
            <a:endParaRPr lang="ko-KR" altLang="en-US" dirty="0" smtClean="0" sz="1103"/>
          </a:p>
          <a:p>
            <a:pPr marL="0" indent="0" defTabSz="15240" algn="l">
              <a:lnSpc>
                <a:spcPts val="1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will take the simplest approach of creating handler and generator in a single class. Button is our event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generator and to  handle  that  event  our  class  needs  to  implement ActionListener Interface and to override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its actionPerformed method and in last to do the registration </a:t>
            </a:r>
            <a:endParaRPr lang="ko-KR" altLang="en-US" dirty="0" smtClean="0" sz="1103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 import java.awt.event.*;</a:t>
            </a:r>
            <a:endParaRPr lang="ko-KR" altLang="en-US" dirty="0" smtClean="0" sz="1074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Implementing the interface according to the type of the event, i.e. creating event handler (first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part of step 2 of our process) 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public class ActionEventTest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implements ActionListner{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frame;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hello;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setting layout components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cont = 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cont.setLayout(new FlowLayout());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//Creating event generator step-1 of our process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hello = new JButton("Hello");</a:t>
            </a:r>
            <a:endParaRPr lang="ko-KR" altLang="en-US" dirty="0" smtClean="0" sz="1074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83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123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Registering event handler with event generator.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Since event handler is in same object that contains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button, we have used this to pass the reference.(step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3 of the process) */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hello.addActionListener(this);</a:t>
            </a:r>
            <a:endParaRPr lang="ko-KR" altLang="en-US" dirty="0" smtClean="0" sz="1074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cont.add(hello);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frame.setDefaultCloseOperation(JFrame.EXIT_ON_CLOSE);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frame.setSize(150, 150);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16.</a:t>
            </a:r>
            <a:endParaRPr lang="ko-KR" altLang="en-US" dirty="0" smtClean="0" sz="1072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public ActionEventTest ( 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19.</a:t>
            </a:r>
            <a:endParaRPr lang="ko-KR" altLang="en-US" dirty="0" smtClean="0" sz="1072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Override actionPerformed method of ActionListener‘s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interfacemethod of which will be called when event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takes place (second part of step 2 of our process) 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21.				public void actionPerformed(ActionEvent event) {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22.									JOptionPane.showMessageDialog(null,"Hello is pressed");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23.				}</a:t>
            </a:r>
            <a:endParaRPr lang="ko-KR" altLang="en-US" dirty="0" smtClean="0" sz="1074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public static void main(String args[])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ActionEventTest aeTest = new ActionEventTest();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}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27.}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8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86" name="Rect 3"/>
          <p:cNvSpPr>
            <a:spLocks noGrp="1" noChangeArrowheads="1"/>
          </p:cNvSpPr>
          <p:nvPr/>
        </p:nvSpPr>
        <p:spPr>
          <a:xfrm rot="0">
            <a:off x="1454150" y="2087880"/>
            <a:ext cx="1223010" cy="875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initGUI(); </a:t>
            </a:r>
            <a:endParaRPr lang="ko-KR" altLang="en-US" dirty="0" smtClean="0" sz="1103"/>
          </a:p>
        </p:txBody>
      </p:sp>
      <p:sp>
        <p:nvSpPr>
          <p:cNvPr id="387" name="Rect 3"/>
          <p:cNvSpPr>
            <a:spLocks noGrp="1" noChangeArrowheads="1"/>
          </p:cNvSpPr>
          <p:nvPr/>
        </p:nvSpPr>
        <p:spPr>
          <a:xfrm rot="0">
            <a:off x="1090930" y="2231390"/>
            <a:ext cx="5563870" cy="6927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17.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</a:t>
            </a:r>
            <a:endParaRPr lang="ko-KR" altLang="en-US" dirty="0" smtClean="0" sz="1103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20.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</a:t>
            </a:r>
            <a:endParaRPr lang="ko-KR" altLang="en-US" dirty="0" smtClean="0" sz="1103"/>
          </a:p>
          <a:p>
            <a:pPr marL="0" indent="0" defTabSz="15240" algn="l">
              <a:lnSpc>
                <a:spcPts val="46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124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7950" y="5005070"/>
            <a:ext cx="3903980" cy="9321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How Event Handling Participants interact Behind the Scenes?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have already seen that what a programmer needs to do handle events. 	Let‘s see what takes place behind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scenes, i.e How JVM handles event. Before doing that lets revisit different participants of Event Handling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Process and briefly what they do.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Event Generator / Source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Swing and awt components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For example, JButton, JTextField, JFrame etc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Generates an event object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Registers listeners with itself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Event Object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Encapsulate information about event that occurred and the source of that event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For example, if you click a button, ActionEvent object is created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Event Listener/handler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Receives event objects when notified, then responds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Each event source can have multiple listeners registered on it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Conversely, a single listener can register with multiple event sources </a:t>
            </a:r>
            <a:endParaRPr lang="ko-KR" altLang="en-US" dirty="0" smtClean="0" sz="1103"/>
          </a:p>
          <a:p>
            <a:pPr marL="0" indent="0" defTabSz="15240" algn="l">
              <a:lnSpc>
                <a:spcPts val="1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JVM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Receives an event whenever one is generated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Looks for the listener/handler of that event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If exist, delegate it for processing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If not, discard it (event). </a:t>
            </a:r>
            <a:endParaRPr lang="ko-KR" altLang="en-US" dirty="0" smtClean="0" sz="1103"/>
          </a:p>
          <a:p>
            <a:pPr marL="0" indent="0" defTabSz="15240"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90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125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5655" y="1816735"/>
            <a:ext cx="4867275" cy="36480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button generates an ActionEvent it is sent to JVM which puts it in an event queue. After that when JVM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find it appropriate it de-queue the event object and send it to all the listeners that are registered with that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button. This is all what we shown in the pictorial form below: </a:t>
            </a:r>
            <a:endParaRPr lang="ko-KR" altLang="en-US" dirty="0" smtClean="0" sz="1103"/>
          </a:p>
          <a:p>
            <a:pPr marL="0" indent="0" defTabSz="15240" algn="l">
              <a:lnSpc>
                <a:spcPts val="3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(figure from JAVA A Lab Course) </a:t>
            </a:r>
            <a:endParaRPr lang="ko-KR" altLang="en-US" dirty="0" smtClean="0" sz="1103"/>
          </a:p>
          <a:p>
            <a:pPr marL="0" indent="0" defTabSz="15240" algn="l">
              <a:lnSpc>
                <a:spcPts val="2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93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126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9230" y="2706370"/>
            <a:ext cx="2118360" cy="22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03630" y="2703830"/>
            <a:ext cx="2112010" cy="22948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Making Small Calculator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User enters numbers in the provided fields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pressing ―+‖ button, sum would be displayed in the answer field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pressing ―*‖ button, product would be displayed in the answer field </a:t>
            </a:r>
            <a:endParaRPr lang="ko-KR" altLang="en-US" dirty="0" smtClean="0" sz="1103"/>
          </a:p>
          <a:p>
            <a:pPr marL="0" indent="0" defTabSz="15240" algn="l">
              <a:lnSpc>
                <a:spcPts val="5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96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127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Making Small Calculator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import 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public class SmallCalcApp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implements ActionListener{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JFrame frame;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JLabel firstOperand, secondOperand, answer;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JTextField op1, op2, ans;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JButton plus, mul;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// setting layout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firstOperand = new JLabel("First Operand");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secondOperand = new JLabel("Second Operand");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answer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= new JLabel("Answer");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op1 = new JTextField (15);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op2 = new JTextField (15);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ans = new JTextField (15);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plus = new JButton("+");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plus.setPreferredSize(new   Dimension(70,25));</a:t>
            </a:r>
            <a:endParaRPr lang="ko-KR" altLang="en-US" dirty="0" smtClean="0" sz="1072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mul = new JButton("*");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mul.setPreferredSize(new   Dimension(70,25));</a:t>
            </a:r>
            <a:endParaRPr lang="ko-KR" altLang="en-US" dirty="0" smtClean="0" sz="107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cont = 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cont.setLayout(new FlowLayout());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cont.add(firstOperand);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cont.add(op1);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cont.add(secondOperand);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cont.add(op2);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cont.add(plus);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cont.add(mul);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cont.add(answer);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cont.add(ans);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plus.addActionListener(this);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mul.addActionListener(this);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frame.setDefaultCloseOperation(JFrame.EXIT_ON_CLOSE);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frame.setSize(200, 220);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37.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SmallCalcApp ( 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initGUI();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399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128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						public void actionPerformed(ActionEvent event) {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String oper, result;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 num1, num2, res;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All the information regarding an event is contained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inside the event object. Here we are calling the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getSource() method on the event object to figure out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button that has generated that event.  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if (event.getSource() == plus) {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oper = op1.getText();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num1 = Integer.parseInt(oper);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oper = op2.getText();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num2 = Integer.parseInt (oper);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res = num1+num2;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result = res+"";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52.</a:t>
            </a:r>
            <a:endParaRPr lang="ko-KR" altLang="en-US" dirty="0" smtClean="0" sz="1074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else if (event.getSource() == mul) {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oper = op1.getText();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num1 = Integer.parseInt(oper);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oper = op2.getText();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num2 = Integer.parseInt (oper);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res = num1*num2;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result = res+"";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61.</a:t>
            </a:r>
            <a:endParaRPr lang="ko-KR" altLang="en-US" dirty="0" smtClean="0" sz="1074" b="1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args[])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SmallCalcApp scApp = new SmallCalcApp();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66.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}//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02" name="Rect 3"/>
          <p:cNvSpPr>
            <a:spLocks noGrp="1" noChangeArrowheads="1"/>
          </p:cNvSpPr>
          <p:nvPr/>
        </p:nvSpPr>
        <p:spPr>
          <a:xfrm rot="0">
            <a:off x="1505585" y="3986530"/>
            <a:ext cx="1101725" cy="1999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ans.setText(result);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ans.setText(result);</a:t>
            </a:r>
            <a:endParaRPr lang="ko-KR" altLang="en-US" dirty="0" smtClean="0" sz="1074" b="1"/>
          </a:p>
        </p:txBody>
      </p:sp>
      <p:sp>
        <p:nvSpPr>
          <p:cNvPr id="403" name="Rect 3"/>
          <p:cNvSpPr>
            <a:spLocks noGrp="1" noChangeArrowheads="1"/>
          </p:cNvSpPr>
          <p:nvPr/>
        </p:nvSpPr>
        <p:spPr>
          <a:xfrm rot="0">
            <a:off x="1090930" y="4130040"/>
            <a:ext cx="5563870" cy="502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53.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62.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2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129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12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More Examples of Handling Events</a:t>
            </a:r>
            <a:endParaRPr lang="ko-KR" altLang="en-US" dirty="0" smtClean="0" sz="1103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Handling Mouse Event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Mouse events can be trapped for any GUI component that inherits from Component class. For example, JPanel,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&amp; JButton etc.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handle Mouse events, two types of listener interfaces are available.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MouseMotionListener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MouseListener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class that wants to handle mouse event needs to implement the corresponding interface and needs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provide the definition of all the methods in that interface.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MouseMotionListener interface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Used for processing mouse motion events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Mouse motion event is generated when mouse is moved or dragged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MouseMotionListener interfaces is defined in JDK as follows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interface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MouseMotionListener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mouseDragged (MouseEvent me);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mouseMoved (MouseEvent me);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MouseListener interface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Used for processing ―interesting‖ mouse events like when mouse is: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Pressed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Released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Clicked (pressed &amp; released without moving the cursor)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Enter (mouse cursor enters the bounds of component)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Exit (mouse cursor leaves the bounds of component) </a:t>
            </a:r>
            <a:endParaRPr lang="ko-KR" altLang="en-US" dirty="0" smtClean="0" sz="1103"/>
          </a:p>
          <a:p>
            <a:pPr marL="0" indent="0" defTabSz="15240" algn="l">
              <a:lnSpc>
                <a:spcPts val="1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06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130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MouseListener interfaces is defined in JDK as follows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interface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MouseListener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mousePressed (MouseEvent me);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mouseClicked (MouseEvent me);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mouseReleased (MouseEvent me);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mouseEntered (MouseEvent me);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mouseExited (MouseEvent me);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Handling Mouse Events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 to show Mouse Event Handling .Every time mouse is moved, the coordinates for a new place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shown in a label.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import 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public class EventsEx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implements MouseMotionListener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JFrame frame;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JLabel coordinates;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// setting layout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event generator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cont = 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cont.setLayout(new BorderLayout( ) 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coordinates = new JLabel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cont.add(coordinates,    BorderLayout.NORTH);</a:t>
            </a:r>
            <a:endParaRPr lang="ko-KR" altLang="en-US" dirty="0" smtClean="0" sz="107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registring mouse event handler with generator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16.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frame.addMouseMotionListener(this);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frame.setDefaultCloseOperation(JFrame.EXIT_ON_CLOSE);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frame.setSize(350, 350);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initGUI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//default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EventsEx ( 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09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131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MouseMotionListener event hadler handling dragging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mouseDragged (MouseEvent me) {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 x = me.getX();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 y = me.getY();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coordinates.setText("Dragged at [" + x + "," + y + "]");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// MouseMotionListener event handler handling motion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mouseMoved (MouseEvent me) {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 x = me.getX();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 y = me.getY();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coordinates.setText("Moved at [" + x + "," + y + "]");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args[])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EventsEx ex = new EventsEx();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3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12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132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5655" y="3313430"/>
            <a:ext cx="1520825" cy="15176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43400" y="3542030"/>
            <a:ext cx="1627505" cy="7404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103" u="sng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Another Example: Handling Window Events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Task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want to handle Window Exit event only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Why?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window is closed, control should return back to command prompt.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But we have already achieved this functionality through following line of code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frame.setDefaultCloseOperation(JFrame.EXIT_ON_CLOSE);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But, what if we want to display some message (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Good Bye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) before exiting? </a:t>
            </a:r>
            <a:endParaRPr lang="ko-KR" altLang="en-US" dirty="0" smtClean="0" sz="1103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user closes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window, Message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would be displayed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pressing Ok button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program will exit </a:t>
            </a:r>
            <a:endParaRPr lang="ko-KR" altLang="en-US" dirty="0" smtClean="0" sz="1103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How?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handle window events, we need to implement ―WindowListner‖ interface.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―WindowListner‖  interface  contains 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	7 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methods  We  require  only  one  i.e.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windowClosing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But, We have to provide definitions of all methods to make our class a concrete class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WindowListener interface is defined in the JDK as follows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interface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WindowListener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windowActivated(WindowEvent we);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windowClosed(WindowEvent we);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windowClosing(WindowEvent we); 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windowDeactivated(WindowEvent we);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windowDeiconified(WindowEvent we);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windowIconified(WindowEvent we);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windowClosing(WindowEvent we is our required method </a:t>
            </a:r>
            <a:endParaRPr lang="ko-KR" altLang="en-US" dirty="0" smtClean="0" sz="1103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15" name="Rect 3"/>
          <p:cNvSpPr>
            <a:spLocks noGrp="1" noChangeArrowheads="1"/>
          </p:cNvSpPr>
          <p:nvPr/>
        </p:nvSpPr>
        <p:spPr>
          <a:xfrm rot="0">
            <a:off x="1551305" y="7912735"/>
            <a:ext cx="5103495" cy="1246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public void windowOpened(WindowEvent we); </a:t>
            </a:r>
            <a:endParaRPr lang="ko-KR" altLang="en-US" dirty="0" smtClean="0" sz="1103"/>
          </a:p>
          <a:p>
            <a:pPr marL="0" indent="0" defTabSz="15240" algn="l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133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WindowExitHandler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example code is modification of the last code example i.e. EventsEx.java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EventsEx implements MouseMotionListener ,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frame;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JLabel coordinates;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setting layout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event generator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cont = 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cont.setLayout(new BorderLayout( ) 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coordinates = new JLabel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cont.add(coordinates,    BorderLayout.NORTH);</a:t>
            </a:r>
            <a:endParaRPr lang="ko-KR" altLang="en-US" dirty="0" smtClean="0" sz="107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registring mouse event handler with generator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frame.addMouseMotionListener(this);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registering window handler with generator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14.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frame.addWindowListener(this);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frame.setSize(350, 350);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initGUI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//default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EventsEx ( 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initGUI();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MouseMotionListener event hadler handling dragging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mouseDragged (MouseEvent me) {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x = me.getX();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y = me.getY();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coordinates.setText("Dragged at [" + x + "," + y + "]");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18" name="Rect 3"/>
          <p:cNvSpPr>
            <a:spLocks noGrp="1" noChangeArrowheads="1"/>
          </p:cNvSpPr>
          <p:nvPr/>
        </p:nvSpPr>
        <p:spPr>
          <a:xfrm rot="0">
            <a:off x="3953510" y="2182495"/>
            <a:ext cx="2701290" cy="6976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WindowListener {</a:t>
            </a:r>
            <a:endParaRPr lang="ko-KR" altLang="en-US" dirty="0" smtClean="0" sz="1074" b="1"/>
          </a:p>
          <a:p>
            <a:pPr marL="0" indent="0" defTabSz="15240" algn="l">
              <a:lnSpc>
                <a:spcPts val="5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134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MouseMotionListener event handler handling motion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mouseMoved (MouseEvent me) {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x = me.getX();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28.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coordinates.setText("Moved at [" + x + "," + y + "]");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window listener event handler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windowActivated (WindowEvent we) {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windowClosed (WindowEvent we) {  }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windowClosing (WindowEvent we) {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35.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System.exit(0);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windowDeactivated (WindowEvent we) {   }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windowDeiconified (WindowEvent we) {   }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windowIconified (WindowEvent we) {   }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windowOpened (WindowEvent we) {   }</a:t>
            </a:r>
            <a:endParaRPr lang="ko-KR" altLang="en-US" dirty="0" smtClean="0" sz="1074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args[])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EventsEx ex = new EventsEx();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21" name="Rect 3"/>
          <p:cNvSpPr>
            <a:spLocks noGrp="1" noChangeArrowheads="1"/>
          </p:cNvSpPr>
          <p:nvPr/>
        </p:nvSpPr>
        <p:spPr>
          <a:xfrm rot="0">
            <a:off x="1530350" y="1597025"/>
            <a:ext cx="3030220" cy="17252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int y = me.getY(); </a:t>
            </a:r>
            <a:endParaRPr lang="ko-KR" altLang="en-US" dirty="0" smtClean="0" sz="1103"/>
          </a:p>
          <a:p>
            <a:pPr marL="0" indent="0" defTabSz="15240" algn="l">
              <a:lnSpc>
                <a:spcPts val="1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JOptionPane.showMessageDialog(null, 	“Good 	Bye”);</a:t>
            </a:r>
            <a:endParaRPr lang="ko-KR" altLang="en-US" dirty="0" smtClean="0" sz="1074" b="1"/>
          </a:p>
        </p:txBody>
      </p:sp>
      <p:sp>
        <p:nvSpPr>
          <p:cNvPr id="422" name="Rect 3"/>
          <p:cNvSpPr>
            <a:spLocks noGrp="1" noChangeArrowheads="1"/>
          </p:cNvSpPr>
          <p:nvPr/>
        </p:nvSpPr>
        <p:spPr>
          <a:xfrm rot="0">
            <a:off x="978535" y="1743710"/>
            <a:ext cx="5676265" cy="74155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29. </a:t>
            </a:r>
            <a:endParaRPr lang="ko-KR" altLang="en-US" dirty="0" smtClean="0" sz="1103"/>
          </a:p>
          <a:p>
            <a:pPr marL="0" indent="0" defTabSz="15240" algn="l">
              <a:lnSpc>
                <a:spcPts val="1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36.</a:t>
            </a:r>
            <a:endParaRPr lang="ko-KR" altLang="en-US" dirty="0" smtClean="0" sz="1074" b="1"/>
          </a:p>
          <a:p>
            <a:pPr marL="0" indent="0" defTabSz="15240" algn="l">
              <a:lnSpc>
                <a:spcPts val="4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135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Lesson 13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Problem in Last Code Example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Problem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We were interested in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windowClosing()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only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But have to provide definitions of all the methods, Why?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Because  a  class  implementing  an  interface  has  to  provide  definitions  of  all methods present in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that interface.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Solution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To avoid giving implementations of all methods of an interface when we are not using these methods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use Event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Adapter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classes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Adapter Classes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For listener interfaces containing more than one event handling methods, jdk defines adapter classes.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Examples are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For WindowListener Æ WindowAdapter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For MouseMotionListener Æ MouseMotionAdapter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and many more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Adapter classes provide definitions for all the methods (empty bodies) of their corresponding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Listener interface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It means that WindowAdapter class implements WindowListener interface and provide the definition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all methods inside that Listener interface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Consider the following example of MouseMotionAdapter and its corresponding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MouseMotionListener interface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interface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MouseMotionListener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mouseDragged (MouseEvent me);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MouseMotionAdapter implements MouseMotionListener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072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mouseDragged (MouseEvent me) { 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25" name="Rect 3"/>
          <p:cNvSpPr>
            <a:spLocks noGrp="1" noChangeArrowheads="1"/>
          </p:cNvSpPr>
          <p:nvPr/>
        </p:nvSpPr>
        <p:spPr>
          <a:xfrm rot="0">
            <a:off x="1295400" y="7028815"/>
            <a:ext cx="5359400" cy="2130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public void mouseMoved (MouseEvent me); </a:t>
            </a:r>
            <a:endParaRPr lang="ko-KR" altLang="en-US" dirty="0" smtClean="0" sz="1103"/>
          </a:p>
          <a:p>
            <a:pPr marL="0" indent="0" defTabSz="15240"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public void mouseMoved (MouseEvent me)  { } </a:t>
            </a:r>
            <a:endParaRPr lang="ko-KR" altLang="en-US" dirty="0" smtClean="0" sz="1103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136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8720" y="1222375"/>
            <a:ext cx="4458970" cy="26422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Available Adapter classes</a:t>
            </a:r>
            <a:endParaRPr lang="ko-KR" altLang="en-US" dirty="0" smtClean="0" sz="1103" b="1"/>
          </a:p>
          <a:p>
            <a:pPr marL="0" indent="0" defTabSz="15240" algn="l">
              <a:lnSpc>
                <a:spcPts val="2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How to use Adapter Classes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Previously handler class need to implement interface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EventsEx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implements MouseMotionListener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{...}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Therefore it has to provide definitions of all the methods inside that interface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 our handler class will inherit from adapter class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EventsEx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extends MouseMotionAdapter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{...}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Due to inheritance, all the methods of the adapter class will be available inside our handler class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Since adapter classes has already provided definitions with empty bodies.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do not have to provide implementations of all the methods again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only need to override our method of interest. </a:t>
            </a:r>
            <a:endParaRPr lang="ko-KR" altLang="en-US" dirty="0" smtClean="0" sz="1103"/>
          </a:p>
          <a:p>
            <a:pPr marL="0" indent="0" defTabSz="15240" algn="l">
              <a:lnSpc>
                <a:spcPts val="1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28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137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 13.1: Handling Window Events using Adapter Classes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Here  we  are  modifying  the  window  event  code  in  the  last  example  to  show  the  use  of WindowAdapter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instead of WindowListener. Code related to MouseMotionListener is deleted to avoid cluttering of code.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EventsEx extends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WindowAdapter {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frame;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JLabel coordinates;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setting layout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event generator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cont = 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cont.setLayout(new BorderLayout( ) 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coordinates = new JLabel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cont.add(coordinates,    BorderLayout.NORTH);</a:t>
            </a:r>
            <a:endParaRPr lang="ko-KR" altLang="en-US" dirty="0" smtClean="0" sz="107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registering window handler with generator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frame.addWindowListener(this);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frame.setSize(350, 350);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initGUI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EventsEx ( 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initGUI();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As you can see that we have only implemented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our required method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windowClosing (WindowEvent we) {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21.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System.exit(0);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args[])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EventsEx ex = new EventsEx();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31" name="Rect 3"/>
          <p:cNvSpPr>
            <a:spLocks noGrp="1" noChangeArrowheads="1"/>
          </p:cNvSpPr>
          <p:nvPr/>
        </p:nvSpPr>
        <p:spPr>
          <a:xfrm rot="0">
            <a:off x="1530350" y="6885305"/>
            <a:ext cx="3030220" cy="15557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32" name="Rect 3"/>
          <p:cNvSpPr>
            <a:spLocks noGrp="1" noChangeArrowheads="1"/>
          </p:cNvSpPr>
          <p:nvPr/>
        </p:nvSpPr>
        <p:spPr>
          <a:xfrm rot="0">
            <a:off x="978535" y="5589905"/>
            <a:ext cx="5676265" cy="3569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//default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0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22.</a:t>
            </a:r>
            <a:endParaRPr lang="ko-KR" altLang="en-US" dirty="0" smtClean="0" sz="1072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138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36650" y="4907280"/>
            <a:ext cx="5562600" cy="28562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Problem in Last Code Example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have inherited from WindowAdapter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What if we want to use MouseMotionAdpater as well ? or what if our class already inherited form some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other class ?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Problem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Java allows single inheritance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Solution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Use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Inner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classes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Inner Classes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class defined inside another class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Inner class can access the instance variables and members of outer class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It can have constructors, instance variables and methods, just like a regular class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Generally used as a private utility class which does not need to be seen by others classes </a:t>
            </a:r>
            <a:endParaRPr lang="ko-KR" altLang="en-US" dirty="0" smtClean="0" sz="1103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GUI class (contains GUI creation code)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tf is a JTextField </a:t>
            </a:r>
            <a:endParaRPr lang="ko-KR" altLang="en-US" dirty="0" smtClean="0" sz="1103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Handler class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contains event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Inner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•tf is accessible here </a:t>
            </a:r>
            <a:endParaRPr lang="ko-KR" altLang="en-US" dirty="0" smtClean="0" sz="1103"/>
          </a:p>
          <a:p>
            <a:pPr marL="0" indent="0" defTabSz="15240" algn="l">
              <a:lnSpc>
                <a:spcPts val="1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35" name="Rect 3"/>
          <p:cNvSpPr>
            <a:spLocks noGrp="1" noChangeArrowheads="1"/>
          </p:cNvSpPr>
          <p:nvPr/>
        </p:nvSpPr>
        <p:spPr>
          <a:xfrm rot="0">
            <a:off x="3176270" y="5132705"/>
            <a:ext cx="3478530" cy="40265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Outer 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handling code </a:t>
            </a:r>
            <a:endParaRPr lang="ko-KR" altLang="en-US" dirty="0" smtClean="0" sz="1103"/>
          </a:p>
          <a:p>
            <a:pPr marL="0" indent="0" defTabSz="15240" algn="l">
              <a:lnSpc>
                <a:spcPts val="18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139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Code13.2: Handling Window Event with Inner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Here we are modifying the window event code in the last example to show the use of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WindowAdapter as an inner class.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EventEx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frame;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JLabel coordinates;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setting layout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cont = 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cont.setLayout(new BorderLayout( ));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coordinates = new JLabel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cont.add(coordinates,    BorderLayout.NORTH);</a:t>
            </a:r>
            <a:endParaRPr lang="ko-KR" altLang="en-US" dirty="0" smtClean="0" sz="107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Creating an object of the class which is handling our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 events and registering it with generator 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WindowHandler handler = new Window Handler 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frame.addWindowListener(handler);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frame.setSize(350, 350);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// end initGUI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//default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public EventEx ( 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20.</a:t>
            </a:r>
            <a:endParaRPr lang="ko-KR" altLang="en-US" dirty="0" smtClean="0" sz="1072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Inner class implementation of window adapter. Outer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is free to inherit from any other class. 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private class WindowHandler extends WindowAdapter {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Event Handler for WindowListener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windowClosing (WindowEvent we) {</a:t>
            </a:r>
            <a:endParaRPr lang="ko-KR" altLang="en-US" dirty="0" smtClean="0" sz="1074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24.</a:t>
            </a:r>
            <a:endParaRPr lang="ko-KR" altLang="en-US" dirty="0" smtClean="0" sz="107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25.</a:t>
            </a:r>
            <a:endParaRPr lang="ko-KR" altLang="en-US" dirty="0" smtClean="0" sz="1072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27.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		} // end of WindowHandler class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public static void main(String args[])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29.</a:t>
            </a:r>
            <a:endParaRPr lang="ko-KR" altLang="en-US" dirty="0" smtClean="0" sz="107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31.}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38" name="Rect 3"/>
          <p:cNvSpPr>
            <a:spLocks noGrp="1" noChangeArrowheads="1"/>
          </p:cNvSpPr>
          <p:nvPr/>
        </p:nvSpPr>
        <p:spPr>
          <a:xfrm rot="0">
            <a:off x="1341120" y="6123305"/>
            <a:ext cx="1595120" cy="2444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initGUI(); </a:t>
            </a:r>
            <a:endParaRPr lang="ko-KR" altLang="en-US" dirty="0" smtClean="0" sz="1103"/>
          </a:p>
          <a:p>
            <a:pPr marL="0" indent="0" defTabSz="15240" algn="l">
              <a:lnSpc>
                <a:spcPts val="1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System.exit(0)</a:t>
            </a:r>
            <a:endParaRPr lang="ko-KR" altLang="en-US" dirty="0" smtClean="0" sz="1074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EventEx e = new EventEx(); </a:t>
            </a:r>
            <a:endParaRPr lang="ko-KR" altLang="en-US" dirty="0" smtClean="0" sz="1103"/>
          </a:p>
        </p:txBody>
      </p:sp>
      <p:sp>
        <p:nvSpPr>
          <p:cNvPr id="439" name="Rect 3"/>
          <p:cNvSpPr>
            <a:spLocks noGrp="1" noChangeArrowheads="1"/>
          </p:cNvSpPr>
          <p:nvPr/>
        </p:nvSpPr>
        <p:spPr>
          <a:xfrm rot="0">
            <a:off x="978535" y="6269990"/>
            <a:ext cx="5676265" cy="2889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21.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</a:t>
            </a:r>
            <a:endParaRPr lang="ko-KR" altLang="en-US" dirty="0" smtClean="0" sz="1103"/>
          </a:p>
          <a:p>
            <a:pPr marL="0" indent="0" defTabSz="15240" algn="l">
              <a:lnSpc>
                <a:spcPts val="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JOptionPane.showMessageDialog(null, 	“Good Bye”);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26.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30.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}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140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7320" y="1791970"/>
            <a:ext cx="5132705" cy="25787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 13.3: Handling Window and Mouse Events with Inner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Here we are modifying the window event code of the last example to handle window and mouse events using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inner classes. The diagram given below summarizes the approach. </a:t>
            </a:r>
            <a:endParaRPr lang="ko-KR" altLang="en-US" dirty="0" smtClean="0" sz="1103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Inner class Handling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Mouse Events 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GUI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other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code</a:t>
            </a:r>
            <a:endParaRPr lang="ko-KR" altLang="en-US" dirty="0" smtClean="0" sz="1074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Inner class 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Handling 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Window</a:t>
            </a:r>
            <a:endParaRPr lang="ko-KR" altLang="en-US" dirty="0" smtClean="0" sz="1074" b="1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EventEx 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frame;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JLabel coordinates;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setting layout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cont = 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cont.setLayout(new BorderLayout( ) 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coordinates = new JLabel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cont.add(coordinates,    BorderLayout.NORTH);</a:t>
            </a:r>
            <a:endParaRPr lang="ko-KR" altLang="en-US" dirty="0" smtClean="0" sz="107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Creating an object of the class which is handling our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 events and registering it with generator */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WindowHandler whandler = new WindowHandler 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frame.addWindowListener(whandler);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Creating an object of the class which is handling our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MouseMotion events &amp; registering it with generator */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MouseHandler mhandler = new MouseHandler 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frame.addMouseMotionListener(mhandler);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frame.setSize(350, 350);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42" name="Rect 3"/>
          <p:cNvSpPr>
            <a:spLocks noGrp="1" noChangeArrowheads="1"/>
          </p:cNvSpPr>
          <p:nvPr/>
        </p:nvSpPr>
        <p:spPr>
          <a:xfrm rot="0">
            <a:off x="5629910" y="2740025"/>
            <a:ext cx="1140460" cy="64192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Outer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for</a:t>
            </a:r>
            <a:endParaRPr lang="ko-KR" altLang="en-US" dirty="0" smtClean="0" sz="1074" b="1"/>
          </a:p>
          <a:p>
            <a:pPr marL="0" indent="0" defTabSz="15240" algn="l">
              <a:lnSpc>
                <a:spcPts val="4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141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//default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public EventEx ( 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Inner class implementation of WindowAdapter. Outer class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is free to inherit from any other class. */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24.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private class WindowHandler extends WindowAdapter {</a:t>
            </a:r>
            <a:endParaRPr lang="ko-KR" altLang="en-US" dirty="0" smtClean="0" sz="1074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Event Handler for WindowListener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windowClosing (WindowEvent we) {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JOptionPane.showMessageDialog(null, 	“Good Bye”);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27.</a:t>
            </a:r>
            <a:endParaRPr lang="ko-KR" altLang="en-US" dirty="0" smtClean="0" sz="1072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29.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		} // end of WindowHandler</a:t>
            </a:r>
            <a:endParaRPr lang="ko-KR" altLang="en-US" dirty="0" smtClean="0" sz="1074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//Inner class implementation of MouseMotionAdapter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30.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private class MouseHandler extends MouseMotionAdapter {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Event Handler for mouse motion events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31.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				public void mouseMoved (MouseEvent me) {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 x = me.getX();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int y = me.getY();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34.</a:t>
            </a:r>
            <a:endParaRPr lang="ko-KR" altLang="en-US" dirty="0" smtClean="0" sz="1072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36.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} // end of MouseHandler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37.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public static void main(String args[])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38.</a:t>
            </a:r>
            <a:endParaRPr lang="ko-KR" altLang="en-US" dirty="0" smtClean="0" sz="1072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40.}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45" name="Rect 3"/>
          <p:cNvSpPr>
            <a:spLocks noGrp="1" noChangeArrowheads="1"/>
          </p:cNvSpPr>
          <p:nvPr/>
        </p:nvSpPr>
        <p:spPr>
          <a:xfrm rot="0">
            <a:off x="1341120" y="2663825"/>
            <a:ext cx="2838450" cy="274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System.exit(0)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coord.setText(“Moved at [" + x + "," + y + "]” 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EventEx e = new EventEx(); </a:t>
            </a:r>
            <a:endParaRPr lang="ko-KR" altLang="en-US" dirty="0" smtClean="0" sz="1103"/>
          </a:p>
        </p:txBody>
      </p:sp>
      <p:sp>
        <p:nvSpPr>
          <p:cNvPr id="446" name="Rect 3"/>
          <p:cNvSpPr>
            <a:spLocks noGrp="1" noChangeArrowheads="1"/>
          </p:cNvSpPr>
          <p:nvPr/>
        </p:nvSpPr>
        <p:spPr>
          <a:xfrm rot="0">
            <a:off x="978535" y="2807335"/>
            <a:ext cx="5676265" cy="63519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28.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35.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				}</a:t>
            </a:r>
            <a:endParaRPr lang="ko-KR" altLang="en-US" dirty="0" smtClean="0" sz="1074" b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39.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} </a:t>
            </a:r>
            <a:endParaRPr lang="ko-KR" altLang="en-US" dirty="0" smtClean="0" sz="1103"/>
          </a:p>
          <a:p>
            <a:pPr marL="0" indent="0" defTabSz="15240" algn="l">
              <a:lnSpc>
                <a:spcPts val="2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142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9230" y="2685415"/>
            <a:ext cx="2118360" cy="22828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03630" y="2675890"/>
            <a:ext cx="2112010" cy="23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Making Small Calculator using Inner classes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User enters numbers in the provided fields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pressing ―+‖ button, sum would be displayed in the answer field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pressing ―*‖ button, product would be displayed in the answer field </a:t>
            </a:r>
            <a:endParaRPr lang="ko-KR" altLang="en-US" dirty="0" smtClean="0" sz="1103"/>
          </a:p>
          <a:p>
            <a:pPr marL="0" indent="0" defTabSz="15240" algn="l">
              <a:lnSpc>
                <a:spcPts val="5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49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143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import 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public class SmallCalcApp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implements ActionListener{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JFrame frame;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JLabel firstOperand, secondOperand, answer;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JTextField op1, op2, ans;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JButton plus, mul;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// setting layout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firstOperand = new JLabel("First Operand");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secondOperand = new JLabel("Second Operand");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answer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= new JLabel("Answer");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op1 = new JTextField (15);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op2 = new JTextField (15);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ans = new JTextField (15);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plus = new JButton("+");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plus.setPreferredSize(new   Dimension(70,25));</a:t>
            </a:r>
            <a:endParaRPr lang="ko-KR" altLang="en-US" dirty="0" smtClean="0" sz="1072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mul = new JButton("*");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mul.setPreferredSize(new   Dimension(70,25));</a:t>
            </a:r>
            <a:endParaRPr lang="ko-KR" altLang="en-US" dirty="0" smtClean="0" sz="107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cont = 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cont.setLayout(new FlowLayout());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cont.add(firstOperand);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cont.add(op1);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cont.add(secondOperand);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cont.add(op2);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cont.add(plus);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cont.add(mul);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cont.add(answer);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cont.add(ans);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Creating an object of the class which is handling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button events &amp; registering it with generators */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ButtonHandler bHandler = new ButtonHandler();</a:t>
            </a:r>
            <a:endParaRPr lang="ko-KR" altLang="en-US" dirty="0" smtClean="0" sz="1074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plus.addActionListener(bHandler);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mul.addActionListener(bHandler);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frame.setDefaultCloseOperation(JFrame.EXIT_ON_CLOSE);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frame.setSize(200, 220);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38.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52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144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39.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//constructor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SmallCalcApp ( 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initGUI();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//Inner class implementation of ActionListener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						private class ButtonHandler implements ActionListener{</a:t>
            </a:r>
            <a:endParaRPr lang="ko-KR" altLang="en-US" dirty="0" smtClean="0" sz="1074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actionPerformed(ActionEvent event) {</a:t>
            </a:r>
            <a:endParaRPr lang="ko-KR" altLang="en-US" dirty="0" smtClean="0" sz="1074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oper, result;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num1, num2, res;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(event.getSource() == plus)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oper = op1.getText();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num1 = Integer.parseInt(oper);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oper = op2.getText();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num2 = Integer.parseInt (oper);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 = num1+num2;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 = res+"";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ans.setText(result);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55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else if (event.getSource() == mul)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oper = op1.getText();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num1 = Integer.parseInt(oper);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oper = op2.getText();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num2 = Integer.parseInt (oper);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 = num1*num2;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 = res+"";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ans.setText(result);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64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65. 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							} // end actionPerformed method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66.  } // end inner class ButtonHandler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args[])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SmallCalcApp scApp = new SmallCalcApp();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70.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}//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55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145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Anonymous Inner Classes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Has no name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Same as inner class in capabilities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much shorter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difficult to understand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Named vs. Anonymous Objects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Named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String s = ―hello‖; System.out.println(s);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―hello‖ has a named reference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s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Anonymous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System.out.println(―hello‖);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generally use anonymous object when there is just a one time use of a particular object but in case of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repeated use we generally used named objects and use that named reference to use that objects again and again. </a:t>
            </a:r>
            <a:endParaRPr lang="ko-KR" altLang="en-US" dirty="0" smtClean="0" sz="1103"/>
          </a:p>
          <a:p>
            <a:pPr marL="0" indent="0" defTabSz="15240" algn="l">
              <a:lnSpc>
                <a:spcPts val="3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58" name="Rect 3"/>
          <p:cNvSpPr>
            <a:spLocks noGrp="1" noChangeArrowheads="1"/>
          </p:cNvSpPr>
          <p:nvPr/>
        </p:nvSpPr>
        <p:spPr>
          <a:xfrm rot="0">
            <a:off x="6385560" y="901890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146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 13.4 Handling Window Event with Anonymous Inner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Here we are modifying the window event code of 13.3 to show the use of anonymous inner class.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EventsEx extends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WindowAdapter {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frame;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JLabel coordinates;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setting layout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initGUI ( 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event generator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cont = frame.getContentPane();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cont.setLayout(new BorderLayout( ) 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coordinates = new JLabel 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cont.add(coordinates,    BorderLayout.NORTH);</a:t>
            </a:r>
            <a:endParaRPr lang="ko-KR" altLang="en-US" dirty="0" smtClean="0" sz="1072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registering event handler (anonymous inner class)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with generator by using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40.									frame.addWindowListener (</a:t>
            </a:r>
            <a:endParaRPr lang="ko-KR" altLang="en-US" dirty="0" smtClean="0" sz="1074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new WindowAdapter ( ) {</a:t>
            </a:r>
            <a:endParaRPr lang="ko-KR" altLang="en-US" dirty="0" smtClean="0" sz="1074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public void windowClosing (WindowEvent we) {</a:t>
            </a:r>
            <a:endParaRPr lang="ko-KR" altLang="en-US" dirty="0" smtClean="0" sz="1074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43.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System.exit(0);</a:t>
            </a:r>
            <a:endParaRPr lang="ko-KR" altLang="en-US" dirty="0" smtClean="0" sz="1074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 // end window closing</a:t>
            </a:r>
            <a:endParaRPr lang="ko-KR" altLang="en-US" dirty="0" smtClean="0" sz="1074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} // end WindowAdapter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47.						); // end of addWindowListener</a:t>
            </a:r>
            <a:endParaRPr lang="ko-KR" altLang="en-US" dirty="0" smtClean="0" sz="1074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frame.setSize(350, 350);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frame.setVisible(true);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50.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} // end initGUI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//default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public EventsEx ( 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52.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initGUI();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53.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}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54.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public static void main(String args[])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55.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EventsEx ex = new EventsEx();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56.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}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57.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61" name="Rect 3"/>
          <p:cNvSpPr>
            <a:spLocks noGrp="1" noChangeArrowheads="1"/>
          </p:cNvSpPr>
          <p:nvPr/>
        </p:nvSpPr>
        <p:spPr>
          <a:xfrm rot="0">
            <a:off x="1532890" y="5325110"/>
            <a:ext cx="3034030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JOptionPane.showMessageDialog(null, 	“Good Bye”);</a:t>
            </a:r>
            <a:endParaRPr lang="ko-KR" altLang="en-US" dirty="0" smtClean="0" sz="1074" b="1"/>
          </a:p>
        </p:txBody>
      </p:sp>
      <p:sp>
        <p:nvSpPr>
          <p:cNvPr id="462" name="Rect 3"/>
          <p:cNvSpPr>
            <a:spLocks noGrp="1" noChangeArrowheads="1"/>
          </p:cNvSpPr>
          <p:nvPr/>
        </p:nvSpPr>
        <p:spPr>
          <a:xfrm rot="0">
            <a:off x="978535" y="5480050"/>
            <a:ext cx="5676265" cy="3679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44.</a:t>
            </a:r>
            <a:endParaRPr lang="ko-KR" altLang="en-US" dirty="0" smtClean="0" sz="1074" b="1"/>
          </a:p>
          <a:p>
            <a:pPr marL="0" indent="0" defTabSz="15240" algn="l">
              <a:lnSpc>
                <a:spcPts val="2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147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Summary of Approaches for Handling Events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By implementing Interfaces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By extending from Adapter classes</a:t>
            </a:r>
            <a:endParaRPr lang="ko-KR" altLang="en-US" dirty="0" smtClean="0" sz="1103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implement the above two techniques we can use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Same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putting event handler &amp; generator in one class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Separate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Outer class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Putting event handlers &amp; generator in two different classes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3. Inner classes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3. Anonymous Inner classes </a:t>
            </a:r>
            <a:endParaRPr lang="ko-KR" altLang="en-US" dirty="0" smtClean="0" sz="1103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A Lab Course by Umair Javed </a:t>
            </a:r>
            <a:endParaRPr lang="ko-KR" altLang="en-US" dirty="0" smtClean="0" sz="1103"/>
          </a:p>
          <a:p>
            <a:pPr marL="0" indent="0" defTabSz="15240" algn="l">
              <a:lnSpc>
                <a:spcPts val="2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6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148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62200" y="5367655"/>
            <a:ext cx="3498850" cy="31667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14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Database Connectivity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Introduction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Database Connectivity (JDBC) provides a standard library for accessing databases. The JDBC API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contains number of interfaces and classes that are extensively helpful while communicating with a database.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The java.sql package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java.sql package contains basic &amp; most of the interfaces and classes. You automatically get this package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you download the J2SE™. You have to import this package whenever you want to interact with a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relational database.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Connecting With Microsoft Access</a:t>
            </a:r>
            <a:endParaRPr lang="ko-KR" altLang="en-US" dirty="0" smtClean="0" sz="1103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this handout, we will learn how to connect &amp; communicate with Microsoft Access Database. We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chooses Access because most of you are familiar with it and if not than it is very easy to learn.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Create Database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start create a database 	―PersonInfo‖ using Microsoft Access. Create one table named 	―Person‖.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schema of the table is shown in the picture. </a:t>
            </a:r>
            <a:endParaRPr lang="ko-KR" altLang="en-US" dirty="0" smtClean="0" sz="1103"/>
          </a:p>
          <a:p>
            <a:pPr marL="0" indent="0" defTabSz="15240" algn="l">
              <a:lnSpc>
                <a:spcPts val="2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the following records into Person table as shown below. </a:t>
            </a:r>
            <a:endParaRPr lang="ko-KR" altLang="en-US" dirty="0" smtClean="0" sz="1103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6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149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688975"/>
            <a:ext cx="4108450" cy="15328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2490" y="4346575"/>
            <a:ext cx="3916680" cy="32670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Save the data base in some folder. (Your database will be saved as an .mdb file)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Setup System DSN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After creating database, you have to setup a system Data Source Name (DSN). DSN is a name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through which your system recognizes the underlying data source.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Select Start Settings Control Panel Administrative Tools Data Sources (ODBC).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The ODBC Data Source Administrator window would be opened as shown below. Select System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DSN tab. (If you are unable to use System DSN tab due to security restrictions on your machine,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can use the User DSN tab) </a:t>
            </a:r>
            <a:endParaRPr lang="ko-KR" altLang="en-US" dirty="0" smtClean="0" sz="1103"/>
          </a:p>
          <a:p>
            <a:pPr marL="0" indent="0" defTabSz="15240" algn="l">
              <a:lnSpc>
                <a:spcPts val="28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Press Add… button and choose Microsoft Access Driver (*.mdb) from Create New Data Source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 and press Finish button as shown in diagram.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After that, ODBC Microsoft Access Setup window would be opened as shown in following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diagram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47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Enter the Data Source Name personDSN and select the database by pressing Select button. The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browsing window would be opened, select the desired folder that contains the database (The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database .mdb file you have created in the first step) Press Ok button.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71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90090" y="844550"/>
            <a:ext cx="4255135" cy="29654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3270" y="4151630"/>
            <a:ext cx="4154170" cy="26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5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Basic Steps in Using JDBC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There are eight (8) basic steps that must be followed in order to successfully communicate with a database.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Let‘s take a detail overview of all these one by one.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Import Required Package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Import the package java.sql.* that contains useful classes and interfaces to access &amp; work with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database.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java.sql.*;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74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Load Driver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Need to load suitable driver for underlying database.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Different drivers &amp; types for different databases are available.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For MS Access, load following driver available with j2se.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Class.forName(―sun.jdbc.odbc.JdbcOdbcDriver‖);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For Oracle, load the following driver. You have to download it explicitly.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Class.forName(―oracle.jdbc.driver.OracleDriver‖);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Define Connection URL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To get a connection, we need to specify the URL of a database (Actually we need to specify the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address of the database which is in the form of URL)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As we are using Microsoft Access database and we have loaded a JDBC-ODBC driver. Using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JDBC-ODBC driver requires a DSN which we have created earlier and named it personDSN.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 the URL of the database will be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conURL = ―jdbc:odbc:personDSN‖;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Establish Connection With DataBase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Use DriverManagerto get the connection object.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URL of the database is passed to the getConnection method. Connection con =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DriverManager.getConnection(conURL);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If DataBase requires username &amp; password, you can use the overloaded version of getConnection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 as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usr = ―umair‖;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pwd = ―vu‖;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null;con = DriverManager.getConnection(conURL, usr, pwd);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Create Statement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 Statement object is obtained from a Connection object.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Statement stmt = con.createStatement( 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Once you have a statement, you can use it for various kinds of SQL queries.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Execute a Query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next step is to pass the SQL statements &amp; to execute them.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Two methods are generally used for executing SQL queries. These are: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executeQuery(sql) 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Used for SQL SELECT queries.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Returns the ResultSET object that contains the results of the query and can be used to access the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query results.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77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―SELECT * from sometable‖;ResultSet rs =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stmt.executeQuery(sql);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executeUpdate(sql)method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method is used for executing an update statement like INSERT, UPDATE or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7.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DELETE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Returns an Integer value representing the number of rows updated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―INSERT INTO tablename ‖ + ―(columnNames) Values (values)‖ ;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count = stmt.executeUpdate(sql);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Process Results of the Query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ResultSet provides various getXXX methods that takes a column index or name and returns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data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ResultSet maintains the data in the form tables (rows &amp; columns)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First row has index 1, not 0.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next method of ResultSet returns true or false depending upon whether the next row is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available (exist) or not and moves the cursor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Always remember to call next() method at-least once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To retrieve the data of the column of the current row you need to use the various getters provided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by the ResultSet.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For example, the following code snippet will iterate over the whole ResultSet and illustrates the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usage of getters methods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 ( rs.next() ){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//by using column name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name = rs.getString(―columnName‖);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or by using column indexString name =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rs.getString(1); }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8.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Close the Connection</a:t>
            </a:r>
            <a:endParaRPr lang="ko-KR" altLang="en-US" dirty="0" smtClean="0" sz="1103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An opening connection is expensive, postpone this step if additional database operations are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expected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14.1: Retrieving Data from ResultSet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JdbcEx.java demonstrates the usage of all above explained steps. In this code example, we connect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with the PersonInfo database, the one we have created earlier, and then execute the simple SQL SELECT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query on Person table, and then process the query results.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80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JdbcEx.java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1: import packageimport java.sql.*;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JdbcEx {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try {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load driverClass.forName(―sun.jdbc.odbc.JdbcOdbcDriver‖);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define the connection URL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url = ―jdbc:odbc:personDSN‖;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establish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DriverManager.getConnection(url);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5: create Statement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Statement st = con.createStatement();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6: preapare &amp; execute the query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―SELECT * FROM Person‖;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 rs = st.executeQuery(sql);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7: process the results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while(rs.next()){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The row name is ―name‖ in database ―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PersonInfo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,// hence specified in the getString()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method.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name = rs.getString(―name‖);String add = rs.getString(―address‖);String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pNum = rs.getString(―phoneNum‖);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System.out.println(name + ―		‖ + add + ‖		‖ + pNum);}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8: close the connection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}catch(Exception sqlEx){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System.out.println(sqlEx);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103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important thing you must notice that we have put all code inside try block and then handle (in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above example, only printing the name of the exception raised) exception inside catch block.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83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52270" y="2368550"/>
            <a:ext cx="4925060" cy="19685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Why? Because we are dealing with an external resource (database). If you can recall all IO related operations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involving external resources in java throw exceptions. These exceptions are checked exceptions and we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must need to handle these exceptions.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Since the Person table contains only three records, so the following output would be produced on executing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above program. </a:t>
            </a:r>
            <a:endParaRPr lang="ko-KR" altLang="en-US" dirty="0" smtClean="0" sz="1103"/>
          </a:p>
          <a:p>
            <a:pPr marL="0" indent="0" defTabSz="15240" algn="l">
              <a:lnSpc>
                <a:spcPts val="2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Java – A Lab Course by Umair Javed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Java tutorial by Sun: http://java.sun.com/docs/books/turorial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Beginning Java2 by Ivor Hortan </a:t>
            </a:r>
            <a:endParaRPr lang="ko-KR" altLang="en-US" dirty="0" smtClean="0" sz="1103"/>
          </a:p>
          <a:p>
            <a:pPr marL="0" indent="0" defTabSz="15240" algn="l">
              <a:lnSpc>
                <a:spcPts val="2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86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15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More on JDBC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the previous handout, we have discussed how to execute SQL statements. In this handout, 	we‘ll learn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how to execute DML (insert, update, delete) statements as well some useful methods provided by the JDBC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API.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Before jumping on to example, lets take a brief overview of executeUpdate()method that is used for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executing DML statements.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Useful Statement Methods: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executeUpdate( )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Used to execute for INSERT, UPDATE, or DELETE SQL statements.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This method returns the number of rows that were affected in the database.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.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num = stmt.executeUpdate(―DELETE from Person WHERE id = 2‖ 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 15.1: Executing SQL DML Statements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program will take two command line arguments that are used to update records in the database.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executeUpdate( ) method will be used to achieve the purpose stated above.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JdbcDmlEx.java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1: import packageimport java.sql.*; public class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JdbcDmlEx {public static void main (String args[ ]) { try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load driverClass.forName(―sun.jdbc.odbc.JdbcOdbcDriver‖);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define the connection URL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url = ―jdbc:odbc:personDSN‖;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establish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DriverManager.getConnection(url);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5: create Statement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Statement st = con.createStatement();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assigning first command line argument value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String addVar = args[0];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assigning second command line argument value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89" name="Rect 3"/>
          <p:cNvSpPr>
            <a:spLocks noGrp="1" noChangeArrowheads="1"/>
          </p:cNvSpPr>
          <p:nvPr/>
        </p:nvSpPr>
        <p:spPr>
          <a:xfrm rot="0">
            <a:off x="1566545" y="3776345"/>
            <a:ext cx="5545455" cy="5474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Also supports DDL (Data Definition Language) statements CREATE TABLE, DROP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TABLE, and ALERT TABLE etc. For example, </a:t>
            </a:r>
            <a:endParaRPr lang="ko-KR" altLang="en-US" dirty="0" smtClean="0" sz="1103"/>
          </a:p>
          <a:p>
            <a:pPr marL="0" indent="0" defTabSz="15240" algn="l">
              <a:lnSpc>
                <a:spcPts val="3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156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65630" y="6041390"/>
            <a:ext cx="4498340" cy="17551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String nameVar = args[1];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preparing query – nameVar &amp; addVar strings are embedded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into query within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„” + string + “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‘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String sql = “UPDATE Person SET address = „”+addVar+”‟”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+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“ WHERE name = „”+nameVar+”‟		”;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executing query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 num = st.executeUpdate(sql);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Step 7: process the results of the query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number of records affected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System.out.println(num + “ records updated”);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8: close the connection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sqlEx){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System.out.println(sqlEx);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Person table is shown in the following diagram before execution of the program. We want to update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 row i.e address of the person ali. </a:t>
            </a:r>
            <a:endParaRPr lang="ko-KR" altLang="en-US" dirty="0" smtClean="0" sz="1103"/>
          </a:p>
          <a:p>
            <a:pPr marL="0" indent="0" defTabSz="15240" algn="l">
              <a:lnSpc>
                <a:spcPts val="1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next diagram shows how we have executed our program. We passed it two arguments. The first one 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address (defence) and later one is the name (ali) of the person against whom we want to update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address value. </a:t>
            </a:r>
            <a:endParaRPr lang="ko-KR" altLang="en-US" dirty="0" smtClean="0" sz="1103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92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96110" y="688975"/>
            <a:ext cx="4428490" cy="12706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65630" y="2834640"/>
            <a:ext cx="4489450" cy="17005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Person table is shown in the following diagram after the execution of the program. Notice that address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the ali is now changed to defence. </a:t>
            </a:r>
            <a:endParaRPr lang="ko-KR" altLang="en-US" dirty="0" smtClean="0" sz="1103"/>
          </a:p>
          <a:p>
            <a:pPr marL="0" indent="0" defTabSz="15240" algn="l">
              <a:lnSpc>
                <a:spcPts val="1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we execute DML statements (insert, update, delete) we have to commit it in the database explicitly to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make the changes permanent or otherwise we can rollback the previously executed statements.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But in the above code, you have never seen such a statement. This is due to the fact that java will implicitly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commit the changes. However, we can change this java behavior to manual commit. We will cover these in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some later handout.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Useful Statement Methods (cont.):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getMaxRows / setMaxRows(int)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Used for determines the number of rows a ResultSet may contain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By default, the number of rows are unlimited (return value is 0), or by using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setMaxRows(int), the number of rows can be specified.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getQueryTimeOut / setQueryTimeOut (int)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Retrieves the number of seconds the driver will wait for a Statement object to execute.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current query time out limit in seconds, zero means there is no limit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the limit is exceeded, a SQLException is thrown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Different Types of Statements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we have discussed in the previous handout that through Statement objects, SQL queries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are sent to the databases.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Three types of Statement objects are available. These are; </a:t>
            </a:r>
            <a:endParaRPr lang="ko-KR" altLang="en-US" dirty="0" smtClean="0" sz="1103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9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	Statement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-The Statement objects are used for executing simple SQL statements. -We have already seen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its usage in the code examples.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PreparedStatement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-The PrepaeredStatement are used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executing precompiled SQL statements and passing in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different parameters to it.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will talk about it in detail shortly.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CallableStatement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Theses are used for executing stored procedures.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-We are not covering this topic; See the Java tutorial on it if you are interested in learning it.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Prepared Statements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What if we want to execute same query multiple times by only changing parameters.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PreparedStatement object differs from Statement object as that it is used to create a statement in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standard form that is sent to database for compilation, before actually being used.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Each time you use it, you simply replace some of the marked parameters (?) using some setter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We can create PreparedStatement object by using prepareStatementmethod of the connection class.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SQL query is passed to this method as an argument as shown below.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PreparedStatement pStmt = con.prepareStatement (―UPDATE tableName SET columnName = ? ‖ +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―WHERE columnName = ? ‖ );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Notices that we used marked parameters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(?)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 query. We will replace them later on by using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various setter methods.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If we want to replace first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?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with String value, we use setString method and to replace second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?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with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value, we use setInt method. This is shown in the following code snippet.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pStmt.setString (1 , stringValue);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pStmt.setInt (2 , intValue)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The first market parameter has index 1.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Next, we can call executeUpdate (for INSERT, UPDATE or DELETE queries) or executeQuery (for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simple SELECT query) method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.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pStmt.executeUpdate(); </a:t>
            </a:r>
            <a:endParaRPr lang="ko-KR" altLang="en-US" dirty="0" smtClean="0" sz="1103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49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159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Modify Example Code 15.1: Executing SQL DML using Prepared Statements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example code is modification to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last example code (JdbcDmlEx.java).The modifications are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highlighted as bold face.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JdbcDmlEx.java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1: import packageimport java.sql.*;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JdbcDmlEx {public static void main (String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args[ ]) { try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load driverClass.forName(―sun.jdbc.odbc.JdbcOdbcDriver‖);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define the connection URL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url = ―jdbc:odbc:personDSN‖;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establish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DriverManager.getConnection(url, ‖‖,	‖‖);</a:t>
            </a:r>
            <a:endParaRPr lang="ko-KR" altLang="en-US" dirty="0" smtClean="0" sz="1103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make query and place ? where values are to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//be inserted later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String sql 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“UPDATE Person SET address = ? “ + “ WHERE name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= ? ”;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statement using Connection object and passing // sql statement as parameter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PreparedStatement pStmt = con.prepareStatement(sql);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assigning first command line argument valueString addVar = args[0];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assigning second command line argument valueString nameVar = args[1]; //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setting first marked parameter (?) by using setString()// method to address.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pStmt.setString(1 , addVar);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setting second marked parameter(?) by using setString()// method to name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pStmt.setString(2 , nameVar);</a:t>
            </a:r>
            <a:endParaRPr lang="ko-KR" altLang="en-US" dirty="0" smtClean="0" sz="1103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suppose address is ―defence‖ &amp; name is ―ali‖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by setting both marked parameters, the query will look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like: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sql = “UPDATE Person SET address = “defence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‖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// WHERE name = “ali”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‖</a:t>
            </a:r>
            <a:endParaRPr lang="ko-KR" altLang="en-US" dirty="0" smtClean="0" sz="1103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executing update statemnt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 num = pStmt.executeUpdate();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01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160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Step 7: process the results of the query// printing number of records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affectedSystem.out.println(num + ― records updated‖);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8: close the connection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sqlEx){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System.out.println(sqlEx);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Execute this code in a similar way as we showed you in execution of the last program. Don‘t forget to pass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address &amp; name values as the command line arguments. </a:t>
            </a:r>
            <a:endParaRPr lang="ko-KR" altLang="en-US" dirty="0" smtClean="0" sz="1103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Entire material for this handout is taken from the book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JAVA A Lab Course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by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Umair Javed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This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material is available just for the use of VU students of the course Web Design and Development and not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any other commercial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2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04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161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52270" y="3386455"/>
            <a:ext cx="4928235" cy="15513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16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Result Set</a:t>
            </a:r>
            <a:endParaRPr lang="ko-KR" altLang="en-US" dirty="0" smtClean="0" sz="1103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handout will familiarize you with another technique of inserting, updating &amp; deleting rows. Before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moving on, first we look at ResultSet.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ResultSet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A ResultSet contains the results of the SQL query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Represented by a table with rows and columns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Maintains a cursor pointing to its current row of data.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Initially the cursor positioned before the row (0).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 row has index 1 </a:t>
            </a:r>
            <a:endParaRPr lang="ko-KR" altLang="en-US" dirty="0" smtClean="0" sz="1103"/>
          </a:p>
          <a:p>
            <a:pPr marL="0" indent="0" defTabSz="15240" algn="l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Default ResultSet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A default ResultSet object is not updatable and has a cursor that moves forward only.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You can iterate over through it only once and only from the first row to last row.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Until now, we have worked &amp; used it in various examples.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For a quick overview, here how we create a default ResultSet object.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―SELECT * FROM Person‖; PreparedStatement pStmt =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con.prepareStatement(sql);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ResultSet rs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= pStmt.executeQuery( ); </a:t>
            </a:r>
            <a:endParaRPr lang="ko-KR" altLang="en-US" dirty="0" smtClean="0" sz="1103"/>
          </a:p>
          <a:p>
            <a:pPr marL="0" indent="0" defTabSz="1524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Useful ResultSet‟s Methods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methods are used often to work with default ResultSet object. We already seen and used some of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them in code examples.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07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162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next(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-Attempts to move to the next row in the ResultSet, if available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-The next() method returns true or false depending upon whether the next row is available (exist) or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-Before retrieving any data from ResultSet, always remember to call next()at least once because initially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cursor is positioned before first row.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getters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-To retrieve the data of the column of the current row you need to use the various getters provided by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-These getters return the value from the column by specifying column name or column index.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-For example, if the column name is ―Name‖ and this column has index 3 in the ResultSet object, then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can retrieve the values by using one of the following methods: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rs.getString(―Name‖);String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=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rs.getString(3);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-These getter methods are also available for other types like getInt( ),getDouble( ) etc. Consult the Java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API documentation for more references.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Remember that first column has an index 1, NOT zero (0).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close( )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-Used to release the JDBC and database resources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-The ResultSet is implicitly closed when the associated Statement object executes a new query or closed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by method call.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Updatable and/or Scrollable ResultSet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It is possible to produce ResultSet objects that are scrollable and/or updatable (since JDK 1.2)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With the help of such ResultSet, it is possible to move forward as well as backward with in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RestultSetobject.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Another advantage is, rows can be inserted, updated or deleted by using updatable ResultSet object.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Creating Updatable &amp; Scrollable ResultSet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code fragment, illustrates how to make a ResultSet object that is scrollable and updatable.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10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163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―SELECT * FROM Person‖;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PreparedStatement pStmt =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con.prepareStatement(sql,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ResultSet.TYPE_SCROLL_INSENSITIVE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ResultSet.CONCUR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_UPDATABLE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 rs = pStmt.executeQuery( 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Two constants have been used of ResultSet class for producing a ResultSet rs that is scrollable, will not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show changes made by others and will be updatable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Useful ResultSet‟s Methods (cont.)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methods discussed in this section can only be used with updatable/scrollable ResultSet object.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previous(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-Moves the cursor to the previous row in the ResultSet object, if available -Returns true if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cursor is on a valid row, false it is off the result set. -Throws exception if result type is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TYPE_FORWARD_ONLY.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16.1: Use of previous( ), next( ) &amp; various getters methods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ResultSetEx.java shows the use of previous, next and getters methods. We are using the same Person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table of PersonInfo database, the one we had created earlier in this example and later on.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ResultSetEx.java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java.sql.*;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ResultSetEx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load driver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define the connection URL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establish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DriverManager.getConnection(url);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5: creating PrepareStatement by passing sql and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//ResultSet‘s constants so that the ResultSet that will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//produce as a result of executing query will be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//scrollable &amp; updatable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―SELECT * FROM Person‖;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PreparedStatement pStmt = con.prepareStatement(sql,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ResultSet.TYPE_SCROLL_INSENSITIVE,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6: execute the query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 rs = pStmt.executeQuery();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13" name="Rect 3"/>
          <p:cNvSpPr>
            <a:spLocks noGrp="1" noChangeArrowheads="1"/>
          </p:cNvSpPr>
          <p:nvPr/>
        </p:nvSpPr>
        <p:spPr>
          <a:xfrm rot="0">
            <a:off x="1642745" y="6595745"/>
            <a:ext cx="2780665" cy="2042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Class.forName(―sun.jdbc.odbc.JdbcOdbcDriver‖);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url = ―jdbc:odbc:personDSN‖;</a:t>
            </a:r>
            <a:endParaRPr lang="ko-KR" altLang="en-US" dirty="0" smtClean="0" sz="1103"/>
          </a:p>
        </p:txBody>
      </p:sp>
      <p:sp>
        <p:nvSpPr>
          <p:cNvPr id="514" name="Rect 3"/>
          <p:cNvSpPr>
            <a:spLocks noGrp="1" noChangeArrowheads="1"/>
          </p:cNvSpPr>
          <p:nvPr/>
        </p:nvSpPr>
        <p:spPr>
          <a:xfrm rot="0">
            <a:off x="1185545" y="6748145"/>
            <a:ext cx="5926455" cy="25025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8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10</a:t>
            </a:r>
            <a:endParaRPr lang="ko-KR" altLang="en-US" dirty="0" smtClean="0" sz="1072"/>
          </a:p>
          <a:p>
            <a:pPr marL="0" indent="0" defTabSz="15240" algn="l">
              <a:lnSpc>
                <a:spcPts val="1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20</a:t>
            </a:r>
            <a:endParaRPr lang="ko-KR" altLang="en-US" dirty="0" smtClean="0" sz="1072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164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63040" y="4953000"/>
            <a:ext cx="5318760" cy="19748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moving cursor forward i.e. first row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rs.next(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column ―name‖ value of current row (first)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name = rs.getString(―Name‖);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System.out.println(name);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moving cursor forward i.e. on to second row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rs.next(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moving cursor backward i.e to first row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rs.previous(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column ―name‖ value of current row (first)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System.out.println(―moving cursor forward‖);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rs.getString(―Name‖);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System.out.println(name);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8: close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sqlEx){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System.out.println(sqlEx);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42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43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Execute: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sample output is 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2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Useful ResultSet‟s Methods (cont.)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absolute(int)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-Moves the cursor to the given row number in the ResultSetobject.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-If given row number is positive, moves the cursor forward with respect to beginning of the result set.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-If the given row number is negative, the cursor moves to the absolute row position with respect to the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end of the result set.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17" name="Rect 3"/>
          <p:cNvSpPr>
            <a:spLocks noGrp="1" noChangeArrowheads="1"/>
          </p:cNvSpPr>
          <p:nvPr/>
        </p:nvSpPr>
        <p:spPr>
          <a:xfrm rot="0">
            <a:off x="1679575" y="1164590"/>
            <a:ext cx="2506345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System.out.println(―moving cursor forward‖); </a:t>
            </a:r>
            <a:endParaRPr lang="ko-KR" altLang="en-US" dirty="0" smtClean="0" sz="1103"/>
          </a:p>
        </p:txBody>
      </p:sp>
      <p:sp>
        <p:nvSpPr>
          <p:cNvPr id="518" name="Rect 3"/>
          <p:cNvSpPr>
            <a:spLocks noGrp="1" noChangeArrowheads="1"/>
          </p:cNvSpPr>
          <p:nvPr/>
        </p:nvSpPr>
        <p:spPr>
          <a:xfrm rot="0">
            <a:off x="1185545" y="1319530"/>
            <a:ext cx="5926455" cy="7931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26</a:t>
            </a:r>
            <a:endParaRPr lang="ko-KR" altLang="en-US" dirty="0" smtClean="0" sz="1072"/>
          </a:p>
          <a:p>
            <a:pPr marL="0" indent="0" defTabSz="15240" algn="l">
              <a:lnSpc>
                <a:spcPts val="6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165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-For example, calling absolute(-1) positions the cursor on the last row; calling absolute(-2) moves the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cursor to next-to-last row, and so on.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-Throws Exception if ResultSet type is TYPE_FORWARD_ONLY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updaters (for primitives, String and Object)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-Used to update the column values in the current row or in insert row (discuss later)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-Do not update the underlying database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-Each update method is overloaded; one that takes column name while other takes column index. For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example String updater are available as: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updateString(String columnName, String value)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updateString(String columnIndex, String value)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updateRow(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-Updates the underlying database with new contents of the current row of this ResultSetobject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16.2: Updating values in existing rows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code example updates the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Name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column in the second row of the ResultSet object rs and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then uses the method updateRow to update the Person table in database.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code is the modification of the last one. Changes made are shown in bold face.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ResultSetEx.java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java.sql.*;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ResultSetEx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load driver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Class.forName(―sun.jdbc.odbc.JdbcOdbcDriver‖);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define the connection URL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url = ―jdbc:odbc:personDSN‖;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establish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DriverManager.getConnection(url);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5: create PrepareStatement by passing sql and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ResultSet appropriate fields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―SELECT * FROM Person‖;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PreparedStatement pStmt = con.prepareStatement(sql,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ResultSet.TYPE_SCROLL_INSENSITIVE,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ResultSet.CONCUR_UPDATABLE);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6: execute the query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 rs = pStmt.executeQuery();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21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166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52270" y="3801110"/>
            <a:ext cx="4907280" cy="4650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moving cursor to second row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rs.absolute(2);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rs.updateString(“Address”,	“model	town”);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update the row in database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rs.updateRow(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8: close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sqlEx){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System.out.println(sqlEx);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Given below are two states of Person table. Notice that address of 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row is updated. Person table: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Before execution </a:t>
            </a:r>
            <a:endParaRPr lang="ko-KR" altLang="en-US" dirty="0" smtClean="0" sz="1103"/>
          </a:p>
          <a:p>
            <a:pPr marL="0" indent="0" defTabSz="15240" algn="l">
              <a:lnSpc>
                <a:spcPts val="3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 table: After execution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24" name="Rect 3"/>
          <p:cNvSpPr>
            <a:spLocks noGrp="1" noChangeArrowheads="1"/>
          </p:cNvSpPr>
          <p:nvPr/>
        </p:nvSpPr>
        <p:spPr>
          <a:xfrm rot="0">
            <a:off x="1679575" y="1051560"/>
            <a:ext cx="2338705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// update address column of 2 row in rs </a:t>
            </a:r>
            <a:endParaRPr lang="ko-KR" altLang="en-US" dirty="0" smtClean="0" sz="1103"/>
          </a:p>
        </p:txBody>
      </p:sp>
      <p:sp>
        <p:nvSpPr>
          <p:cNvPr id="525" name="Rect 3"/>
          <p:cNvSpPr>
            <a:spLocks noGrp="1" noChangeArrowheads="1"/>
          </p:cNvSpPr>
          <p:nvPr/>
        </p:nvSpPr>
        <p:spPr>
          <a:xfrm rot="0">
            <a:off x="1185545" y="1014730"/>
            <a:ext cx="5926455" cy="8235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696" b="1">
                <a:solidFill>
                  <a:srgbClr val="000000"/>
                </a:solidFill>
                <a:latin typeface="Times New"/>
                <a:ea typeface="Times New"/>
              </a:rPr>
              <a:t>n</a:t>
            </a:r>
            <a:endParaRPr lang="ko-KR" altLang="en-US" dirty="0" smtClean="0" sz="696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</a:t>
            </a:r>
            <a:endParaRPr lang="ko-KR" altLang="en-US" dirty="0" smtClean="0" sz="1072"/>
          </a:p>
          <a:p>
            <a:pPr marL="0" indent="0" defTabSz="15240" algn="l">
              <a:lnSpc>
                <a:spcPts val="1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96">
                <a:solidFill>
                  <a:srgbClr val="000000"/>
                </a:solidFill>
                <a:latin typeface="Garamond"/>
                <a:ea typeface="Garamond"/>
              </a:rPr>
              <a:t>nd </a:t>
            </a:r>
            <a:endParaRPr lang="ko-KR" altLang="en-US" dirty="0" smtClean="0" sz="696"/>
          </a:p>
          <a:p>
            <a:pPr marL="0" indent="0" defTabSz="15240" algn="l">
              <a:lnSpc>
                <a:spcPts val="4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167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22120" y="7833360"/>
            <a:ext cx="5114290" cy="5302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76070" y="2688590"/>
            <a:ext cx="5077460" cy="17735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91310" y="5538470"/>
            <a:ext cx="5046980" cy="17703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Useful ResultSet‟s Methods (cont.)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moveToInsertRow(int)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-An updatable resultset object has a special row associate with it i.e.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insert row -Insert row – a buffer, where a new row may be constructed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by calling updater methods. -Doesn‘t insert the row into a result set or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into a databse.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-For example, initially cursor is positioned on the first row as shown in the diagram. </a:t>
            </a:r>
            <a:endParaRPr lang="ko-KR" altLang="en-US" dirty="0" smtClean="0" sz="1103"/>
          </a:p>
          <a:p>
            <a:pPr marL="0" indent="0" defTabSz="15240" algn="l">
              <a:lnSpc>
                <a:spcPts val="1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-By calling moveToInsertRow( ), the cursor is moved to insert row as shown below. </a:t>
            </a:r>
            <a:endParaRPr lang="ko-KR" altLang="en-US" dirty="0" smtClean="0" sz="1103"/>
          </a:p>
          <a:p>
            <a:pPr marL="0" indent="0" defTabSz="15240" algn="l">
              <a:lnSpc>
                <a:spcPts val="2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 by calling various updates, we can insert values into the columns of insert row as shown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below. </a:t>
            </a:r>
            <a:endParaRPr lang="ko-KR" altLang="en-US" dirty="0" smtClean="0" sz="1103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insertRow( )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-Inserts the contents of the current row into this ResultSet object and into the database too.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2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168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69720" y="1210310"/>
            <a:ext cx="5120640" cy="19075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-Moves the cursor back to the position where it was before calling moveToInsertRow()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-This is shown in the given below diagram </a:t>
            </a:r>
            <a:endParaRPr lang="ko-KR" altLang="en-US" dirty="0" smtClean="0" sz="1103"/>
          </a:p>
          <a:p>
            <a:pPr marL="0" indent="0" defTabSz="15240" algn="l">
              <a:lnSpc>
                <a:spcPts val="17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The cursor must be on the insert row before calling this method or exception would be raised.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16.3: Inserting new row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code example illustrates how to add/insert new row into the ResultSet as well into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database.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code is the modification of the last one. Changes made are shown in bold face.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ResultSetEx.java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java.sql.*;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ResultSetEx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load driver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define the connection URL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url = ―jdbc:odbc:personDSN‖;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establish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DriverManager.getConnection(url);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5: create PrepareStatement by passing sql and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ResultSet appropriate fields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―SELECT * FROM Person‖;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PreparedStatement pStmt = con.prepateStatement(sql,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ResultSet.TYPE_SCROLL_INSENSITIVE,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ResultSet.CONCUR_UPDATABLE);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6: execute the query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 rs = pStmt.executeQuery();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moving cursor to insert row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rs.moveToInsertRow();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updating values in insert row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rs.updateString( “Name” , “imitiaz”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rs.updateString( “Address” , “cantt”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rs.updateString( “phoneNum” , “9201211” );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31" name="Rect 3"/>
          <p:cNvSpPr>
            <a:spLocks noGrp="1" noChangeArrowheads="1"/>
          </p:cNvSpPr>
          <p:nvPr/>
        </p:nvSpPr>
        <p:spPr>
          <a:xfrm rot="0">
            <a:off x="1679575" y="6028690"/>
            <a:ext cx="2743835" cy="15557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32" name="Rect 3"/>
          <p:cNvSpPr>
            <a:spLocks noGrp="1" noChangeArrowheads="1"/>
          </p:cNvSpPr>
          <p:nvPr/>
        </p:nvSpPr>
        <p:spPr>
          <a:xfrm rot="0">
            <a:off x="1185545" y="6178550"/>
            <a:ext cx="5926455" cy="30721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8</a:t>
            </a:r>
            <a:endParaRPr lang="ko-KR" altLang="en-US" dirty="0" smtClean="0" sz="1072"/>
          </a:p>
          <a:p>
            <a:pPr marL="0" indent="0" defTabSz="15240" algn="l">
              <a:lnSpc>
                <a:spcPts val="2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169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8720" y="3724910"/>
            <a:ext cx="5111750" cy="20173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57655" y="6544310"/>
            <a:ext cx="5017135" cy="22307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inserting row in resultset &amp; into database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rs.insertRow(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8: close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sqlEx){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System.out.println(sqlEx);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Given below are two states of Person table. Note that after executing program, a newly added row 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present.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 table: Before execution </a:t>
            </a:r>
            <a:endParaRPr lang="ko-KR" altLang="en-US" dirty="0" smtClean="0" sz="1103"/>
          </a:p>
          <a:p>
            <a:pPr marL="0" indent="0" defTabSz="15240" algn="l">
              <a:lnSpc>
                <a:spcPts val="1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Person table: After execution </a:t>
            </a:r>
            <a:endParaRPr lang="ko-KR" altLang="en-US" dirty="0" smtClean="0" sz="1103"/>
          </a:p>
          <a:p>
            <a:pPr marL="0" indent="0" defTabSz="15240" algn="l">
              <a:lnSpc>
                <a:spcPts val="2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3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170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Useful ResultSet‟s Methods (cont.)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last( ) &amp; first(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-Moves the cursor to the last &amp; first row of the ResultSetobject respectively. -Throws exception if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ResultSet is TYPE_FORWARD_ONLY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getRow(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-Returns the current row number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-As mentioned earlier, the first row has index 1 and so on.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deleteRow( )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-Deletes the current row from this ResultSet object and from the underlying database.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-Throws exception if the cursor is on the insert row.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16.4: Deleting existing row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given below example code shows the usage of last( ), getRow( ) and deleteRow( ) method.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code is also the modification of the last one. Changes made are shown in bold face.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ResultSetEx.java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java.sql.*;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ResultSetEx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load driver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define the connection URL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establish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DriverManager.getConnection(url);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5: create PrepareStatement by passing sql and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ResultSet appropriate fields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―SELECT * FROM Person‖;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PreparedStatement pStmt = con.prepateStatement(sql,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ResultSet.TYPE_SCROLL_INSENSITIVE,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ResultSet.CONCUR_UPDATABLE);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6: execute the query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 rs = pStmt.executeQuery();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moves to last row of the resultset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rs.last();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retrieving the current row number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 rNo = rs.getRow();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38" name="Rect 3"/>
          <p:cNvSpPr>
            <a:spLocks noGrp="1" noChangeArrowheads="1"/>
          </p:cNvSpPr>
          <p:nvPr/>
        </p:nvSpPr>
        <p:spPr>
          <a:xfrm rot="0">
            <a:off x="1679575" y="6376670"/>
            <a:ext cx="2743835" cy="474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Class.forName(―sun.jdbc.odbc.JdbcOdbcDriver‖);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String url = ―jdbc:odbc:personDSN‖;</a:t>
            </a:r>
            <a:endParaRPr lang="ko-KR" altLang="en-US" dirty="0" smtClean="0" sz="1103"/>
          </a:p>
        </p:txBody>
      </p:sp>
      <p:sp>
        <p:nvSpPr>
          <p:cNvPr id="539" name="Rect 3"/>
          <p:cNvSpPr>
            <a:spLocks noGrp="1" noChangeArrowheads="1"/>
          </p:cNvSpPr>
          <p:nvPr/>
        </p:nvSpPr>
        <p:spPr>
          <a:xfrm rot="0">
            <a:off x="1185545" y="6529070"/>
            <a:ext cx="5926455" cy="2721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8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10</a:t>
            </a:r>
            <a:endParaRPr lang="ko-KR" altLang="en-US" dirty="0" smtClean="0" sz="1072"/>
          </a:p>
          <a:p>
            <a:pPr marL="0" indent="0" defTabSz="15240" algn="l">
              <a:lnSpc>
                <a:spcPts val="1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171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45920" y="5629910"/>
            <a:ext cx="4489450" cy="14566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80870" y="3355975"/>
            <a:ext cx="4465320" cy="17462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System.out.println(“current row number” + rNo);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delete current row from rs &amp; db i.e. 4 because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previously we have called last() method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rs.deleteRow(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8: close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sqlEx){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System.out.println(sqlEx);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first diagram shows the Person table before execution. Person table: Before execution </a:t>
            </a:r>
            <a:endParaRPr lang="ko-KR" altLang="en-US" dirty="0" smtClean="0" sz="1103"/>
          </a:p>
          <a:p>
            <a:pPr marL="0" indent="0" defTabSz="15240" algn="l">
              <a:lnSpc>
                <a:spcPts val="1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Execution program from command prompt will result in displaying current row number on console. This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confirmed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from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diagram. </a:t>
            </a:r>
            <a:endParaRPr lang="ko-KR" altLang="en-US" dirty="0" smtClean="0" sz="1103"/>
          </a:p>
          <a:p>
            <a:pPr marL="0" indent="0" defTabSz="15240" algn="l">
              <a:lnSpc>
                <a:spcPts val="1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execution, the last row (4) is deleted from ResultSet as well as from database. The Person table 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shown after execution </a:t>
            </a:r>
            <a:endParaRPr lang="ko-KR" altLang="en-US" dirty="0" smtClean="0" sz="1103"/>
          </a:p>
          <a:p>
            <a:pPr marL="0" indent="0" defTabSz="1524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42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172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65630" y="951230"/>
            <a:ext cx="4513580" cy="175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 table: After execution </a:t>
            </a:r>
            <a:endParaRPr lang="ko-KR" altLang="en-US" dirty="0" smtClean="0" sz="1103"/>
          </a:p>
          <a:p>
            <a:pPr marL="0" indent="0" defTabSz="15240" algn="l">
              <a:lnSpc>
                <a:spcPts val="2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Entire material for this handout is taken from the book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JAVA A Lab Course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by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Umair Javed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This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material is available just for the use of VU students of the course Web Design and Development and not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any other commercial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3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4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173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99815" y="2011680"/>
            <a:ext cx="1033145" cy="56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99815" y="3355975"/>
            <a:ext cx="1033145" cy="7283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17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Meta Data</a:t>
            </a:r>
            <a:endParaRPr lang="ko-KR" altLang="en-US" dirty="0" smtClean="0" sz="1103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simple terms, Meta Data is data (information) about data. The actual data has no meaning without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existence of Meta data. To clarify this, let‘s look at an example. Given below are listed some numeric values </a:t>
            </a:r>
            <a:endParaRPr lang="ko-KR" altLang="en-US" dirty="0" smtClean="0" sz="1103"/>
          </a:p>
          <a:p>
            <a:pPr marL="0" indent="0" defTabSz="15240" algn="l">
              <a:lnSpc>
                <a:spcPts val="8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What this information about? We cannot state accurately. These values might be representing some one‘s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salaries, price, tax payable &amp; utility bill etc. But if we specify Meta data about this data like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Now, just casting a glance on these values, you can conclude that it‘s all about some ones salaries.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ResultSet Meta data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 Meta Data will help you in answering such questions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-How many columns are in the ResultSet?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-What is the name of given column?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-Are the column name case sensitive?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-What is the data type of a specific column?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-What is the maximum character size of a column?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-Can you search on a given column? </a:t>
            </a:r>
            <a:endParaRPr lang="ko-KR" altLang="en-US" dirty="0" smtClean="0" sz="1103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Creating ResultSetMetaData object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From a ResultSet (the return type of executeQuery() ), derive a ResultSetMetaData object by calling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getMetaData() method as shown in the given code snippet (here rsis a valid ResultSetobject):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ResultSetMetaData rsmd = rs.getMetaData();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Now, rsmd can be used to look up number, names &amp; types of columns </a:t>
            </a:r>
            <a:endParaRPr lang="ko-KR" altLang="en-US" dirty="0" smtClean="0" sz="1103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4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174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Useful ResultSetMetaData methods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getColumnCount 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Returns the number of columns in the result set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getColumnDisplaySize (int)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Returns the maximum width of the specified column in characters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getColumnName(int) / getColumnLabel (int)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getColumnName() method returns the database name of the column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getColumnLabel() method returns the suggested column label for printouts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getColumnType (int)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Returns the SQL type for the column to compare against types in java.sql.Types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17.1: Using ResultSetMetaData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MetaDataEx.java will print the column names by using ResultSetMetaData object and column values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console. This is an excellent example of the scenario where we have no idea about the column names in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advance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Note: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For this example code and for the coming ones, we are using the same database (PersonInfo) the one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created earlier and repeatedly used. Changes are shown in bold face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MetaDataEx.java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java.sql.*;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MetaDataEx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load driver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7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define the connection URL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9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establish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null;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 = DriverManager.getConnection(url, ―‖,	―‖);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5: create PrepareStatement by passing sql and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ResultSet appropriate fields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sql = ―SELECT * FROM Person‖;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PreparedStatement pStmt = con.prepateStatement(sql,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ResultSet.TYPE_SCROLL_INSENSITIVE,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ResultSet.CONCUR_UPDATABLE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6: execute the query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ResultSet rs = pStmt.executeQuery();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get ResultSetMetaData object from rs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ResultSetMetaData rsmd = rs.getMetaData(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no. of column contained by rs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 numColumns = rsmd.getColumnCount();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System.out.println(“Number of Columns:” + numColumns);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all column names by using for loop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String cName;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51" name="Rect 3"/>
          <p:cNvSpPr>
            <a:spLocks noGrp="1" noChangeArrowheads="1"/>
          </p:cNvSpPr>
          <p:nvPr/>
        </p:nvSpPr>
        <p:spPr>
          <a:xfrm rot="0">
            <a:off x="1679575" y="5608320"/>
            <a:ext cx="2743835" cy="4660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Class.forName(―sun.jdbc.odbc.JdbcOdbcDriver‖);</a:t>
            </a:r>
            <a:endParaRPr lang="ko-KR" altLang="en-US" dirty="0" smtClean="0" sz="1103"/>
          </a:p>
        </p:txBody>
      </p:sp>
      <p:sp>
        <p:nvSpPr>
          <p:cNvPr id="552" name="Rect 3"/>
          <p:cNvSpPr>
            <a:spLocks noGrp="1" noChangeArrowheads="1"/>
          </p:cNvSpPr>
          <p:nvPr/>
        </p:nvSpPr>
        <p:spPr>
          <a:xfrm rot="0">
            <a:off x="1185545" y="5763895"/>
            <a:ext cx="5926455" cy="3486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8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10</a:t>
            </a:r>
            <a:endParaRPr lang="ko-KR" altLang="en-US" dirty="0" smtClean="0" sz="1072"/>
          </a:p>
          <a:p>
            <a:pPr marL="0" indent="0" defTabSz="15240" algn="l">
              <a:lnSpc>
                <a:spcPts val="2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175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37360" y="6577330"/>
            <a:ext cx="4761230" cy="18014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for(int i=1; i&lt;= numColumns; i++) {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cName = rsmd.getColumnName(i);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System.out.println(cName);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31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changing line or printing an empty string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	‖);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all values of ResultSet by iterating over it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id, name, add, ph;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while( rs.next() )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id = rs.getString(1);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rs.getString(2);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= rs.getString(3);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ph = rs.getString(4);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System.out.println(id);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System.out.println(―\t‖);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System.out.println(name);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System.out.println(―\t‖);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System.out.println(add);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System.out.println(―\t‖);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System.out.println(ph);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	‖);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8: close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sqlEx){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System.out.println(sqlEx);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57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main101.}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Execute: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database contains the following values at the time of execution of this program. The database and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output are shown below: </a:t>
            </a:r>
            <a:endParaRPr lang="ko-KR" altLang="en-US" dirty="0" smtClean="0" sz="1103"/>
          </a:p>
          <a:p>
            <a:pPr marL="0" indent="0" defTabSz="15240" algn="l">
              <a:lnSpc>
                <a:spcPts val="2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55" name="Rect 3"/>
          <p:cNvSpPr>
            <a:spLocks noGrp="1" noChangeArrowheads="1"/>
          </p:cNvSpPr>
          <p:nvPr/>
        </p:nvSpPr>
        <p:spPr>
          <a:xfrm rot="0">
            <a:off x="1679575" y="1164590"/>
            <a:ext cx="1503680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System.out.println(“\t”);</a:t>
            </a:r>
            <a:endParaRPr lang="ko-KR" altLang="en-US" dirty="0" smtClean="0" sz="1103" b="1"/>
          </a:p>
        </p:txBody>
      </p:sp>
      <p:sp>
        <p:nvSpPr>
          <p:cNvPr id="556" name="Rect 3"/>
          <p:cNvSpPr>
            <a:spLocks noGrp="1" noChangeArrowheads="1"/>
          </p:cNvSpPr>
          <p:nvPr/>
        </p:nvSpPr>
        <p:spPr>
          <a:xfrm rot="0">
            <a:off x="1185545" y="1319530"/>
            <a:ext cx="5926455" cy="7931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32</a:t>
            </a:r>
            <a:endParaRPr lang="ko-KR" altLang="en-US" dirty="0" smtClean="0" sz="1072"/>
          </a:p>
          <a:p>
            <a:pPr marL="0" indent="0" defTabSz="15240" algn="l">
              <a:lnSpc>
                <a:spcPts val="6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176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13230" y="688975"/>
            <a:ext cx="4803140" cy="18192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DataBaseMetaData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DataBase Meta Data will help you in answering such questions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What SQL types are supported by DBMS to create table?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What is the name of a database product?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What is the version number of this database product?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What is the name of the JDBC driver that is used?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Is the database in a read-only mode?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Creating DataBaseMetaData object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From a Connection object, a DataBaseMetaData object can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 derived. The following code snippet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demonstrates how to get DataBaseMetaDataobject.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con= DriverManager.getConnection(url, usr, pwd);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DataBaseMetaData dbMetaData = con.getMeataData();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Now, you can use the dbMetaData to gain information about the database.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Useful ResultSetMetaData methods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getDatabaseProductName(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Returns the name of the database‘s product name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getDatabaseProductVersion(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Returns the version number of this database product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getDriverName(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Returns the name of the JDBC driver used to established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isReadOnly(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Retrieves whether this database is in read-only mode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Returns true if so, false otherwise </a:t>
            </a:r>
            <a:endParaRPr lang="ko-KR" altLang="en-US" dirty="0" smtClean="0" sz="1103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59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177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17.2: using DataBaseMetaData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code is modification of the example code 17.1. Changes made are shown in bold face.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102.// File MetaDataEx.java 103.import java.sql.*; 104.public class MetaDataEx {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load driver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Class.forName(―sun.jdbc.odbc.JdbcOdbcDriver‖);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109.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3: define the connection URL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url = ―jdbc:odbc:personDSN‖;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4: establish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112.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Connection con = null;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 = DriverManager.getConnection(url, ―‖,	―‖);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getting DataBaseMetaDat object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DataBaseMetaData dbMetaData = con.getMetaData();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database product name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Sring pName = dbMetaData.getDatabaseProductName();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System.out.println(“DataBase:	” + pName);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119.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database product version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Sring pVer = dbMetaData.getDatabaseProductVersion();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System.out.println(“Version: ” + pVer);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driver name used to establish connection &amp;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to retrieve data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Sring dName = dbMetaData.getDriverName();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System.out.println(“Driver:	” + dName);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whether database is read-only or not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127.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boolean rOnly = dbMetaData.isReadOnly();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128.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System.out.println(“Read-Only: ” + rOnly);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129.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you can create &amp; execute statements and can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130.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process results over here if needed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131.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8: close the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132.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133.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sqlEx){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134.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System.out.println(sqlEx);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135.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136.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137. </a:t>
            </a:r>
            <a:endParaRPr lang="ko-KR" altLang="en-US" dirty="0" smtClean="0" sz="1103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62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178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08430" y="1572895"/>
            <a:ext cx="5397500" cy="20453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executing the above program, the following output will produce: </a:t>
            </a:r>
            <a:endParaRPr lang="ko-KR" altLang="en-US" dirty="0" smtClean="0" sz="1103"/>
          </a:p>
          <a:p>
            <a:pPr marL="0" indent="0" defTabSz="15240" algn="l">
              <a:lnSpc>
                <a:spcPts val="2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JDBC Driver Types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JDBC Driver Types are divided into four types or levels.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Each type defines a JDBC driver implementation with increasingly higher level of platform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independence, performance, deployment and administration.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four types are: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Type – 1: JDBC – ODBC Bridge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Type 2: Native – API/partly Java driver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Type 3: Net – protocol/all–Java driver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Type 4: Native – protocol/all–Java driver </a:t>
            </a:r>
            <a:endParaRPr lang="ko-KR" altLang="en-US" dirty="0" smtClean="0" sz="1103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Now, let‘s look at each type in more detail </a:t>
            </a:r>
            <a:endParaRPr lang="ko-KR" altLang="en-US" dirty="0" smtClean="0" sz="1103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Type – 1: JDBC – ODBC Bridge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-Translates all JDBC calls into ODBC (Open Database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Connectivity) calls and send them to the ODBC Driver -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Generally used for Microsoft database. -Performance is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degraded </a:t>
            </a:r>
            <a:endParaRPr lang="ko-KR" altLang="en-US" dirty="0" smtClean="0" sz="1103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6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179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61870" y="688975"/>
            <a:ext cx="3705860" cy="18497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33600" y="4380230"/>
            <a:ext cx="3971290" cy="18040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4. Type – 2: Native – API/partly Java driver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-Converts JDBC calls into database-specific calls such as SQL Server, Informix, Oracle or Sybase.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-Partly-Java drivers communicate with database-specific API (which may be in C/C++) using the Java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Native Interface.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-Significantly better Performance than the JDBC-ODBC bridge </a:t>
            </a:r>
            <a:endParaRPr lang="ko-KR" altLang="en-US" dirty="0" smtClean="0" sz="1103"/>
          </a:p>
          <a:p>
            <a:pPr marL="0" indent="0" defTabSz="15240" algn="l">
              <a:lnSpc>
                <a:spcPts val="2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4. Type – 3: Net – protocol/all–Java driver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-Follows a three-tiered approach whereby the JDBC database requests ()are passed through the network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middle-tier server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-Pure Java client to server drivers which send requests that are not database-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specific to a server that translates them into a database-specific protocol. . -If the middle-tier server 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written in java, it can use a type 1or type 2JDBC driver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do this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6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41830" y="688975"/>
            <a:ext cx="4349115" cy="18681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70430" y="4398010"/>
            <a:ext cx="3886200" cy="205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Type – 4: Native – protocol / all – java driver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-Converts JDBC calls into the vendor-specific DBMS protocol so that client application can communicate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directly with the database server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-Completely implemented in Java to achieve platform independence and eliminate deployment issues.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-Performance is typically very good </a:t>
            </a:r>
            <a:endParaRPr lang="ko-KR" altLang="en-US" dirty="0" smtClean="0" sz="1103"/>
          </a:p>
          <a:p>
            <a:pPr marL="0" indent="0" defTabSz="15240" algn="l">
              <a:lnSpc>
                <a:spcPts val="3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71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On – Line Resources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Sun‟s JDBC Site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  <a:ea typeface="Garamond"/>
              </a:rPr>
              <a:t>http://java.sun.com/products/jdbc/</a:t>
            </a:r>
            <a:endParaRPr lang="ko-KR" altLang="en-US" dirty="0" smtClean="0" sz="1103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JDBC Tutorial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  <a:ea typeface="Garamond"/>
              </a:rPr>
              <a:t>http://java.sun.com/docs/books/tutorial/jdbc/</a:t>
            </a:r>
            <a:endParaRPr lang="ko-KR" altLang="en-US" dirty="0" smtClean="0" sz="1103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List of available JDBC Drivers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  <a:ea typeface="Garamond"/>
              </a:rPr>
              <a:t>http://industry.java.sun.com/products/jdbc/drivers/</a:t>
            </a:r>
            <a:endParaRPr lang="ko-KR" altLang="en-US" dirty="0" smtClean="0" sz="1103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RowSet Tutorial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  <a:ea typeface="Garamond"/>
              </a:rPr>
              <a:t>http://java.sun.com/developer/Books/JDBCTutorial/chapter5.html</a:t>
            </a:r>
            <a:endParaRPr lang="ko-KR" altLang="en-US" dirty="0" smtClean="0" sz="1103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										JDBC RowSets Implementation Tutorial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072" u="sng">
                <a:solidFill>
                  <a:srgbClr val="0000FF"/>
                </a:solidFill>
                <a:latin typeface="Garamond"/>
                <a:ea typeface="Garamond"/>
              </a:rPr>
              <a:t>http://java.sun.com/developer/onlineTraining/      Database/</a:t>
            </a:r>
            <a:r>
              <a:rPr lang="en-US" altLang="ko-KR" dirty="0" smtClean="0" sz="1074" u="sng" b="1">
                <a:solidFill>
                  <a:srgbClr val="0000FF"/>
                </a:solidFill>
                <a:latin typeface="Garamond"/>
              </a:rPr>
              <a:t>jdbcrowset</a:t>
            </a:r>
            <a:r>
              <a:rPr lang="en-US" altLang="ko-KR" dirty="0" smtClean="0" sz="1072" u="sng">
                <a:solidFill>
                  <a:srgbClr val="0000FF"/>
                </a:solidFill>
                <a:latin typeface="Garamond"/>
              </a:rPr>
              <a:t>s.pdf </a:t>
            </a:r>
            <a:endParaRPr lang="ko-KR" altLang="en-US" dirty="0" smtClean="0" sz="1072" u="sng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 API documentation 5.0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 – A Lab Course by Umair Javed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JDBC drivers in the wild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  <a:ea typeface="Garamond"/>
              </a:rPr>
              <a:t>http://www.javaworld.com/javaworld/jw-07-2000/jw-0707-jdbc_p.html</a:t>
            </a:r>
            <a:endParaRPr lang="ko-KR" altLang="en-US" dirty="0" smtClean="0" sz="1103" u="sng"/>
          </a:p>
          <a:p>
            <a:pPr marL="0" indent="0" defTabSz="15240" algn="l">
              <a:lnSpc>
                <a:spcPts val="3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74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64920" y="2947670"/>
            <a:ext cx="5337175" cy="30505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18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 Graphics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Painting</a:t>
            </a:r>
            <a:endParaRPr lang="ko-KR" altLang="en-US" dirty="0" smtClean="0" sz="1074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 is like a painter‘s canvas. All window paints on the same surface. More importantly, windows don‘t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remember what is under them. There is a need to repaint when portions are newly exposed.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components are also able to paint themselves. Most of time, painting is done automatically. However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sometimes you need to do drawing by yourself. Anything else is programmer responsibility </a:t>
            </a:r>
            <a:endParaRPr lang="ko-KR" altLang="en-US" dirty="0" smtClean="0" sz="1103"/>
          </a:p>
          <a:p>
            <a:pPr marL="0" indent="0" defTabSz="15240" algn="l">
              <a:lnSpc>
                <a:spcPts val="2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How painting works?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Let‘s take windows example. Consider the following diagram in which the blue area is representing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desktop. The one frame (myApp) is opened in front of desktop with some custom painting as shown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below.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myApp consist of a JPanel. The JPanel contains a JButton. Two rectangles, a circle &amp; a lines are also drawn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the JPanel. </a:t>
            </a:r>
            <a:endParaRPr lang="ko-KR" altLang="en-US" dirty="0" smtClean="0" sz="1103"/>
          </a:p>
          <a:p>
            <a:pPr marL="0" indent="0" defTabSz="15240" algn="l">
              <a:lnSpc>
                <a:spcPts val="1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77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03120" y="688975"/>
            <a:ext cx="4096385" cy="32061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41830" y="4944110"/>
            <a:ext cx="4330700" cy="344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3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opening notepad and windows explorer window, diagram will look like this: </a:t>
            </a:r>
            <a:endParaRPr lang="ko-KR" altLang="en-US" dirty="0" smtClean="0" sz="1103"/>
          </a:p>
          <a:p>
            <a:pPr marL="0" indent="0" defTabSz="15240" algn="l">
              <a:lnSpc>
                <a:spcPts val="2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Lets shuts off the windows explorer, the repaint event is sent to desktop first and then to myApp.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figure shown below describes the situation after desktop repaint event get executed. Here you can clearly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see that only desktop repaints itself and window explorer remaining part is still opened in front of myApp.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80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03120" y="688975"/>
            <a:ext cx="4093210" cy="32061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26920" y="4928870"/>
            <a:ext cx="4233545" cy="30384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figure shows the situation when myApp‘s JPanel calls its repaint method. Notice that some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portion of window explorer is still remains in front of JButton because yet not repaint event is sent to it. </a:t>
            </a:r>
            <a:endParaRPr lang="ko-KR" altLang="en-US" dirty="0" smtClean="0" sz="1103"/>
          </a:p>
          <a:p>
            <a:pPr marL="0" indent="0" defTabSz="15240" algn="l">
              <a:lnSpc>
                <a:spcPts val="2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Next, JPanel forwards repaint event to JButton that causes the button to be displayed in its original form. </a:t>
            </a:r>
            <a:endParaRPr lang="ko-KR" altLang="en-US" dirty="0" smtClean="0" sz="1103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83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688975"/>
            <a:ext cx="4093210" cy="32061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is all done automatically and we cannot feel this process cause of stunning speed of modern computers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that performs all these steps in flash of eye.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Painting a Swing Component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Three methods are at the heart of painting a swing component like JPanel etc. For instance, paint() gets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called when it's time to render -- then Swing further factors the paint() call into three separate methods,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which are invoked in the following order: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protected void paintComponent(Graphics g)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protected void paintBorder(Graphics g)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protected void paintChildren(Graphics g)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Lets look at these methods in order in which they get executed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paintComponet(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it is a main method for painting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By default, it first paints the background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After that, it performs custom painting (drawing circle, rectangles etc.)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paintBorder(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Tells the components border (if any) to paint.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It is suggested that you do not override or invoke this method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paintChildern(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Tells any components contained by this component to paint themselves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—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It is suggested that you do not override or invoke this method too. </a:t>
            </a:r>
            <a:endParaRPr lang="ko-KR" altLang="en-US" dirty="0" smtClean="0" sz="1103"/>
          </a:p>
          <a:p>
            <a:pPr marL="0" indent="0" defTabSz="15240" algn="l">
              <a:lnSpc>
                <a:spcPts val="6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86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50390" y="1210310"/>
            <a:ext cx="4559300" cy="19138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Example: Understanding methods calls</a:t>
            </a:r>
            <a:endParaRPr lang="ko-KR" altLang="en-US" dirty="0" smtClean="0" sz="1103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Consider the following figure </a:t>
            </a:r>
            <a:endParaRPr lang="ko-KR" altLang="en-US" dirty="0" smtClean="0" sz="1103"/>
          </a:p>
          <a:p>
            <a:pPr marL="0" indent="0" defTabSz="15240" algn="l">
              <a:lnSpc>
                <a:spcPts val="1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figure above illustrates the order in which each component that inherits from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JComponent paint itself. Figure 1 to 2 --painting the background and performing custom painting is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performed by the paintComponent method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Figure 3 – paintBorder is get called And finally in figure 4 – paintChildern is called that causes the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JButton to render itself. Note: The important thing to note here is for JButton (since it is a JComponent),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all these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methods are also called in the same order.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Your Painting Strategy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must follow the three steps in order to perform painting.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Subclass JPanel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MyPanel extends JPanel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Doing so MyPanel also becomes a JPanle due to inheritance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Override the paintComponent(Graphics g) 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Inside method using graphics object, do whatever drawing you want to do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Install that JPanel inside a JFrame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frame becomes visible through the paintChildren() method your panel become visible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become visible your panel will call paintComponent() method which will do your custom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drawing </a:t>
            </a:r>
            <a:endParaRPr lang="ko-KR" altLang="en-US" dirty="0" smtClean="0" sz="1103"/>
          </a:p>
          <a:p>
            <a:pPr marL="0" indent="0" defTabSz="15240"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89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60320" y="1420495"/>
            <a:ext cx="2719070" cy="15601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 18.1: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Suppose, we want to draw one circle &amp; rectangle and a string ―Hello World‖.</a:t>
            </a:r>
            <a:endParaRPr lang="ko-KR" altLang="en-US" dirty="0" smtClean="0" sz="1103"/>
          </a:p>
          <a:p>
            <a:pPr marL="0" indent="0" defTabSz="15240" algn="l">
              <a:lnSpc>
                <a:spcPts val="16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first step is building a class that inherits from JPanel. The following class MyPanel is fulfilling this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requirement. paintComponent( ) method is also override in this class. The sample code is given below </a:t>
            </a:r>
            <a:endParaRPr lang="ko-KR" altLang="en-US" dirty="0" smtClean="0" sz="1103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importing required packagesimport javax.swing.*;import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extending class from JPanelpublic class MyPanel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extends JPanel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paintComponent method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paintComponent(Graphics g){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erasing behaviour – this will clear all the// previous painting super.paintComponent(g);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Down casting Graphics object to Graphics2DGraphics2D g2 = (Graphics2D)g;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drawing rectanle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g2.drawRect(20,20,20,20);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changing the color to blue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g2.setColor(Color.blue);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drawing filled oval with color i.e. blueg2.fillOval(50,50,20,20);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drawing stringg2.drawString("Hello World", 120, 50);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// end paintComponent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MyPanel class </a:t>
            </a:r>
            <a:endParaRPr lang="ko-KR" altLang="en-US" dirty="0" smtClean="0" sz="1103"/>
          </a:p>
          <a:p>
            <a:pPr marL="0" indent="0" defTabSz="15240" algn="l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92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Test class that contains the main method as well uses MyPainel (previously built) class is given below </a:t>
            </a:r>
            <a:endParaRPr lang="ko-KR" altLang="en-US" dirty="0" smtClean="0" sz="1103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importing required packages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Test {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declaring Reference of MyPanel class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MyPanel p;</a:t>
            </a:r>
            <a:endParaRPr lang="ko-KR" altLang="en-US" dirty="0" smtClean="0" sz="1103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parameter less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Test(){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 = f.getContentPane();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c.setLayout(new BorderLayout());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instantiating reference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 = new MyPanel();</a:t>
            </a:r>
            <a:endParaRPr lang="ko-KR" altLang="en-US" dirty="0" smtClean="0" sz="1103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adding MyPanel into container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c.add(p);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f.setSize(400,400); 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f.setDefaultCloseOperation(JFrame.EXIT_ON_CLOSE);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main method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 ]){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Test t = new Test();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9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189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Note: Here we have used only some methods (drawRect( ) &amp; fillOval( ) etc. ) of Graphics class. For a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complete list, see the Java API documentation </a:t>
            </a:r>
            <a:endParaRPr lang="ko-KR" altLang="en-US" dirty="0" smtClean="0" sz="1103"/>
          </a:p>
          <a:p>
            <a:pPr marL="0" indent="0" defTabSz="15240" algn="l">
              <a:lnSpc>
                <a:spcPts val="6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59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19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How to Animate?</a:t>
            </a:r>
            <a:endParaRPr lang="ko-KR" altLang="en-US" dirty="0" smtClean="0" sz="1103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we want to animate something like ball, moving from one place to another, we constantly need to call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paintComponent( ) method and to draw the shape (ball etc.) at new place means at new coordinates.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Painting is managed by system, so calling paintComponent() directly is not recommended at all. Similarly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calling paint( ) method is also not recommended. Why? Because such code may be invoked at times when it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is not appropriate to paint -- for instance, before the component is visible or has access to a valid Graphics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gives us a solution in the from of repaint( ) method. Whenever we need to repaint, we call this method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that in fact makes a call to paint( ) method at appropriate time.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Problem &amp; Solution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What to do to move the shapes present in example code 18.1 (last example) when a mouse is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dragged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First time painting is what we already have done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When a mouse is clicked find the co-ordinates of that place and paint Rectangle at that place by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requesting, using repaint() call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Here instead of Hard-coding the position of co-ordinates uses some variables. For example mx, my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In the last example code, we draw a rectangle by passing hard-coded values like 20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g.drawRect(20,20,20,20);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–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								Now, we‘ll use variables so that change in a variable value causes to display a rectangle at a new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location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g.drawRect(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mx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my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,20,20;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Similarly, you have seen a tennis game (during lecture). Now, what to do code the paddle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movement.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In the coming up example. We are doing it using mouse, try it using mouse.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 19.1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outputs were produced when mouse is dragged from one location to anther </a:t>
            </a:r>
            <a:endParaRPr lang="ko-KR" altLang="en-US" dirty="0" smtClean="0" sz="1103"/>
          </a:p>
          <a:p>
            <a:pPr marL="0" indent="0" defTabSz="15240" algn="l">
              <a:lnSpc>
                <a:spcPts val="1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01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91310" y="688975"/>
            <a:ext cx="5046980" cy="23285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 we examine the MyPanel.java class that is drawing a filled rectangle. </a:t>
            </a:r>
            <a:endParaRPr lang="ko-KR" altLang="en-US" dirty="0" smtClean="0" sz="1103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extending class from JPanelpublic class MyPanel extends JPanel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variables used to draw rectangles at different//locations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 mX = 20;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 mY = 20;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paintComponent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paintComponent(Graphics g){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erasing behaviour – this will clear all the// previous painting super.paintComponent(g);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Down casting Graphics object to Graphics2D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Graphics2D g2 = (Graphics2D)g;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changing the color to blue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g2.setColor(Color.blue);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drawing filled oval with color i.e. blue// using instance variablesg2.fillRect(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mX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mY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,20,20);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// end paintComponent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Test class is given below. Additionally this class also contains the code for handling mouse events. </a:t>
            </a:r>
            <a:endParaRPr lang="ko-KR" altLang="en-US" dirty="0" smtClean="0" sz="1103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importing required packagesimport javax.swing.*;import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Test {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04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declaring Reference of MyPanel class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MyPanel p;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parameter less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Test(){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 = f.getContentPane();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c.setLayout(new BorderLayout());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instantiating reference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 = new MyPanel();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adding MyPanel into container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c.add(p);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f.setSize(400,400); </a:t>
            </a:r>
            <a:endParaRPr lang="ko-KR" altLang="en-US" dirty="0" smtClean="0" sz="107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f.setDefaultCloseOperation(JFrame.EXIT_ON_CLOSE);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inner class object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Handler h = new Handler();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registering MyPanel to handle events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p.addMouseMotionListner(h);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inner class used for handling events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class Handler extends MouseMotionAdapter{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capturing mouse dagged events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mouseDragged(MouseEvent me){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getting the X-Position of mouse and assigning// value to instance variable mX of MyPanel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p.mX = me.getX();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getting the Y-Position of mouse and assigning// value to instance variable mX of MyPanel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p.mY = me.getY();</a:t>
            </a:r>
            <a:endParaRPr lang="ko-KR" altLang="en-US" dirty="0" smtClean="0" sz="1103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 to repaint causes rectangle to be drawn on// new location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07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4830" y="4867910"/>
            <a:ext cx="2017395" cy="225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p.repaint() 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// end mouseDragged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Handler class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main method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 ]){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Test t = new Test();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MyPanel class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executing this program, when you drag mouse from one location to another, rectangle is also in sink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with the movement of mouse. Notice that previously drawn rectangle is erased first.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we exclude or comment out the following line from MyPanel class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super.paintComponent(g);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Dragging a mouse will produce a similar kind of output shown next </a:t>
            </a:r>
            <a:endParaRPr lang="ko-KR" altLang="en-US" dirty="0" smtClean="0" sz="1103"/>
          </a:p>
          <a:p>
            <a:pPr marL="0" indent="0" defTabSz="15240" algn="l">
              <a:lnSpc>
                <a:spcPts val="3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10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00200" y="1984375"/>
            <a:ext cx="5038090" cy="18345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 19.2: Ball Animation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ball is continuously moving freely inside the corner of the frames. The sample outputs are shown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below: </a:t>
            </a:r>
            <a:endParaRPr lang="ko-KR" altLang="en-US" dirty="0" smtClean="0" sz="1103"/>
          </a:p>
          <a:p>
            <a:pPr marL="0" indent="0" defTabSz="15240" algn="l">
              <a:lnSpc>
                <a:spcPts val="2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 we examine the MyPanel.java class that is drawing a filled oval.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extending class from JPanelpublic class MyPanel extends JPanel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variables used to draw oval at different locations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 mX = 200;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 mY = 0;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paintComponent method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paintComponent(Graphics g){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erasing behaviour – this will clear all the// previous painting super.paintComponent(g);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Down casting Graphics object to Graphics2D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Graphics2D g2 = (Graphics2D)g;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changing the color to blue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g2.setColor(Color.blue);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drawing filled oval with blue color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using instance variables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g2.fillOval(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</a:rPr>
              <a:t>mX,mY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</a:rPr>
              <a:t>,20,20);</a:t>
            </a:r>
            <a:endParaRPr lang="ko-KR" altLang="en-US" dirty="0" smtClean="0" sz="1072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}// end paintComponent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end of MyPanel class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13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Test class is given below. Additionally this class also contains the code for handling mouse events.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importing required packagesimport javax.swing.*;import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java.awt.*;Import java.awt.event.*;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AnimTest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implements ActionListener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JFrame f;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MyPanel p;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used to control the direction of ball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int x, y;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AnimTest(){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 = new JFrame();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Container c = f.getContentPane();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c.setLayout(new BorderLayout());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x = 5;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y = 3;</a:t>
            </a:r>
            <a:endParaRPr lang="ko-KR" altLang="en-US" dirty="0" smtClean="0" sz="1103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 = new MyPanel();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c.add(p);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f.setSize(400,400); </a:t>
            </a:r>
            <a:endParaRPr lang="ko-KR" altLang="en-US" dirty="0" smtClean="0" sz="107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f.setVisible(true);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f.setDefaultCloseOperation(JFrame.EXIT_ON_CLOSE);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a Timer class object, used for firing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one or more action events after a specified delay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Timer class constructor requires time 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milliseconds and object of class that handles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action events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Timer t = new Timer (5, this);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starts the timer, causing it to start sending// action events to listeners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t.start();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event handler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actionPerformed(ActionEvent ae){</a:t>
            </a:r>
            <a:endParaRPr lang="ko-KR" altLang="en-US" dirty="0" smtClean="0" sz="1103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16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if ball reached to maximum width of frame minus// 40 since diameter of ball is 40 then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change the// X-direction of ball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if (f.getWidth()-40 == p.mX)</a:t>
            </a:r>
            <a:endParaRPr lang="ko-KR" altLang="en-US" dirty="0" smtClean="0" sz="1103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x = -5;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if ball reached to maximum height of frame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minus 40 then change the Y-direction of ball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if (f.getHeight()-40 == p.mY)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y = -3;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if ball reached to min. of width of frame,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change the X-direction of ball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if (p.mX == 0 )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x = 5;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if ball reached to min. of height of frame,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change the Y-direction of ball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if (p.mY == 0 )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y = 3;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Assign x,y direction to MyPanel‘s mX &amp; mY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p.mX += x;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p.mY += y;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 to repaint() method so that ball is drawn on// new locations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p.repaint();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 // end actionPerformed() 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main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 ]){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AnimTest at = new AnimTest();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of AnimTest class </a:t>
            </a:r>
            <a:endParaRPr lang="ko-KR" altLang="en-US" dirty="0" smtClean="0" sz="1103"/>
          </a:p>
          <a:p>
            <a:pPr marL="0" indent="0" defTabSz="15240" algn="l">
              <a:lnSpc>
                <a:spcPts val="1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19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Java, A Lab Course by Umair Javed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Painting in AWT &amp; Swing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  <a:ea typeface="Garamond"/>
              </a:rPr>
              <a:t>http://java.sun.com/products/jfc/tsc/articles/painting/index.html</a:t>
            </a:r>
            <a:endParaRPr lang="ko-KR" altLang="en-US" dirty="0" smtClean="0" sz="1103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Performing Custom Painting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 u="sng">
                <a:solidFill>
                  <a:srgbClr val="0000FF"/>
                </a:solidFill>
                <a:latin typeface="Garamond"/>
                <a:ea typeface="Garamond"/>
              </a:rPr>
              <a:t>http://java.sun.com/docs/books/tutorial/uiswing/14painting/index.html</a:t>
            </a:r>
            <a:endParaRPr lang="ko-KR" altLang="en-US" dirty="0" smtClean="0" sz="1103" u="sng"/>
          </a:p>
          <a:p>
            <a:pPr marL="0" indent="0" defTabSz="15240" algn="l">
              <a:lnSpc>
                <a:spcPts val="5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22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20</a:t>
            </a:r>
            <a:endParaRPr lang="ko-KR" altLang="en-US" dirty="0" smtClean="0" sz="1103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Applets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 small program written in Java and included in a HTML page.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It is independent of the operating system on which it runs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An applet is a Panel that allows interaction with a Java program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 applet is typically embedded in a Web page and can be run from a browser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You need special HTML in the Web page to tell the browser about the applet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For security reasons, applets run in a sandbox: they have no access to the client‘s file system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Applets Support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Most modern browsers support Java 1.4 if they have the appropriate plugin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Sun provides an application appletviewerto view applets without using browser.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In general you should try to write applets that can be run with any browser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What an Applet is?</a:t>
            </a:r>
            <a:endParaRPr lang="ko-KR" altLang="en-US" dirty="0" smtClean="0" sz="1103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You write an applet by extending the class Appletor JApplet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Applet is just a class like any other; you can even use it in applications if you want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When you write an applet, you are only writing part of a program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browser supplies the main method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The genealogy of Applet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figure shows the inheritance hierarchy of the JApplet class. This hierarchy determines much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what an applet can do and how, as you'll see on the next few pages.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java.lang.Object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|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+----java.awt.Component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|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+----java.awt.Container|+----java.awt.Panel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|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+----java.applet.Applet|+----javax.swing.JApplet</a:t>
            </a:r>
            <a:endParaRPr lang="ko-KR" altLang="en-US" dirty="0" smtClean="0" sz="1103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20.1: Writing a Simple Applet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Below is the source code for an applet called HelloApplet. This displays a ―Hello World‖ string. Note that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 main method has been provided.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HelloApplet.java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2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199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1: importing required packagesimport java.awt.*;import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extending class from JApplet so that our class also becomes an//appletpublic class HelloApplet extends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JApplet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paint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paint(Graphics g) {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write code here u want to display &amp; draw by using// Graphics objectg.drawString(―Hello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World‖, 30 , 30);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defining the HelloApplet.java, the next step is to write .html file. Below is the source code of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Test.html file. The Test.html contains the ordinary html code except one.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&lt;html&gt;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&lt;head&gt;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&lt;title&gt; Simple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Applet &lt;/title&gt;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&lt;/head&gt;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&lt;body&gt;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&lt;!-- providing the class name of applet with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width &amp;height--!&gt;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&lt;applet code="HelloApplet.class”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width=150 height=100&gt;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&lt;/applet&gt;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&lt;/body&gt;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&lt;/html&gt;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By simply double clicking on Test.html file, you can view the applet in your browser. However, you can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also use the appletviewer java program for executing or running applets.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applet viewer is invoked from the command line by the command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appletviewer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htmlfile</a:t>
            </a:r>
            <a:endParaRPr lang="ko-KR" altLang="en-US" dirty="0" smtClean="0" sz="1103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where htmlfile is the name of the file that contains the html document. For our example, the command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looks like this: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2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27630" y="1609090"/>
            <a:ext cx="2974340" cy="224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appletviewer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Test.html</a:t>
            </a:r>
            <a:endParaRPr lang="ko-KR" altLang="en-US" dirty="0" smtClean="0" sz="1103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a result, you will see the following output </a:t>
            </a:r>
            <a:endParaRPr lang="ko-KR" altLang="en-US" dirty="0" smtClean="0" sz="1103"/>
          </a:p>
          <a:p>
            <a:pPr marL="0" indent="0" defTabSz="15240" algn="l">
              <a:lnSpc>
                <a:spcPts val="2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Applet Life Cycle Methods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an applet is loaded, an instance of the applet's controlling class (an Applet subclass) is created. After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that an applet passes through some stages or methods, each of them are build for specific purpose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 applet can react to major events in the following ways: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It can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initialize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itself.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It can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start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running.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It can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stop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running.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It can perform a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final cleanup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, in preparation for being unloaded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	applet‘s life cycle methods are called in the specific order shown below. Not every applet needs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override every one of these methods. </a:t>
            </a:r>
            <a:endParaRPr lang="ko-KR" altLang="en-US" dirty="0" smtClean="0" sz="1103"/>
          </a:p>
          <a:p>
            <a:pPr marL="0" indent="0" defTabSz="15240" algn="l">
              <a:lnSpc>
                <a:spcPts val="1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31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1360" y="688975"/>
            <a:ext cx="1706880" cy="32950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Let‘s take a look on each method in detail and find out what they do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init(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Is called only once.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purpose of init( ) is to initialize the applet each time it's loaded (or reloaded).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You can think of it as a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start(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To start the applet's execution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For example, when the applet's loaded or when the user revisits a page that contains the applet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start( ) is also called whenever the browser is maximized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paint(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paint( ) is called for the first time when the applet becomes visible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Whenever applet needs to be repainted, paint( ) is called again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Do all your painting in paint( ), or in a method that is called from paint( )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stop(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To stop the applet's execution, such as when the user leaves the applet's page or quits the browser.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stop( ) is also called whenever the browser is minimized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destroy(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Is called only once.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To perform a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final cleanup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 preparation for unloading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20.2: Understanding Applet Life Cycle Methods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code example helps you in understanding the calling sequence of applet‘s life cycle methods.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34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These methods are only displaying debugging statements on the console.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AppletDemo.java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1: importing required packagesimport java.awt.*;import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extending class from JApplet so that our class also becomes an//appletpublic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AppletDemo extends JApplet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init method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init ( ) 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System.out.println("init() called");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start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start ( ){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System.out.println("start() called");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paint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paint(Graphics g){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System.out.println("paint() called");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stop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stop(){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System.out.println("stop() called");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destroy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destroy(){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System.out.println("destroy() called");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DemoTest.html file is using this applet. The code snippet of it 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&lt;html&gt; &lt;head&gt; &lt;title&gt; Applet Life Cycle Methods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&lt;/title&gt;&lt;/head&gt;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&lt;body&gt;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37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54150" y="3410585"/>
            <a:ext cx="4726940" cy="24415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&lt;!-- providing the class name of applet with width &amp;height--!&gt;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&lt;applet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code="AppletDemo.class”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width=150 height=100&gt;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&lt;/applet&gt;&lt;/body&gt;&lt;/html&gt;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 understand  the  calling  sequence  of  applet  life cycle  methods,  you  have  to  execute  it  by  using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appletviewer command. Do experiments like maximizing, minimizing the applet, bringing another window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front of applet and keep an eye on console output.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20.3: Animated Java Word Sample Output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browser output of the program is 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2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Design Process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Program in a single call of paint method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Draws string ―java‖ on 40 random locations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For every drawing, it selects random font out of 4 different fonts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For every drawing, it selects random color out of 256 * 256 * 256 RGB colors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Repaint is called after every 1000 ms.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10 calls to repaint, screen is cleared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Generating Random Numbers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Use static method random of Math class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Math.random() 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Returns positive double value greater than or equal to 0.0 or less than 1.0.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Multiply the number with appropriate scaling factor to increase the range and type cast it, if needed.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i = (int)( Math.random() * 5 );// will generate random numbers between 0 &amp; 4.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40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Program‟s Modules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program is build using many custom methods. Let‘s discuss each of them one by one that will help in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understanding the overall logic of the program.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drawJava(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name indicates, this method will be used to write String 	―java‖ on random locations. The code 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method drawJava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drawJava(Graphics2D g2) { </a:t>
            </a:r>
            <a:endParaRPr lang="ko-KR" altLang="en-US" dirty="0" smtClean="0" sz="1103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generate first number randomly. The panel width is 1000int x = (int) (Math.random() * 1000); //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generate second number randomly. The panel height is 700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y = (int) (Math.random() * 700); // draw String on these randomly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selected numebrsg2.drawString("java", x, y); 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chooseColor(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method will choose color randomly out of 256 * 256 * 256 possible colors. The code snippet is given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below: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method chooseColor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Color chooseColor()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choosing red color value randomly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r = (int) (Math.random() * 255);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choosing green color value randomly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g = (int) (Math.random() * 255);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choosing blue color value randomly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b = (int) (Math.random() * 255);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constructing a color by providing R-G-B valuesColor c = new Color(r, g, b);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// returning color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return c;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43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.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chooseFont( )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This method will choose a Font for text (java) to be displayed out of 4 available fonts. The code snippet is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method chooseFont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Font chooseFont()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generating a random value that helps in choosing a fontint fontChoice = (int)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(Math.random() * 4) + 1;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declaring font reference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Font f = null;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using switch based logic for selecting font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switch (fontChoice) {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1: f = new Font("Serif", Font.BOLD + Font.ITALIC, 20);break;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2: f = new Font("SansSerif", Font.PLAIN, 17);break;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3: f = new Font("Monospaced", Font.ITALIC, 23);break;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4: f = new Font("Dialog", Font.ITALIC, 30);break;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switch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returns Font object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f;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//end chooseFont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paint( )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last method to be discussed here is paint( ). By overriding this method, we will print string ―java‖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40 random locations. For every drawing, it selects random font out of 4 different fonts &amp; random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color out of 256 * 256 * 256 RGB colors.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Let‘s see, how it happens: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method paint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paint(Graphics g) {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incrementing clear counter variable.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clearCounter++;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46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printing 40 ―java‖ strings on different locations by// selcting random font &amp; colorfor (int i =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1; i &lt;= 40; i++) {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choosing random color by calling chooseColor() method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Color c = chooseColor();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setting color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g2.setColor(c);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choosing random Font by calling chooseColor() method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Font f = chooseFont();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g2.setFont(f);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drawing string ―java‖ by calling drawJava() method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drawJava(g2); </a:t>
            </a:r>
            <a:endParaRPr lang="ko-KR" altLang="en-US" dirty="0" smtClean="0" sz="1103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for loop Graphics2D g2 = (Graphics2D) g;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checking if paint is called 10 times then clears the// screen and set counter again to zero if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(clearCounter == 10) {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g2.clearRect(0, 0, 1000, 700);clearCounter = 0; } }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end paint method </a:t>
            </a:r>
            <a:endParaRPr lang="ko-KR" altLang="en-US" dirty="0" smtClean="0" sz="1103"/>
          </a:p>
          <a:p>
            <a:pPr marL="0" indent="0" defTabSz="15240" algn="l">
              <a:lnSpc>
                <a:spcPts val="3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49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Merging Pieces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By inserting all method inside JavaAnim.java class, the program will look like one given below. Notice that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it contains methods discussed above with some extra code with which you are already familiar.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JavaAnim.java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1: importing required packages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java.awt.*;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java.awt.event.*;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class JavaAnim extends JApplet implements ActionListener {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used to count how many times paint is called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clearCounter;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declaring Timer reference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Timer t;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init method, used to initialize variables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init() {</a:t>
            </a:r>
            <a:endParaRPr lang="ko-KR" altLang="en-US" dirty="0" smtClean="0" sz="1103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setBackground(Color.black);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clearCounter = 0;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Timer t = new Timer(1000, this);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paint method – discussed above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paint(Graphics g) {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clearCounter++;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Graphics2D g2 = (Graphics2D) g;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(clearCounter == 10) 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g2.clearRect(0, 0, 1000, 700);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clearCounter = 0;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(int i = 1; i &lt;= 40; i++) 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Color c = chooseColor();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g2.setColor(c);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Font f = chooseFont();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52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g2.setFont(f);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drawJava(g2);  }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696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696" b="1"/>
          </a:p>
          <a:p>
            <a:pPr marL="0" indent="0" defTabSz="15240"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actionPerformed()of ActionListener interface// called by Timer object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actionPerformed(ActionEvent ae) {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repaint();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103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chooseColor method – discussed above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Color chooseColor() {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r = (int) (Math.random() * 255);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g = (int) (Math.random() * 255);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b = (int) (Math.random() * 255);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Color c = new Color(r, g, b);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c;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chooseFont method – discussed above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Font chooseFont() {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fontChoice = (int) (Math.random() * 4) + 1;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Font f = null;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switch (fontChoice)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1: f = new Font("Serif", Font.BOLD + Font.ITALIC, 20);break;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2: f = new Font("SansSerif", Font.PLAIN, 17);break;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3: f = new Font("Monospaced", Font.ITALIC, 23);break;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case 4: f = new Font("Dialog", Font.ITALIC, 30);break;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return f;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103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5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209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drawJava() method – discussed above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drawJava(Graphics2D g2) {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x = (int) (Math.random() * 1000);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int y = (int) (Math.random() * 700);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g2.drawString("java", x, y);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103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AnimTest.html file is using this applet. The code snippet of it 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&lt;html&gt;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&lt;head&gt;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&lt;title&gt; Animated Java Word &lt;/title&gt;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&lt;/head&gt; </a:t>
            </a:r>
            <a:endParaRPr lang="ko-KR" altLang="en-US" dirty="0" smtClean="0" sz="1103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&lt;body&gt;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&lt;applet code="JavaAnim.class" width=1000 height=700&gt; &lt;/applet&gt;</a:t>
            </a:r>
            <a:endParaRPr lang="ko-KR" altLang="en-US" dirty="0" smtClean="0" sz="1103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&lt;/body&gt; &lt;/html&gt; </a:t>
            </a:r>
            <a:endParaRPr lang="ko-KR" altLang="en-US" dirty="0" smtClean="0" sz="1103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can execute it directly using browser or by using appletviewer application. For having fun, you can use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―your name‖ instead of ―java‖ and watch it in different colors ☺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References: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Java, A Lab Course by Umair Javed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&lt;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Writing Applets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.    </a:t>
            </a:r>
            <a:r>
              <a:rPr lang="en-US" altLang="ko-KR" dirty="0" smtClean="0" sz="1072" u="sng">
                <a:solidFill>
                  <a:srgbClr val="0000FF"/>
                </a:solidFill>
                <a:latin typeface="Garamond"/>
              </a:rPr>
              <a:t>	http://java.sun.com/docs/books/tutorial/</a:t>
            </a:r>
            <a:r>
              <a:rPr lang="en-US" altLang="ko-KR" dirty="0" smtClean="0" sz="1074" u="sng" b="1">
                <a:solidFill>
                  <a:srgbClr val="0000FF"/>
                </a:solidFill>
                <a:latin typeface="Garamond"/>
              </a:rPr>
              <a:t>applet</a:t>
            </a:r>
            <a:r>
              <a:rPr lang="en-US" altLang="ko-KR" dirty="0" smtClean="0" sz="1072" u="sng">
                <a:solidFill>
                  <a:srgbClr val="0000FF"/>
                </a:solidFill>
                <a:latin typeface="Garamond"/>
              </a:rPr>
              <a:t>/ </a:t>
            </a:r>
            <a:endParaRPr lang="ko-KR" altLang="en-US" dirty="0" smtClean="0" sz="1072" u="sng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5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210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21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Socket Programming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Socket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 socket is one endpoint of a two-way communication link between two programs running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generally on a network.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 socket is a bi-directional communication channel between hosts. A computer on a network often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termed as host.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Socket Dynamics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As you have already worked with files, you know that file is an abstraction of your hard drive.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Similarly you can think of a socket as an abstraction of the network.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Each end has input stream (to send data) and output stream (to receive data) wired up to the other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host.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You store and retrieve data through files from hard drive, without knowing the actual dynamics of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hard drive. Similarly you send and receive data to and from network through socket, without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actually going into underlying mechanics.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You read and write data from/to a file using streams. To read and write data to socket, you will also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use streams.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What is Port?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It is a transport address to which processes can listen for connections request.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There are different protocols available to communicate such as TCP and UDP. We will use TCP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programming in this handout.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There are 64k ports available for TCP sockets and 64k ports available for UDP, so at least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theoretically we can open 128k simultaneous connections.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There are well-known ports which are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below 1024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provides standard services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Some well-known ports are: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-FTP works on port 21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-HTTP works on port 80 -TELNET works on port 23 etc.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How Client – Server Communicate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Normally, a server runs on a specific computer and has a socket that is bound to a specific port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number.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server just waits, listening to the socket for a client to make a connection request.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On the client side: The client knows the hostname of the machine on which the server is running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the port number to which the server is connected.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On the server side, if the connection is accepted, a socket is successfully created and the client can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use the socket to communicate with the server.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Note that the socket on the client side is not bound to the port number used to make contact with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server. Rather, the client is assigned a port number local to the machine on which the client is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running.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client and server can now communicate by writing to or reading from their sockets </a:t>
            </a:r>
            <a:endParaRPr lang="ko-KR" altLang="en-US" dirty="0" smtClean="0" sz="1103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61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211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85415" y="688975"/>
            <a:ext cx="2870835" cy="6946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85415" y="4572000"/>
            <a:ext cx="2861945" cy="9080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As soon as client creates a socket that socket attempts to connect to the specified server.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The server listens through a special kind of socket, which is named as server socket.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communication.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new socket, a communication socket, bound to a different port number.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The server needs a new socket (and consequently a different port number) so that it can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continue to listen through the original server socket for connection requests while tending to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needs of the connected client. This scheme is helpful when two or more clients try to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connect to a server simultaneously (a very common scenario). </a:t>
            </a:r>
            <a:endParaRPr lang="ko-KR" altLang="en-US" dirty="0" smtClean="0" sz="1103"/>
          </a:p>
          <a:p>
            <a:pPr marL="0" indent="0" defTabSz="15240" algn="l">
              <a:lnSpc>
                <a:spcPts val="1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Steps – To Make a Simple Client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make a client, process can be split into 5 steps. These are: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Import required package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have to import two packages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java.net.*;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java.io.*;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Connect / Open a Socket with Server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Create a client socket (communication socket)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Socket s = new Socket(―serverName‖, serverPort) ;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serverName 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or address of the server you wanted to connect such as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FF"/>
                </a:solidFill>
                <a:latin typeface="Garamond"/>
                <a:ea typeface="Garamond"/>
              </a:rPr>
              <a:t>http://www.google.com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or 172.2.4.98 etc. For testing if you are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running client and server on the same machine then you can specify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―localhost‖ as the name of server </a:t>
            </a:r>
            <a:endParaRPr lang="ko-KR" altLang="en-US" dirty="0" smtClean="0" sz="1103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  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</a:rPr>
              <a:t>		serverPort 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Port number you want to connect to </a:t>
            </a:r>
            <a:endParaRPr lang="ko-KR" altLang="en-US" dirty="0" smtClean="0" sz="1103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64" name="Rect 3"/>
          <p:cNvSpPr>
            <a:spLocks noGrp="1" noChangeArrowheads="1"/>
          </p:cNvSpPr>
          <p:nvPr/>
        </p:nvSpPr>
        <p:spPr>
          <a:xfrm rot="0">
            <a:off x="1356360" y="2719070"/>
            <a:ext cx="5755640" cy="6531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The sole purpose of the server socket is to listen for incoming request; it is not used for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If every thing goes well, the server accepts the connection. Upon acceptance, the server gets a </a:t>
            </a:r>
            <a:endParaRPr lang="ko-KR" altLang="en-US" dirty="0" smtClean="0" sz="1103"/>
          </a:p>
          <a:p>
            <a:pPr marL="0" indent="0" defTabSz="15240" algn="l">
              <a:lnSpc>
                <a:spcPts val="4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212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scheme is very similar to our home address and then phone number.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Get I/O Streams of Socket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Get input &amp; output streams connected to your socket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reading data from socket As stated above, a socket has input stream attached to it.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InputStream is = s.getInputStream();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now to convert byte oriented stream into character oriented buffered reader // we use intermediary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stream that helps in achieving above stated purpose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InputStreamReader isr= new InputStreamReader(is); BufferedReader br = new BufferedReader(isr);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 u="sng">
                <a:solidFill>
                  <a:srgbClr val="000000"/>
                </a:solidFill>
                <a:latin typeface="Garamond"/>
                <a:ea typeface="Garamond"/>
              </a:rPr>
              <a:t>For writing data to socket </a:t>
            </a:r>
            <a:endParaRPr lang="ko-KR" altLang="en-US" dirty="0" smtClean="0" sz="1103" u="sng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socket has also output stream attached to it. Therefore, </a:t>
            </a:r>
            <a:endParaRPr lang="ko-KR" altLang="en-US" dirty="0" smtClean="0" sz="1103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OutputStream os = s.getOutputStream();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now to convert byte oriented stream into character oriented print writer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here we will not use any intermediary stream because PrintWriter constructor // directly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accepts an object of OutputStream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PrintWriter pw = new PrintWriter(os, true); </a:t>
            </a:r>
            <a:endParaRPr lang="ko-KR" altLang="en-US" dirty="0" smtClean="0" sz="1103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Here notice that true is also passed to so that output buffer will flush.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Send / Receive Message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Once you have the streams, sending or receiving messages isn‘t a big task. It‘s very much similar to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way you did with files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send messages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pw.println(―hello	world‖);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read messages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recMsg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						Close Socket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Don‘t forget to close the socket, when you finished your work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67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213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Steps – To Make a Simple Server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make a server, process can be split into 7 steps. Most of these are similar to steps used in making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client. These are: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Import required package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You need the similar set of packages you have used in making of client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java.net.*;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java.io.*;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Create a Server Socket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order to create a server socket, you will need to specify port no eventually on which server will listen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client requests.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ServerSocket ss = new ServerSocket(serverPort) 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serverPort:  port local to the server i.e. a free port on the server machine. This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is the same port number that is given in the client socket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Wait for Incoming Connections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job of the server socket is to listen for the incoming connections. This listening part is done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through the accept method.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Socket s = ss.accept();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server program blocks ( stops ) at the accept method and waits for the incoming client connection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when a request for connection comes it opens a new communication socket (s) and use this socket to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communicate with the client.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4.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Get I/O Streams of Socket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Once you have the communication socket, getting I/O streams from communication socket is similar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the way did in making a client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1.</a:t>
            </a:r>
            <a:r>
              <a:rPr lang="en-US" altLang="ko-KR" dirty="0" smtClean="0" sz="1103" u="sng">
                <a:solidFill>
                  <a:srgbClr val="000000"/>
                </a:solidFill>
                <a:latin typeface="Garamond"/>
              </a:rPr>
              <a:t>		For reading data from socket</a:t>
            </a:r>
            <a:endParaRPr lang="ko-KR" altLang="en-US" dirty="0" smtClean="0" sz="1103" u="sng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InputStream is = s.getInputStream(); InputStreamReader isr= new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InputStreamReader(is); BufferedReader br = new BufferedReader(isr);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2.</a:t>
            </a:r>
            <a:r>
              <a:rPr lang="en-US" altLang="ko-KR" dirty="0" smtClean="0" sz="1103" u="sng">
                <a:solidFill>
                  <a:srgbClr val="000000"/>
                </a:solidFill>
                <a:latin typeface="Garamond"/>
              </a:rPr>
              <a:t>		For writing data to socket</a:t>
            </a:r>
            <a:endParaRPr lang="ko-KR" altLang="en-US" dirty="0" smtClean="0" sz="1103" u="sng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OutputStream os = s.getOutputStream();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PrintWriter pw = new PrintWriter(os, true);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5.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Send / Receive Message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Sending and receiving messages is very similar as discussed in making of client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send messages: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pw.println(―hello	world‖);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To read messages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recMsg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70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214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6.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	Close Socket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21.1: Echo Server &amp; Echo Client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client will send its name to the server and server will append ―hello‖ with the name send by the client.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that, server will send back the name with appended ―hello‖.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EchoServer.java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Let‘s first see the code for the server </a:t>
            </a:r>
            <a:endParaRPr lang="ko-KR" altLang="en-US" dirty="0" smtClean="0" sz="1103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step 1: importing required package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java.net.*;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EchoServer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args[])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create a server socket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ServerSocket ss = new ServerSocket(2222);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System.out.println("Server started...");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Loop back to the accept method of the serversocket and wait for a new connection request.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*/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while(true)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step 3: wait for incoming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Socket s = ss.accept();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System.out.println("connection request recieved");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step 4: Get I/O streams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InputStream is = s.getInputStream();InputStreamReader isr= new</a:t>
            </a:r>
            <a:endParaRPr lang="ko-KR" altLang="en-US" dirty="0" smtClean="0" sz="1103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InputStreamReader(is);BufferedReader br = new BufferedReader(isr);</a:t>
            </a:r>
            <a:endParaRPr lang="ko-KR" altLang="en-US" dirty="0" smtClean="0" sz="1103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OutputStream os = s.getOutputStream();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73" name="Rect 3"/>
          <p:cNvSpPr>
            <a:spLocks noGrp="1" noChangeArrowheads="1"/>
          </p:cNvSpPr>
          <p:nvPr/>
        </p:nvSpPr>
        <p:spPr>
          <a:xfrm rot="0">
            <a:off x="2002790" y="7245350"/>
            <a:ext cx="5109210" cy="2005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Soserver will continuously listen for requests </a:t>
            </a:r>
            <a:endParaRPr lang="ko-KR" altLang="en-US" dirty="0" smtClean="0" sz="1103"/>
          </a:p>
          <a:p>
            <a:pPr marL="0" indent="0" defTabSz="15240" algn="l">
              <a:lnSpc>
                <a:spcPts val="1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215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PrintWriter pw = new PrintWriter(os,true);</a:t>
            </a:r>
            <a:endParaRPr lang="ko-KR" altLang="en-US" dirty="0" smtClean="0" sz="1103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step 5: Send / Receive message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reading name sent by clientString name =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br.readLine();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// appending ―hello‖ with the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received name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msg = "Hello " + name + " from Server"; // sending back to client </a:t>
            </a:r>
            <a:endParaRPr lang="ko-KR" altLang="en-US" dirty="0" smtClean="0" sz="1103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pw.println(msg);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closing communication sockeys.close();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while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ex){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System.out.println(ex); } } 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EchoClient.java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code of the client is given below </a:t>
            </a:r>
            <a:endParaRPr lang="ko-KR" altLang="en-US" dirty="0" smtClean="0" sz="1103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step 1: importing required package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java.net.*;import java.io.*;import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EchoClient{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args[]){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//step 2: create a communication socket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if your server will run on the same machine thenyou can pass ―localhost‖ as server address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*/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Notice that port no is similar to one passedwhile creating server socket */server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Socket s = new Socket(“localhost”, 2222);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step 3: Get I/O streams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InputStream is = s.getInputStream();InputStreamReader isr= new</a:t>
            </a:r>
            <a:endParaRPr lang="ko-KR" altLang="en-US" dirty="0" smtClean="0" sz="1103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InputStreamReader(is);BufferedReader br = new BufferedReader(isr);</a:t>
            </a:r>
            <a:endParaRPr lang="ko-KR" altLang="en-US" dirty="0" smtClean="0" sz="1103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OutputStream os = s.getOutputStream();PrintWriter pw = new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PrintWriter(os,true);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step 4: Send / Receive message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asking use to enter his/her name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msg = JOptionPane.showInputDialog("Enter your name");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sending name to server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pw.println(msg);</a:t>
            </a:r>
            <a:endParaRPr lang="ko-KR" altLang="en-US" dirty="0" smtClean="0" sz="1103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76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216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50390" y="3078480"/>
            <a:ext cx="4526280" cy="11950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50390" y="5962015"/>
            <a:ext cx="4519930" cy="11766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52600" y="7745095"/>
            <a:ext cx="4675505" cy="1222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reading message (name appended with hello) from// servermsg =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br.readLine();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displaying received messageJOptionPane.showMessageDialog(null , msg);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closing communication sockets.close();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ex){ System.out.println(ex); } } 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compiling both files, run EchoServer.java first, from the command prompt window. 		You‘ll see a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message of ―server started‖ as shown in the figure below. Also notice that cursor is continuously blinking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since server is waiting for client request </a:t>
            </a:r>
            <a:endParaRPr lang="ko-KR" altLang="en-US" dirty="0" smtClean="0" sz="1103"/>
          </a:p>
          <a:p>
            <a:pPr marL="0" indent="0" defTabSz="15240" algn="l">
              <a:lnSpc>
                <a:spcPts val="1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Now, open another command prompt window and run EchoClient.java from it. Look at EchoServer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window; you‘ll see the message of ―request received‖. Sooner, the EchoClient program will ask you to enter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in input dialog box. After entering name press ok button, with in no time, a message dialog box will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pop up containing your name with appended ―hello‖ from server. This whole process is illustrated below in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pictorial form: </a:t>
            </a:r>
            <a:endParaRPr lang="ko-KR" altLang="en-US" dirty="0" smtClean="0" sz="1103"/>
          </a:p>
          <a:p>
            <a:pPr marL="0" indent="0" defTabSz="15240" algn="l">
              <a:lnSpc>
                <a:spcPts val="2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79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217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03830" y="868680"/>
            <a:ext cx="2821940" cy="11950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40990" y="3069590"/>
            <a:ext cx="2538730" cy="115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sending name to server </a:t>
            </a:r>
            <a:endParaRPr lang="ko-KR" altLang="en-US" dirty="0" smtClean="0" sz="1103"/>
          </a:p>
          <a:p>
            <a:pPr marL="0" indent="0" defTabSz="15240" algn="l">
              <a:lnSpc>
                <a:spcPts val="1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response from server </a:t>
            </a:r>
            <a:endParaRPr lang="ko-KR" altLang="en-US" dirty="0" smtClean="0" sz="1103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Notice that server is still running, you can run again EchoClient.java as many times untill server is running.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have more fun, run the server on a different computer and client on a different. But before doing that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find the IP of the computer machine on which your EchoServer will eventually run. Replace 	―localhost‖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with the new IP and start conversion over network ☺</a:t>
            </a:r>
            <a:endParaRPr lang="ko-KR" altLang="en-US" dirty="0" smtClean="0" sz="1103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Entire material for this handout is taken from the book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JAVA A Lab Course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by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Umair Javed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This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material is available just for the use of VU students of the course Web Design and Development and not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any other commercial purpose without the consent 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1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82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218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55520" y="3234055"/>
            <a:ext cx="3813175" cy="9175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22</a:t>
            </a:r>
            <a:endParaRPr lang="ko-KR" altLang="en-US" dirty="0" smtClean="0" sz="1103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Serialization</a:t>
            </a:r>
            <a:endParaRPr lang="ko-KR" altLang="en-US" dirty="0" smtClean="0" sz="1074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What?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You want to send an object to a stream.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Motivation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 lot of code involves boring conversion from a file to memory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As you might recall that AddressBook program reads data from file and then parses it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This is a common problem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Revisiting AddressBook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read record from a text file named persons.txt. The person record was present in the file in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format. </a:t>
            </a:r>
            <a:endParaRPr lang="ko-KR" altLang="en-US" dirty="0" smtClean="0" sz="1103"/>
          </a:p>
          <a:p>
            <a:pPr marL="0" indent="0" defTabSz="15240" algn="l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persons.txt</a:t>
            </a:r>
            <a:endParaRPr lang="ko-KR" altLang="en-US" dirty="0" smtClean="0" sz="1103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code that was used to construct Person objects after reading information from the file is given below.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Here only the part of code is shown, for complete listing, see AddressBook code in your earlier handout.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 fr = new FileReader("persons.txt");BufferedReader br =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new BufferedReader(fr);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line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 ( line != null ) {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tokens = line.split(",");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tokens[0];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 = tokens[1];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ph = tokens[2];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p = new PersonInfo(name, add, ph); // you can add p into arraylist, if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needed line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 you have seen a lot of parsing code is required for converting a line into PersonInfo objects. Serialization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mechanism eases developer‘s life by achieving all above in a very simple way. </a:t>
            </a:r>
            <a:endParaRPr lang="ko-KR" altLang="en-US" dirty="0" smtClean="0" sz="1103"/>
          </a:p>
          <a:p>
            <a:pPr marL="0" indent="0" defTabSz="15240" algn="l">
              <a:lnSpc>
                <a:spcPts val="1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8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219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Serialization in Java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 provides an extensive support for serialization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Object knows how to read or write themselves to streams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 u="sng">
                <a:solidFill>
                  <a:srgbClr val="000000"/>
                </a:solidFill>
                <a:latin typeface="Garamond"/>
                <a:ea typeface="Garamond"/>
              </a:rPr>
              <a:t>										Problem:</a:t>
            </a:r>
            <a:endParaRPr lang="ko-KR" altLang="en-US" dirty="0" smtClean="0" sz="1103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As you know, objects get created on heap and have some values therefore Objects have some state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memory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You need to save and restore that state.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good news is that java serialization takes care of it automatically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Serializable Interface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By implementing this interface a class declares that it is willing to be read/written by automatic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serialization machinery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Found in java.iopackage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Tagging interface – has no methods and serves only to identify the semantics of being serializable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Automatic Writing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System knows how to recursively write out the state of an object to stream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If an object has the reference of another object, the java serialization mechanism takes care of it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writes it too.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Automatic Reading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System knows how to read the data from Stream and re-create object in memory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The recreated object is of type ―Object‖ therefore Down-casting is required to convert it into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actual type.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Serialization: How it works?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To write an object of PersonInfo, ObejctOutputStream and its method writeObject( ) will be used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p = new PersonInfo( 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ObejctOutputStream out;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writing PersonInfo‘s object p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out.writeObject(p);</a:t>
            </a:r>
            <a:endParaRPr lang="ko-KR" altLang="en-US" dirty="0" smtClean="0" sz="1103" b="1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To read that object back, ObejctInputStream and its method readObject()will be used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ObejctInputStream in;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reading PersonInfo‘s object. Remember type casting// is required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obj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= (PersonInfo)in.readObject(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22.1: Reading / Writing PersonInfo objects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want to send PersonInfo object to stream. You have already seen this class number of times before.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Here it will also implement serializable interface. </a:t>
            </a:r>
            <a:endParaRPr lang="ko-KR" altLang="en-US" dirty="0" smtClean="0" sz="1103"/>
          </a:p>
          <a:p>
            <a:pPr marL="0" indent="0" defTabSz="15240"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8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PersonInfo.java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import java.io.*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PersonInfo implements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Serializable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name;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address;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phoneNum;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//parameterized constructorpublic PresonInfo(String n, String a, String p) 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name = n;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address = a;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phoneNm = p;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//method for displaying person record on GUIpublic void printPersonInfo( 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JOptionPane.showMessageDialog(null ,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―name:		‖ + name + ―address:‖ +address +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―phone no:‖ + phoneNum);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WriteEx.java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class will serialize PersonInfo object to a file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java.io*;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WriteEx{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args[ ]){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 pWrite =new PersonInfo("ali", "defence", "9201211");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attaching FileOutput stream with ―ali.dat‖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FileOutputStream fos =new FileOutputStream("ali.dat");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attaching ObjectOutput stream over FileOutput// stream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ObjectOutputStream out =new ObjectOutputStream(fos);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//serialization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writing object to ‗ali.dat‘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out.writeObject(pWrite);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closing streams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out.close();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fos.close();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catch (Exception ex){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System.out.println(ex)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91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ReadEx.java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class will read serialized object of PersonInfo from file i.e ―ali.data‖</a:t>
            </a:r>
            <a:endParaRPr lang="ko-KR" altLang="en-US" dirty="0" smtClean="0" sz="1103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java.io*; public class ReadEx{ public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static void main(String args[ ]){ try { //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attaching FileInput stream with ―ali.dat‖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FileInputStream fin = new FileInputStream("ali.dat");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attaching FileInput stream over ObjectInput stream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ObjectInputStream in = new ObjectInputStream(fis);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//de-serialization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reading object from ‗ali.dat‘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PersonInfo pRead = (PersoInfo)in.ReadObject(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calling printPersonInfo method to confirm that// object contains same set of values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before// serializatoion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pRead.printPersonInfo();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closing streams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fis.close();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catch (Exception ex){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System.out.println(ex)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compilation, first run the WriteEx.java file and visit the 	―ali.dat‖ file. Then run ReadEx.java from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different command or same command prompt.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Object Serialization &amp; Network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You can read / write to a network using sockets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All you need to do is attach your stream with socket rather than file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The class version should be same on both sides (client &amp; network) of the network </a:t>
            </a:r>
            <a:endParaRPr lang="ko-KR" altLang="en-US" dirty="0" smtClean="0" sz="1103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94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22.2: Sending/Reading Objects to/from Network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We are going to use same PersonInfo class listed in example code 22.1. An object of PersonInfo class will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 sent by client on network using sockets and then be read by server from network.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Sending Objects over Network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class ClientWriteNetEx.java will send an object on network 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java.net.*;import java.io.*;import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ClientWriteNetEx{ public static void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main(String args[]){ try { PersonInfo p = new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PersonInfo(―ali‖,		―defence‖,		―9201211‖); // create a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communication socket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Socket s = new Socket(“localhost”, 2222);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Get I/O streams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OutputStream is = s.getOutputStream();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attaching ObjectOutput stream over Input stream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ObjectOutputStream oos= new ObjectOutputStream(is);</a:t>
            </a:r>
            <a:endParaRPr lang="ko-KR" altLang="en-US" dirty="0" smtClean="0" sz="1103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writing object to network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oos.write(p);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closing communication socket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ex){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System.out.println(ex);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}//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Reading Objects over Network</a:t>
            </a:r>
            <a:endParaRPr lang="ko-KR" altLang="en-US" dirty="0" smtClean="0" sz="1103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following class ServerReadNetEx.java will read an object of PersonInfo sent by client.</a:t>
            </a:r>
            <a:endParaRPr lang="ko-KR" altLang="en-US" dirty="0" smtClean="0" sz="1103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java.net.*;import java.io.*;import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697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ServerReadNetEx{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main(String rgs[])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create a server socket </a:t>
            </a:r>
            <a:endParaRPr lang="ko-KR" altLang="en-US" dirty="0" smtClean="0" sz="1103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ServerSocket ss = new ServerSocket(2222);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System.out.println("Server started...");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/* Loop back to the accept method of the serversocket and wait for a new connection request.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Soserver will continuously listen for requests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*/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while(true)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wait for incoming connection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Socket s = ss.accept();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System.out.println("connection request recieved");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Get I/O streams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InputStream is = s.getInputStream();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attaching ObjectOutput stream over Input stream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ObjectInputStream ois = new ObjectInputStream(is);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read PersonInfo object from network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PersonInfo p = (PersonInfo)ois.read(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p.printPersonInfo(); 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closing communication socket</a:t>
            </a:r>
            <a:endParaRPr lang="ko-KR" altLang="en-US" dirty="0" smtClean="0" sz="1103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while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}catch(Exception ex){ System.out.println(ex); } } 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00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Compile &amp; Execute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compiling both files, run ServerReadNetEx.java first, from the command prompt window. Open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another command prompt window and run ClientWriteNetEx.javafrom it.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ClientWriteNetEx.java will send an Object of PersonInfo to ServerReadNetEx.java that displays that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object values in dialog box after reading it from network.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Preventing Serialization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Often there is no need to serialize sockets, streams &amp; DB connections etc because they do no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represent the state of object, rather connections to external resources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To do so,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transient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keyword is used to mark a field that should not be serialized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So we can mark them as,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transient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Socket s;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transient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OutputStream os;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transient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Connecction con;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Transient fields are returned as nullon reading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 22 . 3: transient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Assume that we do not want to serialize phoneNum attribute of PersonInfo class, this can be done as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shown below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PersonInfo.java</a:t>
            </a:r>
            <a:endParaRPr lang="ko-KR" altLang="en-US" dirty="0" smtClean="0" sz="1103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javax.swing.*;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import java.io.*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PersonInfo implements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Serializable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name;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address;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transient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String phoneNum;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PresonInfo(String n, String a, String p) { name = n;address = a;phoneNm = p;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printPersonInfo( 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JOptionPane.showMessageDialog(null , ―name: ‖ + name + ―address:‖ +address +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―phone no:‖ + phoneNum);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References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Entire material for this handout is taken from the book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JAVA A Lab Course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		by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	Umair Javed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. This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material is available just for the use of VU students of the course Web Design and Development and not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any other commercial purpose without the consent of author. </a:t>
            </a:r>
            <a:endParaRPr lang="ko-KR" altLang="en-US" dirty="0" smtClean="0" sz="1103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03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1600" y="5828030"/>
            <a:ext cx="5480050" cy="28860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23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Multithreading</a:t>
            </a:r>
            <a:endParaRPr lang="ko-KR" altLang="en-US" dirty="0" smtClean="0" sz="1074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Introduction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Multithreading is the ability to do multiple things at once with in the same application. It provides finer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granularity of concurrency. A thread — sometimes called an execution context or a lightweight process —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is a single sequential flow of control within a program.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Threads are light weight as compared to processes because they take fewer resources then a process. 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is easy to create and destroy. Threads share the same address space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i.e. multiple threads can share the memory variables directly, and therefore may require more complex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synchronization logic to avoid deadlocks and starvation.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Sequential Execution vs Multithreading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Every program has atleast one thread. Programs without multithreading executes sequentially. That is, after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executing one instruction the next instruction in sequence is executed. If a function is called then until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completion of the function the next instruction is not executed. Similarly if there is a loop then instructions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after loop only gets executed when the loop gets completed. Consider the following java program having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three loops in it.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ThreeLoopTest.java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ThreeLoopTest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//first loop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(int i=1; i&lt;= 5; i++)System.out.println(―first ‖ +i);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second loop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(int j=1; j&lt;= 5; j++)System.out.println(―second ‖ + j);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third loop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(int k=1; k&lt;= 5; k++)System.out.println(―third ‖ + k);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Note: Each loop has 5 iterations in the ThreeLoopTest program.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06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90090" y="685800"/>
            <a:ext cx="4251960" cy="45478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38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Note: Each loop has 10 iterations in the ThreadTest program. Your output can be different from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one given above. </a:t>
            </a:r>
            <a:endParaRPr lang="ko-KR" altLang="en-US" dirty="0" smtClean="0" sz="1103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Notice the difference between the outputs of the two programs. In ThreeLoopTest each loop generated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sequential output while in ThreadTest the output of the loops got intermingled i.e. concurrency took place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loops executed simultaneously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 us code our first multithreaded program and try to learn how Java supports multithreading.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Java includes built-in support for threading. While other languages have threads bolted-on to an existing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structure. i.e. threads were not the part of the original language but latter came into existence as the need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arose.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All well known operating systems these days support multithreading. JVM transparently maps Java Threads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their counter-parts in the operating system i.e. OS Threads. JVM allows threads in Java to take advantage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hardware and operating system level advancements. It keeps track of threads and schedules them to get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CPU time. Scheduling may be pre-emptive or cooperative. So it is the job of JVM to manage different tasks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thread. Let‘s see how we can create threads? </a:t>
            </a:r>
            <a:endParaRPr lang="ko-KR" altLang="en-US" dirty="0" smtClean="0" sz="1103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09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Creating Threads in Java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There are two approaches to create threads in Java.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Using Interface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Using Inheritance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are the steps to create threads by using Interface: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Create a class where you want to put some code that can run in parallel with some other code and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let that class implement the Runnable interface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Runnable interface has the run() method therefore provide the implementation for the run()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method and put your code that you want to run in parallel here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Instantiate Thread class object by passing Runnable object in constructor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Start thread by calling start() method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are the steps to create threads by using Intheritance: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Inherit a class from java.lang.Thread class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Override the run() method in the subclass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Instantiate the object of the subclass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Start thread by calling start() method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write a multithreaded program using Runnable interface, follow these steps: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1 - Implement the Runnable Interface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2 - Provide an Implementation of run() 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run( ){// write thread behavior// code that will be executed by the thread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3 - Instantiate Thread class object by passing Runnable object in the constructor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w = new Worker(―first‖);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 = new Thread (w);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072">
                <a:solidFill>
                  <a:srgbClr val="000000"/>
                </a:solidFill>
                <a:latin typeface="Garamond"/>
                <a:ea typeface="Garamond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4 – Start thread by calling start() 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Threads Creation Steps Using Inheritance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write a multithreaded program using inheritance from Thread class, follow these steps: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1 – Inherit from Thread Class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class Worker extends Thread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2 - Override run() 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run( ){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write thread behavior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code that will execute by thread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3 - Instantiate subclass object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Step 4 – Start thread by calling start() 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w = new Worker(―first‖);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 far we have explored: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What is multithreading?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What are Java Threads?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Two ways to write multithreaded Java programs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12" name="Rect 3"/>
          <p:cNvSpPr>
            <a:spLocks noGrp="1" noChangeArrowheads="1"/>
          </p:cNvSpPr>
          <p:nvPr/>
        </p:nvSpPr>
        <p:spPr>
          <a:xfrm rot="0">
            <a:off x="2099945" y="4157345"/>
            <a:ext cx="5012055" cy="5093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 Worker implements Runnable </a:t>
            </a:r>
            <a:endParaRPr lang="ko-KR" altLang="en-US" dirty="0" smtClean="0" sz="1103"/>
          </a:p>
          <a:p>
            <a:pPr marL="0" indent="0" defTabSz="15240" algn="l">
              <a:lnSpc>
                <a:spcPts val="37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228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 we will re-write the ThreeLoopTest program by using Java Threads. At first we will use the Interface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approach and then we will use Inheritance.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Code Example using Interface</a:t>
            </a:r>
            <a:endParaRPr lang="ko-KR" altLang="en-US" dirty="0" smtClean="0" sz="1103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Worker.java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Worker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implements Runnable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String job 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//Constructor of Worker 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Worker (String j ){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job = j;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//Implement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run()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of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Runnable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interface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run ( ) {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for(int i=1; i&lt;= 10; i++)System.out.println(job + " = " + i);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ThreadTest.java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ThreadTest{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//instantiate three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first = new Worker (―first job‖);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second = new Worker (―second job‖);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third = new Worker (―third job‖);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//create three objects of Thread class &amp; passing worker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//(runnable) to them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t1 = new Thread (first 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t2 = new Thread (second);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t3 = new Thread (third);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//start threads to execute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t1.start();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t2.start();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t3.start();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main}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code is similar to the code given above, but uses Inheritance instead of interface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Worker.java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Worker extends Thread{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String job 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//Constructor of Worker 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Worker (String j ){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job = j;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//Override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run()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of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Thread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class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run ( ) {for(int i=1; i&lt;= 10; i++)System.out.println(job + " = " + i);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1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229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ThreadTest.java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ThreadTest{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//instantiate three objects of Worker (Worker class is now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//becomes a Thread because it is inheriting from it)class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first = new Worker (―first job‖);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second = new Worker (―second job‖);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third = new Worker (―third job‖);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//start threads to execute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t1.start();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t2.start();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t3.start();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main}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Threads provide a way to write concurrent programs. But on a single CPU, all the threads do not run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simultaneously. JVM assigns threads to the CPU based on thread priorities. Threads with higher priority are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executed in preference to threads with lower priority. A 	thread‘s default priority is same as that of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creating thread i.e. parent thread.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Thread‘s priority can be any integer between 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10. We can also use the following predefined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constants to assign priorities.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Thread.MAX_PRIORITY (typically 10)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Thread.NORM_PRIORITY (typically 5)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Thread.MIN_PRIORITY (typically 1)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To change the priority of a thread, we can use the following 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setPriority(int priority)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It changes the priority of this thread to integer value that is passed. It throws an IllegalArgumentException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if the priority is not in the range MIN_PRIORITY to MAX_PRIORITY i.e. (1–10).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 example, we can write the following code to change a thread‘s priority.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 = new Thread (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RunnableObject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by using predefined constantt.setPriority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(Thread.MAX_PRIORITY);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by using integer constantt.setPriority (7);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Thread Priority Scheduling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Java runtime environment supports a very simple, deterministic scheduling algorithm called fixed-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priority scheduling. This algorithm schedules threads on the basis of their priority relative to other Runnable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threads.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At any given time, when multiple threads are ready to be executed, the runtime system chooses for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execution the Runnable thread that has the highest priority. Only when that thread stops, yields (will be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explained later), or becomes Not Runnable will a lower-priority thread start executing. If two threads of the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same priority are waiting for the CPU, the scheduler arbitrarily chooses one of them to run. The chosen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runs until one of the following conditions becomes true: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A higher priority thread becomes Runnable.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It yields, or its run() method exits.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On systems that support time-slicing, its time allotment has expired.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18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5190" y="1576070"/>
            <a:ext cx="3919220" cy="40106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Then the second thread is given a chance to run, and so on, until the interpreter exits. Consider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figure in which threads of various priorities are represented by capital alphabets A, B, …, K.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and B have same priority (highest in this case). J and K have same priority (lowest in this case). JVM start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executing with A and B, and divides CPU time between these two threads arbitrarily. When both A and B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comes to an end, it chooses the next thread C to execute. </a:t>
            </a:r>
            <a:endParaRPr lang="ko-KR" altLang="en-US" dirty="0" smtClean="0" sz="1103"/>
          </a:p>
          <a:p>
            <a:pPr marL="0" indent="0" defTabSz="15240" algn="l">
              <a:lnSpc>
                <a:spcPts val="3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Code Example: Thread Properties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following example to understand how JVM executes threads based on their priorities.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PriorityEx.java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PriorityEx{ public static void main (String args[ ]){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//instantiate two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first = new Worker (―first job‖);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second = new Worker (―second job‖);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//create two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t1 = new Thread (first 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t2 = new Thread (second);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//set thread priorities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t1.setPriority (Thread.MIN_PRIORITY);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t2.setPriority (Thread.MAX_PRIORITY);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//start threads to execute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t1.start();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t2.start();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21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97990" y="1356360"/>
            <a:ext cx="4818380" cy="37274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}//end main}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3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Problems with Thread Priorities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However, when using priorities with Java Threads, remember the following two issues: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First a Java thread priority may map differently to the thread priorities of the underlying OS. It is because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of difference in priority levels of JVM and underlying OS. For example </a:t>
            </a:r>
            <a:endParaRPr lang="ko-KR" altLang="en-US" dirty="0" smtClean="0" sz="1103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696">
                <a:solidFill>
                  <a:srgbClr val="000000"/>
                </a:solidFill>
                <a:latin typeface="Garamond"/>
                <a:ea typeface="Garamond"/>
              </a:rPr>
              <a:t>32 </a:t>
            </a:r>
            <a:endParaRPr lang="ko-KR" altLang="en-US" dirty="0" smtClean="0" sz="696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Solaris has 2 			–1 priority levels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Windows NT has only 7 user priority levels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Second, starvation can occur for lower-priority threads if the higher-priority threads never terminate, sleep,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or wait for I/O indefinitely. </a:t>
            </a:r>
            <a:endParaRPr lang="ko-KR" altLang="en-US" dirty="0" smtClean="0" sz="1103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References: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Java, A Practical Guide by Umair Javed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 How to Program by Deitel and Deitel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CS193j handouts on Stanford </a:t>
            </a:r>
            <a:endParaRPr lang="ko-KR" altLang="en-US" dirty="0" smtClean="0" sz="1103"/>
          </a:p>
          <a:p>
            <a:pPr marL="0" indent="0" defTabSz="15240" algn="l">
              <a:lnSpc>
                <a:spcPts val="6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24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232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1720" y="2493010"/>
            <a:ext cx="3761105" cy="222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31720" y="5160010"/>
            <a:ext cx="3773170" cy="222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Lesson 24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More on Multithreading</a:t>
            </a:r>
            <a:endParaRPr lang="ko-KR" altLang="en-US" dirty="0" smtClean="0" sz="1103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In this handout, 	we‘ll cover different aspects of multithreading. Some examples are given to make you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understand the topic of multithreading. First we will start with an example that reads data from two text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files simultaneously.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Example Code: Reading Two Files Simultaneously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task is to read data from file ―first.txt‖ &amp; ―second.txt‖ simultaneously. Suppose that files contains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data as shown below </a:t>
            </a:r>
            <a:endParaRPr lang="ko-KR" altLang="en-US" dirty="0" smtClean="0" sz="1103"/>
          </a:p>
          <a:p>
            <a:pPr marL="0" indent="0" defTabSz="15240" algn="l">
              <a:lnSpc>
                <a:spcPts val="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first.txt</a:t>
            </a:r>
            <a:endParaRPr lang="ko-KR" altLang="en-US" dirty="0" smtClean="0" sz="1103" b="1"/>
          </a:p>
          <a:p>
            <a:pPr marL="0" indent="0" defTabSz="15240" algn="l">
              <a:lnSpc>
                <a:spcPts val="1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second.txt</a:t>
            </a:r>
            <a:endParaRPr lang="ko-KR" altLang="en-US" dirty="0" smtClean="0" sz="1103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Following is the code for ReadFile.java that implements Runable interface. The file reading code will be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written inside the run( ) method.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ReadFile.java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import java.io.*;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ReadFile implements Runnable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{ </a:t>
            </a:r>
            <a:endParaRPr lang="ko-KR" altLang="en-US" dirty="0" smtClean="0" sz="110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27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233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//attribute used for name of file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fileName;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param constructor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ReadFile(String fn){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fileName = fn;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overriding run method// this method contains the code for file reading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public void run ( ){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try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{ // connecting FileReader with attribute fileNameFileReader fr = new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FileReader(fileName);BufferedReader br = new BufferedReader(fr);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String line = "";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reading line by line data from file// and displaying it on console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= br.readLine();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while(line != null)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System.out.println(line);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line = br.readLine();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fr.close();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br.close();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}catch (Exception e){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System.out.println(e);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 // end run() method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File Test.java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Test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args[]){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ReadFile objects by passing file names to them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ReadFile first = new ReadFile("first.txt");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ReadFile second = new ReadFile("second.txt");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Instantiating thread objects and passing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runnable (ReadFile) objects to them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t1 = new Thread(first);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t2 = new Thread(second);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starting threads that cause threads to read data from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two different files simultaneously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t1.start();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t2.start();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30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234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72970" y="1051560"/>
            <a:ext cx="3883660" cy="33648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executing Test class, following kind output would be generated: </a:t>
            </a:r>
            <a:endParaRPr lang="ko-KR" altLang="en-US" dirty="0" smtClean="0" sz="1103"/>
          </a:p>
          <a:p>
            <a:pPr marL="0" indent="0" defTabSz="15240" algn="l">
              <a:lnSpc>
                <a:spcPts val="2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Now let‘s discuss some useful thread class methods.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</a:rPr>
              <a:t>sleep(int time) method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Causes the currently executing thread to wait for the time (milliseconds) specified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Waiting is efficient equivalent to non-busy. The waiting thread will not occupy the processor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Threads come out of the sleep when the specified time interval expires or when interrupted by some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other thread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Thread coming out of sleep may go to the running or ready state depending upon the availability of the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processor. The different states of threads will be discussed later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High priority threads should execute sleep method after some time to give low priority threads 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chance to run otherwise starvation may occur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sleep() method can be used for delay purpose i.e. anyone cal call Thread.sleep()method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Note that sleep() method can throw InterruptedException. So, you need try-catch block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Demonstrating sleep ( ) usage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Below the modified code of Worker.java is given that we used in the previous handout.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Worker.javapublic class Worker implements Runnable {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private String job ;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//Constructor of Worker class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Worker (String j ){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job = j;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//Implement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run()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of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Runnable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interface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run ( ) 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for(int i=1; i&lt;= 10; i++)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try { Thread.sleep(100); // go to sleep for 100</a:t>
            </a:r>
            <a:endParaRPr lang="ko-KR" altLang="en-US" dirty="0" smtClean="0" sz="1103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33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235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81200" y="5797550"/>
            <a:ext cx="4243070" cy="25387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ms}catch (Exception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74" b="1">
                <a:solidFill>
                  <a:srgbClr val="000000"/>
                </a:solidFill>
                <a:latin typeface="Garamond"/>
                <a:ea typeface="Garamond"/>
              </a:rPr>
              <a:t>ex){System.out.println(ex);}</a:t>
            </a:r>
            <a:endParaRPr lang="ko-KR" altLang="en-US" dirty="0" smtClean="0" sz="1074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System.out.println(job + " = " + i);} // end for} //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end run 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SleepEx.java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SleepEx {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Worker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first = new Worker (―first job‖);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second = new Worker (―second job‖);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Instantiating thread class objects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t1 = new Thread (first );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t2 = new Thread (second);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starting thread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t1.start();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t2.start();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utp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ut</a:t>
            </a:r>
            <a:endParaRPr lang="ko-KR" altLang="en-US" dirty="0" smtClean="0" sz="1103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executing SleepEx.java, the output will be produced with exact alternations between first thread &amp;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second thread. On starting threads, first thread will go to sleep for 100 ms. It gives a chance to second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to execute. Later this thread will also go to sleep for 100 ms. In the mean time the first thread will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come out of sleep and got a chance on processor. It will print job on console and again enters into sleep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state and this cycle goes on until both threads finished the run() method </a:t>
            </a:r>
            <a:endParaRPr lang="ko-KR" altLang="en-US" dirty="0" smtClean="0" sz="1103"/>
          </a:p>
          <a:p>
            <a:pPr marL="0" indent="0" defTabSz="15240" algn="l">
              <a:lnSpc>
                <a:spcPts val="2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Before jumping on to example code, lets reveal another aspect about main() method. When you run a Java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program, the VM creates a new thread and then sends the main(String[] args) message to the class to be run!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Therefore, there is always at least one running thread in existence. However, we can create more threads </a:t>
            </a:r>
            <a:endParaRPr lang="ko-KR" altLang="en-US" dirty="0" smtClean="0" sz="1103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36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236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81200" y="4178935"/>
            <a:ext cx="4267200" cy="117030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81200" y="5641975"/>
            <a:ext cx="4260850" cy="11334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which can run concurrently with the existing default thread.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sleep() method can be used for delay purpose. This is demonstrated in the DelayEx.java given below 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DelayEx.java public class DelayEx { public static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void main (String args[ ]){ System.out.println(―main thread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going to sleep‖);</a:t>
            </a:r>
            <a:endParaRPr lang="ko-KR" altLang="en-US" dirty="0" smtClean="0" sz="110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try {</a:t>
            </a:r>
            <a:endParaRPr lang="ko-KR" altLang="en-US" dirty="0" smtClean="0" sz="1103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the main thread will go to sleep causing delay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Thread.sleep(100);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}catch (Exception ex){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System.out.println(ex)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</a:t>
            </a:r>
            <a:endParaRPr lang="ko-KR" altLang="en-US" dirty="0" smtClean="0" sz="1103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System.out.println(―main thread coming out of sleep‖); } // end main()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executing DelayEx class, you will experience a delay after the first statement displayed. The second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statement will print when the time interval expired. This has been show below in the following two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diagrams: </a:t>
            </a:r>
            <a:endParaRPr lang="ko-KR" altLang="en-US" dirty="0" smtClean="0" sz="1103"/>
          </a:p>
          <a:p>
            <a:pPr marL="0" indent="0" defTabSz="15240" algn="l">
              <a:lnSpc>
                <a:spcPts val="2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</a:rPr>
              <a:t>yield( ) method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Allows any other threads of the same priority to execute (moves itself to the end of the priority queue)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If all waiting threads have a lower priority, then the yielding thread resumes execution on the CPU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Generally used in cooperative scheduling schemes </a:t>
            </a:r>
            <a:endParaRPr lang="ko-KR" altLang="en-US" dirty="0" smtClean="0" sz="1103"/>
          </a:p>
          <a:p>
            <a:pPr marL="0" indent="0" defTabSz="1524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Demonstrating yield ( ) usage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Below the modified code of Worker.javais given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Worker.javapublic class Worker implements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Runnable { private String job ;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39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237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endParaRPr lang="ko-KR" altLang="en-US" dirty="0" smtClean="0" sz="1200"/>
          </a:p>
          <a:p>
            <a:pPr marL="0" indent="0" defTabSz="15240" algn="l">
              <a:lnSpc>
                <a:spcPts val="6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42" name="Rect 3"/>
          <p:cNvSpPr>
            <a:spLocks noGrp="1" noChangeArrowheads="1"/>
          </p:cNvSpPr>
          <p:nvPr/>
        </p:nvSpPr>
        <p:spPr>
          <a:xfrm rot="0">
            <a:off x="6839585" y="365760"/>
            <a:ext cx="245110" cy="1765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 b="1">
                <a:solidFill>
                  <a:srgbClr val="000000"/>
                </a:solidFill>
                <a:latin typeface="Times New"/>
              </a:rPr>
              <a:t>VU</a:t>
            </a:r>
            <a:endParaRPr lang="ko-KR" altLang="en-US" dirty="0" smtClean="0" sz="1200" b="1"/>
          </a:p>
        </p:txBody>
      </p:sp>
      <p:sp>
        <p:nvSpPr>
          <p:cNvPr id="743" name="Rect 3"/>
          <p:cNvSpPr>
            <a:spLocks noGrp="1" noChangeArrowheads="1"/>
          </p:cNvSpPr>
          <p:nvPr/>
        </p:nvSpPr>
        <p:spPr>
          <a:xfrm rot="0">
            <a:off x="1517650" y="527050"/>
            <a:ext cx="5594350" cy="87236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//Constructor of Worker class </a:t>
            </a:r>
            <a:endParaRPr lang="ko-KR" altLang="en-US" dirty="0" smtClean="0" sz="1103"/>
          </a:p>
          <a:p>
            <a:pPr marL="0" indent="0" defTabSz="15240" algn="l">
              <a:lnSpc>
                <a:spcPts val="6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Calibri"/>
                <a:ea typeface="Calibri"/>
              </a:rPr>
              <a:t>238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Worker (String j ){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job = j;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//Implement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run()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method of </a:t>
            </a:r>
            <a:r>
              <a:rPr lang="en-US" altLang="ko-KR" dirty="0" smtClean="0" sz="1103" i="1">
                <a:solidFill>
                  <a:srgbClr val="000000"/>
                </a:solidFill>
                <a:latin typeface="Garamond"/>
              </a:rPr>
              <a:t>Runnable 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interface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void run ( ) 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for(int i=1; i&lt;= 10; i++) { </a:t>
            </a:r>
            <a:endParaRPr lang="ko-KR" altLang="en-US" dirty="0" smtClean="0" sz="1103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giving chance to a thread to execute of same priority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Thread.yield( 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System.out.println(job + " = " + i);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for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run </a:t>
            </a:r>
            <a:endParaRPr lang="ko-KR" altLang="en-US" dirty="0" smtClean="0" sz="11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// File YieldEx.java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YieldEx {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static void main (String args[ ]){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Creating Worker objects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first = new Worker (―first job‖);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second = new Worker (―second job‖);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Instantiating thread class objects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t1 = new Thread (first 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t2 = new Thread (second);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starting thread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t1.start();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t2.start();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2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46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239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59610" y="1240790"/>
            <a:ext cx="4297680" cy="31419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4770" y="4666615"/>
            <a:ext cx="5553710" cy="37122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Since both threads have the same priority (until we change the priority of some thread explicitly). Therefore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both threads will execute on alternate basis. This can be confirmed from the output given below: </a:t>
            </a:r>
            <a:endParaRPr lang="ko-KR" altLang="en-US" dirty="0" smtClean="0" sz="1103"/>
          </a:p>
          <a:p>
            <a:pPr marL="0" indent="0" defTabSz="15240" algn="l">
              <a:lnSpc>
                <a:spcPts val="2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A thread can be in different states during its lifecycle as shown in the figure. </a:t>
            </a:r>
            <a:endParaRPr lang="ko-KR" altLang="en-US" dirty="0" smtClean="0" sz="1103"/>
          </a:p>
          <a:p>
            <a:pPr marL="0" indent="0" defTabSz="15240" algn="l">
              <a:lnSpc>
                <a:spcPts val="3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49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240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Some Important states are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New state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-When a thread is just created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Ready state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-Thread‘s start() method invoked -Thread can now execute -Put it into the Ready Queue of the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scheduler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Running state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-Thread is assigned a processor and now is running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. 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</a:rPr>
              <a:t>Dead state</a:t>
            </a:r>
            <a:endParaRPr lang="ko-KR" altLang="en-US" dirty="0" smtClean="0" sz="1103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-Thread has completed or exited </a:t>
            </a:r>
            <a:endParaRPr lang="ko-KR" altLang="en-US" dirty="0" smtClean="0" sz="1103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-Eventually disposed off by system </a:t>
            </a:r>
            <a:endParaRPr lang="ko-KR" altLang="en-US" dirty="0" smtClean="0" sz="1103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u="sng" b="1">
                <a:solidFill>
                  <a:srgbClr val="000000"/>
                </a:solidFill>
                <a:latin typeface="Garamond"/>
                <a:ea typeface="Garamond"/>
              </a:rPr>
              <a:t>Thread‟s Joining</a:t>
            </a:r>
            <a:endParaRPr lang="ko-KR" altLang="en-US" dirty="0" smtClean="0" sz="1103" u="sng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Used when a thread wants to wait for another thread to complete its run( ) method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For example, if thread2 sent the thread2.join() message, it causes the currently executing thread to block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efficiently until thread2 finishes its run() method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</a:rPr>
              <a:t>Calling join method can throw InterruptedException, so you must use try-catch block to handle it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Example Code: Demonstrating join( ) usage</a:t>
            </a:r>
            <a:endParaRPr lang="ko-KR" altLang="en-US" dirty="0" smtClean="0" sz="1103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Below the modified code of Worker.java is given. It only prints the job of the worker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Worker.java </a:t>
            </a:r>
            <a:endParaRPr lang="ko-KR" altLang="en-US" dirty="0" smtClean="0" sz="1103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Worker implements Runnable { private String job ; public Worker (String j ){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job = j;} public void run ( ) {for(int i=1; i&lt;= 10; i++) {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System.out.println(job + " = " + i); } // end for} // end run} //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end class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 class JoinEx will demonstrate how current running (main) blocks until the remaining threads finished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their run( )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File JoinEx.java </a:t>
            </a:r>
            <a:endParaRPr lang="ko-KR" altLang="en-US" dirty="0" smtClean="0" sz="110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public class JoinEx { public static void main (String args[ ]){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Worker first = new Worker ("first job");Worker second = new Worker ("second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job");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t1 = new Thread (first );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t2 = new Thread (second); 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System.out.println("Starting...");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starting threads</a:t>
            </a:r>
            <a:endParaRPr lang="ko-KR" altLang="en-US" dirty="0" smtClean="0" sz="11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t1.start();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t2.start(); </a:t>
            </a:r>
            <a:endParaRPr lang="ko-KR" altLang="en-US" dirty="0" smtClean="0" sz="1103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// The current running thread (main) blocks until both //workers have finished 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try {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t1.join();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t2.join();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}catch (Exception ex) {System.out.println(ex);}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System.out.println("All done ");</a:t>
            </a:r>
            <a:endParaRPr lang="ko-KR" altLang="en-US" dirty="0" smtClean="0" sz="1103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} // end main} </a:t>
            </a:r>
            <a:endParaRPr lang="ko-KR" altLang="en-US" dirty="0" smtClean="0" sz="110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52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240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13230" y="1463040"/>
            <a:ext cx="4815840" cy="40049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Output</a:t>
            </a:r>
            <a:endParaRPr lang="ko-KR" altLang="en-US" dirty="0" smtClean="0" sz="1103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On executing JoinEx, notice that ―Starting‖ is printed first followed by printing workers jobs. Since main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thread do not finish until both threads have finished their run( ). Therefore ―All done‖ will be print on last. </a:t>
            </a:r>
            <a:endParaRPr lang="ko-KR" altLang="en-US" dirty="0" smtClean="0" sz="1103"/>
          </a:p>
          <a:p>
            <a:pPr marL="0" indent="0" defTabSz="15240" algn="l">
              <a:lnSpc>
                <a:spcPts val="37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103" b="1">
                <a:solidFill>
                  <a:srgbClr val="000000"/>
                </a:solidFill>
                <a:latin typeface="Garamond"/>
                <a:ea typeface="Garamond"/>
              </a:rPr>
              <a:t>References:</a:t>
            </a:r>
            <a:endParaRPr lang="ko-KR" altLang="en-US" dirty="0" smtClean="0" sz="1103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Java, A Practical Guide by Umair Javed </a:t>
            </a:r>
            <a:endParaRPr lang="ko-KR" altLang="en-US" dirty="0" smtClean="0" sz="1103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Java tutorial by Sun: http://java.sun.com/docs/books/tutorial/</a:t>
            </a:r>
            <a:endParaRPr lang="ko-KR" altLang="en-US" dirty="0" smtClean="0" sz="1103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258">
                <a:solidFill>
                  <a:srgbClr val="000000"/>
                </a:solidFill>
                <a:latin typeface="Helvetica"/>
                <a:ea typeface="Helvetica"/>
              </a:rPr>
              <a:t>•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										CS193j handouts on Stanford </a:t>
            </a:r>
            <a:endParaRPr lang="ko-KR" altLang="en-US" dirty="0" smtClean="0" sz="1103"/>
          </a:p>
          <a:p>
            <a:pPr marL="0" indent="0" defTabSz="15240" algn="l">
              <a:lnSpc>
                <a:spcPts val="1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55" name="Rect 3"/>
          <p:cNvSpPr>
            <a:spLocks noGrp="1" noChangeArrowheads="1"/>
          </p:cNvSpPr>
          <p:nvPr/>
        </p:nvSpPr>
        <p:spPr>
          <a:xfrm rot="0">
            <a:off x="684276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241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 Web Design &amp; Development </a:t>
            </a:r>
            <a:r>
              <a:rPr lang="en-US" altLang="ko-KR" dirty="0" smtClean="0" sz="1200">
                <a:solidFill>
                  <a:srgbClr val="000000"/>
                </a:solidFill>
                <a:latin typeface="Calibri"/>
                <a:ea typeface="Calibri"/>
              </a:rPr>
              <a:t>–</a:t>
            </a:r>
            <a:r>
              <a:rPr lang="en-US" altLang="ko-KR" dirty="0" smtClean="0" sz="1200">
                <a:solidFill>
                  <a:srgbClr val="000000"/>
                </a:solidFill>
                <a:latin typeface="Times New"/>
                <a:ea typeface="Times New"/>
              </a:rPr>
              <a:t>		CS506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"/>
                <a:ea typeface="Times New"/>
              </a:rPr>
              <a:t>VU</a:t>
            </a:r>
            <a:endParaRPr lang="ko-KR" altLang="en-US" dirty="0" smtClean="0" sz="1200" b="1"/>
          </a:p>
          <a:p>
            <a:pPr marL="0" indent="0" defTabSz="15240" algn="l">
              <a:lnSpc>
                <a:spcPts val="6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103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endParaRPr lang="ko-KR" altLang="en-US" dirty="0" smtClean="0" sz="1103"/>
          </a:p>
        </p:txBody>
      </p:sp>
      <p:sp>
        <p:nvSpPr>
          <p:cNvPr id="758" name="Rect 3"/>
          <p:cNvSpPr>
            <a:spLocks noGrp="1" noChangeArrowheads="1"/>
          </p:cNvSpPr>
          <p:nvPr/>
        </p:nvSpPr>
        <p:spPr>
          <a:xfrm rot="0">
            <a:off x="6751320" y="9110345"/>
            <a:ext cx="269240" cy="1403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103">
                <a:solidFill>
                  <a:srgbClr val="000000"/>
                </a:solidFill>
                <a:latin typeface="Calibri"/>
              </a:rPr>
              <a:t>491 </a:t>
            </a:r>
            <a:endParaRPr lang="ko-KR" altLang="en-US" dirty="0" smtClean="0" sz="1103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Oox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PDF Converter</Application>
  <PresentationFormat>On-screen Show</PresentationFormat>
  <Paragraphs>0</Paragraphs>
  <Slides>1</Slides>
  <Notes>0</Notes>
  <HiddenSlides>0</HiddenSlides>
  <MMClips>0</MMClips>
  <HeadingPairs>
    <vt:vector size="4" baseType="variant">
      <vt:variant>
        <vt:lpstr>Theme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Title text</vt:lpstr>
    </vt:vector>
  </TitlesOfParts>
  <Company>PDFConverter, Inc.</Company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modified xsi:type="dcterms:W3CDTF">2010-06-24T10:54:49Z</dcterms:modified>
</cp:coreProperties>
</file>